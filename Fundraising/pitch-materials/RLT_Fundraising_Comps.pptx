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06921-895C-4EDE-838D-5444BE4C2BF8}" v="3" dt="2026-05-27T17:57:42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ca Levin" userId="08c76d0b-4d1f-44f5-8508-8653b2f54768" providerId="ADAL" clId="{5AA3B8CE-AFEA-44FA-ACCD-448CA31DFD0A}"/>
    <pc:docChg chg="addSld delSld modSld">
      <pc:chgData name="Becca Levin" userId="08c76d0b-4d1f-44f5-8508-8653b2f54768" providerId="ADAL" clId="{5AA3B8CE-AFEA-44FA-ACCD-448CA31DFD0A}" dt="2026-05-27T17:57:42.089" v="3"/>
      <pc:docMkLst>
        <pc:docMk/>
      </pc:docMkLst>
      <pc:sldChg chg="add del setBg">
        <pc:chgData name="Becca Levin" userId="08c76d0b-4d1f-44f5-8508-8653b2f54768" providerId="ADAL" clId="{5AA3B8CE-AFEA-44FA-ACCD-448CA31DFD0A}" dt="2026-05-27T17:56:03.686" v="2" actId="47"/>
        <pc:sldMkLst>
          <pc:docMk/>
          <pc:sldMk cId="0" sldId="258"/>
        </pc:sldMkLst>
      </pc:sldChg>
      <pc:sldChg chg="add">
        <pc:chgData name="Becca Levin" userId="08c76d0b-4d1f-44f5-8508-8653b2f54768" providerId="ADAL" clId="{5AA3B8CE-AFEA-44FA-ACCD-448CA31DFD0A}" dt="2026-05-27T17:56:02.141" v="1"/>
        <pc:sldMkLst>
          <pc:docMk/>
          <pc:sldMk cId="0" sldId="259"/>
        </pc:sldMkLst>
      </pc:sldChg>
      <pc:sldChg chg="add">
        <pc:chgData name="Becca Levin" userId="08c76d0b-4d1f-44f5-8508-8653b2f54768" providerId="ADAL" clId="{5AA3B8CE-AFEA-44FA-ACCD-448CA31DFD0A}" dt="2026-05-27T17:57:42.089" v="3"/>
        <pc:sldMkLst>
          <pc:docMk/>
          <pc:sldMk cId="0" sldId="26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RayzeBio</c:v>
                </c:pt>
              </c:strCache>
            </c:strRef>
          </c:tx>
          <c:spPr>
            <a:ln w="31750" cap="flat">
              <a:solidFill>
                <a:srgbClr val="002924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02924"/>
              </a:solidFill>
              <a:ln w="9525" cap="flat">
                <a:solidFill>
                  <a:srgbClr val="00292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45</c:v>
                </c:pt>
                <c:pt idx="2">
                  <c:v>150</c:v>
                </c:pt>
                <c:pt idx="3">
                  <c:v>258</c:v>
                </c:pt>
                <c:pt idx="4">
                  <c:v>418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A8-42CC-803A-3FEBD4D1D7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Aktis</c:v>
                </c:pt>
              </c:strCache>
            </c:strRef>
          </c:tx>
          <c:spPr>
            <a:ln w="31750" cap="flat">
              <a:solidFill>
                <a:srgbClr val="61896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61896E"/>
              </a:solidFill>
              <a:ln w="9525" cap="flat">
                <a:solidFill>
                  <a:srgbClr val="61896E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72</c:v>
                </c:pt>
                <c:pt idx="2">
                  <c:v>156</c:v>
                </c:pt>
                <c:pt idx="3">
                  <c:v>331</c:v>
                </c:pt>
                <c:pt idx="4">
                  <c:v>649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A8-42CC-803A-3FEBD4D1D7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Fusion</c:v>
                </c:pt>
              </c:strCache>
            </c:strRef>
          </c:tx>
          <c:spPr>
            <a:ln w="31750" cap="flat">
              <a:solidFill>
                <a:srgbClr val="5475E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5475E8"/>
              </a:solidFill>
              <a:ln w="9525" cap="flat">
                <a:solidFill>
                  <a:srgbClr val="5475E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46</c:v>
                </c:pt>
                <c:pt idx="2">
                  <c:v>158</c:v>
                </c:pt>
                <c:pt idx="3">
                  <c:v>371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A8-42CC-803A-3FEBD4D1D73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Mariana</c:v>
                </c:pt>
              </c:strCache>
            </c:strRef>
          </c:tx>
          <c:spPr>
            <a:ln w="31750" cap="flat">
              <a:solidFill>
                <a:srgbClr val="8F1A4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8F1A43"/>
              </a:solidFill>
              <a:ln w="9525" cap="flat">
                <a:solidFill>
                  <a:srgbClr val="8F1A4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75</c:v>
                </c:pt>
                <c:pt idx="2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A8-42CC-803A-3FEBD4D1D73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Convergent</c:v>
                </c:pt>
              </c:strCache>
            </c:strRef>
          </c:tx>
          <c:spPr>
            <a:ln w="31750" cap="flat">
              <a:solidFill>
                <a:srgbClr val="383D4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383D46"/>
              </a:solidFill>
              <a:ln w="9525" cap="flat">
                <a:solidFill>
                  <a:srgbClr val="383D46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90</c:v>
                </c:pt>
                <c:pt idx="2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4A8-42CC-803A-3FEBD4D1D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56670"/>
              </a:solidFill>
              <a:latin typeface="Funnel Sans"/>
              <a:cs typeface="Funnel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raise</c:v>
                </c:pt>
              </c:strCache>
            </c:strRef>
          </c:tx>
          <c:spPr>
            <a:solidFill>
              <a:srgbClr val="00292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RayzeBio</c:v>
                </c:pt>
                <c:pt idx="1">
                  <c:v>Aktis</c:v>
                </c:pt>
                <c:pt idx="2">
                  <c:v>Fusion</c:v>
                </c:pt>
                <c:pt idx="3">
                  <c:v>Mariana</c:v>
                </c:pt>
                <c:pt idx="4">
                  <c:v>Convergent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72</c:v>
                </c:pt>
                <c:pt idx="2">
                  <c:v>46</c:v>
                </c:pt>
                <c:pt idx="3">
                  <c:v>75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86-4010-8BC4-B6BC69A823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raise</c:v>
                </c:pt>
              </c:strCache>
            </c:strRef>
          </c:tx>
          <c:spPr>
            <a:solidFill>
              <a:srgbClr val="61896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RayzeBio</c:v>
                </c:pt>
                <c:pt idx="1">
                  <c:v>Aktis</c:v>
                </c:pt>
                <c:pt idx="2">
                  <c:v>Fusion</c:v>
                </c:pt>
                <c:pt idx="3">
                  <c:v>Mariana</c:v>
                </c:pt>
                <c:pt idx="4">
                  <c:v>Convergent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105</c:v>
                </c:pt>
                <c:pt idx="1">
                  <c:v>84</c:v>
                </c:pt>
                <c:pt idx="2">
                  <c:v>112</c:v>
                </c:pt>
                <c:pt idx="3">
                  <c:v>175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86-4010-8BC4-B6BC69A8235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raise</c:v>
                </c:pt>
              </c:strCache>
            </c:strRef>
          </c:tx>
          <c:spPr>
            <a:solidFill>
              <a:srgbClr val="B1C8B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RayzeBio</c:v>
                </c:pt>
                <c:pt idx="1">
                  <c:v>Aktis</c:v>
                </c:pt>
                <c:pt idx="2">
                  <c:v>Fusion</c:v>
                </c:pt>
                <c:pt idx="3">
                  <c:v>Mariana</c:v>
                </c:pt>
                <c:pt idx="4">
                  <c:v>Convergent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108</c:v>
                </c:pt>
                <c:pt idx="1">
                  <c:v>175</c:v>
                </c:pt>
                <c:pt idx="2">
                  <c:v>213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86-4010-8BC4-B6BC69A8235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4th raise</c:v>
                </c:pt>
              </c:strCache>
            </c:strRef>
          </c:tx>
          <c:spPr>
            <a:solidFill>
              <a:srgbClr val="D5ED9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RayzeBio</c:v>
                </c:pt>
                <c:pt idx="1">
                  <c:v>Aktis</c:v>
                </c:pt>
                <c:pt idx="2">
                  <c:v>Fusion</c:v>
                </c:pt>
                <c:pt idx="3">
                  <c:v>Mariana</c:v>
                </c:pt>
                <c:pt idx="4">
                  <c:v>Convergent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160</c:v>
                </c:pt>
                <c:pt idx="1">
                  <c:v>318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86-4010-8BC4-B6BC69A82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0"/>
          <c:min val="0"/>
        </c:scaling>
        <c:delete val="0"/>
        <c:axPos val="l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56670"/>
              </a:solidFill>
              <a:latin typeface="Funnel Sans"/>
              <a:cs typeface="Funnel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raise ($M)</c:v>
                </c:pt>
              </c:strCache>
            </c:strRef>
          </c:tx>
          <c:spPr>
            <a:solidFill>
              <a:srgbClr val="00292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Convergent</c:v>
                </c:pt>
                <c:pt idx="1">
                  <c:v>Mariana</c:v>
                </c:pt>
                <c:pt idx="2">
                  <c:v>Aktis</c:v>
                </c:pt>
                <c:pt idx="3">
                  <c:v>Fusion</c:v>
                </c:pt>
                <c:pt idx="4">
                  <c:v>RayzeBio</c:v>
                </c:pt>
                <c:pt idx="5">
                  <c:v>Sego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75</c:v>
                </c:pt>
                <c:pt idx="2">
                  <c:v>72</c:v>
                </c:pt>
                <c:pt idx="3">
                  <c:v>46</c:v>
                </c:pt>
                <c:pt idx="4">
                  <c:v>45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76-472C-B725-3584596AE3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Addt’l capital to mfg ($M)</c:v>
                </c:pt>
              </c:strCache>
            </c:strRef>
          </c:tx>
          <c:spPr>
            <a:solidFill>
              <a:srgbClr val="B1C8B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Convergent</c:v>
                </c:pt>
                <c:pt idx="1">
                  <c:v>Mariana</c:v>
                </c:pt>
                <c:pt idx="2">
                  <c:v>Aktis</c:v>
                </c:pt>
                <c:pt idx="3">
                  <c:v>Fusion</c:v>
                </c:pt>
                <c:pt idx="4">
                  <c:v>RayzeBio</c:v>
                </c:pt>
                <c:pt idx="5">
                  <c:v>Sego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175</c:v>
                </c:pt>
                <c:pt idx="2">
                  <c:v>577</c:v>
                </c:pt>
                <c:pt idx="3">
                  <c:v>325</c:v>
                </c:pt>
                <c:pt idx="4">
                  <c:v>373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76-472C-B725-3584596AE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t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56670"/>
              </a:solidFill>
              <a:latin typeface="Funnel Sans"/>
              <a:cs typeface="Funnel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raise</c:v>
                </c:pt>
              </c:strCache>
            </c:strRef>
          </c:tx>
          <c:spPr>
            <a:solidFill>
              <a:srgbClr val="00292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Convergent</c:v>
                </c:pt>
                <c:pt idx="1">
                  <c:v>Mariana</c:v>
                </c:pt>
                <c:pt idx="2">
                  <c:v>Aktis</c:v>
                </c:pt>
                <c:pt idx="3">
                  <c:v>Fusion</c:v>
                </c:pt>
                <c:pt idx="4">
                  <c:v>RayzeBio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75</c:v>
                </c:pt>
                <c:pt idx="2">
                  <c:v>72</c:v>
                </c:pt>
                <c:pt idx="3">
                  <c:v>46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0A-40A1-896B-2DC84988C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t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651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Fundraising comps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RLT companies raise $250M–$775M in capital before exit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78624" y="137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75904" y="1371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74980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635240" y="1072657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Aktis $649M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IPO Jan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35240" y="1872299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RayzeBio $418M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BMS $4.1B (10x)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35040" y="1980133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475E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Fusion $371M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5475E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AZ $2.4B (15x)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43400" y="239899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Mariana $250M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NVS $1.0B (4x)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43400" y="302470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83D4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Convergent $130M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383D4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Private, clinical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 Includes IPO proceeds where applicable.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Fundraising comps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First institutional rounds in RLT consistently exceed $45M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78624" y="137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75904" y="1371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8412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68096" y="1944767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$418M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BMS $4.1B (10x)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4288" y="128623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$649M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IPO $318M (Jan 2026)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0" y="207875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$371M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AZ $2.4B (15x)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76672" y="242369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$250M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NVS $1.0B (4x)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12864" y="2765791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$130M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Private, clinical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48056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D5ED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Median 1st raise: </a:t>
            </a:r>
            <a:r>
              <a:rPr lang="en-US" sz="11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$72M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 Includes IPO proceeds where applicable.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Fundraising comps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 comparable capital, Sego investors get platform, pipeline, and manufacturing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Peer first raises of $45–90M funded platform and pipeline only — companies with mfg achieved 10–15x exits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278624" y="137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75904" y="1371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Peer median 1st raise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Season Mix" pitchFamily="34" charset="0"/>
                <a:ea typeface="Season Mix" pitchFamily="34" charset="-122"/>
                <a:cs typeface="Season Mix" pitchFamily="34" charset="-120"/>
              </a:rPr>
              <a:t>$72M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5361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mfg included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658368"/>
          </a:xfrm>
          <a:prstGeom prst="rect">
            <a:avLst/>
          </a:prstGeom>
          <a:solidFill>
            <a:srgbClr val="D5ED99"/>
          </a:solidFill>
          <a:ln w="12700">
            <a:solidFill>
              <a:srgbClr val="6189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01568" y="1115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 seed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01568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Season Mix" pitchFamily="34" charset="0"/>
                <a:ea typeface="Season Mix" pitchFamily="34" charset="-122"/>
                <a:cs typeface="Season Mix" pitchFamily="34" charset="-120"/>
              </a:rPr>
              <a:t>$80M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01568" y="15361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Includes in-house mfg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36208" y="1115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Exit multiple with mfg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36208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Season Mix" pitchFamily="34" charset="0"/>
                <a:ea typeface="Season Mix" pitchFamily="34" charset="-122"/>
                <a:cs typeface="Season Mix" pitchFamily="34" charset="-120"/>
              </a:rPr>
              <a:t>10–15x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36208" y="15361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Without mfg: 4x (Mariana)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187452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5486400" y="1874520"/>
            <a:ext cx="3474720" cy="292608"/>
          </a:xfrm>
          <a:prstGeom prst="rect">
            <a:avLst/>
          </a:prstGeom>
          <a:solidFill>
            <a:srgbClr val="0029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77840" y="1874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 at exit · Exit value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577840" y="22677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Convergent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66560" y="2267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CDMO (NorthStar)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577840" y="24231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Private — clinical stage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57784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Mariana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766560" y="2651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F1A43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mfg at exit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577840" y="28072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F1A43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NVS $1.0B (4x)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577840" y="30358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Aktis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76656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In-house cGMP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577840" y="31912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IPO $318M (Jan 2026)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577840" y="34198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34198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CDMO agreement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577840" y="35753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AZ $2.4B (15x)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577840" y="38039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RayzeBio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766560" y="3803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In-house facility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577840" y="39593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BMS $4.1B (10x)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577840" y="4187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766560" y="41879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In-house GMP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577840" y="43434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5440680" y="4142232"/>
            <a:ext cx="3566160" cy="365760"/>
          </a:xfrm>
          <a:prstGeom prst="rect">
            <a:avLst/>
          </a:prstGeom>
          <a:solidFill>
            <a:srgbClr val="D5ED99">
              <a:alpha val="40000"/>
            </a:srgbClr>
          </a:solidFill>
          <a:ln w="12700">
            <a:solidFill>
              <a:srgbClr val="6189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5440680" y="2606040"/>
            <a:ext cx="3566160" cy="365760"/>
          </a:xfrm>
          <a:prstGeom prst="rect">
            <a:avLst/>
          </a:prstGeom>
          <a:solidFill>
            <a:srgbClr val="000000">
              <a:alpha val="25000"/>
            </a:srgbClr>
          </a:solidFill>
          <a:ln w="6350">
            <a:solidFill>
              <a:srgbClr val="8F1A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 Exit multiples on pre-IPO private capital.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Fundraising comps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First raises fund platform + pipeline — manufacturing comes later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None of these 5 companies had in-house manufacturing at the time of their inaugural raise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278624" y="137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651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133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Median 1st raise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Season Mix" pitchFamily="34" charset="0"/>
                <a:ea typeface="Season Mix" pitchFamily="34" charset="-122"/>
                <a:cs typeface="Season Mix" pitchFamily="34" charset="-120"/>
              </a:rPr>
              <a:t>$72M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1115568"/>
            <a:ext cx="2651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29000" y="1133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Had mfg at 1st raise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2900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Season Mix" pitchFamily="34" charset="0"/>
                <a:ea typeface="Season Mix" pitchFamily="34" charset="-122"/>
                <a:cs typeface="Season Mix" pitchFamily="34" charset="-120"/>
              </a:rPr>
              <a:t>0 of 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26480" y="1115568"/>
            <a:ext cx="2651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1133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Avg years to mfg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924"/>
                </a:solidFill>
                <a:effectLst/>
                <a:uLnTx/>
                <a:uFillTx/>
                <a:latin typeface="Season Mix" pitchFamily="34" charset="0"/>
                <a:ea typeface="Season Mix" pitchFamily="34" charset="-122"/>
                <a:cs typeface="Season Mix" pitchFamily="34" charset="-120"/>
              </a:rPr>
              <a:t>~3 yrs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5" name="Chart 0"/>
          <p:cNvGraphicFramePr/>
          <p:nvPr/>
        </p:nvGraphicFramePr>
        <p:xfrm>
          <a:off x="274320" y="1874520"/>
          <a:ext cx="84124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5349240" y="2221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$90M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852160" y="22219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2nd raise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63440" y="26334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$75M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Post-acq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26280" y="3044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$72M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29200" y="3044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4th raise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337560" y="34564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$46M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40480" y="3456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3rd raise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291840" y="3867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$45M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794760" y="38679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1896E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4th raise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480560" y="1965960"/>
            <a:ext cx="0" cy="2331720"/>
          </a:xfrm>
          <a:prstGeom prst="line">
            <a:avLst/>
          </a:prstGeom>
          <a:noFill/>
          <a:ln w="19050">
            <a:solidFill>
              <a:srgbClr val="8F1A4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977640" y="18288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F1A43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Median: $72M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398</Words>
  <Application>Microsoft Office PowerPoint</Application>
  <PresentationFormat>On-screen Show (16:9)</PresentationFormat>
  <Paragraphs>91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Funnel Sans</vt:lpstr>
      <vt:lpstr>Season Mix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RLT Competitor Fundraising Comps</dc:title>
  <dc:subject>PptxGenJS Presentation</dc:subject>
  <dc:creator>Sego Therapeutics</dc:creator>
  <cp:lastModifiedBy>Becca Levin</cp:lastModifiedBy>
  <cp:revision>1</cp:revision>
  <dcterms:created xsi:type="dcterms:W3CDTF">2026-05-27T17:20:12Z</dcterms:created>
  <dcterms:modified xsi:type="dcterms:W3CDTF">2026-05-27T17:57:50Z</dcterms:modified>
</cp:coreProperties>
</file>