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omments/modernComment_100_2C8336B9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omments/modernComment_D5A_EB1D459B.xml" ContentType="application/vnd.ms-powerpoint.comment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257" r:id="rId7"/>
    <p:sldId id="775" r:id="rId8"/>
    <p:sldId id="277" r:id="rId9"/>
    <p:sldId id="3419" r:id="rId26"/>
    <p:sldId id="3411" r:id="rId16"/>
    <p:sldId id="3418" r:id="rId15"/>
    <p:sldId id="702" r:id="rId13"/>
    <p:sldId id="262" r:id="rId6"/>
    <p:sldId id="3420" r:id="rId27"/>
    <p:sldId id="3421" r:id="rId28"/>
    <p:sldId id="295" r:id="rId17"/>
    <p:sldId id="342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E7231E-D65A-7660-884F-A801964A74DA}" name="Becca Levin" initials="BL" userId="S::BLevin@segotx.com::08c76d0b-4d1f-44f5-8508-8653b2f54768" providerId="AD"/>
  <p188:author id="{94445064-71B3-532D-7356-63484D79DF55}" name="Kirstin Zettlitz" initials="KZ" userId="S::kzettlitz@segotx.com::ed94187f-4964-42f1-b936-14a5f47aff4a" providerId="AD"/>
  <p188:author id="{EE43B0AF-ADC2-B733-F9CA-50A0C930E760}" name="Jeevan Virk" initials="JV" userId="S::JVirk@segotx.com::e4151d08-4059-4e88-b62d-4ccc0b7bab83" providerId="AD"/>
  <p188:author id="{D37D7AB3-C188-8807-901A-40D7FCBD9833}" name="Kirstin Zettlitz" initials="KZ" userId="S::KZettlitz@segotx.com::ed94187f-4964-42f1-b936-14a5f47aff4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3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B9DD8-5B12-40D1-9778-9566B218397D}" v="1" dt="2026-06-01T20:59:10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ca Levin" userId="08c76d0b-4d1f-44f5-8508-8653b2f54768" providerId="ADAL" clId="{5AA3B8CE-AFEA-44FA-ACCD-448CA31DFD0A}"/>
    <pc:docChg chg="addSld delSld modSld">
      <pc:chgData name="Becca Levin" userId="08c76d0b-4d1f-44f5-8508-8653b2f54768" providerId="ADAL" clId="{5AA3B8CE-AFEA-44FA-ACCD-448CA31DFD0A}" dt="2026-06-01T20:59:12.169" v="1" actId="47"/>
      <pc:docMkLst>
        <pc:docMk/>
      </pc:docMkLst>
      <pc:sldChg chg="del">
        <pc:chgData name="Becca Levin" userId="08c76d0b-4d1f-44f5-8508-8653b2f54768" providerId="ADAL" clId="{5AA3B8CE-AFEA-44FA-ACCD-448CA31DFD0A}" dt="2026-06-01T20:59:12.169" v="1" actId="47"/>
        <pc:sldMkLst>
          <pc:docMk/>
          <pc:sldMk cId="4011375806" sldId="705"/>
        </pc:sldMkLst>
      </pc:sldChg>
      <pc:sldChg chg="add">
        <pc:chgData name="Becca Levin" userId="08c76d0b-4d1f-44f5-8508-8653b2f54768" providerId="ADAL" clId="{5AA3B8CE-AFEA-44FA-ACCD-448CA31DFD0A}" dt="2026-06-01T20:59:10.899" v="0"/>
        <pc:sldMkLst>
          <pc:docMk/>
          <pc:sldMk cId="3944564123" sldId="3418"/>
        </pc:sldMkLst>
      </pc:sldChg>
    </pc:docChg>
  </pc:docChgLst>
</pc:chgInfo>
</file>

<file path=ppt/charts/_rels/chart1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</c:spPr>
          <c:dPt>
            <c:idx val="0"/>
            <c:bubble3D val="0"/>
            <c:spPr>
              <a:solidFill>
                <a:srgbClr val="8F1A4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06F-4883-BA89-A1C8946C4634}"/>
              </c:ext>
            </c:extLst>
          </c:dPt>
          <c:dPt>
            <c:idx val="1"/>
            <c:bubble3D val="0"/>
            <c:spPr>
              <a:solidFill>
                <a:srgbClr val="36020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06F-4883-BA89-A1C8946C4634}"/>
              </c:ext>
            </c:extLst>
          </c:dPt>
          <c:dPt>
            <c:idx val="2"/>
            <c:bubble3D val="0"/>
            <c:spPr>
              <a:solidFill>
                <a:srgbClr val="DED6D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06F-4883-BA89-A1C8946C4634}"/>
              </c:ext>
            </c:extLst>
          </c:dPt>
          <c:dPt>
            <c:idx val="3"/>
            <c:bubble3D val="0"/>
            <c:spPr>
              <a:solidFill>
                <a:srgbClr val="61896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06F-4883-BA89-A1C8946C4634}"/>
              </c:ext>
            </c:extLst>
          </c:dPt>
          <c:dPt>
            <c:idx val="4"/>
            <c:bubble3D val="0"/>
            <c:spPr>
              <a:solidFill>
                <a:srgbClr val="D5ED9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06F-4883-BA89-A1C8946C463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706F-4883-BA89-A1C8946C463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06F-4883-BA89-A1C8946C463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06F-4883-BA89-A1C8946C46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0.41</c:v>
                </c:pt>
                <c:pt idx="1">
                  <c:v>0.18</c:v>
                </c:pt>
                <c:pt idx="2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F-4883-BA89-A1C8946C46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321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</c:spPr>
          <c:dPt>
            <c:idx val="0"/>
            <c:bubble3D val="0"/>
            <c:spPr>
              <a:solidFill>
                <a:srgbClr val="B1C7B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06F-4883-BA89-A1C8946C4634}"/>
              </c:ext>
            </c:extLst>
          </c:dPt>
          <c:dPt>
            <c:idx val="1"/>
            <c:bubble3D val="0"/>
            <c:spPr>
              <a:solidFill>
                <a:srgbClr val="61896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06F-4883-BA89-A1C8946C4634}"/>
              </c:ext>
            </c:extLst>
          </c:dPt>
          <c:dPt>
            <c:idx val="2"/>
            <c:bubble3D val="0"/>
            <c:spPr>
              <a:solidFill>
                <a:srgbClr val="00292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06F-4883-BA89-A1C8946C4634}"/>
              </c:ext>
            </c:extLst>
          </c:dPt>
          <c:dPt>
            <c:idx val="3"/>
            <c:bubble3D val="0"/>
            <c:spPr>
              <a:solidFill>
                <a:srgbClr val="DED6D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06F-4883-BA89-A1C8946C4634}"/>
              </c:ext>
            </c:extLst>
          </c:dPt>
          <c:dPt>
            <c:idx val="4"/>
            <c:bubble3D val="0"/>
            <c:explosion val="12"/>
            <c:spPr>
              <a:solidFill>
                <a:srgbClr val="D5ED9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06F-4883-BA89-A1C8946C4634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06F-4883-BA89-A1C8946C463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06F-4883-BA89-A1C8946C46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002924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4th Qtr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0.39</c:v>
                </c:pt>
                <c:pt idx="1">
                  <c:v>0.08</c:v>
                </c:pt>
                <c:pt idx="2">
                  <c:v>0.34</c:v>
                </c:pt>
                <c:pt idx="3">
                  <c:v>0.17</c:v>
                </c:pt>
                <c:pt idx="4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F-4883-BA89-A1C8946C46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0_2C8336B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258C22E-793A-4059-8DD7-52F6E178F33F}" authorId="{EE43B0AF-ADC2-B733-F9CA-50A0C930E760}" status="resolved" created="2026-05-15T22:02:32.187" startDate="2026-05-15T22:02:32.187" dueDate="2026-05-15T22:02:32.187" assignedTo="{43E7231E-D65A-7660-884F-A801964A74DA}" complete="100000" title="@Becca Levin - do we need a new date?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46796729" sldId="256"/>
      <ac:spMk id="39" creationId="{AE2B592B-4E70-EA65-824D-72A0C7897BF1}"/>
    </ac:deMkLst>
    <p188:txBody>
      <a:bodyPr/>
      <a:lstStyle/>
      <a:p>
        <a:r>
          <a:rPr lang="en-GB"/>
          <a:t>[@Becca Levin]  - do we need a new date?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15T22:02:32.187" id="{B261B8C2-CA1B-48AA-A518-63A80FAAB7D7}">
              <p228:atrbtn authorId="{EE43B0AF-ADC2-B733-F9CA-50A0C930E760}"/>
              <p228:anchr>
                <p228:comment id="{3258C22E-793A-4059-8DD7-52F6E178F33F}"/>
              </p228:anchr>
              <p228:add/>
            </p228:event>
            <p228:event time="2026-05-15T22:02:32.187" id="{514CE59D-8796-4F0F-BC9E-EAB00822A1E1}">
              <p228:atrbtn authorId="{EE43B0AF-ADC2-B733-F9CA-50A0C930E760}"/>
              <p228:anchr>
                <p228:comment id="{3258C22E-793A-4059-8DD7-52F6E178F33F}"/>
              </p228:anchr>
              <p228:asgn authorId="{43E7231E-D65A-7660-884F-A801964A74DA}"/>
            </p228:event>
            <p228:event time="2026-05-15T22:02:32.187" id="{B1CD4EA4-51C9-4C88-B148-7E170957045B}">
              <p228:atrbtn authorId="{EE43B0AF-ADC2-B733-F9CA-50A0C930E760}"/>
              <p228:anchr>
                <p228:comment id="{3258C22E-793A-4059-8DD7-52F6E178F33F}"/>
              </p228:anchr>
              <p228:title val="@Becca Levin - do we need a new date?"/>
            </p228:event>
            <p228:event time="2026-05-15T22:02:32.187" id="{16B6D08C-47F7-4D90-87CB-A4ABA56EB25C}">
              <p228:atrbtn authorId="{EE43B0AF-ADC2-B733-F9CA-50A0C930E760}"/>
              <p228:anchr>
                <p228:comment id="{3258C22E-793A-4059-8DD7-52F6E178F33F}"/>
              </p228:anchr>
              <p228:date stDt="2026-05-15T22:02:32.187" endDt="2026-05-15T22:02:32.187"/>
            </p228:event>
            <p228:event time="2026-05-18T17:15:25.351" id="{08577AA0-BDCB-4D0B-9093-945050239440}">
              <p228:atrbtn authorId="{43E7231E-D65A-7660-884F-A801964A74DA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D5A_EB1D45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6365BF-48B2-4C35-A8DA-783EA5551151}" authorId="{43E7231E-D65A-7660-884F-A801964A74DA}" status="resolved" created="2026-04-20T16:31:52.3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44564123" sldId="3418"/>
      <ac:spMk id="23" creationId="{3BB2DD0B-9821-C1A8-D8D3-3FA65D4F3B13}"/>
    </ac:deMkLst>
    <p188:txBody>
      <a:bodyPr/>
      <a:lstStyle/>
      <a:p>
        <a:r>
          <a:rPr lang="en-US"/>
          <a:t>From austin: melines: Start-up 4 mo. Enrol/scan 4 mo. Selection by mo 9</a:t>
        </a:r>
      </a:p>
    </p188:txBody>
  </p188:cm>
</p188:cmLst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6BA0C-60C8-4B2E-BC73-D16A6C515C06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85CF7-F4AB-4AE7-B594-DDA730F4E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2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EA754-11C2-7FDB-7274-E76337AD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09024-3656-1AA8-0C66-FF7F2970A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6780D-FE44-1451-6B71-08CE44AEE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F3681-666C-19E5-7D30-05AE27A60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03A3D8-CA18-4489-9241-CA705B00537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285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08831-5C7C-A231-EF58-1117108C1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BFB33-5183-855C-63FC-2F55803D7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959BF-F104-78CD-2E10-641ED0E57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47EE6-74C3-879C-B8FA-0F56D166B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03A3D8-CA18-4489-9241-CA705B00537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010774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0910-A0C0-68BB-7B53-15FDAD26F0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992" y="2926056"/>
            <a:ext cx="11617834" cy="426744"/>
          </a:xfrm>
        </p:spPr>
        <p:txBody>
          <a:bodyPr/>
          <a:lstStyle>
            <a:lvl1pPr>
              <a:defRPr spc="-26">
                <a:solidFill>
                  <a:schemeClr val="bg1"/>
                </a:solidFill>
              </a:defRPr>
            </a:lvl1pPr>
          </a:lstStyle>
          <a:p>
            <a:r>
              <a:rPr lang="en-US"/>
              <a:t>Innovative end-to-end drug platform technology company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4FF15-ACE1-BC40-45CB-34D1B57152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EC72E-7D93-4BA5-9C9F-9730CC1FCB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Date Placeholder 21">
            <a:extLst>
              <a:ext uri="{FF2B5EF4-FFF2-40B4-BE49-F238E27FC236}">
                <a16:creationId xmlns:a16="http://schemas.microsoft.com/office/drawing/2014/main" id="{538CCEA6-28D6-432F-620A-5FA841D9A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28045" y="6492240"/>
            <a:ext cx="906780" cy="1097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en-GB" sz="800" spc="-39" smtClean="0">
                <a:solidFill>
                  <a:schemeClr val="tx1"/>
                </a:solidFill>
              </a:defRPr>
            </a:lvl1pPr>
          </a:lstStyle>
          <a:p>
            <a:fld id="{BC01B09E-BD2E-4777-B4D4-F6B540230C58}" type="datetime6">
              <a:rPr lang="en-GB" smtClean="0"/>
              <a:pPr/>
              <a:t>June 26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175311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EFC1-1303-072F-1268-89AE9D9D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ADFD45-BBA2-0FD1-6247-2B24FE11A9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83A8C-033D-5957-3864-393DC98EAF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095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three 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9762" y="1098656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19763" y="1508760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02DE45A7-F0D6-9AE9-EEAE-33D9CAF4B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9762" y="2720075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2502C5A-341A-BA01-1E99-66D29F7CE7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9763" y="3130179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0A402D78-651B-49D4-8CB0-D8BB60B2C4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9762" y="4336414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C3EFA1-D458-DCCA-B07C-3DF36495AE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19763" y="4746518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754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9761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for slide with two images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5770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B780EE7-8B48-AE2D-938E-E4D65084BB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13" y="2687320"/>
            <a:ext cx="7909560" cy="4101878"/>
          </a:xfrm>
          <a:custGeom>
            <a:avLst/>
            <a:gdLst>
              <a:gd name="connsiteX0" fmla="*/ 640856 w 7909560"/>
              <a:gd name="connsiteY0" fmla="*/ 0 h 4101878"/>
              <a:gd name="connsiteX1" fmla="*/ 7909560 w 7909560"/>
              <a:gd name="connsiteY1" fmla="*/ 0 h 4101878"/>
              <a:gd name="connsiteX2" fmla="*/ 7909560 w 7909560"/>
              <a:gd name="connsiteY2" fmla="*/ 3461353 h 4101878"/>
              <a:gd name="connsiteX3" fmla="*/ 7268704 w 7909560"/>
              <a:gd name="connsiteY3" fmla="*/ 4101878 h 4101878"/>
              <a:gd name="connsiteX4" fmla="*/ 640856 w 7909560"/>
              <a:gd name="connsiteY4" fmla="*/ 4101878 h 4101878"/>
              <a:gd name="connsiteX5" fmla="*/ 0 w 7909560"/>
              <a:gd name="connsiteY5" fmla="*/ 3461353 h 4101878"/>
              <a:gd name="connsiteX6" fmla="*/ 0 w 7909560"/>
              <a:gd name="connsiteY6" fmla="*/ 640525 h 4101878"/>
              <a:gd name="connsiteX7" fmla="*/ 640856 w 7909560"/>
              <a:gd name="connsiteY7" fmla="*/ 0 h 4101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9560" h="4101878">
                <a:moveTo>
                  <a:pt x="640856" y="0"/>
                </a:moveTo>
                <a:lnTo>
                  <a:pt x="7909560" y="0"/>
                </a:lnTo>
                <a:lnTo>
                  <a:pt x="7909560" y="3461353"/>
                </a:lnTo>
                <a:cubicBezTo>
                  <a:pt x="7909560" y="3814847"/>
                  <a:pt x="7622380" y="4101878"/>
                  <a:pt x="7268704" y="4101878"/>
                </a:cubicBezTo>
                <a:lnTo>
                  <a:pt x="640856" y="4101878"/>
                </a:lnTo>
                <a:cubicBezTo>
                  <a:pt x="287180" y="4101878"/>
                  <a:pt x="0" y="3814847"/>
                  <a:pt x="0" y="3461353"/>
                </a:cubicBezTo>
                <a:lnTo>
                  <a:pt x="0" y="640525"/>
                </a:lnTo>
                <a:cubicBezTo>
                  <a:pt x="0" y="287031"/>
                  <a:pt x="287180" y="0"/>
                  <a:pt x="6408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17AD81-D334-8CCB-130E-2510F2DB65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5632" y="2687320"/>
            <a:ext cx="3975183" cy="4101813"/>
          </a:xfrm>
          <a:custGeom>
            <a:avLst/>
            <a:gdLst>
              <a:gd name="connsiteX0" fmla="*/ 0 w 3975183"/>
              <a:gd name="connsiteY0" fmla="*/ 0 h 4101813"/>
              <a:gd name="connsiteX1" fmla="*/ 3325754 w 3975183"/>
              <a:gd name="connsiteY1" fmla="*/ 0 h 4101813"/>
              <a:gd name="connsiteX2" fmla="*/ 3975183 w 3975183"/>
              <a:gd name="connsiteY2" fmla="*/ 649429 h 4101813"/>
              <a:gd name="connsiteX3" fmla="*/ 3975183 w 3975183"/>
              <a:gd name="connsiteY3" fmla="*/ 3452384 h 4101813"/>
              <a:gd name="connsiteX4" fmla="*/ 3325754 w 3975183"/>
              <a:gd name="connsiteY4" fmla="*/ 4101813 h 4101813"/>
              <a:gd name="connsiteX5" fmla="*/ 649429 w 3975183"/>
              <a:gd name="connsiteY5" fmla="*/ 4101813 h 4101813"/>
              <a:gd name="connsiteX6" fmla="*/ 0 w 3975183"/>
              <a:gd name="connsiteY6" fmla="*/ 3452384 h 41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5183" h="4101813">
                <a:moveTo>
                  <a:pt x="0" y="0"/>
                </a:moveTo>
                <a:lnTo>
                  <a:pt x="3325754" y="0"/>
                </a:lnTo>
                <a:cubicBezTo>
                  <a:pt x="3684209" y="0"/>
                  <a:pt x="3975183" y="290974"/>
                  <a:pt x="3975183" y="649429"/>
                </a:cubicBezTo>
                <a:lnTo>
                  <a:pt x="3975183" y="3452384"/>
                </a:lnTo>
                <a:cubicBezTo>
                  <a:pt x="3975183" y="3810839"/>
                  <a:pt x="3684209" y="4101813"/>
                  <a:pt x="3325754" y="4101813"/>
                </a:cubicBezTo>
                <a:lnTo>
                  <a:pt x="649429" y="4101813"/>
                </a:lnTo>
                <a:cubicBezTo>
                  <a:pt x="290974" y="4101813"/>
                  <a:pt x="0" y="3810839"/>
                  <a:pt x="0" y="345238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118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&amp; Body with Imag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0318-95A4-0902-F794-678773D63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2" y="1389952"/>
            <a:ext cx="3753871" cy="1170367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a headline and body copy paired with an image on the right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CBB53-1041-7DAB-E7B6-97645F7A27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8B73-9AC3-F0D9-9171-EF6C63353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5564C8-82EE-7E06-BE0C-6D70300B4A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0" y="1088496"/>
            <a:ext cx="3753872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A13FF3-B687-67A4-23E7-265ABB0E9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3127" y="1079261"/>
            <a:ext cx="6936481" cy="5681757"/>
          </a:xfrm>
          <a:custGeom>
            <a:avLst/>
            <a:gdLst>
              <a:gd name="connsiteX0" fmla="*/ 738074 w 6945717"/>
              <a:gd name="connsiteY0" fmla="*/ 0 h 5722013"/>
              <a:gd name="connsiteX1" fmla="*/ 6945717 w 6945717"/>
              <a:gd name="connsiteY1" fmla="*/ 0 h 5722013"/>
              <a:gd name="connsiteX2" fmla="*/ 6945717 w 6945717"/>
              <a:gd name="connsiteY2" fmla="*/ 4984557 h 5722013"/>
              <a:gd name="connsiteX3" fmla="*/ 6207643 w 6945717"/>
              <a:gd name="connsiteY3" fmla="*/ 5722013 h 5722013"/>
              <a:gd name="connsiteX4" fmla="*/ 738074 w 6945717"/>
              <a:gd name="connsiteY4" fmla="*/ 5722013 h 5722013"/>
              <a:gd name="connsiteX5" fmla="*/ 0 w 6945717"/>
              <a:gd name="connsiteY5" fmla="*/ 4984557 h 5722013"/>
              <a:gd name="connsiteX6" fmla="*/ 0 w 6945717"/>
              <a:gd name="connsiteY6" fmla="*/ 737456 h 5722013"/>
              <a:gd name="connsiteX7" fmla="*/ 738074 w 6945717"/>
              <a:gd name="connsiteY7" fmla="*/ 0 h 572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45717" h="5722013">
                <a:moveTo>
                  <a:pt x="738074" y="0"/>
                </a:moveTo>
                <a:lnTo>
                  <a:pt x="6945717" y="0"/>
                </a:lnTo>
                <a:lnTo>
                  <a:pt x="6945717" y="4984557"/>
                </a:lnTo>
                <a:cubicBezTo>
                  <a:pt x="6945717" y="5391542"/>
                  <a:pt x="6614968" y="5722013"/>
                  <a:pt x="6207643" y="5722013"/>
                </a:cubicBezTo>
                <a:lnTo>
                  <a:pt x="738074" y="5722013"/>
                </a:lnTo>
                <a:cubicBezTo>
                  <a:pt x="330748" y="5722013"/>
                  <a:pt x="0" y="5391542"/>
                  <a:pt x="0" y="4984557"/>
                </a:cubicBezTo>
                <a:lnTo>
                  <a:pt x="0" y="737456"/>
                </a:lnTo>
                <a:cubicBezTo>
                  <a:pt x="0" y="330472"/>
                  <a:pt x="330748" y="0"/>
                  <a:pt x="7380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992FF23-EEEA-EC59-C320-07847EF7C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2929573"/>
            <a:ext cx="3753993" cy="36712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/>
            </a:lvl1pPr>
            <a:lvl2pPr>
              <a:lnSpc>
                <a:spcPct val="103000"/>
              </a:lnSpc>
              <a:spcBef>
                <a:spcPts val="1000"/>
              </a:spcBef>
              <a:defRPr sz="1400" spc="-17"/>
            </a:lvl2pPr>
            <a:lvl3pPr>
              <a:lnSpc>
                <a:spcPct val="103000"/>
              </a:lnSpc>
              <a:spcBef>
                <a:spcPts val="1000"/>
              </a:spcBef>
              <a:defRPr sz="1400" spc="-17"/>
            </a:lvl3pPr>
            <a:lvl4pPr>
              <a:lnSpc>
                <a:spcPct val="103000"/>
              </a:lnSpc>
              <a:spcBef>
                <a:spcPts val="1000"/>
              </a:spcBef>
              <a:defRPr sz="1400" spc="-17"/>
            </a:lvl4pPr>
            <a:lvl5pPr>
              <a:lnSpc>
                <a:spcPct val="103000"/>
              </a:lnSpc>
              <a:spcBef>
                <a:spcPts val="1000"/>
              </a:spcBef>
              <a:defRPr sz="1400" spc="-17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882043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17050-C30C-E74C-C1F5-1B4FC8F3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1" y="1389953"/>
            <a:ext cx="11673713" cy="7741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9E737-7895-43E7-91EE-24C987662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111" y="2335371"/>
            <a:ext cx="11673712" cy="37098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EB-5441-53CA-2FEE-EBCF971E1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08812" y="255984"/>
            <a:ext cx="871608" cy="1339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900" spc="0"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6E8A7-6991-B8DA-83B1-EBCD0C2AD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8119" y="255984"/>
            <a:ext cx="306703" cy="1339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en-GB" sz="900" spc="-39" smtClean="0">
                <a:solidFill>
                  <a:schemeClr val="tx2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Graphic 8">
            <a:extLst>
              <a:ext uri="{FF2B5EF4-FFF2-40B4-BE49-F238E27FC236}">
                <a16:creationId xmlns:a16="http://schemas.microsoft.com/office/drawing/2014/main" id="{D8A8E73E-4DB6-FA58-001E-2368A417CCAB}"/>
              </a:ext>
            </a:extLst>
          </p:cNvPr>
          <p:cNvGrpSpPr/>
          <p:nvPr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rgbClr val="000000"/>
          </a:solidFill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3EB496F3-A661-4DBF-0232-FCB4C123B869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E5404865-E213-33CC-D712-771E46F7FD66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36CFE573-0387-CB48-F17A-213B6C9CA169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7BB9D01A-1C1B-7B67-291A-A8524BBF96BB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3403EE07-5ED7-8C84-947B-7AE4F4EF6F56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32F9F18C-FA01-2F12-DDEF-7C2431B88C17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78A5A8A2-DE91-8B1C-6FF3-41BEF31A4D88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4BDD56E3-1929-5137-04FF-F77B9406C158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75D71F2B-6D4E-D00D-1133-C56670C78B58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-form: Shape 20">
              <a:extLst>
                <a:ext uri="{FF2B5EF4-FFF2-40B4-BE49-F238E27FC236}">
                  <a16:creationId xmlns:a16="http://schemas.microsoft.com/office/drawing/2014/main" id="{593D9C17-8D66-0E81-4046-4F54E2BC65A0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E21BA5A-14FD-198E-4AFD-36C4A677879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850688" y="6672580"/>
            <a:ext cx="2984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41427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6" r:id="rId4"/>
    <p:sldLayoutId id="2147483667" r:id="rId5"/>
  </p:sldLayoutIdLst>
  <p:hf hdr="0"/>
  <p:txStyles>
    <p:titleStyle>
      <a:lvl1pPr algn="l" defTabSz="914400" rtl="0" eaLnBrk="1" latinLnBrk="0" hangingPunct="1">
        <a:lnSpc>
          <a:spcPct val="96000"/>
        </a:lnSpc>
        <a:spcBef>
          <a:spcPts val="100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8872" indent="-118872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1pPr>
      <a:lvl2pPr marL="237744" indent="-118872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2pPr>
      <a:lvl3pPr marL="365760" indent="-118872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502920" indent="-118872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4pPr>
      <a:lvl5pPr marL="640080" indent="-118872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462901"/>
          </p15:clr>
        </p15:guide>
        <p15:guide id="2" pos="7680">
          <p15:clr>
            <a:srgbClr val="462901"/>
          </p15:clr>
        </p15:guide>
        <p15:guide id="3" pos="161">
          <p15:clr>
            <a:srgbClr val="462901"/>
          </p15:clr>
        </p15:guide>
        <p15:guide id="4" pos="1935">
          <p15:clr>
            <a:srgbClr val="462901"/>
          </p15:clr>
        </p15:guide>
        <p15:guide id="5" pos="2022">
          <p15:clr>
            <a:srgbClr val="462901"/>
          </p15:clr>
        </p15:guide>
        <p15:guide id="6" pos="3796">
          <p15:clr>
            <a:srgbClr val="462901"/>
          </p15:clr>
        </p15:guide>
        <p15:guide id="7" pos="3883">
          <p15:clr>
            <a:srgbClr val="462901"/>
          </p15:clr>
        </p15:guide>
        <p15:guide id="8" pos="5657">
          <p15:clr>
            <a:srgbClr val="462901"/>
          </p15:clr>
        </p15:guide>
        <p15:guide id="9" pos="5744">
          <p15:clr>
            <a:srgbClr val="462901"/>
          </p15:clr>
        </p15:guide>
        <p15:guide id="10" pos="7518">
          <p15:clr>
            <a:srgbClr val="462901"/>
          </p15:clr>
        </p15:guide>
        <p15:guide id="11" orient="horz">
          <p15:clr>
            <a:srgbClr val="462901"/>
          </p15:clr>
        </p15:guide>
        <p15:guide id="12" orient="horz" pos="4320">
          <p15:clr>
            <a:srgbClr val="462901"/>
          </p15:clr>
        </p15:guide>
        <p15:guide id="13" orient="horz" pos="161">
          <p15:clr>
            <a:srgbClr val="462901"/>
          </p15:clr>
        </p15:guide>
        <p15:guide id="14" orient="horz" pos="755">
          <p15:clr>
            <a:srgbClr val="462901"/>
          </p15:clr>
        </p15:guide>
        <p15:guide id="15" orient="horz" pos="841">
          <p15:clr>
            <a:srgbClr val="462901"/>
          </p15:clr>
        </p15:guide>
        <p15:guide id="16" orient="horz" pos="1436">
          <p15:clr>
            <a:srgbClr val="462901"/>
          </p15:clr>
        </p15:guide>
        <p15:guide id="17" orient="horz" pos="1522">
          <p15:clr>
            <a:srgbClr val="462901"/>
          </p15:clr>
        </p15:guide>
        <p15:guide id="18" orient="horz" pos="2116">
          <p15:clr>
            <a:srgbClr val="462901"/>
          </p15:clr>
        </p15:guide>
        <p15:guide id="19" orient="horz" pos="2203">
          <p15:clr>
            <a:srgbClr val="462901"/>
          </p15:clr>
        </p15:guide>
        <p15:guide id="20" orient="horz" pos="2797">
          <p15:clr>
            <a:srgbClr val="462901"/>
          </p15:clr>
        </p15:guide>
        <p15:guide id="21" orient="horz" pos="2883">
          <p15:clr>
            <a:srgbClr val="462901"/>
          </p15:clr>
        </p15:guide>
        <p15:guide id="22" orient="horz" pos="3478">
          <p15:clr>
            <a:srgbClr val="462901"/>
          </p15:clr>
        </p15:guide>
        <p15:guide id="23" orient="horz" pos="3564">
          <p15:clr>
            <a:srgbClr val="462901"/>
          </p15:clr>
        </p15:guide>
        <p15:guide id="24" orient="horz" pos="4158">
          <p15:clr>
            <a:srgbClr val="462901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0_2C8336B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sv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4.xml"/></Relationships>
</file>

<file path=ppt/slides/_rels/slide11.xml.rels><?xml version="1.0" encoding="UTF-8"?><Relationships xmlns="http://schemas.openxmlformats.org/package/2006/relationships"><Relationship Id="rId3" Type="http://schemas.microsoft.com/office/2018/10/relationships/comments" Target="../comments/modernComment_D5A_EB1D459B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screen with white text  AI-generated content may be incorrect." hidden="1">
            <a:extLst>
              <a:ext uri="{FF2B5EF4-FFF2-40B4-BE49-F238E27FC236}">
                <a16:creationId xmlns:a16="http://schemas.microsoft.com/office/drawing/2014/main" id="{42E405EF-554E-319D-06B6-E61586548D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13DC6FBB-6AFD-0823-7D3C-6C5B47D5C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28045" y="6492240"/>
            <a:ext cx="906780" cy="10977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1682B5-A557-47DF-86AD-D8D4CEA969D7}" type="datetime6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June 26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5418F94C-89BE-7386-A085-4B572EC5371A}"/>
              </a:ext>
            </a:extLst>
          </p:cNvPr>
          <p:cNvGrpSpPr/>
          <p:nvPr/>
        </p:nvGrpSpPr>
        <p:grpSpPr>
          <a:xfrm>
            <a:off x="256030" y="253048"/>
            <a:ext cx="1783590" cy="608012"/>
            <a:chOff x="257178" y="255588"/>
            <a:chExt cx="895347" cy="306976"/>
          </a:xfrm>
          <a:solidFill>
            <a:schemeClr val="bg1"/>
          </a:solidFill>
        </p:grpSpPr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D5F29209-2DB5-F5E4-F300-E19D498AC176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859FA7CD-2A63-9D51-928F-9983D438C896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02EFF96A-E953-8A9E-66EB-249A2DF76943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85C66ED4-1111-4193-E045-6D641B86D313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D82BAF4F-8257-5371-4C69-115C0C5004B9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5DC09641-5178-B4B5-C81F-D4D14D71E634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D908A69B-BA70-811C-B167-30EB99D82ACF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3C45B64F-BCB9-56D5-9F9C-543373A740FC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C37B755E-DF9D-9FCF-D4E2-FF3127B1F766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5D74C49E-F82F-129C-1704-C293FC01127C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</p:grp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DFA622E3-4BFB-8C7E-5D7C-043FAB04EB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76851" y="1974851"/>
            <a:ext cx="6915151" cy="4883149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C87E7674-A266-D629-CB96-7CEF6DC4950E}"/>
              </a:ext>
            </a:extLst>
          </p:cNvPr>
          <p:cNvSpPr/>
          <p:nvPr/>
        </p:nvSpPr>
        <p:spPr>
          <a:xfrm>
            <a:off x="254001" y="2266951"/>
            <a:ext cx="4400551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23" normalizeH="0" baseline="0" noProof="0">
                <a:ln>
                  <a:noFill/>
                </a:ln>
                <a:solidFill>
                  <a:srgbClr val="FFFFFF">
                    <a:alpha val="99000"/>
                  </a:srgbClr>
                </a:solidFill>
                <a:effectLst/>
                <a:uLnTx/>
                <a:uFillTx/>
                <a:latin typeface="Funnel Sans Light"/>
                <a:ea typeface="Funnel Sans" pitchFamily="34" charset="-122"/>
                <a:cs typeface="Funnel Sans" pitchFamily="34" charset="-120"/>
              </a:rPr>
              <a:t>Integrating radiopharmaceutical discovery, development and commercialization for better outcomes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B5557F73-9F36-A511-1F08-899F2046B7B9}"/>
              </a:ext>
            </a:extLst>
          </p:cNvPr>
          <p:cNvSpPr/>
          <p:nvPr/>
        </p:nvSpPr>
        <p:spPr>
          <a:xfrm>
            <a:off x="260351" y="1873251"/>
            <a:ext cx="12890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99000"/>
                  </a:srgbClr>
                </a:solidFill>
                <a:effectLst/>
                <a:uLnTx/>
                <a:uFillTx/>
                <a:latin typeface="Funnel Sans"/>
                <a:ea typeface="Funnel Sans" pitchFamily="34" charset="-122"/>
                <a:cs typeface="Funnel Sans" pitchFamily="34" charset="-120"/>
              </a:rPr>
              <a:t>Sego Therapeutics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AE2B592B-4E70-EA65-824D-72A0C7897BF1}"/>
              </a:ext>
            </a:extLst>
          </p:cNvPr>
          <p:cNvSpPr/>
          <p:nvPr/>
        </p:nvSpPr>
        <p:spPr>
          <a:xfrm>
            <a:off x="260351" y="6454126"/>
            <a:ext cx="615951" cy="147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1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99000"/>
                  </a:srgbClr>
                </a:solidFill>
                <a:effectLst/>
                <a:uLnTx/>
                <a:uFillTx/>
                <a:latin typeface="Funnel Sans"/>
                <a:ea typeface="Funnel Sans" pitchFamily="34" charset="-122"/>
                <a:cs typeface="Funnel Sans" pitchFamily="34" charset="-120"/>
              </a:rPr>
              <a:t>May 2026</a:t>
            </a:r>
            <a:endParaRPr kumimoji="0" lang="en-US" sz="95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D0982D-4394-19CF-BC51-29602F2DA1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fld id="{F41E5F93-45D3-472F-9EA1-BCB47A04FF6B}" type="slidenum">
              <a:rPr lang="en-GB" smtClean="0">
                <a:solidFill>
                  <a:schemeClr val="bg1"/>
                </a:solidFill>
              </a:rPr>
              <a:pPr/>
              <a:t>1</a:t>
            </a:fld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7967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FD81F1A-409B-0518-FBB9-D9311E6EC69F}"/>
              </a:ext>
            </a:extLst>
          </p:cNvPr>
          <p:cNvSpPr/>
          <p:nvPr/>
        </p:nvSpPr>
        <p:spPr>
          <a:xfrm>
            <a:off x="250348" y="2020297"/>
            <a:ext cx="2820431" cy="4575765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633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015EB9E-13F9-461C-7C0C-6BB13DCD7C79}"/>
              </a:ext>
            </a:extLst>
          </p:cNvPr>
          <p:cNvSpPr/>
          <p:nvPr/>
        </p:nvSpPr>
        <p:spPr>
          <a:xfrm>
            <a:off x="250348" y="2020297"/>
            <a:ext cx="2820431" cy="101542"/>
          </a:xfrm>
          <a:custGeom>
            <a:avLst/>
            <a:gdLst>
              <a:gd name="connsiteX0" fmla="*/ 0 w 2820431"/>
              <a:gd name="connsiteY0" fmla="*/ 101543 h 101542"/>
              <a:gd name="connsiteX1" fmla="*/ 101409 w 2820431"/>
              <a:gd name="connsiteY1" fmla="*/ 0 h 101542"/>
              <a:gd name="connsiteX2" fmla="*/ 2719022 w 2820431"/>
              <a:gd name="connsiteY2" fmla="*/ 0 h 101542"/>
              <a:gd name="connsiteX3" fmla="*/ 2820431 w 2820431"/>
              <a:gd name="connsiteY3" fmla="*/ 101543 h 101542"/>
              <a:gd name="connsiteX4" fmla="*/ 0 w 2820431"/>
              <a:gd name="connsiteY4" fmla="*/ 101543 h 10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0431" h="101542">
                <a:moveTo>
                  <a:pt x="0" y="101543"/>
                </a:moveTo>
                <a:cubicBezTo>
                  <a:pt x="0" y="45462"/>
                  <a:pt x="45402" y="0"/>
                  <a:pt x="101409" y="0"/>
                </a:cubicBezTo>
                <a:lnTo>
                  <a:pt x="2719022" y="0"/>
                </a:lnTo>
                <a:cubicBezTo>
                  <a:pt x="2775032" y="0"/>
                  <a:pt x="2820431" y="45462"/>
                  <a:pt x="2820431" y="101543"/>
                </a:cubicBezTo>
                <a:lnTo>
                  <a:pt x="0" y="101543"/>
                </a:lnTo>
                <a:close/>
              </a:path>
            </a:pathLst>
          </a:custGeom>
          <a:solidFill>
            <a:srgbClr val="D5ED99"/>
          </a:solidFill>
          <a:ln w="633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D4B43FE-145C-D7F6-6EC5-F8830579FE9A}"/>
              </a:ext>
            </a:extLst>
          </p:cNvPr>
          <p:cNvSpPr/>
          <p:nvPr/>
        </p:nvSpPr>
        <p:spPr>
          <a:xfrm>
            <a:off x="3218413" y="2020297"/>
            <a:ext cx="2820431" cy="4575765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633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290E02E-2B81-4A14-128A-6F4DC02ECDB6}"/>
              </a:ext>
            </a:extLst>
          </p:cNvPr>
          <p:cNvSpPr/>
          <p:nvPr/>
        </p:nvSpPr>
        <p:spPr>
          <a:xfrm>
            <a:off x="3210318" y="2019351"/>
            <a:ext cx="2820431" cy="101542"/>
          </a:xfrm>
          <a:custGeom>
            <a:avLst/>
            <a:gdLst>
              <a:gd name="connsiteX0" fmla="*/ 0 w 2820431"/>
              <a:gd name="connsiteY0" fmla="*/ 101543 h 101542"/>
              <a:gd name="connsiteX1" fmla="*/ 101409 w 2820431"/>
              <a:gd name="connsiteY1" fmla="*/ 0 h 101542"/>
              <a:gd name="connsiteX2" fmla="*/ 2719022 w 2820431"/>
              <a:gd name="connsiteY2" fmla="*/ 0 h 101542"/>
              <a:gd name="connsiteX3" fmla="*/ 2820431 w 2820431"/>
              <a:gd name="connsiteY3" fmla="*/ 101543 h 101542"/>
              <a:gd name="connsiteX4" fmla="*/ 0 w 2820431"/>
              <a:gd name="connsiteY4" fmla="*/ 101543 h 10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0431" h="101542">
                <a:moveTo>
                  <a:pt x="0" y="101543"/>
                </a:moveTo>
                <a:cubicBezTo>
                  <a:pt x="0" y="45462"/>
                  <a:pt x="45402" y="0"/>
                  <a:pt x="101409" y="0"/>
                </a:cubicBezTo>
                <a:lnTo>
                  <a:pt x="2719022" y="0"/>
                </a:lnTo>
                <a:cubicBezTo>
                  <a:pt x="2775032" y="0"/>
                  <a:pt x="2820431" y="45462"/>
                  <a:pt x="2820431" y="101543"/>
                </a:cubicBezTo>
                <a:lnTo>
                  <a:pt x="0" y="101543"/>
                </a:lnTo>
                <a:close/>
              </a:path>
            </a:pathLst>
          </a:custGeom>
          <a:solidFill>
            <a:srgbClr val="D5ED99"/>
          </a:solidFill>
          <a:ln w="633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63275E9-CEE6-AB30-0063-62FE1BBA53E4}"/>
              </a:ext>
            </a:extLst>
          </p:cNvPr>
          <p:cNvSpPr/>
          <p:nvPr/>
        </p:nvSpPr>
        <p:spPr>
          <a:xfrm>
            <a:off x="6159733" y="2020297"/>
            <a:ext cx="2820431" cy="4575765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633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54CC6419-267E-C554-6B36-E6DF3762981D}"/>
              </a:ext>
            </a:extLst>
          </p:cNvPr>
          <p:cNvSpPr/>
          <p:nvPr/>
        </p:nvSpPr>
        <p:spPr>
          <a:xfrm>
            <a:off x="6159733" y="2020297"/>
            <a:ext cx="2820431" cy="101542"/>
          </a:xfrm>
          <a:custGeom>
            <a:avLst/>
            <a:gdLst>
              <a:gd name="connsiteX0" fmla="*/ 0 w 2820431"/>
              <a:gd name="connsiteY0" fmla="*/ 101543 h 101542"/>
              <a:gd name="connsiteX1" fmla="*/ 101409 w 2820431"/>
              <a:gd name="connsiteY1" fmla="*/ 0 h 101542"/>
              <a:gd name="connsiteX2" fmla="*/ 2719022 w 2820431"/>
              <a:gd name="connsiteY2" fmla="*/ 0 h 101542"/>
              <a:gd name="connsiteX3" fmla="*/ 2820431 w 2820431"/>
              <a:gd name="connsiteY3" fmla="*/ 101543 h 101542"/>
              <a:gd name="connsiteX4" fmla="*/ 0 w 2820431"/>
              <a:gd name="connsiteY4" fmla="*/ 101543 h 10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0431" h="101542">
                <a:moveTo>
                  <a:pt x="0" y="101543"/>
                </a:moveTo>
                <a:cubicBezTo>
                  <a:pt x="0" y="45462"/>
                  <a:pt x="45402" y="0"/>
                  <a:pt x="101409" y="0"/>
                </a:cubicBezTo>
                <a:lnTo>
                  <a:pt x="2719022" y="0"/>
                </a:lnTo>
                <a:cubicBezTo>
                  <a:pt x="2775032" y="0"/>
                  <a:pt x="2820431" y="45462"/>
                  <a:pt x="2820431" y="101543"/>
                </a:cubicBezTo>
                <a:lnTo>
                  <a:pt x="0" y="101543"/>
                </a:lnTo>
                <a:close/>
              </a:path>
            </a:pathLst>
          </a:custGeom>
          <a:solidFill>
            <a:srgbClr val="D5ED99"/>
          </a:solidFill>
          <a:ln w="633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B9CAEF0-0332-0CC1-C0B6-A6A1304AB71C}"/>
              </a:ext>
            </a:extLst>
          </p:cNvPr>
          <p:cNvSpPr/>
          <p:nvPr/>
        </p:nvSpPr>
        <p:spPr>
          <a:xfrm>
            <a:off x="9109148" y="2020297"/>
            <a:ext cx="2820431" cy="4575765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3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1C08F94-88AD-ED9C-2B35-C3F466CF605E}"/>
              </a:ext>
            </a:extLst>
          </p:cNvPr>
          <p:cNvSpPr/>
          <p:nvPr/>
        </p:nvSpPr>
        <p:spPr>
          <a:xfrm>
            <a:off x="9109148" y="2020297"/>
            <a:ext cx="2820431" cy="101542"/>
          </a:xfrm>
          <a:custGeom>
            <a:avLst/>
            <a:gdLst>
              <a:gd name="connsiteX0" fmla="*/ 0 w 2820431"/>
              <a:gd name="connsiteY0" fmla="*/ 101543 h 101542"/>
              <a:gd name="connsiteX1" fmla="*/ 101409 w 2820431"/>
              <a:gd name="connsiteY1" fmla="*/ 0 h 101542"/>
              <a:gd name="connsiteX2" fmla="*/ 2719022 w 2820431"/>
              <a:gd name="connsiteY2" fmla="*/ 0 h 101542"/>
              <a:gd name="connsiteX3" fmla="*/ 2820431 w 2820431"/>
              <a:gd name="connsiteY3" fmla="*/ 101543 h 101542"/>
              <a:gd name="connsiteX4" fmla="*/ 0 w 2820431"/>
              <a:gd name="connsiteY4" fmla="*/ 101543 h 10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0431" h="101542">
                <a:moveTo>
                  <a:pt x="0" y="101543"/>
                </a:moveTo>
                <a:cubicBezTo>
                  <a:pt x="0" y="45462"/>
                  <a:pt x="45402" y="0"/>
                  <a:pt x="101409" y="0"/>
                </a:cubicBezTo>
                <a:lnTo>
                  <a:pt x="2719022" y="0"/>
                </a:lnTo>
                <a:cubicBezTo>
                  <a:pt x="2775032" y="0"/>
                  <a:pt x="2820431" y="45462"/>
                  <a:pt x="2820431" y="101543"/>
                </a:cubicBezTo>
                <a:lnTo>
                  <a:pt x="0" y="101543"/>
                </a:lnTo>
                <a:close/>
              </a:path>
            </a:pathLst>
          </a:custGeom>
          <a:solidFill>
            <a:srgbClr val="D5ED99"/>
          </a:solidFill>
          <a:ln w="633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78AA3-F5F5-E242-E301-758702F9C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1" y="1346411"/>
            <a:ext cx="11930889" cy="425903"/>
          </a:xfrm>
        </p:spPr>
        <p:txBody>
          <a:bodyPr/>
          <a:lstStyle/>
          <a:p>
            <a:r>
              <a:rPr lang="en-GB" spc="-24" dirty="0"/>
              <a:t>15+ domain area experts led by 4 founders with deep domain expertise in </a:t>
            </a:r>
            <a:r>
              <a:rPr lang="en-GB" spc="-24" dirty="0" err="1"/>
              <a:t>radiopharma</a:t>
            </a:r>
            <a:endParaRPr lang="en-US" spc="-24" dirty="0"/>
          </a:p>
        </p:txBody>
      </p:sp>
      <p:pic>
        <p:nvPicPr>
          <p:cNvPr id="6" name="Picture 5" descr="A logo with a black background  AI-generated content may be incorrect.">
            <a:extLst>
              <a:ext uri="{FF2B5EF4-FFF2-40B4-BE49-F238E27FC236}">
                <a16:creationId xmlns:a16="http://schemas.microsoft.com/office/drawing/2014/main" id="{0A8A95DF-2242-2029-841C-5C9919F5B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94" y="6050490"/>
            <a:ext cx="608185" cy="476516"/>
          </a:xfrm>
          <a:prstGeom prst="rect">
            <a:avLst/>
          </a:prstGeom>
        </p:spPr>
      </p:pic>
      <p:pic>
        <p:nvPicPr>
          <p:cNvPr id="8" name="Picture 7" descr="A close-up of a black background  AI-generated content may be incorrect.">
            <a:extLst>
              <a:ext uri="{FF2B5EF4-FFF2-40B4-BE49-F238E27FC236}">
                <a16:creationId xmlns:a16="http://schemas.microsoft.com/office/drawing/2014/main" id="{1CFC3129-416D-E855-7E4A-AE35930EC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605" y="6202869"/>
            <a:ext cx="998677" cy="330772"/>
          </a:xfrm>
          <a:prstGeom prst="rect">
            <a:avLst/>
          </a:prstGeom>
        </p:spPr>
      </p:pic>
      <p:pic>
        <p:nvPicPr>
          <p:cNvPr id="12" name="Picture 11" descr="Blue letters on a black background  AI-generated content may be incorrect.">
            <a:extLst>
              <a:ext uri="{FF2B5EF4-FFF2-40B4-BE49-F238E27FC236}">
                <a16:creationId xmlns:a16="http://schemas.microsoft.com/office/drawing/2014/main" id="{15A5D6BE-F619-C095-73AC-724406074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94" y="5772030"/>
            <a:ext cx="937169" cy="153007"/>
          </a:xfrm>
          <a:prstGeom prst="rect">
            <a:avLst/>
          </a:prstGeom>
        </p:spPr>
      </p:pic>
      <p:pic>
        <p:nvPicPr>
          <p:cNvPr id="14" name="Picture 13" descr="A close up of a logo  AI-generated content may be incorrect.">
            <a:extLst>
              <a:ext uri="{FF2B5EF4-FFF2-40B4-BE49-F238E27FC236}">
                <a16:creationId xmlns:a16="http://schemas.microsoft.com/office/drawing/2014/main" id="{AB86C3E2-8448-D55C-E3D6-6BC8878332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332" y="5730314"/>
            <a:ext cx="1107218" cy="382023"/>
          </a:xfrm>
          <a:prstGeom prst="rect">
            <a:avLst/>
          </a:prstGeom>
        </p:spPr>
      </p:pic>
      <p:pic>
        <p:nvPicPr>
          <p:cNvPr id="16" name="Picture 15" descr="A black background with red and blue letters  AI-generated content may be incorrect.">
            <a:extLst>
              <a:ext uri="{FF2B5EF4-FFF2-40B4-BE49-F238E27FC236}">
                <a16:creationId xmlns:a16="http://schemas.microsoft.com/office/drawing/2014/main" id="{A3327425-0002-F320-CC06-5FF0D3FFA0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66" b="26491"/>
          <a:stretch>
            <a:fillRect/>
          </a:stretch>
        </p:blipFill>
        <p:spPr>
          <a:xfrm>
            <a:off x="3391240" y="5935101"/>
            <a:ext cx="1272549" cy="158518"/>
          </a:xfrm>
          <a:prstGeom prst="rect">
            <a:avLst/>
          </a:prstGeom>
        </p:spPr>
      </p:pic>
      <p:pic>
        <p:nvPicPr>
          <p:cNvPr id="18" name="Picture 17" descr="A close up of a logo  AI-generated content may be incorrect.">
            <a:extLst>
              <a:ext uri="{FF2B5EF4-FFF2-40B4-BE49-F238E27FC236}">
                <a16:creationId xmlns:a16="http://schemas.microsoft.com/office/drawing/2014/main" id="{D58AF95E-8675-BD38-57E0-95753B6827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869" y="6240511"/>
            <a:ext cx="857702" cy="222367"/>
          </a:xfrm>
          <a:prstGeom prst="rect">
            <a:avLst/>
          </a:prstGeom>
        </p:spPr>
      </p:pic>
      <p:pic>
        <p:nvPicPr>
          <p:cNvPr id="20" name="Picture 19" descr="A blue and black logo  AI-generated content may be incorrect.">
            <a:extLst>
              <a:ext uri="{FF2B5EF4-FFF2-40B4-BE49-F238E27FC236}">
                <a16:creationId xmlns:a16="http://schemas.microsoft.com/office/drawing/2014/main" id="{A7A05546-47AD-86BA-CAD6-23CC6D5EB6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007" y="6019023"/>
            <a:ext cx="635851" cy="295891"/>
          </a:xfrm>
          <a:prstGeom prst="rect">
            <a:avLst/>
          </a:prstGeom>
        </p:spPr>
      </p:pic>
      <p:pic>
        <p:nvPicPr>
          <p:cNvPr id="22" name="Picture 21" descr="A black background with white text  AI-generated content may be incorrect.">
            <a:extLst>
              <a:ext uri="{FF2B5EF4-FFF2-40B4-BE49-F238E27FC236}">
                <a16:creationId xmlns:a16="http://schemas.microsoft.com/office/drawing/2014/main" id="{A583B4B0-41FF-E84F-AB19-AEBDF9D153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418" y="6048678"/>
            <a:ext cx="807077" cy="241487"/>
          </a:xfrm>
          <a:prstGeom prst="rect">
            <a:avLst/>
          </a:prstGeom>
        </p:spPr>
      </p:pic>
      <p:pic>
        <p:nvPicPr>
          <p:cNvPr id="24" name="Picture 23" descr="Blue and orange text on a black background  AI-generated content may be incorrect.">
            <a:extLst>
              <a:ext uri="{FF2B5EF4-FFF2-40B4-BE49-F238E27FC236}">
                <a16:creationId xmlns:a16="http://schemas.microsoft.com/office/drawing/2014/main" id="{9F8E0735-EBA5-7A70-9FB3-C0BE495E9C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192" y="6015561"/>
            <a:ext cx="909451" cy="305271"/>
          </a:xfrm>
          <a:prstGeom prst="rect">
            <a:avLst/>
          </a:prstGeom>
        </p:spPr>
      </p:pic>
      <p:pic>
        <p:nvPicPr>
          <p:cNvPr id="26" name="Picture 25" descr="A blue and black logo  AI-generated content may be incorrect.">
            <a:extLst>
              <a:ext uri="{FF2B5EF4-FFF2-40B4-BE49-F238E27FC236}">
                <a16:creationId xmlns:a16="http://schemas.microsoft.com/office/drawing/2014/main" id="{EF6E6462-D3AB-1DD6-6D49-9845839B45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850" y="6064158"/>
            <a:ext cx="813337" cy="203334"/>
          </a:xfrm>
          <a:prstGeom prst="rect">
            <a:avLst/>
          </a:prstGeom>
        </p:spPr>
      </p:pic>
      <p:pic>
        <p:nvPicPr>
          <p:cNvPr id="28" name="Picture 27" descr="A blue and orange logo  AI-generated content may be incorrect.">
            <a:extLst>
              <a:ext uri="{FF2B5EF4-FFF2-40B4-BE49-F238E27FC236}">
                <a16:creationId xmlns:a16="http://schemas.microsoft.com/office/drawing/2014/main" id="{137FD2D2-0CC4-17AD-7426-B097938428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113" y="6052953"/>
            <a:ext cx="708293" cy="218927"/>
          </a:xfrm>
          <a:prstGeom prst="rect">
            <a:avLst/>
          </a:prstGeom>
        </p:spPr>
      </p:pic>
      <p:pic>
        <p:nvPicPr>
          <p:cNvPr id="30" name="Picture 29" descr="Blue text on a black background  AI-generated content may be incorrect.">
            <a:extLst>
              <a:ext uri="{FF2B5EF4-FFF2-40B4-BE49-F238E27FC236}">
                <a16:creationId xmlns:a16="http://schemas.microsoft.com/office/drawing/2014/main" id="{44191398-6056-56ED-855B-27B79B4BB1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374" y="5792040"/>
            <a:ext cx="1070264" cy="367309"/>
          </a:xfrm>
          <a:prstGeom prst="rect">
            <a:avLst/>
          </a:prstGeom>
        </p:spPr>
      </p:pic>
      <p:pic>
        <p:nvPicPr>
          <p:cNvPr id="32" name="Picture 31" descr="A blue and white logo  AI-generated content may be incorrect.">
            <a:extLst>
              <a:ext uri="{FF2B5EF4-FFF2-40B4-BE49-F238E27FC236}">
                <a16:creationId xmlns:a16="http://schemas.microsoft.com/office/drawing/2014/main" id="{B30C7658-EB70-2476-5FA1-46DA2C0D388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046" y="6041535"/>
            <a:ext cx="572692" cy="260893"/>
          </a:xfrm>
          <a:prstGeom prst="rect">
            <a:avLst/>
          </a:prstGeom>
        </p:spPr>
      </p:pic>
      <p:pic>
        <p:nvPicPr>
          <p:cNvPr id="34" name="Picture 33" descr="A grey and blue logo  AI-generated content may be incorrect.">
            <a:extLst>
              <a:ext uri="{FF2B5EF4-FFF2-40B4-BE49-F238E27FC236}">
                <a16:creationId xmlns:a16="http://schemas.microsoft.com/office/drawing/2014/main" id="{FE38E6CE-C45E-698C-6223-26DC96EDBC5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420" y="6184344"/>
            <a:ext cx="604976" cy="30248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D5E2A07-356F-AA47-DA0F-26D5923A7195}"/>
              </a:ext>
            </a:extLst>
          </p:cNvPr>
          <p:cNvSpPr txBox="1"/>
          <p:nvPr/>
        </p:nvSpPr>
        <p:spPr>
          <a:xfrm>
            <a:off x="259874" y="1071722"/>
            <a:ext cx="1045051" cy="2447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  <a:t>Our Team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7366A6-D6A9-8AB3-1C2F-29B5D1DBAEC9}"/>
              </a:ext>
            </a:extLst>
          </p:cNvPr>
          <p:cNvSpPr txBox="1"/>
          <p:nvPr/>
        </p:nvSpPr>
        <p:spPr>
          <a:xfrm>
            <a:off x="448718" y="3280966"/>
            <a:ext cx="2163561" cy="2502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  <a:t>Jeevan Virk, CEO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E6DBB0A-D92D-1E42-8C93-B22AB5CCCEAD}"/>
              </a:ext>
            </a:extLst>
          </p:cNvPr>
          <p:cNvSpPr txBox="1"/>
          <p:nvPr/>
        </p:nvSpPr>
        <p:spPr>
          <a:xfrm>
            <a:off x="3408465" y="3280966"/>
            <a:ext cx="2163561" cy="2502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  <a:t>Greg Mullen, PhD, CTO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B6DF50-F63C-0C9A-BFDF-6E3D08C51261}"/>
              </a:ext>
            </a:extLst>
          </p:cNvPr>
          <p:cNvSpPr txBox="1"/>
          <p:nvPr/>
        </p:nvSpPr>
        <p:spPr>
          <a:xfrm>
            <a:off x="6368212" y="3280966"/>
            <a:ext cx="2163561" cy="4348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  <a:t>Adam Badar, PhD,</a:t>
            </a:r>
            <a:br>
              <a:rPr kumimoji="0" lang="de-DE" sz="12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</a:br>
            <a:r>
              <a:rPr kumimoji="0" lang="de-DE" sz="12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  <a:t>Head of Operations</a:t>
            </a:r>
            <a:endParaRPr kumimoji="0" lang="en-US" sz="1200" b="0" i="0" u="none" strike="noStrike" kern="1200" cap="none" spc="-5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Medium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3C568DA-90BD-701E-9881-A1F675520156}"/>
              </a:ext>
            </a:extLst>
          </p:cNvPr>
          <p:cNvSpPr txBox="1"/>
          <p:nvPr/>
        </p:nvSpPr>
        <p:spPr>
          <a:xfrm>
            <a:off x="9318433" y="3280965"/>
            <a:ext cx="2163561" cy="4772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-1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  <a:t>Richard Tavaré, PhD,</a:t>
            </a:r>
            <a:br>
              <a:rPr kumimoji="0" lang="en-GB" sz="12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</a:br>
            <a:r>
              <a:rPr kumimoji="0" lang="en-GB" sz="12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  <a:t>Head of Research</a:t>
            </a:r>
            <a:endParaRPr kumimoji="0" lang="en-US" sz="1200" b="0" i="0" u="none" strike="noStrike" kern="1200" cap="none" spc="-5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Medium" pitchFamily="2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F1EE70B-5067-559B-2BE9-D1305B5B5DED}"/>
              </a:ext>
            </a:extLst>
          </p:cNvPr>
          <p:cNvSpPr txBox="1"/>
          <p:nvPr/>
        </p:nvSpPr>
        <p:spPr>
          <a:xfrm>
            <a:off x="524918" y="3589274"/>
            <a:ext cx="2545862" cy="20004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18872" lvl="0" indent="-118872">
              <a:lnSpc>
                <a:spcPct val="105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spc="-5">
                <a:solidFill>
                  <a:srgbClr val="656670"/>
                </a:solidFill>
                <a:latin typeface="Funnel Sans Light"/>
              </a:rPr>
              <a:t>Pioneer in RLT field. Last role heading up RLT Strategy at market leader Novartis</a:t>
            </a:r>
          </a:p>
          <a:p>
            <a:pPr marL="118872" indent="-118872">
              <a:lnSpc>
                <a:spcPct val="105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spc="-5">
                <a:solidFill>
                  <a:srgbClr val="656670"/>
                </a:solidFill>
                <a:latin typeface="Funnel Sans Light"/>
              </a:rPr>
              <a:t>19 years experience in </a:t>
            </a:r>
            <a:r>
              <a:rPr lang="en-US" sz="1100" spc="-5" err="1">
                <a:solidFill>
                  <a:srgbClr val="656670"/>
                </a:solidFill>
                <a:latin typeface="Funnel Sans Light"/>
              </a:rPr>
              <a:t>radiopharma</a:t>
            </a:r>
            <a:endParaRPr lang="en-US" sz="1100" spc="-5">
              <a:solidFill>
                <a:srgbClr val="656670"/>
              </a:solidFill>
              <a:latin typeface="Funnel Sans Light"/>
            </a:endParaRP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Worked directly with founders at AAA</a:t>
            </a: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Central to research, development and commercialization platform for </a:t>
            </a:r>
            <a:b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</a:br>
            <a:r>
              <a:rPr kumimoji="0" lang="en-US" sz="1100" b="0" i="0" u="none" strike="noStrike" kern="1200" cap="none" spc="-5" normalizeH="0" baseline="0" noProof="0" err="1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Pluvicto</a:t>
            </a: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 &amp; </a:t>
            </a:r>
            <a:r>
              <a:rPr kumimoji="0" lang="en-US" sz="1100" b="0" i="0" u="none" strike="noStrike" kern="1200" cap="none" spc="-5" normalizeH="0" baseline="0" noProof="0" err="1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Lutathera</a:t>
            </a:r>
            <a:endParaRPr kumimoji="0" lang="en-US" sz="1100" b="0" i="0" u="none" strike="noStrike" kern="1200" cap="none" spc="-5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Key player in 5 Novartis deals with </a:t>
            </a:r>
            <a:b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</a:b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Mariana Oncology ($1b+), </a:t>
            </a:r>
            <a:r>
              <a:rPr kumimoji="0" lang="en-US" sz="1100" b="0" i="0" u="none" strike="noStrike" kern="1200" cap="none" spc="-5" normalizeH="0" baseline="0" noProof="0" err="1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Peptidream</a:t>
            </a: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, Chengdu </a:t>
            </a:r>
            <a:r>
              <a:rPr kumimoji="0" lang="en-US" sz="1100" b="0" i="0" u="none" strike="noStrike" kern="1200" cap="none" spc="-5" normalizeH="0" baseline="0" noProof="0" err="1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Baiyu</a:t>
            </a: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, plus others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AE6823-B490-2E4C-C226-21D1BE644880}"/>
              </a:ext>
            </a:extLst>
          </p:cNvPr>
          <p:cNvSpPr txBox="1"/>
          <p:nvPr/>
        </p:nvSpPr>
        <p:spPr>
          <a:xfrm>
            <a:off x="3477768" y="3589274"/>
            <a:ext cx="2442053" cy="21434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25 yrs of </a:t>
            </a:r>
            <a:r>
              <a:rPr kumimoji="0" lang="en-US" sz="1100" b="0" i="0" u="none" strike="noStrike" kern="1200" cap="none" spc="-5" normalizeH="0" baseline="0" noProof="0" err="1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radiopharma</a:t>
            </a: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 R&amp;D, clin dev </a:t>
            </a:r>
            <a:b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</a:b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and commercialization experience</a:t>
            </a: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Drove FDA approval of </a:t>
            </a:r>
            <a:r>
              <a:rPr kumimoji="0" lang="en-US" sz="1100" b="0" i="0" u="none" strike="noStrike" kern="1200" cap="none" spc="-5" normalizeH="0" baseline="0" noProof="0" err="1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Nephroscan</a:t>
            </a: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 diagnostic</a:t>
            </a: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Translated multiple products into FIH, Phase 1 and 2 clinical studies</a:t>
            </a: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M&amp;A: Out licenses to AAA/Novartis, exit of </a:t>
            </a:r>
            <a:r>
              <a:rPr kumimoji="0" lang="en-US" sz="1100" b="0" i="0" u="none" strike="noStrike" kern="1200" cap="none" spc="-5" normalizeH="0" baseline="0" noProof="0" err="1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Theragnositics</a:t>
            </a: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 for $41M </a:t>
            </a: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C-suite experience, in licensing, IP, fundraising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C369E6-D5C2-ED7E-3C42-3F90AF316E85}"/>
              </a:ext>
            </a:extLst>
          </p:cNvPr>
          <p:cNvSpPr txBox="1"/>
          <p:nvPr/>
        </p:nvSpPr>
        <p:spPr>
          <a:xfrm>
            <a:off x="6434302" y="3801934"/>
            <a:ext cx="2545862" cy="18512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15 yrs in nuclear medicine, oncology, technology development &amp; </a:t>
            </a:r>
            <a:b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</a:b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innovation</a:t>
            </a: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Experience in product, partner, and customer development</a:t>
            </a: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Building and managing cross-</a:t>
            </a:r>
            <a:b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</a:b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functional consulting teams</a:t>
            </a: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Experience in operational and project management in Agile</a:t>
            </a:r>
            <a:endParaRPr kumimoji="0" lang="en-US" sz="1100" b="0" i="0" u="none" strike="noStrike" kern="1200" cap="none" spc="-5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67BCF4F-D2F8-004B-5A04-AAE40840E28B}"/>
              </a:ext>
            </a:extLst>
          </p:cNvPr>
          <p:cNvSpPr txBox="1"/>
          <p:nvPr/>
        </p:nvSpPr>
        <p:spPr>
          <a:xfrm>
            <a:off x="9388108" y="3801934"/>
            <a:ext cx="2545862" cy="18512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15 yrs oncology diagnostic and </a:t>
            </a:r>
            <a:b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</a:b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therapeutic drug development in </a:t>
            </a:r>
            <a:b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</a:b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academia and pharma</a:t>
            </a: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Led to three molecules in imaging </a:t>
            </a:r>
            <a:b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</a:b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clinical trials</a:t>
            </a: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Acquired cyclic peptide company for capabilities at Regeneron</a:t>
            </a:r>
          </a:p>
          <a:p>
            <a:pPr marL="118872" marR="0" lvl="0" indent="-118872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-5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PhD Imaging Immunology</a:t>
            </a:r>
            <a:endParaRPr kumimoji="0" lang="en-US" sz="1100" b="0" i="0" u="none" strike="noStrike" kern="1200" cap="none" spc="-5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B111617-23A7-F37F-94DA-F04DAACF1F6D}"/>
              </a:ext>
            </a:extLst>
          </p:cNvPr>
          <p:cNvCxnSpPr>
            <a:cxnSpLocks/>
          </p:cNvCxnSpPr>
          <p:nvPr/>
        </p:nvCxnSpPr>
        <p:spPr>
          <a:xfrm>
            <a:off x="9323447" y="5767864"/>
            <a:ext cx="2401828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124F21B-A98A-D163-4B56-C8F0F2233C20}"/>
              </a:ext>
            </a:extLst>
          </p:cNvPr>
          <p:cNvCxnSpPr>
            <a:cxnSpLocks/>
          </p:cNvCxnSpPr>
          <p:nvPr/>
        </p:nvCxnSpPr>
        <p:spPr>
          <a:xfrm>
            <a:off x="6359345" y="5767864"/>
            <a:ext cx="2401828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985EA9D-1ACD-A9A4-CDD4-F74A00DF5CF1}"/>
              </a:ext>
            </a:extLst>
          </p:cNvPr>
          <p:cNvCxnSpPr>
            <a:cxnSpLocks/>
          </p:cNvCxnSpPr>
          <p:nvPr/>
        </p:nvCxnSpPr>
        <p:spPr>
          <a:xfrm>
            <a:off x="3409534" y="5767864"/>
            <a:ext cx="2401828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FAC4FAB-B0D7-B087-E69C-F4214A637B74}"/>
              </a:ext>
            </a:extLst>
          </p:cNvPr>
          <p:cNvCxnSpPr>
            <a:cxnSpLocks/>
          </p:cNvCxnSpPr>
          <p:nvPr/>
        </p:nvCxnSpPr>
        <p:spPr>
          <a:xfrm>
            <a:off x="454887" y="5667851"/>
            <a:ext cx="2401828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Picture 78">
            <a:extLst>
              <a:ext uri="{FF2B5EF4-FFF2-40B4-BE49-F238E27FC236}">
                <a16:creationId xmlns:a16="http://schemas.microsoft.com/office/drawing/2014/main" id="{6A9A3CAD-E86A-A471-749B-520795C06398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" r="52"/>
          <a:stretch/>
        </p:blipFill>
        <p:spPr>
          <a:xfrm>
            <a:off x="3382176" y="2207558"/>
            <a:ext cx="947072" cy="948051"/>
          </a:xfrm>
          <a:prstGeom prst="roundRect">
            <a:avLst>
              <a:gd name="adj" fmla="val 11644"/>
            </a:avLst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689F619A-0AB7-1E91-4FF8-26A166F99E23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7" b="1097"/>
          <a:stretch/>
        </p:blipFill>
        <p:spPr>
          <a:xfrm>
            <a:off x="448716" y="2246223"/>
            <a:ext cx="916691" cy="896585"/>
          </a:xfrm>
          <a:prstGeom prst="roundRect">
            <a:avLst>
              <a:gd name="adj" fmla="val 11731"/>
            </a:avLst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38D42182-5AC0-483F-C97A-EFCB147E6F2F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" r="81"/>
          <a:stretch/>
        </p:blipFill>
        <p:spPr>
          <a:xfrm>
            <a:off x="6357709" y="2242587"/>
            <a:ext cx="911061" cy="912546"/>
          </a:xfrm>
          <a:prstGeom prst="roundRect">
            <a:avLst>
              <a:gd name="adj" fmla="val 11178"/>
            </a:avLst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7778FFB0-8210-FB55-DFCF-7A89CD5B2DD1}"/>
              </a:ext>
            </a:extLst>
          </p:cNvPr>
          <p:cNvPicPr>
            <a:picLocks noChangeAspect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" r="351"/>
          <a:stretch/>
        </p:blipFill>
        <p:spPr>
          <a:xfrm>
            <a:off x="9318432" y="2242587"/>
            <a:ext cx="903063" cy="909452"/>
          </a:xfrm>
          <a:prstGeom prst="roundRect">
            <a:avLst>
              <a:gd name="adj" fmla="val 11657"/>
            </a:avLst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F5EC4FB-A853-DD27-A85D-4D565B5059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fld id="{F41E5F93-45D3-472F-9EA1-BCB47A04FF6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442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>
            <a:extLst>
              <a:ext uri="{FF2B5EF4-FFF2-40B4-BE49-F238E27FC236}">
                <a16:creationId xmlns:a16="http://schemas.microsoft.com/office/drawing/2014/main" id="{ACA7AD03-13EC-8985-E3C6-9867A09BC1C8}"/>
              </a:ext>
            </a:extLst>
          </p:cNvPr>
          <p:cNvSpPr/>
          <p:nvPr/>
        </p:nvSpPr>
        <p:spPr>
          <a:xfrm>
            <a:off x="3407733" y="3121024"/>
            <a:ext cx="5361795" cy="2003426"/>
          </a:xfrm>
          <a:custGeom>
            <a:avLst/>
            <a:gdLst>
              <a:gd name="csX0" fmla="*/ 0 w 5146065"/>
              <a:gd name="csY0" fmla="*/ 0 h 1922819"/>
              <a:gd name="csX1" fmla="*/ 5146065 w 5146065"/>
              <a:gd name="csY1" fmla="*/ 0 h 1922819"/>
              <a:gd name="csX2" fmla="*/ 5146065 w 5146065"/>
              <a:gd name="csY2" fmla="*/ 1803342 h 1922819"/>
              <a:gd name="csX3" fmla="*/ 5026588 w 5146065"/>
              <a:gd name="csY3" fmla="*/ 1922819 h 1922819"/>
              <a:gd name="csX4" fmla="*/ 122454 w 5146065"/>
              <a:gd name="csY4" fmla="*/ 1922819 h 1922819"/>
              <a:gd name="csX5" fmla="*/ 2977 w 5146065"/>
              <a:gd name="csY5" fmla="*/ 1803342 h 1922819"/>
              <a:gd name="csX6" fmla="*/ 466 w 5146065"/>
              <a:gd name="csY6" fmla="*/ 230353 h 1922819"/>
              <a:gd name="csX7" fmla="*/ 0 w 5146065"/>
              <a:gd name="csY7" fmla="*/ 0 h 19228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146065" h="1922819">
                <a:moveTo>
                  <a:pt x="0" y="0"/>
                </a:moveTo>
                <a:lnTo>
                  <a:pt x="5146065" y="0"/>
                </a:lnTo>
                <a:lnTo>
                  <a:pt x="5146065" y="1803342"/>
                </a:lnTo>
                <a:cubicBezTo>
                  <a:pt x="5146065" y="1869327"/>
                  <a:pt x="5092573" y="1922819"/>
                  <a:pt x="5026588" y="1922819"/>
                </a:cubicBezTo>
                <a:lnTo>
                  <a:pt x="122454" y="1922819"/>
                </a:lnTo>
                <a:cubicBezTo>
                  <a:pt x="56469" y="1922819"/>
                  <a:pt x="2977" y="1869327"/>
                  <a:pt x="2977" y="1803342"/>
                </a:cubicBezTo>
                <a:cubicBezTo>
                  <a:pt x="2977" y="1378634"/>
                  <a:pt x="1638" y="794532"/>
                  <a:pt x="466" y="23035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36CF09EC-0855-650E-B380-107D0BF32B75}"/>
              </a:ext>
            </a:extLst>
          </p:cNvPr>
          <p:cNvSpPr/>
          <p:nvPr/>
        </p:nvSpPr>
        <p:spPr>
          <a:xfrm>
            <a:off x="3405948" y="2730150"/>
            <a:ext cx="5514214" cy="605058"/>
          </a:xfrm>
          <a:custGeom>
            <a:avLst/>
            <a:gdLst>
              <a:gd name="connsiteX0" fmla="*/ 0 w 8260784"/>
              <a:gd name="connsiteY0" fmla="*/ 152400 h 1200150"/>
              <a:gd name="connsiteX1" fmla="*/ 152400 w 8260784"/>
              <a:gd name="connsiteY1" fmla="*/ 0 h 1200150"/>
              <a:gd name="connsiteX2" fmla="*/ 7948756 w 8260784"/>
              <a:gd name="connsiteY2" fmla="*/ 0 h 1200150"/>
              <a:gd name="connsiteX3" fmla="*/ 8093145 w 8260784"/>
              <a:gd name="connsiteY3" fmla="*/ 103642 h 1200150"/>
              <a:gd name="connsiteX4" fmla="*/ 8260785 w 8260784"/>
              <a:gd name="connsiteY4" fmla="*/ 600075 h 1200150"/>
              <a:gd name="connsiteX5" fmla="*/ 8093145 w 8260784"/>
              <a:gd name="connsiteY5" fmla="*/ 1096509 h 1200150"/>
              <a:gd name="connsiteX6" fmla="*/ 7948756 w 8260784"/>
              <a:gd name="connsiteY6" fmla="*/ 1200150 h 1200150"/>
              <a:gd name="connsiteX7" fmla="*/ 152400 w 8260784"/>
              <a:gd name="connsiteY7" fmla="*/ 1200150 h 1200150"/>
              <a:gd name="connsiteX8" fmla="*/ 0 w 8260784"/>
              <a:gd name="connsiteY8" fmla="*/ 1047750 h 1200150"/>
              <a:gd name="connsiteX9" fmla="*/ 0 w 8260784"/>
              <a:gd name="connsiteY9" fmla="*/ 152400 h 120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60784" h="1200150">
                <a:moveTo>
                  <a:pt x="0" y="152400"/>
                </a:moveTo>
                <a:cubicBezTo>
                  <a:pt x="0" y="68232"/>
                  <a:pt x="68232" y="0"/>
                  <a:pt x="152400" y="0"/>
                </a:cubicBezTo>
                <a:lnTo>
                  <a:pt x="7948756" y="0"/>
                </a:lnTo>
                <a:cubicBezTo>
                  <a:pt x="8014135" y="0"/>
                  <a:pt x="8072228" y="41700"/>
                  <a:pt x="8093145" y="103642"/>
                </a:cubicBezTo>
                <a:lnTo>
                  <a:pt x="8260785" y="600075"/>
                </a:lnTo>
                <a:lnTo>
                  <a:pt x="8093145" y="1096509"/>
                </a:lnTo>
                <a:cubicBezTo>
                  <a:pt x="8072228" y="1158450"/>
                  <a:pt x="8014135" y="1200150"/>
                  <a:pt x="7948756" y="1200150"/>
                </a:cubicBezTo>
                <a:lnTo>
                  <a:pt x="152400" y="1200150"/>
                </a:lnTo>
                <a:cubicBezTo>
                  <a:pt x="68232" y="1200150"/>
                  <a:pt x="0" y="1131922"/>
                  <a:pt x="0" y="1047750"/>
                </a:cubicBezTo>
                <a:lnTo>
                  <a:pt x="0" y="152400"/>
                </a:lnTo>
                <a:close/>
              </a:path>
            </a:pathLst>
          </a:custGeom>
          <a:solidFill>
            <a:srgbClr val="B1C7B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80A4D7-DF2E-FD20-1138-C0C16565F484}"/>
              </a:ext>
            </a:extLst>
          </p:cNvPr>
          <p:cNvSpPr/>
          <p:nvPr/>
        </p:nvSpPr>
        <p:spPr>
          <a:xfrm>
            <a:off x="9115425" y="1323278"/>
            <a:ext cx="2816225" cy="4092694"/>
          </a:xfrm>
          <a:prstGeom prst="roundRect">
            <a:avLst>
              <a:gd name="adj" fmla="val 3260"/>
            </a:avLst>
          </a:prstGeom>
          <a:solidFill>
            <a:schemeClr val="bg1"/>
          </a:solidFill>
          <a:ln w="12700">
            <a:solidFill>
              <a:srgbClr val="CFCF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pic>
        <p:nvPicPr>
          <p:cNvPr id="20" name="Picture 19" descr="A close-up of a x-ray of a kidney  AI-generated content may be incorrect.">
            <a:extLst>
              <a:ext uri="{FF2B5EF4-FFF2-40B4-BE49-F238E27FC236}">
                <a16:creationId xmlns:a16="http://schemas.microsoft.com/office/drawing/2014/main" id="{7EF1AC2A-E078-1488-D997-B88DC3C26C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355" y="1831781"/>
            <a:ext cx="2816225" cy="358419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0D1E86-7B01-702A-7769-E65B97DE3E32}"/>
              </a:ext>
            </a:extLst>
          </p:cNvPr>
          <p:cNvSpPr/>
          <p:nvPr/>
        </p:nvSpPr>
        <p:spPr>
          <a:xfrm>
            <a:off x="257969" y="1318515"/>
            <a:ext cx="2816225" cy="4097457"/>
          </a:xfrm>
          <a:prstGeom prst="roundRect">
            <a:avLst>
              <a:gd name="adj" fmla="val 3260"/>
            </a:avLst>
          </a:prstGeom>
          <a:solidFill>
            <a:schemeClr val="bg1"/>
          </a:solidFill>
          <a:ln w="12700">
            <a:solidFill>
              <a:srgbClr val="CFCF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448553-3F66-3FDC-D131-ABD1A82A90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r="11"/>
          <a:stretch/>
        </p:blipFill>
        <p:spPr>
          <a:xfrm>
            <a:off x="256471" y="1839230"/>
            <a:ext cx="2817548" cy="3576742"/>
          </a:xfrm>
          <a:prstGeom prst="rect">
            <a:avLst/>
          </a:prstGeom>
          <a:ln w="12700"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1DE139-98DF-3846-942D-2D722846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711" y="1351852"/>
            <a:ext cx="5419182" cy="1531047"/>
          </a:xfrm>
        </p:spPr>
        <p:txBody>
          <a:bodyPr/>
          <a:lstStyle/>
          <a:p>
            <a:pPr>
              <a:lnSpc>
                <a:spcPts val="2851"/>
              </a:lnSpc>
            </a:pPr>
            <a:r>
              <a:rPr lang="en-US" kern="0" spc="-23" dirty="0">
                <a:solidFill>
                  <a:srgbClr val="000000">
                    <a:alpha val="99000"/>
                  </a:srgbClr>
                </a:solidFill>
                <a:ea typeface="Funnel Sans" pitchFamily="34" charset="-122"/>
                <a:cs typeface="Funnel Sans" pitchFamily="34" charset="-120"/>
              </a:rPr>
              <a:t>Founding team have delivered a paradigm shift for patients with prostate or neuroendocrine cancers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42A096-0F37-BA56-6261-F3C8FA996D74}"/>
              </a:ext>
            </a:extLst>
          </p:cNvPr>
          <p:cNvSpPr/>
          <p:nvPr/>
        </p:nvSpPr>
        <p:spPr>
          <a:xfrm>
            <a:off x="3403566" y="5274230"/>
            <a:ext cx="153647" cy="153647"/>
          </a:xfrm>
          <a:prstGeom prst="ellipse">
            <a:avLst/>
          </a:prstGeom>
          <a:solidFill>
            <a:srgbClr val="E747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FD42A3D-8EAC-99ED-89DD-ACC34613170F}"/>
              </a:ext>
            </a:extLst>
          </p:cNvPr>
          <p:cNvSpPr/>
          <p:nvPr/>
        </p:nvSpPr>
        <p:spPr>
          <a:xfrm>
            <a:off x="257969" y="1313446"/>
            <a:ext cx="2816225" cy="525784"/>
          </a:xfrm>
          <a:prstGeom prst="round2SameRect">
            <a:avLst>
              <a:gd name="adj1" fmla="val 14927"/>
              <a:gd name="adj2" fmla="val 0"/>
            </a:avLst>
          </a:prstGeom>
          <a:solidFill>
            <a:srgbClr val="002923"/>
          </a:solidFill>
          <a:ln w="12700">
            <a:solidFill>
              <a:srgbClr val="CFCF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See It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B96D2315-25E5-835A-5143-CAA294996416}"/>
              </a:ext>
            </a:extLst>
          </p:cNvPr>
          <p:cNvSpPr/>
          <p:nvPr/>
        </p:nvSpPr>
        <p:spPr>
          <a:xfrm>
            <a:off x="9115425" y="1313445"/>
            <a:ext cx="2816225" cy="532625"/>
          </a:xfrm>
          <a:prstGeom prst="round2SameRect">
            <a:avLst>
              <a:gd name="adj1" fmla="val 14927"/>
              <a:gd name="adj2" fmla="val 0"/>
            </a:avLst>
          </a:prstGeom>
          <a:solidFill>
            <a:srgbClr val="002923"/>
          </a:solidFill>
          <a:ln w="12700">
            <a:solidFill>
              <a:srgbClr val="CFCF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Treat It</a:t>
            </a:r>
          </a:p>
        </p:txBody>
      </p:sp>
      <p:pic>
        <p:nvPicPr>
          <p:cNvPr id="22" name="Picture 21" descr="A blue text on a black background  AI-generated content may be incorrect.">
            <a:extLst>
              <a:ext uri="{FF2B5EF4-FFF2-40B4-BE49-F238E27FC236}">
                <a16:creationId xmlns:a16="http://schemas.microsoft.com/office/drawing/2014/main" id="{70AE7511-C161-7505-0F3A-B79E81543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5438"/>
          <a:stretch>
            <a:fillRect/>
          </a:stretch>
        </p:blipFill>
        <p:spPr>
          <a:xfrm>
            <a:off x="3577879" y="2812413"/>
            <a:ext cx="1918342" cy="43181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E7532FD-F19C-58CF-B037-321025253541}"/>
              </a:ext>
            </a:extLst>
          </p:cNvPr>
          <p:cNvSpPr txBox="1"/>
          <p:nvPr/>
        </p:nvSpPr>
        <p:spPr>
          <a:xfrm>
            <a:off x="3654958" y="5260182"/>
            <a:ext cx="1079029" cy="203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mCRPC tumors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1F5657-5BC8-1B74-353F-88F79B3065DE}"/>
              </a:ext>
            </a:extLst>
          </p:cNvPr>
          <p:cNvSpPr txBox="1"/>
          <p:nvPr/>
        </p:nvSpPr>
        <p:spPr>
          <a:xfrm>
            <a:off x="256258" y="5636598"/>
            <a:ext cx="2815907" cy="11388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-1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Prostate cancer before RLT</a:t>
            </a: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A PET scan prior to treatment showing widespread mCRPC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tumors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 throughout the body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3830AA-A7DF-8476-A536-49DA81668AF5}"/>
              </a:ext>
            </a:extLst>
          </p:cNvPr>
          <p:cNvSpPr txBox="1"/>
          <p:nvPr/>
        </p:nvSpPr>
        <p:spPr>
          <a:xfrm>
            <a:off x="9119836" y="5631836"/>
            <a:ext cx="2912622" cy="11388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-16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SemiBold" pitchFamily="2" charset="0"/>
                <a:ea typeface="+mn-ea"/>
                <a:cs typeface="+mn-cs"/>
              </a:rPr>
              <a:t>After RLT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A follow up scan in the same patient indicating a massive reduction in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tumor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 burden after treatment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386666-7056-D8C7-DB94-49A6EDF8CC02}"/>
              </a:ext>
            </a:extLst>
          </p:cNvPr>
          <p:cNvSpPr txBox="1"/>
          <p:nvPr/>
        </p:nvSpPr>
        <p:spPr>
          <a:xfrm>
            <a:off x="9115425" y="6598495"/>
            <a:ext cx="2349375" cy="1536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8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Source: Hofman et al, JNM 59, S1, p. 531 2018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pic>
        <p:nvPicPr>
          <p:cNvPr id="3" name="Picture 2" descr="A blue text on a black background  AI-generated content may be incorrect.">
            <a:extLst>
              <a:ext uri="{FF2B5EF4-FFF2-40B4-BE49-F238E27FC236}">
                <a16:creationId xmlns:a16="http://schemas.microsoft.com/office/drawing/2014/main" id="{14A1CF59-6BAF-03AC-7AFC-8A5BA6FAB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61" b="12994"/>
          <a:stretch>
            <a:fillRect/>
          </a:stretch>
        </p:blipFill>
        <p:spPr>
          <a:xfrm>
            <a:off x="4733987" y="3061569"/>
            <a:ext cx="2198150" cy="17201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65812F4-429E-9DA8-91FF-47555B9AFD30}"/>
              </a:ext>
            </a:extLst>
          </p:cNvPr>
          <p:cNvSpPr txBox="1"/>
          <p:nvPr/>
        </p:nvSpPr>
        <p:spPr>
          <a:xfrm>
            <a:off x="3488203" y="3425354"/>
            <a:ext cx="5200854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6566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Delivers tumor-killing radiation to metastatic, castration resistant prostate cancer (mCRPC) tumors via IV administration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6566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Reshaped prostate cancer standard of care in later lines and now moving earlier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6566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2x progression free survival for patients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6566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Expected peak sales &gt;$5B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6F9207E-9BF3-269F-AB7C-1479D3AEE5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fld id="{F41E5F93-45D3-472F-9EA1-BCB47A04FF6B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275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4D2DBF1B-AC17-6FD5-9CC4-6075EED51511}"/>
              </a:ext>
            </a:extLst>
          </p:cNvPr>
          <p:cNvGraphicFramePr/>
          <p:nvPr/>
        </p:nvGraphicFramePr>
        <p:xfrm>
          <a:off x="4922257" y="3465444"/>
          <a:ext cx="5235470" cy="3490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9165583-DF66-9115-638B-741EAF81C0DE}"/>
              </a:ext>
            </a:extLst>
          </p:cNvPr>
          <p:cNvSpPr txBox="1"/>
          <p:nvPr/>
        </p:nvSpPr>
        <p:spPr>
          <a:xfrm>
            <a:off x="9530557" y="6150173"/>
            <a:ext cx="1956593" cy="4383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Source: IQVIA Whitepaper, 2024 "Breaking</a:t>
            </a:r>
            <a:b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</a:b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New Ground: Advancing Cancer Care with</a:t>
            </a:r>
            <a:b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</a:b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Novel Therapeutic Modalities”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79ED956A-81C5-C06D-2907-1794668A8D6F}"/>
              </a:ext>
            </a:extLst>
          </p:cNvPr>
          <p:cNvGraphicFramePr/>
          <p:nvPr/>
        </p:nvGraphicFramePr>
        <p:xfrm>
          <a:off x="-982617" y="3482081"/>
          <a:ext cx="5235470" cy="3490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ADB22C2-F65A-529A-6744-2FFCEB78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2" y="1389952"/>
            <a:ext cx="5760626" cy="1170367"/>
          </a:xfrm>
        </p:spPr>
        <p:txBody>
          <a:bodyPr/>
          <a:lstStyle/>
          <a:p>
            <a:pPr>
              <a:lnSpc>
                <a:spcPct val="103000"/>
              </a:lnSpc>
            </a:pPr>
            <a:r>
              <a:rPr lang="en-US" sz="2200" dirty="0"/>
              <a:t>Sego will overcome limiting constraints in RLT development</a:t>
            </a:r>
            <a:endParaRPr lang="en-US" sz="2200" spc="-33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6BEFDB81-5D15-5EE3-3504-C4E71F7D82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 </a:t>
            </a:r>
            <a:endParaRPr lang="en-GB" spc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BBFB829-CC2C-66EF-E760-1341EFEB36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359963F-C02A-8D5F-580F-C151B1942E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46287D-7CAC-6F4E-9E04-C779464BE34A}"/>
              </a:ext>
            </a:extLst>
          </p:cNvPr>
          <p:cNvSpPr txBox="1"/>
          <p:nvPr/>
        </p:nvSpPr>
        <p:spPr>
          <a:xfrm>
            <a:off x="6160294" y="1074478"/>
            <a:ext cx="2917032" cy="2447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2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Constraints in RLT development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BAE899-7A00-05FD-6D5E-023A3C5A4B3B}"/>
              </a:ext>
            </a:extLst>
          </p:cNvPr>
          <p:cNvSpPr txBox="1"/>
          <p:nvPr/>
        </p:nvSpPr>
        <p:spPr>
          <a:xfrm>
            <a:off x="261113" y="3090066"/>
            <a:ext cx="5709126" cy="2881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 pitchFamily="2" charset="0"/>
                <a:ea typeface="+mn-ea"/>
                <a:cs typeface="+mn-cs"/>
              </a:rPr>
              <a:t>RLTs make up only 2% of clinical trials in oncology but are set to grow over the next decade</a:t>
            </a:r>
            <a:endParaRPr kumimoji="0" lang="en-US" sz="1600" b="0" i="0" u="none" strike="noStrike" kern="120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 pitchFamily="2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74B8C1-7F76-65D4-9351-6DB0EA530337}"/>
              </a:ext>
            </a:extLst>
          </p:cNvPr>
          <p:cNvSpPr txBox="1"/>
          <p:nvPr/>
        </p:nvSpPr>
        <p:spPr>
          <a:xfrm>
            <a:off x="6165056" y="3099592"/>
            <a:ext cx="5751993" cy="2881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 pitchFamily="2" charset="0"/>
                <a:ea typeface="+mn-ea"/>
                <a:cs typeface="+mn-cs"/>
              </a:rPr>
              <a:t>RLT trials are concentrated against 2 targets in 2 </a:t>
            </a:r>
            <a:r>
              <a:rPr kumimoji="0" lang="en-GB" sz="1600" b="0" i="0" u="none" strike="noStrike" kern="1200" cap="none" spc="-25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 pitchFamily="2" charset="0"/>
                <a:ea typeface="+mn-ea"/>
                <a:cs typeface="+mn-cs"/>
              </a:rPr>
              <a:t>tumor</a:t>
            </a:r>
            <a:r>
              <a:rPr kumimoji="0" lang="en-GB" sz="16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 pitchFamily="2" charset="0"/>
                <a:ea typeface="+mn-ea"/>
                <a:cs typeface="+mn-cs"/>
              </a:rPr>
              <a:t> types</a:t>
            </a:r>
            <a:r>
              <a:rPr lang="en-GB" sz="1600" spc="-25" dirty="0">
                <a:solidFill>
                  <a:srgbClr val="000000"/>
                </a:solidFill>
                <a:latin typeface="Funnel Sans" pitchFamily="2" charset="0"/>
              </a:rPr>
              <a:t>. White space opportunity exists outside these two</a:t>
            </a:r>
            <a:endParaRPr kumimoji="0" lang="en-US" sz="1600" b="0" i="0" u="none" strike="noStrike" kern="120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 pitchFamily="2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988897-0C68-F73B-32E5-15DAC295E5AE}"/>
              </a:ext>
            </a:extLst>
          </p:cNvPr>
          <p:cNvSpPr/>
          <p:nvPr/>
        </p:nvSpPr>
        <p:spPr>
          <a:xfrm>
            <a:off x="3783093" y="3864770"/>
            <a:ext cx="126206" cy="126206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2128271-83EE-84D6-5667-DB64DB5977DA}"/>
              </a:ext>
            </a:extLst>
          </p:cNvPr>
          <p:cNvSpPr/>
          <p:nvPr/>
        </p:nvSpPr>
        <p:spPr>
          <a:xfrm>
            <a:off x="3783093" y="4094561"/>
            <a:ext cx="126206" cy="126206"/>
          </a:xfrm>
          <a:prstGeom prst="ellipse">
            <a:avLst/>
          </a:prstGeom>
          <a:solidFill>
            <a:srgbClr val="B1C7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363BF5-D2F4-295C-56B5-6197A9DC8568}"/>
              </a:ext>
            </a:extLst>
          </p:cNvPr>
          <p:cNvSpPr/>
          <p:nvPr/>
        </p:nvSpPr>
        <p:spPr>
          <a:xfrm>
            <a:off x="3783093" y="4324352"/>
            <a:ext cx="126206" cy="126206"/>
          </a:xfrm>
          <a:prstGeom prst="ellipse">
            <a:avLst/>
          </a:prstGeom>
          <a:solidFill>
            <a:srgbClr val="6189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D0D3742-A1A3-8E8E-FFAD-9B4EA52FFE8F}"/>
              </a:ext>
            </a:extLst>
          </p:cNvPr>
          <p:cNvSpPr/>
          <p:nvPr/>
        </p:nvSpPr>
        <p:spPr>
          <a:xfrm>
            <a:off x="3783093" y="4554143"/>
            <a:ext cx="126206" cy="126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924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9B99AF6-5597-1E84-A3E5-751C0D1CFAB3}"/>
              </a:ext>
            </a:extLst>
          </p:cNvPr>
          <p:cNvSpPr/>
          <p:nvPr/>
        </p:nvSpPr>
        <p:spPr>
          <a:xfrm>
            <a:off x="3783093" y="4783932"/>
            <a:ext cx="126206" cy="126206"/>
          </a:xfrm>
          <a:prstGeom prst="ellipse">
            <a:avLst/>
          </a:prstGeom>
          <a:solidFill>
            <a:srgbClr val="DED6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3C93D9-F0D2-5F82-9A56-321C7B35675E}"/>
              </a:ext>
            </a:extLst>
          </p:cNvPr>
          <p:cNvSpPr txBox="1"/>
          <p:nvPr/>
        </p:nvSpPr>
        <p:spPr>
          <a:xfrm>
            <a:off x="4015551" y="3860260"/>
            <a:ext cx="2080449" cy="11017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-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2% — RLT</a:t>
            </a:r>
            <a:endParaRPr kumimoji="0" lang="en-US" sz="1100" b="0" i="0" u="none" strike="noStrike" kern="1200" cap="none" spc="-9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-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39% — Small molecules</a:t>
            </a:r>
          </a:p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-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8% — Antibody drug conjugates</a:t>
            </a:r>
          </a:p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-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34% — Antibody</a:t>
            </a:r>
          </a:p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-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17% — Other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BD1DB9-CB75-1301-9C3B-4B1B0289596E}"/>
              </a:ext>
            </a:extLst>
          </p:cNvPr>
          <p:cNvSpPr/>
          <p:nvPr/>
        </p:nvSpPr>
        <p:spPr>
          <a:xfrm>
            <a:off x="9531840" y="3864770"/>
            <a:ext cx="126206" cy="126206"/>
          </a:xfrm>
          <a:prstGeom prst="ellipse">
            <a:avLst/>
          </a:prstGeom>
          <a:solidFill>
            <a:srgbClr val="8F1A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612C6B8-7523-E5B7-2CD0-BD98D28F6615}"/>
              </a:ext>
            </a:extLst>
          </p:cNvPr>
          <p:cNvSpPr/>
          <p:nvPr/>
        </p:nvSpPr>
        <p:spPr>
          <a:xfrm>
            <a:off x="9531840" y="4094561"/>
            <a:ext cx="126206" cy="126206"/>
          </a:xfrm>
          <a:prstGeom prst="ellipse">
            <a:avLst/>
          </a:prstGeom>
          <a:solidFill>
            <a:srgbClr val="360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34C0B0-8BAE-B146-7F21-E4F7319FF27A}"/>
              </a:ext>
            </a:extLst>
          </p:cNvPr>
          <p:cNvSpPr/>
          <p:nvPr/>
        </p:nvSpPr>
        <p:spPr>
          <a:xfrm>
            <a:off x="9531840" y="4324352"/>
            <a:ext cx="126206" cy="126206"/>
          </a:xfrm>
          <a:prstGeom prst="ellipse">
            <a:avLst/>
          </a:prstGeom>
          <a:solidFill>
            <a:srgbClr val="DED6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DDC083-BC5A-0177-1138-C52728ED2FBF}"/>
              </a:ext>
            </a:extLst>
          </p:cNvPr>
          <p:cNvSpPr txBox="1"/>
          <p:nvPr/>
        </p:nvSpPr>
        <p:spPr>
          <a:xfrm>
            <a:off x="9761917" y="3862641"/>
            <a:ext cx="1807399" cy="673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-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41% — Prostate</a:t>
            </a:r>
          </a:p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-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18% — Neuroendocrine</a:t>
            </a:r>
          </a:p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-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41% — Other </a:t>
            </a:r>
            <a:r>
              <a:rPr kumimoji="0" lang="en-GB" sz="1100" b="0" i="0" u="none" strike="noStrike" kern="1200" cap="none" spc="-9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tumor</a:t>
            </a:r>
            <a:r>
              <a:rPr kumimoji="0" lang="en-GB" sz="1100" b="0" i="0" u="none" strike="noStrike" kern="1200" cap="none" spc="-9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 types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7B0E10-ABFA-2B79-DD49-4519051D7C37}"/>
              </a:ext>
            </a:extLst>
          </p:cNvPr>
          <p:cNvCxnSpPr/>
          <p:nvPr/>
        </p:nvCxnSpPr>
        <p:spPr>
          <a:xfrm>
            <a:off x="291624" y="2882900"/>
            <a:ext cx="5709126" cy="0"/>
          </a:xfrm>
          <a:prstGeom prst="line">
            <a:avLst/>
          </a:prstGeom>
          <a:ln w="1270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B0329C8-B9F5-F513-FEEC-31E463F024D6}"/>
              </a:ext>
            </a:extLst>
          </p:cNvPr>
          <p:cNvCxnSpPr>
            <a:cxnSpLocks/>
          </p:cNvCxnSpPr>
          <p:nvPr/>
        </p:nvCxnSpPr>
        <p:spPr>
          <a:xfrm>
            <a:off x="6182829" y="2882900"/>
            <a:ext cx="5751993" cy="0"/>
          </a:xfrm>
          <a:prstGeom prst="line">
            <a:avLst/>
          </a:prstGeom>
          <a:ln w="1270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DBD3B0D-200B-6754-4B2B-3548EBD78D66}"/>
              </a:ext>
            </a:extLst>
          </p:cNvPr>
          <p:cNvGrpSpPr/>
          <p:nvPr/>
        </p:nvGrpSpPr>
        <p:grpSpPr>
          <a:xfrm>
            <a:off x="6160294" y="1458385"/>
            <a:ext cx="4770278" cy="255026"/>
            <a:chOff x="6160294" y="1458385"/>
            <a:chExt cx="4770278" cy="25502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48ED48-5ADF-8E44-5BA6-0CB9B555E637}"/>
                </a:ext>
              </a:extLst>
            </p:cNvPr>
            <p:cNvSpPr txBox="1"/>
            <p:nvPr/>
          </p:nvSpPr>
          <p:spPr>
            <a:xfrm>
              <a:off x="6437153" y="1458385"/>
              <a:ext cx="4493419" cy="25502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-16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 Light"/>
                  <a:ea typeface="+mn-ea"/>
                  <a:cs typeface="+mn-cs"/>
                </a:rPr>
                <a:t>Targets are selected agnostic of the properties of RLT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BFBCCAE-6A11-62E2-60B3-50A04BF18C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60294" y="1516747"/>
              <a:ext cx="138303" cy="138303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5019469-138F-8651-0F51-E1D27E226DDA}"/>
              </a:ext>
            </a:extLst>
          </p:cNvPr>
          <p:cNvGrpSpPr/>
          <p:nvPr/>
        </p:nvGrpSpPr>
        <p:grpSpPr>
          <a:xfrm>
            <a:off x="6160294" y="1780851"/>
            <a:ext cx="4770278" cy="255026"/>
            <a:chOff x="6160294" y="1790684"/>
            <a:chExt cx="4770278" cy="255026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DAFA1F98-74AB-F8BD-DA52-6876AF03A1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60294" y="1849046"/>
              <a:ext cx="138303" cy="138303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9BA521-A7EB-0220-7210-A1C3E984E884}"/>
                </a:ext>
              </a:extLst>
            </p:cNvPr>
            <p:cNvSpPr txBox="1"/>
            <p:nvPr/>
          </p:nvSpPr>
          <p:spPr>
            <a:xfrm>
              <a:off x="6437153" y="1790684"/>
              <a:ext cx="4493419" cy="25502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-16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 Light"/>
                  <a:ea typeface="+mn-ea"/>
                  <a:cs typeface="+mn-cs"/>
                </a:rPr>
                <a:t>Pharmacology of targeting agents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AC7E99-0EB1-24B7-447E-FCCCFE3EA824}"/>
              </a:ext>
            </a:extLst>
          </p:cNvPr>
          <p:cNvGrpSpPr/>
          <p:nvPr/>
        </p:nvGrpSpPr>
        <p:grpSpPr>
          <a:xfrm>
            <a:off x="6160294" y="2103317"/>
            <a:ext cx="4770278" cy="255026"/>
            <a:chOff x="6160294" y="2123292"/>
            <a:chExt cx="4770278" cy="255026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6F3762E5-77FB-6A49-8DC6-D12C95734F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60294" y="2181654"/>
              <a:ext cx="138303" cy="13830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22E109B-5E36-EA92-642D-9B82BCF1C133}"/>
                </a:ext>
              </a:extLst>
            </p:cNvPr>
            <p:cNvSpPr txBox="1"/>
            <p:nvPr/>
          </p:nvSpPr>
          <p:spPr>
            <a:xfrm>
              <a:off x="6437153" y="2123292"/>
              <a:ext cx="4493419" cy="25502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-16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 Light"/>
                  <a:ea typeface="+mn-ea"/>
                  <a:cs typeface="+mn-cs"/>
                </a:rPr>
                <a:t>Clinical translation &amp; trial execution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87AFC8-3E6D-D854-716B-7F8F4CCC501B}"/>
              </a:ext>
            </a:extLst>
          </p:cNvPr>
          <p:cNvGrpSpPr/>
          <p:nvPr/>
        </p:nvGrpSpPr>
        <p:grpSpPr>
          <a:xfrm>
            <a:off x="6160294" y="2425782"/>
            <a:ext cx="4770278" cy="255026"/>
            <a:chOff x="6160294" y="2425782"/>
            <a:chExt cx="4770278" cy="255026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3DDC15A0-4569-8220-D863-C3BB006545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60294" y="2484144"/>
              <a:ext cx="138303" cy="13830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B6F19C-F6A0-5912-8E6C-AE7D24D9BC99}"/>
                </a:ext>
              </a:extLst>
            </p:cNvPr>
            <p:cNvSpPr txBox="1"/>
            <p:nvPr/>
          </p:nvSpPr>
          <p:spPr>
            <a:xfrm>
              <a:off x="6437153" y="2425782"/>
              <a:ext cx="4493419" cy="25502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-16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 Light"/>
                  <a:ea typeface="+mn-ea"/>
                  <a:cs typeface="+mn-cs"/>
                </a:rPr>
                <a:t>Supply chain complexities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971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0325862-D117-9FA8-0072-3FD21223B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82" y="5727699"/>
            <a:ext cx="1041160" cy="9844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D861373-BD02-376B-67E5-A24A4CE62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82" y="3518701"/>
            <a:ext cx="1041160" cy="984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A65E82A-18B1-CC6C-FFBB-C3EA11559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82" y="4241106"/>
            <a:ext cx="1041160" cy="9844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6050A86-D589-9A85-BD28-F363C18F3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82" y="4962385"/>
            <a:ext cx="1041160" cy="98443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A0A8429-2879-9E04-1CB6-5E2C96FD93B3}"/>
              </a:ext>
            </a:extLst>
          </p:cNvPr>
          <p:cNvSpPr/>
          <p:nvPr/>
        </p:nvSpPr>
        <p:spPr>
          <a:xfrm>
            <a:off x="255111" y="3183115"/>
            <a:ext cx="5291694" cy="3058659"/>
          </a:xfrm>
          <a:custGeom>
            <a:avLst/>
            <a:gdLst>
              <a:gd name="connsiteX0" fmla="*/ 0 w 2832718"/>
              <a:gd name="connsiteY0" fmla="*/ 0 h 3252852"/>
              <a:gd name="connsiteX1" fmla="*/ 2832719 w 2832718"/>
              <a:gd name="connsiteY1" fmla="*/ 0 h 3252852"/>
              <a:gd name="connsiteX2" fmla="*/ 2832719 w 2832718"/>
              <a:gd name="connsiteY2" fmla="*/ 3151002 h 3252852"/>
              <a:gd name="connsiteX3" fmla="*/ 2730868 w 2832718"/>
              <a:gd name="connsiteY3" fmla="*/ 3252852 h 3252852"/>
              <a:gd name="connsiteX4" fmla="*/ 101851 w 2832718"/>
              <a:gd name="connsiteY4" fmla="*/ 3252852 h 3252852"/>
              <a:gd name="connsiteX5" fmla="*/ 0 w 2832718"/>
              <a:gd name="connsiteY5" fmla="*/ 3151002 h 3252852"/>
              <a:gd name="connsiteX6" fmla="*/ 0 w 2832718"/>
              <a:gd name="connsiteY6" fmla="*/ 0 h 3252852"/>
              <a:gd name="csX0" fmla="*/ 0 w 2832719"/>
              <a:gd name="csY0" fmla="*/ 0 h 3252852"/>
              <a:gd name="csX1" fmla="*/ 2832719 w 2832719"/>
              <a:gd name="csY1" fmla="*/ 0 h 3252852"/>
              <a:gd name="csX2" fmla="*/ 2832719 w 2832719"/>
              <a:gd name="csY2" fmla="*/ 3034352 h 3252852"/>
              <a:gd name="csX3" fmla="*/ 2730868 w 2832719"/>
              <a:gd name="csY3" fmla="*/ 3252852 h 3252852"/>
              <a:gd name="csX4" fmla="*/ 101851 w 2832719"/>
              <a:gd name="csY4" fmla="*/ 3252852 h 3252852"/>
              <a:gd name="csX5" fmla="*/ 0 w 2832719"/>
              <a:gd name="csY5" fmla="*/ 3151002 h 3252852"/>
              <a:gd name="csX6" fmla="*/ 0 w 2832719"/>
              <a:gd name="csY6" fmla="*/ 0 h 3252852"/>
              <a:gd name="csX0" fmla="*/ 0 w 2832719"/>
              <a:gd name="csY0" fmla="*/ 0 h 3252852"/>
              <a:gd name="csX1" fmla="*/ 2832719 w 2832719"/>
              <a:gd name="csY1" fmla="*/ 0 h 3252852"/>
              <a:gd name="csX2" fmla="*/ 2832719 w 2832719"/>
              <a:gd name="csY2" fmla="*/ 3034352 h 3252852"/>
              <a:gd name="csX3" fmla="*/ 2730868 w 2832719"/>
              <a:gd name="csY3" fmla="*/ 3252852 h 3252852"/>
              <a:gd name="csX4" fmla="*/ 101851 w 2832719"/>
              <a:gd name="csY4" fmla="*/ 3252852 h 3252852"/>
              <a:gd name="csX5" fmla="*/ 0 w 2832719"/>
              <a:gd name="csY5" fmla="*/ 3151002 h 3252852"/>
              <a:gd name="csX6" fmla="*/ 0 w 2832719"/>
              <a:gd name="csY6" fmla="*/ 0 h 3252852"/>
              <a:gd name="csX0" fmla="*/ 0 w 2832719"/>
              <a:gd name="csY0" fmla="*/ 0 h 3252852"/>
              <a:gd name="csX1" fmla="*/ 2832719 w 2832719"/>
              <a:gd name="csY1" fmla="*/ 0 h 3252852"/>
              <a:gd name="csX2" fmla="*/ 2832719 w 2832719"/>
              <a:gd name="csY2" fmla="*/ 3034352 h 3252852"/>
              <a:gd name="csX3" fmla="*/ 2730868 w 2832719"/>
              <a:gd name="csY3" fmla="*/ 3252852 h 3252852"/>
              <a:gd name="csX4" fmla="*/ 101851 w 2832719"/>
              <a:gd name="csY4" fmla="*/ 3252852 h 3252852"/>
              <a:gd name="csX5" fmla="*/ 0 w 2832719"/>
              <a:gd name="csY5" fmla="*/ 3023748 h 3252852"/>
              <a:gd name="csX6" fmla="*/ 0 w 2832719"/>
              <a:gd name="csY6" fmla="*/ 0 h 3252852"/>
              <a:gd name="csX0" fmla="*/ 0 w 2832719"/>
              <a:gd name="csY0" fmla="*/ 0 h 3252852"/>
              <a:gd name="csX1" fmla="*/ 2832719 w 2832719"/>
              <a:gd name="csY1" fmla="*/ 0 h 3252852"/>
              <a:gd name="csX2" fmla="*/ 2832719 w 2832719"/>
              <a:gd name="csY2" fmla="*/ 3034352 h 3252852"/>
              <a:gd name="csX3" fmla="*/ 2730868 w 2832719"/>
              <a:gd name="csY3" fmla="*/ 3252852 h 3252852"/>
              <a:gd name="csX4" fmla="*/ 101851 w 2832719"/>
              <a:gd name="csY4" fmla="*/ 3252852 h 3252852"/>
              <a:gd name="csX5" fmla="*/ 0 w 2832719"/>
              <a:gd name="csY5" fmla="*/ 3023748 h 3252852"/>
              <a:gd name="csX6" fmla="*/ 0 w 2832719"/>
              <a:gd name="csY6" fmla="*/ 0 h 3252852"/>
              <a:gd name="csX0" fmla="*/ 0 w 2832719"/>
              <a:gd name="csY0" fmla="*/ 0 h 3252852"/>
              <a:gd name="csX1" fmla="*/ 2832719 w 2832719"/>
              <a:gd name="csY1" fmla="*/ 0 h 3252852"/>
              <a:gd name="csX2" fmla="*/ 2832719 w 2832719"/>
              <a:gd name="csY2" fmla="*/ 3034352 h 3252852"/>
              <a:gd name="csX3" fmla="*/ 2730868 w 2832719"/>
              <a:gd name="csY3" fmla="*/ 3252852 h 3252852"/>
              <a:gd name="csX4" fmla="*/ 101851 w 2832719"/>
              <a:gd name="csY4" fmla="*/ 3252852 h 3252852"/>
              <a:gd name="csX5" fmla="*/ 0 w 2832719"/>
              <a:gd name="csY5" fmla="*/ 3087376 h 3252852"/>
              <a:gd name="csX6" fmla="*/ 0 w 2832719"/>
              <a:gd name="csY6" fmla="*/ 0 h 3252852"/>
              <a:gd name="csX0" fmla="*/ 0 w 2832719"/>
              <a:gd name="csY0" fmla="*/ 0 h 3252852"/>
              <a:gd name="csX1" fmla="*/ 2832719 w 2832719"/>
              <a:gd name="csY1" fmla="*/ 0 h 3252852"/>
              <a:gd name="csX2" fmla="*/ 2832719 w 2832719"/>
              <a:gd name="csY2" fmla="*/ 3034352 h 3252852"/>
              <a:gd name="csX3" fmla="*/ 2730868 w 2832719"/>
              <a:gd name="csY3" fmla="*/ 3252852 h 3252852"/>
              <a:gd name="csX4" fmla="*/ 59287 w 2832719"/>
              <a:gd name="csY4" fmla="*/ 3252852 h 3252852"/>
              <a:gd name="csX5" fmla="*/ 0 w 2832719"/>
              <a:gd name="csY5" fmla="*/ 3087376 h 3252852"/>
              <a:gd name="csX6" fmla="*/ 0 w 2832719"/>
              <a:gd name="csY6" fmla="*/ 0 h 3252852"/>
              <a:gd name="csX0" fmla="*/ 0 w 2832719"/>
              <a:gd name="csY0" fmla="*/ 0 h 3252852"/>
              <a:gd name="csX1" fmla="*/ 2832719 w 2832719"/>
              <a:gd name="csY1" fmla="*/ 0 h 3252852"/>
              <a:gd name="csX2" fmla="*/ 2827399 w 2832719"/>
              <a:gd name="csY2" fmla="*/ 3108585 h 3252852"/>
              <a:gd name="csX3" fmla="*/ 2730868 w 2832719"/>
              <a:gd name="csY3" fmla="*/ 3252852 h 3252852"/>
              <a:gd name="csX4" fmla="*/ 59287 w 2832719"/>
              <a:gd name="csY4" fmla="*/ 3252852 h 3252852"/>
              <a:gd name="csX5" fmla="*/ 0 w 2832719"/>
              <a:gd name="csY5" fmla="*/ 3087376 h 3252852"/>
              <a:gd name="csX6" fmla="*/ 0 w 2832719"/>
              <a:gd name="csY6" fmla="*/ 0 h 3252852"/>
              <a:gd name="csX0" fmla="*/ 0 w 2832719"/>
              <a:gd name="csY0" fmla="*/ 0 h 3263456"/>
              <a:gd name="csX1" fmla="*/ 2832719 w 2832719"/>
              <a:gd name="csY1" fmla="*/ 0 h 3263456"/>
              <a:gd name="csX2" fmla="*/ 2827399 w 2832719"/>
              <a:gd name="csY2" fmla="*/ 3108585 h 3263456"/>
              <a:gd name="csX3" fmla="*/ 2757471 w 2832719"/>
              <a:gd name="csY3" fmla="*/ 3263456 h 3263456"/>
              <a:gd name="csX4" fmla="*/ 59287 w 2832719"/>
              <a:gd name="csY4" fmla="*/ 3252852 h 3263456"/>
              <a:gd name="csX5" fmla="*/ 0 w 2832719"/>
              <a:gd name="csY5" fmla="*/ 3087376 h 3263456"/>
              <a:gd name="csX6" fmla="*/ 0 w 2832719"/>
              <a:gd name="csY6" fmla="*/ 0 h 32634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832719" h="3263456">
                <a:moveTo>
                  <a:pt x="0" y="0"/>
                </a:moveTo>
                <a:lnTo>
                  <a:pt x="2832719" y="0"/>
                </a:lnTo>
                <a:cubicBezTo>
                  <a:pt x="2830946" y="1036195"/>
                  <a:pt x="2829172" y="2072390"/>
                  <a:pt x="2827399" y="3108585"/>
                </a:cubicBezTo>
                <a:cubicBezTo>
                  <a:pt x="2822079" y="3228466"/>
                  <a:pt x="2813725" y="3263456"/>
                  <a:pt x="2757471" y="3263456"/>
                </a:cubicBezTo>
                <a:lnTo>
                  <a:pt x="59287" y="3252852"/>
                </a:lnTo>
                <a:cubicBezTo>
                  <a:pt x="3036" y="3252852"/>
                  <a:pt x="0" y="3207256"/>
                  <a:pt x="0" y="3087376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63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4F8F82A-F9C1-3EEF-7164-4C839413C0CF}"/>
              </a:ext>
            </a:extLst>
          </p:cNvPr>
          <p:cNvSpPr/>
          <p:nvPr/>
        </p:nvSpPr>
        <p:spPr>
          <a:xfrm>
            <a:off x="6172200" y="3183116"/>
            <a:ext cx="5767314" cy="3068598"/>
          </a:xfrm>
          <a:custGeom>
            <a:avLst/>
            <a:gdLst>
              <a:gd name="connsiteX0" fmla="*/ 0 w 2832718"/>
              <a:gd name="connsiteY0" fmla="*/ 0 h 3252852"/>
              <a:gd name="connsiteX1" fmla="*/ 2832719 w 2832718"/>
              <a:gd name="connsiteY1" fmla="*/ 0 h 3252852"/>
              <a:gd name="connsiteX2" fmla="*/ 2832719 w 2832718"/>
              <a:gd name="connsiteY2" fmla="*/ 3151002 h 3252852"/>
              <a:gd name="connsiteX3" fmla="*/ 2730868 w 2832718"/>
              <a:gd name="connsiteY3" fmla="*/ 3252852 h 3252852"/>
              <a:gd name="connsiteX4" fmla="*/ 101851 w 2832718"/>
              <a:gd name="connsiteY4" fmla="*/ 3252852 h 3252852"/>
              <a:gd name="connsiteX5" fmla="*/ 0 w 2832718"/>
              <a:gd name="connsiteY5" fmla="*/ 3151002 h 3252852"/>
              <a:gd name="connsiteX6" fmla="*/ 0 w 2832718"/>
              <a:gd name="connsiteY6" fmla="*/ 0 h 3252852"/>
              <a:gd name="csX0" fmla="*/ 0 w 2832719"/>
              <a:gd name="csY0" fmla="*/ 0 h 3263422"/>
              <a:gd name="csX1" fmla="*/ 2832719 w 2832719"/>
              <a:gd name="csY1" fmla="*/ 0 h 3263422"/>
              <a:gd name="csX2" fmla="*/ 2832719 w 2832719"/>
              <a:gd name="csY2" fmla="*/ 3151002 h 3263422"/>
              <a:gd name="csX3" fmla="*/ 2730868 w 2832719"/>
              <a:gd name="csY3" fmla="*/ 3252852 h 3263422"/>
              <a:gd name="csX4" fmla="*/ 67679 w 2832719"/>
              <a:gd name="csY4" fmla="*/ 3263422 h 3263422"/>
              <a:gd name="csX5" fmla="*/ 0 w 2832719"/>
              <a:gd name="csY5" fmla="*/ 3151002 h 3263422"/>
              <a:gd name="csX6" fmla="*/ 0 w 2832719"/>
              <a:gd name="csY6" fmla="*/ 0 h 3263422"/>
              <a:gd name="csX0" fmla="*/ 0 w 2832719"/>
              <a:gd name="csY0" fmla="*/ 0 h 3263422"/>
              <a:gd name="csX1" fmla="*/ 2832719 w 2832719"/>
              <a:gd name="csY1" fmla="*/ 0 h 3263422"/>
              <a:gd name="csX2" fmla="*/ 2832719 w 2832719"/>
              <a:gd name="csY2" fmla="*/ 3151002 h 3263422"/>
              <a:gd name="csX3" fmla="*/ 2774804 w 2832719"/>
              <a:gd name="csY3" fmla="*/ 3263422 h 3263422"/>
              <a:gd name="csX4" fmla="*/ 67679 w 2832719"/>
              <a:gd name="csY4" fmla="*/ 3263422 h 3263422"/>
              <a:gd name="csX5" fmla="*/ 0 w 2832719"/>
              <a:gd name="csY5" fmla="*/ 3151002 h 3263422"/>
              <a:gd name="csX6" fmla="*/ 0 w 2832719"/>
              <a:gd name="csY6" fmla="*/ 0 h 3263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832719" h="3263422">
                <a:moveTo>
                  <a:pt x="0" y="0"/>
                </a:moveTo>
                <a:lnTo>
                  <a:pt x="2832719" y="0"/>
                </a:lnTo>
                <a:lnTo>
                  <a:pt x="2832719" y="3151002"/>
                </a:lnTo>
                <a:cubicBezTo>
                  <a:pt x="2832719" y="3207255"/>
                  <a:pt x="2831058" y="3263422"/>
                  <a:pt x="2774804" y="3263422"/>
                </a:cubicBezTo>
                <a:lnTo>
                  <a:pt x="67679" y="3263422"/>
                </a:lnTo>
                <a:cubicBezTo>
                  <a:pt x="11428" y="3263422"/>
                  <a:pt x="0" y="3207255"/>
                  <a:pt x="0" y="3151002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63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45BDE23-E471-6F0D-3DAB-F587A329A4E3}"/>
              </a:ext>
            </a:extLst>
          </p:cNvPr>
          <p:cNvGraphicFramePr>
            <a:graphicFrameLocks noGrp="1"/>
          </p:cNvGraphicFramePr>
          <p:nvPr/>
        </p:nvGraphicFramePr>
        <p:xfrm>
          <a:off x="259875" y="3183473"/>
          <a:ext cx="5285232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5232">
                  <a:extLst>
                    <a:ext uri="{9D8B030D-6E8A-4147-A177-3AD203B41FA5}">
                      <a16:colId xmlns:a16="http://schemas.microsoft.com/office/drawing/2014/main" val="2714144388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Targets for RLT should be selected with unique criteria versus other modalities </a:t>
                      </a:r>
                      <a:endParaRPr lang="en-US" sz="1200" spc="-4">
                        <a:solidFill>
                          <a:schemeClr val="tx1"/>
                        </a:solidFill>
                        <a:latin typeface="Funnel Sans Medium" pitchFamily="2" charset="0"/>
                      </a:endParaRPr>
                    </a:p>
                  </a:txBody>
                  <a:tcPr marL="914400" marR="2286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624897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Narrow focus on optimizing ligand affinity, at the expense of other key attributes</a:t>
                      </a:r>
                      <a:endParaRPr lang="en-US" sz="12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0" marR="2286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050348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Missed opportunities to utilize First-in-Human (FIH) studies to accelerate clinical development </a:t>
                      </a:r>
                      <a:endParaRPr lang="en-US" sz="12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0" marR="2286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141914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Complexity in supply chain &amp; logistics resulting in delays, failed production batches &amp; increased COGs</a:t>
                      </a:r>
                      <a:endParaRPr lang="en-US" sz="12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0" marR="2286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4190238"/>
                  </a:ext>
                </a:extLst>
              </a:tr>
            </a:tbl>
          </a:graphicData>
        </a:graphic>
      </p:graphicFrame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016709C6-5DAB-7924-F913-5D9F196DE485}"/>
              </a:ext>
            </a:extLst>
          </p:cNvPr>
          <p:cNvSpPr/>
          <p:nvPr/>
        </p:nvSpPr>
        <p:spPr>
          <a:xfrm>
            <a:off x="252488" y="2686594"/>
            <a:ext cx="5294315" cy="496521"/>
          </a:xfrm>
          <a:prstGeom prst="round2SameRect">
            <a:avLst>
              <a:gd name="adj1" fmla="val 21783"/>
              <a:gd name="adj2" fmla="val 0"/>
            </a:avLst>
          </a:prstGeom>
          <a:solidFill>
            <a:srgbClr val="002924"/>
          </a:solidFill>
          <a:ln w="6365" cap="flat">
            <a:noFill/>
            <a:prstDash val="solid"/>
            <a:miter/>
          </a:ln>
        </p:spPr>
        <p:txBody>
          <a:bodyPr lIns="210312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 Medium" pitchFamily="2" charset="0"/>
              </a:rPr>
              <a:t>Constraints in RLT today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02B57-3F37-C158-78D2-FCB15FB4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000"/>
              </a:lnSpc>
            </a:pPr>
            <a:r>
              <a:rPr lang="en-GB" spc="-36" dirty="0"/>
              <a:t>Our experience in RLT points to four </a:t>
            </a:r>
            <a:r>
              <a:rPr lang="en-GB" spc="-30" dirty="0"/>
              <a:t>value-driving engines for Sego that allow us to address those white spaces</a:t>
            </a:r>
            <a:endParaRPr lang="en-US" spc="-3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B4F2B-51B3-C54E-CFE9-19A1EF4FC00F}"/>
              </a:ext>
            </a:extLst>
          </p:cNvPr>
          <p:cNvSpPr txBox="1"/>
          <p:nvPr/>
        </p:nvSpPr>
        <p:spPr>
          <a:xfrm>
            <a:off x="259874" y="1071722"/>
            <a:ext cx="2095700" cy="2447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  <a:t>Differentiated Approach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DA39DD66-B620-BE38-C456-E9D983C6049B}"/>
              </a:ext>
            </a:extLst>
          </p:cNvPr>
          <p:cNvSpPr/>
          <p:nvPr/>
        </p:nvSpPr>
        <p:spPr>
          <a:xfrm>
            <a:off x="6165609" y="2686594"/>
            <a:ext cx="5769213" cy="496521"/>
          </a:xfrm>
          <a:prstGeom prst="round2SameRect">
            <a:avLst>
              <a:gd name="adj1" fmla="val 21463"/>
              <a:gd name="adj2" fmla="val 0"/>
            </a:avLst>
          </a:prstGeom>
          <a:solidFill>
            <a:srgbClr val="D5ED99"/>
          </a:solidFill>
          <a:ln w="6365" cap="flat">
            <a:noFill/>
            <a:prstDash val="solid"/>
            <a:miter/>
          </a:ln>
        </p:spPr>
        <p:txBody>
          <a:bodyPr lIns="173736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  <a:t>Sego’s engines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A9F2F64-FB1B-99E5-9553-6E7A0DDE3673}"/>
              </a:ext>
            </a:extLst>
          </p:cNvPr>
          <p:cNvGraphicFramePr>
            <a:graphicFrameLocks noGrp="1"/>
          </p:cNvGraphicFramePr>
          <p:nvPr/>
        </p:nvGraphicFramePr>
        <p:xfrm>
          <a:off x="6172996" y="3183473"/>
          <a:ext cx="5752306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2306">
                  <a:extLst>
                    <a:ext uri="{9D8B030D-6E8A-4147-A177-3AD203B41FA5}">
                      <a16:colId xmlns:a16="http://schemas.microsoft.com/office/drawing/2014/main" val="2714144388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n-GB" sz="1200" spc="-4">
                          <a:solidFill>
                            <a:schemeClr val="tx1"/>
                          </a:solidFill>
                          <a:latin typeface="+mn-lt"/>
                        </a:rPr>
                        <a:t>Bespoke for RLT target selection</a:t>
                      </a:r>
                      <a:br>
                        <a:rPr lang="en-US" sz="1200" spc="-4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US" sz="1200" spc="-4">
                          <a:solidFill>
                            <a:schemeClr val="tx2"/>
                          </a:solidFill>
                          <a:latin typeface="+mj-lt"/>
                        </a:rPr>
                        <a:t>Diverse pipeline of targets, selected based on expression, biology, landscape &amp; feasibility</a:t>
                      </a:r>
                      <a:endParaRPr lang="en-GB" sz="1200" spc="-4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 marL="777240" marR="1828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624897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Harmonization of affinity, PK, target biology &amp; isotope characteristics</a:t>
                      </a:r>
                      <a:br>
                        <a:rPr lang="en-US" sz="1200"/>
                      </a:br>
                      <a:r>
                        <a:rPr lang="en-US" sz="120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Achieved with our proprietary, high-throughput screening &amp; in vitro/vivo facilities</a:t>
                      </a:r>
                      <a:endParaRPr lang="en-US" sz="120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 marL="777240" marR="1828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050348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Clinical translation: bench to bedside (and back)</a:t>
                      </a:r>
                      <a:br>
                        <a:rPr lang="en-US" sz="1200"/>
                      </a:br>
                      <a:r>
                        <a:rPr lang="en-US" sz="120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Feed learning from clinic back to research. Conduct early derisking in FIH imaging studies</a:t>
                      </a:r>
                      <a:endParaRPr lang="en-US" sz="120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 marL="777240" marR="1828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141914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Integrated commercialization &amp; supply capabilities</a:t>
                      </a:r>
                      <a:br>
                        <a:rPr lang="en-US" sz="1200"/>
                      </a:br>
                      <a:r>
                        <a:rPr lang="en-US" sz="1200"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In-house GMP capabilities &amp; proximity to isotope supply for seamless asset development</a:t>
                      </a:r>
                      <a:endParaRPr lang="en-US" sz="120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 marL="777240" marR="1828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2107928"/>
                  </a:ext>
                </a:extLst>
              </a:tr>
            </a:tbl>
          </a:graphicData>
        </a:graphic>
      </p:graphicFrame>
      <p:sp>
        <p:nvSpPr>
          <p:cNvPr id="13" name="Oval 12">
            <a:extLst>
              <a:ext uri="{FF2B5EF4-FFF2-40B4-BE49-F238E27FC236}">
                <a16:creationId xmlns:a16="http://schemas.microsoft.com/office/drawing/2014/main" id="{55ACBEA2-E76B-48AB-BA6F-CC71C9C13665}"/>
              </a:ext>
            </a:extLst>
          </p:cNvPr>
          <p:cNvSpPr/>
          <p:nvPr/>
        </p:nvSpPr>
        <p:spPr>
          <a:xfrm>
            <a:off x="6391276" y="3373496"/>
            <a:ext cx="354806" cy="354806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1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Medium" pitchFamily="2" charset="0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5A478E-AF6C-21E4-704E-3D28E8D1E90E}"/>
              </a:ext>
            </a:extLst>
          </p:cNvPr>
          <p:cNvSpPr/>
          <p:nvPr/>
        </p:nvSpPr>
        <p:spPr>
          <a:xfrm>
            <a:off x="6391276" y="4103401"/>
            <a:ext cx="354806" cy="354806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2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Medium" pitchFamily="2" charset="0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74562D-5528-C7C4-2532-3911B080B31B}"/>
              </a:ext>
            </a:extLst>
          </p:cNvPr>
          <p:cNvSpPr/>
          <p:nvPr/>
        </p:nvSpPr>
        <p:spPr>
          <a:xfrm>
            <a:off x="6391276" y="4826163"/>
            <a:ext cx="354806" cy="354806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3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Medium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FE6D46C-6DC9-DBD4-FA7A-60C897538D9D}"/>
              </a:ext>
            </a:extLst>
          </p:cNvPr>
          <p:cNvSpPr/>
          <p:nvPr/>
        </p:nvSpPr>
        <p:spPr>
          <a:xfrm>
            <a:off x="6391276" y="5571598"/>
            <a:ext cx="354806" cy="354806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Medium" pitchFamily="2" charset="0"/>
              <a:ea typeface="+mn-ea"/>
              <a:cs typeface="+mn-cs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2864AF30-86DA-51DA-F4F1-BDB8612607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235" y="3322832"/>
            <a:ext cx="418860" cy="46081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461C9B34-7D03-D409-41E6-D754EF535C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624" y="4069339"/>
            <a:ext cx="407690" cy="42503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F996D4FB-12A5-A093-CAD4-1CE4B99D45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415" y="4792435"/>
            <a:ext cx="425039" cy="45106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2ABF9E8-36AB-1D81-5BD4-75F5C37D02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9298" y="5548279"/>
            <a:ext cx="390342" cy="416365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4535F3D-2067-D2F4-A07A-AF066BC0C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fld id="{F41E5F93-45D3-472F-9EA1-BCB47A04FF6B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374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767EC07-B858-670D-79CF-1871357B004F}"/>
              </a:ext>
            </a:extLst>
          </p:cNvPr>
          <p:cNvSpPr/>
          <p:nvPr/>
        </p:nvSpPr>
        <p:spPr>
          <a:xfrm>
            <a:off x="8322895" y="850251"/>
            <a:ext cx="1879879" cy="1239740"/>
          </a:xfrm>
          <a:custGeom>
            <a:avLst/>
            <a:gdLst>
              <a:gd name="connsiteX0" fmla="*/ 10702 w 1879879"/>
              <a:gd name="connsiteY0" fmla="*/ 80917 h 1239740"/>
              <a:gd name="connsiteX1" fmla="*/ 50183 w 1879879"/>
              <a:gd name="connsiteY1" fmla="*/ 0 h 1239740"/>
              <a:gd name="connsiteX2" fmla="*/ 1829695 w 1879879"/>
              <a:gd name="connsiteY2" fmla="*/ 0 h 1239740"/>
              <a:gd name="connsiteX3" fmla="*/ 1869179 w 1879879"/>
              <a:gd name="connsiteY3" fmla="*/ 80917 h 1239740"/>
              <a:gd name="connsiteX4" fmla="*/ 979423 w 1879879"/>
              <a:gd name="connsiteY4" fmla="*/ 1220478 h 1239740"/>
              <a:gd name="connsiteX5" fmla="*/ 900455 w 1879879"/>
              <a:gd name="connsiteY5" fmla="*/ 1220478 h 1239740"/>
              <a:gd name="connsiteX6" fmla="*/ 10702 w 1879879"/>
              <a:gd name="connsiteY6" fmla="*/ 80917 h 1239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79879" h="1239740">
                <a:moveTo>
                  <a:pt x="10702" y="80917"/>
                </a:moveTo>
                <a:cubicBezTo>
                  <a:pt x="-14977" y="48028"/>
                  <a:pt x="8457" y="0"/>
                  <a:pt x="50183" y="0"/>
                </a:cubicBezTo>
                <a:lnTo>
                  <a:pt x="1829695" y="0"/>
                </a:lnTo>
                <a:cubicBezTo>
                  <a:pt x="1871420" y="0"/>
                  <a:pt x="1894856" y="48028"/>
                  <a:pt x="1869179" y="80917"/>
                </a:cubicBezTo>
                <a:lnTo>
                  <a:pt x="979423" y="1220478"/>
                </a:lnTo>
                <a:cubicBezTo>
                  <a:pt x="959368" y="1246162"/>
                  <a:pt x="920510" y="1246162"/>
                  <a:pt x="900455" y="1220478"/>
                </a:cubicBezTo>
                <a:lnTo>
                  <a:pt x="10702" y="80917"/>
                </a:lnTo>
                <a:close/>
              </a:path>
            </a:pathLst>
          </a:custGeom>
          <a:solidFill>
            <a:srgbClr val="002924"/>
          </a:solidFill>
          <a:ln w="62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E617DB-0855-F2AC-E730-207DF038B5B1}"/>
              </a:ext>
            </a:extLst>
          </p:cNvPr>
          <p:cNvSpPr/>
          <p:nvPr/>
        </p:nvSpPr>
        <p:spPr>
          <a:xfrm>
            <a:off x="8614790" y="1288542"/>
            <a:ext cx="1296089" cy="801283"/>
          </a:xfrm>
          <a:custGeom>
            <a:avLst/>
            <a:gdLst>
              <a:gd name="connsiteX0" fmla="*/ 0 w 1296089"/>
              <a:gd name="connsiteY0" fmla="*/ 0 h 801283"/>
              <a:gd name="connsiteX1" fmla="*/ 1296089 w 1296089"/>
              <a:gd name="connsiteY1" fmla="*/ 0 h 801283"/>
              <a:gd name="connsiteX2" fmla="*/ 687578 w 1296089"/>
              <a:gd name="connsiteY2" fmla="*/ 781955 h 801283"/>
              <a:gd name="connsiteX3" fmla="*/ 608511 w 1296089"/>
              <a:gd name="connsiteY3" fmla="*/ 781955 h 801283"/>
              <a:gd name="connsiteX4" fmla="*/ 0 w 1296089"/>
              <a:gd name="connsiteY4" fmla="*/ 0 h 80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089" h="801283">
                <a:moveTo>
                  <a:pt x="0" y="0"/>
                </a:moveTo>
                <a:lnTo>
                  <a:pt x="1296089" y="0"/>
                </a:lnTo>
                <a:lnTo>
                  <a:pt x="687578" y="781955"/>
                </a:lnTo>
                <a:cubicBezTo>
                  <a:pt x="667523" y="807727"/>
                  <a:pt x="628566" y="807727"/>
                  <a:pt x="608511" y="781955"/>
                </a:cubicBezTo>
                <a:lnTo>
                  <a:pt x="0" y="0"/>
                </a:lnTo>
                <a:close/>
              </a:path>
            </a:pathLst>
          </a:custGeom>
          <a:solidFill>
            <a:srgbClr val="61896E"/>
          </a:solidFill>
          <a:ln w="62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F8D83C1-CA40-B3BE-6F3F-04839626FF08}"/>
              </a:ext>
            </a:extLst>
          </p:cNvPr>
          <p:cNvSpPr/>
          <p:nvPr/>
        </p:nvSpPr>
        <p:spPr>
          <a:xfrm>
            <a:off x="8934116" y="1701787"/>
            <a:ext cx="657436" cy="388383"/>
          </a:xfrm>
          <a:custGeom>
            <a:avLst/>
            <a:gdLst>
              <a:gd name="connsiteX0" fmla="*/ 0 w 657436"/>
              <a:gd name="connsiteY0" fmla="*/ 0 h 388383"/>
              <a:gd name="connsiteX1" fmla="*/ 657436 w 657436"/>
              <a:gd name="connsiteY1" fmla="*/ 0 h 388383"/>
              <a:gd name="connsiteX2" fmla="*/ 368146 w 657436"/>
              <a:gd name="connsiteY2" fmla="*/ 369191 h 388383"/>
              <a:gd name="connsiteX3" fmla="*/ 289291 w 657436"/>
              <a:gd name="connsiteY3" fmla="*/ 369191 h 388383"/>
              <a:gd name="connsiteX4" fmla="*/ 0 w 657436"/>
              <a:gd name="connsiteY4" fmla="*/ 0 h 388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436" h="388383">
                <a:moveTo>
                  <a:pt x="0" y="0"/>
                </a:moveTo>
                <a:lnTo>
                  <a:pt x="657436" y="0"/>
                </a:lnTo>
                <a:lnTo>
                  <a:pt x="368146" y="369191"/>
                </a:lnTo>
                <a:cubicBezTo>
                  <a:pt x="348091" y="394781"/>
                  <a:pt x="309346" y="394781"/>
                  <a:pt x="289291" y="369191"/>
                </a:cubicBezTo>
                <a:lnTo>
                  <a:pt x="0" y="0"/>
                </a:lnTo>
                <a:close/>
              </a:path>
            </a:pathLst>
          </a:custGeom>
          <a:solidFill>
            <a:srgbClr val="B1C8B0"/>
          </a:solidFill>
          <a:ln w="62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90E9D-4D44-3221-CE0D-BCA41BBD6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2" y="1338468"/>
            <a:ext cx="8113632" cy="77412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We are prosecuting our first 6 targets based on a combination of expression, biology, feasibility &amp; landscape</a:t>
            </a:r>
            <a:endParaRPr lang="en-US" spc="-3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EBD661-B445-A091-029D-B24C94C5E595}"/>
              </a:ext>
            </a:extLst>
          </p:cNvPr>
          <p:cNvSpPr/>
          <p:nvPr/>
        </p:nvSpPr>
        <p:spPr>
          <a:xfrm>
            <a:off x="3209249" y="2686597"/>
            <a:ext cx="2823912" cy="494977"/>
          </a:xfrm>
          <a:custGeom>
            <a:avLst/>
            <a:gdLst>
              <a:gd name="connsiteX0" fmla="*/ 0 w 2823912"/>
              <a:gd name="connsiteY0" fmla="*/ 101534 h 494977"/>
              <a:gd name="connsiteX1" fmla="*/ 101534 w 2823912"/>
              <a:gd name="connsiteY1" fmla="*/ 0 h 494977"/>
              <a:gd name="connsiteX2" fmla="*/ 2722379 w 2823912"/>
              <a:gd name="connsiteY2" fmla="*/ 0 h 494977"/>
              <a:gd name="connsiteX3" fmla="*/ 2823913 w 2823912"/>
              <a:gd name="connsiteY3" fmla="*/ 101534 h 494977"/>
              <a:gd name="connsiteX4" fmla="*/ 2823913 w 2823912"/>
              <a:gd name="connsiteY4" fmla="*/ 494978 h 494977"/>
              <a:gd name="connsiteX5" fmla="*/ 0 w 2823912"/>
              <a:gd name="connsiteY5" fmla="*/ 494978 h 494977"/>
              <a:gd name="connsiteX6" fmla="*/ 0 w 2823912"/>
              <a:gd name="connsiteY6" fmla="*/ 101534 h 494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3912" h="494977">
                <a:moveTo>
                  <a:pt x="0" y="101534"/>
                </a:moveTo>
                <a:cubicBezTo>
                  <a:pt x="0" y="45458"/>
                  <a:pt x="45455" y="0"/>
                  <a:pt x="101534" y="0"/>
                </a:cubicBezTo>
                <a:lnTo>
                  <a:pt x="2722379" y="0"/>
                </a:lnTo>
                <a:cubicBezTo>
                  <a:pt x="2778457" y="0"/>
                  <a:pt x="2823913" y="45458"/>
                  <a:pt x="2823913" y="101534"/>
                </a:cubicBezTo>
                <a:lnTo>
                  <a:pt x="2823913" y="494978"/>
                </a:lnTo>
                <a:lnTo>
                  <a:pt x="0" y="494978"/>
                </a:lnTo>
                <a:lnTo>
                  <a:pt x="0" y="101534"/>
                </a:lnTo>
                <a:close/>
              </a:path>
            </a:pathLst>
          </a:custGeom>
          <a:solidFill>
            <a:srgbClr val="B1C8B0"/>
          </a:solidFill>
          <a:ln w="6341" cap="flat">
            <a:noFill/>
            <a:prstDash val="solid"/>
            <a:miter/>
          </a:ln>
        </p:spPr>
        <p:txBody>
          <a:bodyPr lIns="182880" tIns="0" rIns="0" bIns="0" rtlCol="0" anchor="ctr"/>
          <a:lstStyle/>
          <a:p>
            <a:r>
              <a:rPr lang="en-US" sz="1200">
                <a:latin typeface="Funnel Sans Medium" pitchFamily="2" charset="0"/>
              </a:rPr>
              <a:t>Biology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B7C3A8-0FC1-8AB9-9F49-7A9C72592B75}"/>
              </a:ext>
            </a:extLst>
          </p:cNvPr>
          <p:cNvSpPr/>
          <p:nvPr/>
        </p:nvSpPr>
        <p:spPr>
          <a:xfrm>
            <a:off x="6160079" y="2680252"/>
            <a:ext cx="2823912" cy="494977"/>
          </a:xfrm>
          <a:custGeom>
            <a:avLst/>
            <a:gdLst>
              <a:gd name="connsiteX0" fmla="*/ 0 w 2823912"/>
              <a:gd name="connsiteY0" fmla="*/ 101534 h 494977"/>
              <a:gd name="connsiteX1" fmla="*/ 101534 w 2823912"/>
              <a:gd name="connsiteY1" fmla="*/ 0 h 494977"/>
              <a:gd name="connsiteX2" fmla="*/ 2722379 w 2823912"/>
              <a:gd name="connsiteY2" fmla="*/ 0 h 494977"/>
              <a:gd name="connsiteX3" fmla="*/ 2823913 w 2823912"/>
              <a:gd name="connsiteY3" fmla="*/ 101534 h 494977"/>
              <a:gd name="connsiteX4" fmla="*/ 2823913 w 2823912"/>
              <a:gd name="connsiteY4" fmla="*/ 494978 h 494977"/>
              <a:gd name="connsiteX5" fmla="*/ 0 w 2823912"/>
              <a:gd name="connsiteY5" fmla="*/ 494978 h 494977"/>
              <a:gd name="connsiteX6" fmla="*/ 0 w 2823912"/>
              <a:gd name="connsiteY6" fmla="*/ 101534 h 494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3912" h="494977">
                <a:moveTo>
                  <a:pt x="0" y="101534"/>
                </a:moveTo>
                <a:cubicBezTo>
                  <a:pt x="0" y="45458"/>
                  <a:pt x="45456" y="0"/>
                  <a:pt x="101534" y="0"/>
                </a:cubicBezTo>
                <a:lnTo>
                  <a:pt x="2722379" y="0"/>
                </a:lnTo>
                <a:cubicBezTo>
                  <a:pt x="2778476" y="0"/>
                  <a:pt x="2823913" y="45458"/>
                  <a:pt x="2823913" y="101534"/>
                </a:cubicBezTo>
                <a:lnTo>
                  <a:pt x="2823913" y="494978"/>
                </a:lnTo>
                <a:lnTo>
                  <a:pt x="0" y="494978"/>
                </a:lnTo>
                <a:lnTo>
                  <a:pt x="0" y="101534"/>
                </a:lnTo>
                <a:close/>
              </a:path>
            </a:pathLst>
          </a:custGeom>
          <a:solidFill>
            <a:srgbClr val="B1C8B0"/>
          </a:solidFill>
          <a:ln w="6341" cap="flat">
            <a:noFill/>
            <a:prstDash val="solid"/>
            <a:miter/>
          </a:ln>
        </p:spPr>
        <p:txBody>
          <a:bodyPr lIns="182880" tIns="0" rIns="0" bIns="0" rtlCol="0" anchor="ctr"/>
          <a:lstStyle/>
          <a:p>
            <a:r>
              <a:rPr lang="en-US" sz="1200">
                <a:latin typeface="Funnel Sans Medium" pitchFamily="2" charset="0"/>
              </a:rPr>
              <a:t>Feasibility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E2D3335-98A1-0ECB-7088-DA61D7BAF75B}"/>
              </a:ext>
            </a:extLst>
          </p:cNvPr>
          <p:cNvSpPr/>
          <p:nvPr/>
        </p:nvSpPr>
        <p:spPr>
          <a:xfrm>
            <a:off x="9110909" y="2680252"/>
            <a:ext cx="2823912" cy="494977"/>
          </a:xfrm>
          <a:custGeom>
            <a:avLst/>
            <a:gdLst>
              <a:gd name="connsiteX0" fmla="*/ 0 w 2823912"/>
              <a:gd name="connsiteY0" fmla="*/ 101534 h 494977"/>
              <a:gd name="connsiteX1" fmla="*/ 101534 w 2823912"/>
              <a:gd name="connsiteY1" fmla="*/ 0 h 494977"/>
              <a:gd name="connsiteX2" fmla="*/ 2722379 w 2823912"/>
              <a:gd name="connsiteY2" fmla="*/ 0 h 494977"/>
              <a:gd name="connsiteX3" fmla="*/ 2823913 w 2823912"/>
              <a:gd name="connsiteY3" fmla="*/ 101534 h 494977"/>
              <a:gd name="connsiteX4" fmla="*/ 2823913 w 2823912"/>
              <a:gd name="connsiteY4" fmla="*/ 494978 h 494977"/>
              <a:gd name="connsiteX5" fmla="*/ 0 w 2823912"/>
              <a:gd name="connsiteY5" fmla="*/ 494978 h 494977"/>
              <a:gd name="connsiteX6" fmla="*/ 0 w 2823912"/>
              <a:gd name="connsiteY6" fmla="*/ 101534 h 494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3912" h="494977">
                <a:moveTo>
                  <a:pt x="0" y="101534"/>
                </a:moveTo>
                <a:cubicBezTo>
                  <a:pt x="0" y="45458"/>
                  <a:pt x="45437" y="0"/>
                  <a:pt x="101534" y="0"/>
                </a:cubicBezTo>
                <a:lnTo>
                  <a:pt x="2722379" y="0"/>
                </a:lnTo>
                <a:cubicBezTo>
                  <a:pt x="2778476" y="0"/>
                  <a:pt x="2823913" y="45458"/>
                  <a:pt x="2823913" y="101534"/>
                </a:cubicBezTo>
                <a:lnTo>
                  <a:pt x="2823913" y="494978"/>
                </a:lnTo>
                <a:lnTo>
                  <a:pt x="0" y="494978"/>
                </a:lnTo>
                <a:lnTo>
                  <a:pt x="0" y="101534"/>
                </a:lnTo>
                <a:close/>
              </a:path>
            </a:pathLst>
          </a:custGeom>
          <a:solidFill>
            <a:srgbClr val="B1C8B0"/>
          </a:solidFill>
          <a:ln w="6341" cap="flat">
            <a:noFill/>
            <a:prstDash val="solid"/>
            <a:miter/>
          </a:ln>
        </p:spPr>
        <p:txBody>
          <a:bodyPr lIns="182880" tIns="0" rIns="0" bIns="0" rtlCol="0" anchor="ctr"/>
          <a:lstStyle/>
          <a:p>
            <a:r>
              <a:rPr lang="en-US" sz="1200">
                <a:latin typeface="Funnel Sans Medium" pitchFamily="2" charset="0"/>
              </a:rPr>
              <a:t>Landscape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6ED905F-F42E-44CD-85E7-F6D788C1CC1C}"/>
              </a:ext>
            </a:extLst>
          </p:cNvPr>
          <p:cNvSpPr/>
          <p:nvPr/>
        </p:nvSpPr>
        <p:spPr>
          <a:xfrm>
            <a:off x="258419" y="3181575"/>
            <a:ext cx="2822673" cy="3407733"/>
          </a:xfrm>
          <a:custGeom>
            <a:avLst/>
            <a:gdLst>
              <a:gd name="connsiteX0" fmla="*/ 0 w 2823912"/>
              <a:gd name="connsiteY0" fmla="*/ 0 h 3407733"/>
              <a:gd name="connsiteX1" fmla="*/ 2823913 w 2823912"/>
              <a:gd name="connsiteY1" fmla="*/ 0 h 3407733"/>
              <a:gd name="connsiteX2" fmla="*/ 2823913 w 2823912"/>
              <a:gd name="connsiteY2" fmla="*/ 3306199 h 3407733"/>
              <a:gd name="connsiteX3" fmla="*/ 2722379 w 2823912"/>
              <a:gd name="connsiteY3" fmla="*/ 3407733 h 3407733"/>
              <a:gd name="connsiteX4" fmla="*/ 101534 w 2823912"/>
              <a:gd name="connsiteY4" fmla="*/ 3407733 h 3407733"/>
              <a:gd name="connsiteX5" fmla="*/ 0 w 2823912"/>
              <a:gd name="connsiteY5" fmla="*/ 3306199 h 3407733"/>
              <a:gd name="connsiteX6" fmla="*/ 0 w 2823912"/>
              <a:gd name="connsiteY6" fmla="*/ 0 h 3407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3912" h="3407733">
                <a:moveTo>
                  <a:pt x="0" y="0"/>
                </a:moveTo>
                <a:lnTo>
                  <a:pt x="2823913" y="0"/>
                </a:lnTo>
                <a:lnTo>
                  <a:pt x="2823913" y="3306199"/>
                </a:lnTo>
                <a:cubicBezTo>
                  <a:pt x="2823913" y="3362278"/>
                  <a:pt x="2778457" y="3407733"/>
                  <a:pt x="2722379" y="3407733"/>
                </a:cubicBezTo>
                <a:lnTo>
                  <a:pt x="101534" y="3407733"/>
                </a:lnTo>
                <a:cubicBezTo>
                  <a:pt x="45458" y="3407733"/>
                  <a:pt x="0" y="3362278"/>
                  <a:pt x="0" y="330619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41" cap="flat">
            <a:noFill/>
            <a:prstDash val="solid"/>
            <a:miter/>
          </a:ln>
        </p:spPr>
        <p:txBody>
          <a:bodyPr lIns="201168" tIns="182880" rIns="0" bIns="0" rtlCol="0" anchor="t"/>
          <a:lstStyle/>
          <a:p>
            <a:pPr>
              <a:spcAft>
                <a:spcPts val="400"/>
              </a:spcAft>
            </a:pPr>
            <a:r>
              <a:rPr lang="en-US" sz="1200">
                <a:latin typeface="Funnel Sans Medium" pitchFamily="2" charset="0"/>
              </a:rPr>
              <a:t>Tumor specific</a:t>
            </a:r>
          </a:p>
          <a:p>
            <a:pPr marL="274320" indent="-18288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56670"/>
                </a:solidFill>
                <a:latin typeface="+mj-lt"/>
              </a:rPr>
              <a:t>Genomic &amp; protein expression: TCGA, IHC scoring, proteomics</a:t>
            </a:r>
          </a:p>
          <a:p>
            <a:pPr marL="274320" indent="-18288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56670"/>
                </a:solidFill>
                <a:latin typeface="+mj-lt"/>
              </a:rPr>
              <a:t>Review protein expression: heterogeneity &amp; target density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200">
                <a:latin typeface="Funnel Sans Medium" pitchFamily="2" charset="0"/>
              </a:rPr>
              <a:t>Healthy tissue</a:t>
            </a:r>
          </a:p>
          <a:p>
            <a:pPr marL="274320" indent="-18288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56670"/>
                </a:solidFill>
                <a:latin typeface="+mj-lt"/>
              </a:rPr>
              <a:t>Genomic &amp; protein expression: </a:t>
            </a:r>
            <a:r>
              <a:rPr lang="en-US" sz="1200" err="1">
                <a:solidFill>
                  <a:srgbClr val="656670"/>
                </a:solidFill>
                <a:latin typeface="+mj-lt"/>
              </a:rPr>
              <a:t>GTEx</a:t>
            </a:r>
            <a:r>
              <a:rPr lang="en-US" sz="1200">
                <a:solidFill>
                  <a:srgbClr val="656670"/>
                </a:solidFill>
                <a:latin typeface="+mj-lt"/>
              </a:rPr>
              <a:t>, IHC scoring</a:t>
            </a:r>
          </a:p>
          <a:p>
            <a:pPr marL="274320" indent="-18288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56670"/>
                </a:solidFill>
                <a:latin typeface="+mj-lt"/>
              </a:rPr>
              <a:t>Review expression: Key tissues (kidney, ocular), healthy vs. </a:t>
            </a:r>
            <a:br>
              <a:rPr lang="en-US" sz="1200">
                <a:solidFill>
                  <a:srgbClr val="656670"/>
                </a:solidFill>
                <a:latin typeface="+mj-lt"/>
              </a:rPr>
            </a:br>
            <a:r>
              <a:rPr lang="en-US" sz="1200">
                <a:solidFill>
                  <a:srgbClr val="656670"/>
                </a:solidFill>
                <a:latin typeface="+mj-lt"/>
              </a:rPr>
              <a:t>tumor specific accessibility</a:t>
            </a:r>
            <a:br>
              <a:rPr lang="en-US" sz="1200">
                <a:solidFill>
                  <a:srgbClr val="656670"/>
                </a:solidFill>
                <a:latin typeface="+mj-lt"/>
              </a:rPr>
            </a:br>
            <a:r>
              <a:rPr lang="en-US" sz="1200">
                <a:solidFill>
                  <a:srgbClr val="656670"/>
                </a:solidFill>
                <a:latin typeface="+mj-lt"/>
              </a:rPr>
              <a:t>(e.g. apical vs basal)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200">
                <a:latin typeface="Funnel Sans Medium" pitchFamily="2" charset="0"/>
              </a:rPr>
              <a:t>Human imaging</a:t>
            </a:r>
          </a:p>
          <a:p>
            <a:pPr marL="27432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Prior imaging data that informs target expression/distribution</a:t>
            </a:r>
            <a:endParaRPr lang="en-US" sz="1200">
              <a:solidFill>
                <a:srgbClr val="656670"/>
              </a:solidFill>
              <a:latin typeface="+mj-lt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F861D59-F928-5803-3281-50083ACD530F}"/>
              </a:ext>
            </a:extLst>
          </p:cNvPr>
          <p:cNvSpPr/>
          <p:nvPr/>
        </p:nvSpPr>
        <p:spPr>
          <a:xfrm>
            <a:off x="258419" y="2680252"/>
            <a:ext cx="2823912" cy="494977"/>
          </a:xfrm>
          <a:custGeom>
            <a:avLst/>
            <a:gdLst>
              <a:gd name="connsiteX0" fmla="*/ 0 w 2823912"/>
              <a:gd name="connsiteY0" fmla="*/ 101534 h 494977"/>
              <a:gd name="connsiteX1" fmla="*/ 101534 w 2823912"/>
              <a:gd name="connsiteY1" fmla="*/ 0 h 494977"/>
              <a:gd name="connsiteX2" fmla="*/ 2722379 w 2823912"/>
              <a:gd name="connsiteY2" fmla="*/ 0 h 494977"/>
              <a:gd name="connsiteX3" fmla="*/ 2823913 w 2823912"/>
              <a:gd name="connsiteY3" fmla="*/ 101534 h 494977"/>
              <a:gd name="connsiteX4" fmla="*/ 2823913 w 2823912"/>
              <a:gd name="connsiteY4" fmla="*/ 494978 h 494977"/>
              <a:gd name="connsiteX5" fmla="*/ 0 w 2823912"/>
              <a:gd name="connsiteY5" fmla="*/ 494978 h 494977"/>
              <a:gd name="connsiteX6" fmla="*/ 0 w 2823912"/>
              <a:gd name="connsiteY6" fmla="*/ 101534 h 494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3912" h="494977">
                <a:moveTo>
                  <a:pt x="0" y="101534"/>
                </a:moveTo>
                <a:cubicBezTo>
                  <a:pt x="0" y="45458"/>
                  <a:pt x="45458" y="0"/>
                  <a:pt x="101534" y="0"/>
                </a:cubicBezTo>
                <a:lnTo>
                  <a:pt x="2722379" y="0"/>
                </a:lnTo>
                <a:cubicBezTo>
                  <a:pt x="2778457" y="0"/>
                  <a:pt x="2823913" y="45458"/>
                  <a:pt x="2823913" y="101534"/>
                </a:cubicBezTo>
                <a:lnTo>
                  <a:pt x="2823913" y="494978"/>
                </a:lnTo>
                <a:lnTo>
                  <a:pt x="0" y="494978"/>
                </a:lnTo>
                <a:lnTo>
                  <a:pt x="0" y="101534"/>
                </a:lnTo>
                <a:close/>
              </a:path>
            </a:pathLst>
          </a:custGeom>
          <a:solidFill>
            <a:srgbClr val="B1C8B0"/>
          </a:solidFill>
          <a:ln w="6341" cap="flat">
            <a:noFill/>
            <a:prstDash val="solid"/>
            <a:miter/>
          </a:ln>
        </p:spPr>
        <p:txBody>
          <a:bodyPr lIns="182880" tIns="0" rIns="0" bIns="0" rtlCol="0" anchor="ctr"/>
          <a:lstStyle/>
          <a:p>
            <a:r>
              <a:rPr lang="en-US" sz="1200">
                <a:latin typeface="Funnel Sans Medium" pitchFamily="2" charset="0"/>
              </a:rPr>
              <a:t>Expression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4304F7F-4AEF-3D17-B163-2E3C5C1FA895}"/>
              </a:ext>
            </a:extLst>
          </p:cNvPr>
          <p:cNvSpPr/>
          <p:nvPr/>
        </p:nvSpPr>
        <p:spPr>
          <a:xfrm>
            <a:off x="3209868" y="3181575"/>
            <a:ext cx="2822673" cy="3407733"/>
          </a:xfrm>
          <a:custGeom>
            <a:avLst/>
            <a:gdLst>
              <a:gd name="connsiteX0" fmla="*/ 0 w 2823912"/>
              <a:gd name="connsiteY0" fmla="*/ 0 h 3407733"/>
              <a:gd name="connsiteX1" fmla="*/ 2823913 w 2823912"/>
              <a:gd name="connsiteY1" fmla="*/ 0 h 3407733"/>
              <a:gd name="connsiteX2" fmla="*/ 2823913 w 2823912"/>
              <a:gd name="connsiteY2" fmla="*/ 3306199 h 3407733"/>
              <a:gd name="connsiteX3" fmla="*/ 2722379 w 2823912"/>
              <a:gd name="connsiteY3" fmla="*/ 3407733 h 3407733"/>
              <a:gd name="connsiteX4" fmla="*/ 101534 w 2823912"/>
              <a:gd name="connsiteY4" fmla="*/ 3407733 h 3407733"/>
              <a:gd name="connsiteX5" fmla="*/ 0 w 2823912"/>
              <a:gd name="connsiteY5" fmla="*/ 3306199 h 3407733"/>
              <a:gd name="connsiteX6" fmla="*/ 0 w 2823912"/>
              <a:gd name="connsiteY6" fmla="*/ 0 h 3407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3912" h="3407733">
                <a:moveTo>
                  <a:pt x="0" y="0"/>
                </a:moveTo>
                <a:lnTo>
                  <a:pt x="2823913" y="0"/>
                </a:lnTo>
                <a:lnTo>
                  <a:pt x="2823913" y="3306199"/>
                </a:lnTo>
                <a:cubicBezTo>
                  <a:pt x="2823913" y="3362278"/>
                  <a:pt x="2778457" y="3407733"/>
                  <a:pt x="2722379" y="3407733"/>
                </a:cubicBezTo>
                <a:lnTo>
                  <a:pt x="101534" y="3407733"/>
                </a:lnTo>
                <a:cubicBezTo>
                  <a:pt x="45458" y="3407733"/>
                  <a:pt x="0" y="3362278"/>
                  <a:pt x="0" y="330619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41" cap="flat">
            <a:noFill/>
            <a:prstDash val="solid"/>
            <a:miter/>
          </a:ln>
        </p:spPr>
        <p:txBody>
          <a:bodyPr lIns="201168" tIns="182880" rIns="0" bIns="0" rtlCol="0" anchor="t"/>
          <a:lstStyle/>
          <a:p>
            <a:pPr>
              <a:spcAft>
                <a:spcPts val="400"/>
              </a:spcAft>
            </a:pPr>
            <a:r>
              <a:rPr lang="en-US" sz="1200">
                <a:latin typeface="Funnel Sans Medium" pitchFamily="2" charset="0"/>
              </a:rPr>
              <a:t>Biochemistry</a:t>
            </a:r>
          </a:p>
          <a:p>
            <a:pPr marL="27432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Internalization &amp; recycling rate </a:t>
            </a:r>
          </a:p>
          <a:p>
            <a:pPr marL="27432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Shedding form &amp; rate</a:t>
            </a:r>
          </a:p>
          <a:p>
            <a:pPr marL="27432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Plasma half-life</a:t>
            </a:r>
            <a:br>
              <a:rPr lang="en-GB" sz="1200">
                <a:solidFill>
                  <a:srgbClr val="656670"/>
                </a:solidFill>
                <a:latin typeface="+mj-lt"/>
              </a:rPr>
            </a:br>
            <a:endParaRPr lang="en-GB" sz="1200">
              <a:solidFill>
                <a:srgbClr val="656670"/>
              </a:solidFill>
              <a:latin typeface="Funnel Sans Medium" pitchFamily="2" charset="0"/>
            </a:endParaRPr>
          </a:p>
          <a:p>
            <a:pPr>
              <a:spcAft>
                <a:spcPts val="400"/>
              </a:spcAft>
            </a:pPr>
            <a:r>
              <a:rPr lang="en-US" sz="1200">
                <a:latin typeface="Funnel Sans Medium" pitchFamily="2" charset="0"/>
              </a:rPr>
              <a:t>Structural biology</a:t>
            </a:r>
          </a:p>
          <a:p>
            <a:pPr marL="27432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Structure of membrane bound </a:t>
            </a:r>
            <a:br>
              <a:rPr lang="en-GB" sz="1200">
                <a:solidFill>
                  <a:srgbClr val="656670"/>
                </a:solidFill>
                <a:latin typeface="+mj-lt"/>
              </a:rPr>
            </a:br>
            <a:r>
              <a:rPr lang="en-GB" sz="1200">
                <a:solidFill>
                  <a:srgbClr val="656670"/>
                </a:solidFill>
                <a:latin typeface="+mj-lt"/>
              </a:rPr>
              <a:t>vs. shed forms</a:t>
            </a:r>
          </a:p>
          <a:p>
            <a:pPr marL="27432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Conformations</a:t>
            </a:r>
          </a:p>
          <a:p>
            <a:pPr marL="27432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Natural ligands &amp; binding sites</a:t>
            </a:r>
            <a:endParaRPr lang="en-US" sz="1200">
              <a:solidFill>
                <a:srgbClr val="656670"/>
              </a:solidFill>
              <a:latin typeface="+mj-lt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40FE4A3-03A6-12DD-D573-DAB578A0FE9F}"/>
              </a:ext>
            </a:extLst>
          </p:cNvPr>
          <p:cNvSpPr/>
          <p:nvPr/>
        </p:nvSpPr>
        <p:spPr>
          <a:xfrm>
            <a:off x="6161318" y="3181575"/>
            <a:ext cx="2822673" cy="3407733"/>
          </a:xfrm>
          <a:custGeom>
            <a:avLst/>
            <a:gdLst>
              <a:gd name="connsiteX0" fmla="*/ 0 w 2823912"/>
              <a:gd name="connsiteY0" fmla="*/ 0 h 3407733"/>
              <a:gd name="connsiteX1" fmla="*/ 2823913 w 2823912"/>
              <a:gd name="connsiteY1" fmla="*/ 0 h 3407733"/>
              <a:gd name="connsiteX2" fmla="*/ 2823913 w 2823912"/>
              <a:gd name="connsiteY2" fmla="*/ 3306199 h 3407733"/>
              <a:gd name="connsiteX3" fmla="*/ 2722379 w 2823912"/>
              <a:gd name="connsiteY3" fmla="*/ 3407733 h 3407733"/>
              <a:gd name="connsiteX4" fmla="*/ 101534 w 2823912"/>
              <a:gd name="connsiteY4" fmla="*/ 3407733 h 3407733"/>
              <a:gd name="connsiteX5" fmla="*/ 0 w 2823912"/>
              <a:gd name="connsiteY5" fmla="*/ 3306199 h 3407733"/>
              <a:gd name="connsiteX6" fmla="*/ 0 w 2823912"/>
              <a:gd name="connsiteY6" fmla="*/ 0 h 3407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3912" h="3407733">
                <a:moveTo>
                  <a:pt x="0" y="0"/>
                </a:moveTo>
                <a:lnTo>
                  <a:pt x="2823913" y="0"/>
                </a:lnTo>
                <a:lnTo>
                  <a:pt x="2823913" y="3306199"/>
                </a:lnTo>
                <a:cubicBezTo>
                  <a:pt x="2823913" y="3362278"/>
                  <a:pt x="2778457" y="3407733"/>
                  <a:pt x="2722379" y="3407733"/>
                </a:cubicBezTo>
                <a:lnTo>
                  <a:pt x="101534" y="3407733"/>
                </a:lnTo>
                <a:cubicBezTo>
                  <a:pt x="45458" y="3407733"/>
                  <a:pt x="0" y="3362278"/>
                  <a:pt x="0" y="330619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41" cap="flat">
            <a:noFill/>
            <a:prstDash val="solid"/>
            <a:miter/>
          </a:ln>
        </p:spPr>
        <p:txBody>
          <a:bodyPr lIns="201168" tIns="182880" rIns="0" bIns="0" rtlCol="0" anchor="t"/>
          <a:lstStyle/>
          <a:p>
            <a:pPr>
              <a:spcAft>
                <a:spcPts val="400"/>
              </a:spcAft>
            </a:pPr>
            <a:r>
              <a:rPr lang="en-US" sz="1200" err="1">
                <a:latin typeface="Funnel Sans Medium" pitchFamily="2" charset="0"/>
              </a:rPr>
              <a:t>Ligandability</a:t>
            </a:r>
            <a:endParaRPr lang="en-US" sz="1200">
              <a:latin typeface="Funnel Sans Medium" pitchFamily="2" charset="0"/>
            </a:endParaRPr>
          </a:p>
          <a:p>
            <a:pPr marL="27432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Ability of target to be bound by a cyclic peptide</a:t>
            </a:r>
          </a:p>
          <a:p>
            <a:pPr>
              <a:spcAft>
                <a:spcPts val="400"/>
              </a:spcAft>
            </a:pPr>
            <a:r>
              <a:rPr lang="en-GB" sz="1200">
                <a:latin typeface="Funnel Sans Medium" pitchFamily="2" charset="0"/>
              </a:rPr>
              <a:t>Translation</a:t>
            </a:r>
          </a:p>
          <a:p>
            <a:pPr marL="27432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Availability of preclinical and clinical research methods</a:t>
            </a:r>
            <a:endParaRPr lang="en-GB" sz="1200"/>
          </a:p>
          <a:p>
            <a:pPr>
              <a:spcAft>
                <a:spcPts val="400"/>
              </a:spcAft>
            </a:pPr>
            <a:r>
              <a:rPr lang="en-GB" sz="1200">
                <a:latin typeface="Funnel Sans Medium" pitchFamily="2" charset="0"/>
              </a:rPr>
              <a:t>Radionuclide</a:t>
            </a:r>
          </a:p>
          <a:p>
            <a:pPr marL="27432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Selection of radionuclide that </a:t>
            </a:r>
            <a:br>
              <a:rPr lang="en-GB" sz="1200">
                <a:solidFill>
                  <a:srgbClr val="656670"/>
                </a:solidFill>
                <a:latin typeface="+mj-lt"/>
              </a:rPr>
            </a:br>
            <a:r>
              <a:rPr lang="en-GB" sz="1200">
                <a:solidFill>
                  <a:srgbClr val="656670"/>
                </a:solidFill>
                <a:latin typeface="+mj-lt"/>
              </a:rPr>
              <a:t>best fits </a:t>
            </a:r>
            <a:r>
              <a:rPr lang="en-GB" sz="1200" err="1">
                <a:solidFill>
                  <a:srgbClr val="656670"/>
                </a:solidFill>
                <a:latin typeface="+mj-lt"/>
              </a:rPr>
              <a:t>tumor</a:t>
            </a:r>
            <a:r>
              <a:rPr lang="en-GB" sz="1200">
                <a:solidFill>
                  <a:srgbClr val="656670"/>
                </a:solidFill>
                <a:latin typeface="+mj-lt"/>
              </a:rPr>
              <a:t>, tissue &amp; target</a:t>
            </a:r>
          </a:p>
          <a:p>
            <a:pPr marL="274320" indent="-171450">
              <a:buFont typeface="Arial" panose="020B0604020202020204" pitchFamily="34" charset="0"/>
              <a:buChar char="•"/>
            </a:pPr>
            <a:endParaRPr lang="en-GB" sz="1200">
              <a:solidFill>
                <a:srgbClr val="656670"/>
              </a:solidFill>
              <a:latin typeface="+mj-lt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972DFDF-338A-B23F-F001-0421B0727E56}"/>
              </a:ext>
            </a:extLst>
          </p:cNvPr>
          <p:cNvSpPr/>
          <p:nvPr/>
        </p:nvSpPr>
        <p:spPr>
          <a:xfrm>
            <a:off x="9109670" y="3181575"/>
            <a:ext cx="2822673" cy="3407733"/>
          </a:xfrm>
          <a:custGeom>
            <a:avLst/>
            <a:gdLst>
              <a:gd name="connsiteX0" fmla="*/ 0 w 2823912"/>
              <a:gd name="connsiteY0" fmla="*/ 0 h 3407733"/>
              <a:gd name="connsiteX1" fmla="*/ 2823913 w 2823912"/>
              <a:gd name="connsiteY1" fmla="*/ 0 h 3407733"/>
              <a:gd name="connsiteX2" fmla="*/ 2823913 w 2823912"/>
              <a:gd name="connsiteY2" fmla="*/ 3306199 h 3407733"/>
              <a:gd name="connsiteX3" fmla="*/ 2722379 w 2823912"/>
              <a:gd name="connsiteY3" fmla="*/ 3407733 h 3407733"/>
              <a:gd name="connsiteX4" fmla="*/ 101534 w 2823912"/>
              <a:gd name="connsiteY4" fmla="*/ 3407733 h 3407733"/>
              <a:gd name="connsiteX5" fmla="*/ 0 w 2823912"/>
              <a:gd name="connsiteY5" fmla="*/ 3306199 h 3407733"/>
              <a:gd name="connsiteX6" fmla="*/ 0 w 2823912"/>
              <a:gd name="connsiteY6" fmla="*/ 0 h 3407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3912" h="3407733">
                <a:moveTo>
                  <a:pt x="0" y="0"/>
                </a:moveTo>
                <a:lnTo>
                  <a:pt x="2823913" y="0"/>
                </a:lnTo>
                <a:lnTo>
                  <a:pt x="2823913" y="3306199"/>
                </a:lnTo>
                <a:cubicBezTo>
                  <a:pt x="2823913" y="3362278"/>
                  <a:pt x="2778457" y="3407733"/>
                  <a:pt x="2722379" y="3407733"/>
                </a:cubicBezTo>
                <a:lnTo>
                  <a:pt x="101534" y="3407733"/>
                </a:lnTo>
                <a:cubicBezTo>
                  <a:pt x="45458" y="3407733"/>
                  <a:pt x="0" y="3362278"/>
                  <a:pt x="0" y="330619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41" cap="flat">
            <a:noFill/>
            <a:prstDash val="solid"/>
            <a:miter/>
          </a:ln>
        </p:spPr>
        <p:txBody>
          <a:bodyPr lIns="201168" tIns="182880" rIns="0" bIns="0" rtlCol="0" anchor="t"/>
          <a:lstStyle/>
          <a:p>
            <a:pPr>
              <a:spcAft>
                <a:spcPts val="400"/>
              </a:spcAft>
            </a:pPr>
            <a:r>
              <a:rPr lang="en-US" sz="1200">
                <a:latin typeface="Funnel Sans Medium" pitchFamily="2" charset="0"/>
              </a:rPr>
              <a:t>Unmet need</a:t>
            </a:r>
          </a:p>
          <a:p>
            <a:pPr marL="27432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Current gaps in patient care with existing SOC &amp; emerging therapies</a:t>
            </a:r>
          </a:p>
          <a:p>
            <a:pPr>
              <a:spcAft>
                <a:spcPts val="400"/>
              </a:spcAft>
            </a:pPr>
            <a:r>
              <a:rPr lang="en-GB" sz="1200">
                <a:latin typeface="Funnel Sans Medium" pitchFamily="2" charset="0"/>
              </a:rPr>
              <a:t>Competition</a:t>
            </a:r>
          </a:p>
          <a:p>
            <a:pPr marL="27432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656670"/>
                </a:solidFill>
                <a:latin typeface="+mj-lt"/>
              </a:rPr>
              <a:t>Other trials/modalities against target &amp; current results</a:t>
            </a:r>
            <a:endParaRPr lang="en-GB" sz="1200">
              <a:latin typeface="+mj-lt"/>
            </a:endParaRPr>
          </a:p>
          <a:p>
            <a:pPr marL="27432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GB" sz="1200">
              <a:solidFill>
                <a:srgbClr val="656670"/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49C6ED-5255-2F9C-3CE7-C26DD5FC2556}"/>
              </a:ext>
            </a:extLst>
          </p:cNvPr>
          <p:cNvSpPr txBox="1"/>
          <p:nvPr/>
        </p:nvSpPr>
        <p:spPr>
          <a:xfrm>
            <a:off x="9556959" y="984755"/>
            <a:ext cx="2182394" cy="10512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spcAft>
                <a:spcPts val="1800"/>
              </a:spcAft>
            </a:pPr>
            <a:r>
              <a:rPr lang="en-US" sz="1200" spc="-16">
                <a:solidFill>
                  <a:srgbClr val="656670"/>
                </a:solidFill>
                <a:latin typeface="+mj-lt"/>
              </a:rPr>
              <a:t>Initial targets sourced</a:t>
            </a:r>
          </a:p>
          <a:p>
            <a:pPr algn="r">
              <a:spcAft>
                <a:spcPts val="1800"/>
              </a:spcAft>
            </a:pPr>
            <a:r>
              <a:rPr lang="en-US" sz="1200" spc="-16">
                <a:solidFill>
                  <a:srgbClr val="656670"/>
                </a:solidFill>
                <a:latin typeface="+mj-lt"/>
              </a:rPr>
              <a:t>Underwent deep diligence</a:t>
            </a:r>
          </a:p>
          <a:p>
            <a:pPr algn="r">
              <a:spcAft>
                <a:spcPts val="1800"/>
              </a:spcAft>
            </a:pPr>
            <a:r>
              <a:rPr lang="en-US" sz="1200" spc="-16">
                <a:solidFill>
                  <a:srgbClr val="656670"/>
                </a:solidFill>
                <a:latin typeface="+mj-lt"/>
              </a:rPr>
              <a:t>Targets selected for prosecution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9547C4F-07B5-3825-12E0-88F757B829C6}"/>
              </a:ext>
            </a:extLst>
          </p:cNvPr>
          <p:cNvCxnSpPr/>
          <p:nvPr/>
        </p:nvCxnSpPr>
        <p:spPr>
          <a:xfrm>
            <a:off x="259038" y="2190750"/>
            <a:ext cx="11673924" cy="0"/>
          </a:xfrm>
          <a:prstGeom prst="line">
            <a:avLst/>
          </a:prstGeom>
          <a:ln w="1270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3E1EBDA-A853-F282-07DD-8C1BC480126E}"/>
              </a:ext>
            </a:extLst>
          </p:cNvPr>
          <p:cNvSpPr txBox="1"/>
          <p:nvPr/>
        </p:nvSpPr>
        <p:spPr>
          <a:xfrm>
            <a:off x="8271410" y="519145"/>
            <a:ext cx="1264126" cy="1985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1800"/>
              </a:spcAft>
            </a:pPr>
            <a:r>
              <a:rPr lang="en-US" sz="1200" spc="-16">
                <a:latin typeface="Funnel Sans Medium" pitchFamily="2" charset="0"/>
              </a:rPr>
              <a:t>Process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2CA437-99EF-86E3-80B6-797D4F1A0A95}"/>
              </a:ext>
            </a:extLst>
          </p:cNvPr>
          <p:cNvSpPr txBox="1"/>
          <p:nvPr/>
        </p:nvSpPr>
        <p:spPr>
          <a:xfrm>
            <a:off x="9026240" y="1022783"/>
            <a:ext cx="434634" cy="10304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Aft>
                <a:spcPts val="1800"/>
              </a:spcAft>
            </a:pPr>
            <a:r>
              <a:rPr lang="en-US" sz="1200" spc="-16">
                <a:solidFill>
                  <a:schemeClr val="bg1"/>
                </a:solidFill>
                <a:ea typeface="Inter 18pt Bold" panose="02000503000000020004" pitchFamily="2" charset="0"/>
              </a:rPr>
              <a:t>4</a:t>
            </a:r>
            <a:r>
              <a:rPr lang="en-US" sz="1200" spc="-16">
                <a:solidFill>
                  <a:schemeClr val="bg1"/>
                </a:solidFill>
                <a:latin typeface="Funnel Sans Medium" pitchFamily="2" charset="0"/>
                <a:ea typeface="Inter 18pt Bold" panose="02000503000000020004" pitchFamily="2" charset="0"/>
              </a:rPr>
              <a:t>0</a:t>
            </a:r>
          </a:p>
          <a:p>
            <a:pPr algn="ctr">
              <a:lnSpc>
                <a:spcPct val="90000"/>
              </a:lnSpc>
              <a:spcAft>
                <a:spcPts val="1800"/>
              </a:spcAft>
            </a:pPr>
            <a:r>
              <a:rPr lang="en-US" sz="1200" spc="-16">
                <a:latin typeface="Funnel Sans Medium" pitchFamily="2" charset="0"/>
                <a:ea typeface="Inter 18pt Bold" panose="02000503000000020004" pitchFamily="2" charset="0"/>
              </a:rPr>
              <a:t>12</a:t>
            </a:r>
          </a:p>
          <a:p>
            <a:pPr algn="ctr">
              <a:lnSpc>
                <a:spcPct val="90000"/>
              </a:lnSpc>
              <a:spcAft>
                <a:spcPts val="1800"/>
              </a:spcAft>
            </a:pPr>
            <a:r>
              <a:rPr lang="en-US" sz="1200" spc="-16">
                <a:latin typeface="Funnel Sans Medium" pitchFamily="2" charset="0"/>
                <a:ea typeface="Inter 18pt Bold" panose="02000503000000020004" pitchFamily="2" charset="0"/>
              </a:rPr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2281CD-8B36-C492-A522-269613952FE6}"/>
              </a:ext>
            </a:extLst>
          </p:cNvPr>
          <p:cNvSpPr txBox="1"/>
          <p:nvPr/>
        </p:nvSpPr>
        <p:spPr>
          <a:xfrm>
            <a:off x="252069" y="2317406"/>
            <a:ext cx="1786281" cy="2463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1800"/>
              </a:spcAft>
            </a:pPr>
            <a:r>
              <a:rPr lang="en-US" sz="1200" spc="-16">
                <a:latin typeface="Funnel Sans Medium" pitchFamily="2" charset="0"/>
              </a:rPr>
              <a:t>Target Selection Criteria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EEDDF936-F4D2-00EF-D50B-F6ABB4840C71}"/>
              </a:ext>
            </a:extLst>
          </p:cNvPr>
          <p:cNvSpPr txBox="1">
            <a:spLocks/>
          </p:cNvSpPr>
          <p:nvPr/>
        </p:nvSpPr>
        <p:spPr>
          <a:xfrm>
            <a:off x="618695" y="1088496"/>
            <a:ext cx="4028948" cy="158693"/>
          </a:xfrm>
          <a:prstGeom prst="rect">
            <a:avLst/>
          </a:prstGeom>
        </p:spPr>
        <p:txBody>
          <a:bodyPr lIns="0" rIns="0" anchor="ctr"/>
          <a:lstStyle>
            <a:lvl1pPr marL="118872" indent="-11887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7744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5760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2920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0080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  <a:latin typeface="Funnel Sans Medium" pitchFamily="2" charset="0"/>
              </a:rPr>
              <a:t>Target Selection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5B30E4-1DD4-7457-950E-9813E49C95FE}"/>
              </a:ext>
            </a:extLst>
          </p:cNvPr>
          <p:cNvSpPr/>
          <p:nvPr/>
        </p:nvSpPr>
        <p:spPr>
          <a:xfrm>
            <a:off x="257181" y="1030682"/>
            <a:ext cx="274320" cy="274320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1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Medium" pitchFamily="2" charset="0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09B2141-8707-A9A5-9E62-ED9FAC873C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fld id="{F41E5F93-45D3-472F-9EA1-BCB47A04FF6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41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C988-A4CC-559C-813B-29D17001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52059847-10E7-1833-6E3D-12143E894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695" y="1088496"/>
            <a:ext cx="4028948" cy="158693"/>
          </a:xfrm>
        </p:spPr>
        <p:txBody>
          <a:bodyPr/>
          <a:lstStyle/>
          <a:p>
            <a:r>
              <a:rPr lang="en-US" b="1"/>
              <a:t>Target Selection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E371C33-A308-E772-ABA8-A412A0FC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3" y="1389953"/>
            <a:ext cx="11305138" cy="797984"/>
          </a:xfrm>
        </p:spPr>
        <p:txBody>
          <a:bodyPr/>
          <a:lstStyle/>
          <a:p>
            <a:r>
              <a:rPr lang="en-US" dirty="0"/>
              <a:t>Our first 6 targets are highly differentiated and go beyond typical selection criteria and cluster by indication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6E7C1-2D4D-7FCF-BEAE-F909F2DE0F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7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3C0B13-3C11-D7F8-4CBE-94023F4D1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226398"/>
              </p:ext>
            </p:extLst>
          </p:nvPr>
        </p:nvGraphicFramePr>
        <p:xfrm>
          <a:off x="625749" y="2330701"/>
          <a:ext cx="10940502" cy="37277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34264494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461637697"/>
                    </a:ext>
                  </a:extLst>
                </a:gridCol>
                <a:gridCol w="1229057">
                  <a:extLst>
                    <a:ext uri="{9D8B030D-6E8A-4147-A177-3AD203B41FA5}">
                      <a16:colId xmlns:a16="http://schemas.microsoft.com/office/drawing/2014/main" val="2583904927"/>
                    </a:ext>
                  </a:extLst>
                </a:gridCol>
                <a:gridCol w="1229057">
                  <a:extLst>
                    <a:ext uri="{9D8B030D-6E8A-4147-A177-3AD203B41FA5}">
                      <a16:colId xmlns:a16="http://schemas.microsoft.com/office/drawing/2014/main" val="2141441035"/>
                    </a:ext>
                  </a:extLst>
                </a:gridCol>
                <a:gridCol w="1229057">
                  <a:extLst>
                    <a:ext uri="{9D8B030D-6E8A-4147-A177-3AD203B41FA5}">
                      <a16:colId xmlns:a16="http://schemas.microsoft.com/office/drawing/2014/main" val="1256926733"/>
                    </a:ext>
                  </a:extLst>
                </a:gridCol>
                <a:gridCol w="1229057">
                  <a:extLst>
                    <a:ext uri="{9D8B030D-6E8A-4147-A177-3AD203B41FA5}">
                      <a16:colId xmlns:a16="http://schemas.microsoft.com/office/drawing/2014/main" val="287675931"/>
                    </a:ext>
                  </a:extLst>
                </a:gridCol>
                <a:gridCol w="1229057">
                  <a:extLst>
                    <a:ext uri="{9D8B030D-6E8A-4147-A177-3AD203B41FA5}">
                      <a16:colId xmlns:a16="http://schemas.microsoft.com/office/drawing/2014/main" val="2914215654"/>
                    </a:ext>
                  </a:extLst>
                </a:gridCol>
                <a:gridCol w="1229057">
                  <a:extLst>
                    <a:ext uri="{9D8B030D-6E8A-4147-A177-3AD203B41FA5}">
                      <a16:colId xmlns:a16="http://schemas.microsoft.com/office/drawing/2014/main" val="2190699460"/>
                    </a:ext>
                  </a:extLst>
                </a:gridCol>
              </a:tblGrid>
              <a:tr h="647323">
                <a:tc>
                  <a:txBody>
                    <a:bodyPr/>
                    <a:lstStyle/>
                    <a:p>
                      <a:endParaRPr lang="en-US" sz="1600" b="0">
                        <a:latin typeface="Funnel Sans Medium" pitchFamily="2" charset="0"/>
                      </a:endParaRPr>
                    </a:p>
                  </a:txBody>
                  <a:tcPr marL="61608" marR="123215" marT="61608" marB="61608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0"/>
                    </a:p>
                  </a:txBody>
                  <a:tcPr marL="61608" marR="123215" marT="61608" marB="61608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Funnel Sans Medium" pitchFamily="2" charset="0"/>
                        </a:rPr>
                        <a:t>Target 1</a:t>
                      </a:r>
                    </a:p>
                    <a:p>
                      <a:pPr algn="ctr"/>
                      <a:r>
                        <a:rPr lang="en-US" sz="1300" b="0">
                          <a:latin typeface="+mn-lt"/>
                        </a:rPr>
                        <a:t>GU</a:t>
                      </a:r>
                      <a:endParaRPr lang="en-US" sz="1600" b="0">
                        <a:latin typeface="+mn-lt"/>
                      </a:endParaRP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Funnel Sans Medium" pitchFamily="2" charset="0"/>
                        </a:rPr>
                        <a:t>Target 2</a:t>
                      </a:r>
                    </a:p>
                    <a:p>
                      <a:pPr algn="ctr"/>
                      <a:r>
                        <a:rPr lang="en-US" sz="1300" b="0">
                          <a:latin typeface="+mn-lt"/>
                        </a:rPr>
                        <a:t>GU</a:t>
                      </a:r>
                      <a:endParaRPr lang="en-US" sz="1400" b="0">
                        <a:latin typeface="+mn-lt"/>
                      </a:endParaRP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Funnel Sans Medium" pitchFamily="2" charset="0"/>
                        </a:rPr>
                        <a:t>Target 3</a:t>
                      </a:r>
                    </a:p>
                    <a:p>
                      <a:pPr algn="ctr"/>
                      <a:r>
                        <a:rPr lang="en-US" sz="1300" b="0">
                          <a:latin typeface="+mn-lt"/>
                        </a:rPr>
                        <a:t>GI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Funnel Sans Medium" pitchFamily="2" charset="0"/>
                        </a:rPr>
                        <a:t>Target 4</a:t>
                      </a:r>
                    </a:p>
                    <a:p>
                      <a:pPr algn="ctr"/>
                      <a:r>
                        <a:rPr lang="en-US" sz="1300" b="0">
                          <a:latin typeface="+mn-lt"/>
                        </a:rPr>
                        <a:t>Multi/Lung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latin typeface="Funnel Sans Medium" pitchFamily="2" charset="0"/>
                        </a:rPr>
                        <a:t>Target 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atin typeface="+mn-lt"/>
                        </a:rPr>
                        <a:t>Multi/Lung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latin typeface="Funnel Sans Medium" pitchFamily="2" charset="0"/>
                        </a:rPr>
                        <a:t>Target 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/>
                        <a:t>Opportunistic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1710"/>
                  </a:ext>
                </a:extLst>
              </a:tr>
              <a:tr h="616076">
                <a:tc rowSpan="2">
                  <a:txBody>
                    <a:bodyPr/>
                    <a:lstStyle/>
                    <a:p>
                      <a:r>
                        <a:rPr lang="en-US" sz="1600" b="1">
                          <a:latin typeface="Funnel Sans Medium" pitchFamily="2" charset="0"/>
                        </a:rPr>
                        <a:t>Expression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/>
                        <a:t>No healthy tissue expression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759616"/>
                  </a:ext>
                </a:extLst>
              </a:tr>
              <a:tr h="616076">
                <a:tc vMerge="1">
                  <a:txBody>
                    <a:bodyPr/>
                    <a:lstStyle/>
                    <a:p>
                      <a:endParaRPr lang="en-US" sz="1200" b="0">
                        <a:latin typeface="Funnel Sans Medium" pitchFamily="2" charset="0"/>
                      </a:endParaRP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latin typeface="+mn-lt"/>
                        </a:rPr>
                        <a:t>Tumor-specific accessibility 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785566"/>
                  </a:ext>
                </a:extLst>
              </a:tr>
              <a:tr h="616076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Funnel Sans Medium" pitchFamily="2" charset="0"/>
                        </a:rPr>
                        <a:t>Biology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/>
                        <a:t>Favorable internalization, shedding characteristics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830281"/>
                  </a:ext>
                </a:extLst>
              </a:tr>
              <a:tr h="616076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Funnel Sans Medium" pitchFamily="2" charset="0"/>
                        </a:rPr>
                        <a:t>Feasibility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/>
                        <a:t>Ligandability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134834"/>
                  </a:ext>
                </a:extLst>
              </a:tr>
              <a:tr h="616076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Funnel Sans Medium" pitchFamily="2" charset="0"/>
                        </a:rPr>
                        <a:t>Landscape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/>
                        <a:t>No competing RLT programs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/>
                        <a:t>1 program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/>
                        <a:t>1 program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Aptos" panose="020B0004020202020204" pitchFamily="34" charset="0"/>
                        </a:rPr>
                        <a:t>✓</a:t>
                      </a:r>
                      <a:endParaRPr lang="en-US" sz="1600" b="0"/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 </a:t>
                      </a:r>
                      <a:r>
                        <a:rPr lang="en-US" sz="1100" b="0"/>
                        <a:t>1 program</a:t>
                      </a:r>
                    </a:p>
                  </a:txBody>
                  <a:tcPr marL="61608" marR="123215" marT="61608" marB="61608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68499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B474889B-F49E-3F0F-66AD-79977A74CA6E}"/>
              </a:ext>
            </a:extLst>
          </p:cNvPr>
          <p:cNvSpPr/>
          <p:nvPr/>
        </p:nvSpPr>
        <p:spPr>
          <a:xfrm>
            <a:off x="257181" y="1030682"/>
            <a:ext cx="274320" cy="274320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1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Medium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793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01151-D618-486D-2EA1-337A0D27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902759AE-1CD4-BD6F-416C-DC86EB81760A}"/>
              </a:ext>
            </a:extLst>
          </p:cNvPr>
          <p:cNvCxnSpPr>
            <a:cxnSpLocks/>
            <a:stCxn id="87" idx="2"/>
            <a:endCxn id="10" idx="0"/>
          </p:cNvCxnSpPr>
          <p:nvPr/>
        </p:nvCxnSpPr>
        <p:spPr>
          <a:xfrm rot="5400000">
            <a:off x="5470709" y="-160574"/>
            <a:ext cx="990321" cy="8772884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79C8EC0-3F95-24AB-4E35-C94461EB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0" spc="-24" dirty="0">
                <a:solidFill>
                  <a:srgbClr val="000000">
                    <a:alpha val="99000"/>
                  </a:srgbClr>
                </a:solidFill>
              </a:rPr>
              <a:t>Our discovery workflow emphasizes rapid entry to FIH</a:t>
            </a:r>
            <a:br>
              <a:rPr lang="en-US" dirty="0"/>
            </a:br>
            <a:endParaRPr lang="en-US" dirty="0"/>
          </a:p>
        </p:txBody>
      </p:sp>
      <p:sp>
        <p:nvSpPr>
          <p:cNvPr id="60" name="Stage_Target ID">
            <a:extLst>
              <a:ext uri="{FF2B5EF4-FFF2-40B4-BE49-F238E27FC236}">
                <a16:creationId xmlns:a16="http://schemas.microsoft.com/office/drawing/2014/main" id="{4BF88660-38DD-4A98-495D-FD802AC5D7A6}"/>
              </a:ext>
            </a:extLst>
          </p:cNvPr>
          <p:cNvSpPr/>
          <p:nvPr/>
        </p:nvSpPr>
        <p:spPr>
          <a:xfrm>
            <a:off x="247096" y="2192803"/>
            <a:ext cx="2824681" cy="640079"/>
          </a:xfrm>
          <a:prstGeom prst="homePlate">
            <a:avLst>
              <a:gd name="adj" fmla="val 20000"/>
            </a:avLst>
          </a:prstGeom>
          <a:solidFill>
            <a:schemeClr val="accent3">
              <a:lumMod val="40000"/>
              <a:lumOff val="60000"/>
            </a:schemeClr>
          </a:solidFill>
          <a:ln w="0">
            <a:noFill/>
          </a:ln>
        </p:spPr>
        <p:txBody>
          <a:bodyPr wrap="square" lIns="36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Target ID</a:t>
            </a:r>
          </a:p>
        </p:txBody>
      </p:sp>
      <p:sp>
        <p:nvSpPr>
          <p:cNvPr id="63" name="Stage_Hit2Lead">
            <a:extLst>
              <a:ext uri="{FF2B5EF4-FFF2-40B4-BE49-F238E27FC236}">
                <a16:creationId xmlns:a16="http://schemas.microsoft.com/office/drawing/2014/main" id="{5AA26487-4DE4-8B24-2C73-EA8604B9F25F}"/>
              </a:ext>
            </a:extLst>
          </p:cNvPr>
          <p:cNvSpPr/>
          <p:nvPr/>
        </p:nvSpPr>
        <p:spPr>
          <a:xfrm>
            <a:off x="3144721" y="2192802"/>
            <a:ext cx="2824681" cy="640079"/>
          </a:xfrm>
          <a:prstGeom prst="chevron">
            <a:avLst>
              <a:gd name="adj" fmla="val 25000"/>
            </a:avLst>
          </a:prstGeom>
          <a:solidFill>
            <a:schemeClr val="accent3">
              <a:lumMod val="60000"/>
              <a:lumOff val="40000"/>
            </a:schemeClr>
          </a:solidFill>
          <a:ln w="0">
            <a:noFill/>
          </a:ln>
        </p:spPr>
        <p:txBody>
          <a:bodyPr wrap="square" lIns="72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Hit ID</a:t>
            </a:r>
          </a:p>
        </p:txBody>
      </p:sp>
      <p:sp>
        <p:nvSpPr>
          <p:cNvPr id="7" name="Stage_Hit2Lead">
            <a:extLst>
              <a:ext uri="{FF2B5EF4-FFF2-40B4-BE49-F238E27FC236}">
                <a16:creationId xmlns:a16="http://schemas.microsoft.com/office/drawing/2014/main" id="{E3E79549-B60F-73B0-1B3C-1C639C7A6F8B}"/>
              </a:ext>
            </a:extLst>
          </p:cNvPr>
          <p:cNvSpPr/>
          <p:nvPr/>
        </p:nvSpPr>
        <p:spPr>
          <a:xfrm>
            <a:off x="6042346" y="2192802"/>
            <a:ext cx="2824681" cy="640079"/>
          </a:xfrm>
          <a:prstGeom prst="chevron">
            <a:avLst>
              <a:gd name="adj" fmla="val 25000"/>
            </a:avLst>
          </a:prstGeom>
          <a:solidFill>
            <a:schemeClr val="accent3"/>
          </a:solidFill>
          <a:ln w="0">
            <a:noFill/>
          </a:ln>
        </p:spPr>
        <p:txBody>
          <a:bodyPr wrap="square" lIns="72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     Hit to Lead (H2L)</a:t>
            </a:r>
          </a:p>
        </p:txBody>
      </p:sp>
      <p:sp>
        <p:nvSpPr>
          <p:cNvPr id="8" name="Stage_Hit2Lead">
            <a:extLst>
              <a:ext uri="{FF2B5EF4-FFF2-40B4-BE49-F238E27FC236}">
                <a16:creationId xmlns:a16="http://schemas.microsoft.com/office/drawing/2014/main" id="{95DC061F-8C32-EF06-2162-F3A83CD91F87}"/>
              </a:ext>
            </a:extLst>
          </p:cNvPr>
          <p:cNvSpPr/>
          <p:nvPr/>
        </p:nvSpPr>
        <p:spPr>
          <a:xfrm>
            <a:off x="8939971" y="2192802"/>
            <a:ext cx="2824681" cy="640079"/>
          </a:xfrm>
          <a:prstGeom prst="chevron">
            <a:avLst>
              <a:gd name="adj" fmla="val 25000"/>
            </a:avLst>
          </a:prstGeom>
          <a:solidFill>
            <a:schemeClr val="accent3">
              <a:lumMod val="75000"/>
            </a:schemeClr>
          </a:solidFill>
          <a:ln w="0">
            <a:noFill/>
          </a:ln>
        </p:spPr>
        <p:txBody>
          <a:bodyPr wrap="square" lIns="72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   Lead Op (LO)</a:t>
            </a:r>
          </a:p>
        </p:txBody>
      </p:sp>
      <p:sp>
        <p:nvSpPr>
          <p:cNvPr id="10" name="Stage_Hit2Lead">
            <a:extLst>
              <a:ext uri="{FF2B5EF4-FFF2-40B4-BE49-F238E27FC236}">
                <a16:creationId xmlns:a16="http://schemas.microsoft.com/office/drawing/2014/main" id="{29DFECD7-6F8C-AF58-FAEE-8DD6EF408EDD}"/>
              </a:ext>
            </a:extLst>
          </p:cNvPr>
          <p:cNvSpPr/>
          <p:nvPr/>
        </p:nvSpPr>
        <p:spPr>
          <a:xfrm>
            <a:off x="247096" y="4721029"/>
            <a:ext cx="2824681" cy="640079"/>
          </a:xfrm>
          <a:prstGeom prst="chevron">
            <a:avLst>
              <a:gd name="adj" fmla="val 25000"/>
            </a:avLst>
          </a:prstGeom>
          <a:solidFill>
            <a:schemeClr val="accent3">
              <a:lumMod val="50000"/>
            </a:schemeClr>
          </a:solidFill>
          <a:ln w="0">
            <a:noFill/>
          </a:ln>
        </p:spPr>
        <p:txBody>
          <a:bodyPr wrap="square" lIns="72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FIH Enabling</a:t>
            </a:r>
          </a:p>
        </p:txBody>
      </p:sp>
      <p:sp>
        <p:nvSpPr>
          <p:cNvPr id="11" name="Stage_Hit2Lead">
            <a:extLst>
              <a:ext uri="{FF2B5EF4-FFF2-40B4-BE49-F238E27FC236}">
                <a16:creationId xmlns:a16="http://schemas.microsoft.com/office/drawing/2014/main" id="{1AA7CABE-3806-9984-03F7-49BD1EAA48FA}"/>
              </a:ext>
            </a:extLst>
          </p:cNvPr>
          <p:cNvSpPr/>
          <p:nvPr/>
        </p:nvSpPr>
        <p:spPr>
          <a:xfrm>
            <a:off x="3140366" y="4721029"/>
            <a:ext cx="2824681" cy="640079"/>
          </a:xfrm>
          <a:prstGeom prst="chevron">
            <a:avLst>
              <a:gd name="adj" fmla="val 25000"/>
            </a:avLst>
          </a:prstGeom>
          <a:solidFill>
            <a:schemeClr val="accent1"/>
          </a:solidFill>
          <a:ln w="0">
            <a:noFill/>
          </a:ln>
        </p:spPr>
        <p:txBody>
          <a:bodyPr wrap="square" lIns="72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    FIH Imaging</a:t>
            </a:r>
          </a:p>
        </p:txBody>
      </p:sp>
      <p:sp>
        <p:nvSpPr>
          <p:cNvPr id="35" name="Stage_Hit2Lead">
            <a:extLst>
              <a:ext uri="{FF2B5EF4-FFF2-40B4-BE49-F238E27FC236}">
                <a16:creationId xmlns:a16="http://schemas.microsoft.com/office/drawing/2014/main" id="{2778D294-EE1A-F9E2-D6DA-F612C9B0A020}"/>
              </a:ext>
            </a:extLst>
          </p:cNvPr>
          <p:cNvSpPr/>
          <p:nvPr/>
        </p:nvSpPr>
        <p:spPr>
          <a:xfrm>
            <a:off x="6033636" y="4721029"/>
            <a:ext cx="2824681" cy="640079"/>
          </a:xfrm>
          <a:prstGeom prst="chevron">
            <a:avLst>
              <a:gd name="adj" fmla="val 25000"/>
            </a:avLst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txBody>
          <a:bodyPr wrap="square" lIns="72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   IND Enabling</a:t>
            </a:r>
          </a:p>
        </p:txBody>
      </p:sp>
      <p:sp>
        <p:nvSpPr>
          <p:cNvPr id="36" name="Stage_Hit2Lead">
            <a:extLst>
              <a:ext uri="{FF2B5EF4-FFF2-40B4-BE49-F238E27FC236}">
                <a16:creationId xmlns:a16="http://schemas.microsoft.com/office/drawing/2014/main" id="{6B43845C-9454-8E1A-16F9-46E41F595B5C}"/>
              </a:ext>
            </a:extLst>
          </p:cNvPr>
          <p:cNvSpPr/>
          <p:nvPr/>
        </p:nvSpPr>
        <p:spPr>
          <a:xfrm>
            <a:off x="8926905" y="4721029"/>
            <a:ext cx="2824681" cy="640079"/>
          </a:xfrm>
          <a:prstGeom prst="chevron">
            <a:avLst>
              <a:gd name="adj" fmla="val 25000"/>
            </a:avLst>
          </a:prstGeom>
          <a:solidFill>
            <a:schemeClr val="tx2"/>
          </a:solidFill>
          <a:ln w="0">
            <a:noFill/>
          </a:ln>
        </p:spPr>
        <p:txBody>
          <a:bodyPr wrap="square" lIns="72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Ph 1 / 2 +</a:t>
            </a:r>
          </a:p>
        </p:txBody>
      </p:sp>
      <p:sp>
        <p:nvSpPr>
          <p:cNvPr id="61" name="Ball_1">
            <a:extLst>
              <a:ext uri="{FF2B5EF4-FFF2-40B4-BE49-F238E27FC236}">
                <a16:creationId xmlns:a16="http://schemas.microsoft.com/office/drawing/2014/main" id="{32FFD240-4D1E-E82C-999E-A1FE89ECD372}"/>
              </a:ext>
            </a:extLst>
          </p:cNvPr>
          <p:cNvSpPr/>
          <p:nvPr/>
        </p:nvSpPr>
        <p:spPr>
          <a:xfrm>
            <a:off x="489802" y="2329961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1</a:t>
            </a:r>
          </a:p>
        </p:txBody>
      </p:sp>
      <p:sp>
        <p:nvSpPr>
          <p:cNvPr id="39" name="Ball_1">
            <a:extLst>
              <a:ext uri="{FF2B5EF4-FFF2-40B4-BE49-F238E27FC236}">
                <a16:creationId xmlns:a16="http://schemas.microsoft.com/office/drawing/2014/main" id="{14177AC6-AD3C-5CE9-D513-5EE5629E0CB4}"/>
              </a:ext>
            </a:extLst>
          </p:cNvPr>
          <p:cNvSpPr/>
          <p:nvPr/>
        </p:nvSpPr>
        <p:spPr>
          <a:xfrm>
            <a:off x="3402682" y="2329961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2</a:t>
            </a:r>
          </a:p>
        </p:txBody>
      </p:sp>
      <p:sp>
        <p:nvSpPr>
          <p:cNvPr id="40" name="Ball_1">
            <a:extLst>
              <a:ext uri="{FF2B5EF4-FFF2-40B4-BE49-F238E27FC236}">
                <a16:creationId xmlns:a16="http://schemas.microsoft.com/office/drawing/2014/main" id="{DB1E8E6C-FE26-0201-B602-BD7CCC8FA252}"/>
              </a:ext>
            </a:extLst>
          </p:cNvPr>
          <p:cNvSpPr/>
          <p:nvPr/>
        </p:nvSpPr>
        <p:spPr>
          <a:xfrm>
            <a:off x="6301078" y="2329961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3</a:t>
            </a:r>
          </a:p>
        </p:txBody>
      </p:sp>
      <p:sp>
        <p:nvSpPr>
          <p:cNvPr id="41" name="Ball_1">
            <a:extLst>
              <a:ext uri="{FF2B5EF4-FFF2-40B4-BE49-F238E27FC236}">
                <a16:creationId xmlns:a16="http://schemas.microsoft.com/office/drawing/2014/main" id="{4B648249-8688-B9A3-A6B1-237700F9E331}"/>
              </a:ext>
            </a:extLst>
          </p:cNvPr>
          <p:cNvSpPr/>
          <p:nvPr/>
        </p:nvSpPr>
        <p:spPr>
          <a:xfrm>
            <a:off x="9242240" y="2329961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4</a:t>
            </a:r>
          </a:p>
        </p:txBody>
      </p:sp>
      <p:sp>
        <p:nvSpPr>
          <p:cNvPr id="42" name="Ball_1">
            <a:extLst>
              <a:ext uri="{FF2B5EF4-FFF2-40B4-BE49-F238E27FC236}">
                <a16:creationId xmlns:a16="http://schemas.microsoft.com/office/drawing/2014/main" id="{623E7382-36A2-86C1-49F0-494C5040728C}"/>
              </a:ext>
            </a:extLst>
          </p:cNvPr>
          <p:cNvSpPr/>
          <p:nvPr/>
        </p:nvSpPr>
        <p:spPr>
          <a:xfrm>
            <a:off x="489802" y="484855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5</a:t>
            </a:r>
          </a:p>
        </p:txBody>
      </p:sp>
      <p:sp>
        <p:nvSpPr>
          <p:cNvPr id="43" name="Ball_1">
            <a:extLst>
              <a:ext uri="{FF2B5EF4-FFF2-40B4-BE49-F238E27FC236}">
                <a16:creationId xmlns:a16="http://schemas.microsoft.com/office/drawing/2014/main" id="{233EB269-9F44-8B9E-645D-F2B48E8B754B}"/>
              </a:ext>
            </a:extLst>
          </p:cNvPr>
          <p:cNvSpPr/>
          <p:nvPr/>
        </p:nvSpPr>
        <p:spPr>
          <a:xfrm>
            <a:off x="3402682" y="484855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6</a:t>
            </a:r>
          </a:p>
        </p:txBody>
      </p:sp>
      <p:sp>
        <p:nvSpPr>
          <p:cNvPr id="44" name="Ball_1">
            <a:extLst>
              <a:ext uri="{FF2B5EF4-FFF2-40B4-BE49-F238E27FC236}">
                <a16:creationId xmlns:a16="http://schemas.microsoft.com/office/drawing/2014/main" id="{B9AE702F-8CF5-7C5B-2529-8AE3087CCCF9}"/>
              </a:ext>
            </a:extLst>
          </p:cNvPr>
          <p:cNvSpPr/>
          <p:nvPr/>
        </p:nvSpPr>
        <p:spPr>
          <a:xfrm>
            <a:off x="6301078" y="484855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7</a:t>
            </a:r>
          </a:p>
        </p:txBody>
      </p:sp>
      <p:sp>
        <p:nvSpPr>
          <p:cNvPr id="45" name="Ball_1">
            <a:extLst>
              <a:ext uri="{FF2B5EF4-FFF2-40B4-BE49-F238E27FC236}">
                <a16:creationId xmlns:a16="http://schemas.microsoft.com/office/drawing/2014/main" id="{3B51ACAE-07A1-F8DB-17EB-D71A944C6E9E}"/>
              </a:ext>
            </a:extLst>
          </p:cNvPr>
          <p:cNvSpPr/>
          <p:nvPr/>
        </p:nvSpPr>
        <p:spPr>
          <a:xfrm>
            <a:off x="9242240" y="484855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Funnel Sans"/>
              </a:rPr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091DDD-0635-9DE8-F763-A426C3F61269}"/>
              </a:ext>
            </a:extLst>
          </p:cNvPr>
          <p:cNvSpPr txBox="1"/>
          <p:nvPr/>
        </p:nvSpPr>
        <p:spPr>
          <a:xfrm>
            <a:off x="369644" y="2944127"/>
            <a:ext cx="2579584" cy="786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Target diligence &amp; prioritization according to Sego’s bespoke RLT criteria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7DD10C-8961-DDE4-B24D-E6EE776E724E}"/>
              </a:ext>
            </a:extLst>
          </p:cNvPr>
          <p:cNvSpPr txBox="1"/>
          <p:nvPr/>
        </p:nvSpPr>
        <p:spPr>
          <a:xfrm>
            <a:off x="3267269" y="2944125"/>
            <a:ext cx="2579584" cy="786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High-throughput screening or  rationale design to identify initial peptide or small mol. binders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86279F8-0D89-6D1A-BF26-805EFCED092E}"/>
              </a:ext>
            </a:extLst>
          </p:cNvPr>
          <p:cNvSpPr txBox="1"/>
          <p:nvPr/>
        </p:nvSpPr>
        <p:spPr>
          <a:xfrm>
            <a:off x="6164894" y="2944127"/>
            <a:ext cx="2579584" cy="786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Optimization of initial ligands through in vitro assays and first addition of linker &amp; chelator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72A4158-A500-F703-54F5-66F6962BE48E}"/>
              </a:ext>
            </a:extLst>
          </p:cNvPr>
          <p:cNvSpPr txBox="1"/>
          <p:nvPr/>
        </p:nvSpPr>
        <p:spPr>
          <a:xfrm>
            <a:off x="9062519" y="2944127"/>
            <a:ext cx="2579584" cy="786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Ligand + linker + chelator molecules demonstrate favorable in vitro/vivo properties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8ADD8C2-12E6-EA19-447A-A658038DB4A7}"/>
              </a:ext>
            </a:extLst>
          </p:cNvPr>
          <p:cNvSpPr txBox="1"/>
          <p:nvPr/>
        </p:nvSpPr>
        <p:spPr>
          <a:xfrm>
            <a:off x="369644" y="5488629"/>
            <a:ext cx="2496104" cy="786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Characterization of PK and biodistribution in xenografts; establishing toxicology and dosimetry for FIH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D7BA85D-7D27-0CD4-79D4-D88C311C18CE}"/>
              </a:ext>
            </a:extLst>
          </p:cNvPr>
          <p:cNvSpPr txBox="1"/>
          <p:nvPr/>
        </p:nvSpPr>
        <p:spPr>
          <a:xfrm>
            <a:off x="3267269" y="5488627"/>
            <a:ext cx="2579584" cy="786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Analyze b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ehavior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 of lead candidates in humans, specifically target binding &amp; dosimetry (PK,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BioD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, MTD/DLT)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0192EEF-29BC-79AE-6F20-8FF7450B63AB}"/>
              </a:ext>
            </a:extLst>
          </p:cNvPr>
          <p:cNvSpPr txBox="1"/>
          <p:nvPr/>
        </p:nvSpPr>
        <p:spPr>
          <a:xfrm>
            <a:off x="6164894" y="5488629"/>
            <a:ext cx="2579584" cy="786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Full toxicology &amp; CMC campaigns on leading molecule in FIH </a:t>
            </a: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(initiates during FIH study)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3551B08-A11F-3C7B-73BC-12B6D00E5625}"/>
              </a:ext>
            </a:extLst>
          </p:cNvPr>
          <p:cNvSpPr txBox="1"/>
          <p:nvPr/>
        </p:nvSpPr>
        <p:spPr>
          <a:xfrm>
            <a:off x="9062519" y="5488629"/>
            <a:ext cx="2579584" cy="786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Clinical program to study efficacy &amp; safety of leading molecule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EE1D8AA-C4AC-7D1B-9704-3F168D370915}"/>
              </a:ext>
            </a:extLst>
          </p:cNvPr>
          <p:cNvSpPr txBox="1"/>
          <p:nvPr/>
        </p:nvSpPr>
        <p:spPr>
          <a:xfrm>
            <a:off x="3176120" y="1967377"/>
            <a:ext cx="2685774" cy="2429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10</a:t>
            </a:r>
            <a:r>
              <a:rPr kumimoji="0" 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10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+ molecules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80BC571-983C-625F-2AEE-81026D94A7EA}"/>
              </a:ext>
            </a:extLst>
          </p:cNvPr>
          <p:cNvSpPr txBox="1"/>
          <p:nvPr/>
        </p:nvSpPr>
        <p:spPr>
          <a:xfrm>
            <a:off x="6058864" y="1967377"/>
            <a:ext cx="2685774" cy="2429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1000s molecules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3A8E91-EABE-0848-667C-C34CB242FDA6}"/>
              </a:ext>
            </a:extLst>
          </p:cNvPr>
          <p:cNvSpPr txBox="1"/>
          <p:nvPr/>
        </p:nvSpPr>
        <p:spPr>
          <a:xfrm>
            <a:off x="289636" y="4500533"/>
            <a:ext cx="2685774" cy="2429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5-10 molecules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7C84F3E-7681-B570-7573-A6111351A141}"/>
              </a:ext>
            </a:extLst>
          </p:cNvPr>
          <p:cNvSpPr txBox="1"/>
          <p:nvPr/>
        </p:nvSpPr>
        <p:spPr>
          <a:xfrm>
            <a:off x="3176120" y="4473324"/>
            <a:ext cx="2685774" cy="2429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3-5 molecules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9AC52FC-1B2D-6506-4156-8B8C7A3FF8F5}"/>
              </a:ext>
            </a:extLst>
          </p:cNvPr>
          <p:cNvSpPr txBox="1"/>
          <p:nvPr/>
        </p:nvSpPr>
        <p:spPr>
          <a:xfrm>
            <a:off x="8956329" y="1975758"/>
            <a:ext cx="2685774" cy="2429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40-80 molecules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403FDA1-A70A-57DE-A77E-D14CC7E180CF}"/>
              </a:ext>
            </a:extLst>
          </p:cNvPr>
          <p:cNvSpPr txBox="1"/>
          <p:nvPr/>
        </p:nvSpPr>
        <p:spPr>
          <a:xfrm>
            <a:off x="8942345" y="4473324"/>
            <a:ext cx="2685774" cy="2429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1 molecule</a:t>
            </a:r>
          </a:p>
        </p:txBody>
      </p:sp>
      <p:sp>
        <p:nvSpPr>
          <p:cNvPr id="12" name="Subtitle 4">
            <a:extLst>
              <a:ext uri="{FF2B5EF4-FFF2-40B4-BE49-F238E27FC236}">
                <a16:creationId xmlns:a16="http://schemas.microsoft.com/office/drawing/2014/main" id="{59073F46-A2A3-529F-7412-5D29461AB65B}"/>
              </a:ext>
            </a:extLst>
          </p:cNvPr>
          <p:cNvSpPr txBox="1">
            <a:spLocks/>
          </p:cNvSpPr>
          <p:nvPr/>
        </p:nvSpPr>
        <p:spPr>
          <a:xfrm>
            <a:off x="934754" y="1088496"/>
            <a:ext cx="4028948" cy="158693"/>
          </a:xfrm>
          <a:prstGeom prst="rect">
            <a:avLst/>
          </a:prstGeom>
        </p:spPr>
        <p:txBody>
          <a:bodyPr lIns="0" rIns="0" anchor="ctr"/>
          <a:lstStyle>
            <a:lvl1pPr marL="118872" indent="-11887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7744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5760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2920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0080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  <a:latin typeface="Funnel Sans Medium" pitchFamily="2" charset="0"/>
              </a:rPr>
              <a:t>Candidate Selection &amp; Clinical Translation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4942DA9-6ADC-C244-4E9B-638A23560CA2}"/>
              </a:ext>
            </a:extLst>
          </p:cNvPr>
          <p:cNvSpPr/>
          <p:nvPr/>
        </p:nvSpPr>
        <p:spPr>
          <a:xfrm>
            <a:off x="257181" y="1030682"/>
            <a:ext cx="274320" cy="274320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Funnel Sans Medium" pitchFamily="2" charset="0"/>
              </a:rPr>
              <a:t>2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Medium" pitchFamily="2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D28435-2FF5-B702-5613-0E50324BCB0C}"/>
              </a:ext>
            </a:extLst>
          </p:cNvPr>
          <p:cNvSpPr/>
          <p:nvPr/>
        </p:nvSpPr>
        <p:spPr>
          <a:xfrm>
            <a:off x="581242" y="1030682"/>
            <a:ext cx="274320" cy="274320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Funnel Sans Medium" pitchFamily="2" charset="0"/>
              </a:rPr>
              <a:t>3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Medium" pitchFamily="2" charset="0"/>
              <a:ea typeface="+mn-ea"/>
              <a:cs typeface="+mn-cs"/>
            </a:endParaRPr>
          </a:p>
        </p:txBody>
      </p: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5EBF822E-4CCE-6152-4555-54322C3032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fld id="{F41E5F93-45D3-472F-9EA1-BCB47A04FF6B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1689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E720E-DD7F-47AA-D5FB-1D24EF40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2297D-DBDC-0E14-DAB2-FC85462FD5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 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2E818-C01A-5E40-D7BE-6292C3C1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1913B5E-B8F2-5481-6D5B-8204D705F718}"/>
              </a:ext>
            </a:extLst>
          </p:cNvPr>
          <p:cNvSpPr/>
          <p:nvPr/>
        </p:nvSpPr>
        <p:spPr>
          <a:xfrm>
            <a:off x="261111" y="1073888"/>
            <a:ext cx="1769708" cy="191386"/>
          </a:xfrm>
          <a:prstGeom prst="rect">
            <a:avLst/>
          </a:prstGeom>
          <a:solidFill>
            <a:srgbClr val="F6F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ubtitle 4">
            <a:extLst>
              <a:ext uri="{FF2B5EF4-FFF2-40B4-BE49-F238E27FC236}">
                <a16:creationId xmlns:a16="http://schemas.microsoft.com/office/drawing/2014/main" id="{2AB06A81-118E-0B86-85BE-CBE2EEFAA3DC}"/>
              </a:ext>
            </a:extLst>
          </p:cNvPr>
          <p:cNvSpPr txBox="1">
            <a:spLocks/>
          </p:cNvSpPr>
          <p:nvPr/>
        </p:nvSpPr>
        <p:spPr>
          <a:xfrm>
            <a:off x="618695" y="1088496"/>
            <a:ext cx="4028948" cy="158693"/>
          </a:xfrm>
          <a:prstGeom prst="rect">
            <a:avLst/>
          </a:prstGeom>
        </p:spPr>
        <p:txBody>
          <a:bodyPr lIns="0" rIns="0" anchor="ctr"/>
          <a:lstStyle>
            <a:lvl1pPr marL="118872" indent="-11887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7744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5760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02920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0080" indent="-1188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  <a:latin typeface="Funnel Sans Medium" pitchFamily="2" charset="0"/>
              </a:rPr>
              <a:t>Vertical Integration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7384FDB-8746-56A7-5D4A-206B7044C546}"/>
              </a:ext>
            </a:extLst>
          </p:cNvPr>
          <p:cNvSpPr/>
          <p:nvPr/>
        </p:nvSpPr>
        <p:spPr>
          <a:xfrm>
            <a:off x="257181" y="1030682"/>
            <a:ext cx="274320" cy="274320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Funnel Sans Medium" pitchFamily="2" charset="0"/>
              </a:rPr>
              <a:t>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Medium" pitchFamily="2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2978A3-160B-85C2-0F37-240416BC240C}"/>
              </a:ext>
            </a:extLst>
          </p:cNvPr>
          <p:cNvSpPr/>
          <p:nvPr/>
        </p:nvSpPr>
        <p:spPr>
          <a:xfrm>
            <a:off x="10724707" y="90761"/>
            <a:ext cx="1467293" cy="299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6E403AB9-3149-1B9C-B1B4-45BB0858A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fld id="{F41E5F93-45D3-472F-9EA1-BCB47A04FF6B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556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62C8E-88DF-6C4B-3E35-3BF276BF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ard 1 Title">
            <a:extLst>
              <a:ext uri="{FF2B5EF4-FFF2-40B4-BE49-F238E27FC236}">
                <a16:creationId xmlns:a16="http://schemas.microsoft.com/office/drawing/2014/main" id="{86C1C751-8889-44B1-3F06-CAB18674C605}"/>
              </a:ext>
            </a:extLst>
          </p:cNvPr>
          <p:cNvSpPr/>
          <p:nvPr/>
        </p:nvSpPr>
        <p:spPr>
          <a:xfrm>
            <a:off x="381000" y="3225800"/>
            <a:ext cx="34163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Funnel Sans"/>
              </a:rPr>
              <a:t>Cross-org operational efficiency</a:t>
            </a:r>
          </a:p>
        </p:txBody>
      </p:sp>
      <p:sp>
        <p:nvSpPr>
          <p:cNvPr id="63" name="Divider 1">
            <a:extLst>
              <a:ext uri="{FF2B5EF4-FFF2-40B4-BE49-F238E27FC236}">
                <a16:creationId xmlns:a16="http://schemas.microsoft.com/office/drawing/2014/main" id="{A5CABADB-5112-CE93-DEE0-4EBB532B3A84}"/>
              </a:ext>
            </a:extLst>
          </p:cNvPr>
          <p:cNvSpPr/>
          <p:nvPr/>
        </p:nvSpPr>
        <p:spPr>
          <a:xfrm>
            <a:off x="533400" y="3708400"/>
            <a:ext cx="31115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64" name="Card 1 Body">
            <a:extLst>
              <a:ext uri="{FF2B5EF4-FFF2-40B4-BE49-F238E27FC236}">
                <a16:creationId xmlns:a16="http://schemas.microsoft.com/office/drawing/2014/main" id="{870B4F3A-C07A-AA1B-C60B-413D2F3ACC06}"/>
              </a:ext>
            </a:extLst>
          </p:cNvPr>
          <p:cNvSpPr/>
          <p:nvPr/>
        </p:nvSpPr>
        <p:spPr>
          <a:xfrm>
            <a:off x="406400" y="3784600"/>
            <a:ext cx="3365500" cy="25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114300" indent="-114300" algn="l">
              <a:spcBef>
                <a:spcPts val="300"/>
              </a:spcBef>
              <a:spcAft>
                <a:spcPts val="200"/>
              </a:spcAft>
              <a:buFont typeface="Funnel Sans"/>
              <a:buChar char="▸"/>
            </a:pPr>
            <a:r>
              <a:rPr lang="en-US" sz="1000" b="1">
                <a:solidFill>
                  <a:srgbClr val="D5ED99"/>
                </a:solidFill>
                <a:latin typeface="Funnel Sans"/>
              </a:rPr>
              <a:t>Claude enterprise deployment</a:t>
            </a:r>
            <a:r>
              <a:rPr lang="en-US" sz="1000">
                <a:solidFill>
                  <a:srgbClr val="B1C8B0"/>
                </a:solidFill>
                <a:latin typeface="Funnel Sans"/>
              </a:rPr>
              <a:t> — across the organization</a:t>
            </a:r>
          </a:p>
          <a:p>
            <a:pPr marL="114300" indent="-114300" algn="l">
              <a:spcBef>
                <a:spcPts val="300"/>
              </a:spcBef>
              <a:spcAft>
                <a:spcPts val="200"/>
              </a:spcAft>
              <a:buFont typeface="Funnel Sans"/>
              <a:buChar char="▸"/>
            </a:pPr>
            <a:r>
              <a:rPr lang="en-US" sz="1000" b="1">
                <a:solidFill>
                  <a:srgbClr val="D5ED99"/>
                </a:solidFill>
                <a:latin typeface="Funnel Sans"/>
              </a:rPr>
              <a:t>SG&amp;A AI tools</a:t>
            </a:r>
            <a:r>
              <a:rPr lang="en-US" sz="1000">
                <a:solidFill>
                  <a:srgbClr val="B1C8B0"/>
                </a:solidFill>
                <a:latin typeface="Funnel Sans"/>
              </a:rPr>
              <a:t> — delivering headcount reduction vs plan</a:t>
            </a:r>
          </a:p>
          <a:p>
            <a:pPr marL="114300" indent="-114300" algn="l">
              <a:spcBef>
                <a:spcPts val="300"/>
              </a:spcBef>
              <a:spcAft>
                <a:spcPts val="200"/>
              </a:spcAft>
              <a:buFont typeface="Funnel Sans"/>
              <a:buChar char="▸"/>
            </a:pPr>
            <a:r>
              <a:rPr lang="en-US" sz="1000" b="1">
                <a:solidFill>
                  <a:srgbClr val="D5ED99"/>
                </a:solidFill>
                <a:latin typeface="Funnel Sans"/>
              </a:rPr>
              <a:t>Preclinical research apps</a:t>
            </a:r>
            <a:r>
              <a:rPr lang="en-US" sz="1000">
                <a:solidFill>
                  <a:srgbClr val="B1C8B0"/>
                </a:solidFill>
                <a:latin typeface="Funnel Sans"/>
              </a:rPr>
              <a:t> — high-impact suite under development</a:t>
            </a:r>
          </a:p>
          <a:p>
            <a:pPr marL="114300" indent="-114300" algn="l">
              <a:spcBef>
                <a:spcPts val="300"/>
              </a:spcBef>
              <a:spcAft>
                <a:spcPts val="200"/>
              </a:spcAft>
              <a:buFont typeface="Funnel Sans"/>
              <a:buChar char="▸"/>
            </a:pPr>
            <a:r>
              <a:rPr lang="en-US" sz="1000" b="1">
                <a:solidFill>
                  <a:srgbClr val="D5ED99"/>
                </a:solidFill>
                <a:latin typeface="Funnel Sans"/>
              </a:rPr>
              <a:t>Talent advantage</a:t>
            </a:r>
            <a:r>
              <a:rPr lang="en-US" sz="1000">
                <a:solidFill>
                  <a:srgbClr val="B1C8B0"/>
                </a:solidFill>
                <a:latin typeface="Funnel Sans"/>
              </a:rPr>
              <a:t> — SLC team are AI-native, multiplying LLM utility</a:t>
            </a:r>
          </a:p>
        </p:txBody>
      </p:sp>
      <p:sp>
        <p:nvSpPr>
          <p:cNvPr id="67" name="Card 2 Title">
            <a:extLst>
              <a:ext uri="{FF2B5EF4-FFF2-40B4-BE49-F238E27FC236}">
                <a16:creationId xmlns:a16="http://schemas.microsoft.com/office/drawing/2014/main" id="{6BC841BD-620F-2190-0349-7A5B475C55F4}"/>
              </a:ext>
            </a:extLst>
          </p:cNvPr>
          <p:cNvSpPr/>
          <p:nvPr/>
        </p:nvSpPr>
        <p:spPr>
          <a:xfrm>
            <a:off x="4229100" y="3225800"/>
            <a:ext cx="34163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Funnel Sans"/>
              </a:rPr>
              <a:t>Dosimetry &amp; clinical imaging</a:t>
            </a:r>
          </a:p>
        </p:txBody>
      </p:sp>
      <p:sp>
        <p:nvSpPr>
          <p:cNvPr id="68" name="Divider 2">
            <a:extLst>
              <a:ext uri="{FF2B5EF4-FFF2-40B4-BE49-F238E27FC236}">
                <a16:creationId xmlns:a16="http://schemas.microsoft.com/office/drawing/2014/main" id="{BBB7712C-5200-BD28-A81F-BE59E57C402D}"/>
              </a:ext>
            </a:extLst>
          </p:cNvPr>
          <p:cNvSpPr/>
          <p:nvPr/>
        </p:nvSpPr>
        <p:spPr>
          <a:xfrm>
            <a:off x="4381500" y="3708400"/>
            <a:ext cx="31115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/>
          </a:p>
        </p:txBody>
      </p:sp>
      <p:sp>
        <p:nvSpPr>
          <p:cNvPr id="69" name="Card 2 Body">
            <a:extLst>
              <a:ext uri="{FF2B5EF4-FFF2-40B4-BE49-F238E27FC236}">
                <a16:creationId xmlns:a16="http://schemas.microsoft.com/office/drawing/2014/main" id="{C0B2C8DD-F1A4-ED87-10C7-3D5C1E5E9012}"/>
              </a:ext>
            </a:extLst>
          </p:cNvPr>
          <p:cNvSpPr/>
          <p:nvPr/>
        </p:nvSpPr>
        <p:spPr>
          <a:xfrm>
            <a:off x="4254500" y="3784600"/>
            <a:ext cx="3365500" cy="25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114300" indent="-114300" algn="l">
              <a:spcBef>
                <a:spcPts val="300"/>
              </a:spcBef>
              <a:spcAft>
                <a:spcPts val="200"/>
              </a:spcAft>
              <a:buFont typeface="Funnel Sans"/>
              <a:buChar char="▸"/>
            </a:pPr>
            <a:r>
              <a:rPr lang="en-US" sz="1000" b="1">
                <a:solidFill>
                  <a:srgbClr val="D5ED99"/>
                </a:solidFill>
                <a:latin typeface="Funnel Sans"/>
              </a:rPr>
              <a:t>“In silico Phase 1”</a:t>
            </a:r>
            <a:r>
              <a:rPr lang="en-US" sz="1000">
                <a:solidFill>
                  <a:srgbClr val="D5ED99"/>
                </a:solidFill>
                <a:latin typeface="Funnel Sans"/>
              </a:rPr>
              <a:t> — proprietary dosimetry software — voxel-level time–activity curves</a:t>
            </a:r>
          </a:p>
          <a:p>
            <a:pPr marL="114300" indent="-114300" algn="l">
              <a:spcBef>
                <a:spcPts val="300"/>
              </a:spcBef>
              <a:spcAft>
                <a:spcPts val="200"/>
              </a:spcAft>
              <a:buFont typeface="Funnel Sans"/>
              <a:buChar char="▸"/>
            </a:pPr>
            <a:r>
              <a:rPr lang="en-US" sz="1000" b="1">
                <a:solidFill>
                  <a:srgbClr val="D5ED99"/>
                </a:solidFill>
                <a:latin typeface="Funnel Sans"/>
              </a:rPr>
              <a:t>Target retention analysis</a:t>
            </a:r>
            <a:r>
              <a:rPr lang="en-US" sz="1000">
                <a:solidFill>
                  <a:srgbClr val="D5ED99"/>
                </a:solidFill>
                <a:latin typeface="Funnel Sans"/>
              </a:rPr>
              <a:t> — quantifies organ-at-risk clearance, predicts DLTs</a:t>
            </a:r>
          </a:p>
          <a:p>
            <a:pPr marL="114300" indent="-114300" algn="l">
              <a:spcBef>
                <a:spcPts val="300"/>
              </a:spcBef>
              <a:spcAft>
                <a:spcPts val="200"/>
              </a:spcAft>
              <a:buFont typeface="Funnel Sans"/>
              <a:buChar char="▸"/>
            </a:pPr>
            <a:r>
              <a:rPr lang="en-US" sz="1000" b="1">
                <a:solidFill>
                  <a:srgbClr val="D5ED99"/>
                </a:solidFill>
                <a:latin typeface="Funnel Sans"/>
              </a:rPr>
              <a:t>Phase 1 dose justification</a:t>
            </a:r>
            <a:r>
              <a:rPr lang="en-US" sz="1000">
                <a:solidFill>
                  <a:srgbClr val="D5ED99"/>
                </a:solidFill>
                <a:latin typeface="Funnel Sans"/>
              </a:rPr>
              <a:t> — dose–response / dose–toxicity characterization</a:t>
            </a:r>
          </a:p>
          <a:p>
            <a:pPr marL="114300" indent="-114300" algn="l">
              <a:spcBef>
                <a:spcPts val="300"/>
              </a:spcBef>
              <a:spcAft>
                <a:spcPts val="200"/>
              </a:spcAft>
              <a:buFont typeface="Funnel Sans"/>
              <a:buChar char="▸"/>
            </a:pPr>
            <a:r>
              <a:rPr lang="en-US" sz="1000" b="1">
                <a:solidFill>
                  <a:srgbClr val="D5ED99"/>
                </a:solidFill>
                <a:latin typeface="Funnel Sans"/>
              </a:rPr>
              <a:t>FDA-aligned</a:t>
            </a:r>
            <a:r>
              <a:rPr lang="en-US" sz="1000">
                <a:solidFill>
                  <a:srgbClr val="D5ED99"/>
                </a:solidFill>
                <a:latin typeface="Funnel Sans"/>
              </a:rPr>
              <a:t> — per 2025 draft guidance on dosimetry-driven RLT</a:t>
            </a:r>
          </a:p>
        </p:txBody>
      </p:sp>
      <p:sp>
        <p:nvSpPr>
          <p:cNvPr id="72" name="Card 3 Title">
            <a:extLst>
              <a:ext uri="{FF2B5EF4-FFF2-40B4-BE49-F238E27FC236}">
                <a16:creationId xmlns:a16="http://schemas.microsoft.com/office/drawing/2014/main" id="{41B62F50-F4D4-A4B5-A52F-F610269F2781}"/>
              </a:ext>
            </a:extLst>
          </p:cNvPr>
          <p:cNvSpPr/>
          <p:nvPr/>
        </p:nvSpPr>
        <p:spPr>
          <a:xfrm>
            <a:off x="8077200" y="3225800"/>
            <a:ext cx="34163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US" sz="1200" b="1">
                <a:solidFill>
                  <a:srgbClr val="002924"/>
                </a:solidFill>
                <a:latin typeface="Funnel Sans"/>
              </a:rPr>
              <a:t>Discovery AI / ML</a:t>
            </a:r>
          </a:p>
        </p:txBody>
      </p:sp>
      <p:sp>
        <p:nvSpPr>
          <p:cNvPr id="73" name="Divider 3">
            <a:extLst>
              <a:ext uri="{FF2B5EF4-FFF2-40B4-BE49-F238E27FC236}">
                <a16:creationId xmlns:a16="http://schemas.microsoft.com/office/drawing/2014/main" id="{81B16CAD-C14E-C74B-C095-93715BD7602C}"/>
              </a:ext>
            </a:extLst>
          </p:cNvPr>
          <p:cNvSpPr/>
          <p:nvPr/>
        </p:nvSpPr>
        <p:spPr>
          <a:xfrm>
            <a:off x="8229600" y="3708400"/>
            <a:ext cx="3111500" cy="19050"/>
          </a:xfrm>
          <a:prstGeom prst="rect">
            <a:avLst/>
          </a:prstGeom>
          <a:solidFill>
            <a:srgbClr val="002924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4" name="Card 3 Body">
            <a:extLst>
              <a:ext uri="{FF2B5EF4-FFF2-40B4-BE49-F238E27FC236}">
                <a16:creationId xmlns:a16="http://schemas.microsoft.com/office/drawing/2014/main" id="{C82AF4D0-951C-061C-4C5A-3F0F1656B58D}"/>
              </a:ext>
            </a:extLst>
          </p:cNvPr>
          <p:cNvSpPr/>
          <p:nvPr/>
        </p:nvSpPr>
        <p:spPr>
          <a:xfrm>
            <a:off x="8102600" y="3784600"/>
            <a:ext cx="3365500" cy="25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000" b="1">
                <a:solidFill>
                  <a:srgbClr val="002924"/>
                </a:solidFill>
                <a:latin typeface="Funnel Sans"/>
              </a:rPr>
              <a:t>5+ AI/ML vendors evaluated</a:t>
            </a:r>
            <a:r>
              <a:rPr lang="en-US" sz="1000">
                <a:solidFill>
                  <a:srgbClr val="656670"/>
                </a:solidFill>
                <a:latin typeface="Funnel Sans"/>
              </a:rPr>
              <a:t> — for peptide discovery &amp; med chem</a:t>
            </a:r>
          </a:p>
          <a:p>
            <a:pPr marL="114300" indent="-114300" algn="l">
              <a:spcBef>
                <a:spcPts val="300"/>
              </a:spcBef>
              <a:spcAft>
                <a:spcPts val="200"/>
              </a:spcAft>
              <a:buFont typeface="Funnel Sans"/>
              <a:buChar char="▸"/>
            </a:pPr>
            <a:r>
              <a:rPr lang="en-US" sz="1000" b="1">
                <a:solidFill>
                  <a:srgbClr val="002924"/>
                </a:solidFill>
                <a:latin typeface="Funnel Sans"/>
              </a:rPr>
              <a:t>Current gap</a:t>
            </a:r>
            <a:r>
              <a:rPr lang="en-US" sz="1000">
                <a:solidFill>
                  <a:srgbClr val="656670"/>
                </a:solidFill>
                <a:latin typeface="Funnel Sans"/>
              </a:rPr>
              <a:t> — models cannot handle whole-molecule design for RLT</a:t>
            </a:r>
          </a:p>
          <a:p>
            <a:pPr marL="114300" indent="-114300" algn="l">
              <a:spcBef>
                <a:spcPts val="300"/>
              </a:spcBef>
              <a:spcAft>
                <a:spcPts val="200"/>
              </a:spcAft>
              <a:buFont typeface="Funnel Sans"/>
              <a:buChar char="▸"/>
            </a:pPr>
            <a:r>
              <a:rPr lang="en-US" sz="1000" b="1">
                <a:solidFill>
                  <a:srgbClr val="002924"/>
                </a:solidFill>
                <a:latin typeface="Funnel Sans"/>
              </a:rPr>
              <a:t>Periodic table limitation</a:t>
            </a:r>
            <a:r>
              <a:rPr lang="en-US" sz="1000">
                <a:solidFill>
                  <a:srgbClr val="656670"/>
                </a:solidFill>
                <a:latin typeface="Funnel Sans"/>
              </a:rPr>
              <a:t> — drug design models built for top 3 rows; RLT uses lanthanides &amp; actinides</a:t>
            </a:r>
          </a:p>
          <a:p>
            <a:pPr marL="114300" indent="-114300" algn="l">
              <a:spcBef>
                <a:spcPts val="300"/>
              </a:spcBef>
              <a:spcAft>
                <a:spcPts val="200"/>
              </a:spcAft>
              <a:buFont typeface="Funnel Sans"/>
              <a:buChar char="▸"/>
            </a:pPr>
            <a:r>
              <a:rPr lang="en-US" sz="1000" b="1">
                <a:solidFill>
                  <a:srgbClr val="002924"/>
                </a:solidFill>
                <a:latin typeface="Funnel Sans"/>
              </a:rPr>
              <a:t>Monitoring closely</a:t>
            </a:r>
            <a:r>
              <a:rPr lang="en-US" sz="1000">
                <a:solidFill>
                  <a:srgbClr val="656670"/>
                </a:solidFill>
                <a:latin typeface="Funnel Sans"/>
              </a:rPr>
              <a:t> — will deploy when models mature for radiopharmaceutical chemistry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A972B0-25A1-4170-AD39-C8E7A5219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1" y="1389953"/>
            <a:ext cx="11079989" cy="414463"/>
          </a:xfrm>
        </p:spPr>
        <p:txBody>
          <a:bodyPr/>
          <a:lstStyle/>
          <a:p>
            <a:r>
              <a:rPr lang="en-US" spc="-24">
                <a:solidFill>
                  <a:srgbClr val="000000"/>
                </a:solidFill>
              </a:rPr>
              <a:t>Deploying AI to accelerate our progress</a:t>
            </a: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6C755F-A352-85AB-CCE4-02F4F4DF6B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Differentiated Approach</a:t>
            </a:r>
          </a:p>
        </p:txBody>
      </p:sp>
      <p:sp>
        <p:nvSpPr>
          <p:cNvPr id="9" name="Card 1 Bg">
            <a:extLst>
              <a:ext uri="{FF2B5EF4-FFF2-40B4-BE49-F238E27FC236}">
                <a16:creationId xmlns:a16="http://schemas.microsoft.com/office/drawing/2014/main" id="{1F8FE622-9766-298C-323E-41E83DD712AF}"/>
              </a:ext>
            </a:extLst>
          </p:cNvPr>
          <p:cNvSpPr/>
          <p:nvPr/>
        </p:nvSpPr>
        <p:spPr>
          <a:xfrm>
            <a:off x="8143507" y="2476500"/>
            <a:ext cx="3657600" cy="3949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8">
            <a:extLst>
              <a:ext uri="{FF2B5EF4-FFF2-40B4-BE49-F238E27FC236}">
                <a16:creationId xmlns:a16="http://schemas.microsoft.com/office/drawing/2014/main" id="{7372A0BE-6F6D-B0ED-F539-D31E68AFCFB9}"/>
              </a:ext>
            </a:extLst>
          </p:cNvPr>
          <p:cNvSpPr/>
          <p:nvPr/>
        </p:nvSpPr>
        <p:spPr>
          <a:xfrm>
            <a:off x="8143507" y="2293895"/>
            <a:ext cx="4001709" cy="659174"/>
          </a:xfrm>
          <a:custGeom>
            <a:avLst/>
            <a:gdLst>
              <a:gd name="csX0" fmla="*/ 0 w 3518932"/>
              <a:gd name="csY0" fmla="*/ 76200 h 990600"/>
              <a:gd name="csX1" fmla="*/ 76200 w 3518932"/>
              <a:gd name="csY1" fmla="*/ 0 h 990600"/>
              <a:gd name="csX2" fmla="*/ 3169006 w 3518932"/>
              <a:gd name="csY2" fmla="*/ 0 h 990600"/>
              <a:gd name="csX3" fmla="*/ 3232528 w 3518932"/>
              <a:gd name="csY3" fmla="*/ 34112 h 990600"/>
              <a:gd name="csX4" fmla="*/ 3506257 w 3518932"/>
              <a:gd name="csY4" fmla="*/ 447244 h 990600"/>
              <a:gd name="csX5" fmla="*/ 3506753 w 3518932"/>
              <a:gd name="csY5" fmla="*/ 530650 h 990600"/>
              <a:gd name="csX6" fmla="*/ 3232433 w 3518932"/>
              <a:gd name="csY6" fmla="*/ 955719 h 990600"/>
              <a:gd name="csX7" fmla="*/ 3168415 w 3518932"/>
              <a:gd name="csY7" fmla="*/ 990600 h 990600"/>
              <a:gd name="csX8" fmla="*/ 76200 w 3518932"/>
              <a:gd name="csY8" fmla="*/ 990600 h 990600"/>
              <a:gd name="csX9" fmla="*/ 0 w 3518932"/>
              <a:gd name="csY9" fmla="*/ 914400 h 990600"/>
              <a:gd name="csX10" fmla="*/ 0 w 3518932"/>
              <a:gd name="csY10" fmla="*/ 76200 h 99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518932" h="990600">
                <a:moveTo>
                  <a:pt x="0" y="76200"/>
                </a:moveTo>
                <a:cubicBezTo>
                  <a:pt x="0" y="34116"/>
                  <a:pt x="34116" y="0"/>
                  <a:pt x="76200" y="0"/>
                </a:cubicBezTo>
                <a:lnTo>
                  <a:pt x="3169006" y="0"/>
                </a:lnTo>
                <a:cubicBezTo>
                  <a:pt x="3194561" y="0"/>
                  <a:pt x="3218412" y="12810"/>
                  <a:pt x="3232528" y="34112"/>
                </a:cubicBezTo>
                <a:lnTo>
                  <a:pt x="3506257" y="447244"/>
                </a:lnTo>
                <a:cubicBezTo>
                  <a:pt x="3522974" y="472478"/>
                  <a:pt x="3523174" y="505216"/>
                  <a:pt x="3506753" y="530650"/>
                </a:cubicBezTo>
                <a:lnTo>
                  <a:pt x="3232433" y="955719"/>
                </a:lnTo>
                <a:cubicBezTo>
                  <a:pt x="3218403" y="977465"/>
                  <a:pt x="3194295" y="990600"/>
                  <a:pt x="3168415" y="990600"/>
                </a:cubicBezTo>
                <a:lnTo>
                  <a:pt x="76200" y="990600"/>
                </a:lnTo>
                <a:cubicBezTo>
                  <a:pt x="34116" y="990600"/>
                  <a:pt x="0" y="956481"/>
                  <a:pt x="0" y="914400"/>
                </a:cubicBezTo>
                <a:lnTo>
                  <a:pt x="0" y="7620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 wrap="square" lIns="548640" tIns="0" rIns="0" bIns="0" rtlCol="0" anchor="ctr">
            <a:noAutofit/>
          </a:bodyPr>
          <a:lstStyle/>
          <a:p>
            <a:r>
              <a:rPr lang="en-US" sz="1600">
                <a:latin typeface="Funnel Sans Medium" pitchFamily="2" charset="0"/>
              </a:rPr>
              <a:t> Evaluating</a:t>
            </a:r>
          </a:p>
        </p:txBody>
      </p:sp>
      <p:sp>
        <p:nvSpPr>
          <p:cNvPr id="7" name="Card 1 Bg">
            <a:extLst>
              <a:ext uri="{FF2B5EF4-FFF2-40B4-BE49-F238E27FC236}">
                <a16:creationId xmlns:a16="http://schemas.microsoft.com/office/drawing/2014/main" id="{215F106E-AC56-5D4B-37AF-059EA4834BE9}"/>
              </a:ext>
            </a:extLst>
          </p:cNvPr>
          <p:cNvSpPr/>
          <p:nvPr/>
        </p:nvSpPr>
        <p:spPr>
          <a:xfrm>
            <a:off x="4186658" y="2476500"/>
            <a:ext cx="3657600" cy="3949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8">
            <a:extLst>
              <a:ext uri="{FF2B5EF4-FFF2-40B4-BE49-F238E27FC236}">
                <a16:creationId xmlns:a16="http://schemas.microsoft.com/office/drawing/2014/main" id="{99BC0278-D809-D61B-12BD-5C9C324ED21B}"/>
              </a:ext>
            </a:extLst>
          </p:cNvPr>
          <p:cNvSpPr/>
          <p:nvPr/>
        </p:nvSpPr>
        <p:spPr>
          <a:xfrm>
            <a:off x="4185449" y="2293895"/>
            <a:ext cx="4069553" cy="659174"/>
          </a:xfrm>
          <a:custGeom>
            <a:avLst/>
            <a:gdLst>
              <a:gd name="csX0" fmla="*/ 0 w 3518932"/>
              <a:gd name="csY0" fmla="*/ 76200 h 990600"/>
              <a:gd name="csX1" fmla="*/ 76200 w 3518932"/>
              <a:gd name="csY1" fmla="*/ 0 h 990600"/>
              <a:gd name="csX2" fmla="*/ 3169006 w 3518932"/>
              <a:gd name="csY2" fmla="*/ 0 h 990600"/>
              <a:gd name="csX3" fmla="*/ 3232528 w 3518932"/>
              <a:gd name="csY3" fmla="*/ 34112 h 990600"/>
              <a:gd name="csX4" fmla="*/ 3506257 w 3518932"/>
              <a:gd name="csY4" fmla="*/ 447244 h 990600"/>
              <a:gd name="csX5" fmla="*/ 3506753 w 3518932"/>
              <a:gd name="csY5" fmla="*/ 530650 h 990600"/>
              <a:gd name="csX6" fmla="*/ 3232433 w 3518932"/>
              <a:gd name="csY6" fmla="*/ 955719 h 990600"/>
              <a:gd name="csX7" fmla="*/ 3168415 w 3518932"/>
              <a:gd name="csY7" fmla="*/ 990600 h 990600"/>
              <a:gd name="csX8" fmla="*/ 76200 w 3518932"/>
              <a:gd name="csY8" fmla="*/ 990600 h 990600"/>
              <a:gd name="csX9" fmla="*/ 0 w 3518932"/>
              <a:gd name="csY9" fmla="*/ 914400 h 990600"/>
              <a:gd name="csX10" fmla="*/ 0 w 3518932"/>
              <a:gd name="csY10" fmla="*/ 76200 h 99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518932" h="990600">
                <a:moveTo>
                  <a:pt x="0" y="76200"/>
                </a:moveTo>
                <a:cubicBezTo>
                  <a:pt x="0" y="34116"/>
                  <a:pt x="34116" y="0"/>
                  <a:pt x="76200" y="0"/>
                </a:cubicBezTo>
                <a:lnTo>
                  <a:pt x="3169006" y="0"/>
                </a:lnTo>
                <a:cubicBezTo>
                  <a:pt x="3194561" y="0"/>
                  <a:pt x="3218412" y="12810"/>
                  <a:pt x="3232528" y="34112"/>
                </a:cubicBezTo>
                <a:lnTo>
                  <a:pt x="3506257" y="447244"/>
                </a:lnTo>
                <a:cubicBezTo>
                  <a:pt x="3522974" y="472478"/>
                  <a:pt x="3523174" y="505216"/>
                  <a:pt x="3506753" y="530650"/>
                </a:cubicBezTo>
                <a:lnTo>
                  <a:pt x="3232433" y="955719"/>
                </a:lnTo>
                <a:cubicBezTo>
                  <a:pt x="3218403" y="977465"/>
                  <a:pt x="3194295" y="990600"/>
                  <a:pt x="3168415" y="990600"/>
                </a:cubicBezTo>
                <a:lnTo>
                  <a:pt x="76200" y="990600"/>
                </a:lnTo>
                <a:cubicBezTo>
                  <a:pt x="34116" y="990600"/>
                  <a:pt x="0" y="956481"/>
                  <a:pt x="0" y="914400"/>
                </a:cubicBezTo>
                <a:lnTo>
                  <a:pt x="0" y="762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548640" tIns="0" rIns="0" bIns="0" rtlCol="0" anchor="ctr">
            <a:noAutofit/>
          </a:bodyPr>
          <a:lstStyle/>
          <a:p>
            <a:r>
              <a:rPr lang="en-US" sz="1600">
                <a:solidFill>
                  <a:schemeClr val="bg1"/>
                </a:solidFill>
                <a:latin typeface="Funnel Sans Medium" pitchFamily="2" charset="0"/>
              </a:rPr>
              <a:t> Building</a:t>
            </a:r>
          </a:p>
        </p:txBody>
      </p:sp>
      <p:sp>
        <p:nvSpPr>
          <p:cNvPr id="60" name="Card 1 Bg">
            <a:extLst>
              <a:ext uri="{FF2B5EF4-FFF2-40B4-BE49-F238E27FC236}">
                <a16:creationId xmlns:a16="http://schemas.microsoft.com/office/drawing/2014/main" id="{EF137833-E5B6-BB06-29A9-BF2F79E311C7}"/>
              </a:ext>
            </a:extLst>
          </p:cNvPr>
          <p:cNvSpPr/>
          <p:nvPr/>
        </p:nvSpPr>
        <p:spPr>
          <a:xfrm>
            <a:off x="279400" y="2476500"/>
            <a:ext cx="3657600" cy="3949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t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8">
            <a:extLst>
              <a:ext uri="{FF2B5EF4-FFF2-40B4-BE49-F238E27FC236}">
                <a16:creationId xmlns:a16="http://schemas.microsoft.com/office/drawing/2014/main" id="{EA4DD392-EB9C-79B6-1DE2-3D964520CFF6}"/>
              </a:ext>
            </a:extLst>
          </p:cNvPr>
          <p:cNvSpPr/>
          <p:nvPr/>
        </p:nvSpPr>
        <p:spPr>
          <a:xfrm>
            <a:off x="257178" y="2293895"/>
            <a:ext cx="4039766" cy="659174"/>
          </a:xfrm>
          <a:custGeom>
            <a:avLst/>
            <a:gdLst>
              <a:gd name="csX0" fmla="*/ 0 w 3518932"/>
              <a:gd name="csY0" fmla="*/ 76200 h 990600"/>
              <a:gd name="csX1" fmla="*/ 76200 w 3518932"/>
              <a:gd name="csY1" fmla="*/ 0 h 990600"/>
              <a:gd name="csX2" fmla="*/ 3169006 w 3518932"/>
              <a:gd name="csY2" fmla="*/ 0 h 990600"/>
              <a:gd name="csX3" fmla="*/ 3232528 w 3518932"/>
              <a:gd name="csY3" fmla="*/ 34112 h 990600"/>
              <a:gd name="csX4" fmla="*/ 3506257 w 3518932"/>
              <a:gd name="csY4" fmla="*/ 447244 h 990600"/>
              <a:gd name="csX5" fmla="*/ 3506753 w 3518932"/>
              <a:gd name="csY5" fmla="*/ 530650 h 990600"/>
              <a:gd name="csX6" fmla="*/ 3232433 w 3518932"/>
              <a:gd name="csY6" fmla="*/ 955719 h 990600"/>
              <a:gd name="csX7" fmla="*/ 3168415 w 3518932"/>
              <a:gd name="csY7" fmla="*/ 990600 h 990600"/>
              <a:gd name="csX8" fmla="*/ 76200 w 3518932"/>
              <a:gd name="csY8" fmla="*/ 990600 h 990600"/>
              <a:gd name="csX9" fmla="*/ 0 w 3518932"/>
              <a:gd name="csY9" fmla="*/ 914400 h 990600"/>
              <a:gd name="csX10" fmla="*/ 0 w 3518932"/>
              <a:gd name="csY10" fmla="*/ 76200 h 99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518932" h="990600">
                <a:moveTo>
                  <a:pt x="0" y="76200"/>
                </a:moveTo>
                <a:cubicBezTo>
                  <a:pt x="0" y="34116"/>
                  <a:pt x="34116" y="0"/>
                  <a:pt x="76200" y="0"/>
                </a:cubicBezTo>
                <a:lnTo>
                  <a:pt x="3169006" y="0"/>
                </a:lnTo>
                <a:cubicBezTo>
                  <a:pt x="3194561" y="0"/>
                  <a:pt x="3218412" y="12810"/>
                  <a:pt x="3232528" y="34112"/>
                </a:cubicBezTo>
                <a:lnTo>
                  <a:pt x="3506257" y="447244"/>
                </a:lnTo>
                <a:cubicBezTo>
                  <a:pt x="3522974" y="472478"/>
                  <a:pt x="3523174" y="505216"/>
                  <a:pt x="3506753" y="530650"/>
                </a:cubicBezTo>
                <a:lnTo>
                  <a:pt x="3232433" y="955719"/>
                </a:lnTo>
                <a:cubicBezTo>
                  <a:pt x="3218403" y="977465"/>
                  <a:pt x="3194295" y="990600"/>
                  <a:pt x="3168415" y="990600"/>
                </a:cubicBezTo>
                <a:lnTo>
                  <a:pt x="76200" y="990600"/>
                </a:lnTo>
                <a:cubicBezTo>
                  <a:pt x="34116" y="990600"/>
                  <a:pt x="0" y="956481"/>
                  <a:pt x="0" y="914400"/>
                </a:cubicBezTo>
                <a:lnTo>
                  <a:pt x="0" y="76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548640" tIns="0" rIns="0" bIns="0" rtlCol="0" anchor="ctr">
            <a:noAutofit/>
          </a:bodyPr>
          <a:lstStyle/>
          <a:p>
            <a:r>
              <a:rPr lang="en-US" sz="1600">
                <a:solidFill>
                  <a:schemeClr val="bg1"/>
                </a:solidFill>
                <a:latin typeface="Funnel Sans Medium" pitchFamily="2" charset="0"/>
              </a:rPr>
              <a:t>Deployed</a:t>
            </a:r>
          </a:p>
        </p:txBody>
      </p:sp>
      <p:sp>
        <p:nvSpPr>
          <p:cNvPr id="56" name="Phase Node 3">
            <a:extLst>
              <a:ext uri="{FF2B5EF4-FFF2-40B4-BE49-F238E27FC236}">
                <a16:creationId xmlns:a16="http://schemas.microsoft.com/office/drawing/2014/main" id="{73AF2886-8AA0-4A2F-4D8C-56AF4D42812F}"/>
              </a:ext>
            </a:extLst>
          </p:cNvPr>
          <p:cNvSpPr/>
          <p:nvPr/>
        </p:nvSpPr>
        <p:spPr>
          <a:xfrm>
            <a:off x="381000" y="2486322"/>
            <a:ext cx="320040" cy="320040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US" sz="1200" b="1">
                <a:latin typeface="Funnel Sans"/>
              </a:rPr>
              <a:t>1</a:t>
            </a:r>
          </a:p>
        </p:txBody>
      </p:sp>
      <p:sp>
        <p:nvSpPr>
          <p:cNvPr id="17" name="Phase Node 3">
            <a:extLst>
              <a:ext uri="{FF2B5EF4-FFF2-40B4-BE49-F238E27FC236}">
                <a16:creationId xmlns:a16="http://schemas.microsoft.com/office/drawing/2014/main" id="{45FA3EEF-B54E-FEF6-454F-BE48A28C9F7D}"/>
              </a:ext>
            </a:extLst>
          </p:cNvPr>
          <p:cNvSpPr/>
          <p:nvPr/>
        </p:nvSpPr>
        <p:spPr>
          <a:xfrm>
            <a:off x="4391025" y="2486322"/>
            <a:ext cx="320040" cy="320040"/>
          </a:xfrm>
          <a:prstGeom prst="ellipse">
            <a:avLst/>
          </a:prstGeom>
          <a:solidFill>
            <a:srgbClr val="D5ED99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US" sz="1200" b="1">
                <a:latin typeface="Funnel Sans"/>
              </a:rPr>
              <a:t>2</a:t>
            </a:r>
          </a:p>
        </p:txBody>
      </p:sp>
      <p:sp>
        <p:nvSpPr>
          <p:cNvPr id="18" name="Phase Node 3">
            <a:extLst>
              <a:ext uri="{FF2B5EF4-FFF2-40B4-BE49-F238E27FC236}">
                <a16:creationId xmlns:a16="http://schemas.microsoft.com/office/drawing/2014/main" id="{504D657E-7E00-FF4E-A1A6-DD5583D4EF0D}"/>
              </a:ext>
            </a:extLst>
          </p:cNvPr>
          <p:cNvSpPr/>
          <p:nvPr/>
        </p:nvSpPr>
        <p:spPr>
          <a:xfrm>
            <a:off x="8349083" y="2486322"/>
            <a:ext cx="320040" cy="3200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US" sz="1200" b="1">
                <a:latin typeface="Funnel Sans"/>
              </a:rPr>
              <a:t>3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2512CC-2551-A678-9DBE-B2FD72F6FE3F}"/>
              </a:ext>
            </a:extLst>
          </p:cNvPr>
          <p:cNvGrpSpPr/>
          <p:nvPr/>
        </p:nvGrpSpPr>
        <p:grpSpPr>
          <a:xfrm>
            <a:off x="518160" y="3105150"/>
            <a:ext cx="609600" cy="609600"/>
            <a:chOff x="2795003" y="317500"/>
            <a:chExt cx="609600" cy="609600"/>
          </a:xfrm>
        </p:grpSpPr>
        <p:sp>
          <p:nvSpPr>
            <p:cNvPr id="61" name="Icon Circle 1">
              <a:extLst>
                <a:ext uri="{FF2B5EF4-FFF2-40B4-BE49-F238E27FC236}">
                  <a16:creationId xmlns:a16="http://schemas.microsoft.com/office/drawing/2014/main" id="{AC939DA3-B48A-DC38-F983-AC560F486F7B}"/>
                </a:ext>
              </a:extLst>
            </p:cNvPr>
            <p:cNvSpPr/>
            <p:nvPr/>
          </p:nvSpPr>
          <p:spPr>
            <a:xfrm>
              <a:off x="2795003" y="317500"/>
              <a:ext cx="609600" cy="60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72000" tIns="36000" rIns="72000" bIns="36000" anchor="ctr"/>
            <a:lstStyle/>
            <a:p>
              <a:endParaRPr lang="en-US"/>
            </a:p>
          </p:txBody>
        </p:sp>
        <p:pic>
          <p:nvPicPr>
            <p:cNvPr id="77" name="Graphic 77" descr="AI operational efficiency icon">
              <a:extLst>
                <a:ext uri="{FF2B5EF4-FFF2-40B4-BE49-F238E27FC236}">
                  <a16:creationId xmlns:a16="http://schemas.microsoft.com/office/drawing/2014/main" id="{DA4AB84A-4DAA-ABB1-7E03-53CB285103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77553" y="393700"/>
              <a:ext cx="457200" cy="4572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CCFDD1E-6C2C-9A19-161E-C2D32154EE15}"/>
              </a:ext>
            </a:extLst>
          </p:cNvPr>
          <p:cNvGrpSpPr/>
          <p:nvPr/>
        </p:nvGrpSpPr>
        <p:grpSpPr>
          <a:xfrm>
            <a:off x="4404728" y="3105150"/>
            <a:ext cx="609600" cy="609600"/>
            <a:chOff x="6643103" y="317500"/>
            <a:chExt cx="609600" cy="609600"/>
          </a:xfrm>
        </p:grpSpPr>
        <p:sp>
          <p:nvSpPr>
            <p:cNvPr id="66" name="Icon Circle 2">
              <a:extLst>
                <a:ext uri="{FF2B5EF4-FFF2-40B4-BE49-F238E27FC236}">
                  <a16:creationId xmlns:a16="http://schemas.microsoft.com/office/drawing/2014/main" id="{3F4449F9-AE19-0D82-0854-0767D9C0DEC0}"/>
                </a:ext>
              </a:extLst>
            </p:cNvPr>
            <p:cNvSpPr/>
            <p:nvPr/>
          </p:nvSpPr>
          <p:spPr>
            <a:xfrm>
              <a:off x="6643103" y="317500"/>
              <a:ext cx="609600" cy="60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wrap="square" lIns="72000" tIns="36000" rIns="72000" bIns="36000" anchor="ctr"/>
            <a:lstStyle/>
            <a:p>
              <a:endParaRPr lang="en-US"/>
            </a:p>
          </p:txBody>
        </p:sp>
        <p:sp>
          <p:nvSpPr>
            <p:cNvPr id="20" name="Graphic 4">
              <a:extLst>
                <a:ext uri="{FF2B5EF4-FFF2-40B4-BE49-F238E27FC236}">
                  <a16:creationId xmlns:a16="http://schemas.microsoft.com/office/drawing/2014/main" id="{2A0F45E4-8C32-C2D5-4415-58E13D3BF281}"/>
                </a:ext>
              </a:extLst>
            </p:cNvPr>
            <p:cNvSpPr/>
            <p:nvPr/>
          </p:nvSpPr>
          <p:spPr>
            <a:xfrm>
              <a:off x="6752728" y="466908"/>
              <a:ext cx="371300" cy="310784"/>
            </a:xfrm>
            <a:custGeom>
              <a:avLst/>
              <a:gdLst>
                <a:gd name="csX0" fmla="*/ 281429 w 483898"/>
                <a:gd name="csY0" fmla="*/ 0 h 405030"/>
                <a:gd name="csX1" fmla="*/ 149637 w 483898"/>
                <a:gd name="csY1" fmla="*/ 48756 h 405030"/>
                <a:gd name="csX2" fmla="*/ 82038 w 483898"/>
                <a:gd name="csY2" fmla="*/ 167164 h 405030"/>
                <a:gd name="csX3" fmla="*/ 33719 w 483898"/>
                <a:gd name="csY3" fmla="*/ 167164 h 405030"/>
                <a:gd name="csX4" fmla="*/ 0 w 483898"/>
                <a:gd name="csY4" fmla="*/ 200883 h 405030"/>
                <a:gd name="csX5" fmla="*/ 0 w 483898"/>
                <a:gd name="csY5" fmla="*/ 288500 h 405030"/>
                <a:gd name="csX6" fmla="*/ 2987 w 483898"/>
                <a:gd name="csY6" fmla="*/ 291487 h 405030"/>
                <a:gd name="csX7" fmla="*/ 99485 w 483898"/>
                <a:gd name="csY7" fmla="*/ 291487 h 405030"/>
                <a:gd name="csX8" fmla="*/ 172021 w 483898"/>
                <a:gd name="csY8" fmla="*/ 372964 h 405030"/>
                <a:gd name="csX9" fmla="*/ 281422 w 483898"/>
                <a:gd name="csY9" fmla="*/ 405030 h 405030"/>
                <a:gd name="csX10" fmla="*/ 424882 w 483898"/>
                <a:gd name="csY10" fmla="*/ 345239 h 405030"/>
                <a:gd name="csX11" fmla="*/ 483895 w 483898"/>
                <a:gd name="csY11" fmla="*/ 201359 h 405030"/>
                <a:gd name="csX12" fmla="*/ 281422 w 483898"/>
                <a:gd name="csY12" fmla="*/ 21 h 405030"/>
                <a:gd name="csX13" fmla="*/ 281429 w 483898"/>
                <a:gd name="csY13" fmla="*/ 0 h 405030"/>
                <a:gd name="csX14" fmla="*/ 5982 w 483898"/>
                <a:gd name="csY14" fmla="*/ 200862 h 405030"/>
                <a:gd name="csX15" fmla="*/ 33726 w 483898"/>
                <a:gd name="csY15" fmla="*/ 173118 h 405030"/>
                <a:gd name="csX16" fmla="*/ 181150 w 483898"/>
                <a:gd name="csY16" fmla="*/ 173118 h 405030"/>
                <a:gd name="csX17" fmla="*/ 208894 w 483898"/>
                <a:gd name="csY17" fmla="*/ 200862 h 405030"/>
                <a:gd name="csX18" fmla="*/ 208894 w 483898"/>
                <a:gd name="csY18" fmla="*/ 231872 h 405030"/>
                <a:gd name="csX19" fmla="*/ 5984 w 483898"/>
                <a:gd name="csY19" fmla="*/ 231872 h 405030"/>
                <a:gd name="csX20" fmla="*/ 5982 w 483898"/>
                <a:gd name="csY20" fmla="*/ 200862 h 405030"/>
                <a:gd name="csX21" fmla="*/ 333751 w 483898"/>
                <a:gd name="csY21" fmla="*/ 231872 h 405030"/>
                <a:gd name="csX22" fmla="*/ 319610 w 483898"/>
                <a:gd name="csY22" fmla="*/ 231872 h 405030"/>
                <a:gd name="csX23" fmla="*/ 327138 w 483898"/>
                <a:gd name="csY23" fmla="*/ 206818 h 405030"/>
                <a:gd name="csX24" fmla="*/ 281391 w 483898"/>
                <a:gd name="csY24" fmla="*/ 161069 h 405030"/>
                <a:gd name="csX25" fmla="*/ 235681 w 483898"/>
                <a:gd name="csY25" fmla="*/ 206818 h 405030"/>
                <a:gd name="csX26" fmla="*/ 243210 w 483898"/>
                <a:gd name="csY26" fmla="*/ 231872 h 405030"/>
                <a:gd name="csX27" fmla="*/ 214848 w 483898"/>
                <a:gd name="csY27" fmla="*/ 231872 h 405030"/>
                <a:gd name="csX28" fmla="*/ 214848 w 483898"/>
                <a:gd name="csY28" fmla="*/ 200862 h 405030"/>
                <a:gd name="csX29" fmla="*/ 181129 w 483898"/>
                <a:gd name="csY29" fmla="*/ 167143 h 405030"/>
                <a:gd name="csX30" fmla="*/ 157030 w 483898"/>
                <a:gd name="csY30" fmla="*/ 167143 h 405030"/>
                <a:gd name="csX31" fmla="*/ 281412 w 483898"/>
                <a:gd name="csY31" fmla="*/ 73234 h 405030"/>
                <a:gd name="csX32" fmla="*/ 372929 w 483898"/>
                <a:gd name="csY32" fmla="*/ 111236 h 405030"/>
                <a:gd name="csX33" fmla="*/ 410631 w 483898"/>
                <a:gd name="csY33" fmla="*/ 202931 h 405030"/>
                <a:gd name="csX34" fmla="*/ 288578 w 483898"/>
                <a:gd name="csY34" fmla="*/ 331554 h 405030"/>
                <a:gd name="csX35" fmla="*/ 187620 w 483898"/>
                <a:gd name="csY35" fmla="*/ 291461 h 405030"/>
                <a:gd name="csX36" fmla="*/ 333705 w 483898"/>
                <a:gd name="csY36" fmla="*/ 291461 h 405030"/>
                <a:gd name="csX37" fmla="*/ 336692 w 483898"/>
                <a:gd name="csY37" fmla="*/ 288474 h 405030"/>
                <a:gd name="csX38" fmla="*/ 336692 w 483898"/>
                <a:gd name="csY38" fmla="*/ 234836 h 405030"/>
                <a:gd name="csX39" fmla="*/ 333705 w 483898"/>
                <a:gd name="csY39" fmla="*/ 231848 h 405030"/>
                <a:gd name="csX40" fmla="*/ 333751 w 483898"/>
                <a:gd name="csY40" fmla="*/ 231872 h 405030"/>
                <a:gd name="csX41" fmla="*/ 312281 w 483898"/>
                <a:gd name="csY41" fmla="*/ 231872 h 405030"/>
                <a:gd name="csX42" fmla="*/ 250561 w 483898"/>
                <a:gd name="csY42" fmla="*/ 231872 h 405030"/>
                <a:gd name="csX43" fmla="*/ 241678 w 483898"/>
                <a:gd name="csY43" fmla="*/ 206818 h 405030"/>
                <a:gd name="csX44" fmla="*/ 281412 w 483898"/>
                <a:gd name="csY44" fmla="*/ 167044 h 405030"/>
                <a:gd name="csX45" fmla="*/ 321186 w 483898"/>
                <a:gd name="csY45" fmla="*/ 206818 h 405030"/>
                <a:gd name="csX46" fmla="*/ 312303 w 483898"/>
                <a:gd name="csY46" fmla="*/ 231872 h 405030"/>
                <a:gd name="csX47" fmla="*/ 312281 w 483898"/>
                <a:gd name="csY47" fmla="*/ 231872 h 405030"/>
                <a:gd name="csX48" fmla="*/ 5982 w 483898"/>
                <a:gd name="csY48" fmla="*/ 237847 h 405030"/>
                <a:gd name="csX49" fmla="*/ 330763 w 483898"/>
                <a:gd name="csY49" fmla="*/ 237847 h 405030"/>
                <a:gd name="csX50" fmla="*/ 330763 w 483898"/>
                <a:gd name="csY50" fmla="*/ 285507 h 405030"/>
                <a:gd name="csX51" fmla="*/ 5982 w 483898"/>
                <a:gd name="csY51" fmla="*/ 285507 h 405030"/>
                <a:gd name="csX52" fmla="*/ 5982 w 483898"/>
                <a:gd name="csY52" fmla="*/ 237847 h 405030"/>
                <a:gd name="csX53" fmla="*/ 420649 w 483898"/>
                <a:gd name="csY53" fmla="*/ 340994 h 405030"/>
                <a:gd name="csX54" fmla="*/ 281408 w 483898"/>
                <a:gd name="csY54" fmla="*/ 399033 h 405030"/>
                <a:gd name="csX55" fmla="*/ 106141 w 483898"/>
                <a:gd name="csY55" fmla="*/ 291481 h 405030"/>
                <a:gd name="csX56" fmla="*/ 179613 w 483898"/>
                <a:gd name="csY56" fmla="*/ 291481 h 405030"/>
                <a:gd name="csX57" fmla="*/ 281408 w 483898"/>
                <a:gd name="csY57" fmla="*/ 337747 h 405030"/>
                <a:gd name="csX58" fmla="*/ 288937 w 483898"/>
                <a:gd name="csY58" fmla="*/ 337548 h 405030"/>
                <a:gd name="csX59" fmla="*/ 379319 w 483898"/>
                <a:gd name="csY59" fmla="*/ 295484 h 405030"/>
                <a:gd name="csX60" fmla="*/ 416623 w 483898"/>
                <a:gd name="csY60" fmla="*/ 202969 h 405030"/>
                <a:gd name="csX61" fmla="*/ 377168 w 483898"/>
                <a:gd name="csY61" fmla="*/ 107033 h 405030"/>
                <a:gd name="csX62" fmla="*/ 281411 w 483898"/>
                <a:gd name="csY62" fmla="*/ 67279 h 405030"/>
                <a:gd name="csX63" fmla="*/ 150876 w 483898"/>
                <a:gd name="csY63" fmla="*/ 167162 h 405030"/>
                <a:gd name="csX64" fmla="*/ 88061 w 483898"/>
                <a:gd name="csY64" fmla="*/ 167162 h 405030"/>
                <a:gd name="csX65" fmla="*/ 281411 w 483898"/>
                <a:gd name="csY65" fmla="*/ 5976 h 405030"/>
                <a:gd name="csX66" fmla="*/ 477910 w 483898"/>
                <a:gd name="csY66" fmla="*/ 201358 h 405030"/>
                <a:gd name="csX67" fmla="*/ 420652 w 483898"/>
                <a:gd name="csY67" fmla="*/ 340994 h 405030"/>
                <a:gd name="csX68" fmla="*/ 420649 w 483898"/>
                <a:gd name="csY68" fmla="*/ 340994 h 4050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</a:cxnLst>
              <a:rect l="l" t="t" r="r" b="b"/>
              <a:pathLst>
                <a:path w="483898" h="405030">
                  <a:moveTo>
                    <a:pt x="281429" y="0"/>
                  </a:moveTo>
                  <a:cubicBezTo>
                    <a:pt x="233089" y="0"/>
                    <a:pt x="186288" y="17307"/>
                    <a:pt x="149637" y="48756"/>
                  </a:cubicBezTo>
                  <a:cubicBezTo>
                    <a:pt x="114046" y="79288"/>
                    <a:pt x="90127" y="121276"/>
                    <a:pt x="82038" y="167164"/>
                  </a:cubicBezTo>
                  <a:lnTo>
                    <a:pt x="33719" y="167164"/>
                  </a:lnTo>
                  <a:cubicBezTo>
                    <a:pt x="15137" y="167164"/>
                    <a:pt x="0" y="182281"/>
                    <a:pt x="0" y="200883"/>
                  </a:cubicBezTo>
                  <a:lnTo>
                    <a:pt x="0" y="288500"/>
                  </a:lnTo>
                  <a:cubicBezTo>
                    <a:pt x="0" y="290153"/>
                    <a:pt x="1334" y="291487"/>
                    <a:pt x="2987" y="291487"/>
                  </a:cubicBezTo>
                  <a:lnTo>
                    <a:pt x="99485" y="291487"/>
                  </a:lnTo>
                  <a:cubicBezTo>
                    <a:pt x="115776" y="324728"/>
                    <a:pt x="140792" y="352871"/>
                    <a:pt x="172021" y="372964"/>
                  </a:cubicBezTo>
                  <a:cubicBezTo>
                    <a:pt x="204625" y="393936"/>
                    <a:pt x="242443" y="405030"/>
                    <a:pt x="281422" y="405030"/>
                  </a:cubicBezTo>
                  <a:cubicBezTo>
                    <a:pt x="335595" y="405030"/>
                    <a:pt x="386540" y="383798"/>
                    <a:pt x="424882" y="345239"/>
                  </a:cubicBezTo>
                  <a:cubicBezTo>
                    <a:pt x="463242" y="306661"/>
                    <a:pt x="484196" y="255575"/>
                    <a:pt x="483895" y="201359"/>
                  </a:cubicBezTo>
                  <a:cubicBezTo>
                    <a:pt x="483258" y="90344"/>
                    <a:pt x="392433" y="21"/>
                    <a:pt x="281422" y="21"/>
                  </a:cubicBezTo>
                  <a:lnTo>
                    <a:pt x="281429" y="0"/>
                  </a:lnTo>
                  <a:close/>
                  <a:moveTo>
                    <a:pt x="5982" y="200862"/>
                  </a:moveTo>
                  <a:cubicBezTo>
                    <a:pt x="5982" y="185566"/>
                    <a:pt x="18430" y="173118"/>
                    <a:pt x="33726" y="173118"/>
                  </a:cubicBezTo>
                  <a:lnTo>
                    <a:pt x="181150" y="173118"/>
                  </a:lnTo>
                  <a:cubicBezTo>
                    <a:pt x="196446" y="173118"/>
                    <a:pt x="208894" y="185566"/>
                    <a:pt x="208894" y="200862"/>
                  </a:cubicBezTo>
                  <a:lnTo>
                    <a:pt x="208894" y="231872"/>
                  </a:lnTo>
                  <a:lnTo>
                    <a:pt x="5984" y="231872"/>
                  </a:lnTo>
                  <a:lnTo>
                    <a:pt x="5982" y="200862"/>
                  </a:lnTo>
                  <a:close/>
                  <a:moveTo>
                    <a:pt x="333751" y="231872"/>
                  </a:moveTo>
                  <a:lnTo>
                    <a:pt x="319610" y="231872"/>
                  </a:lnTo>
                  <a:cubicBezTo>
                    <a:pt x="324469" y="224463"/>
                    <a:pt x="327138" y="215760"/>
                    <a:pt x="327138" y="206818"/>
                  </a:cubicBezTo>
                  <a:cubicBezTo>
                    <a:pt x="327138" y="181602"/>
                    <a:pt x="306624" y="161069"/>
                    <a:pt x="281391" y="161069"/>
                  </a:cubicBezTo>
                  <a:cubicBezTo>
                    <a:pt x="256157" y="161069"/>
                    <a:pt x="235681" y="181583"/>
                    <a:pt x="235681" y="206818"/>
                  </a:cubicBezTo>
                  <a:cubicBezTo>
                    <a:pt x="235681" y="215780"/>
                    <a:pt x="238350" y="224463"/>
                    <a:pt x="243210" y="231872"/>
                  </a:cubicBezTo>
                  <a:lnTo>
                    <a:pt x="214848" y="231872"/>
                  </a:lnTo>
                  <a:lnTo>
                    <a:pt x="214848" y="200862"/>
                  </a:lnTo>
                  <a:cubicBezTo>
                    <a:pt x="214848" y="182281"/>
                    <a:pt x="199731" y="167143"/>
                    <a:pt x="181129" y="167143"/>
                  </a:cubicBezTo>
                  <a:lnTo>
                    <a:pt x="157030" y="167143"/>
                  </a:lnTo>
                  <a:cubicBezTo>
                    <a:pt x="172744" y="111653"/>
                    <a:pt x="223334" y="73234"/>
                    <a:pt x="281412" y="73234"/>
                  </a:cubicBezTo>
                  <a:cubicBezTo>
                    <a:pt x="316008" y="73234"/>
                    <a:pt x="348510" y="86738"/>
                    <a:pt x="372929" y="111236"/>
                  </a:cubicBezTo>
                  <a:cubicBezTo>
                    <a:pt x="397367" y="135753"/>
                    <a:pt x="410751" y="168315"/>
                    <a:pt x="410631" y="202931"/>
                  </a:cubicBezTo>
                  <a:cubicBezTo>
                    <a:pt x="410412" y="271385"/>
                    <a:pt x="356794" y="327870"/>
                    <a:pt x="288578" y="331554"/>
                  </a:cubicBezTo>
                  <a:cubicBezTo>
                    <a:pt x="250198" y="333625"/>
                    <a:pt x="213771" y="319086"/>
                    <a:pt x="187620" y="291461"/>
                  </a:cubicBezTo>
                  <a:lnTo>
                    <a:pt x="333705" y="291461"/>
                  </a:lnTo>
                  <a:cubicBezTo>
                    <a:pt x="335358" y="291461"/>
                    <a:pt x="336692" y="290127"/>
                    <a:pt x="336692" y="288474"/>
                  </a:cubicBezTo>
                  <a:lnTo>
                    <a:pt x="336692" y="234836"/>
                  </a:lnTo>
                  <a:cubicBezTo>
                    <a:pt x="336692" y="233183"/>
                    <a:pt x="335358" y="231848"/>
                    <a:pt x="333705" y="231848"/>
                  </a:cubicBezTo>
                  <a:lnTo>
                    <a:pt x="333751" y="231872"/>
                  </a:lnTo>
                  <a:close/>
                  <a:moveTo>
                    <a:pt x="312281" y="231872"/>
                  </a:moveTo>
                  <a:lnTo>
                    <a:pt x="250561" y="231872"/>
                  </a:lnTo>
                  <a:cubicBezTo>
                    <a:pt x="244825" y="224802"/>
                    <a:pt x="241678" y="215959"/>
                    <a:pt x="241678" y="206818"/>
                  </a:cubicBezTo>
                  <a:cubicBezTo>
                    <a:pt x="241678" y="184889"/>
                    <a:pt x="259504" y="167044"/>
                    <a:pt x="281412" y="167044"/>
                  </a:cubicBezTo>
                  <a:cubicBezTo>
                    <a:pt x="303321" y="167044"/>
                    <a:pt x="321186" y="184889"/>
                    <a:pt x="321186" y="206818"/>
                  </a:cubicBezTo>
                  <a:cubicBezTo>
                    <a:pt x="321186" y="215959"/>
                    <a:pt x="318039" y="224802"/>
                    <a:pt x="312303" y="231872"/>
                  </a:cubicBezTo>
                  <a:lnTo>
                    <a:pt x="312281" y="231872"/>
                  </a:lnTo>
                  <a:close/>
                  <a:moveTo>
                    <a:pt x="5982" y="237847"/>
                  </a:moveTo>
                  <a:lnTo>
                    <a:pt x="330763" y="237847"/>
                  </a:lnTo>
                  <a:lnTo>
                    <a:pt x="330763" y="285507"/>
                  </a:lnTo>
                  <a:lnTo>
                    <a:pt x="5982" y="285507"/>
                  </a:lnTo>
                  <a:lnTo>
                    <a:pt x="5982" y="237847"/>
                  </a:lnTo>
                  <a:close/>
                  <a:moveTo>
                    <a:pt x="420649" y="340994"/>
                  </a:moveTo>
                  <a:cubicBezTo>
                    <a:pt x="383444" y="378417"/>
                    <a:pt x="333992" y="399033"/>
                    <a:pt x="281408" y="399033"/>
                  </a:cubicBezTo>
                  <a:cubicBezTo>
                    <a:pt x="207736" y="399033"/>
                    <a:pt x="139461" y="356969"/>
                    <a:pt x="106141" y="291481"/>
                  </a:cubicBezTo>
                  <a:lnTo>
                    <a:pt x="179613" y="291481"/>
                  </a:lnTo>
                  <a:cubicBezTo>
                    <a:pt x="205525" y="321137"/>
                    <a:pt x="242191" y="337747"/>
                    <a:pt x="281408" y="337747"/>
                  </a:cubicBezTo>
                  <a:cubicBezTo>
                    <a:pt x="283898" y="337747"/>
                    <a:pt x="286427" y="337687"/>
                    <a:pt x="288937" y="337548"/>
                  </a:cubicBezTo>
                  <a:cubicBezTo>
                    <a:pt x="323253" y="335696"/>
                    <a:pt x="355355" y="320758"/>
                    <a:pt x="379319" y="295484"/>
                  </a:cubicBezTo>
                  <a:cubicBezTo>
                    <a:pt x="403259" y="270230"/>
                    <a:pt x="416523" y="237368"/>
                    <a:pt x="416623" y="202969"/>
                  </a:cubicBezTo>
                  <a:cubicBezTo>
                    <a:pt x="416742" y="166740"/>
                    <a:pt x="402741" y="132684"/>
                    <a:pt x="377168" y="107033"/>
                  </a:cubicBezTo>
                  <a:cubicBezTo>
                    <a:pt x="351615" y="81400"/>
                    <a:pt x="317615" y="67279"/>
                    <a:pt x="281411" y="67279"/>
                  </a:cubicBezTo>
                  <a:cubicBezTo>
                    <a:pt x="220108" y="67279"/>
                    <a:pt x="166771" y="108248"/>
                    <a:pt x="150876" y="167162"/>
                  </a:cubicBezTo>
                  <a:lnTo>
                    <a:pt x="88061" y="167162"/>
                  </a:lnTo>
                  <a:cubicBezTo>
                    <a:pt x="105010" y="73555"/>
                    <a:pt x="185751" y="5976"/>
                    <a:pt x="281411" y="5976"/>
                  </a:cubicBezTo>
                  <a:cubicBezTo>
                    <a:pt x="389142" y="5976"/>
                    <a:pt x="477294" y="93627"/>
                    <a:pt x="477910" y="201358"/>
                  </a:cubicBezTo>
                  <a:cubicBezTo>
                    <a:pt x="478208" y="253976"/>
                    <a:pt x="457873" y="303552"/>
                    <a:pt x="420652" y="340994"/>
                  </a:cubicBezTo>
                  <a:lnTo>
                    <a:pt x="420649" y="340994"/>
                  </a:lnTo>
                  <a:close/>
                </a:path>
              </a:pathLst>
            </a:custGeom>
            <a:solidFill>
              <a:schemeClr val="bg1"/>
            </a:solidFill>
            <a:ln w="6555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68905E-CB4D-6E92-4706-BD626FB1D059}"/>
              </a:ext>
            </a:extLst>
          </p:cNvPr>
          <p:cNvGrpSpPr/>
          <p:nvPr/>
        </p:nvGrpSpPr>
        <p:grpSpPr>
          <a:xfrm>
            <a:off x="8351336" y="3105150"/>
            <a:ext cx="609600" cy="609600"/>
            <a:chOff x="8405311" y="373965"/>
            <a:chExt cx="609600" cy="609600"/>
          </a:xfrm>
        </p:grpSpPr>
        <p:sp>
          <p:nvSpPr>
            <p:cNvPr id="71" name="Icon Circle 3">
              <a:extLst>
                <a:ext uri="{FF2B5EF4-FFF2-40B4-BE49-F238E27FC236}">
                  <a16:creationId xmlns:a16="http://schemas.microsoft.com/office/drawing/2014/main" id="{F21697F7-FD3D-229B-26D6-4C2243102F5D}"/>
                </a:ext>
              </a:extLst>
            </p:cNvPr>
            <p:cNvSpPr/>
            <p:nvPr/>
          </p:nvSpPr>
          <p:spPr>
            <a:xfrm>
              <a:off x="8405311" y="373965"/>
              <a:ext cx="609600" cy="60960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wrap="square" lIns="72000" tIns="36000" rIns="72000" bIns="3600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78" name="Graphic 78" descr="Dosimetry and clinical imaging icon">
              <a:extLst>
                <a:ext uri="{FF2B5EF4-FFF2-40B4-BE49-F238E27FC236}">
                  <a16:creationId xmlns:a16="http://schemas.microsoft.com/office/drawing/2014/main" id="{7B170AA4-8BDD-27E4-86A9-76D2574FAB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71986" y="449889"/>
              <a:ext cx="457200" cy="457200"/>
            </a:xfrm>
            <a:prstGeom prst="rect">
              <a:avLst/>
            </a:prstGeom>
          </p:spPr>
        </p:pic>
      </p:grpSp>
      <p:sp>
        <p:nvSpPr>
          <p:cNvPr id="23" name="Card 1 Title">
            <a:extLst>
              <a:ext uri="{FF2B5EF4-FFF2-40B4-BE49-F238E27FC236}">
                <a16:creationId xmlns:a16="http://schemas.microsoft.com/office/drawing/2014/main" id="{A6D34D39-F32B-4B39-1942-5382DC4B4E01}"/>
              </a:ext>
            </a:extLst>
          </p:cNvPr>
          <p:cNvSpPr/>
          <p:nvPr/>
        </p:nvSpPr>
        <p:spPr>
          <a:xfrm>
            <a:off x="1174853" y="3181350"/>
            <a:ext cx="2982963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r>
              <a:rPr lang="en-US" sz="1500">
                <a:latin typeface="Funnel Sans"/>
              </a:rPr>
              <a:t>Enterprise Claude</a:t>
            </a:r>
          </a:p>
        </p:txBody>
      </p:sp>
      <p:sp>
        <p:nvSpPr>
          <p:cNvPr id="24" name="Card 2 Title">
            <a:extLst>
              <a:ext uri="{FF2B5EF4-FFF2-40B4-BE49-F238E27FC236}">
                <a16:creationId xmlns:a16="http://schemas.microsoft.com/office/drawing/2014/main" id="{A8678DA7-652B-02C1-DC9A-69FFA41CB77E}"/>
              </a:ext>
            </a:extLst>
          </p:cNvPr>
          <p:cNvSpPr/>
          <p:nvPr/>
        </p:nvSpPr>
        <p:spPr>
          <a:xfrm>
            <a:off x="5053514" y="3181350"/>
            <a:ext cx="34163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r>
              <a:rPr lang="en-US" sz="1500">
                <a:latin typeface="Funnel Sans"/>
              </a:rPr>
              <a:t>Dosimetry &amp; Safety</a:t>
            </a:r>
          </a:p>
        </p:txBody>
      </p:sp>
      <p:sp>
        <p:nvSpPr>
          <p:cNvPr id="25" name="Card 3 Title">
            <a:extLst>
              <a:ext uri="{FF2B5EF4-FFF2-40B4-BE49-F238E27FC236}">
                <a16:creationId xmlns:a16="http://schemas.microsoft.com/office/drawing/2014/main" id="{7052C7FD-9209-0D2B-8D8C-206C1CD03597}"/>
              </a:ext>
            </a:extLst>
          </p:cNvPr>
          <p:cNvSpPr/>
          <p:nvPr/>
        </p:nvSpPr>
        <p:spPr>
          <a:xfrm>
            <a:off x="9001022" y="3181350"/>
            <a:ext cx="3416300" cy="457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r>
              <a:rPr lang="en-US" sz="1500">
                <a:latin typeface="Funnel Sans"/>
              </a:rPr>
              <a:t>Chemistry &amp; Beyond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641A980-0B91-3DBA-AFB3-B8E806067E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E5F93-45D3-472F-9EA1-BCB47A04FF6B}" type="slidenum">
              <a:rPr kumimoji="0" lang="en-GB" sz="900" b="0" i="0" u="none" strike="noStrike" kern="1200" cap="none" spc="-39" normalizeH="0" baseline="0" noProof="0" smtClean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900" b="0" i="0" u="none" strike="noStrike" kern="1200" cap="none" spc="-39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6F8B79DB-41A2-B578-67F6-C2AC3E8A5E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108812" y="255984"/>
            <a:ext cx="871608" cy="1339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-39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6" name="CardText1">
            <a:extLst>
              <a:ext uri="{FF2B5EF4-FFF2-40B4-BE49-F238E27FC236}">
                <a16:creationId xmlns:a16="http://schemas.microsoft.com/office/drawing/2014/main" id="{CFCEE67E-C8CA-9B9D-E330-667A30923AF8}"/>
              </a:ext>
            </a:extLst>
          </p:cNvPr>
          <p:cNvSpPr>
            <a:spLocks noGrp="1"/>
          </p:cNvSpPr>
          <p:nvPr/>
        </p:nvSpPr>
        <p:spPr>
          <a:xfrm>
            <a:off x="406400" y="3959872"/>
            <a:ext cx="3517900" cy="2222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Claude enterprise deployment</a:t>
            </a:r>
            <a:r>
              <a:rPr lang="en-US" sz="1200" dirty="0">
                <a:solidFill>
                  <a:srgbClr val="656670"/>
                </a:solidFill>
              </a:rPr>
              <a:t> — across the organization</a:t>
            </a:r>
          </a:p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SG&amp;A AI tools</a:t>
            </a:r>
            <a:r>
              <a:rPr lang="en-US" sz="1200" dirty="0">
                <a:solidFill>
                  <a:srgbClr val="656670"/>
                </a:solidFill>
              </a:rPr>
              <a:t> — delivering headcount reduction vs. plan</a:t>
            </a:r>
          </a:p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Preclinical research apps</a:t>
            </a:r>
            <a:r>
              <a:rPr lang="en-US" sz="1200" dirty="0">
                <a:solidFill>
                  <a:srgbClr val="656670"/>
                </a:solidFill>
              </a:rPr>
              <a:t> — high-impact suite under development</a:t>
            </a:r>
          </a:p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Talent advantage</a:t>
            </a:r>
            <a:r>
              <a:rPr lang="en-US" sz="1200" dirty="0">
                <a:solidFill>
                  <a:srgbClr val="656670"/>
                </a:solidFill>
              </a:rPr>
              <a:t> — SLC team are AI-native, multiplying LLM utility</a:t>
            </a:r>
          </a:p>
        </p:txBody>
      </p:sp>
      <p:sp>
        <p:nvSpPr>
          <p:cNvPr id="8" name="CardText2">
            <a:extLst>
              <a:ext uri="{FF2B5EF4-FFF2-40B4-BE49-F238E27FC236}">
                <a16:creationId xmlns:a16="http://schemas.microsoft.com/office/drawing/2014/main" id="{29932A9E-C84F-2778-C8E3-BD7636E1D801}"/>
              </a:ext>
            </a:extLst>
          </p:cNvPr>
          <p:cNvSpPr>
            <a:spLocks noGrp="1"/>
          </p:cNvSpPr>
          <p:nvPr/>
        </p:nvSpPr>
        <p:spPr>
          <a:xfrm>
            <a:off x="4330700" y="3959872"/>
            <a:ext cx="3517900" cy="2222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“In silico Phase 1”</a:t>
            </a:r>
            <a:r>
              <a:rPr lang="en-US" sz="1200" dirty="0">
                <a:solidFill>
                  <a:srgbClr val="656670"/>
                </a:solidFill>
              </a:rPr>
              <a:t> — proprietary dosimetry software, voxel-level TACs</a:t>
            </a:r>
          </a:p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Target retention analysis</a:t>
            </a:r>
            <a:r>
              <a:rPr lang="en-US" sz="1200" dirty="0">
                <a:solidFill>
                  <a:srgbClr val="656670"/>
                </a:solidFill>
              </a:rPr>
              <a:t> — quantifies organ-at-risk clearance, predicts DLTs</a:t>
            </a:r>
          </a:p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Phase 1 dose justification</a:t>
            </a:r>
            <a:r>
              <a:rPr lang="en-US" sz="1200" dirty="0">
                <a:solidFill>
                  <a:srgbClr val="656670"/>
                </a:solidFill>
              </a:rPr>
              <a:t> — dose–response / dose–toxicity characterization</a:t>
            </a:r>
          </a:p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FDA-aligned</a:t>
            </a:r>
            <a:r>
              <a:rPr lang="en-US" sz="1200" dirty="0">
                <a:solidFill>
                  <a:srgbClr val="656670"/>
                </a:solidFill>
              </a:rPr>
              <a:t> — per 2025 draft guidance on dosimetry-driven RLT</a:t>
            </a:r>
          </a:p>
        </p:txBody>
      </p:sp>
      <p:sp>
        <p:nvSpPr>
          <p:cNvPr id="10" name="CardText3">
            <a:extLst>
              <a:ext uri="{FF2B5EF4-FFF2-40B4-BE49-F238E27FC236}">
                <a16:creationId xmlns:a16="http://schemas.microsoft.com/office/drawing/2014/main" id="{B21841F0-9508-D4FA-2B49-B92FAE496840}"/>
              </a:ext>
            </a:extLst>
          </p:cNvPr>
          <p:cNvSpPr>
            <a:spLocks noGrp="1"/>
          </p:cNvSpPr>
          <p:nvPr/>
        </p:nvSpPr>
        <p:spPr>
          <a:xfrm>
            <a:off x="8255000" y="3959872"/>
            <a:ext cx="3365500" cy="2222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6+ AI/ML vendors evaluated</a:t>
            </a:r>
            <a:r>
              <a:rPr lang="en-US" sz="1200" dirty="0">
                <a:solidFill>
                  <a:srgbClr val="656670"/>
                </a:solidFill>
              </a:rPr>
              <a:t> — for peptide discovery &amp; med chem</a:t>
            </a:r>
          </a:p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Current gap</a:t>
            </a:r>
            <a:r>
              <a:rPr lang="en-US" sz="1200" dirty="0">
                <a:solidFill>
                  <a:srgbClr val="656670"/>
                </a:solidFill>
              </a:rPr>
              <a:t> — models cannot handle whole-molecule design for RLT</a:t>
            </a:r>
          </a:p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Monitoring closely</a:t>
            </a:r>
            <a:r>
              <a:rPr lang="en-US" sz="1200" dirty="0">
                <a:solidFill>
                  <a:srgbClr val="656670"/>
                </a:solidFill>
              </a:rPr>
              <a:t> — will deploy when models mature for RLT chemistry</a:t>
            </a:r>
          </a:p>
          <a:p>
            <a:pPr marL="114300" indent="-114300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r>
              <a:rPr lang="en-US" sz="1200" b="1" dirty="0">
                <a:solidFill>
                  <a:srgbClr val="002924"/>
                </a:solidFill>
              </a:rPr>
              <a:t>More opportunities </a:t>
            </a:r>
            <a:r>
              <a:rPr lang="en-US" sz="1200" dirty="0">
                <a:solidFill>
                  <a:srgbClr val="656670"/>
                </a:solidFill>
              </a:rPr>
              <a:t>— monitor across Clinical/med writing, image analysis, R&amp;D and other core functions</a:t>
            </a:r>
          </a:p>
          <a:p>
            <a:pPr marL="114300" indent="-114300" algn="l">
              <a:spcBef>
                <a:spcPts val="500"/>
              </a:spcBef>
              <a:spcAft>
                <a:spcPts val="300"/>
              </a:spcAft>
              <a:buFont typeface="Funnel Sans"/>
              <a:buChar char="▸"/>
            </a:pPr>
            <a:endParaRPr lang="en-US" sz="1200" dirty="0">
              <a:solidFill>
                <a:srgbClr val="65667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265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40331-E839-2659-97A1-FF917F247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Table 126">
            <a:extLst>
              <a:ext uri="{FF2B5EF4-FFF2-40B4-BE49-F238E27FC236}">
                <a16:creationId xmlns:a16="http://schemas.microsoft.com/office/drawing/2014/main" id="{E3AAF27C-B78F-B78B-DF22-750D758DD81B}"/>
              </a:ext>
            </a:extLst>
          </p:cNvPr>
          <p:cNvGraphicFramePr>
            <a:graphicFrameLocks noGrp="1"/>
          </p:cNvGraphicFramePr>
          <p:nvPr/>
        </p:nvGraphicFramePr>
        <p:xfrm>
          <a:off x="312608" y="1947142"/>
          <a:ext cx="11601370" cy="4635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8276972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7279985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237832801"/>
                    </a:ext>
                  </a:extLst>
                </a:gridCol>
                <a:gridCol w="3011765">
                  <a:extLst>
                    <a:ext uri="{9D8B030D-6E8A-4147-A177-3AD203B41FA5}">
                      <a16:colId xmlns:a16="http://schemas.microsoft.com/office/drawing/2014/main" val="2394271676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1185223465"/>
                    </a:ext>
                  </a:extLst>
                </a:gridCol>
                <a:gridCol w="3011765">
                  <a:extLst>
                    <a:ext uri="{9D8B030D-6E8A-4147-A177-3AD203B41FA5}">
                      <a16:colId xmlns:a16="http://schemas.microsoft.com/office/drawing/2014/main" val="1771099264"/>
                    </a:ext>
                  </a:extLst>
                </a:gridCol>
              </a:tblGrid>
              <a:tr h="334327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Target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Indication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FIC/BIC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2026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2027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2028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374282"/>
                  </a:ext>
                </a:extLst>
              </a:tr>
              <a:tr h="58590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lt"/>
                        </a:rPr>
                        <a:t>Target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GU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BIC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39632"/>
                  </a:ext>
                </a:extLst>
              </a:tr>
              <a:tr h="58590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lt"/>
                        </a:rPr>
                        <a:t>Target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GU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BIC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439049"/>
                  </a:ext>
                </a:extLst>
              </a:tr>
              <a:tr h="58590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lt"/>
                        </a:rPr>
                        <a:t>Target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GI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FIC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018079"/>
                  </a:ext>
                </a:extLst>
              </a:tr>
              <a:tr h="58590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lt"/>
                        </a:rPr>
                        <a:t>Target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Lung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FIC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343494"/>
                  </a:ext>
                </a:extLst>
              </a:tr>
              <a:tr h="58590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lt"/>
                        </a:rPr>
                        <a:t>Target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Lung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FIC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64254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+mn-lt"/>
                        </a:rPr>
                        <a:t>Target 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Opportunistic </a:t>
                      </a:r>
                    </a:p>
                    <a:p>
                      <a:pPr algn="ctr"/>
                      <a:r>
                        <a:rPr lang="en-US" sz="1200">
                          <a:latin typeface="+mn-lt"/>
                        </a:rPr>
                        <a:t>BD or internal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08463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73495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236441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9AA1D327-B0B1-8737-6022-B21BC651D213}"/>
              </a:ext>
            </a:extLst>
          </p:cNvPr>
          <p:cNvSpPr/>
          <p:nvPr/>
        </p:nvSpPr>
        <p:spPr>
          <a:xfrm>
            <a:off x="10725426" y="0"/>
            <a:ext cx="1466574" cy="534504"/>
          </a:xfrm>
          <a:prstGeom prst="rect">
            <a:avLst/>
          </a:prstGeom>
          <a:solidFill>
            <a:srgbClr val="F6F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8E357DE9-D580-D829-2993-A3387A83D0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E5F93-45D3-472F-9EA1-BCB47A04FF6B}" type="slidenum">
              <a:rPr kumimoji="0" lang="en-GB" sz="900" b="0" i="0" u="none" strike="noStrike" kern="1200" cap="none" spc="-39" normalizeH="0" baseline="0" noProof="0" smtClean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900" b="0" i="0" u="none" strike="noStrike" kern="1200" cap="none" spc="-39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C25164-73A9-43B3-122D-80F775B5384C}"/>
              </a:ext>
            </a:extLst>
          </p:cNvPr>
          <p:cNvSpPr txBox="1"/>
          <p:nvPr/>
        </p:nvSpPr>
        <p:spPr>
          <a:xfrm>
            <a:off x="108155" y="6060579"/>
            <a:ext cx="2847975" cy="350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 b="1"/>
              <a:t>Value inflection points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7A0CAB-6A68-17C4-7AEC-C13AF0A1423B}"/>
              </a:ext>
            </a:extLst>
          </p:cNvPr>
          <p:cNvSpPr txBox="1"/>
          <p:nvPr/>
        </p:nvSpPr>
        <p:spPr>
          <a:xfrm>
            <a:off x="6147535" y="6099959"/>
            <a:ext cx="2554461" cy="350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50"/>
              <a:t>* Seed supports 2 programs advancing to FIH studies, exact programs TBD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71CA52-F807-7686-4857-DE52571B400A}"/>
              </a:ext>
            </a:extLst>
          </p:cNvPr>
          <p:cNvSpPr txBox="1">
            <a:spLocks/>
          </p:cNvSpPr>
          <p:nvPr/>
        </p:nvSpPr>
        <p:spPr>
          <a:xfrm>
            <a:off x="261111" y="1389953"/>
            <a:ext cx="11673713" cy="7741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6000"/>
              </a:lnSpc>
              <a:spcBef>
                <a:spcPts val="100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Seed will deliver transactable, clinical data on 2 programs, with more clinic-ready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FD5D9C-A5A3-D8AA-C12A-07725E4293CD}"/>
              </a:ext>
            </a:extLst>
          </p:cNvPr>
          <p:cNvSpPr txBox="1"/>
          <p:nvPr/>
        </p:nvSpPr>
        <p:spPr>
          <a:xfrm>
            <a:off x="259874" y="1071722"/>
            <a:ext cx="2095700" cy="2447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  <a:t>Our Future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CC0838-E3EF-BB50-1E9E-273EF2784FC7}"/>
              </a:ext>
            </a:extLst>
          </p:cNvPr>
          <p:cNvSpPr txBox="1"/>
          <p:nvPr/>
        </p:nvSpPr>
        <p:spPr>
          <a:xfrm>
            <a:off x="2824186" y="2602906"/>
            <a:ext cx="2121020" cy="350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/>
              <a:t>Work ongoing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51486-6C99-6CB7-86F6-D5E5665EFCF1}"/>
              </a:ext>
            </a:extLst>
          </p:cNvPr>
          <p:cNvSpPr txBox="1"/>
          <p:nvPr/>
        </p:nvSpPr>
        <p:spPr>
          <a:xfrm>
            <a:off x="2824186" y="3186647"/>
            <a:ext cx="2121020" cy="350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/>
              <a:t>Work ongoing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D3272-0C8B-3332-8750-2E04B6BD9995}"/>
              </a:ext>
            </a:extLst>
          </p:cNvPr>
          <p:cNvSpPr txBox="1"/>
          <p:nvPr/>
        </p:nvSpPr>
        <p:spPr>
          <a:xfrm>
            <a:off x="3198191" y="3776289"/>
            <a:ext cx="2121020" cy="350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/>
              <a:t>June screening start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3E0E97-C216-4201-5C8D-8A8423862841}"/>
              </a:ext>
            </a:extLst>
          </p:cNvPr>
          <p:cNvSpPr txBox="1"/>
          <p:nvPr/>
        </p:nvSpPr>
        <p:spPr>
          <a:xfrm>
            <a:off x="3198191" y="4374278"/>
            <a:ext cx="2121020" cy="350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/>
              <a:t>June screening start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8F4127-30AD-22E8-6A62-C304A2FB4313}"/>
              </a:ext>
            </a:extLst>
          </p:cNvPr>
          <p:cNvSpPr/>
          <p:nvPr/>
        </p:nvSpPr>
        <p:spPr>
          <a:xfrm>
            <a:off x="10387813" y="2281469"/>
            <a:ext cx="1527807" cy="4301135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5BF8703-A988-4B3D-60A8-1C6CD7EBFD5A}"/>
              </a:ext>
            </a:extLst>
          </p:cNvPr>
          <p:cNvSpPr/>
          <p:nvPr/>
        </p:nvSpPr>
        <p:spPr>
          <a:xfrm>
            <a:off x="10310101" y="6419461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r>
              <a:rPr lang="en-US" sz="1050">
                <a:solidFill>
                  <a:schemeClr val="tx1"/>
                </a:solidFill>
              </a:rPr>
              <a:t>Series A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047BF0D-4CA5-FFE4-3BED-5DF69200F782}"/>
              </a:ext>
            </a:extLst>
          </p:cNvPr>
          <p:cNvGrpSpPr/>
          <p:nvPr/>
        </p:nvGrpSpPr>
        <p:grpSpPr>
          <a:xfrm>
            <a:off x="3493739" y="2438062"/>
            <a:ext cx="8391561" cy="267515"/>
            <a:chOff x="2282473" y="2263155"/>
            <a:chExt cx="5901806" cy="228601"/>
          </a:xfrm>
        </p:grpSpPr>
        <p:sp>
          <p:nvSpPr>
            <p:cNvPr id="66" name="Arrow: Chevron 65">
              <a:extLst>
                <a:ext uri="{FF2B5EF4-FFF2-40B4-BE49-F238E27FC236}">
                  <a16:creationId xmlns:a16="http://schemas.microsoft.com/office/drawing/2014/main" id="{B9B17C1C-2963-777D-CA8F-6D70D0AB3C04}"/>
                </a:ext>
              </a:extLst>
            </p:cNvPr>
            <p:cNvSpPr/>
            <p:nvPr/>
          </p:nvSpPr>
          <p:spPr>
            <a:xfrm>
              <a:off x="2282473" y="2263156"/>
              <a:ext cx="707410" cy="2286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Hit ID</a:t>
              </a:r>
            </a:p>
          </p:txBody>
        </p:sp>
        <p:sp>
          <p:nvSpPr>
            <p:cNvPr id="67" name="Cold Op Bar 220">
              <a:extLst>
                <a:ext uri="{FF2B5EF4-FFF2-40B4-BE49-F238E27FC236}">
                  <a16:creationId xmlns:a16="http://schemas.microsoft.com/office/drawing/2014/main" id="{72F254F9-C288-F81C-F79A-1885727C86ED}"/>
                </a:ext>
              </a:extLst>
            </p:cNvPr>
            <p:cNvSpPr/>
            <p:nvPr/>
          </p:nvSpPr>
          <p:spPr>
            <a:xfrm>
              <a:off x="2952045" y="2263156"/>
              <a:ext cx="707410" cy="228600"/>
            </a:xfrm>
            <a:prstGeom prst="roundRect">
              <a:avLst/>
            </a:prstGeom>
            <a:solidFill>
              <a:schemeClr val="accent3"/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H2L</a:t>
              </a:r>
            </a:p>
          </p:txBody>
        </p:sp>
        <p:sp>
          <p:nvSpPr>
            <p:cNvPr id="71" name="Cold Op Bar 220">
              <a:extLst>
                <a:ext uri="{FF2B5EF4-FFF2-40B4-BE49-F238E27FC236}">
                  <a16:creationId xmlns:a16="http://schemas.microsoft.com/office/drawing/2014/main" id="{6A39BA7F-0C0C-9404-F5B8-98B3ACCF245A}"/>
                </a:ext>
              </a:extLst>
            </p:cNvPr>
            <p:cNvSpPr/>
            <p:nvPr/>
          </p:nvSpPr>
          <p:spPr>
            <a:xfrm>
              <a:off x="3621617" y="2263156"/>
              <a:ext cx="1479130" cy="2286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LO</a:t>
              </a:r>
            </a:p>
          </p:txBody>
        </p:sp>
        <p:sp>
          <p:nvSpPr>
            <p:cNvPr id="72" name="Cold Op Bar 220">
              <a:extLst>
                <a:ext uri="{FF2B5EF4-FFF2-40B4-BE49-F238E27FC236}">
                  <a16:creationId xmlns:a16="http://schemas.microsoft.com/office/drawing/2014/main" id="{5A7F61F9-A5E0-3062-825B-CFBBDEAD2FEA}"/>
                </a:ext>
              </a:extLst>
            </p:cNvPr>
            <p:cNvSpPr/>
            <p:nvPr/>
          </p:nvSpPr>
          <p:spPr>
            <a:xfrm>
              <a:off x="5049300" y="2263156"/>
              <a:ext cx="1093270" cy="228600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FIH </a:t>
              </a:r>
              <a:r>
                <a:rPr lang="en-US" sz="1200">
                  <a:solidFill>
                    <a:schemeClr val="bg1"/>
                  </a:solidFill>
                  <a:latin typeface="Funnel Sans"/>
                </a:rPr>
                <a:t>E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na</a:t>
              </a:r>
              <a:r>
                <a:rPr lang="en-US" sz="1200">
                  <a:solidFill>
                    <a:schemeClr val="bg1"/>
                  </a:solidFill>
                  <a:latin typeface="Funnel Sans"/>
                </a:rPr>
                <a:t>bling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68" name="Flowchart: Alternate Process 22">
              <a:extLst>
                <a:ext uri="{FF2B5EF4-FFF2-40B4-BE49-F238E27FC236}">
                  <a16:creationId xmlns:a16="http://schemas.microsoft.com/office/drawing/2014/main" id="{260EF5AA-BB9B-7B1A-5C57-69DD519337CA}"/>
                </a:ext>
              </a:extLst>
            </p:cNvPr>
            <p:cNvSpPr/>
            <p:nvPr/>
          </p:nvSpPr>
          <p:spPr>
            <a:xfrm>
              <a:off x="6063775" y="2263155"/>
              <a:ext cx="2120504" cy="228600"/>
            </a:xfrm>
            <a:prstGeom prst="roundRect">
              <a:avLst/>
            </a:prstGeom>
            <a:solidFill>
              <a:schemeClr val="accent1"/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-3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FIH Imaging</a:t>
              </a:r>
              <a:endParaRPr kumimoji="0" lang="en-US" sz="1200" b="0" i="0" u="none" strike="noStrike" kern="1200" cap="none" spc="-3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B23E1FC-041F-1E0F-A404-538E9803998F}"/>
              </a:ext>
            </a:extLst>
          </p:cNvPr>
          <p:cNvGrpSpPr/>
          <p:nvPr/>
        </p:nvGrpSpPr>
        <p:grpSpPr>
          <a:xfrm>
            <a:off x="3696754" y="4204642"/>
            <a:ext cx="8340028" cy="267515"/>
            <a:chOff x="3696754" y="4204642"/>
            <a:chExt cx="8340028" cy="267515"/>
          </a:xfrm>
        </p:grpSpPr>
        <p:sp>
          <p:nvSpPr>
            <p:cNvPr id="92" name="Arrow: Chevron 76">
              <a:extLst>
                <a:ext uri="{FF2B5EF4-FFF2-40B4-BE49-F238E27FC236}">
                  <a16:creationId xmlns:a16="http://schemas.microsoft.com/office/drawing/2014/main" id="{4FC9B368-F260-9ACF-1AAD-850927B68499}"/>
                </a:ext>
              </a:extLst>
            </p:cNvPr>
            <p:cNvSpPr/>
            <p:nvPr/>
          </p:nvSpPr>
          <p:spPr>
            <a:xfrm>
              <a:off x="3696754" y="4204643"/>
              <a:ext cx="1097280" cy="267514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Hit ID</a:t>
              </a:r>
            </a:p>
          </p:txBody>
        </p:sp>
        <p:sp>
          <p:nvSpPr>
            <p:cNvPr id="93" name="Cold Op Bar 220">
              <a:extLst>
                <a:ext uri="{FF2B5EF4-FFF2-40B4-BE49-F238E27FC236}">
                  <a16:creationId xmlns:a16="http://schemas.microsoft.com/office/drawing/2014/main" id="{9865141A-826C-6C66-0A56-11CEA8B66374}"/>
                </a:ext>
              </a:extLst>
            </p:cNvPr>
            <p:cNvSpPr/>
            <p:nvPr/>
          </p:nvSpPr>
          <p:spPr>
            <a:xfrm>
              <a:off x="4751994" y="4204643"/>
              <a:ext cx="1554480" cy="267514"/>
            </a:xfrm>
            <a:prstGeom prst="roundRect">
              <a:avLst/>
            </a:prstGeom>
            <a:solidFill>
              <a:schemeClr val="accent3"/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H2L</a:t>
              </a:r>
            </a:p>
          </p:txBody>
        </p:sp>
        <p:sp>
          <p:nvSpPr>
            <p:cNvPr id="94" name="Cold Op Bar 220">
              <a:extLst>
                <a:ext uri="{FF2B5EF4-FFF2-40B4-BE49-F238E27FC236}">
                  <a16:creationId xmlns:a16="http://schemas.microsoft.com/office/drawing/2014/main" id="{F8048D86-1F1A-17E9-F15F-899201379FE7}"/>
                </a:ext>
              </a:extLst>
            </p:cNvPr>
            <p:cNvSpPr/>
            <p:nvPr/>
          </p:nvSpPr>
          <p:spPr>
            <a:xfrm>
              <a:off x="6246747" y="4204643"/>
              <a:ext cx="2743200" cy="26751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LO</a:t>
              </a:r>
            </a:p>
          </p:txBody>
        </p:sp>
        <p:sp>
          <p:nvSpPr>
            <p:cNvPr id="95" name="Cold Op Bar 220">
              <a:extLst>
                <a:ext uri="{FF2B5EF4-FFF2-40B4-BE49-F238E27FC236}">
                  <a16:creationId xmlns:a16="http://schemas.microsoft.com/office/drawing/2014/main" id="{1E6E191B-1C42-50BD-A0F9-E1E03542A09B}"/>
                </a:ext>
              </a:extLst>
            </p:cNvPr>
            <p:cNvSpPr/>
            <p:nvPr/>
          </p:nvSpPr>
          <p:spPr>
            <a:xfrm>
              <a:off x="8902534" y="4204643"/>
              <a:ext cx="1554480" cy="267514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sz="1200">
                  <a:solidFill>
                    <a:schemeClr val="bg1"/>
                  </a:solidFill>
                </a:rPr>
                <a:t>FIH Enabling</a:t>
              </a: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235E7619-8085-ABC1-0A53-3E0DF606A922}"/>
                </a:ext>
              </a:extLst>
            </p:cNvPr>
            <p:cNvGrpSpPr/>
            <p:nvPr/>
          </p:nvGrpSpPr>
          <p:grpSpPr>
            <a:xfrm>
              <a:off x="10349912" y="4204642"/>
              <a:ext cx="1686870" cy="267514"/>
              <a:chOff x="9933574" y="3445957"/>
              <a:chExt cx="1330570" cy="267514"/>
            </a:xfrm>
          </p:grpSpPr>
          <p:sp>
            <p:nvSpPr>
              <p:cNvPr id="97" name="Flowchart: Alternate Process 22">
                <a:extLst>
                  <a:ext uri="{FF2B5EF4-FFF2-40B4-BE49-F238E27FC236}">
                    <a16:creationId xmlns:a16="http://schemas.microsoft.com/office/drawing/2014/main" id="{9FBB8852-E558-3124-24CE-12AA7DC46E46}"/>
                  </a:ext>
                </a:extLst>
              </p:cNvPr>
              <p:cNvSpPr/>
              <p:nvPr/>
            </p:nvSpPr>
            <p:spPr>
              <a:xfrm>
                <a:off x="9933574" y="3445957"/>
                <a:ext cx="1081892" cy="267514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6348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strike="noStrike" kern="1200" cap="none" spc="-3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Funnel Sans"/>
                    <a:ea typeface="+mn-ea"/>
                    <a:cs typeface="+mn-cs"/>
                  </a:rPr>
                  <a:t>FIH Imaging</a:t>
                </a:r>
                <a:endParaRPr kumimoji="0" lang="en-US" sz="1200" b="0" i="0" strike="noStrike" kern="1200" cap="none" spc="-3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endParaRPr>
              </a:p>
            </p:txBody>
          </p:sp>
          <p:sp>
            <p:nvSpPr>
              <p:cNvPr id="98" name="Flowchart: Alternate Process 22">
                <a:extLst>
                  <a:ext uri="{FF2B5EF4-FFF2-40B4-BE49-F238E27FC236}">
                    <a16:creationId xmlns:a16="http://schemas.microsoft.com/office/drawing/2014/main" id="{F3115B7A-035F-BF44-0C39-568C9F8B721D}"/>
                  </a:ext>
                </a:extLst>
              </p:cNvPr>
              <p:cNvSpPr/>
              <p:nvPr/>
            </p:nvSpPr>
            <p:spPr>
              <a:xfrm>
                <a:off x="10857526" y="3445957"/>
                <a:ext cx="406618" cy="267514"/>
              </a:xfrm>
              <a:prstGeom prst="homePlat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6348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strike="noStrike" kern="1200" cap="none" spc="-3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57D9D99-8189-EA81-D301-FD3999F7FF61}"/>
              </a:ext>
            </a:extLst>
          </p:cNvPr>
          <p:cNvGrpSpPr/>
          <p:nvPr/>
        </p:nvGrpSpPr>
        <p:grpSpPr>
          <a:xfrm>
            <a:off x="3888649" y="4793502"/>
            <a:ext cx="8148121" cy="267515"/>
            <a:chOff x="2774603" y="3445957"/>
            <a:chExt cx="8148121" cy="267515"/>
          </a:xfrm>
        </p:grpSpPr>
        <p:sp>
          <p:nvSpPr>
            <p:cNvPr id="100" name="Arrow: Chevron 76">
              <a:extLst>
                <a:ext uri="{FF2B5EF4-FFF2-40B4-BE49-F238E27FC236}">
                  <a16:creationId xmlns:a16="http://schemas.microsoft.com/office/drawing/2014/main" id="{E414F691-DB25-A8D7-4CCF-C9DE9313B262}"/>
                </a:ext>
              </a:extLst>
            </p:cNvPr>
            <p:cNvSpPr/>
            <p:nvPr/>
          </p:nvSpPr>
          <p:spPr>
            <a:xfrm>
              <a:off x="2774603" y="3445958"/>
              <a:ext cx="1005840" cy="267514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Hit ID</a:t>
              </a:r>
            </a:p>
          </p:txBody>
        </p:sp>
        <p:sp>
          <p:nvSpPr>
            <p:cNvPr id="101" name="Cold Op Bar 220">
              <a:extLst>
                <a:ext uri="{FF2B5EF4-FFF2-40B4-BE49-F238E27FC236}">
                  <a16:creationId xmlns:a16="http://schemas.microsoft.com/office/drawing/2014/main" id="{33FD3DE9-05BB-1D6C-1F69-C73D41069A91}"/>
                </a:ext>
              </a:extLst>
            </p:cNvPr>
            <p:cNvSpPr/>
            <p:nvPr/>
          </p:nvSpPr>
          <p:spPr>
            <a:xfrm>
              <a:off x="3721213" y="3445958"/>
              <a:ext cx="2011681" cy="267514"/>
            </a:xfrm>
            <a:prstGeom prst="roundRect">
              <a:avLst/>
            </a:prstGeom>
            <a:solidFill>
              <a:schemeClr val="accent3"/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H2L</a:t>
              </a:r>
            </a:p>
          </p:txBody>
        </p:sp>
        <p:sp>
          <p:nvSpPr>
            <p:cNvPr id="103" name="Cold Op Bar 220">
              <a:extLst>
                <a:ext uri="{FF2B5EF4-FFF2-40B4-BE49-F238E27FC236}">
                  <a16:creationId xmlns:a16="http://schemas.microsoft.com/office/drawing/2014/main" id="{6BD6D7EA-4872-8875-D7AD-5C4ED59DC2B8}"/>
                </a:ext>
              </a:extLst>
            </p:cNvPr>
            <p:cNvSpPr/>
            <p:nvPr/>
          </p:nvSpPr>
          <p:spPr>
            <a:xfrm>
              <a:off x="5673663" y="3445958"/>
              <a:ext cx="2926080" cy="26751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LO</a:t>
              </a:r>
            </a:p>
          </p:txBody>
        </p:sp>
        <p:sp>
          <p:nvSpPr>
            <p:cNvPr id="105" name="Cold Op Bar 220">
              <a:extLst>
                <a:ext uri="{FF2B5EF4-FFF2-40B4-BE49-F238E27FC236}">
                  <a16:creationId xmlns:a16="http://schemas.microsoft.com/office/drawing/2014/main" id="{FB310136-8430-7EC2-76BB-324351A341FE}"/>
                </a:ext>
              </a:extLst>
            </p:cNvPr>
            <p:cNvSpPr/>
            <p:nvPr/>
          </p:nvSpPr>
          <p:spPr>
            <a:xfrm>
              <a:off x="8470242" y="3445958"/>
              <a:ext cx="1463041" cy="267514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sz="1200">
                  <a:solidFill>
                    <a:schemeClr val="bg1"/>
                  </a:solidFill>
                </a:rPr>
                <a:t>FIH Enabling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EE9429D-AB17-F461-D54B-2BBD7EE929C3}"/>
                </a:ext>
              </a:extLst>
            </p:cNvPr>
            <p:cNvGrpSpPr/>
            <p:nvPr/>
          </p:nvGrpSpPr>
          <p:grpSpPr>
            <a:xfrm>
              <a:off x="9894603" y="3445957"/>
              <a:ext cx="1028121" cy="267514"/>
              <a:chOff x="9894603" y="3445957"/>
              <a:chExt cx="1028121" cy="267514"/>
            </a:xfrm>
          </p:grpSpPr>
          <p:sp>
            <p:nvSpPr>
              <p:cNvPr id="110" name="Flowchart: Alternate Process 22">
                <a:extLst>
                  <a:ext uri="{FF2B5EF4-FFF2-40B4-BE49-F238E27FC236}">
                    <a16:creationId xmlns:a16="http://schemas.microsoft.com/office/drawing/2014/main" id="{193F4440-6FC6-8DB3-A629-34831B1325B8}"/>
                  </a:ext>
                </a:extLst>
              </p:cNvPr>
              <p:cNvSpPr/>
              <p:nvPr/>
            </p:nvSpPr>
            <p:spPr>
              <a:xfrm>
                <a:off x="10619786" y="3445957"/>
                <a:ext cx="302938" cy="267514"/>
              </a:xfrm>
              <a:prstGeom prst="homePlat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6348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-3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endParaRPr>
              </a:p>
            </p:txBody>
          </p:sp>
          <p:sp>
            <p:nvSpPr>
              <p:cNvPr id="109" name="Flowchart: Alternate Process 22">
                <a:extLst>
                  <a:ext uri="{FF2B5EF4-FFF2-40B4-BE49-F238E27FC236}">
                    <a16:creationId xmlns:a16="http://schemas.microsoft.com/office/drawing/2014/main" id="{9EA720DD-3B71-2AD9-AB00-032F376EBD63}"/>
                  </a:ext>
                </a:extLst>
              </p:cNvPr>
              <p:cNvSpPr/>
              <p:nvPr/>
            </p:nvSpPr>
            <p:spPr>
              <a:xfrm>
                <a:off x="9894603" y="3445957"/>
                <a:ext cx="822960" cy="267514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6348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strike="noStrike" kern="1200" cap="none" spc="-3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Funnel Sans"/>
                    <a:ea typeface="+mn-ea"/>
                    <a:cs typeface="+mn-cs"/>
                  </a:rPr>
                  <a:t>FIH</a:t>
                </a:r>
                <a:endParaRPr kumimoji="0" lang="en-US" sz="1200" b="0" i="0" strike="noStrike" kern="1200" cap="none" spc="-3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CD6A826-ECAC-49A7-489C-166304939976}"/>
              </a:ext>
            </a:extLst>
          </p:cNvPr>
          <p:cNvGrpSpPr/>
          <p:nvPr/>
        </p:nvGrpSpPr>
        <p:grpSpPr>
          <a:xfrm>
            <a:off x="3493739" y="3026922"/>
            <a:ext cx="8403158" cy="267515"/>
            <a:chOff x="2282473" y="2263155"/>
            <a:chExt cx="5909962" cy="228601"/>
          </a:xfrm>
        </p:grpSpPr>
        <p:sp>
          <p:nvSpPr>
            <p:cNvPr id="4" name="Arrow: Chevron 65">
              <a:extLst>
                <a:ext uri="{FF2B5EF4-FFF2-40B4-BE49-F238E27FC236}">
                  <a16:creationId xmlns:a16="http://schemas.microsoft.com/office/drawing/2014/main" id="{E6E6E8DD-9EEB-96AA-BE53-8A0449527FF3}"/>
                </a:ext>
              </a:extLst>
            </p:cNvPr>
            <p:cNvSpPr/>
            <p:nvPr/>
          </p:nvSpPr>
          <p:spPr>
            <a:xfrm>
              <a:off x="2282473" y="2263156"/>
              <a:ext cx="707410" cy="2286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Hit ID</a:t>
              </a:r>
            </a:p>
          </p:txBody>
        </p:sp>
        <p:sp>
          <p:nvSpPr>
            <p:cNvPr id="5" name="Cold Op Bar 220">
              <a:extLst>
                <a:ext uri="{FF2B5EF4-FFF2-40B4-BE49-F238E27FC236}">
                  <a16:creationId xmlns:a16="http://schemas.microsoft.com/office/drawing/2014/main" id="{6B5427A3-36F1-9E60-D5A5-3C1C1E721435}"/>
                </a:ext>
              </a:extLst>
            </p:cNvPr>
            <p:cNvSpPr/>
            <p:nvPr/>
          </p:nvSpPr>
          <p:spPr>
            <a:xfrm>
              <a:off x="2952045" y="2263156"/>
              <a:ext cx="707410" cy="228600"/>
            </a:xfrm>
            <a:prstGeom prst="roundRect">
              <a:avLst/>
            </a:prstGeom>
            <a:solidFill>
              <a:schemeClr val="accent3"/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H2L</a:t>
              </a:r>
            </a:p>
          </p:txBody>
        </p:sp>
        <p:sp>
          <p:nvSpPr>
            <p:cNvPr id="7" name="Cold Op Bar 220">
              <a:extLst>
                <a:ext uri="{FF2B5EF4-FFF2-40B4-BE49-F238E27FC236}">
                  <a16:creationId xmlns:a16="http://schemas.microsoft.com/office/drawing/2014/main" id="{5C28A775-11C0-996F-0B72-E645E80E0B6E}"/>
                </a:ext>
              </a:extLst>
            </p:cNvPr>
            <p:cNvSpPr/>
            <p:nvPr/>
          </p:nvSpPr>
          <p:spPr>
            <a:xfrm>
              <a:off x="3621617" y="2263156"/>
              <a:ext cx="1607750" cy="2286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LO</a:t>
              </a:r>
            </a:p>
          </p:txBody>
        </p:sp>
        <p:sp>
          <p:nvSpPr>
            <p:cNvPr id="8" name="Cold Op Bar 220">
              <a:extLst>
                <a:ext uri="{FF2B5EF4-FFF2-40B4-BE49-F238E27FC236}">
                  <a16:creationId xmlns:a16="http://schemas.microsoft.com/office/drawing/2014/main" id="{212AE398-CD44-23CD-5C09-244C0CC11F29}"/>
                </a:ext>
              </a:extLst>
            </p:cNvPr>
            <p:cNvSpPr/>
            <p:nvPr/>
          </p:nvSpPr>
          <p:spPr>
            <a:xfrm>
              <a:off x="5171489" y="2263156"/>
              <a:ext cx="1093270" cy="228600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FIH </a:t>
              </a:r>
              <a:r>
                <a:rPr lang="en-US" sz="1200">
                  <a:solidFill>
                    <a:schemeClr val="bg1"/>
                  </a:solidFill>
                  <a:latin typeface="Funnel Sans"/>
                </a:rPr>
                <a:t>E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na</a:t>
              </a:r>
              <a:r>
                <a:rPr lang="en-US" sz="1200">
                  <a:solidFill>
                    <a:schemeClr val="bg1"/>
                  </a:solidFill>
                  <a:latin typeface="Funnel Sans"/>
                </a:rPr>
                <a:t>bling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  <p:sp>
          <p:nvSpPr>
            <p:cNvPr id="9" name="Flowchart: Alternate Process 22">
              <a:extLst>
                <a:ext uri="{FF2B5EF4-FFF2-40B4-BE49-F238E27FC236}">
                  <a16:creationId xmlns:a16="http://schemas.microsoft.com/office/drawing/2014/main" id="{BC7A14CB-B175-96DD-FDCA-1A64CDDC8B66}"/>
                </a:ext>
              </a:extLst>
            </p:cNvPr>
            <p:cNvSpPr/>
            <p:nvPr/>
          </p:nvSpPr>
          <p:spPr>
            <a:xfrm>
              <a:off x="6198826" y="2263155"/>
              <a:ext cx="1993609" cy="228600"/>
            </a:xfrm>
            <a:prstGeom prst="roundRect">
              <a:avLst/>
            </a:prstGeom>
            <a:solidFill>
              <a:schemeClr val="accent1"/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-3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FIH Imaging</a:t>
              </a:r>
              <a:endParaRPr kumimoji="0" lang="en-US" sz="1200" b="0" i="0" u="none" strike="noStrike" kern="1200" cap="none" spc="-3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7A2203C-EA09-378C-A545-0F10C3F04BA5}"/>
              </a:ext>
            </a:extLst>
          </p:cNvPr>
          <p:cNvSpPr txBox="1"/>
          <p:nvPr/>
        </p:nvSpPr>
        <p:spPr>
          <a:xfrm>
            <a:off x="9738361" y="5644018"/>
            <a:ext cx="2847975" cy="350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/>
              <a:t>Supported by Series A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BB2DD0B-9821-C1A8-D8D3-3FA65D4F3B13}"/>
              </a:ext>
            </a:extLst>
          </p:cNvPr>
          <p:cNvSpPr/>
          <p:nvPr/>
        </p:nvSpPr>
        <p:spPr>
          <a:xfrm>
            <a:off x="8828578" y="5997296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r>
              <a:rPr lang="en-US" sz="1050">
                <a:solidFill>
                  <a:schemeClr val="tx1"/>
                </a:solidFill>
              </a:rPr>
              <a:t>1</a:t>
            </a:r>
            <a:r>
              <a:rPr lang="en-US" sz="1050" baseline="30000">
                <a:solidFill>
                  <a:schemeClr val="tx1"/>
                </a:solidFill>
              </a:rPr>
              <a:t>st</a:t>
            </a:r>
            <a:r>
              <a:rPr lang="en-US" sz="1050">
                <a:solidFill>
                  <a:schemeClr val="tx1"/>
                </a:solidFill>
              </a:rPr>
              <a:t> FIH Study Initiates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FC86F4-9EBF-B42D-6AF0-B20CD70285C7}"/>
              </a:ext>
            </a:extLst>
          </p:cNvPr>
          <p:cNvSpPr txBox="1"/>
          <p:nvPr/>
        </p:nvSpPr>
        <p:spPr>
          <a:xfrm>
            <a:off x="3342385" y="4943689"/>
            <a:ext cx="2121020" cy="350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/>
              <a:t>July screening start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026158-490B-C11B-CB95-F8E3E2750798}"/>
              </a:ext>
            </a:extLst>
          </p:cNvPr>
          <p:cNvSpPr txBox="1"/>
          <p:nvPr/>
        </p:nvSpPr>
        <p:spPr>
          <a:xfrm>
            <a:off x="8836743" y="2602906"/>
            <a:ext cx="2121020" cy="350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/>
              <a:t>Example clinical assets in dark green</a:t>
            </a: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D0D8D0EC-5E19-DB81-53F4-821580EB854B}"/>
              </a:ext>
            </a:extLst>
          </p:cNvPr>
          <p:cNvSpPr/>
          <p:nvPr/>
        </p:nvSpPr>
        <p:spPr>
          <a:xfrm>
            <a:off x="9139904" y="6208378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r>
              <a:rPr lang="en-US" sz="1050">
                <a:solidFill>
                  <a:schemeClr val="tx1"/>
                </a:solidFill>
              </a:rPr>
              <a:t>2</a:t>
            </a:r>
            <a:r>
              <a:rPr lang="en-US" sz="1050" baseline="30000">
                <a:solidFill>
                  <a:schemeClr val="tx1"/>
                </a:solidFill>
              </a:rPr>
              <a:t>nd</a:t>
            </a:r>
            <a:r>
              <a:rPr lang="en-US" sz="1050">
                <a:solidFill>
                  <a:schemeClr val="tx1"/>
                </a:solidFill>
              </a:rPr>
              <a:t> FIH Study Initiates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B9C023-945C-AD97-F3F9-AE868F22BC12}"/>
              </a:ext>
            </a:extLst>
          </p:cNvPr>
          <p:cNvGrpSpPr/>
          <p:nvPr/>
        </p:nvGrpSpPr>
        <p:grpSpPr>
          <a:xfrm>
            <a:off x="3685603" y="3609923"/>
            <a:ext cx="8351179" cy="267515"/>
            <a:chOff x="3685603" y="4204642"/>
            <a:chExt cx="8351179" cy="267515"/>
          </a:xfrm>
        </p:grpSpPr>
        <p:sp>
          <p:nvSpPr>
            <p:cNvPr id="21" name="Arrow: Chevron 76">
              <a:extLst>
                <a:ext uri="{FF2B5EF4-FFF2-40B4-BE49-F238E27FC236}">
                  <a16:creationId xmlns:a16="http://schemas.microsoft.com/office/drawing/2014/main" id="{5651B2C8-846B-E17D-4016-21831F7D8B8F}"/>
                </a:ext>
              </a:extLst>
            </p:cNvPr>
            <p:cNvSpPr/>
            <p:nvPr/>
          </p:nvSpPr>
          <p:spPr>
            <a:xfrm>
              <a:off x="3685603" y="4204643"/>
              <a:ext cx="1097280" cy="267514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Hit ID</a:t>
              </a:r>
            </a:p>
          </p:txBody>
        </p:sp>
        <p:sp>
          <p:nvSpPr>
            <p:cNvPr id="22" name="Cold Op Bar 220">
              <a:extLst>
                <a:ext uri="{FF2B5EF4-FFF2-40B4-BE49-F238E27FC236}">
                  <a16:creationId xmlns:a16="http://schemas.microsoft.com/office/drawing/2014/main" id="{23C2F855-6400-277C-FA2A-A628BFBC0715}"/>
                </a:ext>
              </a:extLst>
            </p:cNvPr>
            <p:cNvSpPr/>
            <p:nvPr/>
          </p:nvSpPr>
          <p:spPr>
            <a:xfrm>
              <a:off x="4751994" y="4204643"/>
              <a:ext cx="1554480" cy="267514"/>
            </a:xfrm>
            <a:prstGeom prst="roundRect">
              <a:avLst/>
            </a:prstGeom>
            <a:solidFill>
              <a:schemeClr val="accent3"/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H2L</a:t>
              </a:r>
            </a:p>
          </p:txBody>
        </p:sp>
        <p:sp>
          <p:nvSpPr>
            <p:cNvPr id="26" name="Cold Op Bar 220">
              <a:extLst>
                <a:ext uri="{FF2B5EF4-FFF2-40B4-BE49-F238E27FC236}">
                  <a16:creationId xmlns:a16="http://schemas.microsoft.com/office/drawing/2014/main" id="{1523724D-CF8A-7ED6-7424-E8CE7C6741B1}"/>
                </a:ext>
              </a:extLst>
            </p:cNvPr>
            <p:cNvSpPr/>
            <p:nvPr/>
          </p:nvSpPr>
          <p:spPr>
            <a:xfrm>
              <a:off x="6246747" y="4204643"/>
              <a:ext cx="2743200" cy="26751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LO</a:t>
              </a:r>
            </a:p>
          </p:txBody>
        </p:sp>
        <p:sp>
          <p:nvSpPr>
            <p:cNvPr id="28" name="Cold Op Bar 220">
              <a:extLst>
                <a:ext uri="{FF2B5EF4-FFF2-40B4-BE49-F238E27FC236}">
                  <a16:creationId xmlns:a16="http://schemas.microsoft.com/office/drawing/2014/main" id="{9D6D88DA-8056-6A7C-0E4D-6A15C2C77529}"/>
                </a:ext>
              </a:extLst>
            </p:cNvPr>
            <p:cNvSpPr/>
            <p:nvPr/>
          </p:nvSpPr>
          <p:spPr>
            <a:xfrm>
              <a:off x="8902534" y="4204643"/>
              <a:ext cx="1554480" cy="267514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 w="634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sz="1200">
                  <a:solidFill>
                    <a:schemeClr val="bg1"/>
                  </a:solidFill>
                </a:rPr>
                <a:t>FIH Enabling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2CE45B7-47EE-DF25-F7E6-A5EB4871496C}"/>
                </a:ext>
              </a:extLst>
            </p:cNvPr>
            <p:cNvGrpSpPr/>
            <p:nvPr/>
          </p:nvGrpSpPr>
          <p:grpSpPr>
            <a:xfrm>
              <a:off x="10349912" y="4204642"/>
              <a:ext cx="1686870" cy="267514"/>
              <a:chOff x="9933574" y="3445957"/>
              <a:chExt cx="1330570" cy="267514"/>
            </a:xfrm>
          </p:grpSpPr>
          <p:sp>
            <p:nvSpPr>
              <p:cNvPr id="31" name="Flowchart: Alternate Process 22">
                <a:extLst>
                  <a:ext uri="{FF2B5EF4-FFF2-40B4-BE49-F238E27FC236}">
                    <a16:creationId xmlns:a16="http://schemas.microsoft.com/office/drawing/2014/main" id="{10D93790-BBDC-F14A-8CA4-CA9E259E6232}"/>
                  </a:ext>
                </a:extLst>
              </p:cNvPr>
              <p:cNvSpPr/>
              <p:nvPr/>
            </p:nvSpPr>
            <p:spPr>
              <a:xfrm>
                <a:off x="9933574" y="3445957"/>
                <a:ext cx="1081892" cy="267514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6348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strike="noStrike" kern="1200" cap="none" spc="-3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Funnel Sans"/>
                    <a:ea typeface="+mn-ea"/>
                    <a:cs typeface="+mn-cs"/>
                  </a:rPr>
                  <a:t>FIH Imaging</a:t>
                </a:r>
                <a:endParaRPr kumimoji="0" lang="en-US" sz="1200" b="0" i="0" strike="noStrike" kern="1200" cap="none" spc="-3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endParaRPr>
              </a:p>
            </p:txBody>
          </p:sp>
          <p:sp>
            <p:nvSpPr>
              <p:cNvPr id="32" name="Flowchart: Alternate Process 22">
                <a:extLst>
                  <a:ext uri="{FF2B5EF4-FFF2-40B4-BE49-F238E27FC236}">
                    <a16:creationId xmlns:a16="http://schemas.microsoft.com/office/drawing/2014/main" id="{1533F7DC-7361-29A1-D9F4-631831A66D02}"/>
                  </a:ext>
                </a:extLst>
              </p:cNvPr>
              <p:cNvSpPr/>
              <p:nvPr/>
            </p:nvSpPr>
            <p:spPr>
              <a:xfrm>
                <a:off x="10857526" y="3445957"/>
                <a:ext cx="406618" cy="267514"/>
              </a:xfrm>
              <a:prstGeom prst="homePlat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6348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strike="noStrike" kern="1200" cap="none" spc="-3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615B6DA-7D57-5CCB-CD2E-A4AF7B80FCD2}"/>
              </a:ext>
            </a:extLst>
          </p:cNvPr>
          <p:cNvSpPr txBox="1"/>
          <p:nvPr/>
        </p:nvSpPr>
        <p:spPr>
          <a:xfrm>
            <a:off x="5771632" y="5519072"/>
            <a:ext cx="2121020" cy="350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/>
              <a:t>Timeline TBD, pending BD activities</a:t>
            </a:r>
          </a:p>
        </p:txBody>
      </p:sp>
      <p:sp>
        <p:nvSpPr>
          <p:cNvPr id="44" name="Cold Op Bar 220">
            <a:extLst>
              <a:ext uri="{FF2B5EF4-FFF2-40B4-BE49-F238E27FC236}">
                <a16:creationId xmlns:a16="http://schemas.microsoft.com/office/drawing/2014/main" id="{F9872A20-A4B4-615A-0C9D-286DCECEC0AE}"/>
              </a:ext>
            </a:extLst>
          </p:cNvPr>
          <p:cNvSpPr/>
          <p:nvPr/>
        </p:nvSpPr>
        <p:spPr>
          <a:xfrm>
            <a:off x="5915888" y="5351225"/>
            <a:ext cx="1527808" cy="267514"/>
          </a:xfrm>
          <a:prstGeom prst="roundRect">
            <a:avLst/>
          </a:prstGeom>
          <a:solidFill>
            <a:schemeClr val="accent3">
              <a:lumMod val="50000"/>
              <a:alpha val="55000"/>
            </a:schemeClr>
          </a:solidFill>
          <a:ln w="19050" cap="flat">
            <a:solidFill>
              <a:schemeClr val="tx2"/>
            </a:solidFill>
            <a:prstDash val="dash"/>
            <a:miter/>
          </a:ln>
        </p:spPr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sz="1200">
                <a:solidFill>
                  <a:schemeClr val="bg1"/>
                </a:solidFill>
              </a:rPr>
              <a:t>FIH Enabling</a:t>
            </a:r>
          </a:p>
        </p:txBody>
      </p:sp>
      <p:sp>
        <p:nvSpPr>
          <p:cNvPr id="45" name="Cold Op Bar 220">
            <a:extLst>
              <a:ext uri="{FF2B5EF4-FFF2-40B4-BE49-F238E27FC236}">
                <a16:creationId xmlns:a16="http://schemas.microsoft.com/office/drawing/2014/main" id="{DAD4EF8D-89D8-537F-1213-DA8628F9E9A6}"/>
              </a:ext>
            </a:extLst>
          </p:cNvPr>
          <p:cNvSpPr/>
          <p:nvPr/>
        </p:nvSpPr>
        <p:spPr>
          <a:xfrm>
            <a:off x="7494768" y="5351225"/>
            <a:ext cx="2893045" cy="267514"/>
          </a:xfrm>
          <a:prstGeom prst="roundRect">
            <a:avLst/>
          </a:prstGeom>
          <a:solidFill>
            <a:schemeClr val="accent1">
              <a:alpha val="55000"/>
            </a:schemeClr>
          </a:solidFill>
          <a:ln w="19050" cap="flat">
            <a:solidFill>
              <a:schemeClr val="tx2"/>
            </a:solidFill>
            <a:prstDash val="dash"/>
            <a:miter/>
          </a:ln>
        </p:spPr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sz="1200">
                <a:solidFill>
                  <a:schemeClr val="bg1"/>
                </a:solidFill>
              </a:rPr>
              <a:t>FIH Imaging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E6E936-1C4B-D4A5-BA19-77E930ECF820}"/>
              </a:ext>
            </a:extLst>
          </p:cNvPr>
          <p:cNvCxnSpPr/>
          <p:nvPr/>
        </p:nvCxnSpPr>
        <p:spPr>
          <a:xfrm>
            <a:off x="3685603" y="2281469"/>
            <a:ext cx="0" cy="353796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F3F06C5-8174-B4A7-D90C-B4316F777D2F}"/>
              </a:ext>
            </a:extLst>
          </p:cNvPr>
          <p:cNvSpPr txBox="1"/>
          <p:nvPr/>
        </p:nvSpPr>
        <p:spPr>
          <a:xfrm>
            <a:off x="3265026" y="5576023"/>
            <a:ext cx="1232762" cy="3508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Today</a:t>
            </a:r>
          </a:p>
        </p:txBody>
      </p:sp>
    </p:spTree>
    <p:extLst>
      <p:ext uri="{BB962C8B-B14F-4D97-AF65-F5344CB8AC3E}">
        <p14:creationId xmlns:p14="http://schemas.microsoft.com/office/powerpoint/2010/main" val="39445641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ED801-AD35-290F-3069-F3CF0FE7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220">
            <a:extLst>
              <a:ext uri="{FF2B5EF4-FFF2-40B4-BE49-F238E27FC236}">
                <a16:creationId xmlns:a16="http://schemas.microsoft.com/office/drawing/2014/main" id="{E86F0278-4A63-7479-0F2A-677FB3CFA688}"/>
              </a:ext>
            </a:extLst>
          </p:cNvPr>
          <p:cNvSpPr>
            <a:spLocks noGrp="1"/>
          </p:cNvSpPr>
          <p:nvPr/>
        </p:nvSpPr>
        <p:spPr>
          <a:xfrm>
            <a:off x="211582" y="3884651"/>
            <a:ext cx="11754505" cy="2778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60960" tIns="36576" rIns="60960" bIns="36576" anchor="ctr"/>
          <a:lstStyle/>
          <a:p>
            <a:pPr algn="ctr">
              <a:buNone/>
            </a:pPr>
            <a:endParaRPr sz="2400" dirty="0"/>
          </a:p>
        </p:txBody>
      </p:sp>
      <p:graphicFrame>
        <p:nvGraphicFramePr>
          <p:cNvPr id="127" name="Table 126">
            <a:extLst>
              <a:ext uri="{FF2B5EF4-FFF2-40B4-BE49-F238E27FC236}">
                <a16:creationId xmlns:a16="http://schemas.microsoft.com/office/drawing/2014/main" id="{A753AF8E-6686-3136-0407-859509A47018}"/>
              </a:ext>
            </a:extLst>
          </p:cNvPr>
          <p:cNvGraphicFramePr>
            <a:graphicFrameLocks noGrp="1"/>
          </p:cNvGraphicFramePr>
          <p:nvPr/>
        </p:nvGraphicFramePr>
        <p:xfrm>
          <a:off x="211583" y="1929241"/>
          <a:ext cx="11764830" cy="1791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472">
                  <a:extLst>
                    <a:ext uri="{9D8B030D-6E8A-4147-A177-3AD203B41FA5}">
                      <a16:colId xmlns:a16="http://schemas.microsoft.com/office/drawing/2014/main" val="2827697201"/>
                    </a:ext>
                  </a:extLst>
                </a:gridCol>
                <a:gridCol w="1380465">
                  <a:extLst>
                    <a:ext uri="{9D8B030D-6E8A-4147-A177-3AD203B41FA5}">
                      <a16:colId xmlns:a16="http://schemas.microsoft.com/office/drawing/2014/main" val="2394271676"/>
                    </a:ext>
                  </a:extLst>
                </a:gridCol>
                <a:gridCol w="1383103">
                  <a:extLst>
                    <a:ext uri="{9D8B030D-6E8A-4147-A177-3AD203B41FA5}">
                      <a16:colId xmlns:a16="http://schemas.microsoft.com/office/drawing/2014/main" val="1185223465"/>
                    </a:ext>
                  </a:extLst>
                </a:gridCol>
                <a:gridCol w="1380465">
                  <a:extLst>
                    <a:ext uri="{9D8B030D-6E8A-4147-A177-3AD203B41FA5}">
                      <a16:colId xmlns:a16="http://schemas.microsoft.com/office/drawing/2014/main" val="1771099264"/>
                    </a:ext>
                  </a:extLst>
                </a:gridCol>
                <a:gridCol w="1380465">
                  <a:extLst>
                    <a:ext uri="{9D8B030D-6E8A-4147-A177-3AD203B41FA5}">
                      <a16:colId xmlns:a16="http://schemas.microsoft.com/office/drawing/2014/main" val="3490145458"/>
                    </a:ext>
                  </a:extLst>
                </a:gridCol>
                <a:gridCol w="1380465">
                  <a:extLst>
                    <a:ext uri="{9D8B030D-6E8A-4147-A177-3AD203B41FA5}">
                      <a16:colId xmlns:a16="http://schemas.microsoft.com/office/drawing/2014/main" val="2559508547"/>
                    </a:ext>
                  </a:extLst>
                </a:gridCol>
                <a:gridCol w="1380465">
                  <a:extLst>
                    <a:ext uri="{9D8B030D-6E8A-4147-A177-3AD203B41FA5}">
                      <a16:colId xmlns:a16="http://schemas.microsoft.com/office/drawing/2014/main" val="222228637"/>
                    </a:ext>
                  </a:extLst>
                </a:gridCol>
                <a:gridCol w="1380465">
                  <a:extLst>
                    <a:ext uri="{9D8B030D-6E8A-4147-A177-3AD203B41FA5}">
                      <a16:colId xmlns:a16="http://schemas.microsoft.com/office/drawing/2014/main" val="1804984808"/>
                    </a:ext>
                  </a:extLst>
                </a:gridCol>
                <a:gridCol w="1380465">
                  <a:extLst>
                    <a:ext uri="{9D8B030D-6E8A-4147-A177-3AD203B41FA5}">
                      <a16:colId xmlns:a16="http://schemas.microsoft.com/office/drawing/2014/main" val="317944001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Year 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Year 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Year 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Year 4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Year 5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Year 6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Year 7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Year 8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374282"/>
                  </a:ext>
                </a:extLst>
              </a:tr>
              <a:tr h="75880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+mn-lt"/>
                        </a:rPr>
                        <a:t>Pgm</a:t>
                      </a:r>
                      <a:r>
                        <a:rPr lang="en-US" sz="1200" b="1" dirty="0">
                          <a:latin typeface="+mn-lt"/>
                        </a:rPr>
                        <a:t>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39632"/>
                  </a:ext>
                </a:extLst>
              </a:tr>
              <a:tr h="758801"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439049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49189A79-CDEB-DCB0-323F-E7D8DA93539C}"/>
              </a:ext>
            </a:extLst>
          </p:cNvPr>
          <p:cNvSpPr/>
          <p:nvPr/>
        </p:nvSpPr>
        <p:spPr>
          <a:xfrm>
            <a:off x="10725426" y="0"/>
            <a:ext cx="1466575" cy="534504"/>
          </a:xfrm>
          <a:prstGeom prst="rect">
            <a:avLst/>
          </a:prstGeom>
          <a:solidFill>
            <a:srgbClr val="F6F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Funnel Sans"/>
            </a:endParaRPr>
          </a:p>
        </p:txBody>
      </p: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405A8541-6A48-78D1-CA12-B30E1F5CC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21" y="255985"/>
            <a:ext cx="306703" cy="133985"/>
          </a:xfrm>
        </p:spPr>
        <p:txBody>
          <a:bodyPr/>
          <a:lstStyle/>
          <a:p>
            <a:pPr defTabSz="914377">
              <a:defRPr/>
            </a:pPr>
            <a:fld id="{F41E5F93-45D3-472F-9EA1-BCB47A04FF6B}" type="slidenum">
              <a:rPr lang="en-GB">
                <a:solidFill>
                  <a:srgbClr val="656670"/>
                </a:solidFill>
                <a:latin typeface="Funnel Sans"/>
              </a:rPr>
              <a:pPr defTabSz="914377">
                <a:defRPr/>
              </a:pPr>
              <a:t>12</a:t>
            </a:fld>
            <a:endParaRPr lang="en-GB">
              <a:solidFill>
                <a:srgbClr val="656670"/>
              </a:solidFill>
              <a:latin typeface="Funnel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869485-FD5D-C2F0-5C52-0148F6515D0E}"/>
              </a:ext>
            </a:extLst>
          </p:cNvPr>
          <p:cNvSpPr txBox="1"/>
          <p:nvPr/>
        </p:nvSpPr>
        <p:spPr>
          <a:xfrm>
            <a:off x="252239" y="3019531"/>
            <a:ext cx="736455" cy="3508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77">
              <a:defRPr/>
            </a:pPr>
            <a:r>
              <a:rPr lang="en-US" sz="1067">
                <a:solidFill>
                  <a:srgbClr val="000000"/>
                </a:solidFill>
                <a:latin typeface="Funnel Sans"/>
              </a:rPr>
              <a:t>Value inflection points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CCC998-2961-1060-157A-664735FAEF58}"/>
              </a:ext>
            </a:extLst>
          </p:cNvPr>
          <p:cNvSpPr txBox="1">
            <a:spLocks/>
          </p:cNvSpPr>
          <p:nvPr/>
        </p:nvSpPr>
        <p:spPr>
          <a:xfrm>
            <a:off x="261113" y="1389953"/>
            <a:ext cx="11673713" cy="7741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6000"/>
              </a:lnSpc>
              <a:spcBef>
                <a:spcPts val="100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>
              <a:defRPr/>
            </a:pPr>
            <a:r>
              <a:rPr lang="en-US">
                <a:solidFill>
                  <a:srgbClr val="000000"/>
                </a:solidFill>
                <a:latin typeface="Funnel Sans Light"/>
              </a:rPr>
              <a:t>The value of a single RLT asset starts high &amp; rises rapidly as it progresses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55EF4B-989B-72A7-232A-4880340BD650}"/>
              </a:ext>
            </a:extLst>
          </p:cNvPr>
          <p:cNvSpPr txBox="1"/>
          <p:nvPr/>
        </p:nvSpPr>
        <p:spPr>
          <a:xfrm>
            <a:off x="259875" y="1071723"/>
            <a:ext cx="2095700" cy="2447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77">
              <a:defRPr/>
            </a:pPr>
            <a:r>
              <a:rPr lang="en-US" sz="1200" spc="-11">
                <a:solidFill>
                  <a:srgbClr val="000000"/>
                </a:solidFill>
                <a:latin typeface="Funnel Sans Medium" pitchFamily="2" charset="0"/>
              </a:rPr>
              <a:t>Our Future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B8D39D-79F4-4F27-5DD7-41F1F5693FC1}"/>
              </a:ext>
            </a:extLst>
          </p:cNvPr>
          <p:cNvSpPr txBox="1"/>
          <p:nvPr/>
        </p:nvSpPr>
        <p:spPr>
          <a:xfrm>
            <a:off x="4041338" y="3369780"/>
            <a:ext cx="2121020" cy="3508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77">
              <a:defRPr/>
            </a:pPr>
            <a:r>
              <a:rPr lang="en-US" sz="900" b="1">
                <a:solidFill>
                  <a:schemeClr val="accent6"/>
                </a:solidFill>
                <a:latin typeface="Funnel Sans"/>
              </a:rPr>
              <a:t>Series A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9CF811B-524C-2BA7-A93B-24A7495A15FA}"/>
              </a:ext>
            </a:extLst>
          </p:cNvPr>
          <p:cNvSpPr/>
          <p:nvPr/>
        </p:nvSpPr>
        <p:spPr>
          <a:xfrm>
            <a:off x="2149487" y="2665839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 Mouse efficacy data</a:t>
            </a:r>
          </a:p>
        </p:txBody>
      </p:sp>
      <p:sp>
        <p:nvSpPr>
          <p:cNvPr id="66" name="Arrow: Chevron 65">
            <a:extLst>
              <a:ext uri="{FF2B5EF4-FFF2-40B4-BE49-F238E27FC236}">
                <a16:creationId xmlns:a16="http://schemas.microsoft.com/office/drawing/2014/main" id="{3CE50334-401C-21C4-2AF0-F371B33C9659}"/>
              </a:ext>
            </a:extLst>
          </p:cNvPr>
          <p:cNvSpPr/>
          <p:nvPr/>
        </p:nvSpPr>
        <p:spPr>
          <a:xfrm>
            <a:off x="936401" y="2348909"/>
            <a:ext cx="2505919" cy="26751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6348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algn="ctr" defTabSz="914377">
              <a:defRPr/>
            </a:pPr>
            <a:r>
              <a:rPr lang="en-US" sz="1200">
                <a:solidFill>
                  <a:srgbClr val="000000"/>
                </a:solidFill>
                <a:latin typeface="Funnel Sans"/>
              </a:rPr>
              <a:t>Preclinical</a:t>
            </a:r>
          </a:p>
        </p:txBody>
      </p:sp>
      <p:sp>
        <p:nvSpPr>
          <p:cNvPr id="67" name="Cold Op Bar 220">
            <a:extLst>
              <a:ext uri="{FF2B5EF4-FFF2-40B4-BE49-F238E27FC236}">
                <a16:creationId xmlns:a16="http://schemas.microsoft.com/office/drawing/2014/main" id="{F4699AE8-18FB-6228-51A2-85D4E8EEAB9C}"/>
              </a:ext>
            </a:extLst>
          </p:cNvPr>
          <p:cNvSpPr/>
          <p:nvPr/>
        </p:nvSpPr>
        <p:spPr>
          <a:xfrm>
            <a:off x="3448571" y="2348911"/>
            <a:ext cx="1369304" cy="267513"/>
          </a:xfrm>
          <a:prstGeom prst="roundRect">
            <a:avLst/>
          </a:prstGeom>
          <a:solidFill>
            <a:schemeClr val="accent2"/>
          </a:solidFill>
          <a:ln w="6348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algn="ctr" defTabSz="914377">
              <a:defRPr/>
            </a:pPr>
            <a:r>
              <a:rPr lang="en-US" sz="1200">
                <a:latin typeface="Funnel Sans"/>
              </a:rPr>
              <a:t>Ph 0</a:t>
            </a:r>
          </a:p>
        </p:txBody>
      </p:sp>
      <p:sp>
        <p:nvSpPr>
          <p:cNvPr id="71" name="Cold Op Bar 220">
            <a:extLst>
              <a:ext uri="{FF2B5EF4-FFF2-40B4-BE49-F238E27FC236}">
                <a16:creationId xmlns:a16="http://schemas.microsoft.com/office/drawing/2014/main" id="{8404284A-BC34-C697-2836-DD890F2078D2}"/>
              </a:ext>
            </a:extLst>
          </p:cNvPr>
          <p:cNvSpPr/>
          <p:nvPr/>
        </p:nvSpPr>
        <p:spPr>
          <a:xfrm>
            <a:off x="4824127" y="2348911"/>
            <a:ext cx="2815068" cy="267513"/>
          </a:xfrm>
          <a:prstGeom prst="roundRect">
            <a:avLst/>
          </a:prstGeom>
          <a:solidFill>
            <a:schemeClr val="accent3"/>
          </a:solidFill>
          <a:ln w="6348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algn="ctr" defTabSz="914377">
              <a:defRPr/>
            </a:pPr>
            <a:r>
              <a:rPr lang="en-US" sz="1200">
                <a:solidFill>
                  <a:prstClr val="white"/>
                </a:solidFill>
                <a:latin typeface="Funnel Sans"/>
              </a:rPr>
              <a:t>Ph 1 / 2</a:t>
            </a:r>
          </a:p>
        </p:txBody>
      </p:sp>
      <p:sp>
        <p:nvSpPr>
          <p:cNvPr id="72" name="Cold Op Bar 220">
            <a:extLst>
              <a:ext uri="{FF2B5EF4-FFF2-40B4-BE49-F238E27FC236}">
                <a16:creationId xmlns:a16="http://schemas.microsoft.com/office/drawing/2014/main" id="{78BD3BE5-9247-80E9-498B-1A13C332E944}"/>
              </a:ext>
            </a:extLst>
          </p:cNvPr>
          <p:cNvSpPr/>
          <p:nvPr/>
        </p:nvSpPr>
        <p:spPr>
          <a:xfrm>
            <a:off x="7645447" y="2348909"/>
            <a:ext cx="3499797" cy="267515"/>
          </a:xfrm>
          <a:prstGeom prst="roundRect">
            <a:avLst/>
          </a:prstGeom>
          <a:solidFill>
            <a:schemeClr val="accent1"/>
          </a:solidFill>
          <a:ln w="6348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algn="ctr" defTabSz="914377">
              <a:defRPr/>
            </a:pPr>
            <a:r>
              <a:rPr lang="en-US" sz="1200">
                <a:solidFill>
                  <a:prstClr val="white"/>
                </a:solidFill>
                <a:latin typeface="Funnel Sans"/>
              </a:rPr>
              <a:t>Pivotal</a:t>
            </a:r>
          </a:p>
        </p:txBody>
      </p:sp>
      <p:sp>
        <p:nvSpPr>
          <p:cNvPr id="68" name="Flowchart: Alternate Process 22">
            <a:extLst>
              <a:ext uri="{FF2B5EF4-FFF2-40B4-BE49-F238E27FC236}">
                <a16:creationId xmlns:a16="http://schemas.microsoft.com/office/drawing/2014/main" id="{F7FA11D9-534D-4779-570F-1DD2CA6680C0}"/>
              </a:ext>
            </a:extLst>
          </p:cNvPr>
          <p:cNvSpPr/>
          <p:nvPr/>
        </p:nvSpPr>
        <p:spPr>
          <a:xfrm>
            <a:off x="11151498" y="2348909"/>
            <a:ext cx="656823" cy="267515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 w="6348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algn="ctr" defTabSz="914377">
              <a:defRPr/>
            </a:pPr>
            <a:r>
              <a:rPr lang="en-GB" sz="1200" spc="-3">
                <a:solidFill>
                  <a:prstClr val="white"/>
                </a:solidFill>
                <a:latin typeface="Funnel Sans"/>
              </a:rPr>
              <a:t>NDA</a:t>
            </a:r>
            <a:endParaRPr lang="en-US" sz="1200" spc="-3">
              <a:solidFill>
                <a:prstClr val="white"/>
              </a:solidFill>
              <a:latin typeface="Funnel San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05BAF2-23E8-21C0-E6B7-751DB5A1C9C3}"/>
              </a:ext>
            </a:extLst>
          </p:cNvPr>
          <p:cNvCxnSpPr>
            <a:cxnSpLocks/>
          </p:cNvCxnSpPr>
          <p:nvPr/>
        </p:nvCxnSpPr>
        <p:spPr>
          <a:xfrm>
            <a:off x="4824127" y="2316819"/>
            <a:ext cx="0" cy="126158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6ADA7A4-047E-D75F-B3E1-9EC4D1C0A372}"/>
              </a:ext>
            </a:extLst>
          </p:cNvPr>
          <p:cNvSpPr txBox="1"/>
          <p:nvPr/>
        </p:nvSpPr>
        <p:spPr>
          <a:xfrm>
            <a:off x="6872757" y="3369780"/>
            <a:ext cx="2121020" cy="3508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77">
              <a:defRPr/>
            </a:pPr>
            <a:r>
              <a:rPr lang="en-US" sz="900" b="1">
                <a:solidFill>
                  <a:schemeClr val="accent6"/>
                </a:solidFill>
                <a:latin typeface="Funnel Sans"/>
              </a:rPr>
              <a:t>Series B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9F70D47-F00D-9EB7-230C-B6DD84D6E8BF}"/>
              </a:ext>
            </a:extLst>
          </p:cNvPr>
          <p:cNvCxnSpPr>
            <a:cxnSpLocks/>
          </p:cNvCxnSpPr>
          <p:nvPr/>
        </p:nvCxnSpPr>
        <p:spPr>
          <a:xfrm>
            <a:off x="7645447" y="2349721"/>
            <a:ext cx="0" cy="126158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A02B49-D5A2-EAC5-BD6C-F74EE59545E9}"/>
              </a:ext>
            </a:extLst>
          </p:cNvPr>
          <p:cNvSpPr txBox="1"/>
          <p:nvPr/>
        </p:nvSpPr>
        <p:spPr>
          <a:xfrm>
            <a:off x="9075159" y="3349481"/>
            <a:ext cx="2121020" cy="3508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77">
              <a:defRPr/>
            </a:pPr>
            <a:r>
              <a:rPr lang="en-US" sz="900" b="1">
                <a:solidFill>
                  <a:schemeClr val="accent6"/>
                </a:solidFill>
                <a:latin typeface="Funnel Sans"/>
              </a:rPr>
              <a:t>Series C / IPO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939097B-077B-CC5B-949E-8C192E3CA640}"/>
              </a:ext>
            </a:extLst>
          </p:cNvPr>
          <p:cNvCxnSpPr>
            <a:cxnSpLocks/>
          </p:cNvCxnSpPr>
          <p:nvPr/>
        </p:nvCxnSpPr>
        <p:spPr>
          <a:xfrm>
            <a:off x="9722196" y="2349721"/>
            <a:ext cx="0" cy="126158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CF56EF-809B-304F-3B9A-A81D87AD9B67}"/>
              </a:ext>
            </a:extLst>
          </p:cNvPr>
          <p:cNvSpPr/>
          <p:nvPr/>
        </p:nvSpPr>
        <p:spPr>
          <a:xfrm>
            <a:off x="2386073" y="3269923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 AACR Presentation</a:t>
            </a: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1F2B4B2E-3952-F6B7-F19A-381B18EB72EC}"/>
              </a:ext>
            </a:extLst>
          </p:cNvPr>
          <p:cNvSpPr/>
          <p:nvPr/>
        </p:nvSpPr>
        <p:spPr>
          <a:xfrm>
            <a:off x="3643058" y="2665839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ctr" anchorCtr="0"/>
          <a:lstStyle/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 FIH Data</a:t>
            </a:r>
          </a:p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5 compounds</a:t>
            </a: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539366B7-65A8-1849-13FC-ED7903CFFE4A}"/>
              </a:ext>
            </a:extLst>
          </p:cNvPr>
          <p:cNvSpPr/>
          <p:nvPr/>
        </p:nvSpPr>
        <p:spPr>
          <a:xfrm>
            <a:off x="4748494" y="2979699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 DC selected</a:t>
            </a: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6E0D68B3-C966-0986-F787-A65D2A603D4F}"/>
              </a:ext>
            </a:extLst>
          </p:cNvPr>
          <p:cNvSpPr/>
          <p:nvPr/>
        </p:nvSpPr>
        <p:spPr>
          <a:xfrm>
            <a:off x="5094373" y="3269923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 SMMNI or EANM Presentation</a:t>
            </a: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372F79E6-8AB5-8840-1ED5-FF9B8D2B126B}"/>
              </a:ext>
            </a:extLst>
          </p:cNvPr>
          <p:cNvSpPr/>
          <p:nvPr/>
        </p:nvSpPr>
        <p:spPr>
          <a:xfrm>
            <a:off x="5355597" y="2665839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 RP2D selection</a:t>
            </a:r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40B7C37-9F4D-9F14-4736-62025C8AB6EC}"/>
              </a:ext>
            </a:extLst>
          </p:cNvPr>
          <p:cNvSpPr/>
          <p:nvPr/>
        </p:nvSpPr>
        <p:spPr>
          <a:xfrm>
            <a:off x="7567735" y="2665839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ctr" anchorCtr="0"/>
          <a:lstStyle/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1</a:t>
            </a:r>
            <a:r>
              <a:rPr lang="en-US" sz="1051" baseline="30000">
                <a:solidFill>
                  <a:srgbClr val="000000"/>
                </a:solidFill>
                <a:latin typeface="Funnel Sans"/>
              </a:rPr>
              <a:t>st</a:t>
            </a:r>
            <a:r>
              <a:rPr lang="en-US" sz="1051">
                <a:solidFill>
                  <a:srgbClr val="000000"/>
                </a:solidFill>
                <a:latin typeface="Funnel Sans"/>
              </a:rPr>
              <a:t> Human </a:t>
            </a:r>
          </a:p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Efficacy Data</a:t>
            </a: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BFC49B49-A188-6E74-EF3A-EEB134881BFD}"/>
              </a:ext>
            </a:extLst>
          </p:cNvPr>
          <p:cNvSpPr/>
          <p:nvPr/>
        </p:nvSpPr>
        <p:spPr>
          <a:xfrm>
            <a:off x="6597541" y="2665839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ctr" anchorCtr="0"/>
          <a:lstStyle/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 Interim</a:t>
            </a:r>
          </a:p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Efficacy Data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B093872F-B91D-B7E2-EDD7-5A9F7B511EE9}"/>
              </a:ext>
            </a:extLst>
          </p:cNvPr>
          <p:cNvSpPr/>
          <p:nvPr/>
        </p:nvSpPr>
        <p:spPr>
          <a:xfrm>
            <a:off x="7726831" y="3269923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 ASCO Presentation</a:t>
            </a:r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6E918C44-CE57-BD47-CCC6-085D7F51954B}"/>
              </a:ext>
            </a:extLst>
          </p:cNvPr>
          <p:cNvSpPr/>
          <p:nvPr/>
        </p:nvSpPr>
        <p:spPr>
          <a:xfrm>
            <a:off x="9411353" y="2665839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 Interim data</a:t>
            </a: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15D5A8C-131B-BCF8-9384-A0CBDB34AAD0}"/>
              </a:ext>
            </a:extLst>
          </p:cNvPr>
          <p:cNvSpPr/>
          <p:nvPr/>
        </p:nvSpPr>
        <p:spPr>
          <a:xfrm>
            <a:off x="9793455" y="3269923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pPr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 ASCO Presentation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45C0E9E3-F6E1-7494-01D9-2FC16FF94272}"/>
              </a:ext>
            </a:extLst>
          </p:cNvPr>
          <p:cNvSpPr/>
          <p:nvPr/>
        </p:nvSpPr>
        <p:spPr>
          <a:xfrm>
            <a:off x="10964671" y="2665839"/>
            <a:ext cx="155423" cy="13398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pPr algn="r"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 Full data     </a:t>
            </a:r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08029953-13AA-F18B-A2D9-6AE43B11E605}"/>
              </a:ext>
            </a:extLst>
          </p:cNvPr>
          <p:cNvSpPr/>
          <p:nvPr/>
        </p:nvSpPr>
        <p:spPr>
          <a:xfrm>
            <a:off x="11748711" y="2665839"/>
            <a:ext cx="155423" cy="133985"/>
          </a:xfrm>
          <a:prstGeom prst="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91440" rtlCol="0" anchor="b" anchorCtr="0"/>
          <a:lstStyle/>
          <a:p>
            <a:pPr algn="r" defTabSz="914377">
              <a:defRPr/>
            </a:pPr>
            <a:r>
              <a:rPr lang="en-US" sz="1051">
                <a:solidFill>
                  <a:srgbClr val="000000"/>
                </a:solidFill>
                <a:latin typeface="Funnel Sans"/>
              </a:rPr>
              <a:t>Approval     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D7BF80-F196-92C2-A93C-B803036380E4}"/>
              </a:ext>
            </a:extLst>
          </p:cNvPr>
          <p:cNvSpPr txBox="1"/>
          <p:nvPr/>
        </p:nvSpPr>
        <p:spPr>
          <a:xfrm>
            <a:off x="1265283" y="3369780"/>
            <a:ext cx="778515" cy="3508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77">
              <a:defRPr/>
            </a:pPr>
            <a:r>
              <a:rPr lang="en-US" sz="900" b="1">
                <a:solidFill>
                  <a:schemeClr val="accent6"/>
                </a:solidFill>
                <a:latin typeface="Funnel Sans"/>
              </a:rPr>
              <a:t>Seed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EAA0647-B804-7504-195B-660CFDF49F24}"/>
              </a:ext>
            </a:extLst>
          </p:cNvPr>
          <p:cNvCxnSpPr>
            <a:cxnSpLocks/>
          </p:cNvCxnSpPr>
          <p:nvPr/>
        </p:nvCxnSpPr>
        <p:spPr>
          <a:xfrm>
            <a:off x="1441380" y="2349721"/>
            <a:ext cx="0" cy="126158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vcLabel">
            <a:extLst>
              <a:ext uri="{FF2B5EF4-FFF2-40B4-BE49-F238E27FC236}">
                <a16:creationId xmlns:a16="http://schemas.microsoft.com/office/drawing/2014/main" id="{24923B03-3CAF-6B8D-7F98-343D91FA436B}"/>
              </a:ext>
            </a:extLst>
          </p:cNvPr>
          <p:cNvSpPr>
            <a:spLocks noGrp="1"/>
          </p:cNvSpPr>
          <p:nvPr/>
        </p:nvSpPr>
        <p:spPr>
          <a:xfrm>
            <a:off x="304800" y="3937438"/>
            <a:ext cx="5926667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n-US" sz="1133" b="1" dirty="0">
                <a:latin typeface="Funnel Sans"/>
              </a:rPr>
              <a:t>Program Value By Stage of Development – Comparative Deals</a:t>
            </a:r>
            <a:endParaRPr lang="en-US" sz="1000" i="1" dirty="0">
              <a:latin typeface="Funnel Sans"/>
            </a:endParaRPr>
          </a:p>
        </p:txBody>
      </p:sp>
      <p:sp>
        <p:nvSpPr>
          <p:cNvPr id="64" name="s225">
            <a:extLst>
              <a:ext uri="{FF2B5EF4-FFF2-40B4-BE49-F238E27FC236}">
                <a16:creationId xmlns:a16="http://schemas.microsoft.com/office/drawing/2014/main" id="{8D6B0E81-182A-17E6-0FFB-8EFEDF51F22C}"/>
              </a:ext>
            </a:extLst>
          </p:cNvPr>
          <p:cNvSpPr>
            <a:spLocks noGrp="1"/>
          </p:cNvSpPr>
          <p:nvPr/>
        </p:nvSpPr>
        <p:spPr>
          <a:xfrm>
            <a:off x="316019" y="5306536"/>
            <a:ext cx="519154" cy="136896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 algn="r">
              <a:buNone/>
            </a:pPr>
            <a:r>
              <a:rPr lang="en-US" sz="1200" b="1" dirty="0">
                <a:latin typeface="Funnel Sans"/>
              </a:rPr>
              <a:t>Value</a:t>
            </a:r>
            <a:endParaRPr lang="en-US" sz="1400" b="1" dirty="0">
              <a:latin typeface="Funnel Sans"/>
            </a:endParaRPr>
          </a:p>
        </p:txBody>
      </p:sp>
      <p:sp>
        <p:nvSpPr>
          <p:cNvPr id="65" name="s226">
            <a:extLst>
              <a:ext uri="{FF2B5EF4-FFF2-40B4-BE49-F238E27FC236}">
                <a16:creationId xmlns:a16="http://schemas.microsoft.com/office/drawing/2014/main" id="{8F0BF622-364B-E7F3-A9DC-E8D829F2F8C7}"/>
              </a:ext>
            </a:extLst>
          </p:cNvPr>
          <p:cNvSpPr>
            <a:spLocks noGrp="1"/>
          </p:cNvSpPr>
          <p:nvPr/>
        </p:nvSpPr>
        <p:spPr>
          <a:xfrm>
            <a:off x="496133" y="6400800"/>
            <a:ext cx="440267" cy="186267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 algn="r">
              <a:buNone/>
            </a:pPr>
            <a:r>
              <a:rPr lang="en-US" sz="933">
                <a:latin typeface="Funnel Sans"/>
              </a:rPr>
              <a:t>$0</a:t>
            </a:r>
          </a:p>
        </p:txBody>
      </p:sp>
      <p:sp>
        <p:nvSpPr>
          <p:cNvPr id="91" name="footer">
            <a:extLst>
              <a:ext uri="{FF2B5EF4-FFF2-40B4-BE49-F238E27FC236}">
                <a16:creationId xmlns:a16="http://schemas.microsoft.com/office/drawing/2014/main" id="{21976CAF-625B-1C78-972C-2D6714D8957C}"/>
              </a:ext>
            </a:extLst>
          </p:cNvPr>
          <p:cNvSpPr>
            <a:spLocks noGrp="1"/>
          </p:cNvSpPr>
          <p:nvPr/>
        </p:nvSpPr>
        <p:spPr>
          <a:xfrm>
            <a:off x="5852810" y="6546670"/>
            <a:ext cx="585816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n-US" sz="933" i="1" dirty="0">
                <a:latin typeface="Funnel Sans"/>
              </a:rPr>
              <a:t>Source: Company disclosures, public filings. Deal values as of announcement date. Illustrative timeline only.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0BB0141-4008-7B41-2139-872A278D511A}"/>
              </a:ext>
            </a:extLst>
          </p:cNvPr>
          <p:cNvSpPr txBox="1"/>
          <p:nvPr/>
        </p:nvSpPr>
        <p:spPr>
          <a:xfrm>
            <a:off x="179821" y="1904463"/>
            <a:ext cx="1037825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67" i="1">
                <a:latin typeface="Funnel Sans"/>
              </a:rPr>
              <a:t>(illustrative)</a:t>
            </a:r>
            <a:endParaRPr lang="en-US" sz="2400"/>
          </a:p>
        </p:txBody>
      </p:sp>
      <p:sp>
        <p:nvSpPr>
          <p:cNvPr id="117" name="Arrow: Chevron 65">
            <a:extLst>
              <a:ext uri="{FF2B5EF4-FFF2-40B4-BE49-F238E27FC236}">
                <a16:creationId xmlns:a16="http://schemas.microsoft.com/office/drawing/2014/main" id="{27A81BB1-DEDD-EA9A-C23D-CF64F179220F}"/>
              </a:ext>
            </a:extLst>
          </p:cNvPr>
          <p:cNvSpPr/>
          <p:nvPr/>
        </p:nvSpPr>
        <p:spPr>
          <a:xfrm>
            <a:off x="977675" y="4187131"/>
            <a:ext cx="2560320" cy="26751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6348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algn="ctr" defTabSz="914377">
              <a:defRPr/>
            </a:pPr>
            <a:r>
              <a:rPr lang="en-US" sz="1200">
                <a:solidFill>
                  <a:srgbClr val="000000"/>
                </a:solidFill>
                <a:latin typeface="Funnel Sans"/>
              </a:rPr>
              <a:t>Preclinical</a:t>
            </a:r>
          </a:p>
        </p:txBody>
      </p:sp>
      <p:sp>
        <p:nvSpPr>
          <p:cNvPr id="118" name="Cold Op Bar 220">
            <a:extLst>
              <a:ext uri="{FF2B5EF4-FFF2-40B4-BE49-F238E27FC236}">
                <a16:creationId xmlns:a16="http://schemas.microsoft.com/office/drawing/2014/main" id="{C68B8D7C-51FB-ECDD-AC6A-FB182F8119D4}"/>
              </a:ext>
            </a:extLst>
          </p:cNvPr>
          <p:cNvSpPr/>
          <p:nvPr/>
        </p:nvSpPr>
        <p:spPr>
          <a:xfrm>
            <a:off x="3675188" y="4187132"/>
            <a:ext cx="2560320" cy="267513"/>
          </a:xfrm>
          <a:prstGeom prst="roundRect">
            <a:avLst/>
          </a:prstGeom>
          <a:solidFill>
            <a:schemeClr val="accent2"/>
          </a:solidFill>
          <a:ln w="6348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algn="ctr" defTabSz="914377">
              <a:defRPr/>
            </a:pPr>
            <a:r>
              <a:rPr lang="en-US" sz="1200">
                <a:latin typeface="Funnel Sans"/>
              </a:rPr>
              <a:t>Ph 0</a:t>
            </a:r>
          </a:p>
        </p:txBody>
      </p:sp>
      <p:sp>
        <p:nvSpPr>
          <p:cNvPr id="119" name="Cold Op Bar 220">
            <a:extLst>
              <a:ext uri="{FF2B5EF4-FFF2-40B4-BE49-F238E27FC236}">
                <a16:creationId xmlns:a16="http://schemas.microsoft.com/office/drawing/2014/main" id="{26FE6F1C-233A-14D1-CE59-27FCA452180E}"/>
              </a:ext>
            </a:extLst>
          </p:cNvPr>
          <p:cNvSpPr/>
          <p:nvPr/>
        </p:nvSpPr>
        <p:spPr>
          <a:xfrm>
            <a:off x="6367390" y="4187132"/>
            <a:ext cx="2560320" cy="267513"/>
          </a:xfrm>
          <a:prstGeom prst="roundRect">
            <a:avLst/>
          </a:prstGeom>
          <a:solidFill>
            <a:schemeClr val="accent3"/>
          </a:solidFill>
          <a:ln w="6348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algn="ctr" defTabSz="914377">
              <a:defRPr/>
            </a:pPr>
            <a:r>
              <a:rPr lang="en-US" sz="1200">
                <a:solidFill>
                  <a:prstClr val="white"/>
                </a:solidFill>
                <a:latin typeface="Funnel Sans"/>
              </a:rPr>
              <a:t>Ph 1 / 2</a:t>
            </a:r>
          </a:p>
        </p:txBody>
      </p:sp>
      <p:sp>
        <p:nvSpPr>
          <p:cNvPr id="120" name="Cold Op Bar 220">
            <a:extLst>
              <a:ext uri="{FF2B5EF4-FFF2-40B4-BE49-F238E27FC236}">
                <a16:creationId xmlns:a16="http://schemas.microsoft.com/office/drawing/2014/main" id="{51681B86-E1F7-8100-13AB-9148695154B6}"/>
              </a:ext>
            </a:extLst>
          </p:cNvPr>
          <p:cNvSpPr/>
          <p:nvPr/>
        </p:nvSpPr>
        <p:spPr>
          <a:xfrm>
            <a:off x="9070213" y="4187131"/>
            <a:ext cx="2560320" cy="267515"/>
          </a:xfrm>
          <a:prstGeom prst="roundRect">
            <a:avLst/>
          </a:prstGeom>
          <a:solidFill>
            <a:schemeClr val="accent1"/>
          </a:solidFill>
          <a:ln w="6348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pPr algn="ctr" defTabSz="914377">
              <a:defRPr/>
            </a:pPr>
            <a:r>
              <a:rPr lang="en-US" sz="1200" dirty="0">
                <a:solidFill>
                  <a:prstClr val="white"/>
                </a:solidFill>
                <a:latin typeface="Funnel Sans"/>
              </a:rPr>
              <a:t>Pivotal</a:t>
            </a:r>
          </a:p>
        </p:txBody>
      </p:sp>
      <p:sp>
        <p:nvSpPr>
          <p:cNvPr id="122" name="s226">
            <a:extLst>
              <a:ext uri="{FF2B5EF4-FFF2-40B4-BE49-F238E27FC236}">
                <a16:creationId xmlns:a16="http://schemas.microsoft.com/office/drawing/2014/main" id="{5A6A655D-F513-B82E-F75C-71093658C2D3}"/>
              </a:ext>
            </a:extLst>
          </p:cNvPr>
          <p:cNvSpPr>
            <a:spLocks noGrp="1"/>
          </p:cNvSpPr>
          <p:nvPr/>
        </p:nvSpPr>
        <p:spPr>
          <a:xfrm>
            <a:off x="496133" y="4510268"/>
            <a:ext cx="440267" cy="186267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 algn="r">
              <a:buNone/>
            </a:pPr>
            <a:r>
              <a:rPr lang="en-US" sz="933" dirty="0">
                <a:latin typeface="Funnel Sans"/>
              </a:rPr>
              <a:t>$4B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AB9446-3688-2004-2B89-0BF517D00EC2}"/>
              </a:ext>
            </a:extLst>
          </p:cNvPr>
          <p:cNvCxnSpPr/>
          <p:nvPr/>
        </p:nvCxnSpPr>
        <p:spPr>
          <a:xfrm>
            <a:off x="179821" y="3825821"/>
            <a:ext cx="11796592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3DE958B-46EA-57AC-1B08-884CB0BBA12F}"/>
              </a:ext>
            </a:extLst>
          </p:cNvPr>
          <p:cNvSpPr/>
          <p:nvPr/>
        </p:nvSpPr>
        <p:spPr>
          <a:xfrm>
            <a:off x="998504" y="4454645"/>
            <a:ext cx="2518663" cy="2044004"/>
          </a:xfrm>
          <a:prstGeom prst="rect">
            <a:avLst/>
          </a:prstGeom>
          <a:solidFill>
            <a:srgbClr val="E0E0E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D72CF1-AFE2-D005-0C1C-9004585B4992}"/>
              </a:ext>
            </a:extLst>
          </p:cNvPr>
          <p:cNvSpPr/>
          <p:nvPr/>
        </p:nvSpPr>
        <p:spPr>
          <a:xfrm>
            <a:off x="3696017" y="4454645"/>
            <a:ext cx="2518663" cy="2044004"/>
          </a:xfrm>
          <a:prstGeom prst="rect">
            <a:avLst/>
          </a:prstGeom>
          <a:solidFill>
            <a:srgbClr val="EFF4E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209822-499D-BF5D-D35E-9C54467522DB}"/>
              </a:ext>
            </a:extLst>
          </p:cNvPr>
          <p:cNvSpPr/>
          <p:nvPr/>
        </p:nvSpPr>
        <p:spPr>
          <a:xfrm>
            <a:off x="6388219" y="4454645"/>
            <a:ext cx="2518663" cy="2044004"/>
          </a:xfrm>
          <a:prstGeom prst="rect">
            <a:avLst/>
          </a:prstGeom>
          <a:solidFill>
            <a:srgbClr val="DFE8E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2F4E6B-2942-05D7-3422-6E53386AAEE0}"/>
              </a:ext>
            </a:extLst>
          </p:cNvPr>
          <p:cNvSpPr/>
          <p:nvPr/>
        </p:nvSpPr>
        <p:spPr>
          <a:xfrm>
            <a:off x="9091042" y="4454645"/>
            <a:ext cx="2518663" cy="2044004"/>
          </a:xfrm>
          <a:prstGeom prst="rect">
            <a:avLst/>
          </a:prstGeom>
          <a:solidFill>
            <a:srgbClr val="002924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dot0">
            <a:extLst>
              <a:ext uri="{FF2B5EF4-FFF2-40B4-BE49-F238E27FC236}">
                <a16:creationId xmlns:a16="http://schemas.microsoft.com/office/drawing/2014/main" id="{57A63BA0-8FDC-CD50-E234-B1F75FA47A00}"/>
              </a:ext>
            </a:extLst>
          </p:cNvPr>
          <p:cNvSpPr>
            <a:spLocks noGrp="1"/>
          </p:cNvSpPr>
          <p:nvPr/>
        </p:nvSpPr>
        <p:spPr>
          <a:xfrm>
            <a:off x="958056" y="6204336"/>
            <a:ext cx="256032" cy="256032"/>
          </a:xfrm>
          <a:prstGeom prst="ellipse">
            <a:avLst/>
          </a:prstGeom>
          <a:solidFill>
            <a:schemeClr val="accent3"/>
          </a:solidFill>
          <a:ln w="15875">
            <a:noFill/>
          </a:ln>
        </p:spPr>
        <p:txBody>
          <a:bodyPr lIns="0" tIns="0" rIns="0" bIns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78" name="s234">
            <a:extLst>
              <a:ext uri="{FF2B5EF4-FFF2-40B4-BE49-F238E27FC236}">
                <a16:creationId xmlns:a16="http://schemas.microsoft.com/office/drawing/2014/main" id="{2EB93354-23C7-2B2A-07F6-173FC8FFFEEC}"/>
              </a:ext>
            </a:extLst>
          </p:cNvPr>
          <p:cNvSpPr>
            <a:spLocks noGrp="1"/>
          </p:cNvSpPr>
          <p:nvPr/>
        </p:nvSpPr>
        <p:spPr>
          <a:xfrm>
            <a:off x="1170708" y="6211695"/>
            <a:ext cx="1354667" cy="319741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r>
              <a:rPr lang="en-US" sz="1100" b="1" dirty="0">
                <a:latin typeface="Funnel Sans"/>
              </a:rPr>
              <a:t>$0.5B</a:t>
            </a:r>
          </a:p>
          <a:p>
            <a:r>
              <a:rPr lang="en-US" sz="1100" dirty="0"/>
              <a:t>Regeneron · </a:t>
            </a:r>
            <a:r>
              <a:rPr lang="en-US" sz="1100" dirty="0" err="1"/>
              <a:t>Telix</a:t>
            </a:r>
            <a:endParaRPr lang="en-US" sz="1100" dirty="0"/>
          </a:p>
        </p:txBody>
      </p:sp>
      <p:sp>
        <p:nvSpPr>
          <p:cNvPr id="79" name="dot1">
            <a:extLst>
              <a:ext uri="{FF2B5EF4-FFF2-40B4-BE49-F238E27FC236}">
                <a16:creationId xmlns:a16="http://schemas.microsoft.com/office/drawing/2014/main" id="{062ABF67-229B-D988-FD60-E86348FA8F99}"/>
              </a:ext>
            </a:extLst>
          </p:cNvPr>
          <p:cNvSpPr>
            <a:spLocks noGrp="1"/>
          </p:cNvSpPr>
          <p:nvPr/>
        </p:nvSpPr>
        <p:spPr>
          <a:xfrm>
            <a:off x="2439896" y="5497762"/>
            <a:ext cx="256032" cy="256032"/>
          </a:xfrm>
          <a:prstGeom prst="ellipse">
            <a:avLst/>
          </a:prstGeom>
          <a:solidFill>
            <a:schemeClr val="accent3"/>
          </a:solidFill>
          <a:ln w="15875">
            <a:noFill/>
          </a:ln>
        </p:spPr>
        <p:txBody>
          <a:bodyPr lIns="0" tIns="0" rIns="0" bIns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80" name="s236">
            <a:extLst>
              <a:ext uri="{FF2B5EF4-FFF2-40B4-BE49-F238E27FC236}">
                <a16:creationId xmlns:a16="http://schemas.microsoft.com/office/drawing/2014/main" id="{FD5C2E27-3BAC-7DAA-19B9-9AB6684E0362}"/>
              </a:ext>
            </a:extLst>
          </p:cNvPr>
          <p:cNvSpPr>
            <a:spLocks noGrp="1"/>
          </p:cNvSpPr>
          <p:nvPr/>
        </p:nvSpPr>
        <p:spPr>
          <a:xfrm>
            <a:off x="1875028" y="5374984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 algn="ctr">
              <a:buNone/>
            </a:pPr>
            <a:endParaRPr lang="en-US" sz="1013" dirty="0">
              <a:latin typeface="Funnel Sans"/>
            </a:endParaRPr>
          </a:p>
        </p:txBody>
      </p:sp>
      <p:sp>
        <p:nvSpPr>
          <p:cNvPr id="82" name="dot2">
            <a:extLst>
              <a:ext uri="{FF2B5EF4-FFF2-40B4-BE49-F238E27FC236}">
                <a16:creationId xmlns:a16="http://schemas.microsoft.com/office/drawing/2014/main" id="{A39707ED-0050-75BD-5D35-C38D61D29A12}"/>
              </a:ext>
            </a:extLst>
          </p:cNvPr>
          <p:cNvSpPr>
            <a:spLocks noGrp="1"/>
          </p:cNvSpPr>
          <p:nvPr/>
        </p:nvSpPr>
        <p:spPr>
          <a:xfrm>
            <a:off x="8572894" y="4573801"/>
            <a:ext cx="256032" cy="256032"/>
          </a:xfrm>
          <a:prstGeom prst="ellipse">
            <a:avLst/>
          </a:prstGeom>
          <a:solidFill>
            <a:schemeClr val="accent3"/>
          </a:solidFill>
          <a:ln w="15875">
            <a:noFill/>
          </a:ln>
        </p:spPr>
        <p:txBody>
          <a:bodyPr lIns="0" tIns="0" rIns="0" bIns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84" name="s240">
            <a:extLst>
              <a:ext uri="{FF2B5EF4-FFF2-40B4-BE49-F238E27FC236}">
                <a16:creationId xmlns:a16="http://schemas.microsoft.com/office/drawing/2014/main" id="{5E62B920-0E15-0927-3CB1-1E56D90CD294}"/>
              </a:ext>
            </a:extLst>
          </p:cNvPr>
          <p:cNvSpPr>
            <a:spLocks noGrp="1"/>
          </p:cNvSpPr>
          <p:nvPr/>
        </p:nvSpPr>
        <p:spPr>
          <a:xfrm>
            <a:off x="2704165" y="5481500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r>
              <a:rPr lang="en-US" sz="1100" b="1" dirty="0">
                <a:latin typeface="Funnel Sans"/>
              </a:rPr>
              <a:t>$1.7B</a:t>
            </a:r>
          </a:p>
          <a:p>
            <a:r>
              <a:rPr lang="en-US" sz="1100" dirty="0"/>
              <a:t>Novartis · Mariana</a:t>
            </a:r>
          </a:p>
        </p:txBody>
      </p:sp>
      <p:sp>
        <p:nvSpPr>
          <p:cNvPr id="85" name="dot3">
            <a:extLst>
              <a:ext uri="{FF2B5EF4-FFF2-40B4-BE49-F238E27FC236}">
                <a16:creationId xmlns:a16="http://schemas.microsoft.com/office/drawing/2014/main" id="{83F35621-C101-A0E6-BC1E-023A2C654B88}"/>
              </a:ext>
            </a:extLst>
          </p:cNvPr>
          <p:cNvSpPr>
            <a:spLocks noGrp="1"/>
          </p:cNvSpPr>
          <p:nvPr/>
        </p:nvSpPr>
        <p:spPr>
          <a:xfrm>
            <a:off x="6172610" y="5182776"/>
            <a:ext cx="256032" cy="256032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5875">
            <a:noFill/>
          </a:ln>
        </p:spPr>
        <p:txBody>
          <a:bodyPr lIns="0" tIns="0" rIns="0" bIns="0"/>
          <a:lstStyle/>
          <a:p>
            <a:pPr algn="ctr"/>
            <a:r>
              <a:rPr lang="en-US" sz="1200" b="1" dirty="0"/>
              <a:t>10</a:t>
            </a:r>
            <a:endParaRPr sz="1200" b="1" dirty="0"/>
          </a:p>
        </p:txBody>
      </p:sp>
      <p:sp>
        <p:nvSpPr>
          <p:cNvPr id="87" name="s243">
            <a:extLst>
              <a:ext uri="{FF2B5EF4-FFF2-40B4-BE49-F238E27FC236}">
                <a16:creationId xmlns:a16="http://schemas.microsoft.com/office/drawing/2014/main" id="{F3931278-C096-9A09-89C4-85AFDCB35B9E}"/>
              </a:ext>
            </a:extLst>
          </p:cNvPr>
          <p:cNvSpPr>
            <a:spLocks noGrp="1"/>
          </p:cNvSpPr>
          <p:nvPr/>
        </p:nvSpPr>
        <p:spPr>
          <a:xfrm>
            <a:off x="6406789" y="5183030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r>
              <a:rPr lang="en-US" sz="1100" b="1" dirty="0">
                <a:latin typeface="Funnel Sans"/>
              </a:rPr>
              <a:t>$2.4B</a:t>
            </a:r>
          </a:p>
          <a:p>
            <a:r>
              <a:rPr lang="en-US" sz="1100" dirty="0"/>
              <a:t>AZ · Fusion</a:t>
            </a:r>
          </a:p>
        </p:txBody>
      </p:sp>
      <p:sp>
        <p:nvSpPr>
          <p:cNvPr id="88" name="dot4">
            <a:extLst>
              <a:ext uri="{FF2B5EF4-FFF2-40B4-BE49-F238E27FC236}">
                <a16:creationId xmlns:a16="http://schemas.microsoft.com/office/drawing/2014/main" id="{CBF601E3-B961-A48C-0D82-BA351BA57222}"/>
              </a:ext>
            </a:extLst>
          </p:cNvPr>
          <p:cNvSpPr>
            <a:spLocks noGrp="1"/>
          </p:cNvSpPr>
          <p:nvPr/>
        </p:nvSpPr>
        <p:spPr>
          <a:xfrm>
            <a:off x="9309753" y="5220492"/>
            <a:ext cx="256032" cy="256032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5875">
            <a:noFill/>
          </a:ln>
        </p:spPr>
        <p:txBody>
          <a:bodyPr lIns="0" tIns="0" rIns="0" bIns="0"/>
          <a:lstStyle/>
          <a:p>
            <a:pPr algn="ctr"/>
            <a:r>
              <a:rPr lang="en-US" sz="1200" b="1" dirty="0"/>
              <a:t>2</a:t>
            </a:r>
            <a:endParaRPr sz="1200" b="1" dirty="0"/>
          </a:p>
        </p:txBody>
      </p:sp>
      <p:sp>
        <p:nvSpPr>
          <p:cNvPr id="90" name="s246">
            <a:extLst>
              <a:ext uri="{FF2B5EF4-FFF2-40B4-BE49-F238E27FC236}">
                <a16:creationId xmlns:a16="http://schemas.microsoft.com/office/drawing/2014/main" id="{7DA3A54E-FCE5-D9D9-8E4C-D4C7EC67E750}"/>
              </a:ext>
            </a:extLst>
          </p:cNvPr>
          <p:cNvSpPr>
            <a:spLocks noGrp="1"/>
          </p:cNvSpPr>
          <p:nvPr/>
        </p:nvSpPr>
        <p:spPr>
          <a:xfrm>
            <a:off x="9512953" y="5238636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r>
              <a:rPr lang="en-US" sz="1100" b="1" dirty="0">
                <a:latin typeface="Funnel Sans"/>
              </a:rPr>
              <a:t>$2.1B</a:t>
            </a:r>
          </a:p>
          <a:p>
            <a:r>
              <a:rPr lang="en-US" sz="1100" dirty="0"/>
              <a:t>Novartis · Pluvicto</a:t>
            </a:r>
          </a:p>
        </p:txBody>
      </p:sp>
      <p:sp>
        <p:nvSpPr>
          <p:cNvPr id="2" name="dot4">
            <a:extLst>
              <a:ext uri="{FF2B5EF4-FFF2-40B4-BE49-F238E27FC236}">
                <a16:creationId xmlns:a16="http://schemas.microsoft.com/office/drawing/2014/main" id="{1617A1F8-017E-8F48-E303-4ADAEBDD75AF}"/>
              </a:ext>
            </a:extLst>
          </p:cNvPr>
          <p:cNvSpPr>
            <a:spLocks noGrp="1"/>
          </p:cNvSpPr>
          <p:nvPr/>
        </p:nvSpPr>
        <p:spPr>
          <a:xfrm>
            <a:off x="11352573" y="4613331"/>
            <a:ext cx="256032" cy="256032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5875">
            <a:noFill/>
          </a:ln>
        </p:spPr>
        <p:txBody>
          <a:bodyPr lIns="0" tIns="0" rIns="0" bIns="0"/>
          <a:lstStyle/>
          <a:p>
            <a:pPr algn="ctr"/>
            <a:r>
              <a:rPr lang="en-US" sz="1200" b="1"/>
              <a:t>6</a:t>
            </a:r>
            <a:endParaRPr sz="1200" b="1" dirty="0"/>
          </a:p>
        </p:txBody>
      </p:sp>
      <p:sp>
        <p:nvSpPr>
          <p:cNvPr id="3" name="s245">
            <a:extLst>
              <a:ext uri="{FF2B5EF4-FFF2-40B4-BE49-F238E27FC236}">
                <a16:creationId xmlns:a16="http://schemas.microsoft.com/office/drawing/2014/main" id="{CD71ED28-C834-53B9-634B-BC373038AD0E}"/>
              </a:ext>
            </a:extLst>
          </p:cNvPr>
          <p:cNvSpPr>
            <a:spLocks noGrp="1"/>
          </p:cNvSpPr>
          <p:nvPr/>
        </p:nvSpPr>
        <p:spPr>
          <a:xfrm>
            <a:off x="9981624" y="4732571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 algn="r">
              <a:buNone/>
            </a:pPr>
            <a:endParaRPr lang="en-US" sz="1013" dirty="0">
              <a:latin typeface="Funnel Sans"/>
            </a:endParaRPr>
          </a:p>
        </p:txBody>
      </p:sp>
      <p:sp>
        <p:nvSpPr>
          <p:cNvPr id="4" name="s246">
            <a:extLst>
              <a:ext uri="{FF2B5EF4-FFF2-40B4-BE49-F238E27FC236}">
                <a16:creationId xmlns:a16="http://schemas.microsoft.com/office/drawing/2014/main" id="{518CB3A0-87D1-78E7-4E7E-6AEC2FFB74A7}"/>
              </a:ext>
            </a:extLst>
          </p:cNvPr>
          <p:cNvSpPr>
            <a:spLocks noGrp="1"/>
          </p:cNvSpPr>
          <p:nvPr/>
        </p:nvSpPr>
        <p:spPr>
          <a:xfrm>
            <a:off x="9722196" y="4662344"/>
            <a:ext cx="1614095" cy="195377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 algn="r">
              <a:buNone/>
            </a:pPr>
            <a:r>
              <a:rPr lang="en-US" sz="1100" b="1" dirty="0">
                <a:latin typeface="Funnel Sans"/>
              </a:rPr>
              <a:t>$3.9B</a:t>
            </a:r>
          </a:p>
          <a:p>
            <a:pPr algn="r"/>
            <a:r>
              <a:rPr lang="en-US" sz="1100" dirty="0"/>
              <a:t>Novartis · Lutathera</a:t>
            </a:r>
          </a:p>
        </p:txBody>
      </p:sp>
      <p:sp>
        <p:nvSpPr>
          <p:cNvPr id="7" name="dot2">
            <a:extLst>
              <a:ext uri="{FF2B5EF4-FFF2-40B4-BE49-F238E27FC236}">
                <a16:creationId xmlns:a16="http://schemas.microsoft.com/office/drawing/2014/main" id="{2FEF6859-1C65-4E27-4423-8F1C523F9A06}"/>
              </a:ext>
            </a:extLst>
          </p:cNvPr>
          <p:cNvSpPr>
            <a:spLocks noGrp="1"/>
          </p:cNvSpPr>
          <p:nvPr/>
        </p:nvSpPr>
        <p:spPr>
          <a:xfrm>
            <a:off x="4391576" y="5708561"/>
            <a:ext cx="256032" cy="256032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5875">
            <a:noFill/>
          </a:ln>
        </p:spPr>
        <p:txBody>
          <a:bodyPr lIns="0" tIns="0" rIns="0" bIns="0"/>
          <a:lstStyle/>
          <a:p>
            <a:pPr algn="ctr"/>
            <a:r>
              <a:rPr lang="en-US" sz="1200" b="1"/>
              <a:t>4</a:t>
            </a:r>
            <a:endParaRPr sz="1200" b="1" dirty="0"/>
          </a:p>
        </p:txBody>
      </p:sp>
      <p:sp>
        <p:nvSpPr>
          <p:cNvPr id="8" name="s239">
            <a:extLst>
              <a:ext uri="{FF2B5EF4-FFF2-40B4-BE49-F238E27FC236}">
                <a16:creationId xmlns:a16="http://schemas.microsoft.com/office/drawing/2014/main" id="{B49E9105-148C-5454-431D-E76CA903F491}"/>
              </a:ext>
            </a:extLst>
          </p:cNvPr>
          <p:cNvSpPr>
            <a:spLocks noGrp="1"/>
          </p:cNvSpPr>
          <p:nvPr/>
        </p:nvSpPr>
        <p:spPr>
          <a:xfrm>
            <a:off x="3949930" y="5583306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 algn="ctr">
              <a:buNone/>
            </a:pPr>
            <a:endParaRPr lang="en-US" sz="1013" dirty="0">
              <a:latin typeface="Funnel Sans"/>
            </a:endParaRPr>
          </a:p>
        </p:txBody>
      </p:sp>
      <p:sp>
        <p:nvSpPr>
          <p:cNvPr id="9" name="dot1">
            <a:extLst>
              <a:ext uri="{FF2B5EF4-FFF2-40B4-BE49-F238E27FC236}">
                <a16:creationId xmlns:a16="http://schemas.microsoft.com/office/drawing/2014/main" id="{31819FC2-E3E0-3204-68F0-D8426B0C8E45}"/>
              </a:ext>
            </a:extLst>
          </p:cNvPr>
          <p:cNvSpPr>
            <a:spLocks noGrp="1"/>
          </p:cNvSpPr>
          <p:nvPr/>
        </p:nvSpPr>
        <p:spPr>
          <a:xfrm>
            <a:off x="10179207" y="6220483"/>
            <a:ext cx="201168" cy="201168"/>
          </a:xfrm>
          <a:prstGeom prst="ellipse">
            <a:avLst/>
          </a:prstGeom>
          <a:solidFill>
            <a:schemeClr val="accent3"/>
          </a:solidFill>
          <a:ln w="15875">
            <a:noFill/>
          </a:ln>
        </p:spPr>
        <p:txBody>
          <a:bodyPr lIns="0" tIns="0" rIns="0" bIns="0"/>
          <a:lstStyle/>
          <a:p>
            <a:pPr algn="ctr"/>
            <a:endParaRPr sz="1050" b="1">
              <a:solidFill>
                <a:schemeClr val="bg1"/>
              </a:solidFill>
            </a:endParaRPr>
          </a:p>
        </p:txBody>
      </p:sp>
      <p:sp>
        <p:nvSpPr>
          <p:cNvPr id="11" name="dot2">
            <a:extLst>
              <a:ext uri="{FF2B5EF4-FFF2-40B4-BE49-F238E27FC236}">
                <a16:creationId xmlns:a16="http://schemas.microsoft.com/office/drawing/2014/main" id="{AB0D13AD-59ED-A2E9-6160-E81CFDA5ED30}"/>
              </a:ext>
            </a:extLst>
          </p:cNvPr>
          <p:cNvSpPr>
            <a:spLocks noGrp="1"/>
          </p:cNvSpPr>
          <p:nvPr/>
        </p:nvSpPr>
        <p:spPr>
          <a:xfrm>
            <a:off x="10179207" y="5931148"/>
            <a:ext cx="201168" cy="201168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5875">
            <a:noFill/>
          </a:ln>
        </p:spPr>
        <p:txBody>
          <a:bodyPr lIns="0" tIns="0" rIns="0" bIns="0"/>
          <a:lstStyle/>
          <a:p>
            <a:pPr algn="ctr"/>
            <a:endParaRPr sz="1050" b="1">
              <a:solidFill>
                <a:schemeClr val="bg1"/>
              </a:solidFill>
            </a:endParaRPr>
          </a:p>
        </p:txBody>
      </p:sp>
      <p:sp>
        <p:nvSpPr>
          <p:cNvPr id="13" name="s239">
            <a:extLst>
              <a:ext uri="{FF2B5EF4-FFF2-40B4-BE49-F238E27FC236}">
                <a16:creationId xmlns:a16="http://schemas.microsoft.com/office/drawing/2014/main" id="{4343D445-2B9B-A453-08B5-A358DC2B99E6}"/>
              </a:ext>
            </a:extLst>
          </p:cNvPr>
          <p:cNvSpPr>
            <a:spLocks noGrp="1"/>
          </p:cNvSpPr>
          <p:nvPr/>
        </p:nvSpPr>
        <p:spPr>
          <a:xfrm>
            <a:off x="10399451" y="5933981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r>
              <a:rPr lang="en-US" sz="1067" dirty="0">
                <a:latin typeface="Funnel Sans"/>
              </a:rPr>
              <a:t>Asset led deal</a:t>
            </a:r>
          </a:p>
        </p:txBody>
      </p:sp>
      <p:sp>
        <p:nvSpPr>
          <p:cNvPr id="15" name="s239">
            <a:extLst>
              <a:ext uri="{FF2B5EF4-FFF2-40B4-BE49-F238E27FC236}">
                <a16:creationId xmlns:a16="http://schemas.microsoft.com/office/drawing/2014/main" id="{047C37DD-B16E-5C45-DFFF-D854A6B9837F}"/>
              </a:ext>
            </a:extLst>
          </p:cNvPr>
          <p:cNvSpPr>
            <a:spLocks noGrp="1"/>
          </p:cNvSpPr>
          <p:nvPr/>
        </p:nvSpPr>
        <p:spPr>
          <a:xfrm>
            <a:off x="10399451" y="6217395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r>
              <a:rPr lang="en-US" sz="1067" dirty="0">
                <a:latin typeface="Funnel Sans"/>
              </a:rPr>
              <a:t>Platform led deal</a:t>
            </a:r>
          </a:p>
        </p:txBody>
      </p:sp>
      <p:sp>
        <p:nvSpPr>
          <p:cNvPr id="123" name="dot0">
            <a:extLst>
              <a:ext uri="{FF2B5EF4-FFF2-40B4-BE49-F238E27FC236}">
                <a16:creationId xmlns:a16="http://schemas.microsoft.com/office/drawing/2014/main" id="{A1A4ED2B-39F0-0AF1-FAD5-5B59FD73A938}"/>
              </a:ext>
            </a:extLst>
          </p:cNvPr>
          <p:cNvSpPr>
            <a:spLocks noGrp="1"/>
          </p:cNvSpPr>
          <p:nvPr/>
        </p:nvSpPr>
        <p:spPr>
          <a:xfrm>
            <a:off x="958056" y="5848559"/>
            <a:ext cx="256032" cy="256032"/>
          </a:xfrm>
          <a:prstGeom prst="ellipse">
            <a:avLst/>
          </a:prstGeom>
          <a:solidFill>
            <a:schemeClr val="accent3"/>
          </a:solidFill>
          <a:ln w="15875">
            <a:noFill/>
          </a:ln>
        </p:spPr>
        <p:txBody>
          <a:bodyPr lIns="0" tIns="0" rIns="0" bIns="0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5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124" name="s233">
            <a:extLst>
              <a:ext uri="{FF2B5EF4-FFF2-40B4-BE49-F238E27FC236}">
                <a16:creationId xmlns:a16="http://schemas.microsoft.com/office/drawing/2014/main" id="{E0B4EA72-2FB8-372B-6C07-D33865DE436F}"/>
              </a:ext>
            </a:extLst>
          </p:cNvPr>
          <p:cNvSpPr>
            <a:spLocks noGrp="1"/>
          </p:cNvSpPr>
          <p:nvPr/>
        </p:nvSpPr>
        <p:spPr>
          <a:xfrm>
            <a:off x="1161256" y="5906578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endParaRPr lang="en-US" sz="1013" dirty="0">
              <a:latin typeface="Funnel Sans"/>
            </a:endParaRPr>
          </a:p>
        </p:txBody>
      </p:sp>
      <p:sp>
        <p:nvSpPr>
          <p:cNvPr id="125" name="s234">
            <a:extLst>
              <a:ext uri="{FF2B5EF4-FFF2-40B4-BE49-F238E27FC236}">
                <a16:creationId xmlns:a16="http://schemas.microsoft.com/office/drawing/2014/main" id="{C61D5B48-51C6-A605-BE94-A99E85A26AD3}"/>
              </a:ext>
            </a:extLst>
          </p:cNvPr>
          <p:cNvSpPr>
            <a:spLocks noGrp="1"/>
          </p:cNvSpPr>
          <p:nvPr/>
        </p:nvSpPr>
        <p:spPr>
          <a:xfrm>
            <a:off x="1161256" y="5872453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r>
              <a:rPr lang="en-US" sz="1100" b="1" dirty="0">
                <a:latin typeface="Funnel Sans"/>
              </a:rPr>
              <a:t>$1.1B</a:t>
            </a:r>
          </a:p>
          <a:p>
            <a:r>
              <a:rPr lang="en-US" sz="1100" dirty="0"/>
              <a:t>Lilly · </a:t>
            </a:r>
            <a:r>
              <a:rPr lang="en-US" sz="1100" dirty="0" err="1"/>
              <a:t>Aktis</a:t>
            </a:r>
            <a:r>
              <a:rPr lang="en-US" sz="1100" dirty="0"/>
              <a:t> </a:t>
            </a:r>
          </a:p>
        </p:txBody>
      </p:sp>
      <p:sp>
        <p:nvSpPr>
          <p:cNvPr id="126" name="dot0">
            <a:extLst>
              <a:ext uri="{FF2B5EF4-FFF2-40B4-BE49-F238E27FC236}">
                <a16:creationId xmlns:a16="http://schemas.microsoft.com/office/drawing/2014/main" id="{97DA703F-1F93-646C-D1C0-354584564539}"/>
              </a:ext>
            </a:extLst>
          </p:cNvPr>
          <p:cNvSpPr>
            <a:spLocks noGrp="1"/>
          </p:cNvSpPr>
          <p:nvPr/>
        </p:nvSpPr>
        <p:spPr>
          <a:xfrm>
            <a:off x="2439896" y="5848559"/>
            <a:ext cx="256032" cy="256032"/>
          </a:xfrm>
          <a:prstGeom prst="ellipse">
            <a:avLst/>
          </a:prstGeom>
          <a:solidFill>
            <a:schemeClr val="accent3"/>
          </a:solidFill>
          <a:ln w="15875">
            <a:noFill/>
          </a:ln>
        </p:spPr>
        <p:txBody>
          <a:bodyPr lIns="0" tIns="0" rIns="0" bIns="0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3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128" name="s233">
            <a:extLst>
              <a:ext uri="{FF2B5EF4-FFF2-40B4-BE49-F238E27FC236}">
                <a16:creationId xmlns:a16="http://schemas.microsoft.com/office/drawing/2014/main" id="{4BB2ADC8-CF25-98F1-E073-1C103933F73F}"/>
              </a:ext>
            </a:extLst>
          </p:cNvPr>
          <p:cNvSpPr>
            <a:spLocks noGrp="1"/>
          </p:cNvSpPr>
          <p:nvPr/>
        </p:nvSpPr>
        <p:spPr>
          <a:xfrm>
            <a:off x="2654701" y="5906578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endParaRPr lang="en-US" sz="1013" dirty="0">
              <a:latin typeface="Funnel Sans"/>
            </a:endParaRPr>
          </a:p>
        </p:txBody>
      </p:sp>
      <p:sp>
        <p:nvSpPr>
          <p:cNvPr id="129" name="s234">
            <a:extLst>
              <a:ext uri="{FF2B5EF4-FFF2-40B4-BE49-F238E27FC236}">
                <a16:creationId xmlns:a16="http://schemas.microsoft.com/office/drawing/2014/main" id="{780AADED-1551-C5D7-DBF2-92B6EBFAE28D}"/>
              </a:ext>
            </a:extLst>
          </p:cNvPr>
          <p:cNvSpPr>
            <a:spLocks noGrp="1"/>
          </p:cNvSpPr>
          <p:nvPr/>
        </p:nvSpPr>
        <p:spPr>
          <a:xfrm>
            <a:off x="2711145" y="5903532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r>
              <a:rPr lang="en-US" sz="1100" b="1" dirty="0">
                <a:latin typeface="Funnel Sans"/>
              </a:rPr>
              <a:t>$1.1B</a:t>
            </a:r>
          </a:p>
          <a:p>
            <a:pPr>
              <a:buNone/>
            </a:pPr>
            <a:r>
              <a:rPr lang="en-US" sz="1100" dirty="0"/>
              <a:t>Lilly · </a:t>
            </a:r>
            <a:r>
              <a:rPr lang="en-US" sz="1100" dirty="0" err="1"/>
              <a:t>Radionetics</a:t>
            </a:r>
            <a:endParaRPr lang="en-US" sz="1100" b="1" dirty="0">
              <a:latin typeface="Funnel San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F9C73E-531E-2A9A-5D6B-17F012B4AD7C}"/>
              </a:ext>
            </a:extLst>
          </p:cNvPr>
          <p:cNvCxnSpPr>
            <a:cxnSpLocks/>
          </p:cNvCxnSpPr>
          <p:nvPr/>
        </p:nvCxnSpPr>
        <p:spPr>
          <a:xfrm>
            <a:off x="909682" y="4502396"/>
            <a:ext cx="0" cy="201168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74B0B0-9C75-8F36-9ADD-85AE72A4830F}"/>
              </a:ext>
            </a:extLst>
          </p:cNvPr>
          <p:cNvCxnSpPr>
            <a:cxnSpLocks/>
          </p:cNvCxnSpPr>
          <p:nvPr/>
        </p:nvCxnSpPr>
        <p:spPr>
          <a:xfrm rot="16200000">
            <a:off x="6304643" y="1103690"/>
            <a:ext cx="0" cy="1078992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ValueCurve">
            <a:extLst>
              <a:ext uri="{FF2B5EF4-FFF2-40B4-BE49-F238E27FC236}">
                <a16:creationId xmlns:a16="http://schemas.microsoft.com/office/drawing/2014/main" id="{DF5DC496-7FDF-4267-86A3-837926ACE492}"/>
              </a:ext>
            </a:extLst>
          </p:cNvPr>
          <p:cNvSpPr>
            <a:spLocks noGrp="1"/>
          </p:cNvSpPr>
          <p:nvPr/>
        </p:nvSpPr>
        <p:spPr>
          <a:xfrm>
            <a:off x="878574" y="4549671"/>
            <a:ext cx="10731132" cy="1905638"/>
          </a:xfrm>
          <a:custGeom>
            <a:avLst/>
            <a:gdLst/>
            <a:ahLst/>
            <a:cxnLst/>
            <a:rect l="l" t="t" r="r" b="b"/>
            <a:pathLst>
              <a:path w="8305800" h="1898650">
                <a:moveTo>
                  <a:pt x="0" y="1622508"/>
                </a:moveTo>
                <a:cubicBezTo>
                  <a:pt x="4568190" y="1936750"/>
                  <a:pt x="4983480" y="63500"/>
                  <a:pt x="8305800" y="0"/>
                </a:cubicBezTo>
              </a:path>
            </a:pathLst>
          </a:custGeom>
          <a:noFill/>
          <a:ln w="25400">
            <a:solidFill>
              <a:srgbClr val="002924"/>
            </a:solidFill>
            <a:round/>
          </a:ln>
        </p:spPr>
        <p:txBody>
          <a:bodyPr/>
          <a:lstStyle/>
          <a:p>
            <a:endParaRPr sz="2400"/>
          </a:p>
        </p:txBody>
      </p:sp>
      <p:sp>
        <p:nvSpPr>
          <p:cNvPr id="81" name="s237">
            <a:extLst>
              <a:ext uri="{FF2B5EF4-FFF2-40B4-BE49-F238E27FC236}">
                <a16:creationId xmlns:a16="http://schemas.microsoft.com/office/drawing/2014/main" id="{FB5A1851-6280-6F26-8E9C-4DC7AD93ECFF}"/>
              </a:ext>
            </a:extLst>
          </p:cNvPr>
          <p:cNvSpPr>
            <a:spLocks noGrp="1"/>
          </p:cNvSpPr>
          <p:nvPr/>
        </p:nvSpPr>
        <p:spPr>
          <a:xfrm>
            <a:off x="7197399" y="4694924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 algn="r">
              <a:buNone/>
            </a:pPr>
            <a:r>
              <a:rPr lang="en-US" sz="1100" b="1" dirty="0">
                <a:latin typeface="Funnel Sans"/>
              </a:rPr>
              <a:t>$4.1B</a:t>
            </a:r>
          </a:p>
          <a:p>
            <a:pPr algn="r"/>
            <a:r>
              <a:rPr lang="en-US" sz="1100" dirty="0"/>
              <a:t>BMS · </a:t>
            </a:r>
            <a:r>
              <a:rPr lang="en-US" sz="1100" dirty="0" err="1"/>
              <a:t>RayzeBio</a:t>
            </a:r>
            <a:endParaRPr lang="en-US" sz="1100" dirty="0"/>
          </a:p>
        </p:txBody>
      </p:sp>
      <p:sp>
        <p:nvSpPr>
          <p:cNvPr id="5" name="s237">
            <a:extLst>
              <a:ext uri="{FF2B5EF4-FFF2-40B4-BE49-F238E27FC236}">
                <a16:creationId xmlns:a16="http://schemas.microsoft.com/office/drawing/2014/main" id="{5AE2FAD3-4925-9D82-7E61-D03FD086A6AC}"/>
              </a:ext>
            </a:extLst>
          </p:cNvPr>
          <p:cNvSpPr>
            <a:spLocks noGrp="1"/>
          </p:cNvSpPr>
          <p:nvPr/>
        </p:nvSpPr>
        <p:spPr>
          <a:xfrm>
            <a:off x="4327867" y="5424733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r>
              <a:rPr lang="en-US" sz="1100" b="1" dirty="0">
                <a:latin typeface="Funnel Sans"/>
              </a:rPr>
              <a:t>$1.35B</a:t>
            </a:r>
          </a:p>
          <a:p>
            <a:r>
              <a:rPr lang="en-US" sz="1100" dirty="0"/>
              <a:t>BMS · </a:t>
            </a:r>
            <a:r>
              <a:rPr lang="en-US" sz="1100" dirty="0" err="1"/>
              <a:t>Philogen</a:t>
            </a:r>
            <a:endParaRPr lang="en-US" sz="1100" dirty="0"/>
          </a:p>
        </p:txBody>
      </p:sp>
      <p:sp>
        <p:nvSpPr>
          <p:cNvPr id="45" name="dot2">
            <a:extLst>
              <a:ext uri="{FF2B5EF4-FFF2-40B4-BE49-F238E27FC236}">
                <a16:creationId xmlns:a16="http://schemas.microsoft.com/office/drawing/2014/main" id="{FCF7BF13-92C1-81BD-4B43-635C5721F199}"/>
              </a:ext>
            </a:extLst>
          </p:cNvPr>
          <p:cNvSpPr>
            <a:spLocks noGrp="1"/>
          </p:cNvSpPr>
          <p:nvPr/>
        </p:nvSpPr>
        <p:spPr>
          <a:xfrm>
            <a:off x="10179207" y="5641813"/>
            <a:ext cx="201168" cy="20116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txBody>
          <a:bodyPr lIns="0" tIns="0" rIns="0" bIns="0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X</a:t>
            </a:r>
            <a:endParaRPr sz="1050" b="1" dirty="0">
              <a:solidFill>
                <a:schemeClr val="bg1"/>
              </a:solidFill>
            </a:endParaRPr>
          </a:p>
        </p:txBody>
      </p:sp>
      <p:sp>
        <p:nvSpPr>
          <p:cNvPr id="58" name="s239">
            <a:extLst>
              <a:ext uri="{FF2B5EF4-FFF2-40B4-BE49-F238E27FC236}">
                <a16:creationId xmlns:a16="http://schemas.microsoft.com/office/drawing/2014/main" id="{C9EF8EDD-00B9-2A29-9D8D-FB7F81D2DBAB}"/>
              </a:ext>
            </a:extLst>
          </p:cNvPr>
          <p:cNvSpPr>
            <a:spLocks noGrp="1"/>
          </p:cNvSpPr>
          <p:nvPr/>
        </p:nvSpPr>
        <p:spPr>
          <a:xfrm>
            <a:off x="10399451" y="5664191"/>
            <a:ext cx="1354667" cy="169333"/>
          </a:xfrm>
          <a:prstGeom prst="rect">
            <a:avLst/>
          </a:prstGeom>
          <a:noFill/>
          <a:ln>
            <a:noFill/>
          </a:ln>
        </p:spPr>
        <p:txBody>
          <a:bodyPr lIns="60960" tIns="36576" rIns="60960" bIns="36576" anchor="ctr"/>
          <a:lstStyle/>
          <a:p>
            <a:pPr>
              <a:buNone/>
            </a:pPr>
            <a:r>
              <a:rPr lang="en-US" sz="1067" dirty="0">
                <a:latin typeface="Funnel Sans"/>
              </a:rPr>
              <a:t>Years </a:t>
            </a:r>
            <a:r>
              <a:rPr lang="en-US" sz="1067">
                <a:latin typeface="Funnel Sans"/>
              </a:rPr>
              <a:t>to acquisition</a:t>
            </a:r>
            <a:endParaRPr lang="en-US" sz="1067" dirty="0">
              <a:latin typeface="Funnel Sans"/>
            </a:endParaRPr>
          </a:p>
        </p:txBody>
      </p:sp>
    </p:spTree>
    <p:extLst>
      <p:ext uri="{BB962C8B-B14F-4D97-AF65-F5344CB8AC3E}">
        <p14:creationId xmlns:p14="http://schemas.microsoft.com/office/powerpoint/2010/main" val="310685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02B57-3F37-C158-78D2-FCB15FB4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2" y="1389953"/>
            <a:ext cx="3189476" cy="774128"/>
          </a:xfrm>
        </p:spPr>
        <p:txBody>
          <a:bodyPr/>
          <a:lstStyle/>
          <a:p>
            <a:pPr>
              <a:lnSpc>
                <a:spcPct val="99000"/>
              </a:lnSpc>
            </a:pPr>
            <a:r>
              <a:rPr lang="en-GB" dirty="0"/>
              <a:t>Strong value trajectory towards revenue generation driven by three phases of flawless execution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B4F2B-51B3-C54E-CFE9-19A1EF4FC00F}"/>
              </a:ext>
            </a:extLst>
          </p:cNvPr>
          <p:cNvSpPr txBox="1"/>
          <p:nvPr/>
        </p:nvSpPr>
        <p:spPr>
          <a:xfrm>
            <a:off x="259874" y="1071722"/>
            <a:ext cx="2095700" cy="2447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Medium" pitchFamily="2" charset="0"/>
              </a:rPr>
              <a:t>Our Future Roadmap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503FD41-2F9F-3F49-2256-FC284C79C9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1" y="1099339"/>
            <a:ext cx="8267702" cy="542824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A0268B1-D1BB-8659-54A1-EF70FF73D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5662" y="1315522"/>
            <a:ext cx="6942627" cy="2501327"/>
          </a:xfrm>
          <a:prstGeom prst="rect">
            <a:avLst/>
          </a:prstGeom>
        </p:spPr>
      </p:pic>
      <p:sp>
        <p:nvSpPr>
          <p:cNvPr id="34" name="Freeform 33">
            <a:extLst>
              <a:ext uri="{FF2B5EF4-FFF2-40B4-BE49-F238E27FC236}">
                <a16:creationId xmlns:a16="http://schemas.microsoft.com/office/drawing/2014/main" id="{FBFEE730-BD81-6BE6-99CF-2AEE2EDCB9DA}"/>
              </a:ext>
            </a:extLst>
          </p:cNvPr>
          <p:cNvSpPr/>
          <p:nvPr/>
        </p:nvSpPr>
        <p:spPr>
          <a:xfrm>
            <a:off x="4935882" y="3312845"/>
            <a:ext cx="827912" cy="356334"/>
          </a:xfrm>
          <a:custGeom>
            <a:avLst/>
            <a:gdLst>
              <a:gd name="csX0" fmla="*/ 178167 w 827912"/>
              <a:gd name="csY0" fmla="*/ 0 h 356334"/>
              <a:gd name="csX1" fmla="*/ 649745 w 827912"/>
              <a:gd name="csY1" fmla="*/ 0 h 356334"/>
              <a:gd name="csX2" fmla="*/ 827912 w 827912"/>
              <a:gd name="csY2" fmla="*/ 178167 h 356334"/>
              <a:gd name="csX3" fmla="*/ 649745 w 827912"/>
              <a:gd name="csY3" fmla="*/ 356334 h 356334"/>
              <a:gd name="csX4" fmla="*/ 178167 w 827912"/>
              <a:gd name="csY4" fmla="*/ 356334 h 356334"/>
              <a:gd name="csX5" fmla="*/ 0 w 827912"/>
              <a:gd name="csY5" fmla="*/ 178167 h 356334"/>
              <a:gd name="csX6" fmla="*/ 178167 w 827912"/>
              <a:gd name="csY6" fmla="*/ 0 h 356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27912" h="356334">
                <a:moveTo>
                  <a:pt x="178167" y="0"/>
                </a:moveTo>
                <a:lnTo>
                  <a:pt x="649745" y="0"/>
                </a:lnTo>
                <a:cubicBezTo>
                  <a:pt x="748144" y="0"/>
                  <a:pt x="827912" y="79768"/>
                  <a:pt x="827912" y="178167"/>
                </a:cubicBezTo>
                <a:cubicBezTo>
                  <a:pt x="827912" y="276566"/>
                  <a:pt x="748144" y="356334"/>
                  <a:pt x="649745" y="356334"/>
                </a:cubicBezTo>
                <a:lnTo>
                  <a:pt x="178167" y="356334"/>
                </a:lnTo>
                <a:cubicBezTo>
                  <a:pt x="79768" y="356334"/>
                  <a:pt x="0" y="276566"/>
                  <a:pt x="0" y="178167"/>
                </a:cubicBezTo>
                <a:cubicBezTo>
                  <a:pt x="0" y="79768"/>
                  <a:pt x="79768" y="0"/>
                  <a:pt x="17816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1–3 Years</a:t>
            </a: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B5913D39-3747-A0B8-57C8-58AAFFB042BA}"/>
              </a:ext>
            </a:extLst>
          </p:cNvPr>
          <p:cNvSpPr/>
          <p:nvPr/>
        </p:nvSpPr>
        <p:spPr>
          <a:xfrm>
            <a:off x="7229998" y="3312845"/>
            <a:ext cx="827912" cy="356334"/>
          </a:xfrm>
          <a:custGeom>
            <a:avLst/>
            <a:gdLst>
              <a:gd name="csX0" fmla="*/ 178167 w 827912"/>
              <a:gd name="csY0" fmla="*/ 0 h 356334"/>
              <a:gd name="csX1" fmla="*/ 649745 w 827912"/>
              <a:gd name="csY1" fmla="*/ 0 h 356334"/>
              <a:gd name="csX2" fmla="*/ 827912 w 827912"/>
              <a:gd name="csY2" fmla="*/ 178167 h 356334"/>
              <a:gd name="csX3" fmla="*/ 649745 w 827912"/>
              <a:gd name="csY3" fmla="*/ 356334 h 356334"/>
              <a:gd name="csX4" fmla="*/ 178167 w 827912"/>
              <a:gd name="csY4" fmla="*/ 356334 h 356334"/>
              <a:gd name="csX5" fmla="*/ 0 w 827912"/>
              <a:gd name="csY5" fmla="*/ 178167 h 356334"/>
              <a:gd name="csX6" fmla="*/ 178167 w 827912"/>
              <a:gd name="csY6" fmla="*/ 0 h 356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27912" h="356334">
                <a:moveTo>
                  <a:pt x="178167" y="0"/>
                </a:moveTo>
                <a:lnTo>
                  <a:pt x="649745" y="0"/>
                </a:lnTo>
                <a:cubicBezTo>
                  <a:pt x="748144" y="0"/>
                  <a:pt x="827912" y="79768"/>
                  <a:pt x="827912" y="178167"/>
                </a:cubicBezTo>
                <a:cubicBezTo>
                  <a:pt x="827912" y="276566"/>
                  <a:pt x="748144" y="356334"/>
                  <a:pt x="649745" y="356334"/>
                </a:cubicBezTo>
                <a:lnTo>
                  <a:pt x="178167" y="356334"/>
                </a:lnTo>
                <a:cubicBezTo>
                  <a:pt x="79768" y="356334"/>
                  <a:pt x="0" y="276566"/>
                  <a:pt x="0" y="178167"/>
                </a:cubicBezTo>
                <a:cubicBezTo>
                  <a:pt x="0" y="79768"/>
                  <a:pt x="79768" y="0"/>
                  <a:pt x="17816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3–5 Years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2C7716D9-B193-1608-E9BF-B83E4521CCE5}"/>
              </a:ext>
            </a:extLst>
          </p:cNvPr>
          <p:cNvSpPr/>
          <p:nvPr/>
        </p:nvSpPr>
        <p:spPr>
          <a:xfrm>
            <a:off x="9534937" y="3312845"/>
            <a:ext cx="827912" cy="356334"/>
          </a:xfrm>
          <a:custGeom>
            <a:avLst/>
            <a:gdLst>
              <a:gd name="csX0" fmla="*/ 178167 w 827912"/>
              <a:gd name="csY0" fmla="*/ 0 h 356334"/>
              <a:gd name="csX1" fmla="*/ 649745 w 827912"/>
              <a:gd name="csY1" fmla="*/ 0 h 356334"/>
              <a:gd name="csX2" fmla="*/ 827912 w 827912"/>
              <a:gd name="csY2" fmla="*/ 178167 h 356334"/>
              <a:gd name="csX3" fmla="*/ 649745 w 827912"/>
              <a:gd name="csY3" fmla="*/ 356334 h 356334"/>
              <a:gd name="csX4" fmla="*/ 178167 w 827912"/>
              <a:gd name="csY4" fmla="*/ 356334 h 356334"/>
              <a:gd name="csX5" fmla="*/ 0 w 827912"/>
              <a:gd name="csY5" fmla="*/ 178167 h 356334"/>
              <a:gd name="csX6" fmla="*/ 178167 w 827912"/>
              <a:gd name="csY6" fmla="*/ 0 h 356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27912" h="356334">
                <a:moveTo>
                  <a:pt x="178167" y="0"/>
                </a:moveTo>
                <a:lnTo>
                  <a:pt x="649745" y="0"/>
                </a:lnTo>
                <a:cubicBezTo>
                  <a:pt x="748144" y="0"/>
                  <a:pt x="827912" y="79768"/>
                  <a:pt x="827912" y="178167"/>
                </a:cubicBezTo>
                <a:cubicBezTo>
                  <a:pt x="827912" y="276566"/>
                  <a:pt x="748144" y="356334"/>
                  <a:pt x="649745" y="356334"/>
                </a:cubicBezTo>
                <a:lnTo>
                  <a:pt x="178167" y="356334"/>
                </a:lnTo>
                <a:cubicBezTo>
                  <a:pt x="79768" y="356334"/>
                  <a:pt x="0" y="276566"/>
                  <a:pt x="0" y="178167"/>
                </a:cubicBezTo>
                <a:cubicBezTo>
                  <a:pt x="0" y="79768"/>
                  <a:pt x="79768" y="0"/>
                  <a:pt x="1781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5+ Years</a:t>
            </a:r>
          </a:p>
        </p:txBody>
      </p:sp>
      <p:sp>
        <p:nvSpPr>
          <p:cNvPr id="37" name="Freeform: Shape 23">
            <a:extLst>
              <a:ext uri="{FF2B5EF4-FFF2-40B4-BE49-F238E27FC236}">
                <a16:creationId xmlns:a16="http://schemas.microsoft.com/office/drawing/2014/main" id="{D001E585-FCF9-B1E6-D9FC-E6D4D08D89B3}"/>
              </a:ext>
            </a:extLst>
          </p:cNvPr>
          <p:cNvSpPr/>
          <p:nvPr/>
        </p:nvSpPr>
        <p:spPr>
          <a:xfrm>
            <a:off x="4935882" y="4033032"/>
            <a:ext cx="2134769" cy="2101313"/>
          </a:xfrm>
          <a:custGeom>
            <a:avLst/>
            <a:gdLst>
              <a:gd name="connsiteX0" fmla="*/ 0 w 2823912"/>
              <a:gd name="connsiteY0" fmla="*/ 0 h 3407733"/>
              <a:gd name="connsiteX1" fmla="*/ 2823913 w 2823912"/>
              <a:gd name="connsiteY1" fmla="*/ 0 h 3407733"/>
              <a:gd name="connsiteX2" fmla="*/ 2823913 w 2823912"/>
              <a:gd name="connsiteY2" fmla="*/ 3306199 h 3407733"/>
              <a:gd name="connsiteX3" fmla="*/ 2722379 w 2823912"/>
              <a:gd name="connsiteY3" fmla="*/ 3407733 h 3407733"/>
              <a:gd name="connsiteX4" fmla="*/ 101534 w 2823912"/>
              <a:gd name="connsiteY4" fmla="*/ 3407733 h 3407733"/>
              <a:gd name="connsiteX5" fmla="*/ 0 w 2823912"/>
              <a:gd name="connsiteY5" fmla="*/ 3306199 h 3407733"/>
              <a:gd name="connsiteX6" fmla="*/ 0 w 2823912"/>
              <a:gd name="connsiteY6" fmla="*/ 0 h 3407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3912" h="3407733">
                <a:moveTo>
                  <a:pt x="0" y="0"/>
                </a:moveTo>
                <a:lnTo>
                  <a:pt x="2823913" y="0"/>
                </a:lnTo>
                <a:lnTo>
                  <a:pt x="2823913" y="3306199"/>
                </a:lnTo>
                <a:cubicBezTo>
                  <a:pt x="2823913" y="3362278"/>
                  <a:pt x="2778457" y="3407733"/>
                  <a:pt x="2722379" y="3407733"/>
                </a:cubicBezTo>
                <a:lnTo>
                  <a:pt x="101534" y="3407733"/>
                </a:lnTo>
                <a:cubicBezTo>
                  <a:pt x="45458" y="3407733"/>
                  <a:pt x="0" y="3362278"/>
                  <a:pt x="0" y="3306199"/>
                </a:cubicBezTo>
                <a:lnTo>
                  <a:pt x="0" y="0"/>
                </a:lnTo>
                <a:close/>
              </a:path>
            </a:pathLst>
          </a:custGeom>
          <a:noFill/>
          <a:ln w="6341" cap="flat">
            <a:noFill/>
            <a:prstDash val="solid"/>
            <a:miter/>
          </a:ln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Build core business &amp; research capabilities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 dirty="0">
                <a:solidFill>
                  <a:schemeClr val="accent1"/>
                </a:solidFill>
                <a:latin typeface="Funnel Sans"/>
              </a:rPr>
              <a:t>Seed: $80M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18288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Develop 6 pre-clin programs against innovative targets </a:t>
            </a:r>
          </a:p>
          <a:p>
            <a:pPr marL="18288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Translate 2 programs to FIH imaging studies</a:t>
            </a:r>
          </a:p>
          <a:p>
            <a:pPr marL="18288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Implement ML/AI capabilities to expedite discovery &amp; development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F55FFC-220B-C456-F8E2-2B4265F52B87}"/>
              </a:ext>
            </a:extLst>
          </p:cNvPr>
          <p:cNvSpPr txBox="1"/>
          <p:nvPr/>
        </p:nvSpPr>
        <p:spPr>
          <a:xfrm rot="16200000">
            <a:off x="3050837" y="2503383"/>
            <a:ext cx="1949832" cy="38175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Benchmarked Valuation*</a:t>
            </a:r>
          </a:p>
        </p:txBody>
      </p:sp>
      <p:sp>
        <p:nvSpPr>
          <p:cNvPr id="39" name="Freeform: Shape 23">
            <a:extLst>
              <a:ext uri="{FF2B5EF4-FFF2-40B4-BE49-F238E27FC236}">
                <a16:creationId xmlns:a16="http://schemas.microsoft.com/office/drawing/2014/main" id="{86308293-F081-75F3-51A9-D5C139A2A468}"/>
              </a:ext>
            </a:extLst>
          </p:cNvPr>
          <p:cNvSpPr/>
          <p:nvPr/>
        </p:nvSpPr>
        <p:spPr>
          <a:xfrm>
            <a:off x="7221882" y="4033032"/>
            <a:ext cx="2134769" cy="2101313"/>
          </a:xfrm>
          <a:custGeom>
            <a:avLst/>
            <a:gdLst>
              <a:gd name="connsiteX0" fmla="*/ 0 w 2823912"/>
              <a:gd name="connsiteY0" fmla="*/ 0 h 3407733"/>
              <a:gd name="connsiteX1" fmla="*/ 2823913 w 2823912"/>
              <a:gd name="connsiteY1" fmla="*/ 0 h 3407733"/>
              <a:gd name="connsiteX2" fmla="*/ 2823913 w 2823912"/>
              <a:gd name="connsiteY2" fmla="*/ 3306199 h 3407733"/>
              <a:gd name="connsiteX3" fmla="*/ 2722379 w 2823912"/>
              <a:gd name="connsiteY3" fmla="*/ 3407733 h 3407733"/>
              <a:gd name="connsiteX4" fmla="*/ 101534 w 2823912"/>
              <a:gd name="connsiteY4" fmla="*/ 3407733 h 3407733"/>
              <a:gd name="connsiteX5" fmla="*/ 0 w 2823912"/>
              <a:gd name="connsiteY5" fmla="*/ 3306199 h 3407733"/>
              <a:gd name="connsiteX6" fmla="*/ 0 w 2823912"/>
              <a:gd name="connsiteY6" fmla="*/ 0 h 3407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3912" h="3407733">
                <a:moveTo>
                  <a:pt x="0" y="0"/>
                </a:moveTo>
                <a:lnTo>
                  <a:pt x="2823913" y="0"/>
                </a:lnTo>
                <a:lnTo>
                  <a:pt x="2823913" y="3306199"/>
                </a:lnTo>
                <a:cubicBezTo>
                  <a:pt x="2823913" y="3362278"/>
                  <a:pt x="2778457" y="3407733"/>
                  <a:pt x="2722379" y="3407733"/>
                </a:cubicBezTo>
                <a:lnTo>
                  <a:pt x="101534" y="3407733"/>
                </a:lnTo>
                <a:cubicBezTo>
                  <a:pt x="45458" y="3407733"/>
                  <a:pt x="0" y="3362278"/>
                  <a:pt x="0" y="3306199"/>
                </a:cubicBezTo>
                <a:lnTo>
                  <a:pt x="0" y="0"/>
                </a:lnTo>
                <a:close/>
              </a:path>
            </a:pathLst>
          </a:custGeom>
          <a:noFill/>
          <a:ln w="6341" cap="flat">
            <a:noFill/>
            <a:prstDash val="solid"/>
            <a:miter/>
          </a:ln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Translate assets &amp; broaden pipeline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chemeClr val="accent1"/>
                </a:solidFill>
                <a:latin typeface="Funnel Sans"/>
              </a:rPr>
              <a:t>Series A: $150M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18288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Move 2-4 programs into Phase 1 &amp; beyond</a:t>
            </a:r>
          </a:p>
          <a:p>
            <a:pPr marL="18288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Replenish pre-clin pipeline with 6+ new programs</a:t>
            </a:r>
          </a:p>
          <a:p>
            <a:pPr marL="18288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GMP manufacturing suite expansion &amp; operation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sp>
        <p:nvSpPr>
          <p:cNvPr id="40" name="Freeform: Shape 23">
            <a:extLst>
              <a:ext uri="{FF2B5EF4-FFF2-40B4-BE49-F238E27FC236}">
                <a16:creationId xmlns:a16="http://schemas.microsoft.com/office/drawing/2014/main" id="{57BC7919-0F70-18D8-91EA-5F246FCFFA76}"/>
              </a:ext>
            </a:extLst>
          </p:cNvPr>
          <p:cNvSpPr/>
          <p:nvPr/>
        </p:nvSpPr>
        <p:spPr>
          <a:xfrm>
            <a:off x="9535314" y="4033032"/>
            <a:ext cx="2134769" cy="2101313"/>
          </a:xfrm>
          <a:custGeom>
            <a:avLst/>
            <a:gdLst>
              <a:gd name="connsiteX0" fmla="*/ 0 w 2823912"/>
              <a:gd name="connsiteY0" fmla="*/ 0 h 3407733"/>
              <a:gd name="connsiteX1" fmla="*/ 2823913 w 2823912"/>
              <a:gd name="connsiteY1" fmla="*/ 0 h 3407733"/>
              <a:gd name="connsiteX2" fmla="*/ 2823913 w 2823912"/>
              <a:gd name="connsiteY2" fmla="*/ 3306199 h 3407733"/>
              <a:gd name="connsiteX3" fmla="*/ 2722379 w 2823912"/>
              <a:gd name="connsiteY3" fmla="*/ 3407733 h 3407733"/>
              <a:gd name="connsiteX4" fmla="*/ 101534 w 2823912"/>
              <a:gd name="connsiteY4" fmla="*/ 3407733 h 3407733"/>
              <a:gd name="connsiteX5" fmla="*/ 0 w 2823912"/>
              <a:gd name="connsiteY5" fmla="*/ 3306199 h 3407733"/>
              <a:gd name="connsiteX6" fmla="*/ 0 w 2823912"/>
              <a:gd name="connsiteY6" fmla="*/ 0 h 3407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3912" h="3407733">
                <a:moveTo>
                  <a:pt x="0" y="0"/>
                </a:moveTo>
                <a:lnTo>
                  <a:pt x="2823913" y="0"/>
                </a:lnTo>
                <a:lnTo>
                  <a:pt x="2823913" y="3306199"/>
                </a:lnTo>
                <a:cubicBezTo>
                  <a:pt x="2823913" y="3362278"/>
                  <a:pt x="2778457" y="3407733"/>
                  <a:pt x="2722379" y="3407733"/>
                </a:cubicBezTo>
                <a:lnTo>
                  <a:pt x="101534" y="3407733"/>
                </a:lnTo>
                <a:cubicBezTo>
                  <a:pt x="45458" y="3407733"/>
                  <a:pt x="0" y="3362278"/>
                  <a:pt x="0" y="3306199"/>
                </a:cubicBezTo>
                <a:lnTo>
                  <a:pt x="0" y="0"/>
                </a:lnTo>
                <a:close/>
              </a:path>
            </a:pathLst>
          </a:custGeom>
          <a:noFill/>
          <a:ln w="6341" cap="flat">
            <a:noFill/>
            <a:prstDash val="solid"/>
            <a:miter/>
          </a:ln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Revenue-generating RLT biopharma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chemeClr val="accent1"/>
                </a:solidFill>
                <a:latin typeface="Funnel Sans"/>
              </a:rPr>
              <a:t>Series B:$250M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18288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Readouts from first pivotal studies</a:t>
            </a:r>
          </a:p>
          <a:p>
            <a:pPr marL="18288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Commercialize first assets</a:t>
            </a:r>
          </a:p>
          <a:p>
            <a:pPr marL="18288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Full pipeline of programs from research through to clinical development generated through flywheel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39B7A3E-A84B-F3A1-F8CA-2804483C13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fld id="{F41E5F93-45D3-472F-9EA1-BCB47A04FF6B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F42F7-76E7-A86F-0B8E-D67E975F29E7}"/>
              </a:ext>
            </a:extLst>
          </p:cNvPr>
          <p:cNvSpPr txBox="1"/>
          <p:nvPr/>
        </p:nvSpPr>
        <p:spPr>
          <a:xfrm>
            <a:off x="3518687" y="3649615"/>
            <a:ext cx="1214876" cy="216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$100M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C4F8A5-ABF1-E90D-92BD-B16BE97AAB3E}"/>
              </a:ext>
            </a:extLst>
          </p:cNvPr>
          <p:cNvSpPr txBox="1"/>
          <p:nvPr/>
        </p:nvSpPr>
        <p:spPr>
          <a:xfrm>
            <a:off x="3518687" y="2880479"/>
            <a:ext cx="1214876" cy="216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$375M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DA53A-9CEF-D13F-8007-01C953FD69A6}"/>
              </a:ext>
            </a:extLst>
          </p:cNvPr>
          <p:cNvSpPr txBox="1"/>
          <p:nvPr/>
        </p:nvSpPr>
        <p:spPr>
          <a:xfrm>
            <a:off x="3518687" y="2050477"/>
            <a:ext cx="1214876" cy="216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$1B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E848A9-D9EC-5FB9-545D-D51A4BECCD63}"/>
              </a:ext>
            </a:extLst>
          </p:cNvPr>
          <p:cNvSpPr txBox="1"/>
          <p:nvPr/>
        </p:nvSpPr>
        <p:spPr>
          <a:xfrm>
            <a:off x="3518687" y="1300575"/>
            <a:ext cx="1214876" cy="216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+$4B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4145B2-DC15-884B-2003-3CE977636FE7}"/>
              </a:ext>
            </a:extLst>
          </p:cNvPr>
          <p:cNvSpPr txBox="1"/>
          <p:nvPr/>
        </p:nvSpPr>
        <p:spPr>
          <a:xfrm>
            <a:off x="8288809" y="6667120"/>
            <a:ext cx="3436847" cy="38175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-1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*Benchmarks based on </a:t>
            </a:r>
            <a:r>
              <a:rPr kumimoji="0" lang="en-US" sz="900" b="0" i="0" u="none" strike="noStrike" kern="1200" cap="none" spc="-1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RayzeBio</a:t>
            </a:r>
            <a:r>
              <a:rPr kumimoji="0" lang="en-US" sz="900" b="0" i="0" u="none" strike="noStrike" kern="1200" cap="none" spc="-1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valuation step ups</a:t>
            </a:r>
          </a:p>
        </p:txBody>
      </p:sp>
    </p:spTree>
    <p:extLst>
      <p:ext uri="{BB962C8B-B14F-4D97-AF65-F5344CB8AC3E}">
        <p14:creationId xmlns:p14="http://schemas.microsoft.com/office/powerpoint/2010/main" val="104643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12" y="1389952"/>
            <a:ext cx="5760626" cy="1170367"/>
          </a:xfrm>
        </p:spPr>
        <p:txBody>
          <a:bodyPr/>
          <a:lstStyle/>
          <a:p>
            <a:pPr>
              <a:lnSpc>
                <a:spcPct val="103000"/>
              </a:lnSpc>
            </a:pPr>
            <a:r>
              <a:rPr lang="en-US" sz="2200" dirty="0"/>
              <a:t>Multi-asset pipeline creates compounding value across indications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261112" y="660670"/>
            <a:ext cx="5760626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>
                <a:solidFill>
                  <a:srgbClr val="002924"/>
                </a:solidFill>
                <a:latin typeface="Funnel Sans"/>
              </a:rPr>
              <a:t>What We Are Building</a:t>
            </a:r>
          </a:p>
        </p:txBody>
      </p:sp>
      <p:sp>
        <p:nvSpPr>
          <p:cNvPr id="11" name="TextBox 99"/>
          <p:cNvSpPr txBox="1"/>
          <p:nvPr/>
        </p:nvSpPr>
        <p:spPr>
          <a:xfrm>
            <a:off x="2000000" y="3200000"/>
            <a:ext cx="800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656670"/>
                </a:solidFill>
                <a:latin typeface="Funnel Sans"/>
              </a:rPr>
              <a:t>[Slide to be built]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12" y="1389952"/>
            <a:ext cx="5760626" cy="1170367"/>
          </a:xfrm>
        </p:spPr>
        <p:txBody>
          <a:bodyPr/>
          <a:lstStyle/>
          <a:p>
            <a:pPr>
              <a:lnSpc>
                <a:spcPct val="103000"/>
              </a:lnSpc>
            </a:pPr>
            <a:r>
              <a:rPr lang="en-US" sz="2200" dirty="0"/>
              <a:t>Wasatch Group: $20M founding investor building alongside Sego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261112" y="660670"/>
            <a:ext cx="5760626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>
                <a:solidFill>
                  <a:srgbClr val="002924"/>
                </a:solidFill>
                <a:latin typeface="Funnel Sans"/>
              </a:rPr>
              <a:t>Who We Are</a:t>
            </a:r>
          </a:p>
        </p:txBody>
      </p:sp>
      <p:sp>
        <p:nvSpPr>
          <p:cNvPr id="11" name="TextBox 99"/>
          <p:cNvSpPr txBox="1"/>
          <p:nvPr/>
        </p:nvSpPr>
        <p:spPr>
          <a:xfrm>
            <a:off x="2000000" y="3200000"/>
            <a:ext cx="800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656670"/>
                </a:solidFill>
                <a:latin typeface="Funnel Sans"/>
              </a:rPr>
              <a:t>[Slide to be built]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12" y="1389952"/>
            <a:ext cx="5760626" cy="1170367"/>
          </a:xfrm>
        </p:spPr>
        <p:txBody>
          <a:bodyPr/>
          <a:lstStyle/>
          <a:p>
            <a:pPr>
              <a:lnSpc>
                <a:spcPct val="103000"/>
              </a:lnSpc>
            </a:pPr>
            <a:r>
              <a:rPr lang="en-US" sz="2200" dirty="0"/>
              <a:t>China JV: Near-term revenue and strategic optionality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261112" y="660670"/>
            <a:ext cx="5760626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>
                <a:solidFill>
                  <a:srgbClr val="002924"/>
                </a:solidFill>
                <a:latin typeface="Funnel Sans"/>
              </a:rPr>
              <a:t>The Ask</a:t>
            </a:r>
          </a:p>
        </p:txBody>
      </p:sp>
      <p:sp>
        <p:nvSpPr>
          <p:cNvPr id="11" name="TextBox 99"/>
          <p:cNvSpPr txBox="1"/>
          <p:nvPr/>
        </p:nvSpPr>
        <p:spPr>
          <a:xfrm>
            <a:off x="2000000" y="3200000"/>
            <a:ext cx="800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656670"/>
                </a:solidFill>
                <a:latin typeface="Funnel Sans"/>
              </a:rPr>
              <a:t>[Slide to be built]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12" y="1389952"/>
            <a:ext cx="5760626" cy="1170367"/>
          </a:xfrm>
        </p:spPr>
        <p:txBody>
          <a:bodyPr/>
          <a:lstStyle/>
          <a:p>
            <a:pPr>
              <a:lnSpc>
                <a:spcPct val="103000"/>
              </a:lnSpc>
            </a:pPr>
            <a:r>
              <a:rPr lang="en-US" sz="2200" dirty="0"/>
              <a:t>The opportunity to invest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261112" y="660670"/>
            <a:ext cx="5760626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>
                <a:solidFill>
                  <a:srgbClr val="002924"/>
                </a:solidFill>
                <a:latin typeface="Funnel Sans"/>
              </a:rPr>
              <a:t>The Ask</a:t>
            </a:r>
          </a:p>
        </p:txBody>
      </p:sp>
      <p:sp>
        <p:nvSpPr>
          <p:cNvPr id="11" name="TextBox 99"/>
          <p:cNvSpPr txBox="1"/>
          <p:nvPr/>
        </p:nvSpPr>
        <p:spPr>
          <a:xfrm>
            <a:off x="2000000" y="3200000"/>
            <a:ext cx="800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656670"/>
                </a:solidFill>
                <a:latin typeface="Funnel Sans"/>
              </a:rPr>
              <a:t>[Slide to be built]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12" y="1389952"/>
            <a:ext cx="5760626" cy="1170367"/>
          </a:xfrm>
        </p:spPr>
        <p:txBody>
          <a:bodyPr/>
          <a:lstStyle/>
          <a:p>
            <a:pPr>
              <a:lnSpc>
                <a:spcPct val="103000"/>
              </a:lnSpc>
            </a:pPr>
            <a:r>
              <a:rPr lang="en-US" sz="2200" dirty="0"/>
              <a:t>placeholder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261112" y="660670"/>
            <a:ext cx="5760626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>
                <a:solidFill>
                  <a:srgbClr val="002924"/>
                </a:solidFill>
                <a:latin typeface="Funnel Sans"/>
              </a:rPr>
              <a:t>placeholder</a:t>
            </a:r>
          </a:p>
        </p:txBody>
      </p:sp>
      <p:sp>
        <p:nvSpPr>
          <p:cNvPr id="11" name="TextBox 99"/>
          <p:cNvSpPr txBox="1"/>
          <p:nvPr/>
        </p:nvSpPr>
        <p:spPr>
          <a:xfrm>
            <a:off x="2000000" y="3200000"/>
            <a:ext cx="8000000" cy="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656670"/>
                </a:solidFill>
                <a:latin typeface="Funnel Sans"/>
              </a:rPr>
              <a:t>[Slide to be built]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ysClr val="window" lastClr="FFFFFF"/>
      </a:lt1>
      <a:dk2>
        <a:srgbClr val="656670"/>
      </a:dk2>
      <a:lt2>
        <a:srgbClr val="F6F3F2"/>
      </a:lt2>
      <a:accent1>
        <a:srgbClr val="002924"/>
      </a:accent1>
      <a:accent2>
        <a:srgbClr val="B1C8B0"/>
      </a:accent2>
      <a:accent3>
        <a:srgbClr val="61896E"/>
      </a:accent3>
      <a:accent4>
        <a:srgbClr val="D5ED99"/>
      </a:accent4>
      <a:accent5>
        <a:srgbClr val="DED6D3"/>
      </a:accent5>
      <a:accent6>
        <a:srgbClr val="8F1A43"/>
      </a:accent6>
      <a:hlink>
        <a:srgbClr val="002924"/>
      </a:hlink>
      <a:folHlink>
        <a:srgbClr val="B1C8B0"/>
      </a:folHlink>
    </a:clrScheme>
    <a:fontScheme name="Sego">
      <a:majorFont>
        <a:latin typeface="Funnel Sans Light"/>
        <a:ea typeface=""/>
        <a:cs typeface=""/>
      </a:majorFont>
      <a:minorFont>
        <a:latin typeface="Funne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71DF2B-A303-4E6F-BED9-CD8E4B644EE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c9027cc-05f8-4278-af93-d51f2d3ba758&quot;"/>
  </we:properties>
  <we:bindings/>
  <we:snapshot xmlns:r="http://schemas.openxmlformats.org/officeDocument/2006/relationships"/>
</we:webextension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a099e9-2c6f-4eed-a731-aa23c2084e1b">
      <Terms xmlns="http://schemas.microsoft.com/office/infopath/2007/PartnerControls"/>
    </lcf76f155ced4ddcb4097134ff3c332f>
    <TaxCatchAll xmlns="9b41257d-d9f1-45d2-83fb-79c2dd89ff1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6EABB8B3F65B47BE025CC264113219" ma:contentTypeVersion="11" ma:contentTypeDescription="Create a new document." ma:contentTypeScope="" ma:versionID="372fbf92ab6f4a46db1f5cd6be12afea">
  <xsd:schema xmlns:xsd="http://www.w3.org/2001/XMLSchema" xmlns:xs="http://www.w3.org/2001/XMLSchema" xmlns:p="http://schemas.microsoft.com/office/2006/metadata/properties" xmlns:ns2="17a099e9-2c6f-4eed-a731-aa23c2084e1b" xmlns:ns3="9b41257d-d9f1-45d2-83fb-79c2dd89ff18" targetNamespace="http://schemas.microsoft.com/office/2006/metadata/properties" ma:root="true" ma:fieldsID="16bf60042c9b3853215886f36ce98b21" ns2:_="" ns3:_="">
    <xsd:import namespace="17a099e9-2c6f-4eed-a731-aa23c2084e1b"/>
    <xsd:import namespace="9b41257d-d9f1-45d2-83fb-79c2dd89ff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a099e9-2c6f-4eed-a731-aa23c2084e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d5e21b9-9a91-448a-b7da-1ab90cd0a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1257d-d9f1-45d2-83fb-79c2dd89ff1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b56a1f0-8357-4b64-86fd-fd0a5fd73875}" ma:internalName="TaxCatchAll" ma:showField="CatchAllData" ma:web="9b41257d-d9f1-45d2-83fb-79c2dd89ff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F0CDF7-D3CA-4750-9DB9-EBFC1C75C815}">
  <ds:schemaRefs>
    <ds:schemaRef ds:uri="17a099e9-2c6f-4eed-a731-aa23c2084e1b"/>
    <ds:schemaRef ds:uri="9b41257d-d9f1-45d2-83fb-79c2dd89ff1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8882EAF-9649-4B1F-A32A-02F8B8EF3C22}">
  <ds:schemaRefs>
    <ds:schemaRef ds:uri="17a099e9-2c6f-4eed-a731-aa23c2084e1b"/>
    <ds:schemaRef ds:uri="9b41257d-d9f1-45d2-83fb-79c2dd89ff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DB5E671-7948-469C-8929-CD0A2678147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689759f-58aa-4820-9b99-7d8fcf51c135}" enabled="1" method="Privileged" siteId="{0ef4dffa-8c77-49f6-a7ba-d33398e9a99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1964</Words>
  <Application>Microsoft Office PowerPoint</Application>
  <PresentationFormat>Widescreen</PresentationFormat>
  <Paragraphs>430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Arial</vt:lpstr>
      <vt:lpstr>Funnel Sans</vt:lpstr>
      <vt:lpstr>Funnel Sans Light</vt:lpstr>
      <vt:lpstr>Funnel Sans Medium</vt:lpstr>
      <vt:lpstr>Funnel Sans SemiBold</vt:lpstr>
      <vt:lpstr>Inter 18pt Bold</vt:lpstr>
      <vt:lpstr>Times New Roman</vt:lpstr>
      <vt:lpstr>1_Office Theme</vt:lpstr>
      <vt:lpstr>PowerPoint Presentation</vt:lpstr>
      <vt:lpstr>15+ domain area experts led by 4 founders with deep domain expertise in radiopharma</vt:lpstr>
      <vt:lpstr>Founding team have delivered a paradigm shift for patients with prostate or neuroendocrine cancers</vt:lpstr>
      <vt:lpstr>Sego will overcome limiting constraints in RLT development</vt:lpstr>
      <vt:lpstr>Our experience in RLT points to four value-driving engines for Sego that allow us to address those white spaces</vt:lpstr>
      <vt:lpstr>We are prosecuting our first 6 targets based on a combination of expression, biology, feasibility &amp; landscape</vt:lpstr>
      <vt:lpstr>Our first 6 targets are highly differentiated and go beyond typical selection criteria and cluster by indication</vt:lpstr>
      <vt:lpstr>Our discovery workflow emphasizes rapid entry to FIH </vt:lpstr>
      <vt:lpstr>PowerPoint Presentation</vt:lpstr>
      <vt:lpstr>Deploying AI to accelerate our progress</vt:lpstr>
      <vt:lpstr>PowerPoint Presentation</vt:lpstr>
      <vt:lpstr>PowerPoint Presentation</vt:lpstr>
      <vt:lpstr>Strong value trajectory towards revenue generation driven by three phases of flawless execution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Becca Levin</dc:creator>
  <cp:lastModifiedBy>Becca Levin</cp:lastModifiedBy>
  <cp:revision>3</cp:revision>
  <dcterms:created xsi:type="dcterms:W3CDTF">2026-04-23T21:15:17Z</dcterms:created>
  <dcterms:modified xsi:type="dcterms:W3CDTF">2026-06-01T20:59:20Z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0x010100556EABB8B3F65B47BE025CC264113219</vt:lpwstr>
  </property>
  <property fmtid="{D5CDD505-2E9C-101B-9397-08002B2CF9AE}" pid="4" name="ClassificationContentMarkingFooterLocations">
    <vt:lpwstr>1_Office Theme:25</vt:lpwstr>
  </property>
  <property fmtid="{D5CDD505-2E9C-101B-9397-08002B2CF9AE}" pid="5" name="ClassificationContentMarkingFooterText">
    <vt:lpwstr>Public</vt:lpwstr>
  </property>
</Properties>
</file>