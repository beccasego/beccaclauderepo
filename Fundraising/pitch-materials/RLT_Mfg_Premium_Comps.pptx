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1st raise ($M)</c:v>
                </c:pt>
              </c:strCache>
            </c:strRef>
          </c:tx>
          <c:spPr>
            <a:solidFill>
              <a:srgbClr val="0029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Convergent</c:v>
                  </c:pt>
                  <c:pt idx="1">
                    <c:v>Mariana</c:v>
                  </c:pt>
                  <c:pt idx="2">
                    <c:v>Aktis</c:v>
                  </c:pt>
                  <c:pt idx="3">
                    <c:v>Fusion</c:v>
                  </c:pt>
                  <c:pt idx="4">
                    <c:v>RayzeBio</c:v>
                  </c:pt>
                  <c:pt idx="5">
                    <c:v>Sego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75</c:v>
                </c:pt>
                <c:pt idx="2">
                  <c:v>72</c:v>
                </c:pt>
                <c:pt idx="3">
                  <c:v>46</c:v>
                </c:pt>
                <c:pt idx="4">
                  <c:v>45</c:v>
                </c:pt>
                <c:pt idx="5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Addt’l capital to mfg ($M)</c:v>
                </c:pt>
              </c:strCache>
            </c:strRef>
          </c:tx>
          <c:spPr>
            <a:solidFill>
              <a:srgbClr val="B1C8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Convergent</c:v>
                  </c:pt>
                  <c:pt idx="1">
                    <c:v>Mariana</c:v>
                  </c:pt>
                  <c:pt idx="2">
                    <c:v>Aktis</c:v>
                  </c:pt>
                  <c:pt idx="3">
                    <c:v>Fusion</c:v>
                  </c:pt>
                  <c:pt idx="4">
                    <c:v>RayzeBio</c:v>
                  </c:pt>
                  <c:pt idx="5">
                    <c:v>Sego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175</c:v>
                </c:pt>
                <c:pt idx="2">
                  <c:v>577</c:v>
                </c:pt>
                <c:pt idx="3">
                  <c:v>325</c:v>
                </c:pt>
                <c:pt idx="4">
                  <c:v>373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b"/>
        <c:majorGridlines>
          <c:spPr>
            <a:ln w="6350" cap="flat">
              <a:solidFill>
                <a:srgbClr val="DED6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56670"/>
              </a:solidFill>
              <a:latin typeface="Funnel Sans"/>
              <a:cs typeface="Funnel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Fundraising comps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 comparable capital, Sego investors get platform, pipeline, and manufacturing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Peer first raises of $45–90M funded platform and pipeline only — companies with mfg achieved 10–15x exits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278624" y="137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375904" y="1371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Peer median 1st raise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56670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$72M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" y="15361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mfg included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51760" cy="658368"/>
          </a:xfrm>
          <a:prstGeom prst="rect">
            <a:avLst/>
          </a:prstGeom>
          <a:solidFill>
            <a:srgbClr val="D5ED99"/>
          </a:solidFill>
          <a:ln w="12700">
            <a:solidFill>
              <a:srgbClr val="618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1155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Sego seed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01568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2924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$80M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1568" y="15361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Includes in-house mfg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1155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Exit multiple with mfg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36208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56670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10–15x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36208" y="15361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Without mfg: 4x (Mariana)</a:t>
            </a:r>
            <a:endParaRPr lang="en-US" sz="8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274320" y="187452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486400" y="1874520"/>
            <a:ext cx="3474720" cy="292608"/>
          </a:xfrm>
          <a:prstGeom prst="rect">
            <a:avLst/>
          </a:prstGeom>
          <a:solidFill>
            <a:srgbClr val="002924"/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1874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Mfg at exit · Exit value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77840" y="22677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Convergent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766560" y="22677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CDMO (NorthStar)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577840" y="24231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Private — clinical stage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57784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Mariana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66560" y="2651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mfg at exit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77840" y="28072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NVS $1.0B (4x)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577840" y="30358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Aktis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766560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In-house cGMP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577840" y="31912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IPO $318M (Jan 2026)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577840" y="341985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Fusion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66560" y="34198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CDMO agreement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577840" y="35753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AZ $2.4B (15x)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577840" y="38039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RayzeBio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766560" y="38039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In-house facility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77840" y="39593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BMS $4.1B (10x)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577840" y="4187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Sego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766560" y="41879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In-house GMP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577840" y="43434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440680" y="4142232"/>
            <a:ext cx="3566160" cy="365760"/>
          </a:xfrm>
          <a:prstGeom prst="rect">
            <a:avLst/>
          </a:prstGeom>
          <a:solidFill>
            <a:srgbClr val="D5ED99">
              <a:alpha val="40000"/>
            </a:srgbClr>
          </a:solidFill>
          <a:ln w="12700">
            <a:solidFill>
              <a:srgbClr val="61896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40680" y="2606040"/>
            <a:ext cx="3566160" cy="365760"/>
          </a:xfrm>
          <a:prstGeom prst="rect">
            <a:avLst/>
          </a:prstGeom>
          <a:solidFill>
            <a:srgbClr val="000000">
              <a:alpha val="25000"/>
            </a:srgbClr>
          </a:solidFill>
          <a:ln w="6350">
            <a:solidFill>
              <a:srgbClr val="8F1A4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Company press releases, SEC filings, PitchBook. Exit multiples on pre-IPO private capital.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RLT Fundraising Comps — Mfg Premium</dc:title>
  <dc:subject>PptxGenJS Presentation</dc:subject>
  <dc:creator>Sego Therapeutics</dc:creator>
  <cp:lastModifiedBy>Sego Therapeutics</cp:lastModifiedBy>
  <cp:revision>1</cp:revision>
  <dcterms:created xsi:type="dcterms:W3CDTF">2026-05-27T17:53:10Z</dcterms:created>
  <dcterms:modified xsi:type="dcterms:W3CDTF">2026-05-27T17:53:10Z</dcterms:modified>
</cp:coreProperties>
</file>