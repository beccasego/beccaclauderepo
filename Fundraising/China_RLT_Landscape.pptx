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 I</c:v>
                </c:pt>
              </c:strCache>
            </c:strRef>
          </c:tx>
          <c:spPr>
            <a:solidFill>
              <a:srgbClr val="B1C8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5</c:v>
                </c:pt>
                <c:pt idx="2">
                  <c:v>4</c:v>
                </c:pt>
                <c:pt idx="3">
                  <c:v>4</c:v>
                </c:pt>
                <c:pt idx="4">
                  <c:v>6</c:v>
                </c:pt>
                <c:pt idx="5">
                  <c:v>4</c:v>
                </c:pt>
                <c:pt idx="6">
                  <c:v>15</c:v>
                </c:pt>
                <c:pt idx="7">
                  <c:v>18</c:v>
                </c:pt>
                <c:pt idx="8">
                  <c:v>20</c:v>
                </c:pt>
                <c:pt idx="9">
                  <c:v>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Ph I/II</c:v>
                </c:pt>
              </c:strCache>
            </c:strRef>
          </c:tx>
          <c:spPr>
            <a:solidFill>
              <a:srgbClr val="BAD1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4</c:v>
                </c:pt>
                <c:pt idx="7">
                  <c:v>6</c:v>
                </c:pt>
                <c:pt idx="8">
                  <c:v>7</c:v>
                </c:pt>
                <c:pt idx="9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Ph II</c:v>
                </c:pt>
              </c:strCache>
            </c:strRef>
          </c:tx>
          <c:spPr>
            <a:solidFill>
              <a:srgbClr val="6189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3</c:v>
                </c:pt>
                <c:pt idx="7">
                  <c:v>5</c:v>
                </c:pt>
                <c:pt idx="8">
                  <c:v>6</c:v>
                </c:pt>
                <c:pt idx="9">
                  <c:v>4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Ph II/III</c:v>
                </c:pt>
              </c:strCache>
            </c:strRef>
          </c:tx>
          <c:spPr>
            <a:solidFill>
              <a:srgbClr val="5475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2</c:v>
                </c:pt>
                <c:pt idx="7">
                  <c:v>3</c:v>
                </c:pt>
                <c:pt idx="8">
                  <c:v>4</c:v>
                </c:pt>
                <c:pt idx="9">
                  <c:v>2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Ph III</c:v>
                </c:pt>
              </c:strCache>
            </c:strRef>
          </c:tx>
          <c:spPr>
            <a:solidFill>
              <a:srgbClr val="0029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Sheet1!$F$2:$F$11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1</c:v>
                </c:pt>
                <c:pt idx="7">
                  <c:v>2</c:v>
                </c:pt>
                <c:pt idx="8">
                  <c:v>2</c:v>
                </c:pt>
                <c:pt idx="9">
                  <c:v>2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NDA</c:v>
                </c:pt>
              </c:strCache>
            </c:strRef>
          </c:tx>
          <c:spPr>
            <a:solidFill>
              <a:srgbClr val="8F1A4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Sheet1!$G$2:$G$11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Approval</c:v>
                </c:pt>
              </c:strCache>
            </c:strRef>
          </c:tx>
          <c:spPr>
            <a:solidFill>
              <a:srgbClr val="D5ED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  <c:pt idx="3">
                    <c:v>2019</c:v>
                  </c:pt>
                  <c:pt idx="4">
                    <c:v>2020</c:v>
                  </c:pt>
                  <c:pt idx="5">
                    <c:v>2021</c:v>
                  </c:pt>
                  <c:pt idx="6">
                    <c:v>2022</c:v>
                  </c:pt>
                  <c:pt idx="7">
                    <c:v>2023</c:v>
                  </c:pt>
                  <c:pt idx="8">
                    <c:v>2024</c:v>
                  </c:pt>
                  <c:pt idx="9">
                    <c:v>2025</c:v>
                  </c:pt>
                </c:lvl>
              </c:multiLvlStrCache>
            </c:multiLvlStrRef>
          </c:cat>
          <c:val>
            <c:numRef>
              <c:f>Sheet1!$H$2:$H$11</c:f>
              <c:numCache>
                <c:formatCode>General</c:formatCode>
                <c:ptCount val="10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1</c:v>
                </c:pt>
                <c:pt idx="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l"/>
        <c:majorGridlines>
          <c:spPr>
            <a:ln w="6350" cap="flat">
              <a:solidFill>
                <a:srgbClr val="E8E8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56670"/>
                </a:solidFill>
                <a:latin typeface="Funnel San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656670"/>
              </a:solidFill>
              <a:latin typeface="Funnel Sans"/>
              <a:cs typeface="Funnel Sa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Stage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ED6D3"/>
              </a:solidFill>
              <a:effectLst/>
            </c:spPr>
          </c:dPt>
          <c:dPt>
            <c:idx val="1"/>
            <c:bubble3D val="0"/>
            <c:spPr>
              <a:solidFill>
                <a:srgbClr val="B1C8B0"/>
              </a:solidFill>
              <a:effectLst/>
            </c:spPr>
          </c:dPt>
          <c:dPt>
            <c:idx val="2"/>
            <c:bubble3D val="0"/>
            <c:spPr>
              <a:solidFill>
                <a:srgbClr val="BAD1D8"/>
              </a:solidFill>
              <a:effectLst/>
            </c:spPr>
          </c:dPt>
          <c:dPt>
            <c:idx val="3"/>
            <c:bubble3D val="0"/>
            <c:spPr>
              <a:solidFill>
                <a:srgbClr val="D5ED99"/>
              </a:solidFill>
              <a:effectLst/>
            </c:spPr>
          </c:dPt>
          <c:dPt>
            <c:idx val="4"/>
            <c:bubble3D val="0"/>
            <c:spPr>
              <a:solidFill>
                <a:srgbClr val="61896E"/>
              </a:solidFill>
              <a:effectLst/>
            </c:spPr>
          </c:dPt>
          <c:dPt>
            <c:idx val="5"/>
            <c:bubble3D val="0"/>
            <c:spPr>
              <a:solidFill>
                <a:srgbClr val="5475E8"/>
              </a:solidFill>
              <a:effectLst/>
            </c:spPr>
          </c:dPt>
          <c:dPt>
            <c:idx val="6"/>
            <c:bubble3D val="0"/>
            <c:spPr>
              <a:solidFill>
                <a:srgbClr val="002924"/>
              </a:solidFill>
              <a:effectLst/>
            </c:spPr>
          </c:dPt>
          <c:dPt>
            <c:idx val="7"/>
            <c:bubble3D val="0"/>
            <c:spPr>
              <a:solidFill>
                <a:srgbClr val="8F1A43"/>
              </a:solidFill>
              <a:effectLst/>
            </c:spPr>
          </c:dPt>
          <c:dPt>
            <c:idx val="8"/>
            <c:bubble3D val="0"/>
            <c:spPr>
              <a:solidFill>
                <a:srgbClr val="360105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656670"/>
                      </a:solidFill>
                      <a:latin typeface="Funnel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656670"/>
                      </a:solidFill>
                      <a:latin typeface="Funnel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656670"/>
                      </a:solidFill>
                      <a:latin typeface="Funnel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656670"/>
                      </a:solidFill>
                      <a:latin typeface="Funnel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656670"/>
                      </a:solidFill>
                      <a:latin typeface="Funnel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656670"/>
                      </a:solidFill>
                      <a:latin typeface="Funnel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656670"/>
                      </a:solidFill>
                      <a:latin typeface="Funnel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7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656670"/>
                      </a:solidFill>
                      <a:latin typeface="Funnel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8"/>
              <c:numFmt formatCode="General" sourceLinked="0"/>
              <c:spPr/>
              <c:txPr>
                <a:bodyPr/>
                <a:lstStyle/>
                <a:p>
                  <a:pPr>
                    <a:defRPr sz="700" b="0" i="0" u="none" strike="noStrike">
                      <a:solidFill>
                        <a:srgbClr val="656670"/>
                      </a:solidFill>
                      <a:latin typeface="Funnel San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Sheet1!$A$2:$A$10</c:f>
              <c:strCache>
                <c:ptCount val="9"/>
                <c:pt idx="0">
                  <c:v>Preclinical: 376</c:v>
                </c:pt>
                <c:pt idx="1">
                  <c:v>Phase I: 237</c:v>
                </c:pt>
                <c:pt idx="2">
                  <c:v>IND: 14</c:v>
                </c:pt>
                <c:pt idx="3">
                  <c:v>Phase I/II: 21</c:v>
                </c:pt>
                <c:pt idx="4">
                  <c:v>Phase II: 15</c:v>
                </c:pt>
                <c:pt idx="5">
                  <c:v>Phase II/III: 10</c:v>
                </c:pt>
                <c:pt idx="6">
                  <c:v>Phase III: 9</c:v>
                </c:pt>
                <c:pt idx="7">
                  <c:v>Filed: 3</c:v>
                </c:pt>
                <c:pt idx="8">
                  <c:v>Approved: 2</c:v>
                </c:pt>
              </c:strCache>
            </c:strRef>
          </c:cat>
          <c:val>
            <c:numRef>
              <c:f>Sheet1!$B$2:$B$10</c:f>
              <c:numCache>
                <c:ptCount val="9"/>
                <c:pt idx="0">
                  <c:v>376</c:v>
                </c:pt>
                <c:pt idx="1">
                  <c:v>237</c:v>
                </c:pt>
                <c:pt idx="2">
                  <c:v>14</c:v>
                </c:pt>
                <c:pt idx="3">
                  <c:v>21</c:v>
                </c:pt>
                <c:pt idx="4">
                  <c:v>15</c:v>
                </c:pt>
                <c:pt idx="5">
                  <c:v>10</c:v>
                </c:pt>
                <c:pt idx="6">
                  <c:v>9</c:v>
                </c:pt>
                <c:pt idx="7">
                  <c:v>3</c:v>
                </c:pt>
                <c:pt idx="8">
                  <c:v>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600">
              <a:solidFill>
                <a:srgbClr val="656670"/>
              </a:solidFill>
              <a:latin typeface="Funnel Sans"/>
              <a:cs typeface="Funnel Sans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China's radiopharmaceutical pipeline has exploded: ~290 clinically staged programs by 2025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589520" y="137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49640" y="13716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2924"/>
                </a:solidFill>
                <a:latin typeface="Season Mix" pitchFamily="34" charset="0"/>
                <a:ea typeface="Season Mix" pitchFamily="34" charset="-122"/>
                <a:cs typeface="Season Mix" pitchFamily="34" charset="-120"/>
              </a:rPr>
              <a:t>~290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37360" y="777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clinically staged pipelines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by Chinese developers (2025)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777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2924"/>
                </a:solidFill>
                <a:latin typeface="Season Mix" pitchFamily="34" charset="0"/>
                <a:ea typeface="Season Mix" pitchFamily="34" charset="-122"/>
                <a:cs typeface="Season Mix" pitchFamily="34" charset="-120"/>
              </a:rPr>
              <a:t>55%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806440" y="777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of total pipeline still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5667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 preclinical stage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325880"/>
            <a:ext cx="8229600" cy="0"/>
          </a:xfrm>
          <a:prstGeom prst="line">
            <a:avLst/>
          </a:prstGeom>
          <a:noFill/>
          <a:ln w="6350">
            <a:solidFill>
              <a:srgbClr val="CFC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463040"/>
            <a:ext cx="5029200" cy="292608"/>
          </a:xfrm>
          <a:prstGeom prst="roundRect">
            <a:avLst>
              <a:gd name="adj" fmla="val 25000"/>
            </a:avLst>
          </a:prstGeom>
          <a:solidFill>
            <a:srgbClr val="002924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Annual new clinical-stage entries by Chinese developers</a:t>
            </a:r>
            <a:endParaRPr lang="en-US" sz="9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457200" y="1783080"/>
          <a:ext cx="50292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Shape 11"/>
          <p:cNvSpPr/>
          <p:nvPr/>
        </p:nvSpPr>
        <p:spPr>
          <a:xfrm>
            <a:off x="5760720" y="1463040"/>
            <a:ext cx="3108960" cy="292608"/>
          </a:xfrm>
          <a:prstGeom prst="roundRect">
            <a:avLst>
              <a:gd name="adj" fmla="val 25000"/>
            </a:avLst>
          </a:prstGeom>
          <a:solidFill>
            <a:srgbClr val="002924"/>
          </a:solidFill>
          <a:ln/>
        </p:spPr>
      </p:sp>
      <p:sp>
        <p:nvSpPr>
          <p:cNvPr id="15" name="Text 12"/>
          <p:cNvSpPr/>
          <p:nvPr/>
        </p:nvSpPr>
        <p:spPr>
          <a:xfrm>
            <a:off x="5897880" y="14630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Pipeline by development stage</a:t>
            </a:r>
            <a:endParaRPr lang="en-US" sz="9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5760720" y="1783080"/>
          <a:ext cx="31089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1A43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Source: NextPharma, Pharmacube (via BFC Group)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China Radiopharmaceutical Landscape</dc:title>
  <dc:subject>PptxGenJS Presentation</dc:subject>
  <dc:creator>Sego Therapeutics</dc:creator>
  <cp:lastModifiedBy>Sego Therapeutics</cp:lastModifiedBy>
  <cp:revision>1</cp:revision>
  <dcterms:created xsi:type="dcterms:W3CDTF">2026-06-23T19:49:22Z</dcterms:created>
  <dcterms:modified xsi:type="dcterms:W3CDTF">2026-06-23T19:49:22Z</dcterms:modified>
</cp:coreProperties>
</file>