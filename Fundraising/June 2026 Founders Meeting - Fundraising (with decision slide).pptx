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63_FDAB66CD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3"/>
  </p:notesMasterIdLst>
  <p:sldIdLst>
    <p:sldId id="559" r:id="rId5"/>
    <p:sldId id="309" r:id="rId6"/>
    <p:sldId id="355" r:id="rId7"/>
    <p:sldId id="375" r:id="rId8"/>
    <p:sldId id="568" r:id="rId9"/>
    <p:sldId id="570" r:id="rId10"/>
    <p:sldId id="572" r:id="rId21"/>
    <p:sldId id="571" r:id="rId11"/>
    <p:sldId id="5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E7231E-D65A-7660-884F-A801964A74DA}" name="Becca Levin" initials="BL" userId="S::BLevin@segotx.com::08c76d0b-4d1f-44f5-8508-8653b2f54768" providerId="AD"/>
  <p188:author id="{EE43B0AF-ADC2-B733-F9CA-50A0C930E760}" name="Jeevan Virk" initials="JV" userId="S::JVirk@segotx.com::e4151d08-4059-4e88-b62d-4ccc0b7bab83" providerId="AD"/>
  <p188:author id="{E8C900CA-24E7-A41C-9CFA-5BCB99B97805}" name="Richard Tavare" initials="RT" userId="S::rtavare@segotx.com::c4c295fe-002f-4faa-a227-1c0d4cbd61fc" providerId="AD"/>
  <p188:author id="{A51CA4DD-69B3-7668-9A9A-D757EA7902A2}" name="Mia Klonsky" initials="MK" userId="S::MKlonsky@segotx.com::3bca3bfe-ae71-40e5-b586-f8971324d4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42AE21-3A44-45FD-9CF3-96B24BBAAE83}" v="8" dt="2026-06-02T17:36:17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21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ca Levin" userId="08c76d0b-4d1f-44f5-8508-8653b2f54768" providerId="ADAL" clId="{5AA3B8CE-AFEA-44FA-ACCD-448CA31DFD0A}"/>
    <pc:docChg chg="undo custSel addSld delSld modSld sldOrd">
      <pc:chgData name="Becca Levin" userId="08c76d0b-4d1f-44f5-8508-8653b2f54768" providerId="ADAL" clId="{5AA3B8CE-AFEA-44FA-ACCD-448CA31DFD0A}" dt="2026-06-02T17:39:57.172" v="6592" actId="113"/>
      <pc:docMkLst>
        <pc:docMk/>
      </pc:docMkLst>
      <pc:sldChg chg="modSp mod">
        <pc:chgData name="Becca Levin" userId="08c76d0b-4d1f-44f5-8508-8653b2f54768" providerId="ADAL" clId="{5AA3B8CE-AFEA-44FA-ACCD-448CA31DFD0A}" dt="2026-06-02T17:35:11.869" v="6401" actId="313"/>
        <pc:sldMkLst>
          <pc:docMk/>
          <pc:sldMk cId="1656720102" sldId="309"/>
        </pc:sldMkLst>
        <pc:spChg chg="mod">
          <ac:chgData name="Becca Levin" userId="08c76d0b-4d1f-44f5-8508-8653b2f54768" providerId="ADAL" clId="{5AA3B8CE-AFEA-44FA-ACCD-448CA31DFD0A}" dt="2026-06-02T17:35:11.869" v="6401" actId="313"/>
          <ac:spMkLst>
            <pc:docMk/>
            <pc:sldMk cId="1656720102" sldId="309"/>
            <ac:spMk id="7" creationId="{F679A52C-5829-7BB5-B02D-376EFAF11B09}"/>
          </ac:spMkLst>
        </pc:spChg>
      </pc:sldChg>
      <pc:sldChg chg="addSp delSp modSp mod modCm">
        <pc:chgData name="Becca Levin" userId="08c76d0b-4d1f-44f5-8508-8653b2f54768" providerId="ADAL" clId="{5AA3B8CE-AFEA-44FA-ACCD-448CA31DFD0A}" dt="2026-06-02T17:37:28.272" v="6491" actId="20577"/>
        <pc:sldMkLst>
          <pc:docMk/>
          <pc:sldMk cId="4255868621" sldId="355"/>
        </pc:sldMkLst>
        <pc:spChg chg="add del mod">
          <ac:chgData name="Becca Levin" userId="08c76d0b-4d1f-44f5-8508-8653b2f54768" providerId="ADAL" clId="{5AA3B8CE-AFEA-44FA-ACCD-448CA31DFD0A}" dt="2026-06-02T17:34:24.952" v="6226" actId="478"/>
          <ac:spMkLst>
            <pc:docMk/>
            <pc:sldMk cId="4255868621" sldId="355"/>
            <ac:spMk id="4" creationId="{2099E89A-B69E-2519-0F05-A1C8D69C1DBA}"/>
          </ac:spMkLst>
        </pc:spChg>
        <pc:spChg chg="mod">
          <ac:chgData name="Becca Levin" userId="08c76d0b-4d1f-44f5-8508-8653b2f54768" providerId="ADAL" clId="{5AA3B8CE-AFEA-44FA-ACCD-448CA31DFD0A}" dt="2026-06-02T17:35:39.386" v="6433" actId="20577"/>
          <ac:spMkLst>
            <pc:docMk/>
            <pc:sldMk cId="4255868621" sldId="355"/>
            <ac:spMk id="6" creationId="{2E46679B-38AD-AC2C-AFA0-33F7531127F2}"/>
          </ac:spMkLst>
        </pc:spChg>
        <pc:spChg chg="mod">
          <ac:chgData name="Becca Levin" userId="08c76d0b-4d1f-44f5-8508-8653b2f54768" providerId="ADAL" clId="{5AA3B8CE-AFEA-44FA-ACCD-448CA31DFD0A}" dt="2026-06-02T17:36:01.098" v="6439" actId="20577"/>
          <ac:spMkLst>
            <pc:docMk/>
            <pc:sldMk cId="4255868621" sldId="355"/>
            <ac:spMk id="8" creationId="{17190B2B-1086-E199-C253-CB0F852F8CD2}"/>
          </ac:spMkLst>
        </pc:spChg>
        <pc:spChg chg="mod">
          <ac:chgData name="Becca Levin" userId="08c76d0b-4d1f-44f5-8508-8653b2f54768" providerId="ADAL" clId="{5AA3B8CE-AFEA-44FA-ACCD-448CA31DFD0A}" dt="2026-06-02T17:37:28.272" v="6491" actId="20577"/>
          <ac:spMkLst>
            <pc:docMk/>
            <pc:sldMk cId="4255868621" sldId="355"/>
            <ac:spMk id="13" creationId="{B2429146-3D93-81F1-A801-EE4BEF71CCD6}"/>
          </ac:spMkLst>
        </pc:spChg>
        <pc:spChg chg="mod">
          <ac:chgData name="Becca Levin" userId="08c76d0b-4d1f-44f5-8508-8653b2f54768" providerId="ADAL" clId="{5AA3B8CE-AFEA-44FA-ACCD-448CA31DFD0A}" dt="2026-06-02T17:37:22.639" v="6490" actId="20577"/>
          <ac:spMkLst>
            <pc:docMk/>
            <pc:sldMk cId="4255868621" sldId="355"/>
            <ac:spMk id="25" creationId="{1DE26956-13A5-66F9-9898-F5E45A11CA4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Becca Levin" userId="08c76d0b-4d1f-44f5-8508-8653b2f54768" providerId="ADAL" clId="{5AA3B8CE-AFEA-44FA-ACCD-448CA31DFD0A}" dt="2026-06-02T17:37:28.272" v="6491" actId="20577"/>
              <pc2:cmMkLst xmlns:pc2="http://schemas.microsoft.com/office/powerpoint/2019/9/main/command">
                <pc:docMk/>
                <pc:sldMk cId="4255868621" sldId="355"/>
                <pc2:cmMk id="{A5F2976A-38F8-443C-960E-4BC1D0CB55DA}"/>
              </pc2:cmMkLst>
            </pc226:cmChg>
            <pc226:cmChg xmlns:pc226="http://schemas.microsoft.com/office/powerpoint/2022/06/main/command" chg="mod">
              <pc226:chgData name="Becca Levin" userId="08c76d0b-4d1f-44f5-8508-8653b2f54768" providerId="ADAL" clId="{5AA3B8CE-AFEA-44FA-ACCD-448CA31DFD0A}" dt="2026-06-02T17:37:22.639" v="6490" actId="20577"/>
              <pc2:cmMkLst xmlns:pc2="http://schemas.microsoft.com/office/powerpoint/2019/9/main/command">
                <pc:docMk/>
                <pc:sldMk cId="4255868621" sldId="355"/>
                <pc2:cmMk id="{1D3F64B2-6758-4EA4-B0BD-8614A7C1168F}"/>
              </pc2:cmMkLst>
            </pc226:cmChg>
          </p:ext>
        </pc:extLst>
      </pc:sldChg>
      <pc:sldChg chg="modSp add">
        <pc:chgData name="Becca Levin" userId="08c76d0b-4d1f-44f5-8508-8653b2f54768" providerId="ADAL" clId="{5AA3B8CE-AFEA-44FA-ACCD-448CA31DFD0A}" dt="2026-06-02T17:36:17.345" v="6440" actId="1076"/>
        <pc:sldMkLst>
          <pc:docMk/>
          <pc:sldMk cId="1116191471" sldId="375"/>
        </pc:sldMkLst>
        <pc:picChg chg="mod">
          <ac:chgData name="Becca Levin" userId="08c76d0b-4d1f-44f5-8508-8653b2f54768" providerId="ADAL" clId="{5AA3B8CE-AFEA-44FA-ACCD-448CA31DFD0A}" dt="2026-06-02T17:36:17.345" v="6440" actId="1076"/>
          <ac:picMkLst>
            <pc:docMk/>
            <pc:sldMk cId="1116191471" sldId="375"/>
            <ac:picMk id="29" creationId="{58C126B8-5829-9E9E-52C5-412C1728138A}"/>
          </ac:picMkLst>
        </pc:picChg>
      </pc:sldChg>
      <pc:sldChg chg="modSp mod">
        <pc:chgData name="Becca Levin" userId="08c76d0b-4d1f-44f5-8508-8653b2f54768" providerId="ADAL" clId="{5AA3B8CE-AFEA-44FA-ACCD-448CA31DFD0A}" dt="2026-06-02T16:04:06.647" v="3" actId="20577"/>
        <pc:sldMkLst>
          <pc:docMk/>
          <pc:sldMk cId="2165533791" sldId="559"/>
        </pc:sldMkLst>
        <pc:spChg chg="mod">
          <ac:chgData name="Becca Levin" userId="08c76d0b-4d1f-44f5-8508-8653b2f54768" providerId="ADAL" clId="{5AA3B8CE-AFEA-44FA-ACCD-448CA31DFD0A}" dt="2026-06-02T16:04:06.647" v="3" actId="20577"/>
          <ac:spMkLst>
            <pc:docMk/>
            <pc:sldMk cId="2165533791" sldId="559"/>
            <ac:spMk id="10" creationId="{8D96CBB5-3C7B-5CEA-9ADD-4B803A1DF9FD}"/>
          </ac:spMkLst>
        </pc:spChg>
      </pc:sldChg>
      <pc:sldChg chg="del">
        <pc:chgData name="Becca Levin" userId="08c76d0b-4d1f-44f5-8508-8653b2f54768" providerId="ADAL" clId="{5AA3B8CE-AFEA-44FA-ACCD-448CA31DFD0A}" dt="2026-06-02T17:18:31.146" v="5203" actId="47"/>
        <pc:sldMkLst>
          <pc:docMk/>
          <pc:sldMk cId="1572468852" sldId="562"/>
        </pc:sldMkLst>
      </pc:sldChg>
      <pc:sldChg chg="del">
        <pc:chgData name="Becca Levin" userId="08c76d0b-4d1f-44f5-8508-8653b2f54768" providerId="ADAL" clId="{5AA3B8CE-AFEA-44FA-ACCD-448CA31DFD0A}" dt="2026-06-02T16:14:44.049" v="5" actId="47"/>
        <pc:sldMkLst>
          <pc:docMk/>
          <pc:sldMk cId="749115900" sldId="564"/>
        </pc:sldMkLst>
      </pc:sldChg>
      <pc:sldChg chg="del ord">
        <pc:chgData name="Becca Levin" userId="08c76d0b-4d1f-44f5-8508-8653b2f54768" providerId="ADAL" clId="{5AA3B8CE-AFEA-44FA-ACCD-448CA31DFD0A}" dt="2026-06-02T16:55:36.295" v="2412" actId="47"/>
        <pc:sldMkLst>
          <pc:docMk/>
          <pc:sldMk cId="549130178" sldId="565"/>
        </pc:sldMkLst>
      </pc:sldChg>
      <pc:sldChg chg="new del">
        <pc:chgData name="Becca Levin" userId="08c76d0b-4d1f-44f5-8508-8653b2f54768" providerId="ADAL" clId="{5AA3B8CE-AFEA-44FA-ACCD-448CA31DFD0A}" dt="2026-06-02T16:36:25.561" v="872" actId="47"/>
        <pc:sldMkLst>
          <pc:docMk/>
          <pc:sldMk cId="3155198921" sldId="567"/>
        </pc:sldMkLst>
      </pc:sldChg>
      <pc:sldChg chg="modSp add mod">
        <pc:chgData name="Becca Levin" userId="08c76d0b-4d1f-44f5-8508-8653b2f54768" providerId="ADAL" clId="{5AA3B8CE-AFEA-44FA-ACCD-448CA31DFD0A}" dt="2026-06-02T17:39:42.267" v="6590" actId="20577"/>
        <pc:sldMkLst>
          <pc:docMk/>
          <pc:sldMk cId="2068319969" sldId="568"/>
        </pc:sldMkLst>
        <pc:spChg chg="mod">
          <ac:chgData name="Becca Levin" userId="08c76d0b-4d1f-44f5-8508-8653b2f54768" providerId="ADAL" clId="{5AA3B8CE-AFEA-44FA-ACCD-448CA31DFD0A}" dt="2026-06-02T16:53:22.175" v="1822" actId="14100"/>
          <ac:spMkLst>
            <pc:docMk/>
            <pc:sldMk cId="2068319969" sldId="568"/>
            <ac:spMk id="10" creationId="{4D2D82E7-3AD6-CBA8-834E-B79F9AAFFD5F}"/>
          </ac:spMkLst>
        </pc:spChg>
        <pc:spChg chg="mod">
          <ac:chgData name="Becca Levin" userId="08c76d0b-4d1f-44f5-8508-8653b2f54768" providerId="ADAL" clId="{5AA3B8CE-AFEA-44FA-ACCD-448CA31DFD0A}" dt="2026-06-02T17:39:42.267" v="6590" actId="20577"/>
          <ac:spMkLst>
            <pc:docMk/>
            <pc:sldMk cId="2068319969" sldId="568"/>
            <ac:spMk id="13" creationId="{93139381-0A8C-294B-0AEE-3740A2409803}"/>
          </ac:spMkLst>
        </pc:spChg>
      </pc:sldChg>
      <pc:sldChg chg="addSp delSp modSp new del mod">
        <pc:chgData name="Becca Levin" userId="08c76d0b-4d1f-44f5-8508-8653b2f54768" providerId="ADAL" clId="{5AA3B8CE-AFEA-44FA-ACCD-448CA31DFD0A}" dt="2026-06-02T17:18:29.723" v="5202" actId="47"/>
        <pc:sldMkLst>
          <pc:docMk/>
          <pc:sldMk cId="3744257910" sldId="569"/>
        </pc:sldMkLst>
        <pc:spChg chg="mod">
          <ac:chgData name="Becca Levin" userId="08c76d0b-4d1f-44f5-8508-8653b2f54768" providerId="ADAL" clId="{5AA3B8CE-AFEA-44FA-ACCD-448CA31DFD0A}" dt="2026-06-02T16:56:11.440" v="2565" actId="14100"/>
          <ac:spMkLst>
            <pc:docMk/>
            <pc:sldMk cId="3744257910" sldId="569"/>
            <ac:spMk id="2" creationId="{8FD9EB56-B34C-A6DB-F69A-270DF3987DCF}"/>
          </ac:spMkLst>
        </pc:spChg>
        <pc:spChg chg="del">
          <ac:chgData name="Becca Levin" userId="08c76d0b-4d1f-44f5-8508-8653b2f54768" providerId="ADAL" clId="{5AA3B8CE-AFEA-44FA-ACCD-448CA31DFD0A}" dt="2026-06-02T16:24:06.069" v="47" actId="478"/>
          <ac:spMkLst>
            <pc:docMk/>
            <pc:sldMk cId="3744257910" sldId="569"/>
            <ac:spMk id="6" creationId="{7889E5BF-8D3B-2B90-493E-95CF41690B7C}"/>
          </ac:spMkLst>
        </pc:spChg>
        <pc:spChg chg="del">
          <ac:chgData name="Becca Levin" userId="08c76d0b-4d1f-44f5-8508-8653b2f54768" providerId="ADAL" clId="{5AA3B8CE-AFEA-44FA-ACCD-448CA31DFD0A}" dt="2026-06-02T16:24:06.069" v="47" actId="478"/>
          <ac:spMkLst>
            <pc:docMk/>
            <pc:sldMk cId="3744257910" sldId="569"/>
            <ac:spMk id="7" creationId="{0C2D145E-5E2D-A131-09D7-F9F26928EABB}"/>
          </ac:spMkLst>
        </pc:spChg>
        <pc:spChg chg="add del mod">
          <ac:chgData name="Becca Levin" userId="08c76d0b-4d1f-44f5-8508-8653b2f54768" providerId="ADAL" clId="{5AA3B8CE-AFEA-44FA-ACCD-448CA31DFD0A}" dt="2026-06-02T16:24:13.861" v="49" actId="478"/>
          <ac:spMkLst>
            <pc:docMk/>
            <pc:sldMk cId="3744257910" sldId="569"/>
            <ac:spMk id="8" creationId="{FDB58E78-5518-D1E6-0EA0-AC48792674DE}"/>
          </ac:spMkLst>
        </pc:spChg>
        <pc:spChg chg="add mod">
          <ac:chgData name="Becca Levin" userId="08c76d0b-4d1f-44f5-8508-8653b2f54768" providerId="ADAL" clId="{5AA3B8CE-AFEA-44FA-ACCD-448CA31DFD0A}" dt="2026-06-02T16:56:47.830" v="2644" actId="20577"/>
          <ac:spMkLst>
            <pc:docMk/>
            <pc:sldMk cId="3744257910" sldId="569"/>
            <ac:spMk id="9" creationId="{72689F6D-2653-A522-3E01-C291C3D777D0}"/>
          </ac:spMkLst>
        </pc:spChg>
      </pc:sldChg>
      <pc:sldChg chg="modSp add mod">
        <pc:chgData name="Becca Levin" userId="08c76d0b-4d1f-44f5-8508-8653b2f54768" providerId="ADAL" clId="{5AA3B8CE-AFEA-44FA-ACCD-448CA31DFD0A}" dt="2026-06-02T17:18:16.830" v="5201" actId="20577"/>
        <pc:sldMkLst>
          <pc:docMk/>
          <pc:sldMk cId="1910385496" sldId="570"/>
        </pc:sldMkLst>
        <pc:spChg chg="mod">
          <ac:chgData name="Becca Levin" userId="08c76d0b-4d1f-44f5-8508-8653b2f54768" providerId="ADAL" clId="{5AA3B8CE-AFEA-44FA-ACCD-448CA31DFD0A}" dt="2026-06-02T17:15:04.020" v="4642" actId="20577"/>
          <ac:spMkLst>
            <pc:docMk/>
            <pc:sldMk cId="1910385496" sldId="570"/>
            <ac:spMk id="2" creationId="{BAA31124-F532-B7C8-3B33-211ADBD6C2CE}"/>
          </ac:spMkLst>
        </pc:spChg>
        <pc:spChg chg="mod">
          <ac:chgData name="Becca Levin" userId="08c76d0b-4d1f-44f5-8508-8653b2f54768" providerId="ADAL" clId="{5AA3B8CE-AFEA-44FA-ACCD-448CA31DFD0A}" dt="2026-06-02T17:18:16.830" v="5201" actId="20577"/>
          <ac:spMkLst>
            <pc:docMk/>
            <pc:sldMk cId="1910385496" sldId="570"/>
            <ac:spMk id="9" creationId="{43C4AB1D-A4CA-EEA7-79C7-B56575823BD7}"/>
          </ac:spMkLst>
        </pc:spChg>
      </pc:sldChg>
      <pc:sldChg chg="modSp add mod">
        <pc:chgData name="Becca Levin" userId="08c76d0b-4d1f-44f5-8508-8653b2f54768" providerId="ADAL" clId="{5AA3B8CE-AFEA-44FA-ACCD-448CA31DFD0A}" dt="2026-06-02T17:39:57.172" v="6592" actId="113"/>
        <pc:sldMkLst>
          <pc:docMk/>
          <pc:sldMk cId="3130292300" sldId="571"/>
        </pc:sldMkLst>
        <pc:spChg chg="mod">
          <ac:chgData name="Becca Levin" userId="08c76d0b-4d1f-44f5-8508-8653b2f54768" providerId="ADAL" clId="{5AA3B8CE-AFEA-44FA-ACCD-448CA31DFD0A}" dt="2026-06-02T17:39:57.172" v="6592" actId="113"/>
          <ac:spMkLst>
            <pc:docMk/>
            <pc:sldMk cId="3130292300" sldId="571"/>
            <ac:spMk id="8" creationId="{B150EB15-4233-94AA-930E-5DCC6B09C186}"/>
          </ac:spMkLst>
        </pc:spChg>
      </pc:sldChg>
    </pc:docChg>
  </pc:docChgLst>
</pc:chgInfo>
</file>

<file path=ppt/comments/modernComment_163_FDAB66C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3F64B2-6758-4EA4-B0BD-8614A7C1168F}" authorId="{EE43B0AF-ADC2-B733-F9CA-50A0C930E760}" status="resolved" created="2026-04-06T17:30:19.256" startDate="2026-04-06T17:30:19.258" dueDate="2026-04-06T17:30:19.258" assignedTo="{43E7231E-D65A-7660-884F-A801964A74DA}" complete="100000" title="@Becca Levin - NVF now probably. 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55868621" sldId="355"/>
      <ac:spMk id="25" creationId="{1DE26956-13A5-66F9-9898-F5E45A11CA49}"/>
      <ac:txMk cp="53">
        <ac:context len="64" hash="463832237"/>
      </ac:txMk>
    </ac:txMkLst>
    <p188:pos x="2379426" y="454172"/>
    <p188:txBody>
      <a:bodyPr/>
      <a:lstStyle/>
      <a:p>
        <a:r>
          <a:rPr lang="en-GB"/>
          <a:t xml:space="preserve">[@Becca Levin]  - NVF now probably.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4-06T17:30:19.256" id="{D0C862C7-AE0D-40DE-BC28-634D97ED8607}">
              <p228:atrbtn authorId="{EE43B0AF-ADC2-B733-F9CA-50A0C930E760}"/>
              <p228:anchr>
                <p228:comment id="{1D3F64B2-6758-4EA4-B0BD-8614A7C1168F}"/>
              </p228:anchr>
              <p228:add/>
            </p228:event>
            <p228:event time="2026-04-06T17:30:19.256" id="{AACAB95D-387D-4F6B-A1BA-733FAFCD2DBD}">
              <p228:atrbtn authorId="{EE43B0AF-ADC2-B733-F9CA-50A0C930E760}"/>
              <p228:anchr>
                <p228:comment id="{1D3F64B2-6758-4EA4-B0BD-8614A7C1168F}"/>
              </p228:anchr>
              <p228:asgn authorId="{43E7231E-D65A-7660-884F-A801964A74DA}"/>
            </p228:event>
            <p228:event time="2026-04-06T17:30:19.256" id="{43A91406-9F60-4EC6-BB87-4B96612EB8BC}">
              <p228:atrbtn authorId="{EE43B0AF-ADC2-B733-F9CA-50A0C930E760}"/>
              <p228:anchr>
                <p228:comment id="{1D3F64B2-6758-4EA4-B0BD-8614A7C1168F}"/>
              </p228:anchr>
              <p228:title val="@Becca Levin - NVF now probably. "/>
            </p228:event>
            <p228:event time="2026-04-06T17:30:19.256" id="{571919F6-000F-4BE4-8A7E-BAABD43EFF96}">
              <p228:atrbtn authorId="{EE43B0AF-ADC2-B733-F9CA-50A0C930E760}"/>
              <p228:anchr>
                <p228:comment id="{1D3F64B2-6758-4EA4-B0BD-8614A7C1168F}"/>
              </p228:anchr>
              <p228:date stDt="2026-04-06T17:30:19.258" endDt="2026-04-06T17:30:19.258"/>
            </p228:event>
            <p228:event time="2026-04-06T17:54:47.040" id="{A66494BE-2388-4157-8D28-E5181A400A55}">
              <p228:atrbtn authorId="{43E7231E-D65A-7660-884F-A801964A74DA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  <p188:cm id="{A5F2976A-38F8-443C-960E-4BC1D0CB55DA}" authorId="{EE43B0AF-ADC2-B733-F9CA-50A0C930E760}" status="resolved" created="2026-04-06T17:31:01.420" startDate="2026-04-06T17:31:01.420" dueDate="2026-04-06T17:31:01.420" assignedTo="{43E7231E-D65A-7660-884F-A801964A74DA}" complete="100000" title="@Jeevan Virk - as of last week we are back in business. Need to close this off by the end of this qtr. 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55868621" sldId="355"/>
      <ac:spMk id="13" creationId="{B2429146-3D93-81F1-A801-EE4BEF71CCD6}"/>
      <ac:txMk cp="45" len="5">
        <ac:context len="110" hash="318103463"/>
      </ac:txMk>
    </ac:txMkLst>
    <p188:pos x="2801470" y="680110"/>
    <p188:replyLst>
      <p188:reply id="{AE2BCAFE-E891-4D75-9D16-09B6AA32DBE7}" authorId="{EE43B0AF-ADC2-B733-F9CA-50A0C930E760}" created="2026-04-06T17:31:13.897">
        <p188:txBody>
          <a:bodyPr/>
          <a:lstStyle/>
          <a:p>
            <a:r>
              <a:rPr lang="en-GB"/>
              <a:t xml:space="preserve">[@Becca Levin] </a:t>
            </a:r>
          </a:p>
        </p188:txBody>
      </p188:reply>
    </p188:replyLst>
    <p188:txBody>
      <a:bodyPr/>
      <a:lstStyle/>
      <a:p>
        <a:r>
          <a:rPr lang="en-GB"/>
          <a:t xml:space="preserve">[@Jeevan Virk]  - as of last week we are back in business. Need to close this off by the end of this qtr.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4-06T17:31:01.420" id="{440ABC79-89DC-4987-9068-44D2955C41B7}">
              <p228:atrbtn authorId="{EE43B0AF-ADC2-B733-F9CA-50A0C930E760}"/>
              <p228:anchr>
                <p228:comment id="{A5F2976A-38F8-443C-960E-4BC1D0CB55DA}"/>
              </p228:anchr>
              <p228:add/>
            </p228:event>
            <p228:event time="2026-04-06T17:31:01.420" id="{A8F4C73D-FD80-4106-9ABD-CE89C5FEB5F1}">
              <p228:atrbtn authorId="{EE43B0AF-ADC2-B733-F9CA-50A0C930E760}"/>
              <p228:anchr>
                <p228:comment id="{A5F2976A-38F8-443C-960E-4BC1D0CB55DA}"/>
              </p228:anchr>
              <p228:asgn authorId="{EE43B0AF-ADC2-B733-F9CA-50A0C930E760}"/>
            </p228:event>
            <p228:event time="2026-04-06T17:31:01.420" id="{5A54EDE8-5F02-425F-8075-77BA45A7BDB2}">
              <p228:atrbtn authorId="{EE43B0AF-ADC2-B733-F9CA-50A0C930E760}"/>
              <p228:anchr>
                <p228:comment id="{A5F2976A-38F8-443C-960E-4BC1D0CB55DA}"/>
              </p228:anchr>
              <p228:title val="@Jeevan Virk - as of last week we are back in business. Need to close this off by the end of this qtr. "/>
            </p228:event>
            <p228:event time="2026-04-06T17:31:01.420" id="{E7D4B10D-E3FC-4733-858A-B3BA2ECB9B4B}">
              <p228:atrbtn authorId="{EE43B0AF-ADC2-B733-F9CA-50A0C930E760}"/>
              <p228:anchr>
                <p228:comment id="{A5F2976A-38F8-443C-960E-4BC1D0CB55DA}"/>
              </p228:anchr>
              <p228:date stDt="2026-04-06T17:31:01.420" endDt="2026-04-06T17:31:01.420"/>
            </p228:event>
            <p228:event time="2026-04-06T17:31:13.897" id="{AE533B09-E14C-4BB0-B11A-29C2A0C27BBE}">
              <p228:atrbtn authorId="{EE43B0AF-ADC2-B733-F9CA-50A0C930E760}"/>
              <p228:anchr>
                <p228:comment id="{AE2BCAFE-E891-4D75-9D16-09B6AA32DBE7}"/>
              </p228:anchr>
              <p228:unasgnAll/>
            </p228:event>
            <p228:event time="2026-04-06T17:31:13.897" id="{46EFF4D7-708F-4D1C-B7E9-975360C2BAD8}">
              <p228:atrbtn authorId="{EE43B0AF-ADC2-B733-F9CA-50A0C930E760}"/>
              <p228:anchr>
                <p228:comment id="{AE2BCAFE-E891-4D75-9D16-09B6AA32DBE7}"/>
              </p228:anchr>
              <p228:asgn authorId="{43E7231E-D65A-7660-884F-A801964A74DA}"/>
            </p228:event>
            <p228:event time="2026-04-06T17:54:56.155" id="{F73B80A3-F985-4A06-8AE1-88623552D46C}">
              <p228:atrbtn authorId="{43E7231E-D65A-7660-884F-A801964A74DA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02301-3D5A-4973-9E07-F7D2509A855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7CB1D-6465-4295-8A51-B8AB882AB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11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7CB1D-6465-4295-8A51-B8AB882AB8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45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6D7A1-C59D-9264-FC2F-190161B80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4DF13-2190-228C-8913-07D649893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91D3C2-DA7C-820D-B116-BF9FD8AEF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F2BC9-02B3-4A61-A856-A73983896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B0095F-5445-47CF-A2C8-CD2D1447E28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315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A25E2-01FB-C1F7-8E85-86A951989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8EB0F-CC77-50C5-2006-F368053B9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CFCBF-2ACA-1B4D-37FC-01CD8E7C2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4CE2-1B6D-B6BA-C8EA-7EB8F7E0C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972351-E1D5-45EB-A0A0-3849E388F14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703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F22C9-B7BD-561A-3B4A-30801175B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D3F41-28AC-DA33-C10F-59BBBBB9F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05109-7C54-255A-65E0-6CB0E4175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94A8B-761C-183F-D8CD-A164C3AD6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B0095F-5445-47CF-A2C8-CD2D1447E28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4965069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-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0910-A0C0-68BB-7B53-15FDAD26F0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258" y="3225776"/>
            <a:ext cx="5070017" cy="82806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r>
              <a:rPr lang="en-US"/>
              <a:t>.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4FF15-ACE1-BC40-45CB-34D1B57152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EC72E-7D93-4BA5-9C9F-9730CC1FCB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Date Placeholder 21" hidden="1">
            <a:extLst>
              <a:ext uri="{FF2B5EF4-FFF2-40B4-BE49-F238E27FC236}">
                <a16:creationId xmlns:a16="http://schemas.microsoft.com/office/drawing/2014/main" id="{538CCEA6-28D6-432F-620A-5FA841D9A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28045" y="6492240"/>
            <a:ext cx="906780" cy="1097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en-GB" sz="800" spc="-39" smtClean="0">
                <a:solidFill>
                  <a:schemeClr val="tx1"/>
                </a:solidFill>
              </a:defRPr>
            </a:lvl1pPr>
          </a:lstStyle>
          <a:p>
            <a:fld id="{BC01B09E-BD2E-4777-B4D4-F6B540230C58}" type="datetime6">
              <a:rPr lang="en-GB" smtClean="0"/>
              <a:pPr/>
              <a:t>June 26</a:t>
            </a:fld>
            <a:endParaRPr lang="en-GB" sz="800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CB562FDC-03F1-5521-89C7-C4C12E07C6DB}"/>
              </a:ext>
            </a:extLst>
          </p:cNvPr>
          <p:cNvGrpSpPr/>
          <p:nvPr userDrawn="1"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chemeClr val="bg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2791912A-744B-425D-F110-EFB13F6FAEE4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89270859-3F16-2104-574D-74236AD8FD59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983165A3-2236-5DED-D823-B998BA612380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8F43ADFC-C7F7-447E-7528-B2D251DE959F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5E1AB878-C85A-B38C-3580-5EE82627FBF3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71061D67-2C92-6676-B691-D0C3162E6895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2C5BED9F-A69D-4C82-E00C-5A9A9FD9EC99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D9E26B4A-0E89-9545-CF71-72B0B21E751A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3DA25754-0125-9425-59B1-7FEC7D4AAAF3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EB2E4AC9-D18F-9818-11E5-9FAF5E9141FF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8" name="Subtitle 2">
            <a:extLst>
              <a:ext uri="{FF2B5EF4-FFF2-40B4-BE49-F238E27FC236}">
                <a16:creationId xmlns:a16="http://schemas.microsoft.com/office/drawing/2014/main" id="{620E3FC0-F13B-4AA1-8445-8E35E2CF193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2926186"/>
            <a:ext cx="5070017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44922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42BA4-469A-ACDB-3C72-111476EA42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ED306-214C-DFDE-1E4C-3120B3984D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42F3CB05-B71F-2304-36F3-1D328DDB162C}"/>
              </a:ext>
            </a:extLst>
          </p:cNvPr>
          <p:cNvGrpSpPr/>
          <p:nvPr userDrawn="1"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chemeClr val="bg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30B7A793-96DD-718F-6C53-3ED56F3EC0D9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E4A4D229-A539-9666-C803-E715831FCB80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649BA90A-AFC7-6552-715F-EB24799740AA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1FDB49AB-05C6-830A-79E4-659B4384A3D7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CA1B60CB-DCD7-8B10-E27A-06BFF887A080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59E0B493-3501-EF31-42E0-75A5F876ED0D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A3DE3EBE-2D35-17A6-7194-22B9C028797B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865A8686-D0E9-5DE2-D5AF-9469D8DFC277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3E79BEBE-4F28-1B64-3229-278A2A0FCA0C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C6D91C27-5113-D6F8-DD50-545A13EBBEA4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55FB519E-F037-3DA4-A1C7-8F1520479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5501" y="3268448"/>
            <a:ext cx="8945261" cy="40134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r>
              <a:rPr lang="en-US"/>
              <a:t>.</a:t>
            </a:r>
            <a:endParaRPr lang="en-GB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A1371C9-0DD0-D675-51AF-9B5EDD28DB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178" y="3067617"/>
            <a:ext cx="1144588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bg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Section One</a:t>
            </a:r>
            <a:endParaRPr lang="en-GB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13899FB2-FBD1-4075-123F-B4536AB49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8" y="3360957"/>
            <a:ext cx="1144588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6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Section Two</a:t>
            </a:r>
            <a:endParaRPr lang="en-GB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D2431CCB-56DE-6E4B-FFA1-297FA4232D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7178" y="3654297"/>
            <a:ext cx="1144588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6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Section Three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62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03D0F0-7052-5160-A771-5119F33D0F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DDD5D-8453-021D-0AFE-5BD4B5D976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E650826-C49B-4E4D-633C-3F0654915E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9" y="1091036"/>
            <a:ext cx="10131425" cy="158693"/>
          </a:xfrm>
        </p:spPr>
        <p:txBody>
          <a:bodyPr/>
          <a:lstStyle>
            <a:lvl1pPr marL="0" indent="0" algn="l">
              <a:buNone/>
              <a:defRPr sz="1200" spc="-10">
                <a:solidFill>
                  <a:schemeClr val="bg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Agenda or Date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45FB2E71-CF98-96CB-FAEB-10749E7CDB00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57179" y="1396445"/>
            <a:ext cx="10131425" cy="3835400"/>
          </a:xfrm>
        </p:spPr>
        <p:txBody>
          <a:bodyPr/>
          <a:lstStyle/>
          <a:p>
            <a:endParaRPr lang="en-GB"/>
          </a:p>
        </p:txBody>
      </p:sp>
      <p:grpSp>
        <p:nvGrpSpPr>
          <p:cNvPr id="2" name="Graphic 8">
            <a:extLst>
              <a:ext uri="{FF2B5EF4-FFF2-40B4-BE49-F238E27FC236}">
                <a16:creationId xmlns:a16="http://schemas.microsoft.com/office/drawing/2014/main" id="{90A17A9B-0C48-1515-ED38-C14C78957454}"/>
              </a:ext>
            </a:extLst>
          </p:cNvPr>
          <p:cNvGrpSpPr/>
          <p:nvPr userDrawn="1"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chemeClr val="bg1"/>
          </a:solidFill>
        </p:grpSpPr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B92FA4EC-976C-DA82-9504-58AF70C402D3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D4B48300-E7E6-EC2C-F589-F5BBD059681E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EA2FCC75-9BAA-C54B-469C-5E1CD96B6EF9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C1D0F2D6-F69A-C4D1-35DD-13FBD7B25F12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81FE0DA3-BFBB-5A05-D3B9-D06A9C5F5B86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34C3D3FD-92BD-87C8-7BEF-78648536719E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7914ED9B-9040-1DAC-207F-44855782ED81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EA545CE9-1F2E-C4DF-A288-6E0D73E2ABC7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D93B2B45-E164-0EA4-0C09-6DCA12389939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D24F9729-F8E5-AF5F-4B62-28C93CE603C4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91567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9B797-C20F-9FA8-DAAE-469DD3EC51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1AEAF-E1EB-8682-46B5-C49864784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54DAC0B-862D-B90A-DC42-00D38DC467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344" y="1859280"/>
            <a:ext cx="6917619" cy="4895778"/>
          </a:xfrm>
          <a:custGeom>
            <a:avLst/>
            <a:gdLst>
              <a:gd name="connsiteX0" fmla="*/ 640714 w 6917619"/>
              <a:gd name="connsiteY0" fmla="*/ 0 h 4895778"/>
              <a:gd name="connsiteX1" fmla="*/ 6917619 w 6917619"/>
              <a:gd name="connsiteY1" fmla="*/ 0 h 4895778"/>
              <a:gd name="connsiteX2" fmla="*/ 6917619 w 6917619"/>
              <a:gd name="connsiteY2" fmla="*/ 4252461 h 4895778"/>
              <a:gd name="connsiteX3" fmla="*/ 6276905 w 6917619"/>
              <a:gd name="connsiteY3" fmla="*/ 4895778 h 4895778"/>
              <a:gd name="connsiteX4" fmla="*/ 640714 w 6917619"/>
              <a:gd name="connsiteY4" fmla="*/ 4895778 h 4895778"/>
              <a:gd name="connsiteX5" fmla="*/ 0 w 6917619"/>
              <a:gd name="connsiteY5" fmla="*/ 4252461 h 4895778"/>
              <a:gd name="connsiteX6" fmla="*/ 0 w 6917619"/>
              <a:gd name="connsiteY6" fmla="*/ 643317 h 4895778"/>
              <a:gd name="connsiteX7" fmla="*/ 640714 w 6917619"/>
              <a:gd name="connsiteY7" fmla="*/ 0 h 489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7619" h="4895778">
                <a:moveTo>
                  <a:pt x="640714" y="0"/>
                </a:moveTo>
                <a:lnTo>
                  <a:pt x="6917619" y="0"/>
                </a:lnTo>
                <a:lnTo>
                  <a:pt x="6917619" y="4252461"/>
                </a:lnTo>
                <a:cubicBezTo>
                  <a:pt x="6917619" y="4607513"/>
                  <a:pt x="6630521" y="4895778"/>
                  <a:pt x="6276905" y="4895778"/>
                </a:cubicBezTo>
                <a:lnTo>
                  <a:pt x="640714" y="4895778"/>
                </a:lnTo>
                <a:cubicBezTo>
                  <a:pt x="287099" y="4895778"/>
                  <a:pt x="0" y="4607513"/>
                  <a:pt x="0" y="4252461"/>
                </a:cubicBezTo>
                <a:lnTo>
                  <a:pt x="0" y="643317"/>
                </a:lnTo>
                <a:cubicBezTo>
                  <a:pt x="0" y="288265"/>
                  <a:pt x="287099" y="0"/>
                  <a:pt x="6407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1AD52E-1789-01A1-2BBB-C4BD46A5C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556" y="1907516"/>
            <a:ext cx="3498564" cy="118620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An example quote or statement that’s paired with the left image.</a:t>
            </a:r>
            <a:endParaRPr lang="en-GB"/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F5FB426E-22B9-2183-4B0B-A78B89CDDD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9555" y="3395374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Name</a:t>
            </a:r>
            <a:endParaRPr lang="en-GB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2A367706-A504-DD7D-152D-F9949108D1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9555" y="3611410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349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with Lef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9B797-C20F-9FA8-DAAE-469DD3EC51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1AEAF-E1EB-8682-46B5-C49864784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54DAC0B-862D-B90A-DC42-00D38DC467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344" y="1859280"/>
            <a:ext cx="6917619" cy="4895778"/>
          </a:xfrm>
          <a:custGeom>
            <a:avLst/>
            <a:gdLst>
              <a:gd name="connsiteX0" fmla="*/ 640714 w 6917619"/>
              <a:gd name="connsiteY0" fmla="*/ 0 h 4895778"/>
              <a:gd name="connsiteX1" fmla="*/ 6917619 w 6917619"/>
              <a:gd name="connsiteY1" fmla="*/ 0 h 4895778"/>
              <a:gd name="connsiteX2" fmla="*/ 6917619 w 6917619"/>
              <a:gd name="connsiteY2" fmla="*/ 4252461 h 4895778"/>
              <a:gd name="connsiteX3" fmla="*/ 6276905 w 6917619"/>
              <a:gd name="connsiteY3" fmla="*/ 4895778 h 4895778"/>
              <a:gd name="connsiteX4" fmla="*/ 640714 w 6917619"/>
              <a:gd name="connsiteY4" fmla="*/ 4895778 h 4895778"/>
              <a:gd name="connsiteX5" fmla="*/ 0 w 6917619"/>
              <a:gd name="connsiteY5" fmla="*/ 4252461 h 4895778"/>
              <a:gd name="connsiteX6" fmla="*/ 0 w 6917619"/>
              <a:gd name="connsiteY6" fmla="*/ 643317 h 4895778"/>
              <a:gd name="connsiteX7" fmla="*/ 640714 w 6917619"/>
              <a:gd name="connsiteY7" fmla="*/ 0 h 489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7619" h="4895778">
                <a:moveTo>
                  <a:pt x="640714" y="0"/>
                </a:moveTo>
                <a:lnTo>
                  <a:pt x="6917619" y="0"/>
                </a:lnTo>
                <a:lnTo>
                  <a:pt x="6917619" y="4252461"/>
                </a:lnTo>
                <a:cubicBezTo>
                  <a:pt x="6917619" y="4607513"/>
                  <a:pt x="6630521" y="4895778"/>
                  <a:pt x="6276905" y="4895778"/>
                </a:cubicBezTo>
                <a:lnTo>
                  <a:pt x="640714" y="4895778"/>
                </a:lnTo>
                <a:cubicBezTo>
                  <a:pt x="287099" y="4895778"/>
                  <a:pt x="0" y="4607513"/>
                  <a:pt x="0" y="4252461"/>
                </a:cubicBezTo>
                <a:lnTo>
                  <a:pt x="0" y="643317"/>
                </a:lnTo>
                <a:cubicBezTo>
                  <a:pt x="0" y="288265"/>
                  <a:pt x="287099" y="0"/>
                  <a:pt x="6407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1AD52E-1789-01A1-2BBB-C4BD46A5C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556" y="1907516"/>
            <a:ext cx="3498564" cy="118620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An example quote or statement that’s paired with the left image.</a:t>
            </a:r>
            <a:endParaRPr lang="en-GB"/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F5FB426E-22B9-2183-4B0B-A78B89CDDD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9555" y="3395374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Name</a:t>
            </a:r>
            <a:endParaRPr lang="en-GB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2A367706-A504-DD7D-152D-F9949108D1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9555" y="3611410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71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9761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for slide with two images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5770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B780EE7-8B48-AE2D-938E-E4D65084BB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13" y="2687320"/>
            <a:ext cx="7909560" cy="4101878"/>
          </a:xfrm>
          <a:custGeom>
            <a:avLst/>
            <a:gdLst>
              <a:gd name="connsiteX0" fmla="*/ 640856 w 7909560"/>
              <a:gd name="connsiteY0" fmla="*/ 0 h 4101878"/>
              <a:gd name="connsiteX1" fmla="*/ 7909560 w 7909560"/>
              <a:gd name="connsiteY1" fmla="*/ 0 h 4101878"/>
              <a:gd name="connsiteX2" fmla="*/ 7909560 w 7909560"/>
              <a:gd name="connsiteY2" fmla="*/ 3461353 h 4101878"/>
              <a:gd name="connsiteX3" fmla="*/ 7268704 w 7909560"/>
              <a:gd name="connsiteY3" fmla="*/ 4101878 h 4101878"/>
              <a:gd name="connsiteX4" fmla="*/ 640856 w 7909560"/>
              <a:gd name="connsiteY4" fmla="*/ 4101878 h 4101878"/>
              <a:gd name="connsiteX5" fmla="*/ 0 w 7909560"/>
              <a:gd name="connsiteY5" fmla="*/ 3461353 h 4101878"/>
              <a:gd name="connsiteX6" fmla="*/ 0 w 7909560"/>
              <a:gd name="connsiteY6" fmla="*/ 640525 h 4101878"/>
              <a:gd name="connsiteX7" fmla="*/ 640856 w 7909560"/>
              <a:gd name="connsiteY7" fmla="*/ 0 h 4101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9560" h="4101878">
                <a:moveTo>
                  <a:pt x="640856" y="0"/>
                </a:moveTo>
                <a:lnTo>
                  <a:pt x="7909560" y="0"/>
                </a:lnTo>
                <a:lnTo>
                  <a:pt x="7909560" y="3461353"/>
                </a:lnTo>
                <a:cubicBezTo>
                  <a:pt x="7909560" y="3814847"/>
                  <a:pt x="7622380" y="4101878"/>
                  <a:pt x="7268704" y="4101878"/>
                </a:cubicBezTo>
                <a:lnTo>
                  <a:pt x="640856" y="4101878"/>
                </a:lnTo>
                <a:cubicBezTo>
                  <a:pt x="287180" y="4101878"/>
                  <a:pt x="0" y="3814847"/>
                  <a:pt x="0" y="3461353"/>
                </a:cubicBezTo>
                <a:lnTo>
                  <a:pt x="0" y="640525"/>
                </a:lnTo>
                <a:cubicBezTo>
                  <a:pt x="0" y="287031"/>
                  <a:pt x="287180" y="0"/>
                  <a:pt x="6408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17AD81-D334-8CCB-130E-2510F2DB65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5632" y="2687320"/>
            <a:ext cx="3975183" cy="4101813"/>
          </a:xfrm>
          <a:custGeom>
            <a:avLst/>
            <a:gdLst>
              <a:gd name="connsiteX0" fmla="*/ 0 w 3975183"/>
              <a:gd name="connsiteY0" fmla="*/ 0 h 4101813"/>
              <a:gd name="connsiteX1" fmla="*/ 3325754 w 3975183"/>
              <a:gd name="connsiteY1" fmla="*/ 0 h 4101813"/>
              <a:gd name="connsiteX2" fmla="*/ 3975183 w 3975183"/>
              <a:gd name="connsiteY2" fmla="*/ 649429 h 4101813"/>
              <a:gd name="connsiteX3" fmla="*/ 3975183 w 3975183"/>
              <a:gd name="connsiteY3" fmla="*/ 3452384 h 4101813"/>
              <a:gd name="connsiteX4" fmla="*/ 3325754 w 3975183"/>
              <a:gd name="connsiteY4" fmla="*/ 4101813 h 4101813"/>
              <a:gd name="connsiteX5" fmla="*/ 649429 w 3975183"/>
              <a:gd name="connsiteY5" fmla="*/ 4101813 h 4101813"/>
              <a:gd name="connsiteX6" fmla="*/ 0 w 3975183"/>
              <a:gd name="connsiteY6" fmla="*/ 3452384 h 41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5183" h="4101813">
                <a:moveTo>
                  <a:pt x="0" y="0"/>
                </a:moveTo>
                <a:lnTo>
                  <a:pt x="3325754" y="0"/>
                </a:lnTo>
                <a:cubicBezTo>
                  <a:pt x="3684209" y="0"/>
                  <a:pt x="3975183" y="290974"/>
                  <a:pt x="3975183" y="649429"/>
                </a:cubicBezTo>
                <a:lnTo>
                  <a:pt x="3975183" y="3452384"/>
                </a:lnTo>
                <a:cubicBezTo>
                  <a:pt x="3975183" y="3810839"/>
                  <a:pt x="3684209" y="4101813"/>
                  <a:pt x="3325754" y="4101813"/>
                </a:cubicBezTo>
                <a:lnTo>
                  <a:pt x="649429" y="4101813"/>
                </a:lnTo>
                <a:cubicBezTo>
                  <a:pt x="290974" y="4101813"/>
                  <a:pt x="0" y="3810839"/>
                  <a:pt x="0" y="345238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138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with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9761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for slide with two images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5770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B780EE7-8B48-AE2D-938E-E4D65084BB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13" y="2687320"/>
            <a:ext cx="7909560" cy="4101878"/>
          </a:xfrm>
          <a:custGeom>
            <a:avLst/>
            <a:gdLst>
              <a:gd name="connsiteX0" fmla="*/ 640856 w 7909560"/>
              <a:gd name="connsiteY0" fmla="*/ 0 h 4101878"/>
              <a:gd name="connsiteX1" fmla="*/ 7909560 w 7909560"/>
              <a:gd name="connsiteY1" fmla="*/ 0 h 4101878"/>
              <a:gd name="connsiteX2" fmla="*/ 7909560 w 7909560"/>
              <a:gd name="connsiteY2" fmla="*/ 3461353 h 4101878"/>
              <a:gd name="connsiteX3" fmla="*/ 7268704 w 7909560"/>
              <a:gd name="connsiteY3" fmla="*/ 4101878 h 4101878"/>
              <a:gd name="connsiteX4" fmla="*/ 640856 w 7909560"/>
              <a:gd name="connsiteY4" fmla="*/ 4101878 h 4101878"/>
              <a:gd name="connsiteX5" fmla="*/ 0 w 7909560"/>
              <a:gd name="connsiteY5" fmla="*/ 3461353 h 4101878"/>
              <a:gd name="connsiteX6" fmla="*/ 0 w 7909560"/>
              <a:gd name="connsiteY6" fmla="*/ 640525 h 4101878"/>
              <a:gd name="connsiteX7" fmla="*/ 640856 w 7909560"/>
              <a:gd name="connsiteY7" fmla="*/ 0 h 4101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9560" h="4101878">
                <a:moveTo>
                  <a:pt x="640856" y="0"/>
                </a:moveTo>
                <a:lnTo>
                  <a:pt x="7909560" y="0"/>
                </a:lnTo>
                <a:lnTo>
                  <a:pt x="7909560" y="3461353"/>
                </a:lnTo>
                <a:cubicBezTo>
                  <a:pt x="7909560" y="3814847"/>
                  <a:pt x="7622380" y="4101878"/>
                  <a:pt x="7268704" y="4101878"/>
                </a:cubicBezTo>
                <a:lnTo>
                  <a:pt x="640856" y="4101878"/>
                </a:lnTo>
                <a:cubicBezTo>
                  <a:pt x="287180" y="4101878"/>
                  <a:pt x="0" y="3814847"/>
                  <a:pt x="0" y="3461353"/>
                </a:cubicBezTo>
                <a:lnTo>
                  <a:pt x="0" y="640525"/>
                </a:lnTo>
                <a:cubicBezTo>
                  <a:pt x="0" y="287031"/>
                  <a:pt x="287180" y="0"/>
                  <a:pt x="6408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17AD81-D334-8CCB-130E-2510F2DB65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5632" y="2687320"/>
            <a:ext cx="3975183" cy="4101813"/>
          </a:xfrm>
          <a:custGeom>
            <a:avLst/>
            <a:gdLst>
              <a:gd name="connsiteX0" fmla="*/ 0 w 3975183"/>
              <a:gd name="connsiteY0" fmla="*/ 0 h 4101813"/>
              <a:gd name="connsiteX1" fmla="*/ 3325754 w 3975183"/>
              <a:gd name="connsiteY1" fmla="*/ 0 h 4101813"/>
              <a:gd name="connsiteX2" fmla="*/ 3975183 w 3975183"/>
              <a:gd name="connsiteY2" fmla="*/ 649429 h 4101813"/>
              <a:gd name="connsiteX3" fmla="*/ 3975183 w 3975183"/>
              <a:gd name="connsiteY3" fmla="*/ 3452384 h 4101813"/>
              <a:gd name="connsiteX4" fmla="*/ 3325754 w 3975183"/>
              <a:gd name="connsiteY4" fmla="*/ 4101813 h 4101813"/>
              <a:gd name="connsiteX5" fmla="*/ 649429 w 3975183"/>
              <a:gd name="connsiteY5" fmla="*/ 4101813 h 4101813"/>
              <a:gd name="connsiteX6" fmla="*/ 0 w 3975183"/>
              <a:gd name="connsiteY6" fmla="*/ 3452384 h 41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5183" h="4101813">
                <a:moveTo>
                  <a:pt x="0" y="0"/>
                </a:moveTo>
                <a:lnTo>
                  <a:pt x="3325754" y="0"/>
                </a:lnTo>
                <a:cubicBezTo>
                  <a:pt x="3684209" y="0"/>
                  <a:pt x="3975183" y="290974"/>
                  <a:pt x="3975183" y="649429"/>
                </a:cubicBezTo>
                <a:lnTo>
                  <a:pt x="3975183" y="3452384"/>
                </a:lnTo>
                <a:cubicBezTo>
                  <a:pt x="3975183" y="3810839"/>
                  <a:pt x="3684209" y="4101813"/>
                  <a:pt x="3325754" y="4101813"/>
                </a:cubicBezTo>
                <a:lnTo>
                  <a:pt x="649429" y="4101813"/>
                </a:lnTo>
                <a:cubicBezTo>
                  <a:pt x="290974" y="4101813"/>
                  <a:pt x="0" y="3810839"/>
                  <a:pt x="0" y="345238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188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&amp; Body with Imag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0318-95A4-0902-F794-678773D63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2" y="1389952"/>
            <a:ext cx="3753871" cy="1170367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a headline and body copy paired with an image on the right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CBB53-1041-7DAB-E7B6-97645F7A27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8B73-9AC3-F0D9-9171-EF6C63353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5564C8-82EE-7E06-BE0C-6D70300B4A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0" y="1088496"/>
            <a:ext cx="3753872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A13FF3-B687-67A4-23E7-265ABB0E9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3127" y="1079261"/>
            <a:ext cx="6936481" cy="5681757"/>
          </a:xfrm>
          <a:custGeom>
            <a:avLst/>
            <a:gdLst>
              <a:gd name="connsiteX0" fmla="*/ 738074 w 6945717"/>
              <a:gd name="connsiteY0" fmla="*/ 0 h 5722013"/>
              <a:gd name="connsiteX1" fmla="*/ 6945717 w 6945717"/>
              <a:gd name="connsiteY1" fmla="*/ 0 h 5722013"/>
              <a:gd name="connsiteX2" fmla="*/ 6945717 w 6945717"/>
              <a:gd name="connsiteY2" fmla="*/ 4984557 h 5722013"/>
              <a:gd name="connsiteX3" fmla="*/ 6207643 w 6945717"/>
              <a:gd name="connsiteY3" fmla="*/ 5722013 h 5722013"/>
              <a:gd name="connsiteX4" fmla="*/ 738074 w 6945717"/>
              <a:gd name="connsiteY4" fmla="*/ 5722013 h 5722013"/>
              <a:gd name="connsiteX5" fmla="*/ 0 w 6945717"/>
              <a:gd name="connsiteY5" fmla="*/ 4984557 h 5722013"/>
              <a:gd name="connsiteX6" fmla="*/ 0 w 6945717"/>
              <a:gd name="connsiteY6" fmla="*/ 737456 h 5722013"/>
              <a:gd name="connsiteX7" fmla="*/ 738074 w 6945717"/>
              <a:gd name="connsiteY7" fmla="*/ 0 h 572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45717" h="5722013">
                <a:moveTo>
                  <a:pt x="738074" y="0"/>
                </a:moveTo>
                <a:lnTo>
                  <a:pt x="6945717" y="0"/>
                </a:lnTo>
                <a:lnTo>
                  <a:pt x="6945717" y="4984557"/>
                </a:lnTo>
                <a:cubicBezTo>
                  <a:pt x="6945717" y="5391542"/>
                  <a:pt x="6614968" y="5722013"/>
                  <a:pt x="6207643" y="5722013"/>
                </a:cubicBezTo>
                <a:lnTo>
                  <a:pt x="738074" y="5722013"/>
                </a:lnTo>
                <a:cubicBezTo>
                  <a:pt x="330748" y="5722013"/>
                  <a:pt x="0" y="5391542"/>
                  <a:pt x="0" y="4984557"/>
                </a:cubicBezTo>
                <a:lnTo>
                  <a:pt x="0" y="737456"/>
                </a:lnTo>
                <a:cubicBezTo>
                  <a:pt x="0" y="330472"/>
                  <a:pt x="330748" y="0"/>
                  <a:pt x="7380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992FF23-EEEA-EC59-C320-07847EF7C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2929573"/>
            <a:ext cx="3753993" cy="36712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/>
            </a:lvl1pPr>
            <a:lvl2pPr>
              <a:lnSpc>
                <a:spcPct val="103000"/>
              </a:lnSpc>
              <a:spcBef>
                <a:spcPts val="1000"/>
              </a:spcBef>
              <a:defRPr sz="1400" spc="-17"/>
            </a:lvl2pPr>
            <a:lvl3pPr>
              <a:lnSpc>
                <a:spcPct val="103000"/>
              </a:lnSpc>
              <a:spcBef>
                <a:spcPts val="1000"/>
              </a:spcBef>
              <a:defRPr sz="1400" spc="-17"/>
            </a:lvl3pPr>
            <a:lvl4pPr>
              <a:lnSpc>
                <a:spcPct val="103000"/>
              </a:lnSpc>
              <a:spcBef>
                <a:spcPts val="1000"/>
              </a:spcBef>
              <a:defRPr sz="1400" spc="-17"/>
            </a:lvl4pPr>
            <a:lvl5pPr>
              <a:lnSpc>
                <a:spcPct val="103000"/>
              </a:lnSpc>
              <a:spcBef>
                <a:spcPts val="1000"/>
              </a:spcBef>
              <a:defRPr sz="1400" spc="-17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9256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&amp; Body with Imag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0318-95A4-0902-F794-678773D63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2" y="1389952"/>
            <a:ext cx="3753871" cy="1170367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a headline and body copy paired with an image on the right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CBB53-1041-7DAB-E7B6-97645F7A27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8B73-9AC3-F0D9-9171-EF6C63353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5564C8-82EE-7E06-BE0C-6D70300B4A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0" y="1088496"/>
            <a:ext cx="3753872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A13FF3-B687-67A4-23E7-265ABB0E9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3127" y="1079261"/>
            <a:ext cx="6936481" cy="5681757"/>
          </a:xfrm>
          <a:custGeom>
            <a:avLst/>
            <a:gdLst>
              <a:gd name="connsiteX0" fmla="*/ 738074 w 6945717"/>
              <a:gd name="connsiteY0" fmla="*/ 0 h 5722013"/>
              <a:gd name="connsiteX1" fmla="*/ 6945717 w 6945717"/>
              <a:gd name="connsiteY1" fmla="*/ 0 h 5722013"/>
              <a:gd name="connsiteX2" fmla="*/ 6945717 w 6945717"/>
              <a:gd name="connsiteY2" fmla="*/ 4984557 h 5722013"/>
              <a:gd name="connsiteX3" fmla="*/ 6207643 w 6945717"/>
              <a:gd name="connsiteY3" fmla="*/ 5722013 h 5722013"/>
              <a:gd name="connsiteX4" fmla="*/ 738074 w 6945717"/>
              <a:gd name="connsiteY4" fmla="*/ 5722013 h 5722013"/>
              <a:gd name="connsiteX5" fmla="*/ 0 w 6945717"/>
              <a:gd name="connsiteY5" fmla="*/ 4984557 h 5722013"/>
              <a:gd name="connsiteX6" fmla="*/ 0 w 6945717"/>
              <a:gd name="connsiteY6" fmla="*/ 737456 h 5722013"/>
              <a:gd name="connsiteX7" fmla="*/ 738074 w 6945717"/>
              <a:gd name="connsiteY7" fmla="*/ 0 h 572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45717" h="5722013">
                <a:moveTo>
                  <a:pt x="738074" y="0"/>
                </a:moveTo>
                <a:lnTo>
                  <a:pt x="6945717" y="0"/>
                </a:lnTo>
                <a:lnTo>
                  <a:pt x="6945717" y="4984557"/>
                </a:lnTo>
                <a:cubicBezTo>
                  <a:pt x="6945717" y="5391542"/>
                  <a:pt x="6614968" y="5722013"/>
                  <a:pt x="6207643" y="5722013"/>
                </a:cubicBezTo>
                <a:lnTo>
                  <a:pt x="738074" y="5722013"/>
                </a:lnTo>
                <a:cubicBezTo>
                  <a:pt x="330748" y="5722013"/>
                  <a:pt x="0" y="5391542"/>
                  <a:pt x="0" y="4984557"/>
                </a:cubicBezTo>
                <a:lnTo>
                  <a:pt x="0" y="737456"/>
                </a:lnTo>
                <a:cubicBezTo>
                  <a:pt x="0" y="330472"/>
                  <a:pt x="330748" y="0"/>
                  <a:pt x="7380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992FF23-EEEA-EC59-C320-07847EF7C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2929573"/>
            <a:ext cx="3753993" cy="36712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/>
            </a:lvl1pPr>
            <a:lvl2pPr>
              <a:lnSpc>
                <a:spcPct val="103000"/>
              </a:lnSpc>
              <a:spcBef>
                <a:spcPts val="1000"/>
              </a:spcBef>
              <a:defRPr sz="1400" spc="-17"/>
            </a:lvl2pPr>
            <a:lvl3pPr>
              <a:lnSpc>
                <a:spcPct val="103000"/>
              </a:lnSpc>
              <a:spcBef>
                <a:spcPts val="1000"/>
              </a:spcBef>
              <a:defRPr sz="1400" spc="-17"/>
            </a:lvl3pPr>
            <a:lvl4pPr>
              <a:lnSpc>
                <a:spcPct val="103000"/>
              </a:lnSpc>
              <a:spcBef>
                <a:spcPts val="1000"/>
              </a:spcBef>
              <a:defRPr sz="1400" spc="-17"/>
            </a:lvl4pPr>
            <a:lvl5pPr>
              <a:lnSpc>
                <a:spcPct val="103000"/>
              </a:lnSpc>
              <a:spcBef>
                <a:spcPts val="1000"/>
              </a:spcBef>
              <a:defRPr sz="1400" spc="-17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208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&amp; Body with Im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0318-95A4-0902-F794-678773D63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2" y="1389952"/>
            <a:ext cx="3753871" cy="1170367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a headline and body copy paired with an image on the right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CBB53-1041-7DAB-E7B6-97645F7A27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8B73-9AC3-F0D9-9171-EF6C63353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5564C8-82EE-7E06-BE0C-6D70300B4A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0" y="1088496"/>
            <a:ext cx="3753872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A13FF3-B687-67A4-23E7-265ABB0E9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3127" y="1079261"/>
            <a:ext cx="6936481" cy="5681757"/>
          </a:xfrm>
          <a:custGeom>
            <a:avLst/>
            <a:gdLst>
              <a:gd name="connsiteX0" fmla="*/ 738074 w 6945717"/>
              <a:gd name="connsiteY0" fmla="*/ 0 h 5722013"/>
              <a:gd name="connsiteX1" fmla="*/ 6945717 w 6945717"/>
              <a:gd name="connsiteY1" fmla="*/ 0 h 5722013"/>
              <a:gd name="connsiteX2" fmla="*/ 6945717 w 6945717"/>
              <a:gd name="connsiteY2" fmla="*/ 4984557 h 5722013"/>
              <a:gd name="connsiteX3" fmla="*/ 6207643 w 6945717"/>
              <a:gd name="connsiteY3" fmla="*/ 5722013 h 5722013"/>
              <a:gd name="connsiteX4" fmla="*/ 738074 w 6945717"/>
              <a:gd name="connsiteY4" fmla="*/ 5722013 h 5722013"/>
              <a:gd name="connsiteX5" fmla="*/ 0 w 6945717"/>
              <a:gd name="connsiteY5" fmla="*/ 4984557 h 5722013"/>
              <a:gd name="connsiteX6" fmla="*/ 0 w 6945717"/>
              <a:gd name="connsiteY6" fmla="*/ 737456 h 5722013"/>
              <a:gd name="connsiteX7" fmla="*/ 738074 w 6945717"/>
              <a:gd name="connsiteY7" fmla="*/ 0 h 572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45717" h="5722013">
                <a:moveTo>
                  <a:pt x="738074" y="0"/>
                </a:moveTo>
                <a:lnTo>
                  <a:pt x="6945717" y="0"/>
                </a:lnTo>
                <a:lnTo>
                  <a:pt x="6945717" y="4984557"/>
                </a:lnTo>
                <a:cubicBezTo>
                  <a:pt x="6945717" y="5391542"/>
                  <a:pt x="6614968" y="5722013"/>
                  <a:pt x="6207643" y="5722013"/>
                </a:cubicBezTo>
                <a:lnTo>
                  <a:pt x="738074" y="5722013"/>
                </a:lnTo>
                <a:cubicBezTo>
                  <a:pt x="330748" y="5722013"/>
                  <a:pt x="0" y="5391542"/>
                  <a:pt x="0" y="4984557"/>
                </a:cubicBezTo>
                <a:lnTo>
                  <a:pt x="0" y="737456"/>
                </a:lnTo>
                <a:cubicBezTo>
                  <a:pt x="0" y="330472"/>
                  <a:pt x="330748" y="0"/>
                  <a:pt x="7380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CA6B0C59-8056-303C-E693-D8259BDDE6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3299031"/>
            <a:ext cx="3753993" cy="3301794"/>
          </a:xfrm>
        </p:spPr>
        <p:txBody>
          <a:bodyPr/>
          <a:lstStyle>
            <a:lvl1pPr marL="237744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1pPr>
            <a:lvl2pPr marL="40233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2pPr>
            <a:lvl3pPr marL="58521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3pPr>
            <a:lvl4pPr marL="76809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4pPr>
            <a:lvl5pPr marL="95097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6E77B6E7-D661-181A-C34B-26EF05233E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80" y="2938535"/>
            <a:ext cx="3753871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68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Images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6679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2686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82B53A0F-9769-BFF4-2FB4-C73782AF9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7178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44FE4434-42C1-8BF3-BAA6-94B7EF00C8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7178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 xml:space="preserve">Ut </a:t>
            </a:r>
            <a:r>
              <a:rPr lang="en-US" err="1"/>
              <a:t>enim</a:t>
            </a:r>
            <a:r>
              <a:rPr lang="en-US"/>
              <a:t xml:space="preserve"> ad minim </a:t>
            </a:r>
            <a:r>
              <a:rPr lang="en-US" err="1"/>
              <a:t>veniam</a:t>
            </a:r>
            <a:r>
              <a:rPr lang="en-US"/>
              <a:t xml:space="preserve">, </a:t>
            </a:r>
            <a:r>
              <a:rPr lang="en-US" err="1"/>
              <a:t>quis</a:t>
            </a:r>
            <a:r>
              <a:rPr lang="en-US"/>
              <a:t xml:space="preserve"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 xml:space="preserve">exercitation </a:t>
            </a:r>
            <a:r>
              <a:rPr lang="en-US" err="1"/>
              <a:t>ullamco</a:t>
            </a:r>
            <a:r>
              <a:rPr lang="en-US"/>
              <a:t xml:space="preserve"> </a:t>
            </a:r>
            <a:r>
              <a:rPr lang="en-US" err="1"/>
              <a:t>laboris</a:t>
            </a:r>
            <a:r>
              <a:rPr lang="en-US"/>
              <a:t xml:space="preserve"> nisi </a:t>
            </a:r>
            <a:r>
              <a:rPr lang="en-US" err="1"/>
              <a:t>ut</a:t>
            </a:r>
            <a:r>
              <a:rPr lang="en-US"/>
              <a:t xml:space="preserve"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5C89FC96-610E-E710-FD59-5C6C4E45C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4141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DB5B3D3B-C4B0-1E8B-C229-72FF828AB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94141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 xml:space="preserve">Ut </a:t>
            </a:r>
            <a:r>
              <a:rPr lang="en-US" err="1"/>
              <a:t>enim</a:t>
            </a:r>
            <a:r>
              <a:rPr lang="en-US"/>
              <a:t xml:space="preserve"> ad minim </a:t>
            </a:r>
            <a:r>
              <a:rPr lang="en-US" err="1"/>
              <a:t>veniam</a:t>
            </a:r>
            <a:r>
              <a:rPr lang="en-US"/>
              <a:t xml:space="preserve">, </a:t>
            </a:r>
            <a:r>
              <a:rPr lang="en-US" err="1"/>
              <a:t>quis</a:t>
            </a:r>
            <a:r>
              <a:rPr lang="en-US"/>
              <a:t xml:space="preserve"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 xml:space="preserve">exercitation </a:t>
            </a:r>
            <a:r>
              <a:rPr lang="en-US" err="1"/>
              <a:t>ullamco</a:t>
            </a:r>
            <a:r>
              <a:rPr lang="en-US"/>
              <a:t xml:space="preserve"> </a:t>
            </a:r>
            <a:r>
              <a:rPr lang="en-US" err="1"/>
              <a:t>laboris</a:t>
            </a:r>
            <a:r>
              <a:rPr lang="en-US"/>
              <a:t xml:space="preserve"> nisi </a:t>
            </a:r>
            <a:r>
              <a:rPr lang="en-US" err="1"/>
              <a:t>ut</a:t>
            </a:r>
            <a:r>
              <a:rPr lang="en-US"/>
              <a:t xml:space="preserve"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A7182F27-B965-0E1E-DE4D-C6A3690AAC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31104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A5796F65-7D98-EAE7-B767-CEEB4AA474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31104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 xml:space="preserve">Ut </a:t>
            </a:r>
            <a:r>
              <a:rPr lang="en-US" err="1"/>
              <a:t>enim</a:t>
            </a:r>
            <a:r>
              <a:rPr lang="en-US"/>
              <a:t xml:space="preserve"> ad minim </a:t>
            </a:r>
            <a:r>
              <a:rPr lang="en-US" err="1"/>
              <a:t>veniam</a:t>
            </a:r>
            <a:r>
              <a:rPr lang="en-US"/>
              <a:t xml:space="preserve">, </a:t>
            </a:r>
            <a:r>
              <a:rPr lang="en-US" err="1"/>
              <a:t>quis</a:t>
            </a:r>
            <a:r>
              <a:rPr lang="en-US"/>
              <a:t xml:space="preserve"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 xml:space="preserve">exercitation </a:t>
            </a:r>
            <a:r>
              <a:rPr lang="en-US" err="1"/>
              <a:t>ullamco</a:t>
            </a:r>
            <a:r>
              <a:rPr lang="en-US"/>
              <a:t xml:space="preserve"> </a:t>
            </a:r>
            <a:r>
              <a:rPr lang="en-US" err="1"/>
              <a:t>laboris</a:t>
            </a:r>
            <a:r>
              <a:rPr lang="en-US"/>
              <a:t xml:space="preserve"> nisi </a:t>
            </a:r>
            <a:r>
              <a:rPr lang="en-US" err="1"/>
              <a:t>ut</a:t>
            </a:r>
            <a:r>
              <a:rPr lang="en-US"/>
              <a:t xml:space="preserve"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59A2748-5765-3F1C-D7FC-C9C2898E6DC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7175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D97A640-D804-0F5B-92BA-4FF2AA9F178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9414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33C8B42-5CD4-4659-31F0-5175AEA6C24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3117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822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Images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6679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2686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82B53A0F-9769-BFF4-2FB4-C73782AF9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7178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44FE4434-42C1-8BF3-BAA6-94B7EF00C8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7178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 xml:space="preserve">Ut </a:t>
            </a:r>
            <a:r>
              <a:rPr lang="en-US" err="1"/>
              <a:t>enim</a:t>
            </a:r>
            <a:r>
              <a:rPr lang="en-US"/>
              <a:t xml:space="preserve"> ad minim </a:t>
            </a:r>
            <a:r>
              <a:rPr lang="en-US" err="1"/>
              <a:t>veniam</a:t>
            </a:r>
            <a:r>
              <a:rPr lang="en-US"/>
              <a:t xml:space="preserve">, </a:t>
            </a:r>
            <a:r>
              <a:rPr lang="en-US" err="1"/>
              <a:t>quis</a:t>
            </a:r>
            <a:r>
              <a:rPr lang="en-US"/>
              <a:t xml:space="preserve"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 xml:space="preserve">exercitation </a:t>
            </a:r>
            <a:r>
              <a:rPr lang="en-US" err="1"/>
              <a:t>ullamco</a:t>
            </a:r>
            <a:r>
              <a:rPr lang="en-US"/>
              <a:t xml:space="preserve"> </a:t>
            </a:r>
            <a:r>
              <a:rPr lang="en-US" err="1"/>
              <a:t>laboris</a:t>
            </a:r>
            <a:r>
              <a:rPr lang="en-US"/>
              <a:t xml:space="preserve"> nisi </a:t>
            </a:r>
            <a:r>
              <a:rPr lang="en-US" err="1"/>
              <a:t>ut</a:t>
            </a:r>
            <a:r>
              <a:rPr lang="en-US"/>
              <a:t xml:space="preserve"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5C89FC96-610E-E710-FD59-5C6C4E45C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4141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DB5B3D3B-C4B0-1E8B-C229-72FF828AB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94141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 xml:space="preserve">Ut </a:t>
            </a:r>
            <a:r>
              <a:rPr lang="en-US" err="1"/>
              <a:t>enim</a:t>
            </a:r>
            <a:r>
              <a:rPr lang="en-US"/>
              <a:t xml:space="preserve"> ad minim </a:t>
            </a:r>
            <a:r>
              <a:rPr lang="en-US" err="1"/>
              <a:t>veniam</a:t>
            </a:r>
            <a:r>
              <a:rPr lang="en-US"/>
              <a:t xml:space="preserve">, </a:t>
            </a:r>
            <a:r>
              <a:rPr lang="en-US" err="1"/>
              <a:t>quis</a:t>
            </a:r>
            <a:r>
              <a:rPr lang="en-US"/>
              <a:t xml:space="preserve"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 xml:space="preserve">exercitation </a:t>
            </a:r>
            <a:r>
              <a:rPr lang="en-US" err="1"/>
              <a:t>ullamco</a:t>
            </a:r>
            <a:r>
              <a:rPr lang="en-US"/>
              <a:t xml:space="preserve"> </a:t>
            </a:r>
            <a:r>
              <a:rPr lang="en-US" err="1"/>
              <a:t>laboris</a:t>
            </a:r>
            <a:r>
              <a:rPr lang="en-US"/>
              <a:t xml:space="preserve"> nisi </a:t>
            </a:r>
            <a:r>
              <a:rPr lang="en-US" err="1"/>
              <a:t>ut</a:t>
            </a:r>
            <a:r>
              <a:rPr lang="en-US"/>
              <a:t xml:space="preserve"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A7182F27-B965-0E1E-DE4D-C6A3690AAC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31104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A5796F65-7D98-EAE7-B767-CEEB4AA474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31104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 xml:space="preserve">Ut </a:t>
            </a:r>
            <a:r>
              <a:rPr lang="en-US" err="1"/>
              <a:t>enim</a:t>
            </a:r>
            <a:r>
              <a:rPr lang="en-US"/>
              <a:t xml:space="preserve"> ad minim </a:t>
            </a:r>
            <a:r>
              <a:rPr lang="en-US" err="1"/>
              <a:t>veniam</a:t>
            </a:r>
            <a:r>
              <a:rPr lang="en-US"/>
              <a:t xml:space="preserve">, </a:t>
            </a:r>
            <a:r>
              <a:rPr lang="en-US" err="1"/>
              <a:t>quis</a:t>
            </a:r>
            <a:r>
              <a:rPr lang="en-US"/>
              <a:t xml:space="preserve"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 xml:space="preserve">exercitation </a:t>
            </a:r>
            <a:r>
              <a:rPr lang="en-US" err="1"/>
              <a:t>ullamco</a:t>
            </a:r>
            <a:r>
              <a:rPr lang="en-US"/>
              <a:t xml:space="preserve"> </a:t>
            </a:r>
            <a:r>
              <a:rPr lang="en-US" err="1"/>
              <a:t>laboris</a:t>
            </a:r>
            <a:r>
              <a:rPr lang="en-US"/>
              <a:t xml:space="preserve"> nisi </a:t>
            </a:r>
            <a:r>
              <a:rPr lang="en-US" err="1"/>
              <a:t>ut</a:t>
            </a:r>
            <a:r>
              <a:rPr lang="en-US"/>
              <a:t xml:space="preserve"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59A2748-5765-3F1C-D7FC-C9C2898E6DC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7175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D97A640-D804-0F5B-92BA-4FF2AA9F178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9414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33C8B42-5CD4-4659-31F0-5175AEA6C24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3117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819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Image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087A9-08E7-6C44-BF3A-F150866106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89407-E72F-B7C0-5F24-2EB64881AF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DEC308B-3AA4-6AD2-F3B3-058F2A2865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3803647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Our Values</a:t>
            </a:r>
            <a:endParaRPr lang="en-GB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E0117899-3E76-D3F5-0D23-B952DA5767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4996873"/>
            <a:ext cx="3803650" cy="16039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Picture Placeholder 33">
            <a:extLst>
              <a:ext uri="{FF2B5EF4-FFF2-40B4-BE49-F238E27FC236}">
                <a16:creationId xmlns:a16="http://schemas.microsoft.com/office/drawing/2014/main" id="{47E5F4DB-7207-C400-8FC3-3AF767281D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7175" y="1879599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10" name="Picture Placeholder 33">
            <a:extLst>
              <a:ext uri="{FF2B5EF4-FFF2-40B4-BE49-F238E27FC236}">
                <a16:creationId xmlns:a16="http://schemas.microsoft.com/office/drawing/2014/main" id="{AC2F4AC6-1718-66CC-B3E7-9C6D2CFE59D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94141" y="1879599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11" name="Picture Placeholder 33">
            <a:extLst>
              <a:ext uri="{FF2B5EF4-FFF2-40B4-BE49-F238E27FC236}">
                <a16:creationId xmlns:a16="http://schemas.microsoft.com/office/drawing/2014/main" id="{836F6D11-A1CF-A88C-B5A0-6A0A4E3FAE7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31171" y="1879599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B23F71E5-5599-C507-0217-57BC661E72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4141" y="4996873"/>
            <a:ext cx="3803650" cy="16039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62143D84-C449-472E-13E7-11DD5B7394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1107" y="4996873"/>
            <a:ext cx="3803650" cy="16039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5627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48907C-A293-A24F-523C-5514B8DCF6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2BDE1-1549-02AE-0796-64039E1E8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15E787-00FA-16DF-09F6-81048AA45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four columns of information with icons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8FDF0A5-B915-C040-7FB2-B05758D073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79" name="Text Placeholder 24">
            <a:extLst>
              <a:ext uri="{FF2B5EF4-FFF2-40B4-BE49-F238E27FC236}">
                <a16:creationId xmlns:a16="http://schemas.microsoft.com/office/drawing/2014/main" id="{A0369386-5491-B34C-6363-951903233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54BA11C3-44D1-0024-87F6-1334B5D0AF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1" name="Text Placeholder 24">
            <a:extLst>
              <a:ext uri="{FF2B5EF4-FFF2-40B4-BE49-F238E27FC236}">
                <a16:creationId xmlns:a16="http://schemas.microsoft.com/office/drawing/2014/main" id="{AF394668-C890-66A2-CEB8-9580654AF0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4204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2" name="Text Placeholder 18">
            <a:extLst>
              <a:ext uri="{FF2B5EF4-FFF2-40B4-BE49-F238E27FC236}">
                <a16:creationId xmlns:a16="http://schemas.microsoft.com/office/drawing/2014/main" id="{5DCB598D-3D78-24FF-514B-2D325AFFFE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4204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3" name="Text Placeholder 24">
            <a:extLst>
              <a:ext uri="{FF2B5EF4-FFF2-40B4-BE49-F238E27FC236}">
                <a16:creationId xmlns:a16="http://schemas.microsoft.com/office/drawing/2014/main" id="{BD0630B3-E95F-2FE2-AF86-AA84BF2D87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6504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4" name="Text Placeholder 18">
            <a:extLst>
              <a:ext uri="{FF2B5EF4-FFF2-40B4-BE49-F238E27FC236}">
                <a16:creationId xmlns:a16="http://schemas.microsoft.com/office/drawing/2014/main" id="{F8313115-A112-3FE0-6FB9-7D4DD31493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504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5" name="Text Placeholder 24">
            <a:extLst>
              <a:ext uri="{FF2B5EF4-FFF2-40B4-BE49-F238E27FC236}">
                <a16:creationId xmlns:a16="http://schemas.microsoft.com/office/drawing/2014/main" id="{8EBDB70F-A626-208F-4EED-1D636825EF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15886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6" name="Text Placeholder 18">
            <a:extLst>
              <a:ext uri="{FF2B5EF4-FFF2-40B4-BE49-F238E27FC236}">
                <a16:creationId xmlns:a16="http://schemas.microsoft.com/office/drawing/2014/main" id="{30268815-D602-794A-3F1C-7DA8ABFD6B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15886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5633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48907C-A293-A24F-523C-5514B8DCF6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2BDE1-1549-02AE-0796-64039E1E8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15E787-00FA-16DF-09F6-81048AA45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four columns of information with icons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8FDF0A5-B915-C040-7FB2-B05758D073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79" name="Text Placeholder 24">
            <a:extLst>
              <a:ext uri="{FF2B5EF4-FFF2-40B4-BE49-F238E27FC236}">
                <a16:creationId xmlns:a16="http://schemas.microsoft.com/office/drawing/2014/main" id="{A0369386-5491-B34C-6363-951903233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54BA11C3-44D1-0024-87F6-1334B5D0AF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1" name="Text Placeholder 24">
            <a:extLst>
              <a:ext uri="{FF2B5EF4-FFF2-40B4-BE49-F238E27FC236}">
                <a16:creationId xmlns:a16="http://schemas.microsoft.com/office/drawing/2014/main" id="{AF394668-C890-66A2-CEB8-9580654AF0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4204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2" name="Text Placeholder 18">
            <a:extLst>
              <a:ext uri="{FF2B5EF4-FFF2-40B4-BE49-F238E27FC236}">
                <a16:creationId xmlns:a16="http://schemas.microsoft.com/office/drawing/2014/main" id="{5DCB598D-3D78-24FF-514B-2D325AFFFE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4204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3" name="Text Placeholder 24">
            <a:extLst>
              <a:ext uri="{FF2B5EF4-FFF2-40B4-BE49-F238E27FC236}">
                <a16:creationId xmlns:a16="http://schemas.microsoft.com/office/drawing/2014/main" id="{BD0630B3-E95F-2FE2-AF86-AA84BF2D87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6504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4" name="Text Placeholder 18">
            <a:extLst>
              <a:ext uri="{FF2B5EF4-FFF2-40B4-BE49-F238E27FC236}">
                <a16:creationId xmlns:a16="http://schemas.microsoft.com/office/drawing/2014/main" id="{F8313115-A112-3FE0-6FB9-7D4DD31493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504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5" name="Text Placeholder 24">
            <a:extLst>
              <a:ext uri="{FF2B5EF4-FFF2-40B4-BE49-F238E27FC236}">
                <a16:creationId xmlns:a16="http://schemas.microsoft.com/office/drawing/2014/main" id="{8EBDB70F-A626-208F-4EED-1D636825EF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15886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6" name="Text Placeholder 18">
            <a:extLst>
              <a:ext uri="{FF2B5EF4-FFF2-40B4-BE49-F238E27FC236}">
                <a16:creationId xmlns:a16="http://schemas.microsoft.com/office/drawing/2014/main" id="{30268815-D602-794A-3F1C-7DA8ABFD6B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15886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9057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 with icons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6D3AC0F-9CCE-BDEB-91EC-43E4BC5CB1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36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D7DE6A89-B9BA-2BC0-5715-AD30DD39E0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0036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EB96FE59-26F5-1285-5BE3-7FA0E4844B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7371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4BD02C11-4BCB-8B90-A0FE-FB87EDDC44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7371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665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 with icons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6D3AC0F-9CCE-BDEB-91EC-43E4BC5CB1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36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D7DE6A89-B9BA-2BC0-5715-AD30DD39E0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0036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EB96FE59-26F5-1285-5BE3-7FA0E4844B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7371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4BD02C11-4BCB-8B90-A0FE-FB87EDDC44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7371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75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three 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9762" y="1098656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19763" y="1508760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02DE45A7-F0D6-9AE9-EEAE-33D9CAF4B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9762" y="2720075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2502C5A-341A-BA01-1E99-66D29F7CE7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9763" y="3130179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0A402D78-651B-49D4-8CB0-D8BB60B2C4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9762" y="4336414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C3EFA1-D458-DCCA-B07C-3DF36495AE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19763" y="4746518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95742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three 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9762" y="1098656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19763" y="1508760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02DE45A7-F0D6-9AE9-EEAE-33D9CAF4B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9762" y="2720075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2502C5A-341A-BA01-1E99-66D29F7CE7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9763" y="3130179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0A402D78-651B-49D4-8CB0-D8BB60B2C4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9762" y="4336414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C3EFA1-D458-DCCA-B07C-3DF36495AE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19763" y="4746518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80088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four</a:t>
            </a:r>
            <a:br>
              <a:rPr lang="en-US"/>
            </a:br>
            <a:r>
              <a:rPr lang="en-US"/>
              <a:t>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7531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7531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650890D0-27EF-EEA5-0CBD-BCC3C1B147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62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DB2E498E-FC14-A65E-9456-10AFF30225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1262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13C5BA7-39B1-76D6-B614-954B5847D3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7531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CB74D52F-7941-DED7-3799-706AF0DB8A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7531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F225D206-8F03-0CC0-4677-1C3237B30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62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4FBE3359-784B-AF8D-8324-03D79D8516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1262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244935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four</a:t>
            </a:r>
            <a:br>
              <a:rPr lang="en-US"/>
            </a:br>
            <a:r>
              <a:rPr lang="en-US"/>
              <a:t>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7531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7531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650890D0-27EF-EEA5-0CBD-BCC3C1B147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62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DB2E498E-FC14-A65E-9456-10AFF30225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1262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13C5BA7-39B1-76D6-B614-954B5847D3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7531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CB74D52F-7941-DED7-3799-706AF0DB8A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7531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F225D206-8F03-0CC0-4677-1C3237B30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62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4FBE3359-784B-AF8D-8324-03D79D8516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1262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55303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eces of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three</a:t>
            </a:r>
            <a:br>
              <a:rPr lang="en-US"/>
            </a:br>
            <a:r>
              <a:rPr lang="en-US"/>
              <a:t>pieces of data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7809" y="1355663"/>
            <a:ext cx="3803078" cy="644587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4900" spc="-121" dirty="0">
                <a:solidFill>
                  <a:schemeClr val="tx1"/>
                </a:solidFill>
                <a:latin typeface="+mj-lt"/>
                <a:ea typeface="Season Mix-TRIAL" panose="020E0504070406020203" pitchFamily="34" charset="0"/>
                <a:cs typeface="Season Mix-TRIAL" panose="020E050407040602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XXX%</a:t>
            </a:r>
            <a:endParaRPr lang="en-GB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732AC2A8-0CD2-B276-6ECA-49CF1F7D95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7181" y="2395728"/>
            <a:ext cx="4028947" cy="3239654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EAA277A7-7321-7A88-5F93-190B60652E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7809" y="2149184"/>
            <a:ext cx="3803078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17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da-DK"/>
              <a:t>Lorem ipsum dolor sit amet</a:t>
            </a:r>
            <a:endParaRPr lang="en-GB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3238D00-3EAE-DC62-E521-5E63FD0B9B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7809" y="2992341"/>
            <a:ext cx="3803078" cy="644587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4900" spc="-121" dirty="0">
                <a:solidFill>
                  <a:schemeClr val="tx1"/>
                </a:solidFill>
                <a:latin typeface="+mj-lt"/>
                <a:ea typeface="Season Mix-TRIAL" panose="020E0504070406020203" pitchFamily="34" charset="0"/>
                <a:cs typeface="Season Mix-TRIAL" panose="020E050407040602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XXX%</a:t>
            </a:r>
            <a:endParaRPr lang="en-GB"/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8CF5F73C-4783-7687-CD38-BDAE755336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7809" y="3785862"/>
            <a:ext cx="3803078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17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da-DK"/>
              <a:t>Lorem ipsum dolor sit amet</a:t>
            </a:r>
            <a:endParaRPr lang="en-GB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5D47E480-92FD-B068-A30D-AB1FCD626A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7809" y="4623196"/>
            <a:ext cx="3803078" cy="644587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4900" spc="-121" dirty="0">
                <a:solidFill>
                  <a:schemeClr val="tx1"/>
                </a:solidFill>
                <a:latin typeface="+mj-lt"/>
                <a:ea typeface="Season Mix-TRIAL" panose="020E0504070406020203" pitchFamily="34" charset="0"/>
                <a:cs typeface="Season Mix-TRIAL" panose="020E050407040602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XXX%</a:t>
            </a:r>
            <a:endParaRPr lang="en-GB"/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331C8AFE-CB23-661B-7C14-586A53BBD6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27809" y="5416717"/>
            <a:ext cx="3803078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17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da-DK"/>
              <a:t>Lorem ipsum dolor sit amet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2249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0910-A0C0-68BB-7B53-15FDAD26F0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992" y="2926056"/>
            <a:ext cx="11617834" cy="426744"/>
          </a:xfrm>
        </p:spPr>
        <p:txBody>
          <a:bodyPr/>
          <a:lstStyle>
            <a:lvl1pPr>
              <a:defRPr spc="-26">
                <a:solidFill>
                  <a:schemeClr val="bg1"/>
                </a:solidFill>
              </a:defRPr>
            </a:lvl1pPr>
          </a:lstStyle>
          <a:p>
            <a:r>
              <a:rPr lang="en-US"/>
              <a:t>Innovative end-to-end drug platform technology company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4FF15-ACE1-BC40-45CB-34D1B57152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EC72E-7D93-4BA5-9C9F-9730CC1FCB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Date Placeholder 21">
            <a:extLst>
              <a:ext uri="{FF2B5EF4-FFF2-40B4-BE49-F238E27FC236}">
                <a16:creationId xmlns:a16="http://schemas.microsoft.com/office/drawing/2014/main" id="{538CCEA6-28D6-432F-620A-5FA841D9A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28045" y="6492240"/>
            <a:ext cx="906780" cy="1097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en-GB" sz="800" spc="-39" smtClean="0">
                <a:solidFill>
                  <a:schemeClr val="tx1"/>
                </a:solidFill>
              </a:defRPr>
            </a:lvl1pPr>
          </a:lstStyle>
          <a:p>
            <a:fld id="{BC01B09E-BD2E-4777-B4D4-F6B540230C58}" type="datetime6">
              <a:rPr lang="en-GB" smtClean="0"/>
              <a:pPr/>
              <a:t>June 26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813601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375ED-61BF-557C-0C28-CF783C81F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B9EFA-1F24-5DDD-DD53-E3E029AA2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DEE6E-551A-5D95-95B9-442AA6C6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4F48E-CB08-476F-A824-A1D3054EB32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88388-06F7-581A-3EF9-D132F96A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CC915-4300-FED6-12A5-628856F01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90AA-6E19-4B15-A6B1-90296BD3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61423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17050-C30C-E74C-C1F5-1B4FC8F3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1" y="1389953"/>
            <a:ext cx="11673713" cy="7741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9E737-7895-43E7-91EE-24C987662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111" y="2335371"/>
            <a:ext cx="11673712" cy="37098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EB-5441-53CA-2FEE-EBCF971E1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08812" y="255984"/>
            <a:ext cx="871608" cy="1339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900" spc="-39"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6E8A7-6991-B8DA-83B1-EBCD0C2AD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8119" y="255984"/>
            <a:ext cx="306703" cy="1339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en-GB" sz="900" spc="-39" smtClean="0">
                <a:solidFill>
                  <a:schemeClr val="tx2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Graphic 8">
            <a:extLst>
              <a:ext uri="{FF2B5EF4-FFF2-40B4-BE49-F238E27FC236}">
                <a16:creationId xmlns:a16="http://schemas.microsoft.com/office/drawing/2014/main" id="{D8A8E73E-4DB6-FA58-001E-2368A417CCAB}"/>
              </a:ext>
            </a:extLst>
          </p:cNvPr>
          <p:cNvGrpSpPr/>
          <p:nvPr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rgbClr val="000000"/>
          </a:solidFill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3EB496F3-A661-4DBF-0232-FCB4C123B869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E5404865-E213-33CC-D712-771E46F7FD66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36CFE573-0387-CB48-F17A-213B6C9CA169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7BB9D01A-1C1B-7B67-291A-A8524BBF96BB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3403EE07-5ED7-8C84-947B-7AE4F4EF6F56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32F9F18C-FA01-2F12-DDEF-7C2431B88C17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78A5A8A2-DE91-8B1C-6FF3-41BEF31A4D88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4BDD56E3-1929-5137-04FF-F77B9406C158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75D71F2B-6D4E-D00D-1133-C56670C78B58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-form: Shape 20">
              <a:extLst>
                <a:ext uri="{FF2B5EF4-FFF2-40B4-BE49-F238E27FC236}">
                  <a16:creationId xmlns:a16="http://schemas.microsoft.com/office/drawing/2014/main" id="{593D9C17-8D66-0E81-4046-4F54E2BC65A0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C290F0A-3522-99EA-0942-58F49B12182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588750" y="6672580"/>
            <a:ext cx="560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823858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6" r:id="rId24"/>
  </p:sldLayoutIdLst>
  <p:hf hdr="0"/>
  <p:txStyles>
    <p:titleStyle>
      <a:lvl1pPr algn="l" defTabSz="914400" rtl="0" eaLnBrk="1" latinLnBrk="0" hangingPunct="1">
        <a:lnSpc>
          <a:spcPct val="96000"/>
        </a:lnSpc>
        <a:spcBef>
          <a:spcPts val="100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-14630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1pPr>
      <a:lvl2pPr marL="32004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4pPr>
      <a:lvl5pPr marL="86868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462901"/>
          </p15:clr>
        </p15:guide>
        <p15:guide id="2" pos="7680">
          <p15:clr>
            <a:srgbClr val="462901"/>
          </p15:clr>
        </p15:guide>
        <p15:guide id="3" pos="161">
          <p15:clr>
            <a:srgbClr val="462901"/>
          </p15:clr>
        </p15:guide>
        <p15:guide id="4" pos="1935">
          <p15:clr>
            <a:srgbClr val="462901"/>
          </p15:clr>
        </p15:guide>
        <p15:guide id="5" pos="2022">
          <p15:clr>
            <a:srgbClr val="462901"/>
          </p15:clr>
        </p15:guide>
        <p15:guide id="6" pos="3796">
          <p15:clr>
            <a:srgbClr val="462901"/>
          </p15:clr>
        </p15:guide>
        <p15:guide id="7" pos="3883">
          <p15:clr>
            <a:srgbClr val="462901"/>
          </p15:clr>
        </p15:guide>
        <p15:guide id="8" pos="5657">
          <p15:clr>
            <a:srgbClr val="462901"/>
          </p15:clr>
        </p15:guide>
        <p15:guide id="9" pos="5744">
          <p15:clr>
            <a:srgbClr val="462901"/>
          </p15:clr>
        </p15:guide>
        <p15:guide id="10" pos="7518">
          <p15:clr>
            <a:srgbClr val="462901"/>
          </p15:clr>
        </p15:guide>
        <p15:guide id="11" orient="horz">
          <p15:clr>
            <a:srgbClr val="462901"/>
          </p15:clr>
        </p15:guide>
        <p15:guide id="12" orient="horz" pos="4320">
          <p15:clr>
            <a:srgbClr val="462901"/>
          </p15:clr>
        </p15:guide>
        <p15:guide id="13" orient="horz" pos="161">
          <p15:clr>
            <a:srgbClr val="462901"/>
          </p15:clr>
        </p15:guide>
        <p15:guide id="14" orient="horz" pos="755">
          <p15:clr>
            <a:srgbClr val="462901"/>
          </p15:clr>
        </p15:guide>
        <p15:guide id="15" orient="horz" pos="841">
          <p15:clr>
            <a:srgbClr val="462901"/>
          </p15:clr>
        </p15:guide>
        <p15:guide id="16" orient="horz" pos="1436">
          <p15:clr>
            <a:srgbClr val="462901"/>
          </p15:clr>
        </p15:guide>
        <p15:guide id="17" orient="horz" pos="1522">
          <p15:clr>
            <a:srgbClr val="462901"/>
          </p15:clr>
        </p15:guide>
        <p15:guide id="18" orient="horz" pos="2116">
          <p15:clr>
            <a:srgbClr val="462901"/>
          </p15:clr>
        </p15:guide>
        <p15:guide id="19" orient="horz" pos="2203">
          <p15:clr>
            <a:srgbClr val="462901"/>
          </p15:clr>
        </p15:guide>
        <p15:guide id="20" orient="horz" pos="2797">
          <p15:clr>
            <a:srgbClr val="462901"/>
          </p15:clr>
        </p15:guide>
        <p15:guide id="21" orient="horz" pos="2883">
          <p15:clr>
            <a:srgbClr val="462901"/>
          </p15:clr>
        </p15:guide>
        <p15:guide id="22" orient="horz" pos="3478">
          <p15:clr>
            <a:srgbClr val="462901"/>
          </p15:clr>
        </p15:guide>
        <p15:guide id="23" orient="horz" pos="3564">
          <p15:clr>
            <a:srgbClr val="462901"/>
          </p15:clr>
        </p15:guide>
        <p15:guide id="24" orient="horz" pos="4158">
          <p15:clr>
            <a:srgbClr val="462901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?><Relationships xmlns="http://schemas.openxmlformats.org/package/2006/relationships"><Relationship Id="rId3" Type="http://schemas.microsoft.com/office/2018/10/relationships/comments" Target="../comments/modernComment_163_FDAB66CD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?><Relationships xmlns="http://schemas.openxmlformats.org/package/2006/relationships"><Relationship Id="rId26" Type="http://schemas.openxmlformats.org/officeDocument/2006/relationships/image" Target="../media/image24.jpe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jpeg"/><Relationship Id="rId68" Type="http://schemas.openxmlformats.org/officeDocument/2006/relationships/image" Target="../media/image6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9" Type="http://schemas.openxmlformats.org/officeDocument/2006/relationships/image" Target="../media/image27.jpe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jpe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66" Type="http://schemas.openxmlformats.org/officeDocument/2006/relationships/image" Target="../media/image64.png"/><Relationship Id="rId74" Type="http://schemas.openxmlformats.org/officeDocument/2006/relationships/image" Target="../media/image72.png"/><Relationship Id="rId5" Type="http://schemas.openxmlformats.org/officeDocument/2006/relationships/image" Target="../media/image3.png"/><Relationship Id="rId61" Type="http://schemas.openxmlformats.org/officeDocument/2006/relationships/image" Target="../media/image59.jpe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jpeg"/><Relationship Id="rId56" Type="http://schemas.openxmlformats.org/officeDocument/2006/relationships/image" Target="../media/image54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8" Type="http://schemas.openxmlformats.org/officeDocument/2006/relationships/image" Target="../media/image6.png"/><Relationship Id="rId51" Type="http://schemas.openxmlformats.org/officeDocument/2006/relationships/image" Target="../media/image49.jpeg"/><Relationship Id="rId72" Type="http://schemas.openxmlformats.org/officeDocument/2006/relationships/image" Target="../media/image70.png"/><Relationship Id="rId3" Type="http://schemas.openxmlformats.org/officeDocument/2006/relationships/image" Target="../media/image1.jpe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jpeg"/><Relationship Id="rId67" Type="http://schemas.openxmlformats.org/officeDocument/2006/relationships/image" Target="../media/image65.png"/><Relationship Id="rId20" Type="http://schemas.openxmlformats.org/officeDocument/2006/relationships/image" Target="../media/image18.png"/><Relationship Id="rId41" Type="http://schemas.openxmlformats.org/officeDocument/2006/relationships/image" Target="../media/image39.jpeg"/><Relationship Id="rId54" Type="http://schemas.openxmlformats.org/officeDocument/2006/relationships/image" Target="../media/image52.png"/><Relationship Id="rId62" Type="http://schemas.openxmlformats.org/officeDocument/2006/relationships/image" Target="../media/image60.jpeg"/><Relationship Id="rId70" Type="http://schemas.openxmlformats.org/officeDocument/2006/relationships/image" Target="../media/image68.png"/><Relationship Id="rId75" Type="http://schemas.openxmlformats.org/officeDocument/2006/relationships/image" Target="../media/image7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jpeg"/><Relationship Id="rId57" Type="http://schemas.openxmlformats.org/officeDocument/2006/relationships/image" Target="../media/image55.jpe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jpeg"/><Relationship Id="rId65" Type="http://schemas.openxmlformats.org/officeDocument/2006/relationships/image" Target="../media/image63.png"/><Relationship Id="rId73" Type="http://schemas.openxmlformats.org/officeDocument/2006/relationships/image" Target="../media/image71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32.jpeg"/><Relationship Id="rId50" Type="http://schemas.openxmlformats.org/officeDocument/2006/relationships/image" Target="../media/image48.jpeg"/><Relationship Id="rId55" Type="http://schemas.openxmlformats.org/officeDocument/2006/relationships/image" Target="../media/image53.jpeg"/><Relationship Id="rId7" Type="http://schemas.openxmlformats.org/officeDocument/2006/relationships/image" Target="../media/image5.png"/><Relationship Id="rId71" Type="http://schemas.openxmlformats.org/officeDocument/2006/relationships/image" Target="../media/image69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D96CBB5-3C7B-5CEA-9ADD-4B803A1DF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Fundraising Update – June 2026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33CD4B26-043F-90A1-1583-3CEBFBB46B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Founders Meeting</a:t>
            </a:r>
          </a:p>
        </p:txBody>
      </p:sp>
    </p:spTree>
    <p:extLst>
      <p:ext uri="{BB962C8B-B14F-4D97-AF65-F5344CB8AC3E}">
        <p14:creationId xmlns:p14="http://schemas.microsoft.com/office/powerpoint/2010/main" val="2165533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5B0D-7DFC-2DC2-4335-3B369B17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A18523-5879-6095-7434-3488EED708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D4920-4D77-F46C-BD60-B56A616096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E5F93-45D3-472F-9EA1-BCB47A04FF6B}" type="slidenum">
              <a:rPr kumimoji="0" lang="en-GB" sz="900" b="0" i="0" u="none" strike="noStrike" kern="1200" cap="none" spc="-39" normalizeH="0" baseline="0" noProof="0" smtClean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900" b="0" i="0" u="none" strike="noStrike" kern="1200" cap="none" spc="-39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79A52C-5829-7BB5-B02D-376EFAF11B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7479" y="1529866"/>
            <a:ext cx="8230842" cy="3301794"/>
          </a:xfrm>
        </p:spPr>
        <p:txBody>
          <a:bodyPr vert="horz" lIns="0" tIns="0" rIns="0" bIns="0" rtlCol="0" anchor="t">
            <a:noAutofit/>
          </a:bodyPr>
          <a:lstStyle/>
          <a:p>
            <a:pPr marL="91313" indent="0">
              <a:buNone/>
            </a:pPr>
            <a:r>
              <a:rPr lang="en-US" sz="1600" b="1" dirty="0"/>
              <a:t>Goals:</a:t>
            </a:r>
          </a:p>
          <a:p>
            <a:pPr marL="377063" indent="-285750"/>
            <a:r>
              <a:rPr lang="en-US" sz="1600" dirty="0"/>
              <a:t>Review fundraising activities to date</a:t>
            </a:r>
          </a:p>
          <a:p>
            <a:pPr marL="377063" indent="-285750"/>
            <a:r>
              <a:rPr lang="en-US" sz="1600" dirty="0"/>
              <a:t>Review core themes in VC feedback of recent</a:t>
            </a:r>
          </a:p>
          <a:p>
            <a:pPr marL="377063" indent="-285750"/>
            <a:r>
              <a:rPr lang="en-US" sz="1600" dirty="0"/>
              <a:t>BD activities &amp; China visit planning</a:t>
            </a:r>
          </a:p>
          <a:p>
            <a:pPr marL="255905" lvl="1" indent="0">
              <a:buNone/>
            </a:pPr>
            <a:endParaRPr lang="en-US" sz="1600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0B033FA-A95A-5419-F0DB-2B98FB18C5FA}"/>
              </a:ext>
            </a:extLst>
          </p:cNvPr>
          <p:cNvSpPr txBox="1">
            <a:spLocks/>
          </p:cNvSpPr>
          <p:nvPr/>
        </p:nvSpPr>
        <p:spPr>
          <a:xfrm>
            <a:off x="207479" y="787535"/>
            <a:ext cx="8230842" cy="3355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37744" indent="-146304" algn="l" defTabSz="914400" rtl="0" eaLnBrk="1" latinLnBrk="0" hangingPunct="1">
              <a:lnSpc>
                <a:spcPct val="93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spc="-17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02336" indent="-146304" algn="l" defTabSz="914400" rtl="0" eaLnBrk="1" latinLnBrk="0" hangingPunct="1">
              <a:lnSpc>
                <a:spcPct val="93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spc="-17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85216" indent="-146304" algn="l" defTabSz="914400" rtl="0" eaLnBrk="1" latinLnBrk="0" hangingPunct="1">
              <a:lnSpc>
                <a:spcPct val="93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spc="-17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68096" indent="-146304" algn="l" defTabSz="914400" rtl="0" eaLnBrk="1" latinLnBrk="0" hangingPunct="1">
              <a:lnSpc>
                <a:spcPct val="93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spc="-17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50976" indent="-146304" algn="l" defTabSz="914400" rtl="0" eaLnBrk="1" latinLnBrk="0" hangingPunct="1">
              <a:lnSpc>
                <a:spcPct val="93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spc="-17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marR="0" lvl="0" indent="0" algn="l" defTabSz="914400" rtl="0" eaLnBrk="1" fontAlgn="auto" latinLnBrk="0" hangingPunct="1">
              <a:lnSpc>
                <a:spcPct val="9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-17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Founders Monthly Fundraising Update</a:t>
            </a:r>
            <a:endParaRPr kumimoji="0" lang="en-US" sz="1200" b="0" i="0" u="none" strike="noStrike" kern="1200" cap="none" spc="-17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237744" marR="0" lvl="0" indent="-146304" algn="l" defTabSz="914400" rtl="0" eaLnBrk="1" fontAlgn="auto" latinLnBrk="0" hangingPunct="1">
              <a:lnSpc>
                <a:spcPct val="9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-17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72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BFDD-1D1E-A0BC-5498-7524DA989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C6E49E-07F9-0012-C1DE-3E77C630C9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BB81E9-ABB8-B136-DDFA-62BF06D51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E5F93-45D3-472F-9EA1-BCB47A04FF6B}" type="slidenum">
              <a:rPr kumimoji="0" lang="en-GB" sz="900" b="0" i="0" u="none" strike="noStrike" kern="1200" cap="none" spc="-39" normalizeH="0" baseline="0" noProof="0" smtClean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900" b="0" i="0" u="none" strike="noStrike" kern="1200" cap="none" spc="-39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1572C2ED-02BC-CA0B-0E6B-1104B17C1437}"/>
              </a:ext>
            </a:extLst>
          </p:cNvPr>
          <p:cNvSpPr/>
          <p:nvPr/>
        </p:nvSpPr>
        <p:spPr>
          <a:xfrm rot="10800000">
            <a:off x="786384" y="2479355"/>
            <a:ext cx="2880360" cy="1691640"/>
          </a:xfrm>
          <a:prstGeom prst="round2SameRect">
            <a:avLst>
              <a:gd name="adj1" fmla="val 5858"/>
              <a:gd name="adj2" fmla="val 0"/>
            </a:avLst>
          </a:prstGeom>
          <a:solidFill>
            <a:srgbClr val="FFFFFF"/>
          </a:solidFill>
          <a:ln w="63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4E4E5CB1-EB4C-61DE-59DE-A5EEDFC84609}"/>
              </a:ext>
            </a:extLst>
          </p:cNvPr>
          <p:cNvSpPr/>
          <p:nvPr/>
        </p:nvSpPr>
        <p:spPr>
          <a:xfrm>
            <a:off x="786384" y="2214570"/>
            <a:ext cx="2880360" cy="27722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60000"/>
              <a:lumOff val="40000"/>
            </a:schemeClr>
          </a:solidFill>
          <a:ln w="6365" cap="flat">
            <a:noFill/>
            <a:prstDash val="solid"/>
            <a:miter/>
          </a:ln>
        </p:spPr>
        <p:txBody>
          <a:bodyPr lIns="0" tIns="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Total VCs Pitched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08F808C4-A76C-AEAF-81AC-AD814B09AEB9}"/>
              </a:ext>
            </a:extLst>
          </p:cNvPr>
          <p:cNvSpPr/>
          <p:nvPr/>
        </p:nvSpPr>
        <p:spPr>
          <a:xfrm rot="10800000">
            <a:off x="4484485" y="2482490"/>
            <a:ext cx="2880360" cy="1691640"/>
          </a:xfrm>
          <a:prstGeom prst="round2SameRect">
            <a:avLst>
              <a:gd name="adj1" fmla="val 7130"/>
              <a:gd name="adj2" fmla="val 0"/>
            </a:avLst>
          </a:prstGeom>
          <a:solidFill>
            <a:srgbClr val="FFFFFF"/>
          </a:solidFill>
          <a:ln w="63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64E334FF-155B-C13D-4BEC-F9BA118942D5}"/>
              </a:ext>
            </a:extLst>
          </p:cNvPr>
          <p:cNvSpPr/>
          <p:nvPr/>
        </p:nvSpPr>
        <p:spPr>
          <a:xfrm>
            <a:off x="4484485" y="2198754"/>
            <a:ext cx="2880360" cy="27722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60000"/>
              <a:lumOff val="40000"/>
            </a:schemeClr>
          </a:solidFill>
          <a:ln w="6365" cap="flat">
            <a:noFill/>
            <a:prstDash val="solid"/>
            <a:miter/>
          </a:ln>
        </p:spPr>
        <p:txBody>
          <a:bodyPr lIns="0" tIns="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VC’s who said No</a:t>
            </a: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CDBE1841-B68B-CC3C-2126-4C525DC1B89D}"/>
              </a:ext>
            </a:extLst>
          </p:cNvPr>
          <p:cNvSpPr/>
          <p:nvPr/>
        </p:nvSpPr>
        <p:spPr>
          <a:xfrm>
            <a:off x="2637862" y="2839099"/>
            <a:ext cx="2165113" cy="4130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D58C86AD-B918-F520-26E4-C9B1EBE01084}"/>
              </a:ext>
            </a:extLst>
          </p:cNvPr>
          <p:cNvSpPr/>
          <p:nvPr/>
        </p:nvSpPr>
        <p:spPr>
          <a:xfrm rot="10800000">
            <a:off x="8187827" y="2482490"/>
            <a:ext cx="2880360" cy="1691640"/>
          </a:xfrm>
          <a:prstGeom prst="round2SameRect">
            <a:avLst>
              <a:gd name="adj1" fmla="val 8719"/>
              <a:gd name="adj2" fmla="val 0"/>
            </a:avLst>
          </a:prstGeom>
          <a:solidFill>
            <a:srgbClr val="FFFFFF"/>
          </a:solidFill>
          <a:ln w="63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15B5BCFC-4A62-6D87-5052-8D8E605F7D92}"/>
              </a:ext>
            </a:extLst>
          </p:cNvPr>
          <p:cNvSpPr/>
          <p:nvPr/>
        </p:nvSpPr>
        <p:spPr>
          <a:xfrm>
            <a:off x="8195258" y="2199026"/>
            <a:ext cx="2880361" cy="27722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75000"/>
            </a:schemeClr>
          </a:solidFill>
          <a:ln w="6365" cap="flat">
            <a:noFill/>
            <a:prstDash val="solid"/>
            <a:miter/>
          </a:ln>
        </p:spPr>
        <p:txBody>
          <a:bodyPr lIns="0" tIns="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VCs in “very active” diligence</a:t>
            </a: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112CA936-CC7C-0501-293C-F53C724D02E1}"/>
              </a:ext>
            </a:extLst>
          </p:cNvPr>
          <p:cNvSpPr/>
          <p:nvPr/>
        </p:nvSpPr>
        <p:spPr>
          <a:xfrm>
            <a:off x="5330540" y="2805304"/>
            <a:ext cx="2070722" cy="4130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2EC266-BCF4-DA02-5B08-930B5AA3743D}"/>
              </a:ext>
            </a:extLst>
          </p:cNvPr>
          <p:cNvSpPr txBox="1">
            <a:spLocks/>
          </p:cNvSpPr>
          <p:nvPr/>
        </p:nvSpPr>
        <p:spPr>
          <a:xfrm>
            <a:off x="786383" y="2850072"/>
            <a:ext cx="2886111" cy="106923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14630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004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6868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656670">
                  <a:lumMod val="50000"/>
                </a:srgbClr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F1A54F6-9DC8-0A65-B24C-419F71B18A36}"/>
              </a:ext>
            </a:extLst>
          </p:cNvPr>
          <p:cNvSpPr txBox="1">
            <a:spLocks/>
          </p:cNvSpPr>
          <p:nvPr/>
        </p:nvSpPr>
        <p:spPr>
          <a:xfrm>
            <a:off x="4451872" y="3004792"/>
            <a:ext cx="2979232" cy="775078"/>
          </a:xfrm>
          <a:prstGeom prst="rect">
            <a:avLst/>
          </a:prstGeom>
        </p:spPr>
        <p:txBody>
          <a:bodyPr/>
          <a:lstStyle>
            <a:lvl1pPr marL="0" indent="-14630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004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6868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656670">
                  <a:lumMod val="50000"/>
                </a:srgbClr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1" name="Rectangle: Top Corners Rounded 18">
            <a:extLst>
              <a:ext uri="{FF2B5EF4-FFF2-40B4-BE49-F238E27FC236}">
                <a16:creationId xmlns:a16="http://schemas.microsoft.com/office/drawing/2014/main" id="{47E969ED-023B-3E29-6A3D-60E2BA05EAB6}"/>
              </a:ext>
            </a:extLst>
          </p:cNvPr>
          <p:cNvSpPr/>
          <p:nvPr/>
        </p:nvSpPr>
        <p:spPr>
          <a:xfrm>
            <a:off x="786383" y="4635858"/>
            <a:ext cx="2886110" cy="2743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50000"/>
            </a:schemeClr>
          </a:solidFill>
          <a:ln w="6365" cap="flat">
            <a:noFill/>
            <a:prstDash val="solid"/>
            <a:miter/>
          </a:ln>
        </p:spPr>
        <p:txBody>
          <a:bodyPr lIns="0" tIns="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Strategics</a:t>
            </a:r>
          </a:p>
        </p:txBody>
      </p:sp>
      <p:sp>
        <p:nvSpPr>
          <p:cNvPr id="22" name="Rectangle: Top Corners Rounded 15">
            <a:extLst>
              <a:ext uri="{FF2B5EF4-FFF2-40B4-BE49-F238E27FC236}">
                <a16:creationId xmlns:a16="http://schemas.microsoft.com/office/drawing/2014/main" id="{A2458085-D5CA-3984-39D4-21FC38E45F03}"/>
              </a:ext>
            </a:extLst>
          </p:cNvPr>
          <p:cNvSpPr/>
          <p:nvPr/>
        </p:nvSpPr>
        <p:spPr>
          <a:xfrm>
            <a:off x="4465654" y="4635858"/>
            <a:ext cx="2965450" cy="2743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6365" cap="flat">
            <a:noFill/>
            <a:prstDash val="solid"/>
            <a:miter/>
          </a:ln>
        </p:spPr>
        <p:txBody>
          <a:bodyPr lIns="0" tIns="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 xml:space="preserve">F&amp;F &amp; other connections </a:t>
            </a:r>
          </a:p>
        </p:txBody>
      </p:sp>
      <p:sp>
        <p:nvSpPr>
          <p:cNvPr id="23" name="Rectangle: Top Corners Rounded 19">
            <a:extLst>
              <a:ext uri="{FF2B5EF4-FFF2-40B4-BE49-F238E27FC236}">
                <a16:creationId xmlns:a16="http://schemas.microsoft.com/office/drawing/2014/main" id="{DA4AE90C-2714-8918-25AD-8FD84716227F}"/>
              </a:ext>
            </a:extLst>
          </p:cNvPr>
          <p:cNvSpPr/>
          <p:nvPr/>
        </p:nvSpPr>
        <p:spPr>
          <a:xfrm>
            <a:off x="8211231" y="4627844"/>
            <a:ext cx="2856954" cy="2743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311"/>
          </a:solidFill>
          <a:ln w="6365" cap="flat">
            <a:noFill/>
            <a:prstDash val="solid"/>
            <a:miter/>
          </a:ln>
        </p:spPr>
        <p:txBody>
          <a:bodyPr lIns="0" tIns="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 Medium" pitchFamily="2" charset="0"/>
                <a:ea typeface="+mn-ea"/>
                <a:cs typeface="+mn-cs"/>
              </a:rPr>
              <a:t>Commitments</a:t>
            </a:r>
          </a:p>
        </p:txBody>
      </p:sp>
      <p:sp>
        <p:nvSpPr>
          <p:cNvPr id="24" name="Rectangle: Top Corners Rounded 16">
            <a:extLst>
              <a:ext uri="{FF2B5EF4-FFF2-40B4-BE49-F238E27FC236}">
                <a16:creationId xmlns:a16="http://schemas.microsoft.com/office/drawing/2014/main" id="{FA4985F0-C0D5-B9E1-1623-0513AC4B0D03}"/>
              </a:ext>
            </a:extLst>
          </p:cNvPr>
          <p:cNvSpPr/>
          <p:nvPr/>
        </p:nvSpPr>
        <p:spPr>
          <a:xfrm rot="10800000">
            <a:off x="786384" y="4935335"/>
            <a:ext cx="2880360" cy="1691640"/>
          </a:xfrm>
          <a:prstGeom prst="round2SameRect">
            <a:avLst>
              <a:gd name="adj1" fmla="val 8719"/>
              <a:gd name="adj2" fmla="val 0"/>
            </a:avLst>
          </a:prstGeom>
          <a:solidFill>
            <a:srgbClr val="FFFFFF"/>
          </a:solidFill>
          <a:ln w="63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1DE26956-13A5-66F9-9898-F5E45A11CA49}"/>
              </a:ext>
            </a:extLst>
          </p:cNvPr>
          <p:cNvSpPr txBox="1">
            <a:spLocks/>
          </p:cNvSpPr>
          <p:nvPr/>
        </p:nvSpPr>
        <p:spPr>
          <a:xfrm>
            <a:off x="812661" y="5273297"/>
            <a:ext cx="2837549" cy="1200974"/>
          </a:xfrm>
          <a:prstGeom prst="rect">
            <a:avLst/>
          </a:prstGeom>
        </p:spPr>
        <p:txBody>
          <a:bodyPr/>
          <a:lstStyle>
            <a:lvl1pPr marL="0" indent="-14630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004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6868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56670">
                    <a:lumMod val="50000"/>
                  </a:srgbClr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Pfizer, NVF promising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rgbClr val="656670">
                    <a:lumMod val="50000"/>
                  </a:srgbClr>
                </a:solidFill>
                <a:latin typeface="Funnel Sans"/>
              </a:rPr>
              <a:t xml:space="preserve">Others: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56670">
                    <a:lumMod val="50000"/>
                  </a:srgbClr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Lilly, Bayer, JNJ, AZ, Merck</a:t>
            </a:r>
            <a:r>
              <a:rPr lang="en-US" sz="1600" dirty="0">
                <a:solidFill>
                  <a:srgbClr val="656670">
                    <a:lumMod val="50000"/>
                  </a:srgbClr>
                </a:solidFill>
                <a:latin typeface="Funnel Sans"/>
              </a:rPr>
              <a:t>, BMS</a:t>
            </a:r>
          </a:p>
        </p:txBody>
      </p:sp>
      <p:sp>
        <p:nvSpPr>
          <p:cNvPr id="26" name="Rectangle: Top Corners Rounded 17">
            <a:extLst>
              <a:ext uri="{FF2B5EF4-FFF2-40B4-BE49-F238E27FC236}">
                <a16:creationId xmlns:a16="http://schemas.microsoft.com/office/drawing/2014/main" id="{25F647E5-E877-F8E6-7C03-A9D33D31579C}"/>
              </a:ext>
            </a:extLst>
          </p:cNvPr>
          <p:cNvSpPr/>
          <p:nvPr/>
        </p:nvSpPr>
        <p:spPr>
          <a:xfrm rot="10800000">
            <a:off x="4473084" y="4933082"/>
            <a:ext cx="2975081" cy="1691640"/>
          </a:xfrm>
          <a:prstGeom prst="round2SameRect">
            <a:avLst>
              <a:gd name="adj1" fmla="val 7766"/>
              <a:gd name="adj2" fmla="val 0"/>
            </a:avLst>
          </a:prstGeom>
          <a:solidFill>
            <a:srgbClr val="FFFFFF"/>
          </a:solidFill>
          <a:ln w="63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FE2E833F-5312-0405-1E8D-2E47801702B6}"/>
              </a:ext>
            </a:extLst>
          </p:cNvPr>
          <p:cNvSpPr txBox="1">
            <a:spLocks/>
          </p:cNvSpPr>
          <p:nvPr/>
        </p:nvSpPr>
        <p:spPr>
          <a:xfrm>
            <a:off x="4484485" y="5059863"/>
            <a:ext cx="2880360" cy="1691640"/>
          </a:xfrm>
          <a:prstGeom prst="rect">
            <a:avLst/>
          </a:prstGeom>
        </p:spPr>
        <p:txBody>
          <a:bodyPr/>
          <a:lstStyle>
            <a:lvl1pPr marL="0" indent="-14630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004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6868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656670">
                  <a:lumMod val="50000"/>
                </a:srgbClr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9" name="Rectangle: Top Corners Rounded 17">
            <a:extLst>
              <a:ext uri="{FF2B5EF4-FFF2-40B4-BE49-F238E27FC236}">
                <a16:creationId xmlns:a16="http://schemas.microsoft.com/office/drawing/2014/main" id="{9ECA31F1-315F-61EE-4846-B6C90AB35B48}"/>
              </a:ext>
            </a:extLst>
          </p:cNvPr>
          <p:cNvSpPr/>
          <p:nvPr/>
        </p:nvSpPr>
        <p:spPr>
          <a:xfrm rot="10800000">
            <a:off x="8187825" y="4933082"/>
            <a:ext cx="2880360" cy="1692909"/>
          </a:xfrm>
          <a:prstGeom prst="round2SameRect">
            <a:avLst>
              <a:gd name="adj1" fmla="val 7766"/>
              <a:gd name="adj2" fmla="val 0"/>
            </a:avLst>
          </a:prstGeom>
          <a:solidFill>
            <a:srgbClr val="FFFFFF"/>
          </a:solidFill>
          <a:ln w="63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D4DF4B55-2C88-A817-BD0C-D092DEDCA0C5}"/>
              </a:ext>
            </a:extLst>
          </p:cNvPr>
          <p:cNvSpPr txBox="1">
            <a:spLocks/>
          </p:cNvSpPr>
          <p:nvPr/>
        </p:nvSpPr>
        <p:spPr>
          <a:xfrm>
            <a:off x="8224135" y="4896572"/>
            <a:ext cx="2851484" cy="550334"/>
          </a:xfrm>
          <a:prstGeom prst="rect">
            <a:avLst/>
          </a:prstGeom>
        </p:spPr>
        <p:txBody>
          <a:bodyPr/>
          <a:lstStyle>
            <a:lvl1pPr marL="0" indent="-14630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004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6868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656670">
                    <a:lumMod val="50000"/>
                  </a:srgbClr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$10 M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>
                <a:solidFill>
                  <a:srgbClr val="656670">
                    <a:lumMod val="50000"/>
                  </a:srgbClr>
                </a:solidFill>
                <a:latin typeface="Funnel Sans"/>
              </a:rPr>
              <a:t xml:space="preserve">Verbally committed by </a:t>
            </a:r>
            <a:r>
              <a:rPr lang="en-US" sz="1400" b="1">
                <a:solidFill>
                  <a:srgbClr val="656670">
                    <a:lumMod val="50000"/>
                  </a:srgbClr>
                </a:solidFill>
                <a:latin typeface="Funnel Sans"/>
              </a:rPr>
              <a:t>Petrichor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000">
                <a:solidFill>
                  <a:srgbClr val="656670">
                    <a:lumMod val="50000"/>
                  </a:srgbClr>
                </a:solidFill>
                <a:latin typeface="Funnel Sans"/>
              </a:rPr>
              <a:t>$8M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>
                <a:solidFill>
                  <a:srgbClr val="656670">
                    <a:lumMod val="50000"/>
                  </a:srgbClr>
                </a:solidFill>
                <a:latin typeface="Funnel Sans"/>
              </a:rPr>
              <a:t>Reserved by F&amp;F members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656670">
                  <a:lumMod val="50000"/>
                </a:srgbClr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C00681A6-6D1F-D12A-AAF4-F419A4934641}"/>
              </a:ext>
            </a:extLst>
          </p:cNvPr>
          <p:cNvSpPr/>
          <p:nvPr/>
        </p:nvSpPr>
        <p:spPr>
          <a:xfrm rot="10800000">
            <a:off x="812662" y="2482490"/>
            <a:ext cx="2880360" cy="1691640"/>
          </a:xfrm>
          <a:prstGeom prst="round2SameRect">
            <a:avLst>
              <a:gd name="adj1" fmla="val 8719"/>
              <a:gd name="adj2" fmla="val 0"/>
            </a:avLst>
          </a:prstGeom>
          <a:solidFill>
            <a:srgbClr val="FFFFFF"/>
          </a:solidFill>
          <a:ln w="63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E46679B-38AD-AC2C-AFA0-33F7531127F2}"/>
              </a:ext>
            </a:extLst>
          </p:cNvPr>
          <p:cNvSpPr txBox="1">
            <a:spLocks/>
          </p:cNvSpPr>
          <p:nvPr/>
        </p:nvSpPr>
        <p:spPr>
          <a:xfrm>
            <a:off x="801151" y="2488621"/>
            <a:ext cx="2899303" cy="1235653"/>
          </a:xfrm>
          <a:prstGeom prst="rect">
            <a:avLst/>
          </a:prstGeom>
        </p:spPr>
        <p:txBody>
          <a:bodyPr/>
          <a:lstStyle>
            <a:lvl1pPr marL="0" indent="-14630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004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6868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>
              <a:buNone/>
              <a:defRPr/>
            </a:pPr>
            <a:r>
              <a:rPr lang="en-US" sz="4000" dirty="0">
                <a:solidFill>
                  <a:schemeClr val="tx1"/>
                </a:solidFill>
              </a:rPr>
              <a:t xml:space="preserve">~77 </a:t>
            </a:r>
            <a:r>
              <a:rPr lang="en-US" sz="4000" strike="sngStrike" dirty="0">
                <a:solidFill>
                  <a:schemeClr val="tx1"/>
                </a:solidFill>
              </a:rPr>
              <a:t>72</a:t>
            </a:r>
          </a:p>
          <a:p>
            <a:pPr lvl="0" indent="0" algn="ctr"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With options for more intros</a:t>
            </a:r>
            <a:endParaRPr lang="en-US" sz="1400" dirty="0">
              <a:solidFill>
                <a:srgbClr val="656670">
                  <a:lumMod val="50000"/>
                </a:srgbClr>
              </a:solidFill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7190B2B-1086-E199-C253-CB0F852F8CD2}"/>
              </a:ext>
            </a:extLst>
          </p:cNvPr>
          <p:cNvSpPr txBox="1">
            <a:spLocks/>
          </p:cNvSpPr>
          <p:nvPr/>
        </p:nvSpPr>
        <p:spPr>
          <a:xfrm>
            <a:off x="4489723" y="2488621"/>
            <a:ext cx="2899303" cy="1235653"/>
          </a:xfrm>
          <a:prstGeom prst="rect">
            <a:avLst/>
          </a:prstGeom>
        </p:spPr>
        <p:txBody>
          <a:bodyPr/>
          <a:lstStyle>
            <a:lvl1pPr marL="0" indent="-14630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004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6868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>
              <a:buNone/>
              <a:defRPr/>
            </a:pPr>
            <a:r>
              <a:rPr lang="en-US" sz="4000" dirty="0">
                <a:solidFill>
                  <a:schemeClr val="tx1"/>
                </a:solidFill>
              </a:rPr>
              <a:t xml:space="preserve">~41 </a:t>
            </a:r>
            <a:r>
              <a:rPr lang="en-US" sz="4000" strike="sngStrike" dirty="0">
                <a:solidFill>
                  <a:schemeClr val="tx1"/>
                </a:solidFill>
              </a:rPr>
              <a:t>34</a:t>
            </a:r>
          </a:p>
          <a:p>
            <a:pPr lvl="0" indent="0" algn="ctr"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Largely due to disconnects on thesis fit: too early, RLT not of interest, not AI, wrong timing</a:t>
            </a:r>
            <a:endParaRPr lang="en-US" sz="600" dirty="0">
              <a:solidFill>
                <a:schemeClr val="tx1"/>
              </a:solidFill>
            </a:endParaRPr>
          </a:p>
          <a:p>
            <a:pPr lvl="0" indent="0" algn="ctr">
              <a:buNone/>
              <a:defRPr/>
            </a:pPr>
            <a:endParaRPr lang="en-US" sz="1400" dirty="0">
              <a:solidFill>
                <a:srgbClr val="656670">
                  <a:lumMod val="50000"/>
                </a:srgbClr>
              </a:solidFill>
            </a:endParaRP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FA8BA58-4F29-057F-A8C3-65CAB5B5B7AA}"/>
              </a:ext>
            </a:extLst>
          </p:cNvPr>
          <p:cNvSpPr txBox="1">
            <a:spLocks/>
          </p:cNvSpPr>
          <p:nvPr/>
        </p:nvSpPr>
        <p:spPr>
          <a:xfrm>
            <a:off x="8187825" y="2488621"/>
            <a:ext cx="2943914" cy="1235653"/>
          </a:xfrm>
          <a:prstGeom prst="rect">
            <a:avLst/>
          </a:prstGeom>
        </p:spPr>
        <p:txBody>
          <a:bodyPr/>
          <a:lstStyle>
            <a:lvl1pPr marL="0" indent="-14630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004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6868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>
              <a:buNone/>
              <a:defRPr/>
            </a:pPr>
            <a:r>
              <a:rPr lang="en-US" sz="4000" dirty="0">
                <a:solidFill>
                  <a:schemeClr val="tx1"/>
                </a:solidFill>
              </a:rPr>
              <a:t xml:space="preserve">~7-8 </a:t>
            </a:r>
          </a:p>
          <a:p>
            <a:pPr lvl="0" indent="0" algn="ctr">
              <a:buNone/>
              <a:defRPr/>
            </a:pPr>
            <a:r>
              <a:rPr lang="en-US" sz="1600" dirty="0">
                <a:solidFill>
                  <a:schemeClr val="tx1"/>
                </a:solidFill>
              </a:rPr>
              <a:t>Subjectively defined as people who are reviewing targets, asking diligence questions</a:t>
            </a:r>
            <a:endParaRPr lang="en-US" sz="1400" dirty="0">
              <a:solidFill>
                <a:srgbClr val="656670">
                  <a:lumMod val="50000"/>
                </a:srgbClr>
              </a:solidFill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2429146-3D93-81F1-A801-EE4BEF71CCD6}"/>
              </a:ext>
            </a:extLst>
          </p:cNvPr>
          <p:cNvSpPr txBox="1">
            <a:spLocks/>
          </p:cNvSpPr>
          <p:nvPr/>
        </p:nvSpPr>
        <p:spPr>
          <a:xfrm>
            <a:off x="4459776" y="4997483"/>
            <a:ext cx="2975082" cy="1476788"/>
          </a:xfrm>
          <a:prstGeom prst="rect">
            <a:avLst/>
          </a:prstGeom>
        </p:spPr>
        <p:txBody>
          <a:bodyPr/>
          <a:lstStyle>
            <a:lvl1pPr marL="0" indent="-14630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004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68680" indent="-14630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56670">
                    <a:lumMod val="50000"/>
                  </a:srgbClr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Banks: Solomon Partners</a:t>
            </a:r>
            <a:r>
              <a:rPr lang="en-US" sz="1400" dirty="0">
                <a:solidFill>
                  <a:srgbClr val="656670">
                    <a:lumMod val="50000"/>
                  </a:srgbClr>
                </a:solidFill>
                <a:latin typeface="Funnel Sans"/>
              </a:rPr>
              <a:t>, JPM, BofA,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56670">
                    <a:lumMod val="50000"/>
                  </a:srgbClr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 xml:space="preserve"> </a:t>
            </a:r>
            <a:r>
              <a:rPr lang="en-US" sz="1400" dirty="0">
                <a:solidFill>
                  <a:schemeClr val="tx1"/>
                </a:solidFill>
                <a:latin typeface="Funnel Sans"/>
              </a:rPr>
              <a:t>Barclays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dirty="0">
                <a:solidFill>
                  <a:schemeClr val="tx1"/>
                </a:solidFill>
                <a:latin typeface="Funnel Sans"/>
              </a:rPr>
              <a:t>F&amp;F: Will re-engage F&amp;F efforts over Q3 to add to expanded round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806FCEED-318F-6C35-6A9A-2C6D1C48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1" y="1389953"/>
            <a:ext cx="7739761" cy="414463"/>
          </a:xfrm>
        </p:spPr>
        <p:txBody>
          <a:bodyPr/>
          <a:lstStyle/>
          <a:p>
            <a:r>
              <a:rPr lang="en-US"/>
              <a:t>Fundraising progress since September 2025</a:t>
            </a:r>
          </a:p>
        </p:txBody>
      </p:sp>
    </p:spTree>
    <p:extLst>
      <p:ext uri="{BB962C8B-B14F-4D97-AF65-F5344CB8AC3E}">
        <p14:creationId xmlns:p14="http://schemas.microsoft.com/office/powerpoint/2010/main" val="42558686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61275-FAB2-09FB-CA37-AD44B44D0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213BA7-A35E-C4E1-3E03-7BD83CB8EDAA}"/>
              </a:ext>
            </a:extLst>
          </p:cNvPr>
          <p:cNvCxnSpPr>
            <a:cxnSpLocks/>
          </p:cNvCxnSpPr>
          <p:nvPr/>
        </p:nvCxnSpPr>
        <p:spPr>
          <a:xfrm flipV="1">
            <a:off x="1000241" y="1369101"/>
            <a:ext cx="0" cy="4990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CE0D42-22BF-A403-0C92-5ECD227BC158}"/>
              </a:ext>
            </a:extLst>
          </p:cNvPr>
          <p:cNvCxnSpPr>
            <a:cxnSpLocks/>
          </p:cNvCxnSpPr>
          <p:nvPr/>
        </p:nvCxnSpPr>
        <p:spPr>
          <a:xfrm>
            <a:off x="1000241" y="6114442"/>
            <a:ext cx="106364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97D971-A3BB-5381-99B3-5483436AD691}"/>
              </a:ext>
            </a:extLst>
          </p:cNvPr>
          <p:cNvCxnSpPr>
            <a:cxnSpLocks/>
          </p:cNvCxnSpPr>
          <p:nvPr/>
        </p:nvCxnSpPr>
        <p:spPr>
          <a:xfrm flipV="1">
            <a:off x="831396" y="4448536"/>
            <a:ext cx="10805269" cy="19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8EF657-6DB9-9D4C-9706-3B9E805C96F6}"/>
              </a:ext>
            </a:extLst>
          </p:cNvPr>
          <p:cNvCxnSpPr>
            <a:cxnSpLocks/>
          </p:cNvCxnSpPr>
          <p:nvPr/>
        </p:nvCxnSpPr>
        <p:spPr>
          <a:xfrm>
            <a:off x="831396" y="2833769"/>
            <a:ext cx="108052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99F3F12-314E-5BEB-7B89-B7A413EBDB8D}"/>
              </a:ext>
            </a:extLst>
          </p:cNvPr>
          <p:cNvCxnSpPr/>
          <p:nvPr/>
        </p:nvCxnSpPr>
        <p:spPr>
          <a:xfrm>
            <a:off x="2736977" y="1369101"/>
            <a:ext cx="0" cy="49908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2A71CB-0F8B-B4F9-A091-1D8D1027A5D4}"/>
              </a:ext>
            </a:extLst>
          </p:cNvPr>
          <p:cNvCxnSpPr/>
          <p:nvPr/>
        </p:nvCxnSpPr>
        <p:spPr>
          <a:xfrm>
            <a:off x="4739118" y="1369101"/>
            <a:ext cx="0" cy="49908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A251B8-B7CD-B874-2FD8-DE5AB6499ABF}"/>
              </a:ext>
            </a:extLst>
          </p:cNvPr>
          <p:cNvCxnSpPr/>
          <p:nvPr/>
        </p:nvCxnSpPr>
        <p:spPr>
          <a:xfrm>
            <a:off x="6566755" y="1369101"/>
            <a:ext cx="0" cy="49908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E9732A8-CA60-E1D7-DFDC-86A3D757E06A}"/>
              </a:ext>
            </a:extLst>
          </p:cNvPr>
          <p:cNvCxnSpPr/>
          <p:nvPr/>
        </p:nvCxnSpPr>
        <p:spPr>
          <a:xfrm>
            <a:off x="8436273" y="1369101"/>
            <a:ext cx="0" cy="49908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E13C19A-CEE6-36B6-3F1D-755FEFF8444E}"/>
              </a:ext>
            </a:extLst>
          </p:cNvPr>
          <p:cNvSpPr txBox="1"/>
          <p:nvPr/>
        </p:nvSpPr>
        <p:spPr>
          <a:xfrm>
            <a:off x="1363545" y="6177829"/>
            <a:ext cx="9423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1</a:t>
            </a:r>
            <a:r>
              <a:rPr kumimoji="0" lang="en-GB" sz="11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st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 xml:space="preserve"> contact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891C7B-9273-073B-E2D1-948218AC55F4}"/>
              </a:ext>
            </a:extLst>
          </p:cNvPr>
          <p:cNvSpPr txBox="1"/>
          <p:nvPr/>
        </p:nvSpPr>
        <p:spPr>
          <a:xfrm>
            <a:off x="3252337" y="6177829"/>
            <a:ext cx="9423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Non-conf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50CF05-13C8-9044-4E97-A7D84596A0CE}"/>
              </a:ext>
            </a:extLst>
          </p:cNvPr>
          <p:cNvSpPr txBox="1"/>
          <p:nvPr/>
        </p:nvSpPr>
        <p:spPr>
          <a:xfrm>
            <a:off x="5160837" y="6177829"/>
            <a:ext cx="9423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NDA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42E4A5-D9E7-8963-D4C3-2088F094569C}"/>
              </a:ext>
            </a:extLst>
          </p:cNvPr>
          <p:cNvSpPr txBox="1"/>
          <p:nvPr/>
        </p:nvSpPr>
        <p:spPr>
          <a:xfrm>
            <a:off x="6988473" y="6177829"/>
            <a:ext cx="9423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7FB1CC-D9C6-8172-312F-F389EDBADDB3}"/>
              </a:ext>
            </a:extLst>
          </p:cNvPr>
          <p:cNvSpPr txBox="1"/>
          <p:nvPr/>
        </p:nvSpPr>
        <p:spPr>
          <a:xfrm>
            <a:off x="8865552" y="6177829"/>
            <a:ext cx="9423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Discuss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Targets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36EF31-5AA5-5052-AC15-1EF2DF9871E0}"/>
              </a:ext>
            </a:extLst>
          </p:cNvPr>
          <p:cNvSpPr txBox="1"/>
          <p:nvPr/>
        </p:nvSpPr>
        <p:spPr>
          <a:xfrm>
            <a:off x="57921" y="5088360"/>
            <a:ext cx="9423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BAB8C4-73C9-9B11-2C6C-0B13F01A847E}"/>
              </a:ext>
            </a:extLst>
          </p:cNvPr>
          <p:cNvSpPr txBox="1"/>
          <p:nvPr/>
        </p:nvSpPr>
        <p:spPr>
          <a:xfrm>
            <a:off x="57921" y="3568650"/>
            <a:ext cx="9423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Neutral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877EB5-838B-CDDF-2066-FAB23253A1A7}"/>
              </a:ext>
            </a:extLst>
          </p:cNvPr>
          <p:cNvSpPr txBox="1"/>
          <p:nvPr/>
        </p:nvSpPr>
        <p:spPr>
          <a:xfrm>
            <a:off x="112599" y="2048940"/>
            <a:ext cx="9423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High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70DA88-63C0-8EEF-6F48-9BE37A3E52F8}"/>
              </a:ext>
            </a:extLst>
          </p:cNvPr>
          <p:cNvSpPr txBox="1"/>
          <p:nvPr/>
        </p:nvSpPr>
        <p:spPr>
          <a:xfrm>
            <a:off x="4739118" y="6512660"/>
            <a:ext cx="2560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Stage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12AD2A7-F50C-6DDF-13E5-48D24BF5EB03}"/>
              </a:ext>
            </a:extLst>
          </p:cNvPr>
          <p:cNvCxnSpPr/>
          <p:nvPr/>
        </p:nvCxnSpPr>
        <p:spPr>
          <a:xfrm>
            <a:off x="10235989" y="1369101"/>
            <a:ext cx="0" cy="49908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30CB89D-195F-F8FE-5B6B-AFE2F87461D5}"/>
              </a:ext>
            </a:extLst>
          </p:cNvPr>
          <p:cNvSpPr txBox="1"/>
          <p:nvPr/>
        </p:nvSpPr>
        <p:spPr>
          <a:xfrm>
            <a:off x="10519841" y="6177829"/>
            <a:ext cx="9423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Term sheet</a:t>
            </a:r>
          </a:p>
        </p:txBody>
      </p:sp>
      <p:pic>
        <p:nvPicPr>
          <p:cNvPr id="1026" name="Picture 2" descr="Wasatch Group | LinkedIn">
            <a:extLst>
              <a:ext uri="{FF2B5EF4-FFF2-40B4-BE49-F238E27FC236}">
                <a16:creationId xmlns:a16="http://schemas.microsoft.com/office/drawing/2014/main" id="{D71D8956-D65D-EBEE-CD6A-30C99D20C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208" y="827658"/>
            <a:ext cx="689616" cy="68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2048 Ventures Team">
            <a:extLst>
              <a:ext uri="{FF2B5EF4-FFF2-40B4-BE49-F238E27FC236}">
                <a16:creationId xmlns:a16="http://schemas.microsoft.com/office/drawing/2014/main" id="{981D5F0F-275C-4C6C-CA17-F8B45DFB60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6" t="26998" r="17024" b="28924"/>
          <a:stretch>
            <a:fillRect/>
          </a:stretch>
        </p:blipFill>
        <p:spPr bwMode="auto">
          <a:xfrm>
            <a:off x="2088050" y="4825662"/>
            <a:ext cx="590099" cy="19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ublic profile: Abingworth LLP">
            <a:extLst>
              <a:ext uri="{FF2B5EF4-FFF2-40B4-BE49-F238E27FC236}">
                <a16:creationId xmlns:a16="http://schemas.microsoft.com/office/drawing/2014/main" id="{3D99E00F-B54C-B997-4FEB-07D31C39F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255" y="4479923"/>
            <a:ext cx="878344" cy="47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ccess Biotechnology investment ...">
            <a:extLst>
              <a:ext uri="{FF2B5EF4-FFF2-40B4-BE49-F238E27FC236}">
                <a16:creationId xmlns:a16="http://schemas.microsoft.com/office/drawing/2014/main" id="{945BDBE1-AE40-52D3-74D3-C47F4CBFD8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0" t="36394" r="1420" b="36065"/>
          <a:stretch>
            <a:fillRect/>
          </a:stretch>
        </p:blipFill>
        <p:spPr bwMode="auto">
          <a:xfrm>
            <a:off x="10305791" y="4615043"/>
            <a:ext cx="1183557" cy="3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eneral 1 — Bedford Bridge">
            <a:extLst>
              <a:ext uri="{FF2B5EF4-FFF2-40B4-BE49-F238E27FC236}">
                <a16:creationId xmlns:a16="http://schemas.microsoft.com/office/drawing/2014/main" id="{61DEADD2-F6FA-7DAA-33C0-28E3607B9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955" y="4627303"/>
            <a:ext cx="617172" cy="16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vidity Capital">
            <a:extLst>
              <a:ext uri="{FF2B5EF4-FFF2-40B4-BE49-F238E27FC236}">
                <a16:creationId xmlns:a16="http://schemas.microsoft.com/office/drawing/2014/main" id="{E8D87BEB-8291-673B-952F-47B0BE62E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601" y="4922778"/>
            <a:ext cx="603557" cy="22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FAF0D9CB-98EB-C4FC-5378-3701701F4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705" y="5088360"/>
            <a:ext cx="822821" cy="13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ux Capital - Wikipedia">
            <a:extLst>
              <a:ext uri="{FF2B5EF4-FFF2-40B4-BE49-F238E27FC236}">
                <a16:creationId xmlns:a16="http://schemas.microsoft.com/office/drawing/2014/main" id="{B90C17C1-1806-5A9D-41D5-3E3FD1DF9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739" y="5552430"/>
            <a:ext cx="354171" cy="35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ome - Blackstone">
            <a:extLst>
              <a:ext uri="{FF2B5EF4-FFF2-40B4-BE49-F238E27FC236}">
                <a16:creationId xmlns:a16="http://schemas.microsoft.com/office/drawing/2014/main" id="{5BE5A068-A67E-D405-F117-857054B31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385" y="4098691"/>
            <a:ext cx="743950" cy="29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ourage Capital Management investment ...">
            <a:extLst>
              <a:ext uri="{FF2B5EF4-FFF2-40B4-BE49-F238E27FC236}">
                <a16:creationId xmlns:a16="http://schemas.microsoft.com/office/drawing/2014/main" id="{7EFA7D4F-3ADB-D621-322A-B96EC4D9F7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18" b="32577"/>
          <a:stretch>
            <a:fillRect/>
          </a:stretch>
        </p:blipFill>
        <p:spPr bwMode="auto">
          <a:xfrm>
            <a:off x="3999109" y="5771910"/>
            <a:ext cx="672588" cy="22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awn bio">
            <a:extLst>
              <a:ext uri="{FF2B5EF4-FFF2-40B4-BE49-F238E27FC236}">
                <a16:creationId xmlns:a16="http://schemas.microsoft.com/office/drawing/2014/main" id="{E5050028-1D5C-6AAA-B49D-880AD91B25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5" b="15519"/>
          <a:stretch>
            <a:fillRect/>
          </a:stretch>
        </p:blipFill>
        <p:spPr bwMode="auto">
          <a:xfrm>
            <a:off x="1015947" y="5467598"/>
            <a:ext cx="1193874" cy="192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DCVC Bio investment portfolio | PitchBook">
            <a:extLst>
              <a:ext uri="{FF2B5EF4-FFF2-40B4-BE49-F238E27FC236}">
                <a16:creationId xmlns:a16="http://schemas.microsoft.com/office/drawing/2014/main" id="{B64666F1-0511-8D24-CC60-B1147BC159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46" b="27748"/>
          <a:stretch>
            <a:fillRect/>
          </a:stretch>
        </p:blipFill>
        <p:spPr bwMode="auto">
          <a:xfrm>
            <a:off x="1079294" y="5768031"/>
            <a:ext cx="619838" cy="26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Enavate Sciences">
            <a:extLst>
              <a:ext uri="{FF2B5EF4-FFF2-40B4-BE49-F238E27FC236}">
                <a16:creationId xmlns:a16="http://schemas.microsoft.com/office/drawing/2014/main" id="{5307B78B-303D-E916-E90E-6024195D7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430" y="4641391"/>
            <a:ext cx="768638" cy="18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Epic Ventures Gains $200M Fresh Capital">
            <a:extLst>
              <a:ext uri="{FF2B5EF4-FFF2-40B4-BE49-F238E27FC236}">
                <a16:creationId xmlns:a16="http://schemas.microsoft.com/office/drawing/2014/main" id="{985CFF27-A9CA-F93F-A6DD-95FB5E45B9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95" b="30577"/>
          <a:stretch>
            <a:fillRect/>
          </a:stretch>
        </p:blipFill>
        <p:spPr bwMode="auto">
          <a:xfrm>
            <a:off x="1604639" y="4816434"/>
            <a:ext cx="523160" cy="23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EQT Ventures | FundingTrip">
            <a:extLst>
              <a:ext uri="{FF2B5EF4-FFF2-40B4-BE49-F238E27FC236}">
                <a16:creationId xmlns:a16="http://schemas.microsoft.com/office/drawing/2014/main" id="{968D3BBA-AF40-9198-6BD2-00B91B5C86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1" t="28061" r="15241" b="28052"/>
          <a:stretch>
            <a:fillRect/>
          </a:stretch>
        </p:blipFill>
        <p:spPr bwMode="auto">
          <a:xfrm>
            <a:off x="3399044" y="5424519"/>
            <a:ext cx="748373" cy="24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-Prime Company Biography">
            <a:extLst>
              <a:ext uri="{FF2B5EF4-FFF2-40B4-BE49-F238E27FC236}">
                <a16:creationId xmlns:a16="http://schemas.microsoft.com/office/drawing/2014/main" id="{F4DFC0B1-D24E-43BC-5203-598A254C4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143" y="3841469"/>
            <a:ext cx="787205" cy="19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GV (company) - Wikipedia">
            <a:extLst>
              <a:ext uri="{FF2B5EF4-FFF2-40B4-BE49-F238E27FC236}">
                <a16:creationId xmlns:a16="http://schemas.microsoft.com/office/drawing/2014/main" id="{4DA6D258-2D1A-903C-E127-698562EB4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8325" y="4614654"/>
            <a:ext cx="371466" cy="24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Johnson Innovation - JJDC (CVC ...">
            <a:extLst>
              <a:ext uri="{FF2B5EF4-FFF2-40B4-BE49-F238E27FC236}">
                <a16:creationId xmlns:a16="http://schemas.microsoft.com/office/drawing/2014/main" id="{2DF4DADD-D7DD-C823-76F1-9B5CA7C19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9193" y="4007181"/>
            <a:ext cx="428221" cy="42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Investors - Asceneuron">
            <a:extLst>
              <a:ext uri="{FF2B5EF4-FFF2-40B4-BE49-F238E27FC236}">
                <a16:creationId xmlns:a16="http://schemas.microsoft.com/office/drawing/2014/main" id="{9A6C14D5-38F1-B89B-B2D3-E7D57A6769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r="24273"/>
          <a:stretch>
            <a:fillRect/>
          </a:stretch>
        </p:blipFill>
        <p:spPr bwMode="auto">
          <a:xfrm>
            <a:off x="1104181" y="5133889"/>
            <a:ext cx="218530" cy="23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Necessary Ventures investment portfolio ...">
            <a:extLst>
              <a:ext uri="{FF2B5EF4-FFF2-40B4-BE49-F238E27FC236}">
                <a16:creationId xmlns:a16="http://schemas.microsoft.com/office/drawing/2014/main" id="{F000AFC1-8447-089C-1291-CF71407124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83" b="38839"/>
          <a:stretch>
            <a:fillRect/>
          </a:stretch>
        </p:blipFill>
        <p:spPr bwMode="auto">
          <a:xfrm>
            <a:off x="1080068" y="4615043"/>
            <a:ext cx="682949" cy="156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Nextech">
            <a:extLst>
              <a:ext uri="{FF2B5EF4-FFF2-40B4-BE49-F238E27FC236}">
                <a16:creationId xmlns:a16="http://schemas.microsoft.com/office/drawing/2014/main" id="{8B1638D1-A758-931A-68CD-C08F6C4F9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726" y="2881240"/>
            <a:ext cx="559268" cy="19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Page One Ventures">
            <a:extLst>
              <a:ext uri="{FF2B5EF4-FFF2-40B4-BE49-F238E27FC236}">
                <a16:creationId xmlns:a16="http://schemas.microsoft.com/office/drawing/2014/main" id="{EB36E753-1563-AE2E-889D-818371C57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317773" y="5698098"/>
            <a:ext cx="192355" cy="55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Home 7 - Petrichor Investments">
            <a:extLst>
              <a:ext uri="{FF2B5EF4-FFF2-40B4-BE49-F238E27FC236}">
                <a16:creationId xmlns:a16="http://schemas.microsoft.com/office/drawing/2014/main" id="{C4EAD787-2B42-DF01-8D86-C1CA90A5D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4107" y="1997068"/>
            <a:ext cx="879199" cy="25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50" descr="Seroba. | LinkedIn">
            <a:extLst>
              <a:ext uri="{FF2B5EF4-FFF2-40B4-BE49-F238E27FC236}">
                <a16:creationId xmlns:a16="http://schemas.microsoft.com/office/drawing/2014/main" id="{E62B11A1-FC88-AF8E-8461-FFA7C25FD9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07" b="33080"/>
          <a:stretch>
            <a:fillRect/>
          </a:stretch>
        </p:blipFill>
        <p:spPr bwMode="auto">
          <a:xfrm>
            <a:off x="4954874" y="5246765"/>
            <a:ext cx="511757" cy="17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Picture 52" descr="SR One Closes Second Venture Fund at ...">
            <a:extLst>
              <a:ext uri="{FF2B5EF4-FFF2-40B4-BE49-F238E27FC236}">
                <a16:creationId xmlns:a16="http://schemas.microsoft.com/office/drawing/2014/main" id="{706684B6-BDE7-1CE0-9128-05D41B72C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7028" y="3890404"/>
            <a:ext cx="681972" cy="34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Picture 54" descr="SV Health Investors Bolsters Senior ...">
            <a:extLst>
              <a:ext uri="{FF2B5EF4-FFF2-40B4-BE49-F238E27FC236}">
                <a16:creationId xmlns:a16="http://schemas.microsoft.com/office/drawing/2014/main" id="{72F74BCA-657F-B3A0-5B04-E7A7E2296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099" y="2944111"/>
            <a:ext cx="750369" cy="32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Tin Alley Ventures Portfolio ...">
            <a:extLst>
              <a:ext uri="{FF2B5EF4-FFF2-40B4-BE49-F238E27FC236}">
                <a16:creationId xmlns:a16="http://schemas.microsoft.com/office/drawing/2014/main" id="{B625E67E-6718-D5CE-5D46-4D0E4BA87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035" y="5263378"/>
            <a:ext cx="489144" cy="48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60" descr="Versant Ventures">
            <a:extLst>
              <a:ext uri="{FF2B5EF4-FFF2-40B4-BE49-F238E27FC236}">
                <a16:creationId xmlns:a16="http://schemas.microsoft.com/office/drawing/2014/main" id="{5F55343F-387A-CCCF-4B19-DD67C51D6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179" y="5270327"/>
            <a:ext cx="435833" cy="25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 descr="Major Portfolio Acquisition ...">
            <a:extLst>
              <a:ext uri="{FF2B5EF4-FFF2-40B4-BE49-F238E27FC236}">
                <a16:creationId xmlns:a16="http://schemas.microsoft.com/office/drawing/2014/main" id="{1DE091F0-A640-4660-81AF-3EDDE637D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137" y="3272178"/>
            <a:ext cx="681972" cy="34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8" name="Picture 64" descr="Ellie Diagnostics Raises Growth Equity ...">
            <a:extLst>
              <a:ext uri="{FF2B5EF4-FFF2-40B4-BE49-F238E27FC236}">
                <a16:creationId xmlns:a16="http://schemas.microsoft.com/office/drawing/2014/main" id="{628DF361-9C0B-A419-D66A-9CA839F9C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197" y="2227108"/>
            <a:ext cx="607583" cy="31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atalio Capital Management Raises Over ...">
            <a:extLst>
              <a:ext uri="{FF2B5EF4-FFF2-40B4-BE49-F238E27FC236}">
                <a16:creationId xmlns:a16="http://schemas.microsoft.com/office/drawing/2014/main" id="{980391FC-E30F-8447-844A-AB15FF9872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5" t="33265" r="22388" b="33605"/>
          <a:stretch>
            <a:fillRect/>
          </a:stretch>
        </p:blipFill>
        <p:spPr bwMode="auto">
          <a:xfrm>
            <a:off x="5731699" y="4742270"/>
            <a:ext cx="697277" cy="2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TTM Capital, LLC | LinkedIn">
            <a:extLst>
              <a:ext uri="{FF2B5EF4-FFF2-40B4-BE49-F238E27FC236}">
                <a16:creationId xmlns:a16="http://schemas.microsoft.com/office/drawing/2014/main" id="{E554F976-3FD6-2C38-0E1B-3CE5218DD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652" y="4547255"/>
            <a:ext cx="536223" cy="57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The Column Group | TCG">
            <a:extLst>
              <a:ext uri="{FF2B5EF4-FFF2-40B4-BE49-F238E27FC236}">
                <a16:creationId xmlns:a16="http://schemas.microsoft.com/office/drawing/2014/main" id="{CBC1BE04-3521-3F1C-733A-260276FC58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1" t="8354" r="18698" b="11220"/>
          <a:stretch>
            <a:fillRect/>
          </a:stretch>
        </p:blipFill>
        <p:spPr bwMode="auto">
          <a:xfrm>
            <a:off x="9984467" y="4214525"/>
            <a:ext cx="570646" cy="368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Home | Sofinnova">
            <a:extLst>
              <a:ext uri="{FF2B5EF4-FFF2-40B4-BE49-F238E27FC236}">
                <a16:creationId xmlns:a16="http://schemas.microsoft.com/office/drawing/2014/main" id="{A3C66130-54C0-5BC4-7207-CDCFEF830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903" y="5011126"/>
            <a:ext cx="704725" cy="13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ASTRAZENECA ANNOUNCES MAJOR INVESTMENT ...">
            <a:extLst>
              <a:ext uri="{FF2B5EF4-FFF2-40B4-BE49-F238E27FC236}">
                <a16:creationId xmlns:a16="http://schemas.microsoft.com/office/drawing/2014/main" id="{FAAD7443-F93F-54C3-5B64-932404278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0" t="20017" r="6857" b="26789"/>
          <a:stretch>
            <a:fillRect/>
          </a:stretch>
        </p:blipFill>
        <p:spPr bwMode="auto">
          <a:xfrm>
            <a:off x="5681681" y="5564360"/>
            <a:ext cx="782319" cy="25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Menlo Ventures - Wikipedia">
            <a:extLst>
              <a:ext uri="{FF2B5EF4-FFF2-40B4-BE49-F238E27FC236}">
                <a16:creationId xmlns:a16="http://schemas.microsoft.com/office/drawing/2014/main" id="{0F79BAC1-85CB-8A06-FCF2-2425CC366F81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54955" y="3954596"/>
            <a:ext cx="587628" cy="217314"/>
          </a:xfrm>
          <a:prstGeom prst="rect">
            <a:avLst/>
          </a:prstGeom>
        </p:spPr>
      </p:pic>
      <p:pic>
        <p:nvPicPr>
          <p:cNvPr id="12" name="Picture 11" descr="T.Rx Capital Launches $77.5M Fund I to ...">
            <a:extLst>
              <a:ext uri="{FF2B5EF4-FFF2-40B4-BE49-F238E27FC236}">
                <a16:creationId xmlns:a16="http://schemas.microsoft.com/office/drawing/2014/main" id="{A0A123D5-2967-47BF-0AFE-16C1AFA027E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706478" y="5767639"/>
            <a:ext cx="421237" cy="281501"/>
          </a:xfrm>
          <a:prstGeom prst="rect">
            <a:avLst/>
          </a:prstGeom>
        </p:spPr>
      </p:pic>
      <p:pic>
        <p:nvPicPr>
          <p:cNvPr id="13" name="Picture 12" descr="Ally Bridge Group | LinkedIn">
            <a:extLst>
              <a:ext uri="{FF2B5EF4-FFF2-40B4-BE49-F238E27FC236}">
                <a16:creationId xmlns:a16="http://schemas.microsoft.com/office/drawing/2014/main" id="{4E90D383-51C1-8067-0E54-9BC276FFFB20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808228" y="5507494"/>
            <a:ext cx="479081" cy="516804"/>
          </a:xfrm>
          <a:prstGeom prst="rect">
            <a:avLst/>
          </a:prstGeom>
        </p:spPr>
      </p:pic>
      <p:pic>
        <p:nvPicPr>
          <p:cNvPr id="16" name="Picture 2" descr="Polaris Partners | LinkedIn">
            <a:extLst>
              <a:ext uri="{FF2B5EF4-FFF2-40B4-BE49-F238E27FC236}">
                <a16:creationId xmlns:a16="http://schemas.microsoft.com/office/drawing/2014/main" id="{C3FD404F-A94D-7914-07FD-C9C44E5584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19" b="37705"/>
          <a:stretch>
            <a:fillRect/>
          </a:stretch>
        </p:blipFill>
        <p:spPr bwMode="auto">
          <a:xfrm>
            <a:off x="9765449" y="2919757"/>
            <a:ext cx="969513" cy="23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Forbion Team | Forbion">
            <a:extLst>
              <a:ext uri="{FF2B5EF4-FFF2-40B4-BE49-F238E27FC236}">
                <a16:creationId xmlns:a16="http://schemas.microsoft.com/office/drawing/2014/main" id="{A3B4B9FF-1955-02B1-9D97-239CC38BA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849" y="4244246"/>
            <a:ext cx="563611" cy="12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CHINA GRAND | Our History">
            <a:extLst>
              <a:ext uri="{FF2B5EF4-FFF2-40B4-BE49-F238E27FC236}">
                <a16:creationId xmlns:a16="http://schemas.microsoft.com/office/drawing/2014/main" id="{2FDE02AB-48EF-DACA-4846-258072A90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183" y="4614419"/>
            <a:ext cx="486304" cy="25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RA Capital Management Funds Expansion ...">
            <a:extLst>
              <a:ext uri="{FF2B5EF4-FFF2-40B4-BE49-F238E27FC236}">
                <a16:creationId xmlns:a16="http://schemas.microsoft.com/office/drawing/2014/main" id="{AD7E20AD-F992-1CD3-80C1-9803344E3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337" y="5522848"/>
            <a:ext cx="1008131" cy="53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 descr="Novo Holdings A/S - Wikipedia">
            <a:extLst>
              <a:ext uri="{FF2B5EF4-FFF2-40B4-BE49-F238E27FC236}">
                <a16:creationId xmlns:a16="http://schemas.microsoft.com/office/drawing/2014/main" id="{BE5F6565-0618-EAA6-8AE1-CEA33F5D1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962" y="4617441"/>
            <a:ext cx="386133" cy="185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 descr="Private Investment Funds">
            <a:extLst>
              <a:ext uri="{FF2B5EF4-FFF2-40B4-BE49-F238E27FC236}">
                <a16:creationId xmlns:a16="http://schemas.microsoft.com/office/drawing/2014/main" id="{8DBC7528-53B6-572E-5D4D-EAD55975F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457" y="3453749"/>
            <a:ext cx="646941" cy="33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778021D-53B2-31EA-4479-05FD1FAF48DA}"/>
              </a:ext>
            </a:extLst>
          </p:cNvPr>
          <p:cNvSpPr txBox="1"/>
          <p:nvPr/>
        </p:nvSpPr>
        <p:spPr>
          <a:xfrm>
            <a:off x="219356" y="781216"/>
            <a:ext cx="9565678" cy="3744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 Light"/>
              <a:ea typeface="+mn-ea"/>
              <a:cs typeface="+mn-cs"/>
            </a:endParaRPr>
          </a:p>
        </p:txBody>
      </p:sp>
      <p:pic>
        <p:nvPicPr>
          <p:cNvPr id="44" name="Picture 2" descr="Novartis Venture Fund | MTEC">
            <a:extLst>
              <a:ext uri="{FF2B5EF4-FFF2-40B4-BE49-F238E27FC236}">
                <a16:creationId xmlns:a16="http://schemas.microsoft.com/office/drawing/2014/main" id="{02D37F7F-CDFF-818D-AC4E-EA4E8176D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5341" y="1752824"/>
            <a:ext cx="597384" cy="33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Gilda VC | LinkedIn">
            <a:extLst>
              <a:ext uri="{FF2B5EF4-FFF2-40B4-BE49-F238E27FC236}">
                <a16:creationId xmlns:a16="http://schemas.microsoft.com/office/drawing/2014/main" id="{17262AE6-84E7-9F4C-ED08-6BBFCFCE0C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89" b="30504"/>
          <a:stretch>
            <a:fillRect/>
          </a:stretch>
        </p:blipFill>
        <p:spPr bwMode="auto">
          <a:xfrm>
            <a:off x="2019019" y="4556075"/>
            <a:ext cx="683672" cy="24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Cormorant Asset Management, LP logo">
            <a:extLst>
              <a:ext uri="{FF2B5EF4-FFF2-40B4-BE49-F238E27FC236}">
                <a16:creationId xmlns:a16="http://schemas.microsoft.com/office/drawing/2014/main" id="{E1D5F68B-92B5-86A3-82B7-F04E7C8554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04" b="24205"/>
          <a:stretch>
            <a:fillRect/>
          </a:stretch>
        </p:blipFill>
        <p:spPr bwMode="auto">
          <a:xfrm>
            <a:off x="7643397" y="2940322"/>
            <a:ext cx="694612" cy="34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urie.Bio, LLC - BioCT">
            <a:extLst>
              <a:ext uri="{FF2B5EF4-FFF2-40B4-BE49-F238E27FC236}">
                <a16:creationId xmlns:a16="http://schemas.microsoft.com/office/drawing/2014/main" id="{58C126B8-5829-9E9E-52C5-412C17281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880" y="3376384"/>
            <a:ext cx="702322" cy="12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6" descr="Insight Partners Logo &amp; Brand Assets (SVG, PNG and vector ...">
            <a:extLst>
              <a:ext uri="{FF2B5EF4-FFF2-40B4-BE49-F238E27FC236}">
                <a16:creationId xmlns:a16="http://schemas.microsoft.com/office/drawing/2014/main" id="{0557B12F-125B-9828-9AD3-E0B7B6D5E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71" b="31203"/>
          <a:stretch>
            <a:fillRect/>
          </a:stretch>
        </p:blipFill>
        <p:spPr bwMode="auto">
          <a:xfrm>
            <a:off x="4781274" y="3000882"/>
            <a:ext cx="711601" cy="24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8" descr="J.P. Morgan | Official Website">
            <a:extLst>
              <a:ext uri="{FF2B5EF4-FFF2-40B4-BE49-F238E27FC236}">
                <a16:creationId xmlns:a16="http://schemas.microsoft.com/office/drawing/2014/main" id="{53F064AC-9F37-56BA-3C17-CD6239957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187" y="5659494"/>
            <a:ext cx="743950" cy="15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0" descr="New Rhein Healthcare announces first ...">
            <a:extLst>
              <a:ext uri="{FF2B5EF4-FFF2-40B4-BE49-F238E27FC236}">
                <a16:creationId xmlns:a16="http://schemas.microsoft.com/office/drawing/2014/main" id="{8153F872-CA71-B429-EA07-706B98B74E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31" b="26165"/>
          <a:stretch>
            <a:fillRect/>
          </a:stretch>
        </p:blipFill>
        <p:spPr bwMode="auto">
          <a:xfrm>
            <a:off x="2847078" y="5805769"/>
            <a:ext cx="743949" cy="15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2" descr="Omega Capital">
            <a:extLst>
              <a:ext uri="{FF2B5EF4-FFF2-40B4-BE49-F238E27FC236}">
                <a16:creationId xmlns:a16="http://schemas.microsoft.com/office/drawing/2014/main" id="{EF401478-E93C-0FCC-A545-D56A064A60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74" b="35557"/>
          <a:stretch>
            <a:fillRect/>
          </a:stretch>
        </p:blipFill>
        <p:spPr bwMode="auto">
          <a:xfrm>
            <a:off x="2869601" y="3674459"/>
            <a:ext cx="665515" cy="10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4" descr="INTRODUCE – PBC">
            <a:extLst>
              <a:ext uri="{FF2B5EF4-FFF2-40B4-BE49-F238E27FC236}">
                <a16:creationId xmlns:a16="http://schemas.microsoft.com/office/drawing/2014/main" id="{5C7CA8AC-E2B2-5D84-524C-BAE72A6EA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445" y="3421982"/>
            <a:ext cx="619028" cy="159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8822CA7-3584-9646-50E7-E312BE6EEB3B}"/>
              </a:ext>
            </a:extLst>
          </p:cNvPr>
          <p:cNvSpPr txBox="1"/>
          <p:nvPr/>
        </p:nvSpPr>
        <p:spPr>
          <a:xfrm>
            <a:off x="10906638" y="2277449"/>
            <a:ext cx="1111045" cy="3393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Verbal $10M commitment</a:t>
            </a:r>
          </a:p>
        </p:txBody>
      </p:sp>
      <p:pic>
        <p:nvPicPr>
          <p:cNvPr id="50" name="Picture 16" descr="Wellington Management Company LLP ...">
            <a:extLst>
              <a:ext uri="{FF2B5EF4-FFF2-40B4-BE49-F238E27FC236}">
                <a16:creationId xmlns:a16="http://schemas.microsoft.com/office/drawing/2014/main" id="{594330BD-6626-D958-EF05-705E55486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065" y="4825663"/>
            <a:ext cx="512910" cy="17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8" descr="Life Sciences Venture - Xontogeny">
            <a:extLst>
              <a:ext uri="{FF2B5EF4-FFF2-40B4-BE49-F238E27FC236}">
                <a16:creationId xmlns:a16="http://schemas.microsoft.com/office/drawing/2014/main" id="{64510A3A-D1AD-8AE9-EF93-95BD79F1D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22" y="5281361"/>
            <a:ext cx="633199" cy="14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Footer Placeholder 1">
            <a:extLst>
              <a:ext uri="{FF2B5EF4-FFF2-40B4-BE49-F238E27FC236}">
                <a16:creationId xmlns:a16="http://schemas.microsoft.com/office/drawing/2014/main" id="{96D209CB-88F3-D82A-1F38-B077B895E1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108812" y="255984"/>
            <a:ext cx="871608" cy="1339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-39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CF6FD821-2A38-0535-15C7-92514AD68A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28119" y="255984"/>
            <a:ext cx="306703" cy="13398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E5F93-45D3-472F-9EA1-BCB47A04FF6B}" type="slidenum">
              <a:rPr kumimoji="0" lang="en-GB" sz="900" b="0" i="0" u="none" strike="noStrike" kern="1200" cap="none" spc="-39" normalizeH="0" baseline="0" noProof="0" smtClean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900" b="0" i="0" u="none" strike="noStrike" kern="1200" cap="none" spc="-39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1407B0-8E95-9104-9194-D6417CF4B970}"/>
              </a:ext>
            </a:extLst>
          </p:cNvPr>
          <p:cNvSpPr/>
          <p:nvPr/>
        </p:nvSpPr>
        <p:spPr>
          <a:xfrm>
            <a:off x="-4716" y="6482552"/>
            <a:ext cx="2678508" cy="247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Last updated June 2</a:t>
            </a:r>
          </a:p>
        </p:txBody>
      </p:sp>
      <p:pic>
        <p:nvPicPr>
          <p:cNvPr id="53" name="Picture 2" descr="Deerfield Portfolio">
            <a:extLst>
              <a:ext uri="{FF2B5EF4-FFF2-40B4-BE49-F238E27FC236}">
                <a16:creationId xmlns:a16="http://schemas.microsoft.com/office/drawing/2014/main" id="{903E28A4-EF10-6CA7-35DC-EB9C2D0B3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658" y="4644502"/>
            <a:ext cx="653074" cy="11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Panakes Partners | LinkedIn">
            <a:extLst>
              <a:ext uri="{FF2B5EF4-FFF2-40B4-BE49-F238E27FC236}">
                <a16:creationId xmlns:a16="http://schemas.microsoft.com/office/drawing/2014/main" id="{CFB669F4-91D5-7A09-E99C-587EB4B6E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31" y="4028903"/>
            <a:ext cx="411010" cy="411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4" descr="Neva SGR - Home Page">
            <a:extLst>
              <a:ext uri="{FF2B5EF4-FFF2-40B4-BE49-F238E27FC236}">
                <a16:creationId xmlns:a16="http://schemas.microsoft.com/office/drawing/2014/main" id="{33077A16-EB91-C209-4764-AF2BDD5659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36638" r="22088" b="36182"/>
          <a:stretch>
            <a:fillRect/>
          </a:stretch>
        </p:blipFill>
        <p:spPr bwMode="auto">
          <a:xfrm>
            <a:off x="1963430" y="3765142"/>
            <a:ext cx="642163" cy="20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4" descr="EcoR1 Capital - Crunchbase Company ...">
            <a:extLst>
              <a:ext uri="{FF2B5EF4-FFF2-40B4-BE49-F238E27FC236}">
                <a16:creationId xmlns:a16="http://schemas.microsoft.com/office/drawing/2014/main" id="{A4B78C96-DF60-9052-5803-6D36D19ABE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0" t="30036" r="5162" b="29757"/>
          <a:stretch>
            <a:fillRect/>
          </a:stretch>
        </p:blipFill>
        <p:spPr bwMode="auto">
          <a:xfrm>
            <a:off x="9644330" y="2560744"/>
            <a:ext cx="521858" cy="24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Luma Group | LinkedIn">
            <a:extLst>
              <a:ext uri="{FF2B5EF4-FFF2-40B4-BE49-F238E27FC236}">
                <a16:creationId xmlns:a16="http://schemas.microsoft.com/office/drawing/2014/main" id="{AD346B55-3F91-740D-D949-7EB745160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013" y="2876138"/>
            <a:ext cx="453012" cy="45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Foresite Capital Raises $900M to Invest in Healthcare and Life Science  Startups at All Stages">
            <a:extLst>
              <a:ext uri="{FF2B5EF4-FFF2-40B4-BE49-F238E27FC236}">
                <a16:creationId xmlns:a16="http://schemas.microsoft.com/office/drawing/2014/main" id="{172C7BCA-7E37-9EE7-2717-86BB89620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621" y="3012340"/>
            <a:ext cx="761816" cy="209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1">
            <a:extLst>
              <a:ext uri="{FF2B5EF4-FFF2-40B4-BE49-F238E27FC236}">
                <a16:creationId xmlns:a16="http://schemas.microsoft.com/office/drawing/2014/main" id="{C6B8356A-1738-FF7C-080B-DD52337C49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0826" b="-7909"/>
          <a:stretch>
            <a:fillRect/>
          </a:stretch>
        </p:blipFill>
        <p:spPr bwMode="auto">
          <a:xfrm>
            <a:off x="4050623" y="3412040"/>
            <a:ext cx="513991" cy="22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fizer Ventures | ICO Analytics">
            <a:extLst>
              <a:ext uri="{FF2B5EF4-FFF2-40B4-BE49-F238E27FC236}">
                <a16:creationId xmlns:a16="http://schemas.microsoft.com/office/drawing/2014/main" id="{FC1DE0E2-94A8-F013-AD21-6768CAF80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440" y="3297348"/>
            <a:ext cx="659505" cy="27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43DD01C2-5F54-68C3-1F49-DABDB9DF8479}"/>
              </a:ext>
            </a:extLst>
          </p:cNvPr>
          <p:cNvSpPr txBox="1"/>
          <p:nvPr/>
        </p:nvSpPr>
        <p:spPr>
          <a:xfrm>
            <a:off x="265176" y="886968"/>
            <a:ext cx="9565678" cy="3744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 Light"/>
                <a:ea typeface="+mn-ea"/>
                <a:cs typeface="+mn-cs"/>
              </a:rPr>
              <a:t>Fundraise: Waiting on a term sheet from interested parties…</a:t>
            </a:r>
          </a:p>
        </p:txBody>
      </p:sp>
      <p:pic>
        <p:nvPicPr>
          <p:cNvPr id="60" name="Picture 2" descr="TPG Inc. - Wikipedia">
            <a:extLst>
              <a:ext uri="{FF2B5EF4-FFF2-40B4-BE49-F238E27FC236}">
                <a16:creationId xmlns:a16="http://schemas.microsoft.com/office/drawing/2014/main" id="{632EF796-BCCB-ED05-D76A-49BE08842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521" y="3943700"/>
            <a:ext cx="423764" cy="17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Bayer - Wikipedia">
            <a:extLst>
              <a:ext uri="{FF2B5EF4-FFF2-40B4-BE49-F238E27FC236}">
                <a16:creationId xmlns:a16="http://schemas.microsoft.com/office/drawing/2014/main" id="{BE7AAF26-672B-EF86-8671-2846C07F4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012" y="2899439"/>
            <a:ext cx="354994" cy="35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Eli Lilly and Company - Wikipedia">
            <a:extLst>
              <a:ext uri="{FF2B5EF4-FFF2-40B4-BE49-F238E27FC236}">
                <a16:creationId xmlns:a16="http://schemas.microsoft.com/office/drawing/2014/main" id="{17482DE6-E45A-030D-B849-B85E8FEDC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856" y="5159030"/>
            <a:ext cx="436995" cy="24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V-Bio Ventures raises EUR 110 million ...">
            <a:extLst>
              <a:ext uri="{FF2B5EF4-FFF2-40B4-BE49-F238E27FC236}">
                <a16:creationId xmlns:a16="http://schemas.microsoft.com/office/drawing/2014/main" id="{408EEE9A-9C94-E814-7BC0-E737FB3BC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261" y="4832451"/>
            <a:ext cx="490244" cy="326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signature_4046957889">
            <a:extLst>
              <a:ext uri="{FF2B5EF4-FFF2-40B4-BE49-F238E27FC236}">
                <a16:creationId xmlns:a16="http://schemas.microsoft.com/office/drawing/2014/main" id="{7DC22E4E-AFC7-A3B9-B001-1560E55CC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826" y="5456857"/>
            <a:ext cx="409565" cy="16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" name="Picture 2" descr="Why Primary VC: Interviews, Careers ...">
            <a:extLst>
              <a:ext uri="{FF2B5EF4-FFF2-40B4-BE49-F238E27FC236}">
                <a16:creationId xmlns:a16="http://schemas.microsoft.com/office/drawing/2014/main" id="{EFEADCF3-990F-168F-8D15-DB25A037E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460" y="4388811"/>
            <a:ext cx="619027" cy="17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4" descr="Northpond Ventures ...">
            <a:extLst>
              <a:ext uri="{FF2B5EF4-FFF2-40B4-BE49-F238E27FC236}">
                <a16:creationId xmlns:a16="http://schemas.microsoft.com/office/drawing/2014/main" id="{17F6B470-5E77-1CC7-0723-114342555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948" y="4843007"/>
            <a:ext cx="447671" cy="25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1028" descr="NEA Fellowship">
            <a:extLst>
              <a:ext uri="{FF2B5EF4-FFF2-40B4-BE49-F238E27FC236}">
                <a16:creationId xmlns:a16="http://schemas.microsoft.com/office/drawing/2014/main" id="{80EAB52B-CE0F-89DC-1448-E0090BFF0913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3602278" y="3614715"/>
            <a:ext cx="536838" cy="294109"/>
          </a:xfrm>
          <a:prstGeom prst="rect">
            <a:avLst/>
          </a:prstGeom>
        </p:spPr>
      </p:pic>
      <p:pic>
        <p:nvPicPr>
          <p:cNvPr id="1031" name="Picture 2" descr="General Catalyst - Wikipedia">
            <a:extLst>
              <a:ext uri="{FF2B5EF4-FFF2-40B4-BE49-F238E27FC236}">
                <a16:creationId xmlns:a16="http://schemas.microsoft.com/office/drawing/2014/main" id="{0531E14D-7D5B-60BE-B406-9EC527B1A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648" y="3362124"/>
            <a:ext cx="655020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2" descr="Bristol Myers Squibb logo - Bristol Myers Squibb">
            <a:extLst>
              <a:ext uri="{FF2B5EF4-FFF2-40B4-BE49-F238E27FC236}">
                <a16:creationId xmlns:a16="http://schemas.microsoft.com/office/drawing/2014/main" id="{F3D87874-6D5E-28A9-3104-243B177286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6" t="38875" r="12635" b="37995"/>
          <a:stretch>
            <a:fillRect/>
          </a:stretch>
        </p:blipFill>
        <p:spPr bwMode="auto">
          <a:xfrm>
            <a:off x="1073506" y="4477518"/>
            <a:ext cx="615324" cy="10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191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FB2AE-F140-63C6-F093-CECCF347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743E49-6C86-1FD8-F858-A9B6C2E21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12" y="816349"/>
            <a:ext cx="7173754" cy="656470"/>
          </a:xfrm>
        </p:spPr>
        <p:txBody>
          <a:bodyPr/>
          <a:lstStyle/>
          <a:p>
            <a:r>
              <a:rPr lang="en-US" kern="0" spc="-24">
                <a:solidFill>
                  <a:srgbClr val="000000">
                    <a:alpha val="99000"/>
                  </a:srgbClr>
                </a:solidFill>
              </a:rPr>
              <a:t>Highlights by individual VC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C46191-EA1B-3F7C-324C-64E0C9D427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C945E0-46EA-0369-F502-5676DEB50D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E5F93-45D3-472F-9EA1-BCB47A04FF6B}" type="slidenum">
              <a:rPr kumimoji="0" lang="en-GB" sz="900" b="0" i="0" u="none" strike="noStrike" kern="1200" cap="none" spc="-39" normalizeH="0" baseline="0" noProof="0" smtClean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900" b="0" i="0" u="none" strike="noStrike" kern="1200" cap="none" spc="-39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2D82E7-3AD6-CBA8-834E-B79F9AAFFD5F}"/>
              </a:ext>
            </a:extLst>
          </p:cNvPr>
          <p:cNvSpPr txBox="1"/>
          <p:nvPr/>
        </p:nvSpPr>
        <p:spPr>
          <a:xfrm>
            <a:off x="373627" y="1293077"/>
            <a:ext cx="5627124" cy="54321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600" b="1" dirty="0">
                <a:latin typeface="+mj-lt"/>
              </a:rPr>
              <a:t>Active deep diligence processes &amp; recent decisions</a:t>
            </a:r>
          </a:p>
          <a:p>
            <a:pPr algn="l"/>
            <a:endParaRPr lang="en-US" sz="1600" dirty="0">
              <a:latin typeface="+mj-lt"/>
            </a:endParaRPr>
          </a:p>
          <a:p>
            <a:pPr algn="l"/>
            <a:r>
              <a:rPr lang="en-US" sz="1600" dirty="0">
                <a:latin typeface="+mj-lt"/>
              </a:rPr>
              <a:t>Polaris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Phone call scheduled for this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r>
              <a:rPr lang="en-US" sz="1600" dirty="0" err="1">
                <a:latin typeface="+mj-lt"/>
              </a:rPr>
              <a:t>Avego</a:t>
            </a: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Good conversation with Aaron, who picked up on difference in attitude from Christy vs Vishal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ASCO meeting with Christy generally positive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Next steps?</a:t>
            </a:r>
          </a:p>
          <a:p>
            <a:pPr algn="l"/>
            <a:endParaRPr lang="en-US" sz="1600" dirty="0">
              <a:latin typeface="+mj-lt"/>
            </a:endParaRPr>
          </a:p>
          <a:p>
            <a:pPr algn="l"/>
            <a:r>
              <a:rPr lang="en-US" sz="1600" dirty="0">
                <a:latin typeface="+mj-lt"/>
              </a:rPr>
              <a:t>NVF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Call with full team 5/28, Jeevan in person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 xml:space="preserve">Michelle much more positive in walking Jeevan out of the office than live on the call </a:t>
            </a:r>
          </a:p>
          <a:p>
            <a:pPr algn="l"/>
            <a:endParaRPr lang="en-US" sz="1600" dirty="0">
              <a:latin typeface="+mj-lt"/>
            </a:endParaRPr>
          </a:p>
          <a:p>
            <a:pPr algn="l"/>
            <a:r>
              <a:rPr lang="en-US" sz="1600" dirty="0">
                <a:latin typeface="+mj-lt"/>
              </a:rPr>
              <a:t>EcoR1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ASCO meet up re-affirmed interest in participating</a:t>
            </a:r>
          </a:p>
          <a:p>
            <a:pPr algn="l"/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Avidity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Have declined, multiple reasons cited from earliness of co, China threat to crowding in prostate, size of round</a:t>
            </a:r>
          </a:p>
          <a:p>
            <a:pPr algn="l"/>
            <a:endParaRPr lang="en-US" sz="1600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39381-0A8C-294B-0AEE-3740A2409803}"/>
              </a:ext>
            </a:extLst>
          </p:cNvPr>
          <p:cNvSpPr txBox="1"/>
          <p:nvPr/>
        </p:nvSpPr>
        <p:spPr>
          <a:xfrm>
            <a:off x="6449963" y="1293077"/>
            <a:ext cx="5368413" cy="54321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600" b="1" dirty="0">
                <a:latin typeface="+mj-lt"/>
              </a:rPr>
              <a:t>New introductions &amp; emerging conversations</a:t>
            </a:r>
          </a:p>
          <a:p>
            <a:pPr algn="l"/>
            <a:endParaRPr lang="en-US" sz="1600" dirty="0">
              <a:latin typeface="+mj-lt"/>
            </a:endParaRPr>
          </a:p>
          <a:p>
            <a:pPr algn="l"/>
            <a:r>
              <a:rPr lang="en-US" sz="1600" dirty="0">
                <a:latin typeface="+mj-lt"/>
              </a:rPr>
              <a:t xml:space="preserve">Petrichor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 xml:space="preserve">Good NYC dinner, no real updates. </a:t>
            </a:r>
          </a:p>
          <a:p>
            <a:pPr algn="l"/>
            <a:endParaRPr lang="en-US" sz="1600" dirty="0">
              <a:latin typeface="+mj-lt"/>
            </a:endParaRPr>
          </a:p>
          <a:p>
            <a:pPr algn="l"/>
            <a:r>
              <a:rPr lang="en-US" sz="1600" dirty="0">
                <a:latin typeface="+mj-lt"/>
              </a:rPr>
              <a:t>New intros: TPG, Boxer, RTW, Merck Ventures</a:t>
            </a:r>
          </a:p>
          <a:p>
            <a:pPr algn="l"/>
            <a:endParaRPr lang="en-US" sz="1600" dirty="0">
              <a:latin typeface="+mj-lt"/>
            </a:endParaRPr>
          </a:p>
          <a:p>
            <a:pPr algn="l"/>
            <a:r>
              <a:rPr lang="en-US" sz="1600" dirty="0">
                <a:latin typeface="+mj-lt"/>
              </a:rPr>
              <a:t xml:space="preserve">Outstanding offers from Oppenheimer &amp; Novo Holdings to make additional intros: Blue Owl, HBM, Longitude, Rosetta, </a:t>
            </a:r>
            <a:r>
              <a:rPr lang="en-US" sz="1600" dirty="0" err="1">
                <a:latin typeface="+mj-lt"/>
              </a:rPr>
              <a:t>Deeptrack</a:t>
            </a:r>
            <a:r>
              <a:rPr lang="en-US" sz="1600" dirty="0">
                <a:latin typeface="+mj-lt"/>
              </a:rPr>
              <a:t xml:space="preserve"> and more</a:t>
            </a:r>
          </a:p>
          <a:p>
            <a:pPr algn="l"/>
            <a:endParaRPr lang="en-US" sz="1600" dirty="0">
              <a:latin typeface="+mj-lt"/>
            </a:endParaRPr>
          </a:p>
          <a:p>
            <a:pPr algn="l"/>
            <a:r>
              <a:rPr lang="en-US" sz="1600" dirty="0">
                <a:latin typeface="+mj-lt"/>
              </a:rPr>
              <a:t>Suggestion to pursue general family wealth funds</a:t>
            </a:r>
          </a:p>
          <a:p>
            <a:pPr algn="l"/>
            <a:endParaRPr lang="en-US" sz="1600" dirty="0">
              <a:latin typeface="+mj-lt"/>
            </a:endParaRPr>
          </a:p>
          <a:p>
            <a:pPr algn="l"/>
            <a:r>
              <a:rPr lang="en-US" sz="1600" dirty="0">
                <a:latin typeface="+mj-lt"/>
              </a:rPr>
              <a:t>Other brief updates: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BMS not interested, too early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JNJ reconnection at ASCO, conversation still open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Curie Bio still in active diligence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Positive run-ins with Pfizer team at ASCO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General Catalyst intro prior to travels good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Forbion</a:t>
            </a:r>
            <a:r>
              <a:rPr lang="en-US" sz="1600" dirty="0">
                <a:latin typeface="+mj-lt"/>
              </a:rPr>
              <a:t xml:space="preserve"> is back (!?) – Asked to meet at ASCO briefly, would like to re-engage, but Jeevan theory is more to support a different </a:t>
            </a:r>
            <a:r>
              <a:rPr lang="en-US" sz="1600" dirty="0" err="1">
                <a:latin typeface="+mj-lt"/>
              </a:rPr>
              <a:t>portco</a:t>
            </a:r>
            <a:r>
              <a:rPr lang="en-US" sz="1600" dirty="0">
                <a:latin typeface="+mj-lt"/>
              </a:rPr>
              <a:t xml:space="preserve"> of theirs</a:t>
            </a:r>
          </a:p>
          <a:p>
            <a:pPr algn="l"/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831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E41EA-14EB-6391-00FC-D3D65931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31124-F532-B7C8-3B33-211ADBD6C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2" y="1389953"/>
            <a:ext cx="12016614" cy="414463"/>
          </a:xfrm>
        </p:spPr>
        <p:txBody>
          <a:bodyPr/>
          <a:lstStyle/>
          <a:p>
            <a:r>
              <a:rPr lang="en-US" dirty="0"/>
              <a:t>Core themes from recent fundraising discussions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75057-349F-3C68-308A-373E8B420B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89E43-844E-7B0E-DC49-683AF55858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2DF4A3D-0450-F060-AA6C-8E7BAE600D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4AB1D-A4CA-EEA7-79C7-B56575823BD7}"/>
              </a:ext>
            </a:extLst>
          </p:cNvPr>
          <p:cNvSpPr txBox="1"/>
          <p:nvPr/>
        </p:nvSpPr>
        <p:spPr>
          <a:xfrm>
            <a:off x="257178" y="1804416"/>
            <a:ext cx="11677644" cy="47975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400" b="1" dirty="0">
                <a:latin typeface="+mj-lt"/>
              </a:rPr>
              <a:t>Theme 1</a:t>
            </a:r>
            <a:r>
              <a:rPr lang="en-US" sz="1400" dirty="0">
                <a:latin typeface="+mj-lt"/>
              </a:rPr>
              <a:t>: “Bring us a term sheet and we are happy to participate” – lots of followers, no leads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 xml:space="preserve">Thesis: NVF, </a:t>
            </a:r>
            <a:r>
              <a:rPr lang="en-US" sz="1400" dirty="0" err="1">
                <a:latin typeface="+mj-lt"/>
              </a:rPr>
              <a:t>Avego</a:t>
            </a:r>
            <a:r>
              <a:rPr lang="en-US" sz="1400" dirty="0">
                <a:latin typeface="+mj-lt"/>
              </a:rPr>
              <a:t>, Petrichor, EcoR1 and many others would commit with a Term Sheet from a larger, established firm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Options to move forward: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Focus attention on new VC intros, especially large funds, with modifications from Theme 2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 xml:space="preserve">Focus on existing investors who have </a:t>
            </a:r>
            <a:r>
              <a:rPr lang="en-US" sz="1400" dirty="0" err="1">
                <a:latin typeface="+mj-lt"/>
              </a:rPr>
              <a:t>diligenced</a:t>
            </a:r>
            <a:r>
              <a:rPr lang="en-US" sz="1400" dirty="0">
                <a:latin typeface="+mj-lt"/>
              </a:rPr>
              <a:t xml:space="preserve"> deeply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 xml:space="preserve">Work with Wasatch to issue a Term Sheet for $10M 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slightly uplifted valuation to sweeten for DLH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 xml:space="preserve">Float concept to Petrichor, </a:t>
            </a:r>
            <a:r>
              <a:rPr lang="en-US" sz="1400" dirty="0" err="1">
                <a:latin typeface="+mj-lt"/>
              </a:rPr>
              <a:t>Avego</a:t>
            </a:r>
            <a:endParaRPr lang="en-US" sz="1400" dirty="0">
              <a:latin typeface="+mj-lt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Introduce Aaron to NVF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 xml:space="preserve">Organize more of a “3 way” co-lead situation – Petrichor, </a:t>
            </a:r>
            <a:r>
              <a:rPr lang="en-US" sz="1400" dirty="0" err="1">
                <a:latin typeface="+mj-lt"/>
              </a:rPr>
              <a:t>Avego</a:t>
            </a:r>
            <a:r>
              <a:rPr lang="en-US" sz="1400" dirty="0">
                <a:latin typeface="+mj-lt"/>
              </a:rPr>
              <a:t>, NVF – last intro of mixed success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With NVF commitment, option to re-approach many investors (TCG?)</a:t>
            </a:r>
          </a:p>
          <a:p>
            <a:pPr algn="l"/>
            <a:r>
              <a:rPr lang="en-US" sz="1400" b="1" dirty="0">
                <a:latin typeface="+mj-lt"/>
              </a:rPr>
              <a:t>Theme 2</a:t>
            </a:r>
            <a:r>
              <a:rPr lang="en-US" sz="1400" dirty="0">
                <a:latin typeface="+mj-lt"/>
              </a:rPr>
              <a:t>: “This round/spend feels large” coded as “Why build GMP?” “Why work on 6 targets?”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Options to move forward: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Keep as is but better communicate round size vs. spend, runway and justification for targets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Be more vague – let the round “size itself”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 xml:space="preserve">Actively re-consider / re-frame round size for investors, and re-approach hesitant investors </a:t>
            </a:r>
            <a:endParaRPr lang="en-US" sz="1400" b="1" dirty="0">
              <a:latin typeface="+mj-lt"/>
            </a:endParaRPr>
          </a:p>
          <a:p>
            <a:pPr algn="l"/>
            <a:r>
              <a:rPr lang="en-US" sz="1400" b="1" dirty="0">
                <a:latin typeface="+mj-lt"/>
              </a:rPr>
              <a:t>Theme 3</a:t>
            </a:r>
            <a:r>
              <a:rPr lang="en-US" sz="1400" dirty="0">
                <a:latin typeface="+mj-lt"/>
              </a:rPr>
              <a:t>: Chinese BD / JV / fundraising activities are broadly appealing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Keep actively pursuing JV conversations (see later slides)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Expand focus for VC intros to China-based VCs more specifically (Intros via Novo to start, more brainstorming required)</a:t>
            </a:r>
          </a:p>
          <a:p>
            <a:pPr algn="l"/>
            <a:r>
              <a:rPr lang="en-US" sz="1400" b="1" dirty="0">
                <a:latin typeface="+mj-lt"/>
              </a:rPr>
              <a:t>Theme 4</a:t>
            </a:r>
            <a:r>
              <a:rPr lang="en-US" sz="1400" dirty="0">
                <a:latin typeface="+mj-lt"/>
              </a:rPr>
              <a:t>: Need to better frame Wasatch’s support &amp; ability to back the company through multiple series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Originally worried Wasatch may confuse / deter investors, but now the lack of transparency may be causing more confusion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Moving forward: Leverage Aaron, describe commitment as a “Pre-Seed” commitment, more transparency &amp; detail on existing investment</a:t>
            </a:r>
          </a:p>
        </p:txBody>
      </p:sp>
    </p:spTree>
    <p:extLst>
      <p:ext uri="{BB962C8B-B14F-4D97-AF65-F5344CB8AC3E}">
        <p14:creationId xmlns:p14="http://schemas.microsoft.com/office/powerpoint/2010/main" val="191038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FFF9E-1AC9-1F06-F6B5-1E46A488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23BD-A82C-AA54-A66C-D020D9E48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BD: Activities ongoing toward company OKR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F86DB-558D-07C5-BF50-6D02079175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5358F-A7E1-467E-7869-29F0AADFA1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CDA370F-CCEE-EB60-3670-196AA59B83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50EB15-4233-94AA-930E-5DCC6B09C186}"/>
              </a:ext>
            </a:extLst>
          </p:cNvPr>
          <p:cNvSpPr txBox="1"/>
          <p:nvPr/>
        </p:nvSpPr>
        <p:spPr>
          <a:xfrm>
            <a:off x="339046" y="2147298"/>
            <a:ext cx="11595775" cy="43519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dirty="0">
                <a:latin typeface="+mj-lt"/>
              </a:rPr>
              <a:t>China JV discussions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 xml:space="preserve">Current focus: Schedule &amp; prep for China visit, with intent of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 xml:space="preserve">(1) establishing JV in </a:t>
            </a:r>
            <a:r>
              <a:rPr lang="en-US" sz="1400" dirty="0" err="1">
                <a:latin typeface="+mj-lt"/>
              </a:rPr>
              <a:t>china</a:t>
            </a:r>
            <a:r>
              <a:rPr lang="en-US" sz="1400" dirty="0">
                <a:latin typeface="+mj-lt"/>
              </a:rPr>
              <a:t xml:space="preserve"> with mutual funding &amp; specific capital raises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(2) in license of asset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+mj-lt"/>
              </a:rPr>
              <a:t>Sinotau</a:t>
            </a:r>
            <a:r>
              <a:rPr lang="en-US" sz="1400" dirty="0">
                <a:latin typeface="+mj-lt"/>
              </a:rPr>
              <a:t xml:space="preserve"> – Bai clearly popular contact for JV creation. Must decide how to proceed with some urgency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+mj-lt"/>
              </a:rPr>
              <a:t>ChemPartner</a:t>
            </a:r>
            <a:r>
              <a:rPr lang="en-US" sz="1400" dirty="0">
                <a:latin typeface="+mj-lt"/>
              </a:rPr>
              <a:t xml:space="preserve"> – Has investment arm, as well as parent </a:t>
            </a:r>
            <a:r>
              <a:rPr lang="en-US" sz="1400" dirty="0" err="1">
                <a:latin typeface="+mj-lt"/>
              </a:rPr>
              <a:t>ShanghaPharma</a:t>
            </a:r>
            <a:r>
              <a:rPr lang="en-US" sz="1400" dirty="0">
                <a:latin typeface="+mj-lt"/>
              </a:rPr>
              <a:t xml:space="preserve"> Innovation fund. DD request in flight.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C-Ray – Working to set up site visit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+mj-lt"/>
              </a:rPr>
              <a:t>VitsGen</a:t>
            </a:r>
            <a:r>
              <a:rPr lang="en-US" sz="1400" dirty="0">
                <a:latin typeface="+mj-lt"/>
              </a:rPr>
              <a:t xml:space="preserve"> – Working to schedule intro 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Others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 xml:space="preserve">VCs: China Grand Pharma, </a:t>
            </a:r>
            <a:r>
              <a:rPr lang="en-US" sz="1400" dirty="0" err="1">
                <a:latin typeface="+mj-lt"/>
              </a:rPr>
              <a:t>Orbimed</a:t>
            </a:r>
            <a:r>
              <a:rPr lang="en-US" sz="1400" dirty="0">
                <a:latin typeface="+mj-lt"/>
              </a:rPr>
              <a:t xml:space="preserve"> China, </a:t>
            </a:r>
            <a:r>
              <a:rPr lang="en-US" sz="1400" dirty="0" err="1">
                <a:latin typeface="+mj-lt"/>
              </a:rPr>
              <a:t>Decheng</a:t>
            </a:r>
            <a:r>
              <a:rPr lang="en-US" sz="1400" dirty="0">
                <a:latin typeface="+mj-lt"/>
              </a:rPr>
              <a:t>, Qiming (need intros)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 xml:space="preserve">Cos: </a:t>
            </a:r>
            <a:r>
              <a:rPr lang="en-US" sz="1400" dirty="0" err="1">
                <a:latin typeface="+mj-lt"/>
              </a:rPr>
              <a:t>BoomRay</a:t>
            </a:r>
            <a:r>
              <a:rPr lang="en-US" sz="1400" dirty="0">
                <a:latin typeface="+mj-lt"/>
              </a:rPr>
              <a:t xml:space="preserve">, </a:t>
            </a:r>
            <a:r>
              <a:rPr lang="en-US" sz="1400" dirty="0" err="1">
                <a:latin typeface="+mj-lt"/>
              </a:rPr>
              <a:t>FindCure</a:t>
            </a:r>
            <a:r>
              <a:rPr lang="en-US" sz="1400" dirty="0">
                <a:latin typeface="+mj-lt"/>
              </a:rPr>
              <a:t>, Full Life, - No replies, Ting warm intro?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Other BD discussions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3BP is back!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 xml:space="preserve">Greg – any follow up from the outreaches you made to the dark genome </a:t>
            </a:r>
            <a:r>
              <a:rPr lang="en-US" sz="1400" dirty="0" err="1">
                <a:latin typeface="+mj-lt"/>
              </a:rPr>
              <a:t>co’s</a:t>
            </a:r>
            <a:r>
              <a:rPr lang="en-US" sz="1400" dirty="0">
                <a:latin typeface="+mj-lt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Ting rescheduling</a:t>
            </a:r>
          </a:p>
        </p:txBody>
      </p:sp>
    </p:spTree>
    <p:extLst>
      <p:ext uri="{BB962C8B-B14F-4D97-AF65-F5344CB8AC3E}">
        <p14:creationId xmlns:p14="http://schemas.microsoft.com/office/powerpoint/2010/main" val="313029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2E8A-F2D1-FCF2-EC27-A42AC01A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BD: Activities ongoing toward company OKR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9047B6-09C7-F7A0-3022-9228EEDD2D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C7D1F-C69C-EE75-CD1E-D81B73C164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2B37A07-64C9-1749-899E-5FBF97AA28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815408-EBDC-EABF-874F-A96C68D14BF4}"/>
              </a:ext>
            </a:extLst>
          </p:cNvPr>
          <p:cNvSpPr txBox="1"/>
          <p:nvPr/>
        </p:nvSpPr>
        <p:spPr>
          <a:xfrm>
            <a:off x="339046" y="2147298"/>
            <a:ext cx="11595775" cy="43519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>
                <a:latin typeface="+mj-lt"/>
              </a:rPr>
              <a:t>Company OKR: “</a:t>
            </a:r>
            <a:r>
              <a:rPr lang="en-GB"/>
              <a:t xml:space="preserve">In license an asset through a research collaboration that is e-IND ready or with </a:t>
            </a:r>
            <a:r>
              <a:rPr lang="en-GB" err="1"/>
              <a:t>FiH</a:t>
            </a:r>
            <a:r>
              <a:rPr lang="en-GB"/>
              <a:t xml:space="preserve"> data against a target in which we have high confidence.”</a:t>
            </a:r>
          </a:p>
          <a:p>
            <a:endParaRPr lang="en-GB">
              <a:latin typeface="+mj-lt"/>
            </a:endParaRPr>
          </a:p>
          <a:p>
            <a:r>
              <a:rPr lang="en-GB">
                <a:latin typeface="+mj-lt"/>
              </a:rPr>
              <a:t>Emerging desire: Complete a deal in China – asset or JV</a:t>
            </a:r>
            <a:br>
              <a:rPr lang="en-US">
                <a:latin typeface="+mj-lt"/>
              </a:rPr>
            </a:br>
            <a:br>
              <a:rPr lang="en-US">
                <a:latin typeface="+mj-lt"/>
              </a:rPr>
            </a:br>
            <a:r>
              <a:rPr lang="en-US">
                <a:latin typeface="+mj-lt"/>
              </a:rPr>
              <a:t>In the last 3 months we have: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 xml:space="preserve">Deeply </a:t>
            </a:r>
            <a:r>
              <a:rPr lang="en-US" err="1">
                <a:latin typeface="+mj-lt"/>
              </a:rPr>
              <a:t>diligenced</a:t>
            </a:r>
            <a:r>
              <a:rPr lang="en-US">
                <a:latin typeface="+mj-lt"/>
              </a:rPr>
              <a:t xml:space="preserve"> and decided not to pursue an ACP3 asset (UHB) for both scientific and legal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 xml:space="preserve">Deeply </a:t>
            </a:r>
            <a:r>
              <a:rPr lang="en-US" err="1"/>
              <a:t>diligenced</a:t>
            </a:r>
            <a:r>
              <a:rPr lang="en-US">
                <a:latin typeface="+mj-lt"/>
              </a:rPr>
              <a:t xml:space="preserve"> and decided not to pursue a </a:t>
            </a:r>
            <a:r>
              <a:rPr lang="en-US" err="1">
                <a:latin typeface="+mj-lt"/>
              </a:rPr>
              <a:t>Nectin</a:t>
            </a:r>
            <a:r>
              <a:rPr lang="en-US">
                <a:latin typeface="+mj-lt"/>
              </a:rPr>
              <a:t xml:space="preserve"> 4 asset (HZDR) for scientific risk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Above represent many hours of work on a small segment of the research team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 xml:space="preserve">In addition, we’ve had discussions with: 3BP, WARF, Glotope, </a:t>
            </a:r>
            <a:r>
              <a:rPr lang="en-US" err="1">
                <a:latin typeface="+mj-lt"/>
              </a:rPr>
              <a:t>Peplib</a:t>
            </a:r>
            <a:r>
              <a:rPr lang="en-US">
                <a:latin typeface="+mj-lt"/>
              </a:rPr>
              <a:t xml:space="preserve"> about potential deals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>
              <a:latin typeface="+mj-lt"/>
            </a:endParaRPr>
          </a:p>
          <a:p>
            <a:pPr algn="l"/>
            <a:r>
              <a:rPr lang="en-US">
                <a:latin typeface="+mj-lt"/>
              </a:rPr>
              <a:t>In the next 3 months we will: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 xml:space="preserve">Engage with Chinese RLT </a:t>
            </a:r>
            <a:r>
              <a:rPr lang="en-US" err="1">
                <a:latin typeface="+mj-lt"/>
              </a:rPr>
              <a:t>co’s</a:t>
            </a:r>
            <a:r>
              <a:rPr lang="en-US">
                <a:latin typeface="+mj-lt"/>
              </a:rPr>
              <a:t xml:space="preserve"> about potential deals – Reachouts ongoing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Continue discussing broader JV with Glotope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 xml:space="preserve">Keep an ad-hoc but steady cadence of </a:t>
            </a:r>
            <a:r>
              <a:rPr lang="en-US" err="1">
                <a:latin typeface="+mj-lt"/>
              </a:rPr>
              <a:t>reachouts</a:t>
            </a:r>
            <a:r>
              <a:rPr lang="en-US">
                <a:latin typeface="+mj-lt"/>
              </a:rPr>
              <a:t xml:space="preserve"> to potential partners &amp; key academic centers</a:t>
            </a:r>
          </a:p>
        </p:txBody>
      </p:sp>
    </p:spTree>
    <p:extLst>
      <p:ext uri="{BB962C8B-B14F-4D97-AF65-F5344CB8AC3E}">
        <p14:creationId xmlns:p14="http://schemas.microsoft.com/office/powerpoint/2010/main" val="2087813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12" y="1389953"/>
            <a:ext cx="12016614" cy="414463"/>
          </a:xfrm>
        </p:spPr>
        <p:txBody>
          <a:bodyPr/>
          <a:lstStyle/>
          <a:p>
            <a:r>
              <a:rPr lang="en-US" dirty="0"/>
              <a:t>Paths to close: options for moving forward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DecisionBar"/>
          <p:cNvSpPr txBox="1"/>
          <p:nvPr/>
        </p:nvSpPr>
        <p:spPr>
          <a:xfrm>
            <a:off x="257178" y="1850000"/>
            <a:ext cx="11677644" cy="350000"/>
          </a:xfrm>
          <a:prstGeom prst="roundRect">
            <a:avLst>
              <a:gd name="adj" fmla="val 10000"/>
            </a:avLst>
          </a:prstGeom>
          <a:solidFill>
            <a:srgbClr val="D5ED99"/>
          </a:solidFill>
          <a:ln w="0">
            <a:noFill/>
          </a:ln>
        </p:spPr>
        <p:txBody>
          <a:bodyPr wrap="square" lIns="144000" tIns="72000" rIns="144000" bIns="72000" anchor="ctr"/>
          <a:lstStyle/>
          <a:p>
            <a:pPr algn="l"/>
            <a:r>
              <a:rPr lang="en-US" sz="1200" b="1" dirty="0">
                <a:solidFill>
                  <a:srgbClr val="002924"/>
                </a:solidFill>
                <a:latin typeface="Funnel Sans"/>
              </a:rPr>
              <a:t>Decision needed from founders:</a:t>
            </a:r>
            <a:r>
              <a:rPr lang="en-US" sz="1200" dirty="0">
                <a:solidFill>
                  <a:srgbClr val="002924"/>
                </a:solidFill>
                <a:latin typeface="Funnel Sans"/>
              </a:rPr>
              <a:t xml:space="preserve"> Do we ask DLH for a term sheet this week? If no, pivot to SAFE. New lead search runs in parallel regardless.</a:t>
            </a:r>
          </a:p>
        </p:txBody>
      </p:sp>
      <p:sp>
        <p:nvSpPr>
          <p:cNvPr id="100" name="Card1Header"/>
          <p:cNvSpPr/>
          <p:nvPr/>
        </p:nvSpPr>
        <p:spPr>
          <a:xfrm>
            <a:off x="257178" y="2350000"/>
            <a:ext cx="3750000" cy="380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02924"/>
          </a:solidFill>
          <a:ln w="0">
            <a:noFill/>
          </a:ln>
        </p:spPr>
        <p:txBody>
          <a:bodyPr wrap="square" lIns="144000" tIns="72000" rIns="144000" bIns="36000" anchor="ctr"/>
          <a:lstStyle/>
          <a:p>
            <a:pPr algn="l"/>
            <a:r>
              <a:rPr lang="en-US" sz="1200" b="1" dirty="0">
                <a:solidFill>
                  <a:srgbClr val="D5ED99"/>
                </a:solidFill>
                <a:latin typeface="Funnel Sans"/>
              </a:rPr>
              <a:t xml:space="preserve">Option 1  </a:t>
            </a:r>
            <a:r>
              <a:rPr lang="en-US" sz="1200" dirty="0">
                <a:solidFill>
                  <a:srgbClr val="FFFFFF"/>
                </a:solidFill>
                <a:latin typeface="Funnel Sans"/>
              </a:rPr>
              <a:t>Wasatch term sheet</a:t>
            </a:r>
          </a:p>
          <a:p>
            <a:pPr algn="l"/>
            <a:r>
              <a:rPr lang="en-US" sz="1000" dirty="0">
                <a:solidFill>
                  <a:srgbClr val="B1C8B0"/>
                </a:solidFill>
                <a:latin typeface="Funnel Sans"/>
              </a:rPr>
              <a:t>2–4 weeks to close</a:t>
            </a:r>
          </a:p>
        </p:txBody>
      </p:sp>
      <p:sp>
        <p:nvSpPr>
          <p:cNvPr id="101" name="Card1Body"/>
          <p:cNvSpPr txBox="1"/>
          <p:nvPr/>
        </p:nvSpPr>
        <p:spPr>
          <a:xfrm>
            <a:off x="257178" y="2730000"/>
            <a:ext cx="3750000" cy="3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FCFCF"/>
            </a:solidFill>
          </a:ln>
        </p:spPr>
        <p:txBody>
          <a:bodyPr wrap="square" lIns="144000" tIns="108000" rIns="144000" bIns="10800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100" dirty="0">
                <a:solidFill>
                  <a:srgbClr val="656670"/>
                </a:solidFill>
                <a:latin typeface="Funnel Sans"/>
              </a:rPr>
              <a:t>Ask DLH directly to issue TS at slight valuation uplift. Converts all followers immediately.</a:t>
            </a:r>
          </a:p>
          <a:p>
            <a:pPr algn="l">
              <a:spcAft>
                <a:spcPts val="200"/>
              </a:spcAft>
            </a:pPr>
            <a:r>
              <a:rPr lang="en-US" sz="1100" b="1" dirty="0">
                <a:solidFill>
                  <a:srgbClr val="002924"/>
                </a:solidFill>
                <a:latin typeface="Funnel Sans"/>
              </a:rPr>
              <a:t>Pros</a:t>
            </a:r>
          </a:p>
          <a:p>
            <a:pPr marL="228600" indent="-171450" algn="l">
              <a:spcAft>
                <a:spcPts val="200"/>
              </a:spcAft>
              <a:buChar char="✓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Fastest path – yes/no answer in days</a:t>
            </a:r>
          </a:p>
          <a:p>
            <a:pPr marL="228600" indent="-171450" algn="l">
              <a:spcAft>
                <a:spcPts val="200"/>
              </a:spcAft>
              <a:buChar char="✓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Unlocks Petrichor, NVF, Avego, EcoR1 in one move</a:t>
            </a:r>
          </a:p>
          <a:p>
            <a:pPr marL="228600" indent="-171450" algn="l">
              <a:spcAft>
                <a:spcPts val="600"/>
              </a:spcAft>
              <a:buChar char="✓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Sets price on our terms with existing investor</a:t>
            </a:r>
          </a:p>
          <a:p>
            <a:pPr algn="l">
              <a:spcAft>
                <a:spcPts val="200"/>
              </a:spcAft>
            </a:pPr>
            <a:r>
              <a:rPr lang="en-US" sz="1100" b="1" dirty="0">
                <a:solidFill>
                  <a:srgbClr val="8F1A43"/>
                </a:solidFill>
                <a:latin typeface="Funnel Sans"/>
              </a:rPr>
              <a:t>Cons</a:t>
            </a:r>
          </a:p>
          <a:p>
            <a:pPr marL="228600" indent="-171450" algn="l">
              <a:spcAft>
                <a:spcPts val="200"/>
              </a:spcAft>
              <a:buChar char="×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Wasatch may decline</a:t>
            </a:r>
          </a:p>
          <a:p>
            <a:pPr marL="228600" indent="-171450" algn="l">
              <a:spcAft>
                <a:spcPts val="200"/>
              </a:spcAft>
              <a:buChar char="×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Anchors valuation pre-data</a:t>
            </a:r>
          </a:p>
          <a:p>
            <a:pPr marL="228600" indent="-171450" algn="l">
              <a:spcAft>
                <a:spcPts val="200"/>
              </a:spcAft>
              <a:buChar char="×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Some VCs may view family office lead as weaker signal</a:t>
            </a:r>
          </a:p>
        </p:txBody>
      </p:sp>
      <p:sp>
        <p:nvSpPr>
          <p:cNvPr id="200" name="Card2Header"/>
          <p:cNvSpPr/>
          <p:nvPr/>
        </p:nvSpPr>
        <p:spPr>
          <a:xfrm>
            <a:off x="4157178" y="2350000"/>
            <a:ext cx="3750000" cy="380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B1C8B0"/>
          </a:solidFill>
          <a:ln w="0">
            <a:noFill/>
          </a:ln>
        </p:spPr>
        <p:txBody>
          <a:bodyPr wrap="square" lIns="144000" tIns="72000" rIns="144000" bIns="36000" anchor="ctr"/>
          <a:lstStyle/>
          <a:p>
            <a:pPr algn="l"/>
            <a:r>
              <a:rPr lang="en-US" sz="1200" b="1" dirty="0">
                <a:solidFill>
                  <a:srgbClr val="002924"/>
                </a:solidFill>
                <a:latin typeface="Funnel Sans"/>
              </a:rPr>
              <a:t xml:space="preserve">Option 2  </a:t>
            </a:r>
            <a:r>
              <a:rPr lang="en-US" sz="1200" dirty="0">
                <a:solidFill>
                  <a:srgbClr val="002924"/>
                </a:solidFill>
                <a:latin typeface="Funnel Sans"/>
              </a:rPr>
              <a:t>Wasatch SAFE with cap</a:t>
            </a:r>
          </a:p>
          <a:p>
            <a:pPr algn="l"/>
            <a:r>
              <a:rPr lang="en-US" sz="1000" dirty="0">
                <a:solidFill>
                  <a:srgbClr val="61896E"/>
                </a:solidFill>
                <a:latin typeface="Funnel Sans"/>
              </a:rPr>
              <a:t>4–6 weeks to first close</a:t>
            </a:r>
          </a:p>
        </p:txBody>
      </p:sp>
      <p:sp>
        <p:nvSpPr>
          <p:cNvPr id="201" name="Card2Body"/>
          <p:cNvSpPr txBox="1"/>
          <p:nvPr/>
        </p:nvSpPr>
        <p:spPr>
          <a:xfrm>
            <a:off x="4157178" y="2730000"/>
            <a:ext cx="3750000" cy="3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FCFCF"/>
            </a:solidFill>
          </a:ln>
        </p:spPr>
        <p:txBody>
          <a:bodyPr wrap="square" lIns="144000" tIns="108000" rIns="144000" bIns="10800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100" dirty="0">
                <a:solidFill>
                  <a:srgbClr val="656670"/>
                </a:solidFill>
                <a:latin typeface="Funnel Sans"/>
              </a:rPr>
              <a:t>Fallback if Wasatch won’t price. Align on valuation cap, then rolling close with Wasatch + Petrichor + F&amp;F.</a:t>
            </a:r>
          </a:p>
          <a:p>
            <a:pPr algn="l">
              <a:spcAft>
                <a:spcPts val="200"/>
              </a:spcAft>
            </a:pPr>
            <a:r>
              <a:rPr lang="en-US" sz="1100" b="1" dirty="0">
                <a:solidFill>
                  <a:srgbClr val="002924"/>
                </a:solidFill>
                <a:latin typeface="Funnel Sans"/>
              </a:rPr>
              <a:t>Pros</a:t>
            </a:r>
          </a:p>
          <a:p>
            <a:pPr marL="228600" indent="-171450" algn="l">
              <a:spcAft>
                <a:spcPts val="200"/>
              </a:spcAft>
              <a:buChar char="✓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Eliminates “who leads” problem entirely</a:t>
            </a:r>
          </a:p>
          <a:p>
            <a:pPr marL="228600" indent="-171450" algn="l">
              <a:spcAft>
                <a:spcPts val="200"/>
              </a:spcAft>
              <a:buChar char="✓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Standard instrument at seed stage</a:t>
            </a:r>
          </a:p>
          <a:p>
            <a:pPr marL="228600" indent="-171450" algn="l">
              <a:spcAft>
                <a:spcPts val="200"/>
              </a:spcAft>
              <a:buChar char="✓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Defers pricing to Series A when we have clinical data</a:t>
            </a:r>
          </a:p>
          <a:p>
            <a:pPr marL="228600" indent="-171450" algn="l">
              <a:spcAft>
                <a:spcPts val="600"/>
              </a:spcAft>
              <a:buChar char="✓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Lower bar for Wasatch than issuing a full TS</a:t>
            </a:r>
          </a:p>
          <a:p>
            <a:pPr algn="l">
              <a:spcAft>
                <a:spcPts val="200"/>
              </a:spcAft>
            </a:pPr>
            <a:r>
              <a:rPr lang="en-US" sz="1100" b="1" dirty="0">
                <a:solidFill>
                  <a:srgbClr val="8F1A43"/>
                </a:solidFill>
                <a:latin typeface="Funnel Sans"/>
              </a:rPr>
              <a:t>Cons</a:t>
            </a:r>
          </a:p>
          <a:p>
            <a:pPr marL="228600" indent="-171450" algn="l">
              <a:spcAft>
                <a:spcPts val="200"/>
              </a:spcAft>
              <a:buChar char="×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No institutional co-investors yet – hard to close $18M+ without them</a:t>
            </a:r>
          </a:p>
          <a:p>
            <a:pPr marL="228600" indent="-171450" algn="l">
              <a:spcAft>
                <a:spcPts val="200"/>
              </a:spcAft>
              <a:buChar char="×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Petrichor verbal must convert to paper</a:t>
            </a:r>
          </a:p>
          <a:p>
            <a:pPr marL="228600" indent="-171450" algn="l">
              <a:spcAft>
                <a:spcPts val="200"/>
              </a:spcAft>
              <a:buChar char="×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No price discovery now</a:t>
            </a:r>
          </a:p>
        </p:txBody>
      </p:sp>
      <p:sp>
        <p:nvSpPr>
          <p:cNvPr id="300" name="Card3Header"/>
          <p:cNvSpPr/>
          <p:nvPr/>
        </p:nvSpPr>
        <p:spPr>
          <a:xfrm>
            <a:off x="8057178" y="2350000"/>
            <a:ext cx="3750000" cy="380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61896E"/>
          </a:solidFill>
          <a:ln w="0">
            <a:noFill/>
          </a:ln>
        </p:spPr>
        <p:txBody>
          <a:bodyPr wrap="square" lIns="144000" tIns="72000" rIns="144000" bIns="36000" anchor="ctr"/>
          <a:lstStyle/>
          <a:p>
            <a:pPr algn="l"/>
            <a:r>
              <a:rPr lang="en-US" sz="1200" b="1" dirty="0">
                <a:solidFill>
                  <a:srgbClr val="D5ED99"/>
                </a:solidFill>
                <a:latin typeface="Funnel Sans"/>
              </a:rPr>
              <a:t xml:space="preserve">Option 3  </a:t>
            </a:r>
            <a:r>
              <a:rPr lang="en-US" sz="1200" dirty="0">
                <a:solidFill>
                  <a:srgbClr val="FFFFFF"/>
                </a:solidFill>
                <a:latin typeface="Funnel Sans"/>
              </a:rPr>
              <a:t>New lead search</a:t>
            </a:r>
          </a:p>
          <a:p>
            <a:pPr algn="l"/>
            <a:r>
              <a:rPr lang="en-US" sz="1000" dirty="0">
                <a:solidFill>
                  <a:srgbClr val="B1C8B0"/>
                </a:solidFill>
                <a:latin typeface="Funnel Sans"/>
              </a:rPr>
              <a:t>3–6 months, Q4 close</a:t>
            </a:r>
          </a:p>
        </p:txBody>
      </p:sp>
      <p:sp>
        <p:nvSpPr>
          <p:cNvPr id="301" name="Card3Body"/>
          <p:cNvSpPr txBox="1"/>
          <p:nvPr/>
        </p:nvSpPr>
        <p:spPr>
          <a:xfrm>
            <a:off x="8057178" y="2730000"/>
            <a:ext cx="3750000" cy="3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FCFCF"/>
            </a:solidFill>
          </a:ln>
        </p:spPr>
        <p:txBody>
          <a:bodyPr wrap="square" lIns="144000" tIns="108000" rIns="144000" bIns="10800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100" dirty="0">
                <a:solidFill>
                  <a:srgbClr val="656670"/>
                </a:solidFill>
                <a:latin typeface="Funnel Sans"/>
              </a:rPr>
              <a:t>Targeted outreach to funds that lead preclinical deals + China-thesis VCs. Reframe round size smaller.</a:t>
            </a:r>
          </a:p>
          <a:p>
            <a:pPr algn="l">
              <a:spcAft>
                <a:spcPts val="200"/>
              </a:spcAft>
            </a:pPr>
            <a:r>
              <a:rPr lang="en-US" sz="1100" b="1" dirty="0">
                <a:solidFill>
                  <a:srgbClr val="002924"/>
                </a:solidFill>
                <a:latin typeface="Funnel Sans"/>
              </a:rPr>
              <a:t>Pros</a:t>
            </a:r>
          </a:p>
          <a:p>
            <a:pPr marL="228600" indent="-171450" algn="l">
              <a:spcAft>
                <a:spcPts val="200"/>
              </a:spcAft>
              <a:buChar char="✓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Could land a brand-name lead (RTW, Boxer, Merck Ventures)</a:t>
            </a:r>
          </a:p>
          <a:p>
            <a:pPr marL="228600" indent="-171450" algn="l">
              <a:spcAft>
                <a:spcPts val="200"/>
              </a:spcAft>
              <a:buChar char="✓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China VCs have structural thesis fit</a:t>
            </a:r>
          </a:p>
          <a:p>
            <a:pPr marL="228600" indent="-171450" algn="l">
              <a:spcAft>
                <a:spcPts val="600"/>
              </a:spcAft>
              <a:buChar char="✓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Run in parallel with Options 1–2 at low cost</a:t>
            </a:r>
          </a:p>
          <a:p>
            <a:pPr algn="l">
              <a:spcAft>
                <a:spcPts val="200"/>
              </a:spcAft>
            </a:pPr>
            <a:r>
              <a:rPr lang="en-US" sz="1100" b="1" dirty="0">
                <a:solidFill>
                  <a:srgbClr val="8F1A43"/>
                </a:solidFill>
                <a:latin typeface="Funnel Sans"/>
              </a:rPr>
              <a:t>Cons</a:t>
            </a:r>
          </a:p>
          <a:p>
            <a:pPr marL="228600" indent="-171450" algn="l">
              <a:spcAft>
                <a:spcPts val="200"/>
              </a:spcAft>
              <a:buChar char="×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77 VCs already pitched – limited new targets</a:t>
            </a:r>
          </a:p>
          <a:p>
            <a:pPr marL="228600" indent="-171450" algn="l">
              <a:spcAft>
                <a:spcPts val="200"/>
              </a:spcAft>
              <a:buChar char="×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Adds 3–6 months; warm investors may cool</a:t>
            </a:r>
          </a:p>
          <a:p>
            <a:pPr marL="228600" indent="-171450" algn="l">
              <a:spcAft>
                <a:spcPts val="200"/>
              </a:spcAft>
              <a:buChar char="×"/>
            </a:pPr>
            <a:r>
              <a:rPr lang="en-US" sz="1000" dirty="0">
                <a:solidFill>
                  <a:srgbClr val="656670"/>
                </a:solidFill>
                <a:latin typeface="Funnel Sans"/>
              </a:rPr>
              <a:t>Doesn’t solve the follower dynamic on its 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ysClr val="window" lastClr="FFFFFF"/>
      </a:lt1>
      <a:dk2>
        <a:srgbClr val="656670"/>
      </a:dk2>
      <a:lt2>
        <a:srgbClr val="F6F3F2"/>
      </a:lt2>
      <a:accent1>
        <a:srgbClr val="002924"/>
      </a:accent1>
      <a:accent2>
        <a:srgbClr val="B1C8B0"/>
      </a:accent2>
      <a:accent3>
        <a:srgbClr val="61896E"/>
      </a:accent3>
      <a:accent4>
        <a:srgbClr val="D5ED99"/>
      </a:accent4>
      <a:accent5>
        <a:srgbClr val="DED6D3"/>
      </a:accent5>
      <a:accent6>
        <a:srgbClr val="8F1A43"/>
      </a:accent6>
      <a:hlink>
        <a:srgbClr val="002924"/>
      </a:hlink>
      <a:folHlink>
        <a:srgbClr val="B1C8B0"/>
      </a:folHlink>
    </a:clrScheme>
    <a:fontScheme name="Sego">
      <a:majorFont>
        <a:latin typeface="Funnel Sans Light"/>
        <a:ea typeface=""/>
        <a:cs typeface=""/>
      </a:majorFont>
      <a:minorFont>
        <a:latin typeface="Funne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smtClean="0">
            <a:solidFill>
              <a:srgbClr val="FF0000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BEC5BC-E7B8-46EF-8D65-98E807DD576B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41257d-d9f1-45d2-83fb-79c2dd89ff18" xsi:nil="true"/>
    <lcf76f155ced4ddcb4097134ff3c332f xmlns="17a099e9-2c6f-4eed-a731-aa23c2084e1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6EABB8B3F65B47BE025CC264113219" ma:contentTypeVersion="11" ma:contentTypeDescription="Create a new document." ma:contentTypeScope="" ma:versionID="372fbf92ab6f4a46db1f5cd6be12afea">
  <xsd:schema xmlns:xsd="http://www.w3.org/2001/XMLSchema" xmlns:xs="http://www.w3.org/2001/XMLSchema" xmlns:p="http://schemas.microsoft.com/office/2006/metadata/properties" xmlns:ns2="17a099e9-2c6f-4eed-a731-aa23c2084e1b" xmlns:ns3="9b41257d-d9f1-45d2-83fb-79c2dd89ff18" targetNamespace="http://schemas.microsoft.com/office/2006/metadata/properties" ma:root="true" ma:fieldsID="16bf60042c9b3853215886f36ce98b21" ns2:_="" ns3:_="">
    <xsd:import namespace="17a099e9-2c6f-4eed-a731-aa23c2084e1b"/>
    <xsd:import namespace="9b41257d-d9f1-45d2-83fb-79c2dd89ff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a099e9-2c6f-4eed-a731-aa23c2084e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d5e21b9-9a91-448a-b7da-1ab90cd0a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1257d-d9f1-45d2-83fb-79c2dd89ff1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b56a1f0-8357-4b64-86fd-fd0a5fd73875}" ma:internalName="TaxCatchAll" ma:showField="CatchAllData" ma:web="9b41257d-d9f1-45d2-83fb-79c2dd89ff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F7BB90-4023-4131-A8C0-B9CBEA184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EE723F-6D25-4EBE-9F20-FC90927D6EA0}">
  <ds:schemaRefs>
    <ds:schemaRef ds:uri="17a099e9-2c6f-4eed-a731-aa23c2084e1b"/>
    <ds:schemaRef ds:uri="9b41257d-d9f1-45d2-83fb-79c2dd89ff1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BF0B8A6-94AD-4722-9540-E060FEF86C15}">
  <ds:schemaRefs>
    <ds:schemaRef ds:uri="17a099e9-2c6f-4eed-a731-aa23c2084e1b"/>
    <ds:schemaRef ds:uri="9b41257d-d9f1-45d2-83fb-79c2dd89ff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d74513f-0122-4961-9f9d-1b0308a15633}" enabled="1" method="Standard" siteId="{0ef4dffa-8c77-49f6-a7ba-d33398e9a99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1078</Words>
  <Application>Microsoft Office PowerPoint</Application>
  <PresentationFormat>Widescreen</PresentationFormat>
  <Paragraphs>151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Funnel Sans</vt:lpstr>
      <vt:lpstr>Funnel Sans Light</vt:lpstr>
      <vt:lpstr>Funnel Sans Medium</vt:lpstr>
      <vt:lpstr>1_Office Theme</vt:lpstr>
      <vt:lpstr>Fundraising Update – June 2026</vt:lpstr>
      <vt:lpstr>PowerPoint Presentation</vt:lpstr>
      <vt:lpstr>Fundraising progress since September 2025</vt:lpstr>
      <vt:lpstr>PowerPoint Presentation</vt:lpstr>
      <vt:lpstr>Highlights by individual VC</vt:lpstr>
      <vt:lpstr>Core themes from recent fundraising discussions</vt:lpstr>
      <vt:lpstr>BD: Activities ongoing toward company OKR</vt:lpstr>
      <vt:lpstr>BD: Activities ongoing toward company OKR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Becca Levin</dc:creator>
  <cp:lastModifiedBy>Becca Levin</cp:lastModifiedBy>
  <cp:revision>2</cp:revision>
  <dcterms:created xsi:type="dcterms:W3CDTF">2026-03-03T21:10:21Z</dcterms:created>
  <dcterms:modified xsi:type="dcterms:W3CDTF">2026-06-02T17:40:06Z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0x010100556EABB8B3F65B47BE025CC264113219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1_Office Theme:7</vt:lpwstr>
  </property>
  <property fmtid="{D5CDD505-2E9C-101B-9397-08002B2CF9AE}" pid="5" name="ClassificationContentMarkingFooterText">
    <vt:lpwstr>Confidential</vt:lpwstr>
  </property>
</Properties>
</file>