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Programs</c:v>
                </c:pt>
              </c:strCache>
            </c:strRef>
          </c:tx>
          <c:spPr>
            <a:solidFill>
              <a:srgbClr val="B1C8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56670"/>
                    </a:solidFill>
                    <a:latin typeface="Funnel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PSMA</c:v>
                  </c:pt>
                  <c:pt idx="1">
                    <c:v>FAP</c:v>
                  </c:pt>
                  <c:pt idx="2">
                    <c:v>HER2</c:v>
                  </c:pt>
                  <c:pt idx="3">
                    <c:v>SSTR</c:v>
                  </c:pt>
                  <c:pt idx="4">
                    <c:v>Amyloid</c:v>
                  </c:pt>
                  <c:pt idx="5">
                    <c:v>Integrin</c:v>
                  </c:pt>
                  <c:pt idx="6">
                    <c:v>CAIX</c:v>
                  </c:pt>
                  <c:pt idx="7">
                    <c:v>Tau</c:v>
                  </c:pt>
                  <c:pt idx="8">
                    <c:v>GRPR</c:v>
                  </c:pt>
                  <c:pt idx="9">
                    <c:v>TSPO</c:v>
                  </c:pt>
                  <c:pt idx="10">
                    <c:v>PDL1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162</c:v>
                </c:pt>
                <c:pt idx="1">
                  <c:v>92</c:v>
                </c:pt>
                <c:pt idx="2">
                  <c:v>73</c:v>
                </c:pt>
                <c:pt idx="3">
                  <c:v>72</c:v>
                </c:pt>
                <c:pt idx="4">
                  <c:v>52</c:v>
                </c:pt>
                <c:pt idx="5">
                  <c:v>42</c:v>
                </c:pt>
                <c:pt idx="6">
                  <c:v>31</c:v>
                </c:pt>
                <c:pt idx="7">
                  <c:v>27</c:v>
                </c:pt>
                <c:pt idx="8">
                  <c:v>27</c:v>
                </c:pt>
                <c:pt idx="9">
                  <c:v>25</c:v>
                </c:pt>
                <c:pt idx="10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656670"/>
                  </a:solidFill>
                  <a:latin typeface="Funnel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Programs</c:v>
                </c:pt>
              </c:strCache>
            </c:strRef>
          </c:tx>
          <c:spPr>
            <a:solidFill>
              <a:srgbClr val="6189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56670"/>
                    </a:solidFill>
                    <a:latin typeface="Funnel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FAP</c:v>
                  </c:pt>
                  <c:pt idx="1">
                    <c:v>PSMA</c:v>
                  </c:pt>
                  <c:pt idx="2">
                    <c:v>PDL1</c:v>
                  </c:pt>
                  <c:pt idx="3">
                    <c:v>HER2</c:v>
                  </c:pt>
                  <c:pt idx="4">
                    <c:v>αvβ3</c:v>
                  </c:pt>
                  <c:pt idx="5">
                    <c:v>TROP2</c:v>
                  </c:pt>
                  <c:pt idx="6">
                    <c:v>CAIX</c:v>
                  </c:pt>
                  <c:pt idx="7">
                    <c:v>SSTR</c:v>
                  </c:pt>
                  <c:pt idx="8">
                    <c:v>Nectin-4</c:v>
                  </c:pt>
                  <c:pt idx="9">
                    <c:v>CLDN18.2</c:v>
                  </c:pt>
                  <c:pt idx="10">
                    <c:v>GRPR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112</c:v>
                </c:pt>
                <c:pt idx="1">
                  <c:v>84</c:v>
                </c:pt>
                <c:pt idx="2">
                  <c:v>35</c:v>
                </c:pt>
                <c:pt idx="3">
                  <c:v>27</c:v>
                </c:pt>
                <c:pt idx="4">
                  <c:v>23</c:v>
                </c:pt>
                <c:pt idx="5">
                  <c:v>18</c:v>
                </c:pt>
                <c:pt idx="6">
                  <c:v>17</c:v>
                </c:pt>
                <c:pt idx="7">
                  <c:v>17</c:v>
                </c:pt>
                <c:pt idx="8">
                  <c:v>13</c:v>
                </c:pt>
                <c:pt idx="9">
                  <c:v>12</c:v>
                </c:pt>
                <c:pt idx="10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656670"/>
                  </a:solidFill>
                  <a:latin typeface="Funnel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Chinese developers balance validated targets (PSMA, FAP) with first-in-class RLT bets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589520" y="137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49640" y="1371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5303520" cy="256032"/>
          </a:xfrm>
          <a:prstGeom prst="roundRect">
            <a:avLst>
              <a:gd name="adj" fmla="val 21429"/>
            </a:avLst>
          </a:prstGeom>
          <a:solidFill>
            <a:srgbClr val="00292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Global radiopharmaceutical pipeline by target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43000"/>
          <a:ext cx="53035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063240"/>
            <a:ext cx="5303520" cy="256032"/>
          </a:xfrm>
          <a:prstGeom prst="roundRect">
            <a:avLst>
              <a:gd name="adj" fmla="val 21429"/>
            </a:avLst>
          </a:prstGeom>
          <a:solidFill>
            <a:srgbClr val="61896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3063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China radiopharmaceutical pipeline by target</a:t>
            </a:r>
            <a:endParaRPr lang="en-US" sz="8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457200" y="3337560"/>
          <a:ext cx="530352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5943600" y="3063240"/>
            <a:ext cx="2926080" cy="256032"/>
          </a:xfrm>
          <a:prstGeom prst="roundRect">
            <a:avLst>
              <a:gd name="adj" fmla="val 21429"/>
            </a:avLst>
          </a:prstGeom>
          <a:solidFill>
            <a:srgbClr val="B1C8B0"/>
          </a:solidFill>
          <a:ln/>
        </p:spPr>
      </p:sp>
      <p:sp>
        <p:nvSpPr>
          <p:cNvPr id="13" name="Text 9"/>
          <p:cNvSpPr/>
          <p:nvPr/>
        </p:nvSpPr>
        <p:spPr>
          <a:xfrm>
            <a:off x="6080760" y="3063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China's target strategy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943600" y="3337560"/>
            <a:ext cx="29260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>
            <a:off x="6080760" y="34290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(1)  </a:t>
            </a:r>
            <a:pPr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Validation through well-understood targets (FAP, PSMA)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(2)  </a:t>
            </a:r>
            <a:pPr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First-to-market bet on FAP for fibrotic cancers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(3)  </a:t>
            </a:r>
            <a:pPr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ADC-validated target optionality (HER2, TROP2, etc.)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(4)  </a:t>
            </a:r>
            <a:pPr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RLT first-in-class bets (Nectin-4, CLDN18.2)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1A4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Source: NextPharma, Pharmacube (via BFC Group)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China's RLT players cluster in peptide + Lu-177, with ADC entrants expanding to antibody-based approaches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589520" y="137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49640" y="1371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97280" y="1005840"/>
            <a:ext cx="1874520" cy="320040"/>
          </a:xfrm>
          <a:prstGeom prst="roundRect">
            <a:avLst>
              <a:gd name="adj" fmla="val 17143"/>
            </a:avLst>
          </a:prstGeom>
          <a:solidFill>
            <a:srgbClr val="B1C8B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005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Small Molecule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17520" y="1005840"/>
            <a:ext cx="1874520" cy="320040"/>
          </a:xfrm>
          <a:prstGeom prst="roundRect">
            <a:avLst>
              <a:gd name="adj" fmla="val 17143"/>
            </a:avLst>
          </a:prstGeom>
          <a:solidFill>
            <a:srgbClr val="61896E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1005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Peptide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37760" y="1005840"/>
            <a:ext cx="1874520" cy="320040"/>
          </a:xfrm>
          <a:prstGeom prst="roundRect">
            <a:avLst>
              <a:gd name="adj" fmla="val 17143"/>
            </a:avLst>
          </a:prstGeom>
          <a:solidFill>
            <a:srgbClr val="5475E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05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Small Protein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0" y="1005840"/>
            <a:ext cx="1874520" cy="320040"/>
          </a:xfrm>
          <a:prstGeom prst="roundRect">
            <a:avLst>
              <a:gd name="adj" fmla="val 17143"/>
            </a:avLst>
          </a:prstGeom>
          <a:solidFill>
            <a:srgbClr val="002924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005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Antibody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7315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Binder Modality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18120" y="731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Size →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 rot="16200000">
            <a:off x="45720" y="1508760"/>
            <a:ext cx="365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Radioisotope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371600"/>
            <a:ext cx="594360" cy="1325880"/>
          </a:xfrm>
          <a:prstGeom prst="roundRect">
            <a:avLst>
              <a:gd name="adj" fmla="val 9231"/>
            </a:avLst>
          </a:prstGeom>
          <a:solidFill>
            <a:srgbClr val="D5ED9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37160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α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594360" cy="1325880"/>
          </a:xfrm>
          <a:prstGeom prst="roundRect">
            <a:avLst>
              <a:gd name="adj" fmla="val 9231"/>
            </a:avLst>
          </a:prstGeom>
          <a:solidFill>
            <a:srgbClr val="B1C8B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74320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β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97280" y="137160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170432" y="14173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FindCure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Full-Life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AlphaGen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017520" y="137160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137160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010912" y="14173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SmartNuclide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58000" y="137160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" y="274320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170432" y="27889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Norroy Bioscience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A3-RayBio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017520" y="274320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090672" y="27889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PepLib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Bivision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Hexin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Kelun-Biotech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LNCYT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BoomRay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937760" y="274320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010912" y="27889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NanoMab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58000" y="274320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931152" y="27889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Grand Pharma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Hengrui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Kelun-Biotech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017520" y="274320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25400">
            <a:solidFill>
              <a:srgbClr val="D5ED99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3090672" y="27889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PepLib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Bivision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Hexin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Kelun-Biotech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LNCYT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BoomRay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42519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297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Peptide-focused, </a:t>
            </a:r>
            <a:pPr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following proven pathways (PSMA/SSTR analogs)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Lu-177 dominant, </a:t>
            </a:r>
            <a:pPr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with gradual expansion into Ac-225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ADC players entering, </a:t>
            </a:r>
            <a:pPr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often starting with antibody-based RLT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1A4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Source: NextPharma, Pharmacube (via BFC Group)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9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1C8B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China is building a complete end-to-end RLT development ecosystem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589520" y="137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1C8B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49640" y="1371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1C8B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0" y="1463040"/>
            <a:ext cx="2743200" cy="256032"/>
          </a:xfrm>
          <a:prstGeom prst="roundRect">
            <a:avLst>
              <a:gd name="adj" fmla="val 21429"/>
            </a:avLst>
          </a:prstGeom>
          <a:solidFill>
            <a:srgbClr val="B1C8B0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Public RPT Companies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0" y="1737360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755648"/>
            <a:ext cx="2560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DC Pharma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CNNC (中核集团)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D5ED99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005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Peptide Platform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5603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298448"/>
            <a:ext cx="2377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PepLib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HealthyTide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Mitro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Sinotau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400800" y="2194560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61896E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194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CRDMO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0" y="2468880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487168"/>
            <a:ext cx="2194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Norroy Bioscience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C-RAY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029200" y="3108960"/>
            <a:ext cx="3657600" cy="256032"/>
          </a:xfrm>
          <a:prstGeom prst="roundRect">
            <a:avLst>
              <a:gd name="adj" fmla="val 21429"/>
            </a:avLst>
          </a:prstGeom>
          <a:solidFill>
            <a:srgbClr val="5475E8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3108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Biotech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0" y="3383280"/>
            <a:ext cx="36576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401568"/>
            <a:ext cx="34747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Full-Life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SmartNuclide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Bivision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BoomRay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Hexin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Ablaze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FindCure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ELi Radiopharma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2743200" cy="256032"/>
          </a:xfrm>
          <a:prstGeom prst="roundRect">
            <a:avLst>
              <a:gd name="adj" fmla="val 21429"/>
            </a:avLst>
          </a:prstGeom>
          <a:solidFill>
            <a:srgbClr val="BAD1D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743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Radionuclide Production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27432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035808"/>
            <a:ext cx="2560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AstaThera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Alpharm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NRT (纽瑞特医疗)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57200" y="137160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DED6D3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1371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(Bio)Pharmas Extending into RLT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1645920"/>
            <a:ext cx="25603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1664208"/>
            <a:ext cx="23774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Kelun-Biotech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Yunnan Baiyao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Grand Pharma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Hengrui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Hengrui Pharma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61896E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... More ADC players are now entering the RLT field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1C8B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Source: NextPharma, Pharmacube (via BFC Group)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China RLT Landscape</dc:title>
  <dc:subject>PptxGenJS Presentation</dc:subject>
  <dc:creator>Sego Therapeutics</dc:creator>
  <cp:lastModifiedBy>Sego Therapeutics</cp:lastModifiedBy>
  <cp:revision>1</cp:revision>
  <dcterms:created xsi:type="dcterms:W3CDTF">2026-07-07T21:50:33Z</dcterms:created>
  <dcterms:modified xsi:type="dcterms:W3CDTF">2026-07-07T21:50:33Z</dcterms:modified>
</cp:coreProperties>
</file>