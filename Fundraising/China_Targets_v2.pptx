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Chinese developers balance validated targets (PSMA, FAP) with first-in-class RLT bets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589520" y="137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49640" y="1371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00292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GLOBAL</a:t>
            </a:r>
            <a:endParaRPr lang="en-US" sz="700" dirty="0"/>
          </a:p>
        </p:txBody>
      </p:sp>
      <p:pic>
        <p:nvPicPr>
          <p:cNvPr id="8" name="Image 0" descr="/sessions/nice-vibrant-thompson/mnt/outputs/chart_glob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486400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999232"/>
            <a:ext cx="1005840" cy="201168"/>
          </a:xfrm>
          <a:prstGeom prst="roundRect">
            <a:avLst>
              <a:gd name="adj" fmla="val 50000"/>
            </a:avLst>
          </a:prstGeom>
          <a:solidFill>
            <a:srgbClr val="61896E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999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CHINA</a:t>
            </a:r>
            <a:endParaRPr lang="en-US" sz="700" dirty="0"/>
          </a:p>
        </p:txBody>
      </p:sp>
      <p:pic>
        <p:nvPicPr>
          <p:cNvPr id="11" name="Image 1" descr="/sessions/nice-vibrant-thompson/mnt/outputs/chart_chi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00400"/>
            <a:ext cx="548640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943600" y="804672"/>
            <a:ext cx="2926080" cy="292608"/>
          </a:xfrm>
          <a:prstGeom prst="roundRect">
            <a:avLst>
              <a:gd name="adj" fmla="val 25000"/>
            </a:avLst>
          </a:prstGeom>
          <a:solidFill>
            <a:srgbClr val="B1C8B0"/>
          </a:solidFill>
          <a:ln/>
        </p:spPr>
      </p:sp>
      <p:sp>
        <p:nvSpPr>
          <p:cNvPr id="13" name="Text 9"/>
          <p:cNvSpPr/>
          <p:nvPr/>
        </p:nvSpPr>
        <p:spPr>
          <a:xfrm>
            <a:off x="6080760" y="804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China's target strategy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943600" y="1115568"/>
            <a:ext cx="2926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80760" y="1234440"/>
            <a:ext cx="228600" cy="228600"/>
          </a:xfrm>
          <a:prstGeom prst="ellipse">
            <a:avLst/>
          </a:prstGeom>
          <a:solidFill>
            <a:srgbClr val="D5ED99"/>
          </a:solidFill>
          <a:ln/>
        </p:spPr>
      </p:sp>
      <p:sp>
        <p:nvSpPr>
          <p:cNvPr id="16" name="Text 12"/>
          <p:cNvSpPr/>
          <p:nvPr/>
        </p:nvSpPr>
        <p:spPr>
          <a:xfrm>
            <a:off x="6080760" y="12344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400800" y="12161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Validation</a:t>
            </a:r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through well-understood targets (FAP, PSMA)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080760" y="1709928"/>
            <a:ext cx="228600" cy="228600"/>
          </a:xfrm>
          <a:prstGeom prst="ellipse">
            <a:avLst/>
          </a:prstGeom>
          <a:solidFill>
            <a:srgbClr val="D5ED99"/>
          </a:solidFill>
          <a:ln/>
        </p:spPr>
      </p:sp>
      <p:sp>
        <p:nvSpPr>
          <p:cNvPr id="19" name="Text 15"/>
          <p:cNvSpPr/>
          <p:nvPr/>
        </p:nvSpPr>
        <p:spPr>
          <a:xfrm>
            <a:off x="6080760" y="17099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400800" y="1691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First-to-market</a:t>
            </a:r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bet on FAP for fibrotic cancers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080760" y="2185416"/>
            <a:ext cx="228600" cy="228600"/>
          </a:xfrm>
          <a:prstGeom prst="ellipse">
            <a:avLst/>
          </a:prstGeom>
          <a:solidFill>
            <a:srgbClr val="D5ED99"/>
          </a:solidFill>
          <a:ln/>
        </p:spPr>
      </p:sp>
      <p:sp>
        <p:nvSpPr>
          <p:cNvPr id="22" name="Text 18"/>
          <p:cNvSpPr/>
          <p:nvPr/>
        </p:nvSpPr>
        <p:spPr>
          <a:xfrm>
            <a:off x="6080760" y="21854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400800" y="21671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ADC-validated</a:t>
            </a:r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target optionality (HER2, TROP2, etc.)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080760" y="2660904"/>
            <a:ext cx="228600" cy="228600"/>
          </a:xfrm>
          <a:prstGeom prst="ellipse">
            <a:avLst/>
          </a:prstGeom>
          <a:solidFill>
            <a:srgbClr val="D5ED99"/>
          </a:solidFill>
          <a:ln/>
        </p:spPr>
      </p:sp>
      <p:sp>
        <p:nvSpPr>
          <p:cNvPr id="25" name="Text 21"/>
          <p:cNvSpPr/>
          <p:nvPr/>
        </p:nvSpPr>
        <p:spPr>
          <a:xfrm>
            <a:off x="6080760" y="26609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400800" y="264261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First-in-class</a:t>
            </a:r>
            <a:pPr indent="0" marL="0">
              <a:buNone/>
            </a:pPr>
            <a:r>
              <a:rPr lang="en-US" sz="9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RLT bets (Nectin-4, CLDN18.2)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5943600" y="329184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6080760" y="3383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 divergence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080760" y="361188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FAP #1 in China </a:t>
            </a:r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(vs #2 globally) — massive bet on fibrotic cancers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TROP2, Nectin-4, CLDN18.2 </a:t>
            </a:r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reflect ADC-to-RLT translation strategy unique to China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002924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SSTR drops from #4 globally to #8 in China </a:t>
            </a:r>
            <a:pPr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— less focus on neuroendocrine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NextPharma, Pharmacube (via BFC Group)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Target Differentiation</dc:title>
  <dc:subject>PptxGenJS Presentation</dc:subject>
  <dc:creator>Sego Therapeutics</dc:creator>
  <cp:lastModifiedBy>Sego Therapeutics</cp:lastModifiedBy>
  <cp:revision>1</cp:revision>
  <dcterms:created xsi:type="dcterms:W3CDTF">2026-07-09T20:08:22Z</dcterms:created>
  <dcterms:modified xsi:type="dcterms:W3CDTF">2026-07-09T20:08:22Z</dcterms:modified>
</cp:coreProperties>
</file>