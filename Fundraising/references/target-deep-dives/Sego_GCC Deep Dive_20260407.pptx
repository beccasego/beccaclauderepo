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45_9B68041D.xml" ContentType="application/vnd.ms-powerpoint.comments+xml"/>
  <Override PartName="/ppt/notesSlides/notesSlide4.xml" ContentType="application/vnd.openxmlformats-officedocument.presentationml.notesSlide+xml"/>
  <Override PartName="/ppt/comments/modernComment_209_873B308C.xml" ContentType="application/vnd.ms-powerpoint.comments+xml"/>
  <Override PartName="/ppt/comments/modernComment_140_12DEB5C3.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18"/>
  </p:notesMasterIdLst>
  <p:sldIdLst>
    <p:sldId id="519" r:id="rId6"/>
    <p:sldId id="585" r:id="rId7"/>
    <p:sldId id="603" r:id="rId8"/>
    <p:sldId id="530" r:id="rId9"/>
    <p:sldId id="520" r:id="rId10"/>
    <p:sldId id="324" r:id="rId11"/>
    <p:sldId id="325" r:id="rId12"/>
    <p:sldId id="521" r:id="rId13"/>
    <p:sldId id="320" r:id="rId14"/>
    <p:sldId id="529" r:id="rId15"/>
    <p:sldId id="512" r:id="rId16"/>
    <p:sldId id="33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3E7231E-D65A-7660-884F-A801964A74DA}" name="Becca Levin" initials="BL" userId="S::BLevin@segotx.com::08c76d0b-4d1f-44f5-8508-8653b2f54768" providerId="AD"/>
  <p188:author id="{D37D7AB3-C188-8807-901A-40D7FCBD9833}" name="Kirstin Zettlitz" initials="KZ" userId="S::KZettlitz@segotx.com::ed94187f-4964-42f1-b936-14a5f47aff4a" providerId="AD"/>
  <p188:author id="{1B2CCED9-E761-A789-87FA-8A8BE5E75A61}" name="Greg Mullen" initials="GM" userId="S::gmullen@segotx.com::15d9f696-28c4-4111-b985-4ee728509f1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4523A-ABD0-490C-9B92-64A18CA586CF}" v="106" dt="2026-04-08T15:52:05.6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47"/>
    <p:restoredTop sz="94694"/>
  </p:normalViewPr>
  <p:slideViewPr>
    <p:cSldViewPr snapToGrid="0">
      <p:cViewPr varScale="1">
        <p:scale>
          <a:sx n="94" d="100"/>
          <a:sy n="94" d="100"/>
        </p:scale>
        <p:origin x="224"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cca Levin" userId="08c76d0b-4d1f-44f5-8508-8653b2f54768" providerId="ADAL" clId="{5AA3B8CE-AFEA-44FA-ACCD-448CA31DFD0A}"/>
    <pc:docChg chg="custSel addSld delSld modSld">
      <pc:chgData name="Becca Levin" userId="08c76d0b-4d1f-44f5-8508-8653b2f54768" providerId="ADAL" clId="{5AA3B8CE-AFEA-44FA-ACCD-448CA31DFD0A}" dt="2026-04-08T15:51:55.078" v="109" actId="20577"/>
      <pc:docMkLst>
        <pc:docMk/>
      </pc:docMkLst>
      <pc:sldChg chg="add">
        <pc:chgData name="Becca Levin" userId="08c76d0b-4d1f-44f5-8508-8653b2f54768" providerId="ADAL" clId="{5AA3B8CE-AFEA-44FA-ACCD-448CA31DFD0A}" dt="2026-04-07T21:42:46.726" v="0"/>
        <pc:sldMkLst>
          <pc:docMk/>
          <pc:sldMk cId="316585411" sldId="320"/>
        </pc:sldMkLst>
      </pc:sldChg>
      <pc:sldChg chg="add">
        <pc:chgData name="Becca Levin" userId="08c76d0b-4d1f-44f5-8508-8653b2f54768" providerId="ADAL" clId="{5AA3B8CE-AFEA-44FA-ACCD-448CA31DFD0A}" dt="2026-04-07T21:42:46.726" v="0"/>
        <pc:sldMkLst>
          <pc:docMk/>
          <pc:sldMk cId="217644119" sldId="324"/>
        </pc:sldMkLst>
      </pc:sldChg>
      <pc:sldChg chg="add">
        <pc:chgData name="Becca Levin" userId="08c76d0b-4d1f-44f5-8508-8653b2f54768" providerId="ADAL" clId="{5AA3B8CE-AFEA-44FA-ACCD-448CA31DFD0A}" dt="2026-04-07T21:42:46.726" v="0"/>
        <pc:sldMkLst>
          <pc:docMk/>
          <pc:sldMk cId="2607285277" sldId="325"/>
        </pc:sldMkLst>
      </pc:sldChg>
      <pc:sldChg chg="add">
        <pc:chgData name="Becca Levin" userId="08c76d0b-4d1f-44f5-8508-8653b2f54768" providerId="ADAL" clId="{5AA3B8CE-AFEA-44FA-ACCD-448CA31DFD0A}" dt="2026-04-07T21:42:46.726" v="0"/>
        <pc:sldMkLst>
          <pc:docMk/>
          <pc:sldMk cId="517537118" sldId="335"/>
        </pc:sldMkLst>
      </pc:sldChg>
      <pc:sldChg chg="add">
        <pc:chgData name="Becca Levin" userId="08c76d0b-4d1f-44f5-8508-8653b2f54768" providerId="ADAL" clId="{5AA3B8CE-AFEA-44FA-ACCD-448CA31DFD0A}" dt="2026-04-07T21:42:46.726" v="0"/>
        <pc:sldMkLst>
          <pc:docMk/>
          <pc:sldMk cId="2874473043" sldId="512"/>
        </pc:sldMkLst>
      </pc:sldChg>
      <pc:sldChg chg="add">
        <pc:chgData name="Becca Levin" userId="08c76d0b-4d1f-44f5-8508-8653b2f54768" providerId="ADAL" clId="{5AA3B8CE-AFEA-44FA-ACCD-448CA31DFD0A}" dt="2026-04-07T21:42:46.726" v="0"/>
        <pc:sldMkLst>
          <pc:docMk/>
          <pc:sldMk cId="1361576308" sldId="519"/>
        </pc:sldMkLst>
      </pc:sldChg>
      <pc:sldChg chg="add">
        <pc:chgData name="Becca Levin" userId="08c76d0b-4d1f-44f5-8508-8653b2f54768" providerId="ADAL" clId="{5AA3B8CE-AFEA-44FA-ACCD-448CA31DFD0A}" dt="2026-04-07T21:42:46.726" v="0"/>
        <pc:sldMkLst>
          <pc:docMk/>
          <pc:sldMk cId="65717554" sldId="520"/>
        </pc:sldMkLst>
      </pc:sldChg>
      <pc:sldChg chg="add">
        <pc:chgData name="Becca Levin" userId="08c76d0b-4d1f-44f5-8508-8653b2f54768" providerId="ADAL" clId="{5AA3B8CE-AFEA-44FA-ACCD-448CA31DFD0A}" dt="2026-04-07T21:42:46.726" v="0"/>
        <pc:sldMkLst>
          <pc:docMk/>
          <pc:sldMk cId="2268803212" sldId="521"/>
        </pc:sldMkLst>
      </pc:sldChg>
      <pc:sldChg chg="add">
        <pc:chgData name="Becca Levin" userId="08c76d0b-4d1f-44f5-8508-8653b2f54768" providerId="ADAL" clId="{5AA3B8CE-AFEA-44FA-ACCD-448CA31DFD0A}" dt="2026-04-07T21:42:46.726" v="0"/>
        <pc:sldMkLst>
          <pc:docMk/>
          <pc:sldMk cId="1817007333" sldId="529"/>
        </pc:sldMkLst>
      </pc:sldChg>
      <pc:sldChg chg="modSp add mod">
        <pc:chgData name="Becca Levin" userId="08c76d0b-4d1f-44f5-8508-8653b2f54768" providerId="ADAL" clId="{5AA3B8CE-AFEA-44FA-ACCD-448CA31DFD0A}" dt="2026-04-07T21:42:53.506" v="9" actId="20577"/>
        <pc:sldMkLst>
          <pc:docMk/>
          <pc:sldMk cId="3908079742" sldId="530"/>
        </pc:sldMkLst>
        <pc:spChg chg="mod">
          <ac:chgData name="Becca Levin" userId="08c76d0b-4d1f-44f5-8508-8653b2f54768" providerId="ADAL" clId="{5AA3B8CE-AFEA-44FA-ACCD-448CA31DFD0A}" dt="2026-04-07T21:42:53.506" v="9" actId="20577"/>
          <ac:spMkLst>
            <pc:docMk/>
            <pc:sldMk cId="3908079742" sldId="530"/>
            <ac:spMk id="2" creationId="{C8061725-0082-DACC-759B-3FF696E59848}"/>
          </ac:spMkLst>
        </pc:spChg>
      </pc:sldChg>
      <pc:sldChg chg="add">
        <pc:chgData name="Becca Levin" userId="08c76d0b-4d1f-44f5-8508-8653b2f54768" providerId="ADAL" clId="{5AA3B8CE-AFEA-44FA-ACCD-448CA31DFD0A}" dt="2026-04-07T21:43:48.362" v="10"/>
        <pc:sldMkLst>
          <pc:docMk/>
          <pc:sldMk cId="1951833656" sldId="585"/>
        </pc:sldMkLst>
      </pc:sldChg>
      <pc:sldChg chg="add del">
        <pc:chgData name="Becca Levin" userId="08c76d0b-4d1f-44f5-8508-8653b2f54768" providerId="ADAL" clId="{5AA3B8CE-AFEA-44FA-ACCD-448CA31DFD0A}" dt="2026-04-07T22:12:52.056" v="13" actId="47"/>
        <pc:sldMkLst>
          <pc:docMk/>
          <pc:sldMk cId="1604698358" sldId="600"/>
        </pc:sldMkLst>
      </pc:sldChg>
      <pc:sldChg chg="addSp delSp modSp add mod modCm">
        <pc:chgData name="Becca Levin" userId="08c76d0b-4d1f-44f5-8508-8653b2f54768" providerId="ADAL" clId="{5AA3B8CE-AFEA-44FA-ACCD-448CA31DFD0A}" dt="2026-04-08T15:51:55.078" v="109" actId="20577"/>
        <pc:sldMkLst>
          <pc:docMk/>
          <pc:sldMk cId="2901174089" sldId="603"/>
        </pc:sldMkLst>
        <pc:spChg chg="add mod">
          <ac:chgData name="Becca Levin" userId="08c76d0b-4d1f-44f5-8508-8653b2f54768" providerId="ADAL" clId="{5AA3B8CE-AFEA-44FA-ACCD-448CA31DFD0A}" dt="2026-04-08T15:50:17.328" v="70" actId="20577"/>
          <ac:spMkLst>
            <pc:docMk/>
            <pc:sldMk cId="2901174089" sldId="603"/>
            <ac:spMk id="13" creationId="{ADD94083-EBDC-55FD-C41B-DED021B60E54}"/>
          </ac:spMkLst>
        </pc:spChg>
        <pc:spChg chg="del">
          <ac:chgData name="Becca Levin" userId="08c76d0b-4d1f-44f5-8508-8653b2f54768" providerId="ADAL" clId="{5AA3B8CE-AFEA-44FA-ACCD-448CA31DFD0A}" dt="2026-04-07T22:23:14.271" v="14" actId="478"/>
          <ac:spMkLst>
            <pc:docMk/>
            <pc:sldMk cId="2901174089" sldId="603"/>
            <ac:spMk id="15" creationId="{D31F5FDD-EB16-6230-F808-1E53ACDB3C91}"/>
          </ac:spMkLst>
        </pc:spChg>
        <pc:spChg chg="mod">
          <ac:chgData name="Becca Levin" userId="08c76d0b-4d1f-44f5-8508-8653b2f54768" providerId="ADAL" clId="{5AA3B8CE-AFEA-44FA-ACCD-448CA31DFD0A}" dt="2026-04-08T15:51:55.078" v="109" actId="20577"/>
          <ac:spMkLst>
            <pc:docMk/>
            <pc:sldMk cId="2901174089" sldId="603"/>
            <ac:spMk id="222" creationId="{00000000-0000-0000-0000-000000000000}"/>
          </ac:spMkLst>
        </pc:spChg>
        <pc:extLst>
          <p:ext xmlns:p="http://schemas.openxmlformats.org/presentationml/2006/main" uri="{D6D511B9-2390-475A-947B-AFAB55BFBCF1}">
            <pc226:cmChg xmlns:pc226="http://schemas.microsoft.com/office/powerpoint/2022/06/main/command" chg="mod">
              <pc226:chgData name="Becca Levin" userId="08c76d0b-4d1f-44f5-8508-8653b2f54768" providerId="ADAL" clId="{5AA3B8CE-AFEA-44FA-ACCD-448CA31DFD0A}" dt="2026-04-08T15:51:01.138" v="95" actId="20577"/>
              <pc2:cmMkLst xmlns:pc2="http://schemas.microsoft.com/office/powerpoint/2019/9/main/command">
                <pc:docMk/>
                <pc:sldMk cId="2901174089" sldId="603"/>
                <pc2:cmMk id="{9AC22815-3D33-4A4C-97F3-9F50D37E86FE}"/>
              </pc2:cmMkLst>
            </pc226:cmChg>
            <pc226:cmChg xmlns:pc226="http://schemas.microsoft.com/office/powerpoint/2022/06/main/command" chg="mod">
              <pc226:chgData name="Becca Levin" userId="08c76d0b-4d1f-44f5-8508-8653b2f54768" providerId="ADAL" clId="{5AA3B8CE-AFEA-44FA-ACCD-448CA31DFD0A}" dt="2026-04-08T15:51:55.078" v="109" actId="20577"/>
              <pc2:cmMkLst xmlns:pc2="http://schemas.microsoft.com/office/powerpoint/2019/9/main/command">
                <pc:docMk/>
                <pc:sldMk cId="2901174089" sldId="603"/>
                <pc2:cmMk id="{81E17936-BBD1-4A46-A3A4-8E29C221DAFA}"/>
              </pc2:cmMkLst>
            </pc226:cmChg>
            <pc226:cmChg xmlns:pc226="http://schemas.microsoft.com/office/powerpoint/2022/06/main/command" chg="mod">
              <pc226:chgData name="Becca Levin" userId="08c76d0b-4d1f-44f5-8508-8653b2f54768" providerId="ADAL" clId="{5AA3B8CE-AFEA-44FA-ACCD-448CA31DFD0A}" dt="2026-04-08T15:51:55.078" v="109" actId="20577"/>
              <pc2:cmMkLst xmlns:pc2="http://schemas.microsoft.com/office/powerpoint/2019/9/main/command">
                <pc:docMk/>
                <pc:sldMk cId="2901174089" sldId="603"/>
                <pc2:cmMk id="{5625C48E-830A-8C47-AB3A-033975B84B14}"/>
              </pc2:cmMkLst>
            </pc226:cmChg>
          </p:ext>
        </pc:extLst>
      </pc:sldChg>
    </pc:docChg>
  </pc:docChgLst>
  <pc:docChgLst>
    <pc:chgData name="Kirstin Zettlitz" userId="ed94187f-4964-42f1-b936-14a5f47aff4a" providerId="ADAL" clId="{1058E6FE-068C-51C5-8910-E308FEC7BF85}"/>
    <pc:docChg chg="custSel modSld">
      <pc:chgData name="Kirstin Zettlitz" userId="ed94187f-4964-42f1-b936-14a5f47aff4a" providerId="ADAL" clId="{1058E6FE-068C-51C5-8910-E308FEC7BF85}" dt="2026-04-08T16:14:23.087" v="287" actId="20577"/>
      <pc:docMkLst>
        <pc:docMk/>
      </pc:docMkLst>
      <pc:sldChg chg="modSp mod">
        <pc:chgData name="Kirstin Zettlitz" userId="ed94187f-4964-42f1-b936-14a5f47aff4a" providerId="ADAL" clId="{1058E6FE-068C-51C5-8910-E308FEC7BF85}" dt="2026-04-08T16:13:30.310" v="285" actId="20577"/>
        <pc:sldMkLst>
          <pc:docMk/>
          <pc:sldMk cId="316585411" sldId="320"/>
        </pc:sldMkLst>
        <pc:spChg chg="mod">
          <ac:chgData name="Kirstin Zettlitz" userId="ed94187f-4964-42f1-b936-14a5f47aff4a" providerId="ADAL" clId="{1058E6FE-068C-51C5-8910-E308FEC7BF85}" dt="2026-04-08T16:13:30.310" v="285" actId="20577"/>
          <ac:spMkLst>
            <pc:docMk/>
            <pc:sldMk cId="316585411" sldId="320"/>
            <ac:spMk id="3" creationId="{29EBB01E-EA9E-72A9-2B21-8A3D4A654B2A}"/>
          </ac:spMkLst>
        </pc:spChg>
      </pc:sldChg>
      <pc:sldChg chg="modSp mod">
        <pc:chgData name="Kirstin Zettlitz" userId="ed94187f-4964-42f1-b936-14a5f47aff4a" providerId="ADAL" clId="{1058E6FE-068C-51C5-8910-E308FEC7BF85}" dt="2026-04-08T16:12:25.796" v="281" actId="113"/>
        <pc:sldMkLst>
          <pc:docMk/>
          <pc:sldMk cId="217644119" sldId="324"/>
        </pc:sldMkLst>
        <pc:spChg chg="mod">
          <ac:chgData name="Kirstin Zettlitz" userId="ed94187f-4964-42f1-b936-14a5f47aff4a" providerId="ADAL" clId="{1058E6FE-068C-51C5-8910-E308FEC7BF85}" dt="2026-04-08T16:12:25.796" v="281" actId="113"/>
          <ac:spMkLst>
            <pc:docMk/>
            <pc:sldMk cId="217644119" sldId="324"/>
            <ac:spMk id="18" creationId="{D6C45951-641D-7C75-E26D-4704AE4E574F}"/>
          </ac:spMkLst>
        </pc:spChg>
      </pc:sldChg>
      <pc:sldChg chg="modSp mod">
        <pc:chgData name="Kirstin Zettlitz" userId="ed94187f-4964-42f1-b936-14a5f47aff4a" providerId="ADAL" clId="{1058E6FE-068C-51C5-8910-E308FEC7BF85}" dt="2026-04-08T16:13:19.240" v="284" actId="113"/>
        <pc:sldMkLst>
          <pc:docMk/>
          <pc:sldMk cId="2268803212" sldId="521"/>
        </pc:sldMkLst>
        <pc:graphicFrameChg chg="modGraphic">
          <ac:chgData name="Kirstin Zettlitz" userId="ed94187f-4964-42f1-b936-14a5f47aff4a" providerId="ADAL" clId="{1058E6FE-068C-51C5-8910-E308FEC7BF85}" dt="2026-04-08T16:13:19.240" v="284" actId="113"/>
          <ac:graphicFrameMkLst>
            <pc:docMk/>
            <pc:sldMk cId="2268803212" sldId="521"/>
            <ac:graphicFrameMk id="17" creationId="{781C066A-C181-F149-F5AF-5C9656E98473}"/>
          </ac:graphicFrameMkLst>
        </pc:graphicFrameChg>
      </pc:sldChg>
      <pc:sldChg chg="modSp mod">
        <pc:chgData name="Kirstin Zettlitz" userId="ed94187f-4964-42f1-b936-14a5f47aff4a" providerId="ADAL" clId="{1058E6FE-068C-51C5-8910-E308FEC7BF85}" dt="2026-04-08T15:24:35.661" v="4" actId="20577"/>
        <pc:sldMkLst>
          <pc:docMk/>
          <pc:sldMk cId="1951833656" sldId="585"/>
        </pc:sldMkLst>
        <pc:spChg chg="mod">
          <ac:chgData name="Kirstin Zettlitz" userId="ed94187f-4964-42f1-b936-14a5f47aff4a" providerId="ADAL" clId="{1058E6FE-068C-51C5-8910-E308FEC7BF85}" dt="2026-04-08T15:24:35.661" v="4" actId="20577"/>
          <ac:spMkLst>
            <pc:docMk/>
            <pc:sldMk cId="1951833656" sldId="585"/>
            <ac:spMk id="20" creationId="{9544F0AD-49B2-31CF-C507-01C3571C1A7A}"/>
          </ac:spMkLst>
        </pc:spChg>
      </pc:sldChg>
      <pc:sldChg chg="modSp mod modCm">
        <pc:chgData name="Kirstin Zettlitz" userId="ed94187f-4964-42f1-b936-14a5f47aff4a" providerId="ADAL" clId="{1058E6FE-068C-51C5-8910-E308FEC7BF85}" dt="2026-04-08T16:14:23.087" v="287" actId="20577"/>
        <pc:sldMkLst>
          <pc:docMk/>
          <pc:sldMk cId="2901174089" sldId="603"/>
        </pc:sldMkLst>
        <pc:spChg chg="mod">
          <ac:chgData name="Kirstin Zettlitz" userId="ed94187f-4964-42f1-b936-14a5f47aff4a" providerId="ADAL" clId="{1058E6FE-068C-51C5-8910-E308FEC7BF85}" dt="2026-04-08T16:14:23.087" v="287" actId="20577"/>
          <ac:spMkLst>
            <pc:docMk/>
            <pc:sldMk cId="2901174089" sldId="603"/>
            <ac:spMk id="222" creationId="{00000000-0000-0000-0000-000000000000}"/>
          </ac:spMkLst>
        </pc:spChg>
        <pc:extLst>
          <p:ext xmlns:p="http://schemas.openxmlformats.org/presentationml/2006/main" uri="{D6D511B9-2390-475A-947B-AFAB55BFBCF1}">
            <pc226:cmChg xmlns:pc226="http://schemas.microsoft.com/office/powerpoint/2022/06/main/command" chg="mod">
              <pc226:chgData name="Kirstin Zettlitz" userId="ed94187f-4964-42f1-b936-14a5f47aff4a" providerId="ADAL" clId="{1058E6FE-068C-51C5-8910-E308FEC7BF85}" dt="2026-04-08T15:48:42.511" v="279" actId="20577"/>
              <pc2:cmMkLst xmlns:pc2="http://schemas.microsoft.com/office/powerpoint/2019/9/main/command">
                <pc:docMk/>
                <pc:sldMk cId="2901174089" sldId="603"/>
                <pc2:cmMk id="{9AC22815-3D33-4A4C-97F3-9F50D37E86FE}"/>
              </pc2:cmMkLst>
            </pc226:cmChg>
            <pc226:cmChg xmlns:pc226="http://schemas.microsoft.com/office/powerpoint/2022/06/main/command" chg="mod">
              <pc226:chgData name="Kirstin Zettlitz" userId="ed94187f-4964-42f1-b936-14a5f47aff4a" providerId="ADAL" clId="{1058E6FE-068C-51C5-8910-E308FEC7BF85}" dt="2026-04-08T15:48:42.511" v="279" actId="20577"/>
              <pc2:cmMkLst xmlns:pc2="http://schemas.microsoft.com/office/powerpoint/2019/9/main/command">
                <pc:docMk/>
                <pc:sldMk cId="2901174089" sldId="603"/>
                <pc2:cmMk id="{5625C48E-830A-8C47-AB3A-033975B84B14}"/>
              </pc2:cmMkLst>
            </pc226:cmChg>
          </p:ext>
        </pc:extLst>
      </pc:sldChg>
    </pc:docChg>
  </pc:docChgLst>
</pc:chgInfo>
</file>

<file path=ppt/comments/modernComment_140_12DEB5C3.xml><?xml version="1.0" encoding="utf-8"?>
<p188:cmLst xmlns:a="http://schemas.openxmlformats.org/drawingml/2006/main" xmlns:r="http://schemas.openxmlformats.org/officeDocument/2006/relationships" xmlns:p188="http://schemas.microsoft.com/office/powerpoint/2018/8/main">
  <p188:cm id="{F447AB9A-2F3A-4F93-B419-EAF214B3389F}" authorId="{1B2CCED9-E761-A789-87FA-8A8BE5E75A61}" status="resolved" created="2025-12-02T20:08:55.093">
    <pc:sldMkLst xmlns:pc="http://schemas.microsoft.com/office/powerpoint/2013/main/command">
      <pc:docMk/>
      <pc:sldMk cId="316585411" sldId="320"/>
    </pc:sldMkLst>
    <p188:replyLst>
      <p188:reply id="{476BE2DA-C8D8-4B16-B268-4468144D0C56}" authorId="{43E7231E-D65A-7660-884F-A801964A74DA}" created="2025-12-02T21:26:44.615">
        <p188:txBody>
          <a:bodyPr/>
          <a:lstStyle/>
          <a:p>
            <a:r>
              <a:rPr lang="en-US"/>
              <a:t>Fair enough. This deck is rough. Will update. </a:t>
            </a:r>
          </a:p>
        </p188:txBody>
      </p188:reply>
    </p188:replyLst>
    <p188:txBody>
      <a:bodyPr/>
      <a:lstStyle/>
      <a:p>
        <a:r>
          <a:rPr lang="en-GB"/>
          <a:t>Why? You haven't addressed this in the slide. In the text you don't spell out how it works in cancer - why is there native peptide so I have no idea why its ideal for RLT?</a:t>
        </a:r>
      </a:p>
    </p188:txBody>
  </p188:cm>
</p188:cmLst>
</file>

<file path=ppt/comments/modernComment_145_9B68041D.xml><?xml version="1.0" encoding="utf-8"?>
<p188:cmLst xmlns:a="http://schemas.openxmlformats.org/drawingml/2006/main" xmlns:r="http://schemas.openxmlformats.org/officeDocument/2006/relationships" xmlns:p188="http://schemas.microsoft.com/office/powerpoint/2018/8/main">
  <p188:cm id="{4345B4D4-6732-4DD7-B2EC-0F67835FD1A6}" authorId="{1B2CCED9-E761-A789-87FA-8A8BE5E75A61}" status="resolved" created="2025-12-02T20:09:11.921">
    <ac:txMkLst xmlns:ac="http://schemas.microsoft.com/office/drawing/2013/main/command">
      <pc:docMk xmlns:pc="http://schemas.microsoft.com/office/powerpoint/2013/main/command"/>
      <pc:sldMk xmlns:pc="http://schemas.microsoft.com/office/powerpoint/2013/main/command" cId="2607285277" sldId="325"/>
      <ac:graphicFrameMk id="3" creationId="{1125229E-ED19-79C4-5773-14EA17F03C0D}"/>
      <ac:tblMk/>
      <ac:tcMk rowId="3367172331" colId="2413661414"/>
      <ac:txMk cp="180">
        <ac:context len="181" hash="2050757562"/>
      </ac:txMk>
    </ac:txMkLst>
    <p188:replyLst>
      <p188:reply id="{2A92330F-1EFF-46E5-A1D7-7448B13ABC47}" authorId="{43E7231E-D65A-7660-884F-A801964A74DA}" created="2025-12-02T21:27:16.405">
        <p188:txBody>
          <a:bodyPr/>
          <a:lstStyle/>
          <a:p>
            <a:r>
              <a:rPr lang="en-US"/>
              <a:t>Will do
</a:t>
            </a:r>
          </a:p>
        </p188:txBody>
      </p188:reply>
    </p188:replyLst>
    <p188:txBody>
      <a:bodyPr/>
      <a:lstStyle/>
      <a:p>
        <a:r>
          <a:rPr lang="en-GB"/>
          <a:t>Define low?</a:t>
        </a:r>
      </a:p>
    </p188:txBody>
  </p188:cm>
</p188:cmLst>
</file>

<file path=ppt/comments/modernComment_209_873B308C.xml><?xml version="1.0" encoding="utf-8"?>
<p188:cmLst xmlns:a="http://schemas.openxmlformats.org/drawingml/2006/main" xmlns:r="http://schemas.openxmlformats.org/officeDocument/2006/relationships" xmlns:p188="http://schemas.microsoft.com/office/powerpoint/2018/8/main">
  <p188:cm id="{F8619E29-7692-4FDC-AC03-C6FFC0F5B17D}" authorId="{1B2CCED9-E761-A789-87FA-8A8BE5E75A61}" status="resolved" created="2025-12-02T20:09:11.921">
    <ac:txMkLst xmlns:ac="http://schemas.microsoft.com/office/drawing/2013/main/command">
      <pc:docMk xmlns:pc="http://schemas.microsoft.com/office/powerpoint/2013/main/command"/>
      <pc:sldMk xmlns:pc="http://schemas.microsoft.com/office/powerpoint/2013/main/command" cId="2268803212" sldId="521"/>
      <ac:graphicFrameMk id="3" creationId="{000667A5-0938-1EAB-8E45-5090A8BA4CB1}"/>
      <ac:tblMk/>
      <ac:tcMk rowId="3367172331" colId="2413661414"/>
      <ac:txMk cp="180">
        <ac:context len="181" hash="2050757562"/>
      </ac:txMk>
    </ac:txMkLst>
    <p188:pos x="8703325" y="486578"/>
    <p188:replyLst>
      <p188:reply id="{2A92330F-1EFF-46E5-A1D7-7448B13ABC47}" authorId="{43E7231E-D65A-7660-884F-A801964A74DA}" created="2025-12-02T21:27:16.405">
        <p188:txBody>
          <a:bodyPr/>
          <a:lstStyle/>
          <a:p>
            <a:r>
              <a:rPr lang="en-US"/>
              <a:t>Will do
</a:t>
            </a:r>
          </a:p>
        </p188:txBody>
      </p188:reply>
    </p188:replyLst>
    <p188:txBody>
      <a:bodyPr/>
      <a:lstStyle/>
      <a:p>
        <a:r>
          <a:rPr lang="en-GB"/>
          <a:t>Define low?</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C1A7D1-76FD-4BAB-AC03-1DCA1B302F45}" type="datetimeFigureOut">
              <a:rPr lang="en-US" smtClean="0"/>
              <a:t>4/8/26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2962B2-92D8-443D-941E-E97DEF24C979}" type="slidenum">
              <a:rPr lang="en-US" smtClean="0"/>
              <a:t>‹#›</a:t>
            </a:fld>
            <a:endParaRPr lang="en-US"/>
          </a:p>
        </p:txBody>
      </p:sp>
    </p:spTree>
    <p:extLst>
      <p:ext uri="{BB962C8B-B14F-4D97-AF65-F5344CB8AC3E}">
        <p14:creationId xmlns:p14="http://schemas.microsoft.com/office/powerpoint/2010/main" val="2824437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03A3D8-CA18-4489-9241-CA705B005370}"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36060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45662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8F004-85FB-70E0-DC29-745C54076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698E15-3E20-73E9-D809-320D642755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BE0BD-7B84-6E87-5A0B-E225C80CE5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1E5457-F35F-3584-7FC2-8D6199F2FC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06670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0382149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CDB6738-640A-285C-80F7-EBA40DE8F0C0}"/>
              </a:ext>
            </a:extLst>
          </p:cNvPr>
          <p:cNvSpPr/>
          <p:nvPr/>
        </p:nvSpPr>
        <p:spPr>
          <a:xfrm>
            <a:off x="-198582" y="-692727"/>
            <a:ext cx="12589164" cy="69365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51204C1-E901-AD77-DE7C-59D21226D74D}"/>
              </a:ext>
            </a:extLst>
          </p:cNvPr>
          <p:cNvSpPr>
            <a:spLocks noGrp="1"/>
          </p:cNvSpPr>
          <p:nvPr>
            <p:ph type="ctrTitle"/>
          </p:nvPr>
        </p:nvSpPr>
        <p:spPr>
          <a:xfrm>
            <a:off x="629515" y="1122363"/>
            <a:ext cx="10038485" cy="1870219"/>
          </a:xfrm>
        </p:spPr>
        <p:txBody>
          <a:bodyPr anchor="b">
            <a:normAutofit/>
          </a:bodyPr>
          <a:lstStyle>
            <a:lvl1pPr algn="l">
              <a:defRPr sz="36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06926440-34FF-6B8F-F8AA-3CB4F6F9D0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C9C4D9-2245-6A45-3A6B-9AC657259F5F}"/>
              </a:ext>
            </a:extLst>
          </p:cNvPr>
          <p:cNvSpPr>
            <a:spLocks noGrp="1"/>
          </p:cNvSpPr>
          <p:nvPr>
            <p:ph type="dt" sz="half" idx="10"/>
          </p:nvPr>
        </p:nvSpPr>
        <p:spPr>
          <a:xfrm>
            <a:off x="838200" y="6356350"/>
            <a:ext cx="2743200" cy="365125"/>
          </a:xfrm>
          <a:prstGeom prst="rect">
            <a:avLst/>
          </a:prstGeom>
        </p:spPr>
        <p:txBody>
          <a:bodyPr anchor="ctr"/>
          <a:lstStyle>
            <a:lvl1pPr>
              <a:defRPr sz="1200">
                <a:solidFill>
                  <a:schemeClr val="tx1"/>
                </a:solidFill>
              </a:defRPr>
            </a:lvl1pPr>
          </a:lstStyle>
          <a:p>
            <a:fld id="{6E66945E-E29C-4A10-8917-9BE476573A98}" type="datetimeFigureOut">
              <a:rPr lang="en-US" smtClean="0"/>
              <a:t>4/8/26</a:t>
            </a:fld>
            <a:endParaRPr lang="en-US"/>
          </a:p>
        </p:txBody>
      </p:sp>
      <p:sp>
        <p:nvSpPr>
          <p:cNvPr id="5" name="Footer Placeholder 4">
            <a:extLst>
              <a:ext uri="{FF2B5EF4-FFF2-40B4-BE49-F238E27FC236}">
                <a16:creationId xmlns:a16="http://schemas.microsoft.com/office/drawing/2014/main" id="{2EE75429-B4D5-78E5-BD9B-CC1E613A41C9}"/>
              </a:ext>
            </a:extLst>
          </p:cNvPr>
          <p:cNvSpPr>
            <a:spLocks noGrp="1"/>
          </p:cNvSpPr>
          <p:nvPr>
            <p:ph type="ftr" sz="quarter" idx="11"/>
          </p:nvPr>
        </p:nvSpPr>
        <p:spPr/>
        <p:txBody>
          <a:bodyPr anchor="ctr"/>
          <a:lstStyle>
            <a:lvl1pPr>
              <a:defRPr sz="12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5709ECA2-FE9B-B45C-BC7B-112303A0EFF0}"/>
              </a:ext>
            </a:extLst>
          </p:cNvPr>
          <p:cNvSpPr>
            <a:spLocks noGrp="1"/>
          </p:cNvSpPr>
          <p:nvPr>
            <p:ph type="sldNum" sz="quarter" idx="12"/>
          </p:nvPr>
        </p:nvSpPr>
        <p:spPr/>
        <p:txBody>
          <a:bodyPr anchor="ctr"/>
          <a:lstStyle>
            <a:lvl1pPr>
              <a:defRPr sz="1200">
                <a:solidFill>
                  <a:schemeClr val="tx1"/>
                </a:solidFill>
              </a:defRPr>
            </a:lvl1pPr>
          </a:lstStyle>
          <a:p>
            <a:fld id="{F4CFF174-0C8B-41F2-9A46-1C3276C99A0F}" type="slidenum">
              <a:rPr lang="en-US" smtClean="0"/>
              <a:t>‹#›</a:t>
            </a:fld>
            <a:endParaRPr lang="en-US"/>
          </a:p>
        </p:txBody>
      </p:sp>
      <p:sp>
        <p:nvSpPr>
          <p:cNvPr id="8" name="Shape 1">
            <a:extLst>
              <a:ext uri="{FF2B5EF4-FFF2-40B4-BE49-F238E27FC236}">
                <a16:creationId xmlns:a16="http://schemas.microsoft.com/office/drawing/2014/main" id="{736AE9BE-8563-C614-00B9-06D671AECD41}"/>
              </a:ext>
            </a:extLst>
          </p:cNvPr>
          <p:cNvSpPr/>
          <p:nvPr/>
        </p:nvSpPr>
        <p:spPr>
          <a:xfrm>
            <a:off x="457200" y="457200"/>
            <a:ext cx="871538" cy="300038"/>
          </a:xfrm>
          <a:prstGeom prst="rect">
            <a:avLst/>
          </a:prstGeom>
          <a:noFill/>
          <a:ln/>
        </p:spPr>
        <p:txBody>
          <a:bodyPr/>
          <a:lstStyle/>
          <a:p>
            <a:endParaRPr lang="en-US"/>
          </a:p>
        </p:txBody>
      </p:sp>
      <p:pic>
        <p:nvPicPr>
          <p:cNvPr id="9" name="Image 0" descr="preencoded.png">
            <a:extLst>
              <a:ext uri="{FF2B5EF4-FFF2-40B4-BE49-F238E27FC236}">
                <a16:creationId xmlns:a16="http://schemas.microsoft.com/office/drawing/2014/main" id="{52968D7F-126F-2166-45E4-5006D0BF4F4B}"/>
              </a:ext>
            </a:extLst>
          </p:cNvPr>
          <p:cNvPicPr>
            <a:picLocks noChangeAspect="1"/>
          </p:cNvPicPr>
          <p:nvPr/>
        </p:nvPicPr>
        <p:blipFill>
          <a:blip r:embed="rId2"/>
          <a:stretch>
            <a:fillRect/>
          </a:stretch>
        </p:blipFill>
        <p:spPr>
          <a:xfrm>
            <a:off x="525823" y="457200"/>
            <a:ext cx="154974" cy="188378"/>
          </a:xfrm>
          <a:prstGeom prst="rect">
            <a:avLst/>
          </a:prstGeom>
        </p:spPr>
      </p:pic>
      <p:pic>
        <p:nvPicPr>
          <p:cNvPr id="10" name="Image 1" descr="preencoded.png">
            <a:extLst>
              <a:ext uri="{FF2B5EF4-FFF2-40B4-BE49-F238E27FC236}">
                <a16:creationId xmlns:a16="http://schemas.microsoft.com/office/drawing/2014/main" id="{C4C8A8BD-F576-4C5F-081D-87C0BB3B6AFE}"/>
              </a:ext>
            </a:extLst>
          </p:cNvPr>
          <p:cNvPicPr>
            <a:picLocks noChangeAspect="1"/>
          </p:cNvPicPr>
          <p:nvPr/>
        </p:nvPicPr>
        <p:blipFill>
          <a:blip r:embed="rId3"/>
          <a:stretch>
            <a:fillRect/>
          </a:stretch>
        </p:blipFill>
        <p:spPr>
          <a:xfrm>
            <a:off x="588558" y="659529"/>
            <a:ext cx="959" cy="5"/>
          </a:xfrm>
          <a:prstGeom prst="rect">
            <a:avLst/>
          </a:prstGeom>
        </p:spPr>
      </p:pic>
      <p:pic>
        <p:nvPicPr>
          <p:cNvPr id="11" name="Image 2" descr="preencoded.png">
            <a:extLst>
              <a:ext uri="{FF2B5EF4-FFF2-40B4-BE49-F238E27FC236}">
                <a16:creationId xmlns:a16="http://schemas.microsoft.com/office/drawing/2014/main" id="{1E7B4B12-C9E4-E155-3993-625F6FB1E12B}"/>
              </a:ext>
            </a:extLst>
          </p:cNvPr>
          <p:cNvPicPr>
            <a:picLocks noChangeAspect="1"/>
          </p:cNvPicPr>
          <p:nvPr/>
        </p:nvPicPr>
        <p:blipFill>
          <a:blip r:embed="rId3"/>
          <a:stretch>
            <a:fillRect/>
          </a:stretch>
        </p:blipFill>
        <p:spPr>
          <a:xfrm>
            <a:off x="588274" y="659533"/>
            <a:ext cx="287" cy="5"/>
          </a:xfrm>
          <a:prstGeom prst="rect">
            <a:avLst/>
          </a:prstGeom>
        </p:spPr>
      </p:pic>
      <p:pic>
        <p:nvPicPr>
          <p:cNvPr id="12" name="Image 3" descr="preencoded.png">
            <a:extLst>
              <a:ext uri="{FF2B5EF4-FFF2-40B4-BE49-F238E27FC236}">
                <a16:creationId xmlns:a16="http://schemas.microsoft.com/office/drawing/2014/main" id="{B92E9DCB-F21C-04F7-5F55-34618D4762DB}"/>
              </a:ext>
            </a:extLst>
          </p:cNvPr>
          <p:cNvPicPr>
            <a:picLocks noChangeAspect="1"/>
          </p:cNvPicPr>
          <p:nvPr/>
        </p:nvPicPr>
        <p:blipFill>
          <a:blip r:embed="rId3"/>
          <a:stretch>
            <a:fillRect/>
          </a:stretch>
        </p:blipFill>
        <p:spPr>
          <a:xfrm>
            <a:off x="590747" y="673402"/>
            <a:ext cx="465" cy="5"/>
          </a:xfrm>
          <a:prstGeom prst="rect">
            <a:avLst/>
          </a:prstGeom>
        </p:spPr>
      </p:pic>
      <p:pic>
        <p:nvPicPr>
          <p:cNvPr id="13" name="Image 4" descr="preencoded.png">
            <a:extLst>
              <a:ext uri="{FF2B5EF4-FFF2-40B4-BE49-F238E27FC236}">
                <a16:creationId xmlns:a16="http://schemas.microsoft.com/office/drawing/2014/main" id="{2B422FB9-16AE-8A52-AFD0-F5C0D4C97B71}"/>
              </a:ext>
            </a:extLst>
          </p:cNvPr>
          <p:cNvPicPr>
            <a:picLocks noChangeAspect="1"/>
          </p:cNvPicPr>
          <p:nvPr/>
        </p:nvPicPr>
        <p:blipFill>
          <a:blip r:embed="rId4"/>
          <a:stretch>
            <a:fillRect/>
          </a:stretch>
        </p:blipFill>
        <p:spPr>
          <a:xfrm>
            <a:off x="799143" y="507676"/>
            <a:ext cx="135918" cy="199280"/>
          </a:xfrm>
          <a:prstGeom prst="rect">
            <a:avLst/>
          </a:prstGeom>
        </p:spPr>
      </p:pic>
      <p:pic>
        <p:nvPicPr>
          <p:cNvPr id="14" name="Image 5" descr="preencoded.png">
            <a:extLst>
              <a:ext uri="{FF2B5EF4-FFF2-40B4-BE49-F238E27FC236}">
                <a16:creationId xmlns:a16="http://schemas.microsoft.com/office/drawing/2014/main" id="{0AE362E8-2180-4F33-99E9-3A63658A556C}"/>
              </a:ext>
            </a:extLst>
          </p:cNvPr>
          <p:cNvPicPr>
            <a:picLocks noChangeAspect="1"/>
          </p:cNvPicPr>
          <p:nvPr/>
        </p:nvPicPr>
        <p:blipFill>
          <a:blip r:embed="rId5"/>
          <a:stretch>
            <a:fillRect/>
          </a:stretch>
        </p:blipFill>
        <p:spPr>
          <a:xfrm>
            <a:off x="940416" y="562009"/>
            <a:ext cx="124990" cy="144942"/>
          </a:xfrm>
          <a:prstGeom prst="rect">
            <a:avLst/>
          </a:prstGeom>
        </p:spPr>
      </p:pic>
      <p:pic>
        <p:nvPicPr>
          <p:cNvPr id="15" name="Image 6" descr="preencoded.png">
            <a:extLst>
              <a:ext uri="{FF2B5EF4-FFF2-40B4-BE49-F238E27FC236}">
                <a16:creationId xmlns:a16="http://schemas.microsoft.com/office/drawing/2014/main" id="{05260289-CF13-CF9A-74AC-86175E6B59E7}"/>
              </a:ext>
            </a:extLst>
          </p:cNvPr>
          <p:cNvPicPr>
            <a:picLocks noChangeAspect="1"/>
          </p:cNvPicPr>
          <p:nvPr/>
        </p:nvPicPr>
        <p:blipFill>
          <a:blip r:embed="rId6"/>
          <a:stretch>
            <a:fillRect/>
          </a:stretch>
        </p:blipFill>
        <p:spPr>
          <a:xfrm>
            <a:off x="1068347" y="561991"/>
            <a:ext cx="130069" cy="195247"/>
          </a:xfrm>
          <a:prstGeom prst="rect">
            <a:avLst/>
          </a:prstGeom>
        </p:spPr>
      </p:pic>
      <p:pic>
        <p:nvPicPr>
          <p:cNvPr id="16" name="Image 7" descr="preencoded.png">
            <a:extLst>
              <a:ext uri="{FF2B5EF4-FFF2-40B4-BE49-F238E27FC236}">
                <a16:creationId xmlns:a16="http://schemas.microsoft.com/office/drawing/2014/main" id="{58C28360-A6BE-8081-38E0-A8C32A75C7C3}"/>
              </a:ext>
            </a:extLst>
          </p:cNvPr>
          <p:cNvPicPr>
            <a:picLocks noChangeAspect="1"/>
          </p:cNvPicPr>
          <p:nvPr/>
        </p:nvPicPr>
        <p:blipFill>
          <a:blip r:embed="rId7"/>
          <a:stretch>
            <a:fillRect/>
          </a:stretch>
        </p:blipFill>
        <p:spPr>
          <a:xfrm>
            <a:off x="1194934" y="562005"/>
            <a:ext cx="133799" cy="144942"/>
          </a:xfrm>
          <a:prstGeom prst="rect">
            <a:avLst/>
          </a:prstGeom>
        </p:spPr>
      </p:pic>
      <p:pic>
        <p:nvPicPr>
          <p:cNvPr id="17" name="Image 8" descr="preencoded.png">
            <a:extLst>
              <a:ext uri="{FF2B5EF4-FFF2-40B4-BE49-F238E27FC236}">
                <a16:creationId xmlns:a16="http://schemas.microsoft.com/office/drawing/2014/main" id="{ECBAAB9E-CDC2-0FF4-C755-D815B2BB5F78}"/>
              </a:ext>
            </a:extLst>
          </p:cNvPr>
          <p:cNvPicPr>
            <a:picLocks noChangeAspect="1"/>
          </p:cNvPicPr>
          <p:nvPr/>
        </p:nvPicPr>
        <p:blipFill>
          <a:blip r:embed="rId8"/>
          <a:stretch>
            <a:fillRect/>
          </a:stretch>
        </p:blipFill>
        <p:spPr>
          <a:xfrm>
            <a:off x="577092" y="577653"/>
            <a:ext cx="172315" cy="155106"/>
          </a:xfrm>
          <a:prstGeom prst="rect">
            <a:avLst/>
          </a:prstGeom>
        </p:spPr>
      </p:pic>
      <p:pic>
        <p:nvPicPr>
          <p:cNvPr id="18" name="Image 9" descr="preencoded.png">
            <a:extLst>
              <a:ext uri="{FF2B5EF4-FFF2-40B4-BE49-F238E27FC236}">
                <a16:creationId xmlns:a16="http://schemas.microsoft.com/office/drawing/2014/main" id="{58320A9F-196A-AE77-A484-B6E5D507A6DA}"/>
              </a:ext>
            </a:extLst>
          </p:cNvPr>
          <p:cNvPicPr>
            <a:picLocks noChangeAspect="1"/>
          </p:cNvPicPr>
          <p:nvPr/>
        </p:nvPicPr>
        <p:blipFill>
          <a:blip r:embed="rId9"/>
          <a:stretch>
            <a:fillRect/>
          </a:stretch>
        </p:blipFill>
        <p:spPr>
          <a:xfrm>
            <a:off x="457200" y="577648"/>
            <a:ext cx="172315" cy="155113"/>
          </a:xfrm>
          <a:prstGeom prst="rect">
            <a:avLst/>
          </a:prstGeom>
        </p:spPr>
      </p:pic>
    </p:spTree>
    <p:extLst>
      <p:ext uri="{BB962C8B-B14F-4D97-AF65-F5344CB8AC3E}">
        <p14:creationId xmlns:p14="http://schemas.microsoft.com/office/powerpoint/2010/main" val="3520703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91E4-0767-757A-6C26-F8C974F5D36E}"/>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77FBE57-1EB4-8357-C896-4AAAD6BCA147}"/>
              </a:ext>
            </a:extLst>
          </p:cNvPr>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8CFE290-1BA8-4866-A227-485B2A5364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AA9728-BA0F-E899-0CAD-26BC15062FEB}"/>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7" name="Shape 5">
            <a:extLst>
              <a:ext uri="{FF2B5EF4-FFF2-40B4-BE49-F238E27FC236}">
                <a16:creationId xmlns:a16="http://schemas.microsoft.com/office/drawing/2014/main" id="{3309DD90-9BA0-57EA-6D6E-750F1C324FC8}"/>
              </a:ext>
            </a:extLst>
          </p:cNvPr>
          <p:cNvSpPr/>
          <p:nvPr/>
        </p:nvSpPr>
        <p:spPr>
          <a:xfrm>
            <a:off x="190500" y="190500"/>
            <a:ext cx="661988" cy="228600"/>
          </a:xfrm>
          <a:prstGeom prst="rect">
            <a:avLst/>
          </a:prstGeom>
          <a:noFill/>
          <a:ln/>
        </p:spPr>
        <p:txBody>
          <a:bodyPr/>
          <a:lstStyle/>
          <a:p>
            <a:endParaRPr lang="en-US"/>
          </a:p>
        </p:txBody>
      </p:sp>
      <p:pic>
        <p:nvPicPr>
          <p:cNvPr id="8" name="Image 3" descr="preencoded.png">
            <a:extLst>
              <a:ext uri="{FF2B5EF4-FFF2-40B4-BE49-F238E27FC236}">
                <a16:creationId xmlns:a16="http://schemas.microsoft.com/office/drawing/2014/main" id="{B77A0BCF-864C-10EA-E989-AF59B941C2EF}"/>
              </a:ext>
            </a:extLst>
          </p:cNvPr>
          <p:cNvPicPr>
            <a:picLocks noChangeAspect="1"/>
          </p:cNvPicPr>
          <p:nvPr/>
        </p:nvPicPr>
        <p:blipFill>
          <a:blip r:embed="rId2"/>
          <a:stretch>
            <a:fillRect/>
          </a:stretch>
        </p:blipFill>
        <p:spPr>
          <a:xfrm>
            <a:off x="242624" y="190500"/>
            <a:ext cx="117713" cy="143526"/>
          </a:xfrm>
          <a:prstGeom prst="rect">
            <a:avLst/>
          </a:prstGeom>
        </p:spPr>
      </p:pic>
      <p:pic>
        <p:nvPicPr>
          <p:cNvPr id="9" name="Image 4" descr="preencoded.png">
            <a:extLst>
              <a:ext uri="{FF2B5EF4-FFF2-40B4-BE49-F238E27FC236}">
                <a16:creationId xmlns:a16="http://schemas.microsoft.com/office/drawing/2014/main" id="{21522D1E-FB95-FAF3-8759-A99853816295}"/>
              </a:ext>
            </a:extLst>
          </p:cNvPr>
          <p:cNvPicPr>
            <a:picLocks noChangeAspect="1"/>
          </p:cNvPicPr>
          <p:nvPr/>
        </p:nvPicPr>
        <p:blipFill>
          <a:blip r:embed="rId3"/>
          <a:stretch>
            <a:fillRect/>
          </a:stretch>
        </p:blipFill>
        <p:spPr>
          <a:xfrm>
            <a:off x="290275" y="344655"/>
            <a:ext cx="728" cy="3"/>
          </a:xfrm>
          <a:prstGeom prst="rect">
            <a:avLst/>
          </a:prstGeom>
        </p:spPr>
      </p:pic>
      <p:pic>
        <p:nvPicPr>
          <p:cNvPr id="10" name="Image 5" descr="preencoded.png">
            <a:extLst>
              <a:ext uri="{FF2B5EF4-FFF2-40B4-BE49-F238E27FC236}">
                <a16:creationId xmlns:a16="http://schemas.microsoft.com/office/drawing/2014/main" id="{AA1C6DF3-B2B0-D505-0322-4A74DD286D1E}"/>
              </a:ext>
            </a:extLst>
          </p:cNvPr>
          <p:cNvPicPr>
            <a:picLocks noChangeAspect="1"/>
          </p:cNvPicPr>
          <p:nvPr/>
        </p:nvPicPr>
        <p:blipFill>
          <a:blip r:embed="rId3"/>
          <a:stretch>
            <a:fillRect/>
          </a:stretch>
        </p:blipFill>
        <p:spPr>
          <a:xfrm>
            <a:off x="290059" y="344659"/>
            <a:ext cx="216" cy="3"/>
          </a:xfrm>
          <a:prstGeom prst="rect">
            <a:avLst/>
          </a:prstGeom>
        </p:spPr>
      </p:pic>
      <p:pic>
        <p:nvPicPr>
          <p:cNvPr id="11" name="Image 6" descr="preencoded.png">
            <a:extLst>
              <a:ext uri="{FF2B5EF4-FFF2-40B4-BE49-F238E27FC236}">
                <a16:creationId xmlns:a16="http://schemas.microsoft.com/office/drawing/2014/main" id="{74BB9666-7E16-7635-EFAA-9FE0AADA9DE0}"/>
              </a:ext>
            </a:extLst>
          </p:cNvPr>
          <p:cNvPicPr>
            <a:picLocks noChangeAspect="1"/>
          </p:cNvPicPr>
          <p:nvPr/>
        </p:nvPicPr>
        <p:blipFill>
          <a:blip r:embed="rId3"/>
          <a:stretch>
            <a:fillRect/>
          </a:stretch>
        </p:blipFill>
        <p:spPr>
          <a:xfrm>
            <a:off x="291937" y="355225"/>
            <a:ext cx="352" cy="3"/>
          </a:xfrm>
          <a:prstGeom prst="rect">
            <a:avLst/>
          </a:prstGeom>
        </p:spPr>
      </p:pic>
      <p:pic>
        <p:nvPicPr>
          <p:cNvPr id="12" name="Image 7" descr="preencoded.png">
            <a:extLst>
              <a:ext uri="{FF2B5EF4-FFF2-40B4-BE49-F238E27FC236}">
                <a16:creationId xmlns:a16="http://schemas.microsoft.com/office/drawing/2014/main" id="{7B200AFC-D38E-A7C9-8B60-2AA285B679CB}"/>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3" name="Image 8" descr="preencoded.png">
            <a:extLst>
              <a:ext uri="{FF2B5EF4-FFF2-40B4-BE49-F238E27FC236}">
                <a16:creationId xmlns:a16="http://schemas.microsoft.com/office/drawing/2014/main" id="{B4489371-CEE9-45CF-DAB8-D9E30AE7784E}"/>
              </a:ext>
            </a:extLst>
          </p:cNvPr>
          <p:cNvPicPr>
            <a:picLocks noChangeAspect="1"/>
          </p:cNvPicPr>
          <p:nvPr/>
        </p:nvPicPr>
        <p:blipFill>
          <a:blip r:embed="rId5"/>
          <a:stretch>
            <a:fillRect/>
          </a:stretch>
        </p:blipFill>
        <p:spPr>
          <a:xfrm>
            <a:off x="557532" y="270355"/>
            <a:ext cx="94938" cy="110432"/>
          </a:xfrm>
          <a:prstGeom prst="rect">
            <a:avLst/>
          </a:prstGeom>
        </p:spPr>
      </p:pic>
      <p:pic>
        <p:nvPicPr>
          <p:cNvPr id="14" name="Image 9" descr="preencoded.png">
            <a:extLst>
              <a:ext uri="{FF2B5EF4-FFF2-40B4-BE49-F238E27FC236}">
                <a16:creationId xmlns:a16="http://schemas.microsoft.com/office/drawing/2014/main" id="{073A8A60-1964-06AA-7C7B-D0BF8602401C}"/>
              </a:ext>
            </a:extLst>
          </p:cNvPr>
          <p:cNvPicPr>
            <a:picLocks noChangeAspect="1"/>
          </p:cNvPicPr>
          <p:nvPr/>
        </p:nvPicPr>
        <p:blipFill>
          <a:blip r:embed="rId6"/>
          <a:stretch>
            <a:fillRect/>
          </a:stretch>
        </p:blipFill>
        <p:spPr>
          <a:xfrm>
            <a:off x="654704" y="270341"/>
            <a:ext cx="98795" cy="148759"/>
          </a:xfrm>
          <a:prstGeom prst="rect">
            <a:avLst/>
          </a:prstGeom>
        </p:spPr>
      </p:pic>
      <p:pic>
        <p:nvPicPr>
          <p:cNvPr id="15" name="Image 10" descr="preencoded.png">
            <a:extLst>
              <a:ext uri="{FF2B5EF4-FFF2-40B4-BE49-F238E27FC236}">
                <a16:creationId xmlns:a16="http://schemas.microsoft.com/office/drawing/2014/main" id="{4413C882-A29F-0E1B-F4E6-DE194B649107}"/>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6" name="Image 11" descr="preencoded.png">
            <a:extLst>
              <a:ext uri="{FF2B5EF4-FFF2-40B4-BE49-F238E27FC236}">
                <a16:creationId xmlns:a16="http://schemas.microsoft.com/office/drawing/2014/main" id="{599359B0-BC5A-2798-D3EE-E906C8FE4AA1}"/>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7" name="Image 12" descr="preencoded.png">
            <a:extLst>
              <a:ext uri="{FF2B5EF4-FFF2-40B4-BE49-F238E27FC236}">
                <a16:creationId xmlns:a16="http://schemas.microsoft.com/office/drawing/2014/main" id="{1CAF3264-0793-6CDC-24D3-58AF8DEB3742}"/>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2905661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4616-8561-6A16-EBE9-6E1A3F96AA6A}"/>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6E6BEDDA-A7B8-93FA-FC2B-91CA7DFAFB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B46D9C-A2DA-90FE-6625-B23D1A90E9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A195ACC-39E6-3AC4-3A85-0CF2D69CC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74000-D324-1C4F-B0DE-8390683A3A94}"/>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8" name="Shape 5">
            <a:extLst>
              <a:ext uri="{FF2B5EF4-FFF2-40B4-BE49-F238E27FC236}">
                <a16:creationId xmlns:a16="http://schemas.microsoft.com/office/drawing/2014/main" id="{8ADAABF8-6644-3F36-4FAC-E26B71106E25}"/>
              </a:ext>
            </a:extLst>
          </p:cNvPr>
          <p:cNvSpPr/>
          <p:nvPr/>
        </p:nvSpPr>
        <p:spPr>
          <a:xfrm>
            <a:off x="190500" y="190500"/>
            <a:ext cx="661988" cy="228600"/>
          </a:xfrm>
          <a:prstGeom prst="rect">
            <a:avLst/>
          </a:prstGeom>
          <a:noFill/>
          <a:ln/>
        </p:spPr>
        <p:txBody>
          <a:bodyPr/>
          <a:lstStyle/>
          <a:p>
            <a:endParaRPr lang="en-US"/>
          </a:p>
        </p:txBody>
      </p:sp>
      <p:pic>
        <p:nvPicPr>
          <p:cNvPr id="9" name="Image 3" descr="preencoded.png">
            <a:extLst>
              <a:ext uri="{FF2B5EF4-FFF2-40B4-BE49-F238E27FC236}">
                <a16:creationId xmlns:a16="http://schemas.microsoft.com/office/drawing/2014/main" id="{D6819D18-280A-59B9-5A82-3AA527A0A22F}"/>
              </a:ext>
            </a:extLst>
          </p:cNvPr>
          <p:cNvPicPr>
            <a:picLocks noChangeAspect="1"/>
          </p:cNvPicPr>
          <p:nvPr/>
        </p:nvPicPr>
        <p:blipFill>
          <a:blip r:embed="rId2"/>
          <a:stretch>
            <a:fillRect/>
          </a:stretch>
        </p:blipFill>
        <p:spPr>
          <a:xfrm>
            <a:off x="242624" y="190500"/>
            <a:ext cx="117713" cy="143526"/>
          </a:xfrm>
          <a:prstGeom prst="rect">
            <a:avLst/>
          </a:prstGeom>
        </p:spPr>
      </p:pic>
      <p:pic>
        <p:nvPicPr>
          <p:cNvPr id="10" name="Image 4" descr="preencoded.png">
            <a:extLst>
              <a:ext uri="{FF2B5EF4-FFF2-40B4-BE49-F238E27FC236}">
                <a16:creationId xmlns:a16="http://schemas.microsoft.com/office/drawing/2014/main" id="{B3DB3EC3-97C7-8E1A-1C58-F2AB502630D7}"/>
              </a:ext>
            </a:extLst>
          </p:cNvPr>
          <p:cNvPicPr>
            <a:picLocks noChangeAspect="1"/>
          </p:cNvPicPr>
          <p:nvPr/>
        </p:nvPicPr>
        <p:blipFill>
          <a:blip r:embed="rId3"/>
          <a:stretch>
            <a:fillRect/>
          </a:stretch>
        </p:blipFill>
        <p:spPr>
          <a:xfrm>
            <a:off x="290275" y="344655"/>
            <a:ext cx="728" cy="3"/>
          </a:xfrm>
          <a:prstGeom prst="rect">
            <a:avLst/>
          </a:prstGeom>
        </p:spPr>
      </p:pic>
      <p:pic>
        <p:nvPicPr>
          <p:cNvPr id="11" name="Image 5" descr="preencoded.png">
            <a:extLst>
              <a:ext uri="{FF2B5EF4-FFF2-40B4-BE49-F238E27FC236}">
                <a16:creationId xmlns:a16="http://schemas.microsoft.com/office/drawing/2014/main" id="{986AD692-BF7B-E30E-AF4B-29E73B37ADA8}"/>
              </a:ext>
            </a:extLst>
          </p:cNvPr>
          <p:cNvPicPr>
            <a:picLocks noChangeAspect="1"/>
          </p:cNvPicPr>
          <p:nvPr/>
        </p:nvPicPr>
        <p:blipFill>
          <a:blip r:embed="rId3"/>
          <a:stretch>
            <a:fillRect/>
          </a:stretch>
        </p:blipFill>
        <p:spPr>
          <a:xfrm>
            <a:off x="290059" y="344659"/>
            <a:ext cx="216" cy="3"/>
          </a:xfrm>
          <a:prstGeom prst="rect">
            <a:avLst/>
          </a:prstGeom>
        </p:spPr>
      </p:pic>
      <p:pic>
        <p:nvPicPr>
          <p:cNvPr id="12" name="Image 6" descr="preencoded.png">
            <a:extLst>
              <a:ext uri="{FF2B5EF4-FFF2-40B4-BE49-F238E27FC236}">
                <a16:creationId xmlns:a16="http://schemas.microsoft.com/office/drawing/2014/main" id="{1E4B8F00-D927-A3D7-DF8B-9621664C91DA}"/>
              </a:ext>
            </a:extLst>
          </p:cNvPr>
          <p:cNvPicPr>
            <a:picLocks noChangeAspect="1"/>
          </p:cNvPicPr>
          <p:nvPr/>
        </p:nvPicPr>
        <p:blipFill>
          <a:blip r:embed="rId3"/>
          <a:stretch>
            <a:fillRect/>
          </a:stretch>
        </p:blipFill>
        <p:spPr>
          <a:xfrm>
            <a:off x="291937" y="355225"/>
            <a:ext cx="352" cy="3"/>
          </a:xfrm>
          <a:prstGeom prst="rect">
            <a:avLst/>
          </a:prstGeom>
        </p:spPr>
      </p:pic>
      <p:pic>
        <p:nvPicPr>
          <p:cNvPr id="13" name="Image 7" descr="preencoded.png">
            <a:extLst>
              <a:ext uri="{FF2B5EF4-FFF2-40B4-BE49-F238E27FC236}">
                <a16:creationId xmlns:a16="http://schemas.microsoft.com/office/drawing/2014/main" id="{8BE371D4-51AA-A4CA-BCA7-C17F586C33EE}"/>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4" name="Image 8" descr="preencoded.png">
            <a:extLst>
              <a:ext uri="{FF2B5EF4-FFF2-40B4-BE49-F238E27FC236}">
                <a16:creationId xmlns:a16="http://schemas.microsoft.com/office/drawing/2014/main" id="{5ECEAA31-DC84-C536-9A68-FCA883D9D779}"/>
              </a:ext>
            </a:extLst>
          </p:cNvPr>
          <p:cNvPicPr>
            <a:picLocks noChangeAspect="1"/>
          </p:cNvPicPr>
          <p:nvPr/>
        </p:nvPicPr>
        <p:blipFill>
          <a:blip r:embed="rId5"/>
          <a:stretch>
            <a:fillRect/>
          </a:stretch>
        </p:blipFill>
        <p:spPr>
          <a:xfrm>
            <a:off x="557532" y="270355"/>
            <a:ext cx="94938" cy="110432"/>
          </a:xfrm>
          <a:prstGeom prst="rect">
            <a:avLst/>
          </a:prstGeom>
        </p:spPr>
      </p:pic>
      <p:pic>
        <p:nvPicPr>
          <p:cNvPr id="15" name="Image 9" descr="preencoded.png">
            <a:extLst>
              <a:ext uri="{FF2B5EF4-FFF2-40B4-BE49-F238E27FC236}">
                <a16:creationId xmlns:a16="http://schemas.microsoft.com/office/drawing/2014/main" id="{62428B7B-F60F-2474-60E5-441970913893}"/>
              </a:ext>
            </a:extLst>
          </p:cNvPr>
          <p:cNvPicPr>
            <a:picLocks noChangeAspect="1"/>
          </p:cNvPicPr>
          <p:nvPr/>
        </p:nvPicPr>
        <p:blipFill>
          <a:blip r:embed="rId6"/>
          <a:stretch>
            <a:fillRect/>
          </a:stretch>
        </p:blipFill>
        <p:spPr>
          <a:xfrm>
            <a:off x="654704" y="270341"/>
            <a:ext cx="98795" cy="148759"/>
          </a:xfrm>
          <a:prstGeom prst="rect">
            <a:avLst/>
          </a:prstGeom>
        </p:spPr>
      </p:pic>
      <p:pic>
        <p:nvPicPr>
          <p:cNvPr id="16" name="Image 10" descr="preencoded.png">
            <a:extLst>
              <a:ext uri="{FF2B5EF4-FFF2-40B4-BE49-F238E27FC236}">
                <a16:creationId xmlns:a16="http://schemas.microsoft.com/office/drawing/2014/main" id="{CD30214C-33F4-EF4D-4A77-2669C3D85995}"/>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7" name="Image 11" descr="preencoded.png">
            <a:extLst>
              <a:ext uri="{FF2B5EF4-FFF2-40B4-BE49-F238E27FC236}">
                <a16:creationId xmlns:a16="http://schemas.microsoft.com/office/drawing/2014/main" id="{F652379B-9CF4-1AD1-870C-8D3C19ADC625}"/>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8" name="Image 12" descr="preencoded.png">
            <a:extLst>
              <a:ext uri="{FF2B5EF4-FFF2-40B4-BE49-F238E27FC236}">
                <a16:creationId xmlns:a16="http://schemas.microsoft.com/office/drawing/2014/main" id="{AAB9CA5D-C147-316E-9EA9-CFAF15793DA1}"/>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204272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1E4E-8467-05AB-4B28-24FC65159BC7}"/>
              </a:ext>
            </a:extLst>
          </p:cNvPr>
          <p:cNvSpPr>
            <a:spLocks noGrp="1"/>
          </p:cNvSpPr>
          <p:nvPr>
            <p:ph type="title"/>
          </p:nvPr>
        </p:nvSpPr>
        <p:spPr>
          <a:xfrm>
            <a:off x="839788" y="365125"/>
            <a:ext cx="10515600" cy="1325563"/>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73AF16-3B94-1554-ADEF-F4AB2AADE2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5CBF1-893D-CA3B-1E82-E42BA520A2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764CD-180A-9677-3337-000001CB5C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ECCF24-889B-BC14-970F-2418CF0668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8B345D6-958F-BEFC-B6F2-D7DC3D4031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AE3341-5AE8-5BA8-0437-602286D4EE81}"/>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10" name="Shape 5">
            <a:extLst>
              <a:ext uri="{FF2B5EF4-FFF2-40B4-BE49-F238E27FC236}">
                <a16:creationId xmlns:a16="http://schemas.microsoft.com/office/drawing/2014/main" id="{2280E1E3-FBB0-BB01-80DF-10AE73698015}"/>
              </a:ext>
            </a:extLst>
          </p:cNvPr>
          <p:cNvSpPr/>
          <p:nvPr/>
        </p:nvSpPr>
        <p:spPr>
          <a:xfrm>
            <a:off x="190500" y="190500"/>
            <a:ext cx="661988" cy="228600"/>
          </a:xfrm>
          <a:prstGeom prst="rect">
            <a:avLst/>
          </a:prstGeom>
          <a:noFill/>
          <a:ln/>
        </p:spPr>
        <p:txBody>
          <a:bodyPr/>
          <a:lstStyle/>
          <a:p>
            <a:endParaRPr lang="en-US"/>
          </a:p>
        </p:txBody>
      </p:sp>
      <p:pic>
        <p:nvPicPr>
          <p:cNvPr id="11" name="Image 3" descr="preencoded.png">
            <a:extLst>
              <a:ext uri="{FF2B5EF4-FFF2-40B4-BE49-F238E27FC236}">
                <a16:creationId xmlns:a16="http://schemas.microsoft.com/office/drawing/2014/main" id="{996FDED8-EDA6-9343-D0A1-84BEBDD31D97}"/>
              </a:ext>
            </a:extLst>
          </p:cNvPr>
          <p:cNvPicPr>
            <a:picLocks noChangeAspect="1"/>
          </p:cNvPicPr>
          <p:nvPr/>
        </p:nvPicPr>
        <p:blipFill>
          <a:blip r:embed="rId2"/>
          <a:stretch>
            <a:fillRect/>
          </a:stretch>
        </p:blipFill>
        <p:spPr>
          <a:xfrm>
            <a:off x="242624" y="190500"/>
            <a:ext cx="117713" cy="143526"/>
          </a:xfrm>
          <a:prstGeom prst="rect">
            <a:avLst/>
          </a:prstGeom>
        </p:spPr>
      </p:pic>
      <p:pic>
        <p:nvPicPr>
          <p:cNvPr id="12" name="Image 4" descr="preencoded.png">
            <a:extLst>
              <a:ext uri="{FF2B5EF4-FFF2-40B4-BE49-F238E27FC236}">
                <a16:creationId xmlns:a16="http://schemas.microsoft.com/office/drawing/2014/main" id="{D83BCB30-36D8-4C72-14EE-F3E2E8F57313}"/>
              </a:ext>
            </a:extLst>
          </p:cNvPr>
          <p:cNvPicPr>
            <a:picLocks noChangeAspect="1"/>
          </p:cNvPicPr>
          <p:nvPr/>
        </p:nvPicPr>
        <p:blipFill>
          <a:blip r:embed="rId3"/>
          <a:stretch>
            <a:fillRect/>
          </a:stretch>
        </p:blipFill>
        <p:spPr>
          <a:xfrm>
            <a:off x="290275" y="344655"/>
            <a:ext cx="728" cy="3"/>
          </a:xfrm>
          <a:prstGeom prst="rect">
            <a:avLst/>
          </a:prstGeom>
        </p:spPr>
      </p:pic>
      <p:pic>
        <p:nvPicPr>
          <p:cNvPr id="13" name="Image 5" descr="preencoded.png">
            <a:extLst>
              <a:ext uri="{FF2B5EF4-FFF2-40B4-BE49-F238E27FC236}">
                <a16:creationId xmlns:a16="http://schemas.microsoft.com/office/drawing/2014/main" id="{B1AD6F6F-B20E-8D32-FAAB-369A5465E0C8}"/>
              </a:ext>
            </a:extLst>
          </p:cNvPr>
          <p:cNvPicPr>
            <a:picLocks noChangeAspect="1"/>
          </p:cNvPicPr>
          <p:nvPr/>
        </p:nvPicPr>
        <p:blipFill>
          <a:blip r:embed="rId3"/>
          <a:stretch>
            <a:fillRect/>
          </a:stretch>
        </p:blipFill>
        <p:spPr>
          <a:xfrm>
            <a:off x="290059" y="344659"/>
            <a:ext cx="216" cy="3"/>
          </a:xfrm>
          <a:prstGeom prst="rect">
            <a:avLst/>
          </a:prstGeom>
        </p:spPr>
      </p:pic>
      <p:pic>
        <p:nvPicPr>
          <p:cNvPr id="14" name="Image 6" descr="preencoded.png">
            <a:extLst>
              <a:ext uri="{FF2B5EF4-FFF2-40B4-BE49-F238E27FC236}">
                <a16:creationId xmlns:a16="http://schemas.microsoft.com/office/drawing/2014/main" id="{FBDDC6D6-2BEB-31DC-B298-E66E991D550A}"/>
              </a:ext>
            </a:extLst>
          </p:cNvPr>
          <p:cNvPicPr>
            <a:picLocks noChangeAspect="1"/>
          </p:cNvPicPr>
          <p:nvPr/>
        </p:nvPicPr>
        <p:blipFill>
          <a:blip r:embed="rId3"/>
          <a:stretch>
            <a:fillRect/>
          </a:stretch>
        </p:blipFill>
        <p:spPr>
          <a:xfrm>
            <a:off x="291937" y="355225"/>
            <a:ext cx="352" cy="3"/>
          </a:xfrm>
          <a:prstGeom prst="rect">
            <a:avLst/>
          </a:prstGeom>
        </p:spPr>
      </p:pic>
      <p:pic>
        <p:nvPicPr>
          <p:cNvPr id="15" name="Image 7" descr="preencoded.png">
            <a:extLst>
              <a:ext uri="{FF2B5EF4-FFF2-40B4-BE49-F238E27FC236}">
                <a16:creationId xmlns:a16="http://schemas.microsoft.com/office/drawing/2014/main" id="{59255BD3-C3BE-9A85-5AF2-9BB924428ED0}"/>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6" name="Image 8" descr="preencoded.png">
            <a:extLst>
              <a:ext uri="{FF2B5EF4-FFF2-40B4-BE49-F238E27FC236}">
                <a16:creationId xmlns:a16="http://schemas.microsoft.com/office/drawing/2014/main" id="{05589A3A-6BE4-FDF1-77D1-F2E573CBF877}"/>
              </a:ext>
            </a:extLst>
          </p:cNvPr>
          <p:cNvPicPr>
            <a:picLocks noChangeAspect="1"/>
          </p:cNvPicPr>
          <p:nvPr/>
        </p:nvPicPr>
        <p:blipFill>
          <a:blip r:embed="rId5"/>
          <a:stretch>
            <a:fillRect/>
          </a:stretch>
        </p:blipFill>
        <p:spPr>
          <a:xfrm>
            <a:off x="557532" y="270355"/>
            <a:ext cx="94938" cy="110432"/>
          </a:xfrm>
          <a:prstGeom prst="rect">
            <a:avLst/>
          </a:prstGeom>
        </p:spPr>
      </p:pic>
      <p:pic>
        <p:nvPicPr>
          <p:cNvPr id="17" name="Image 9" descr="preencoded.png">
            <a:extLst>
              <a:ext uri="{FF2B5EF4-FFF2-40B4-BE49-F238E27FC236}">
                <a16:creationId xmlns:a16="http://schemas.microsoft.com/office/drawing/2014/main" id="{BB7959B2-981C-3C8F-4F27-DBABC1988333}"/>
              </a:ext>
            </a:extLst>
          </p:cNvPr>
          <p:cNvPicPr>
            <a:picLocks noChangeAspect="1"/>
          </p:cNvPicPr>
          <p:nvPr/>
        </p:nvPicPr>
        <p:blipFill>
          <a:blip r:embed="rId6"/>
          <a:stretch>
            <a:fillRect/>
          </a:stretch>
        </p:blipFill>
        <p:spPr>
          <a:xfrm>
            <a:off x="654704" y="270341"/>
            <a:ext cx="98795" cy="148759"/>
          </a:xfrm>
          <a:prstGeom prst="rect">
            <a:avLst/>
          </a:prstGeom>
        </p:spPr>
      </p:pic>
      <p:pic>
        <p:nvPicPr>
          <p:cNvPr id="18" name="Image 10" descr="preencoded.png">
            <a:extLst>
              <a:ext uri="{FF2B5EF4-FFF2-40B4-BE49-F238E27FC236}">
                <a16:creationId xmlns:a16="http://schemas.microsoft.com/office/drawing/2014/main" id="{FC3F9996-F09C-CD6B-EFCB-DA8BC9C28F31}"/>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9" name="Image 11" descr="preencoded.png">
            <a:extLst>
              <a:ext uri="{FF2B5EF4-FFF2-40B4-BE49-F238E27FC236}">
                <a16:creationId xmlns:a16="http://schemas.microsoft.com/office/drawing/2014/main" id="{2ED1A265-4A95-F6BF-055E-6E7DF38089D5}"/>
              </a:ext>
            </a:extLst>
          </p:cNvPr>
          <p:cNvPicPr>
            <a:picLocks noChangeAspect="1"/>
          </p:cNvPicPr>
          <p:nvPr/>
        </p:nvPicPr>
        <p:blipFill>
          <a:blip r:embed="rId8"/>
          <a:stretch>
            <a:fillRect/>
          </a:stretch>
        </p:blipFill>
        <p:spPr>
          <a:xfrm>
            <a:off x="281565" y="282273"/>
            <a:ext cx="130884" cy="118176"/>
          </a:xfrm>
          <a:prstGeom prst="rect">
            <a:avLst/>
          </a:prstGeom>
        </p:spPr>
      </p:pic>
      <p:pic>
        <p:nvPicPr>
          <p:cNvPr id="20" name="Image 12" descr="preencoded.png">
            <a:extLst>
              <a:ext uri="{FF2B5EF4-FFF2-40B4-BE49-F238E27FC236}">
                <a16:creationId xmlns:a16="http://schemas.microsoft.com/office/drawing/2014/main" id="{8AA81C56-C7C1-8192-BB96-2EAF5E6E65B3}"/>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1130976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32E9C-AC2F-598A-971D-CB008C399593}"/>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48522642-A407-B802-D9EF-445D10F6B1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86E38B-EAD0-FDED-82A1-3CE01F794498}"/>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6" name="Shape 5">
            <a:extLst>
              <a:ext uri="{FF2B5EF4-FFF2-40B4-BE49-F238E27FC236}">
                <a16:creationId xmlns:a16="http://schemas.microsoft.com/office/drawing/2014/main" id="{A16C830E-A360-7AC5-875D-9D5222451EAF}"/>
              </a:ext>
            </a:extLst>
          </p:cNvPr>
          <p:cNvSpPr/>
          <p:nvPr/>
        </p:nvSpPr>
        <p:spPr>
          <a:xfrm>
            <a:off x="190500" y="190500"/>
            <a:ext cx="661988" cy="228600"/>
          </a:xfrm>
          <a:prstGeom prst="rect">
            <a:avLst/>
          </a:prstGeom>
          <a:noFill/>
          <a:ln/>
        </p:spPr>
        <p:txBody>
          <a:bodyPr/>
          <a:lstStyle/>
          <a:p>
            <a:endParaRPr lang="en-US"/>
          </a:p>
        </p:txBody>
      </p:sp>
      <p:pic>
        <p:nvPicPr>
          <p:cNvPr id="7" name="Image 3" descr="preencoded.png">
            <a:extLst>
              <a:ext uri="{FF2B5EF4-FFF2-40B4-BE49-F238E27FC236}">
                <a16:creationId xmlns:a16="http://schemas.microsoft.com/office/drawing/2014/main" id="{6FA7C61D-AC3B-A5A8-802C-38559A5BCCF1}"/>
              </a:ext>
            </a:extLst>
          </p:cNvPr>
          <p:cNvPicPr>
            <a:picLocks noChangeAspect="1"/>
          </p:cNvPicPr>
          <p:nvPr/>
        </p:nvPicPr>
        <p:blipFill>
          <a:blip r:embed="rId2"/>
          <a:stretch>
            <a:fillRect/>
          </a:stretch>
        </p:blipFill>
        <p:spPr>
          <a:xfrm>
            <a:off x="242624" y="190500"/>
            <a:ext cx="117713" cy="143526"/>
          </a:xfrm>
          <a:prstGeom prst="rect">
            <a:avLst/>
          </a:prstGeom>
        </p:spPr>
      </p:pic>
      <p:pic>
        <p:nvPicPr>
          <p:cNvPr id="8" name="Image 4" descr="preencoded.png">
            <a:extLst>
              <a:ext uri="{FF2B5EF4-FFF2-40B4-BE49-F238E27FC236}">
                <a16:creationId xmlns:a16="http://schemas.microsoft.com/office/drawing/2014/main" id="{6211D501-648C-ABA1-7828-3399D967353F}"/>
              </a:ext>
            </a:extLst>
          </p:cNvPr>
          <p:cNvPicPr>
            <a:picLocks noChangeAspect="1"/>
          </p:cNvPicPr>
          <p:nvPr/>
        </p:nvPicPr>
        <p:blipFill>
          <a:blip r:embed="rId3"/>
          <a:stretch>
            <a:fillRect/>
          </a:stretch>
        </p:blipFill>
        <p:spPr>
          <a:xfrm>
            <a:off x="290275" y="344655"/>
            <a:ext cx="728" cy="3"/>
          </a:xfrm>
          <a:prstGeom prst="rect">
            <a:avLst/>
          </a:prstGeom>
        </p:spPr>
      </p:pic>
      <p:pic>
        <p:nvPicPr>
          <p:cNvPr id="9" name="Image 5" descr="preencoded.png">
            <a:extLst>
              <a:ext uri="{FF2B5EF4-FFF2-40B4-BE49-F238E27FC236}">
                <a16:creationId xmlns:a16="http://schemas.microsoft.com/office/drawing/2014/main" id="{453193C3-E143-90F7-FFAF-FAE6FF0F8153}"/>
              </a:ext>
            </a:extLst>
          </p:cNvPr>
          <p:cNvPicPr>
            <a:picLocks noChangeAspect="1"/>
          </p:cNvPicPr>
          <p:nvPr/>
        </p:nvPicPr>
        <p:blipFill>
          <a:blip r:embed="rId3"/>
          <a:stretch>
            <a:fillRect/>
          </a:stretch>
        </p:blipFill>
        <p:spPr>
          <a:xfrm>
            <a:off x="290059" y="344659"/>
            <a:ext cx="216" cy="3"/>
          </a:xfrm>
          <a:prstGeom prst="rect">
            <a:avLst/>
          </a:prstGeom>
        </p:spPr>
      </p:pic>
      <p:pic>
        <p:nvPicPr>
          <p:cNvPr id="10" name="Image 6" descr="preencoded.png">
            <a:extLst>
              <a:ext uri="{FF2B5EF4-FFF2-40B4-BE49-F238E27FC236}">
                <a16:creationId xmlns:a16="http://schemas.microsoft.com/office/drawing/2014/main" id="{CD7967F3-83BC-6097-0C75-DA5DAC583598}"/>
              </a:ext>
            </a:extLst>
          </p:cNvPr>
          <p:cNvPicPr>
            <a:picLocks noChangeAspect="1"/>
          </p:cNvPicPr>
          <p:nvPr/>
        </p:nvPicPr>
        <p:blipFill>
          <a:blip r:embed="rId3"/>
          <a:stretch>
            <a:fillRect/>
          </a:stretch>
        </p:blipFill>
        <p:spPr>
          <a:xfrm>
            <a:off x="291937" y="355225"/>
            <a:ext cx="352" cy="3"/>
          </a:xfrm>
          <a:prstGeom prst="rect">
            <a:avLst/>
          </a:prstGeom>
        </p:spPr>
      </p:pic>
      <p:pic>
        <p:nvPicPr>
          <p:cNvPr id="11" name="Image 7" descr="preencoded.png">
            <a:extLst>
              <a:ext uri="{FF2B5EF4-FFF2-40B4-BE49-F238E27FC236}">
                <a16:creationId xmlns:a16="http://schemas.microsoft.com/office/drawing/2014/main" id="{55401895-E400-1D7F-43FA-D0FB891E30F9}"/>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2" name="Image 8" descr="preencoded.png">
            <a:extLst>
              <a:ext uri="{FF2B5EF4-FFF2-40B4-BE49-F238E27FC236}">
                <a16:creationId xmlns:a16="http://schemas.microsoft.com/office/drawing/2014/main" id="{62A5EDCF-DDE8-6DE0-1CC8-819ABA4DB209}"/>
              </a:ext>
            </a:extLst>
          </p:cNvPr>
          <p:cNvPicPr>
            <a:picLocks noChangeAspect="1"/>
          </p:cNvPicPr>
          <p:nvPr/>
        </p:nvPicPr>
        <p:blipFill>
          <a:blip r:embed="rId5"/>
          <a:stretch>
            <a:fillRect/>
          </a:stretch>
        </p:blipFill>
        <p:spPr>
          <a:xfrm>
            <a:off x="557532" y="270355"/>
            <a:ext cx="94938" cy="110432"/>
          </a:xfrm>
          <a:prstGeom prst="rect">
            <a:avLst/>
          </a:prstGeom>
        </p:spPr>
      </p:pic>
      <p:pic>
        <p:nvPicPr>
          <p:cNvPr id="13" name="Image 9" descr="preencoded.png">
            <a:extLst>
              <a:ext uri="{FF2B5EF4-FFF2-40B4-BE49-F238E27FC236}">
                <a16:creationId xmlns:a16="http://schemas.microsoft.com/office/drawing/2014/main" id="{BBD93823-B957-25BB-C99E-9354F16883D4}"/>
              </a:ext>
            </a:extLst>
          </p:cNvPr>
          <p:cNvPicPr>
            <a:picLocks noChangeAspect="1"/>
          </p:cNvPicPr>
          <p:nvPr/>
        </p:nvPicPr>
        <p:blipFill>
          <a:blip r:embed="rId6"/>
          <a:stretch>
            <a:fillRect/>
          </a:stretch>
        </p:blipFill>
        <p:spPr>
          <a:xfrm>
            <a:off x="654704" y="270341"/>
            <a:ext cx="98795" cy="148759"/>
          </a:xfrm>
          <a:prstGeom prst="rect">
            <a:avLst/>
          </a:prstGeom>
        </p:spPr>
      </p:pic>
      <p:pic>
        <p:nvPicPr>
          <p:cNvPr id="14" name="Image 10" descr="preencoded.png">
            <a:extLst>
              <a:ext uri="{FF2B5EF4-FFF2-40B4-BE49-F238E27FC236}">
                <a16:creationId xmlns:a16="http://schemas.microsoft.com/office/drawing/2014/main" id="{EBB4ED86-D056-E708-2D02-AE316C12A110}"/>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5" name="Image 11" descr="preencoded.png">
            <a:extLst>
              <a:ext uri="{FF2B5EF4-FFF2-40B4-BE49-F238E27FC236}">
                <a16:creationId xmlns:a16="http://schemas.microsoft.com/office/drawing/2014/main" id="{BDE3193F-5748-17EB-FB7F-C12EC5E806C3}"/>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6" name="Image 12" descr="preencoded.png">
            <a:extLst>
              <a:ext uri="{FF2B5EF4-FFF2-40B4-BE49-F238E27FC236}">
                <a16:creationId xmlns:a16="http://schemas.microsoft.com/office/drawing/2014/main" id="{32D52360-BAE5-033B-1495-439B02227C38}"/>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3439247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694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50910-A0C0-68BB-7B53-15FDAD26F043}"/>
              </a:ext>
            </a:extLst>
          </p:cNvPr>
          <p:cNvSpPr>
            <a:spLocks noGrp="1"/>
          </p:cNvSpPr>
          <p:nvPr>
            <p:ph type="title" hasCustomPrompt="1"/>
          </p:nvPr>
        </p:nvSpPr>
        <p:spPr>
          <a:xfrm>
            <a:off x="262258" y="3225776"/>
            <a:ext cx="5070017" cy="82806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3" name="Footer Placeholder 2">
            <a:extLst>
              <a:ext uri="{FF2B5EF4-FFF2-40B4-BE49-F238E27FC236}">
                <a16:creationId xmlns:a16="http://schemas.microsoft.com/office/drawing/2014/main" id="{CC34FF15-ACE1-BC40-45CB-34D1B57152A0}"/>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314EC72E-7D93-4BA5-9C9F-9730CC1FCBBF}"/>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23" name="Date Placeholder 21" hidden="1">
            <a:extLst>
              <a:ext uri="{FF2B5EF4-FFF2-40B4-BE49-F238E27FC236}">
                <a16:creationId xmlns:a16="http://schemas.microsoft.com/office/drawing/2014/main" id="{538CCEA6-28D6-432F-620A-5FA841D9A67A}"/>
              </a:ext>
            </a:extLst>
          </p:cNvPr>
          <p:cNvSpPr>
            <a:spLocks noGrp="1"/>
          </p:cNvSpPr>
          <p:nvPr>
            <p:ph type="dt" sz="half" idx="2"/>
          </p:nvPr>
        </p:nvSpPr>
        <p:spPr>
          <a:xfrm>
            <a:off x="11028045" y="6492240"/>
            <a:ext cx="906780" cy="109776"/>
          </a:xfrm>
          <a:prstGeom prst="rect">
            <a:avLst/>
          </a:prstGeom>
        </p:spPr>
        <p:txBody>
          <a:bodyPr vert="horz" lIns="0" tIns="0" rIns="0" bIns="0" rtlCol="0" anchor="ctr">
            <a:noAutofit/>
          </a:bodyPr>
          <a:lstStyle>
            <a:lvl1pPr algn="r">
              <a:defRPr lang="en-GB" sz="800" spc="-39" smtClean="0">
                <a:solidFill>
                  <a:schemeClr val="tx1"/>
                </a:solidFill>
              </a:defRPr>
            </a:lvl1pPr>
          </a:lstStyle>
          <a:p>
            <a:fld id="{BC01B09E-BD2E-4777-B4D4-F6B540230C58}" type="datetime6">
              <a:rPr lang="en-GB" smtClean="0"/>
              <a:pPr/>
              <a:t>April 26</a:t>
            </a:fld>
            <a:endParaRPr lang="en-GB" sz="800"/>
          </a:p>
        </p:txBody>
      </p:sp>
      <p:grpSp>
        <p:nvGrpSpPr>
          <p:cNvPr id="7" name="Graphic 8">
            <a:extLst>
              <a:ext uri="{FF2B5EF4-FFF2-40B4-BE49-F238E27FC236}">
                <a16:creationId xmlns:a16="http://schemas.microsoft.com/office/drawing/2014/main" id="{CB562FDC-03F1-5521-89C7-C4C12E07C6DB}"/>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2791912A-744B-425D-F110-EFB13F6FAEE4}"/>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89270859-3F16-2104-574D-74236AD8FD59}"/>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983165A3-2236-5DED-D823-B998BA612380}"/>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F43ADFC-C7F7-447E-7528-B2D251DE959F}"/>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5E1AB878-C85A-B38C-3580-5EE82627FBF3}"/>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1061D67-2C92-6676-B691-D0C3162E6895}"/>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2C5BED9F-A69D-4C82-E00C-5A9A9FD9EC99}"/>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E26B4A-0E89-9545-CF71-72B0B21E751A}"/>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DA25754-0125-9425-59B1-7FEC7D4AAAF3}"/>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B2E4AC9-D18F-9818-11E5-9FAF5E9141FF}"/>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Subtitle 2">
            <a:extLst>
              <a:ext uri="{FF2B5EF4-FFF2-40B4-BE49-F238E27FC236}">
                <a16:creationId xmlns:a16="http://schemas.microsoft.com/office/drawing/2014/main" id="{620E3FC0-F13B-4AA1-8445-8E35E2CF1931}"/>
              </a:ext>
            </a:extLst>
          </p:cNvPr>
          <p:cNvSpPr>
            <a:spLocks noGrp="1"/>
          </p:cNvSpPr>
          <p:nvPr>
            <p:ph type="subTitle" idx="1" hasCustomPrompt="1"/>
          </p:nvPr>
        </p:nvSpPr>
        <p:spPr>
          <a:xfrm>
            <a:off x="257178" y="2926186"/>
            <a:ext cx="5070017" cy="158693"/>
          </a:xfrm>
        </p:spPr>
        <p:txBody>
          <a:bodyPr/>
          <a:lstStyle>
            <a:lvl1pPr marL="0" indent="0" algn="l">
              <a:buNone/>
              <a:defRPr sz="120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Section Title</a:t>
            </a:r>
          </a:p>
        </p:txBody>
      </p:sp>
    </p:spTree>
    <p:extLst>
      <p:ext uri="{BB962C8B-B14F-4D97-AF65-F5344CB8AC3E}">
        <p14:creationId xmlns:p14="http://schemas.microsoft.com/office/powerpoint/2010/main" val="1434056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age-2">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B042BA4-469A-ACDB-3C72-111476EA424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A19ED306-214C-DFDE-1E4C-3120B3984D77}"/>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grpSp>
        <p:nvGrpSpPr>
          <p:cNvPr id="7" name="Graphic 8">
            <a:extLst>
              <a:ext uri="{FF2B5EF4-FFF2-40B4-BE49-F238E27FC236}">
                <a16:creationId xmlns:a16="http://schemas.microsoft.com/office/drawing/2014/main" id="{42F3CB05-B71F-2304-36F3-1D328DDB162C}"/>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30B7A793-96DD-718F-6C53-3ED56F3EC0D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E4A4D229-A539-9666-C803-E715831FCB80}"/>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649BA90A-AFC7-6552-715F-EB24799740AA}"/>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1FDB49AB-05C6-830A-79E4-659B4384A3D7}"/>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CA1B60CB-DCD7-8B10-E27A-06BFF887A080}"/>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59E0B493-3501-EF31-42E0-75A5F876ED0D}"/>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A3DE3EBE-2D35-17A6-7194-22B9C028797B}"/>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865A8686-D0E9-5DE2-D5AF-9469D8DFC27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E79BEBE-4F28-1B64-3229-278A2A0FCA0C}"/>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C6D91C27-5113-D6F8-DD50-545A13EBBEA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Title 1">
            <a:extLst>
              <a:ext uri="{FF2B5EF4-FFF2-40B4-BE49-F238E27FC236}">
                <a16:creationId xmlns:a16="http://schemas.microsoft.com/office/drawing/2014/main" id="{55FB519E-F037-3DA4-A1C7-8F1520479F9D}"/>
              </a:ext>
            </a:extLst>
          </p:cNvPr>
          <p:cNvSpPr>
            <a:spLocks noGrp="1"/>
          </p:cNvSpPr>
          <p:nvPr>
            <p:ph type="title" hasCustomPrompt="1"/>
          </p:nvPr>
        </p:nvSpPr>
        <p:spPr>
          <a:xfrm>
            <a:off x="2225501" y="3268448"/>
            <a:ext cx="8945261" cy="40134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25" name="Text Placeholder 24">
            <a:extLst>
              <a:ext uri="{FF2B5EF4-FFF2-40B4-BE49-F238E27FC236}">
                <a16:creationId xmlns:a16="http://schemas.microsoft.com/office/drawing/2014/main" id="{9A1371C9-0DD0-D675-51AF-9B5EDD28DB46}"/>
              </a:ext>
            </a:extLst>
          </p:cNvPr>
          <p:cNvSpPr>
            <a:spLocks noGrp="1"/>
          </p:cNvSpPr>
          <p:nvPr>
            <p:ph type="body" sz="quarter" idx="12" hasCustomPrompt="1"/>
          </p:nvPr>
        </p:nvSpPr>
        <p:spPr>
          <a:xfrm>
            <a:off x="257178" y="3067617"/>
            <a:ext cx="1144588" cy="158693"/>
          </a:xfrm>
        </p:spPr>
        <p:txBody>
          <a:bodyPr vert="horz" lIns="0" tIns="0" rIns="0" bIns="0" rtlCol="0">
            <a:noAutofit/>
          </a:bodyPr>
          <a:lstStyle>
            <a:lvl1pPr>
              <a:buNone/>
              <a:defRPr lang="en-GB" sz="1200" spc="-9" dirty="0">
                <a:solidFill>
                  <a:schemeClr val="bg1"/>
                </a:solidFill>
                <a:latin typeface="Funnel Sans Medium" pitchFamily="2" charset="0"/>
              </a:defRPr>
            </a:lvl1pPr>
          </a:lstStyle>
          <a:p>
            <a:pPr marL="0" lvl="0" indent="0">
              <a:buNone/>
            </a:pPr>
            <a:r>
              <a:rPr lang="en-US"/>
              <a:t>Section One</a:t>
            </a:r>
            <a:endParaRPr lang="en-GB"/>
          </a:p>
        </p:txBody>
      </p:sp>
      <p:sp>
        <p:nvSpPr>
          <p:cNvPr id="27" name="Text Placeholder 24">
            <a:extLst>
              <a:ext uri="{FF2B5EF4-FFF2-40B4-BE49-F238E27FC236}">
                <a16:creationId xmlns:a16="http://schemas.microsoft.com/office/drawing/2014/main" id="{13899FB2-FBD1-4075-123F-B4536AB49CE9}"/>
              </a:ext>
            </a:extLst>
          </p:cNvPr>
          <p:cNvSpPr>
            <a:spLocks noGrp="1"/>
          </p:cNvSpPr>
          <p:nvPr>
            <p:ph type="body" sz="quarter" idx="13" hasCustomPrompt="1"/>
          </p:nvPr>
        </p:nvSpPr>
        <p:spPr>
          <a:xfrm>
            <a:off x="257178" y="336095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Two</a:t>
            </a:r>
            <a:endParaRPr lang="en-GB"/>
          </a:p>
        </p:txBody>
      </p:sp>
      <p:sp>
        <p:nvSpPr>
          <p:cNvPr id="28" name="Text Placeholder 24">
            <a:extLst>
              <a:ext uri="{FF2B5EF4-FFF2-40B4-BE49-F238E27FC236}">
                <a16:creationId xmlns:a16="http://schemas.microsoft.com/office/drawing/2014/main" id="{D2431CCB-56DE-6E4B-FFA1-297FA4232DEE}"/>
              </a:ext>
            </a:extLst>
          </p:cNvPr>
          <p:cNvSpPr>
            <a:spLocks noGrp="1"/>
          </p:cNvSpPr>
          <p:nvPr>
            <p:ph type="body" sz="quarter" idx="14" hasCustomPrompt="1"/>
          </p:nvPr>
        </p:nvSpPr>
        <p:spPr>
          <a:xfrm>
            <a:off x="257178" y="365429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Three</a:t>
            </a:r>
            <a:endParaRPr lang="en-GB"/>
          </a:p>
        </p:txBody>
      </p:sp>
    </p:spTree>
    <p:extLst>
      <p:ext uri="{BB962C8B-B14F-4D97-AF65-F5344CB8AC3E}">
        <p14:creationId xmlns:p14="http://schemas.microsoft.com/office/powerpoint/2010/main" val="410558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Page-3">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03D0F0-7052-5160-A771-5119F33D0FA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8DEDDD5D-8453-021D-0AFE-5BD4B5D976D5}"/>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0E650826-C49B-4E4D-633C-3F0654915E1A}"/>
              </a:ext>
            </a:extLst>
          </p:cNvPr>
          <p:cNvSpPr>
            <a:spLocks noGrp="1"/>
          </p:cNvSpPr>
          <p:nvPr>
            <p:ph type="subTitle" idx="1" hasCustomPrompt="1"/>
          </p:nvPr>
        </p:nvSpPr>
        <p:spPr>
          <a:xfrm>
            <a:off x="257179" y="1091036"/>
            <a:ext cx="10131425" cy="158693"/>
          </a:xfrm>
        </p:spPr>
        <p:txBody>
          <a:bodyPr/>
          <a:lstStyle>
            <a:lvl1pPr marL="0" indent="0" algn="l">
              <a:buNone/>
              <a:defRPr sz="1200" spc="-1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Agenda or Date</a:t>
            </a:r>
          </a:p>
        </p:txBody>
      </p:sp>
      <p:sp>
        <p:nvSpPr>
          <p:cNvPr id="9" name="Table Placeholder 8">
            <a:extLst>
              <a:ext uri="{FF2B5EF4-FFF2-40B4-BE49-F238E27FC236}">
                <a16:creationId xmlns:a16="http://schemas.microsoft.com/office/drawing/2014/main" id="{45FB2E71-CF98-96CB-FAEB-10749E7CDB00}"/>
              </a:ext>
            </a:extLst>
          </p:cNvPr>
          <p:cNvSpPr>
            <a:spLocks noGrp="1"/>
          </p:cNvSpPr>
          <p:nvPr>
            <p:ph type="tbl" sz="quarter" idx="12"/>
          </p:nvPr>
        </p:nvSpPr>
        <p:spPr>
          <a:xfrm>
            <a:off x="257179" y="1396445"/>
            <a:ext cx="10131425" cy="3835400"/>
          </a:xfrm>
        </p:spPr>
        <p:txBody>
          <a:bodyPr/>
          <a:lstStyle/>
          <a:p>
            <a:endParaRPr lang="en-GB"/>
          </a:p>
        </p:txBody>
      </p:sp>
      <p:grpSp>
        <p:nvGrpSpPr>
          <p:cNvPr id="2" name="Graphic 8">
            <a:extLst>
              <a:ext uri="{FF2B5EF4-FFF2-40B4-BE49-F238E27FC236}">
                <a16:creationId xmlns:a16="http://schemas.microsoft.com/office/drawing/2014/main" id="{90A17A9B-0C48-1515-ED38-C14C78957454}"/>
              </a:ext>
            </a:extLst>
          </p:cNvPr>
          <p:cNvGrpSpPr/>
          <p:nvPr userDrawn="1"/>
        </p:nvGrpSpPr>
        <p:grpSpPr>
          <a:xfrm>
            <a:off x="257178" y="255588"/>
            <a:ext cx="895347" cy="306976"/>
            <a:chOff x="257178" y="255588"/>
            <a:chExt cx="895347" cy="306976"/>
          </a:xfrm>
          <a:solidFill>
            <a:schemeClr val="bg1"/>
          </a:solidFill>
        </p:grpSpPr>
        <p:sp>
          <p:nvSpPr>
            <p:cNvPr id="5" name="Free-form: Shape 4">
              <a:extLst>
                <a:ext uri="{FF2B5EF4-FFF2-40B4-BE49-F238E27FC236}">
                  <a16:creationId xmlns:a16="http://schemas.microsoft.com/office/drawing/2014/main" id="{B92FA4EC-976C-DA82-9504-58AF70C402D3}"/>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6" name="Free-form: Shape 5">
              <a:extLst>
                <a:ext uri="{FF2B5EF4-FFF2-40B4-BE49-F238E27FC236}">
                  <a16:creationId xmlns:a16="http://schemas.microsoft.com/office/drawing/2014/main" id="{D4B48300-E7E6-EC2C-F589-F5BBD059681E}"/>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EA2FCC75-9BAA-C54B-469C-5E1CD96B6EF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C1D0F2D6-F69A-C4D1-35DD-13FBD7B25F12}"/>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1FE0DA3-BFBB-5A05-D3B9-D06A9C5F5B8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4C3D3FD-92BD-87C8-7BEF-78648536719E}"/>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914ED9B-9040-1DAC-207F-44855782ED81}"/>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EA545CE9-1F2E-C4DF-A288-6E0D73E2ABC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3B2B45-E164-0EA4-0C09-6DCA12389939}"/>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D24F9729-F8E5-AF5F-4B62-28C93CE603C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370053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with Left Im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2020529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Quote with Left Imag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33177388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line with Tw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3458217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line with Two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17904416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line &amp; Body with Im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234265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Headline &amp; Body with Image-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93138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amp; Body with Im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9" name="Text Placeholder 18">
            <a:extLst>
              <a:ext uri="{FF2B5EF4-FFF2-40B4-BE49-F238E27FC236}">
                <a16:creationId xmlns:a16="http://schemas.microsoft.com/office/drawing/2014/main" id="{CA6B0C59-8056-303C-E693-D8259BDDE613}"/>
              </a:ext>
            </a:extLst>
          </p:cNvPr>
          <p:cNvSpPr>
            <a:spLocks noGrp="1"/>
          </p:cNvSpPr>
          <p:nvPr>
            <p:ph type="body" sz="quarter" idx="16"/>
          </p:nvPr>
        </p:nvSpPr>
        <p:spPr>
          <a:xfrm>
            <a:off x="257175" y="3299031"/>
            <a:ext cx="3753993" cy="3301794"/>
          </a:xfrm>
        </p:spPr>
        <p:txBody>
          <a:bodyPr/>
          <a:lstStyle>
            <a:lvl1pPr marL="237744">
              <a:lnSpc>
                <a:spcPct val="93000"/>
              </a:lnSpc>
              <a:spcBef>
                <a:spcPts val="1000"/>
              </a:spcBef>
              <a:defRPr sz="1200" spc="-17">
                <a:solidFill>
                  <a:schemeClr val="tx2"/>
                </a:solidFill>
              </a:defRPr>
            </a:lvl1pPr>
            <a:lvl2pPr marL="402336">
              <a:lnSpc>
                <a:spcPct val="93000"/>
              </a:lnSpc>
              <a:spcBef>
                <a:spcPts val="1000"/>
              </a:spcBef>
              <a:defRPr sz="1200" spc="-17">
                <a:solidFill>
                  <a:schemeClr val="tx2"/>
                </a:solidFill>
              </a:defRPr>
            </a:lvl2pPr>
            <a:lvl3pPr marL="585216">
              <a:lnSpc>
                <a:spcPct val="93000"/>
              </a:lnSpc>
              <a:spcBef>
                <a:spcPts val="1000"/>
              </a:spcBef>
              <a:defRPr sz="1200" spc="-17">
                <a:solidFill>
                  <a:schemeClr val="tx2"/>
                </a:solidFill>
              </a:defRPr>
            </a:lvl3pPr>
            <a:lvl4pPr marL="768096">
              <a:lnSpc>
                <a:spcPct val="93000"/>
              </a:lnSpc>
              <a:spcBef>
                <a:spcPts val="1000"/>
              </a:spcBef>
              <a:defRPr sz="1200" spc="-17">
                <a:solidFill>
                  <a:schemeClr val="tx2"/>
                </a:solidFill>
              </a:defRPr>
            </a:lvl4pPr>
            <a:lvl5pPr marL="950976">
              <a:lnSpc>
                <a:spcPct val="93000"/>
              </a:lnSpc>
              <a:spcBef>
                <a:spcPts val="1000"/>
              </a:spcBef>
              <a:defRPr sz="12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24">
            <a:extLst>
              <a:ext uri="{FF2B5EF4-FFF2-40B4-BE49-F238E27FC236}">
                <a16:creationId xmlns:a16="http://schemas.microsoft.com/office/drawing/2014/main" id="{6E77B6E7-D661-181A-C34B-26EF05233EBA}"/>
              </a:ext>
            </a:extLst>
          </p:cNvPr>
          <p:cNvSpPr>
            <a:spLocks noGrp="1"/>
          </p:cNvSpPr>
          <p:nvPr>
            <p:ph type="body" sz="quarter" idx="13" hasCustomPrompt="1"/>
          </p:nvPr>
        </p:nvSpPr>
        <p:spPr>
          <a:xfrm>
            <a:off x="257180" y="2938535"/>
            <a:ext cx="3753871"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Tree>
    <p:extLst>
      <p:ext uri="{BB962C8B-B14F-4D97-AF65-F5344CB8AC3E}">
        <p14:creationId xmlns:p14="http://schemas.microsoft.com/office/powerpoint/2010/main" val="2426049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 with Images-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35796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hree Column with Images-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14096365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with Images-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D087A9-08E7-6C44-BF3A-F150866106EC}"/>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71689407-E72F-B7C0-5F24-2EB64881AF1B}"/>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DEC308B-3AA4-6AD2-F3B3-058F2A28654F}"/>
              </a:ext>
            </a:extLst>
          </p:cNvPr>
          <p:cNvSpPr>
            <a:spLocks noGrp="1"/>
          </p:cNvSpPr>
          <p:nvPr>
            <p:ph type="subTitle" idx="1" hasCustomPrompt="1"/>
          </p:nvPr>
        </p:nvSpPr>
        <p:spPr>
          <a:xfrm>
            <a:off x="257178" y="1088496"/>
            <a:ext cx="3803647"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Our Values</a:t>
            </a:r>
            <a:endParaRPr lang="en-GB"/>
          </a:p>
        </p:txBody>
      </p:sp>
      <p:sp>
        <p:nvSpPr>
          <p:cNvPr id="8" name="Text Placeholder 18">
            <a:extLst>
              <a:ext uri="{FF2B5EF4-FFF2-40B4-BE49-F238E27FC236}">
                <a16:creationId xmlns:a16="http://schemas.microsoft.com/office/drawing/2014/main" id="{E0117899-3E76-D3F5-0D23-B952DA57678D}"/>
              </a:ext>
            </a:extLst>
          </p:cNvPr>
          <p:cNvSpPr>
            <a:spLocks noGrp="1"/>
          </p:cNvSpPr>
          <p:nvPr>
            <p:ph type="body" sz="quarter" idx="16"/>
          </p:nvPr>
        </p:nvSpPr>
        <p:spPr>
          <a:xfrm>
            <a:off x="257175"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Picture Placeholder 33">
            <a:extLst>
              <a:ext uri="{FF2B5EF4-FFF2-40B4-BE49-F238E27FC236}">
                <a16:creationId xmlns:a16="http://schemas.microsoft.com/office/drawing/2014/main" id="{47E5F4DB-7207-C400-8FC3-3AF767281D2D}"/>
              </a:ext>
            </a:extLst>
          </p:cNvPr>
          <p:cNvSpPr>
            <a:spLocks noGrp="1"/>
          </p:cNvSpPr>
          <p:nvPr>
            <p:ph type="pic" sz="quarter" idx="21"/>
          </p:nvPr>
        </p:nvSpPr>
        <p:spPr>
          <a:xfrm>
            <a:off x="257175" y="1879599"/>
            <a:ext cx="3803650" cy="2908300"/>
          </a:xfrm>
          <a:prstGeom prst="roundRect">
            <a:avLst>
              <a:gd name="adj" fmla="val 3567"/>
            </a:avLst>
          </a:prstGeom>
        </p:spPr>
        <p:txBody>
          <a:bodyPr/>
          <a:lstStyle/>
          <a:p>
            <a:endParaRPr lang="en-GB"/>
          </a:p>
        </p:txBody>
      </p:sp>
      <p:sp>
        <p:nvSpPr>
          <p:cNvPr id="10" name="Picture Placeholder 33">
            <a:extLst>
              <a:ext uri="{FF2B5EF4-FFF2-40B4-BE49-F238E27FC236}">
                <a16:creationId xmlns:a16="http://schemas.microsoft.com/office/drawing/2014/main" id="{AC2F4AC6-1718-66CC-B3E7-9C6D2CFE59D9}"/>
              </a:ext>
            </a:extLst>
          </p:cNvPr>
          <p:cNvSpPr>
            <a:spLocks noGrp="1"/>
          </p:cNvSpPr>
          <p:nvPr>
            <p:ph type="pic" sz="quarter" idx="22"/>
          </p:nvPr>
        </p:nvSpPr>
        <p:spPr>
          <a:xfrm>
            <a:off x="4194141" y="1879599"/>
            <a:ext cx="3803650" cy="2908300"/>
          </a:xfrm>
          <a:prstGeom prst="roundRect">
            <a:avLst>
              <a:gd name="adj" fmla="val 3567"/>
            </a:avLst>
          </a:prstGeom>
        </p:spPr>
        <p:txBody>
          <a:bodyPr/>
          <a:lstStyle/>
          <a:p>
            <a:endParaRPr lang="en-GB"/>
          </a:p>
        </p:txBody>
      </p:sp>
      <p:sp>
        <p:nvSpPr>
          <p:cNvPr id="11" name="Picture Placeholder 33">
            <a:extLst>
              <a:ext uri="{FF2B5EF4-FFF2-40B4-BE49-F238E27FC236}">
                <a16:creationId xmlns:a16="http://schemas.microsoft.com/office/drawing/2014/main" id="{836F6D11-A1CF-A88C-B5A0-6A0A4E3FAE7C}"/>
              </a:ext>
            </a:extLst>
          </p:cNvPr>
          <p:cNvSpPr>
            <a:spLocks noGrp="1"/>
          </p:cNvSpPr>
          <p:nvPr>
            <p:ph type="pic" sz="quarter" idx="23"/>
          </p:nvPr>
        </p:nvSpPr>
        <p:spPr>
          <a:xfrm>
            <a:off x="8131171" y="1879599"/>
            <a:ext cx="3803650" cy="2908300"/>
          </a:xfrm>
          <a:prstGeom prst="roundRect">
            <a:avLst>
              <a:gd name="adj" fmla="val 3567"/>
            </a:avLst>
          </a:prstGeom>
        </p:spPr>
        <p:txBody>
          <a:bodyPr/>
          <a:lstStyle/>
          <a:p>
            <a:endParaRPr lang="en-GB"/>
          </a:p>
        </p:txBody>
      </p:sp>
      <p:sp>
        <p:nvSpPr>
          <p:cNvPr id="12" name="Text Placeholder 18">
            <a:extLst>
              <a:ext uri="{FF2B5EF4-FFF2-40B4-BE49-F238E27FC236}">
                <a16:creationId xmlns:a16="http://schemas.microsoft.com/office/drawing/2014/main" id="{B23F71E5-5599-C507-0217-57BC661E72F1}"/>
              </a:ext>
            </a:extLst>
          </p:cNvPr>
          <p:cNvSpPr>
            <a:spLocks noGrp="1"/>
          </p:cNvSpPr>
          <p:nvPr>
            <p:ph type="body" sz="quarter" idx="24"/>
          </p:nvPr>
        </p:nvSpPr>
        <p:spPr>
          <a:xfrm>
            <a:off x="4194141"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18">
            <a:extLst>
              <a:ext uri="{FF2B5EF4-FFF2-40B4-BE49-F238E27FC236}">
                <a16:creationId xmlns:a16="http://schemas.microsoft.com/office/drawing/2014/main" id="{62143D84-C449-472E-13E7-11DD5B739482}"/>
              </a:ext>
            </a:extLst>
          </p:cNvPr>
          <p:cNvSpPr>
            <a:spLocks noGrp="1"/>
          </p:cNvSpPr>
          <p:nvPr>
            <p:ph type="body" sz="quarter" idx="25"/>
          </p:nvPr>
        </p:nvSpPr>
        <p:spPr>
          <a:xfrm>
            <a:off x="8131107"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4145034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5696714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Four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509233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3770937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hree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8961418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40331675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hree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1788679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6236135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Four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8189144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Pieces of Data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a:t>
            </a:r>
            <a:br>
              <a:rPr lang="en-US"/>
            </a:br>
            <a:r>
              <a:rPr lang="en-US"/>
              <a:t>pieces of data</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8127809" y="1355663"/>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8" name="Text Placeholder 18">
            <a:extLst>
              <a:ext uri="{FF2B5EF4-FFF2-40B4-BE49-F238E27FC236}">
                <a16:creationId xmlns:a16="http://schemas.microsoft.com/office/drawing/2014/main" id="{732AC2A8-0CD2-B276-6ECA-49CF1F7D958F}"/>
              </a:ext>
            </a:extLst>
          </p:cNvPr>
          <p:cNvSpPr>
            <a:spLocks noGrp="1"/>
          </p:cNvSpPr>
          <p:nvPr>
            <p:ph type="body" sz="quarter" idx="21"/>
          </p:nvPr>
        </p:nvSpPr>
        <p:spPr>
          <a:xfrm>
            <a:off x="257181" y="2395728"/>
            <a:ext cx="4028947" cy="3239654"/>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9" name="Text Placeholder 24">
            <a:extLst>
              <a:ext uri="{FF2B5EF4-FFF2-40B4-BE49-F238E27FC236}">
                <a16:creationId xmlns:a16="http://schemas.microsoft.com/office/drawing/2014/main" id="{EAA277A7-7321-7A88-5F93-190B60652EE1}"/>
              </a:ext>
            </a:extLst>
          </p:cNvPr>
          <p:cNvSpPr>
            <a:spLocks noGrp="1"/>
          </p:cNvSpPr>
          <p:nvPr>
            <p:ph type="body" sz="quarter" idx="22" hasCustomPrompt="1"/>
          </p:nvPr>
        </p:nvSpPr>
        <p:spPr>
          <a:xfrm>
            <a:off x="8127809" y="2149184"/>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0" name="Text Placeholder 24">
            <a:extLst>
              <a:ext uri="{FF2B5EF4-FFF2-40B4-BE49-F238E27FC236}">
                <a16:creationId xmlns:a16="http://schemas.microsoft.com/office/drawing/2014/main" id="{13238D00-3EAE-DC62-E521-5E63FD0B9BE9}"/>
              </a:ext>
            </a:extLst>
          </p:cNvPr>
          <p:cNvSpPr>
            <a:spLocks noGrp="1"/>
          </p:cNvSpPr>
          <p:nvPr>
            <p:ph type="body" sz="quarter" idx="23" hasCustomPrompt="1"/>
          </p:nvPr>
        </p:nvSpPr>
        <p:spPr>
          <a:xfrm>
            <a:off x="8127809" y="2992341"/>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1" name="Text Placeholder 24">
            <a:extLst>
              <a:ext uri="{FF2B5EF4-FFF2-40B4-BE49-F238E27FC236}">
                <a16:creationId xmlns:a16="http://schemas.microsoft.com/office/drawing/2014/main" id="{8CF5F73C-4783-7687-CD38-BDAE75533690}"/>
              </a:ext>
            </a:extLst>
          </p:cNvPr>
          <p:cNvSpPr>
            <a:spLocks noGrp="1"/>
          </p:cNvSpPr>
          <p:nvPr>
            <p:ph type="body" sz="quarter" idx="24" hasCustomPrompt="1"/>
          </p:nvPr>
        </p:nvSpPr>
        <p:spPr>
          <a:xfrm>
            <a:off x="8127809" y="3785862"/>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2" name="Text Placeholder 24">
            <a:extLst>
              <a:ext uri="{FF2B5EF4-FFF2-40B4-BE49-F238E27FC236}">
                <a16:creationId xmlns:a16="http://schemas.microsoft.com/office/drawing/2014/main" id="{5D47E480-92FD-B068-A30D-AB1FCD626A96}"/>
              </a:ext>
            </a:extLst>
          </p:cNvPr>
          <p:cNvSpPr>
            <a:spLocks noGrp="1"/>
          </p:cNvSpPr>
          <p:nvPr>
            <p:ph type="body" sz="quarter" idx="25" hasCustomPrompt="1"/>
          </p:nvPr>
        </p:nvSpPr>
        <p:spPr>
          <a:xfrm>
            <a:off x="8127809" y="4623196"/>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3" name="Text Placeholder 24">
            <a:extLst>
              <a:ext uri="{FF2B5EF4-FFF2-40B4-BE49-F238E27FC236}">
                <a16:creationId xmlns:a16="http://schemas.microsoft.com/office/drawing/2014/main" id="{331C8AFE-CB23-661B-7C14-586A53BBD679}"/>
              </a:ext>
            </a:extLst>
          </p:cNvPr>
          <p:cNvSpPr>
            <a:spLocks noGrp="1"/>
          </p:cNvSpPr>
          <p:nvPr>
            <p:ph type="body" sz="quarter" idx="26" hasCustomPrompt="1"/>
          </p:nvPr>
        </p:nvSpPr>
        <p:spPr>
          <a:xfrm>
            <a:off x="8127809" y="5416717"/>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Tree>
    <p:extLst>
      <p:ext uri="{BB962C8B-B14F-4D97-AF65-F5344CB8AC3E}">
        <p14:creationId xmlns:p14="http://schemas.microsoft.com/office/powerpoint/2010/main" val="4558332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EFC1-1303-072F-1268-89AE9D9D646C}"/>
              </a:ext>
            </a:extLst>
          </p:cNvPr>
          <p:cNvSpPr>
            <a:spLocks noGrp="1"/>
          </p:cNvSpPr>
          <p:nvPr>
            <p:ph type="title"/>
          </p:nvPr>
        </p:nvSpPr>
        <p:spPr/>
        <p:txBody>
          <a:bodyPr/>
          <a:lstStyle/>
          <a:p>
            <a:r>
              <a:rPr lang="en-GB"/>
              <a:t>Click to edit Master title style</a:t>
            </a:r>
          </a:p>
        </p:txBody>
      </p:sp>
      <p:sp>
        <p:nvSpPr>
          <p:cNvPr id="3" name="Footer Placeholder 2">
            <a:extLst>
              <a:ext uri="{FF2B5EF4-FFF2-40B4-BE49-F238E27FC236}">
                <a16:creationId xmlns:a16="http://schemas.microsoft.com/office/drawing/2014/main" id="{58ADFD45-BBA2-0FD1-6247-2B24FE11A9A3}"/>
              </a:ext>
            </a:extLst>
          </p:cNvPr>
          <p:cNvSpPr>
            <a:spLocks noGrp="1"/>
          </p:cNvSpPr>
          <p:nvPr>
            <p:ph type="ftr" sz="quarter" idx="10"/>
          </p:nvPr>
        </p:nvSpPr>
        <p:spPr/>
        <p:txBody>
          <a:bodyPr/>
          <a:lstStyle/>
          <a:p>
            <a:r>
              <a:rPr lang="en-US"/>
              <a:t>Confidential</a:t>
            </a:r>
            <a:endParaRPr lang="en-GB"/>
          </a:p>
        </p:txBody>
      </p:sp>
      <p:sp>
        <p:nvSpPr>
          <p:cNvPr id="4" name="Slide Number Placeholder 3">
            <a:extLst>
              <a:ext uri="{FF2B5EF4-FFF2-40B4-BE49-F238E27FC236}">
                <a16:creationId xmlns:a16="http://schemas.microsoft.com/office/drawing/2014/main" id="{ACA83A8C-033D-5957-3864-393DC98EAFF4}"/>
              </a:ext>
            </a:extLst>
          </p:cNvPr>
          <p:cNvSpPr>
            <a:spLocks noGrp="1"/>
          </p:cNvSpPr>
          <p:nvPr>
            <p:ph type="sldNum" sz="quarter" idx="11"/>
          </p:nvPr>
        </p:nvSpPr>
        <p:spPr/>
        <p:txBody>
          <a:bodyPr/>
          <a:lstStyle/>
          <a:p>
            <a:fld id="{F41E5F93-45D3-472F-9EA1-BCB47A04FF6B}" type="slidenum">
              <a:rPr lang="en-GB" smtClean="0"/>
              <a:pPr/>
              <a:t>‹#›</a:t>
            </a:fld>
            <a:endParaRPr lang="en-GB"/>
          </a:p>
        </p:txBody>
      </p:sp>
    </p:spTree>
    <p:extLst>
      <p:ext uri="{BB962C8B-B14F-4D97-AF65-F5344CB8AC3E}">
        <p14:creationId xmlns:p14="http://schemas.microsoft.com/office/powerpoint/2010/main" val="2491364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21" Type="http://schemas.openxmlformats.org/officeDocument/2006/relationships/slideLayout" Target="../slideLayouts/slideLayout27.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theme" Target="../theme/theme2.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33642-E6A3-4C5F-3A36-9FEF361F53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BD7D81-BE25-A6F1-3032-60F7A1E493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F26E0BC-72C0-DE90-5A98-38BAC9CA3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D36855-D560-7AF2-9CB7-00E82541DE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CFF174-0C8B-41F2-9A46-1C3276C99A0F}" type="slidenum">
              <a:rPr lang="en-US" smtClean="0"/>
              <a:t>‹#›</a:t>
            </a:fld>
            <a:endParaRPr lang="en-US"/>
          </a:p>
        </p:txBody>
      </p:sp>
    </p:spTree>
    <p:extLst>
      <p:ext uri="{BB962C8B-B14F-4D97-AF65-F5344CB8AC3E}">
        <p14:creationId xmlns:p14="http://schemas.microsoft.com/office/powerpoint/2010/main" val="29199446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317050-C30C-E74C-C1F5-1B4FC8F3DACC}"/>
              </a:ext>
            </a:extLst>
          </p:cNvPr>
          <p:cNvSpPr>
            <a:spLocks noGrp="1"/>
          </p:cNvSpPr>
          <p:nvPr>
            <p:ph type="title"/>
          </p:nvPr>
        </p:nvSpPr>
        <p:spPr>
          <a:xfrm>
            <a:off x="261111" y="1389953"/>
            <a:ext cx="11673713" cy="774128"/>
          </a:xfrm>
          <a:prstGeom prst="rect">
            <a:avLst/>
          </a:prstGeom>
        </p:spPr>
        <p:txBody>
          <a:bodyPr vert="horz" lIns="0" tIns="0" rIns="0" bIns="0" rtlCol="0" anchor="t">
            <a:noAutofit/>
          </a:bodyPr>
          <a:lstStyle/>
          <a:p>
            <a:r>
              <a:rPr lang="en-GB"/>
              <a:t>Click to edit Master title style</a:t>
            </a:r>
          </a:p>
        </p:txBody>
      </p:sp>
      <p:sp>
        <p:nvSpPr>
          <p:cNvPr id="3" name="Text Placeholder 2">
            <a:extLst>
              <a:ext uri="{FF2B5EF4-FFF2-40B4-BE49-F238E27FC236}">
                <a16:creationId xmlns:a16="http://schemas.microsoft.com/office/drawing/2014/main" id="{B769E737-7895-43E7-91EE-24C987662CD7}"/>
              </a:ext>
            </a:extLst>
          </p:cNvPr>
          <p:cNvSpPr>
            <a:spLocks noGrp="1"/>
          </p:cNvSpPr>
          <p:nvPr>
            <p:ph type="body" idx="1"/>
          </p:nvPr>
        </p:nvSpPr>
        <p:spPr>
          <a:xfrm>
            <a:off x="261111" y="2335371"/>
            <a:ext cx="11673712" cy="3709829"/>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4">
            <a:extLst>
              <a:ext uri="{FF2B5EF4-FFF2-40B4-BE49-F238E27FC236}">
                <a16:creationId xmlns:a16="http://schemas.microsoft.com/office/drawing/2014/main" id="{ACFCE6EB-5441-53CA-2FEE-EBCF971E1B92}"/>
              </a:ext>
            </a:extLst>
          </p:cNvPr>
          <p:cNvSpPr>
            <a:spLocks noGrp="1"/>
          </p:cNvSpPr>
          <p:nvPr>
            <p:ph type="ftr" sz="quarter" idx="3"/>
          </p:nvPr>
        </p:nvSpPr>
        <p:spPr>
          <a:xfrm>
            <a:off x="10108812" y="255984"/>
            <a:ext cx="871608" cy="133985"/>
          </a:xfrm>
          <a:prstGeom prst="rect">
            <a:avLst/>
          </a:prstGeom>
        </p:spPr>
        <p:txBody>
          <a:bodyPr vert="horz" lIns="0" tIns="0" rIns="0" bIns="0" rtlCol="0" anchor="ctr">
            <a:noAutofit/>
          </a:bodyPr>
          <a:lstStyle>
            <a:lvl1pPr algn="l">
              <a:defRPr sz="900" spc="-39">
                <a:solidFill>
                  <a:schemeClr val="tx2"/>
                </a:solidFill>
              </a:defRPr>
            </a:lvl1pPr>
          </a:lstStyle>
          <a:p>
            <a:r>
              <a:rPr lang="en-US"/>
              <a:t>Confidential</a:t>
            </a:r>
            <a:endParaRPr lang="en-GB"/>
          </a:p>
        </p:txBody>
      </p:sp>
      <p:sp>
        <p:nvSpPr>
          <p:cNvPr id="6" name="Slide Number Placeholder 5">
            <a:extLst>
              <a:ext uri="{FF2B5EF4-FFF2-40B4-BE49-F238E27FC236}">
                <a16:creationId xmlns:a16="http://schemas.microsoft.com/office/drawing/2014/main" id="{8686E8A7-6991-B8DA-83B1-EBCD0C2AD733}"/>
              </a:ext>
            </a:extLst>
          </p:cNvPr>
          <p:cNvSpPr>
            <a:spLocks noGrp="1"/>
          </p:cNvSpPr>
          <p:nvPr>
            <p:ph type="sldNum" sz="quarter" idx="4"/>
          </p:nvPr>
        </p:nvSpPr>
        <p:spPr>
          <a:xfrm>
            <a:off x="11628119" y="255984"/>
            <a:ext cx="306703" cy="133985"/>
          </a:xfrm>
          <a:prstGeom prst="rect">
            <a:avLst/>
          </a:prstGeom>
        </p:spPr>
        <p:txBody>
          <a:bodyPr vert="horz" lIns="0" tIns="0" rIns="0" bIns="0" rtlCol="0" anchor="ctr">
            <a:noAutofit/>
          </a:bodyPr>
          <a:lstStyle>
            <a:lvl1pPr algn="r">
              <a:defRPr lang="en-GB" sz="900" spc="-39" smtClean="0">
                <a:solidFill>
                  <a:schemeClr val="tx2"/>
                </a:solidFill>
              </a:defRPr>
            </a:lvl1pPr>
          </a:lstStyle>
          <a:p>
            <a:fld id="{F41E5F93-45D3-472F-9EA1-BCB47A04FF6B}" type="slidenum">
              <a:rPr lang="en-GB" smtClean="0"/>
              <a:pPr/>
              <a:t>‹#›</a:t>
            </a:fld>
            <a:endParaRPr lang="en-GB"/>
          </a:p>
        </p:txBody>
      </p:sp>
      <p:grpSp>
        <p:nvGrpSpPr>
          <p:cNvPr id="10" name="Graphic 8">
            <a:extLst>
              <a:ext uri="{FF2B5EF4-FFF2-40B4-BE49-F238E27FC236}">
                <a16:creationId xmlns:a16="http://schemas.microsoft.com/office/drawing/2014/main" id="{D8A8E73E-4DB6-FA58-001E-2368A417CCAB}"/>
              </a:ext>
            </a:extLst>
          </p:cNvPr>
          <p:cNvGrpSpPr/>
          <p:nvPr/>
        </p:nvGrpSpPr>
        <p:grpSpPr>
          <a:xfrm>
            <a:off x="257178" y="255588"/>
            <a:ext cx="895347" cy="306976"/>
            <a:chOff x="257178" y="255588"/>
            <a:chExt cx="895347" cy="306976"/>
          </a:xfrm>
          <a:solidFill>
            <a:srgbClr val="000000"/>
          </a:solidFill>
        </p:grpSpPr>
        <p:sp>
          <p:nvSpPr>
            <p:cNvPr id="11" name="Free-form: Shape 10">
              <a:extLst>
                <a:ext uri="{FF2B5EF4-FFF2-40B4-BE49-F238E27FC236}">
                  <a16:creationId xmlns:a16="http://schemas.microsoft.com/office/drawing/2014/main" id="{3EB496F3-A661-4DBF-0232-FCB4C123B86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solidFill>
              <a:srgbClr val="000000"/>
            </a:solid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E5404865-E213-33CC-D712-771E46F7FD66}"/>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solidFill>
              <a:srgbClr val="000000"/>
            </a:solid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36CFE573-0387-CB48-F17A-213B6C9CA16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solidFill>
              <a:srgbClr val="000000"/>
            </a:solid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7BB9D01A-1C1B-7B67-291A-A8524BBF96BB}"/>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solidFill>
              <a:srgbClr val="000000"/>
            </a:solid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403EE07-5ED7-8C84-947B-7AE4F4EF6F5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solidFill>
              <a:srgbClr val="000000"/>
            </a:solid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32F9F18C-FA01-2F12-DDEF-7C2431B88C17}"/>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solidFill>
              <a:srgbClr val="000000"/>
            </a:solidFill>
            <a:ln w="6327"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78A5A8A2-DE91-8B1C-6FF3-41BEF31A4D88}"/>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solidFill>
              <a:srgbClr val="000000"/>
            </a:solidFill>
            <a:ln w="6327"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4BDD56E3-1929-5137-04FF-F77B9406C158}"/>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solidFill>
              <a:srgbClr val="000000"/>
            </a:solidFill>
            <a:ln w="6327"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75D71F2B-6D4E-D00D-1133-C56670C78B58}"/>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solidFill>
              <a:srgbClr val="000000"/>
            </a:solidFill>
            <a:ln w="6327"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593D9C17-8D66-0E81-4046-4F54E2BC65A0}"/>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solidFill>
              <a:srgbClr val="000000"/>
            </a:solid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349205621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Lst>
  <p:hf hdr="0"/>
  <p:txStyles>
    <p:titleStyle>
      <a:lvl1pPr algn="l" defTabSz="914400" rtl="0" eaLnBrk="1" latinLnBrk="0" hangingPunct="1">
        <a:lnSpc>
          <a:spcPct val="96000"/>
        </a:lnSpc>
        <a:spcBef>
          <a:spcPts val="1000"/>
        </a:spcBef>
        <a:buNone/>
        <a:defRPr sz="2400" kern="1200">
          <a:solidFill>
            <a:schemeClr val="tx1"/>
          </a:solidFill>
          <a:latin typeface="+mj-lt"/>
          <a:ea typeface="+mj-ea"/>
          <a:cs typeface="+mj-cs"/>
        </a:defRPr>
      </a:lvl1pPr>
    </p:titleStyle>
    <p:bodyStyle>
      <a:lvl1pPr marL="0" indent="-146304" algn="l" defTabSz="914400" rtl="0" eaLnBrk="1" latinLnBrk="0" hangingPunct="1">
        <a:lnSpc>
          <a:spcPct val="90000"/>
        </a:lnSpc>
        <a:spcBef>
          <a:spcPts val="1000"/>
        </a:spcBef>
        <a:buFont typeface="Arial" panose="020B0604020202020204" pitchFamily="34" charset="0"/>
        <a:buChar char="•"/>
        <a:defRPr sz="1050" kern="1200">
          <a:solidFill>
            <a:schemeClr val="tx2"/>
          </a:solidFill>
          <a:latin typeface="+mn-lt"/>
          <a:ea typeface="+mn-ea"/>
          <a:cs typeface="+mn-cs"/>
        </a:defRPr>
      </a:lvl1pPr>
      <a:lvl2pPr marL="32004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2pPr>
      <a:lvl3pPr marL="50292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3pPr>
      <a:lvl4pPr marL="68580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4pPr>
      <a:lvl5pPr marL="86868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462901"/>
          </p15:clr>
        </p15:guide>
        <p15:guide id="2" pos="7680">
          <p15:clr>
            <a:srgbClr val="462901"/>
          </p15:clr>
        </p15:guide>
        <p15:guide id="3" pos="161">
          <p15:clr>
            <a:srgbClr val="462901"/>
          </p15:clr>
        </p15:guide>
        <p15:guide id="4" pos="1935">
          <p15:clr>
            <a:srgbClr val="462901"/>
          </p15:clr>
        </p15:guide>
        <p15:guide id="5" pos="2022">
          <p15:clr>
            <a:srgbClr val="462901"/>
          </p15:clr>
        </p15:guide>
        <p15:guide id="6" pos="3796">
          <p15:clr>
            <a:srgbClr val="462901"/>
          </p15:clr>
        </p15:guide>
        <p15:guide id="7" pos="3883">
          <p15:clr>
            <a:srgbClr val="462901"/>
          </p15:clr>
        </p15:guide>
        <p15:guide id="8" pos="5657">
          <p15:clr>
            <a:srgbClr val="462901"/>
          </p15:clr>
        </p15:guide>
        <p15:guide id="9" pos="5744">
          <p15:clr>
            <a:srgbClr val="462901"/>
          </p15:clr>
        </p15:guide>
        <p15:guide id="10" pos="7518">
          <p15:clr>
            <a:srgbClr val="462901"/>
          </p15:clr>
        </p15:guide>
        <p15:guide id="11" orient="horz">
          <p15:clr>
            <a:srgbClr val="462901"/>
          </p15:clr>
        </p15:guide>
        <p15:guide id="12" orient="horz" pos="4320">
          <p15:clr>
            <a:srgbClr val="462901"/>
          </p15:clr>
        </p15:guide>
        <p15:guide id="13" orient="horz" pos="161">
          <p15:clr>
            <a:srgbClr val="462901"/>
          </p15:clr>
        </p15:guide>
        <p15:guide id="14" orient="horz" pos="755">
          <p15:clr>
            <a:srgbClr val="462901"/>
          </p15:clr>
        </p15:guide>
        <p15:guide id="15" orient="horz" pos="841">
          <p15:clr>
            <a:srgbClr val="462901"/>
          </p15:clr>
        </p15:guide>
        <p15:guide id="16" orient="horz" pos="1436">
          <p15:clr>
            <a:srgbClr val="462901"/>
          </p15:clr>
        </p15:guide>
        <p15:guide id="17" orient="horz" pos="1522">
          <p15:clr>
            <a:srgbClr val="462901"/>
          </p15:clr>
        </p15:guide>
        <p15:guide id="18" orient="horz" pos="2116">
          <p15:clr>
            <a:srgbClr val="462901"/>
          </p15:clr>
        </p15:guide>
        <p15:guide id="19" orient="horz" pos="2203">
          <p15:clr>
            <a:srgbClr val="462901"/>
          </p15:clr>
        </p15:guide>
        <p15:guide id="20" orient="horz" pos="2797">
          <p15:clr>
            <a:srgbClr val="462901"/>
          </p15:clr>
        </p15:guide>
        <p15:guide id="21" orient="horz" pos="2883">
          <p15:clr>
            <a:srgbClr val="462901"/>
          </p15:clr>
        </p15:guide>
        <p15:guide id="22" orient="horz" pos="3478">
          <p15:clr>
            <a:srgbClr val="462901"/>
          </p15:clr>
        </p15:guide>
        <p15:guide id="23" orient="horz" pos="3564">
          <p15:clr>
            <a:srgbClr val="462901"/>
          </p15:clr>
        </p15:guide>
        <p15:guide id="24" orient="horz" pos="4158">
          <p15:clr>
            <a:srgbClr val="46290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hyperlink" Target="https://aacrjournals.org/clincancerres/article/26/9/2188/83190/A-Novel-GUCY2C-CD3-T-Cell-Engaging-Bispecific" TargetMode="External"/><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hyperlink" Target="https://pmc.ncbi.nlm.nih.gov/articles/PMC4253446/" TargetMode="External"/><Relationship Id="rId5" Type="http://schemas.openxmlformats.org/officeDocument/2006/relationships/hyperlink" Target="https://pmc.ncbi.nlm.nih.gov/articles/PMC8133521/" TargetMode="External"/><Relationship Id="rId4" Type="http://schemas.openxmlformats.org/officeDocument/2006/relationships/hyperlink" Target="https://journals.plos.org/plosone/article?id=10.1371/journal.pone.0189953"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hyperlink" Target="https://aacrjournals.org/clincancerres/article/26/9/2188/83190/A-Novel-GUCY2C-CD3-T-Cell-Engaging-Bispecific" TargetMode="External"/><Relationship Id="rId4" Type="http://schemas.openxmlformats.org/officeDocument/2006/relationships/image" Target="../media/image19.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9.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hyperlink" Target="https://pmc.ncbi.nlm.nih.gov/articles/PMC5742255/" TargetMode="External"/><Relationship Id="rId5" Type="http://schemas.openxmlformats.org/officeDocument/2006/relationships/image" Target="../media/image11.png"/><Relationship Id="rId10" Type="http://schemas.openxmlformats.org/officeDocument/2006/relationships/image" Target="../media/image20.jpeg"/><Relationship Id="rId4" Type="http://schemas.openxmlformats.org/officeDocument/2006/relationships/image" Target="../media/image19.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hyperlink" Target="https://aacrjournals.org/clincancerres/article/26/9/2188/83190/A-Novel-GUCY2C-CD3-T-Cell-Engaging-Bispecific" TargetMode="External"/><Relationship Id="rId3" Type="http://schemas.microsoft.com/office/2018/10/relationships/comments" Target="../comments/modernComment_145_9B68041D.xml"/><Relationship Id="rId7" Type="http://schemas.openxmlformats.org/officeDocument/2006/relationships/image" Target="../media/image11.png"/><Relationship Id="rId12" Type="http://schemas.openxmlformats.org/officeDocument/2006/relationships/image" Target="../media/image21.jpeg"/><Relationship Id="rId2" Type="http://schemas.openxmlformats.org/officeDocument/2006/relationships/notesSlide" Target="../notesSlides/notesSlide3.xml"/><Relationship Id="rId16"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19.png"/><Relationship Id="rId11" Type="http://schemas.openxmlformats.org/officeDocument/2006/relationships/image" Target="../media/image15.png"/><Relationship Id="rId5" Type="http://schemas.openxmlformats.org/officeDocument/2006/relationships/image" Target="../media/image2.png"/><Relationship Id="rId15" Type="http://schemas.openxmlformats.org/officeDocument/2006/relationships/image" Target="../media/image22.png"/><Relationship Id="rId10" Type="http://schemas.openxmlformats.org/officeDocument/2006/relationships/image" Target="../media/image14.png"/><Relationship Id="rId4" Type="http://schemas.openxmlformats.org/officeDocument/2006/relationships/image" Target="../media/image18.png"/><Relationship Id="rId9" Type="http://schemas.openxmlformats.org/officeDocument/2006/relationships/image" Target="../media/image13.png"/><Relationship Id="rId14" Type="http://schemas.openxmlformats.org/officeDocument/2006/relationships/hyperlink" Target="https://journals.plos.org/plosone/article?id=10.1371/journal.pone.0189953"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hyperlink" Target="https://jitc.bmj.com/content/12/10/e009960" TargetMode="External"/><Relationship Id="rId3" Type="http://schemas.microsoft.com/office/2018/10/relationships/comments" Target="../comments/modernComment_209_873B308C.xml"/><Relationship Id="rId7" Type="http://schemas.openxmlformats.org/officeDocument/2006/relationships/image" Target="../media/image11.png"/><Relationship Id="rId12" Type="http://schemas.openxmlformats.org/officeDocument/2006/relationships/hyperlink" Target="https://aacrjournals.org/clincancerres/article/26/9/2188/83190/A-Novel-GUCY2C-CD3-T-Cell-Engaging-Bispecific" TargetMode="External"/><Relationship Id="rId2" Type="http://schemas.openxmlformats.org/officeDocument/2006/relationships/notesSlide" Target="../notesSlides/notesSlide4.xml"/><Relationship Id="rId16" Type="http://schemas.openxmlformats.org/officeDocument/2006/relationships/hyperlink" Target="https://www.proteinatlas.org/ENSG00000070019-GUCY2C/tissue" TargetMode="External"/><Relationship Id="rId1" Type="http://schemas.openxmlformats.org/officeDocument/2006/relationships/slideLayout" Target="../slideLayouts/slideLayout6.xml"/><Relationship Id="rId6" Type="http://schemas.openxmlformats.org/officeDocument/2006/relationships/image" Target="../media/image19.png"/><Relationship Id="rId11" Type="http://schemas.openxmlformats.org/officeDocument/2006/relationships/image" Target="../media/image15.png"/><Relationship Id="rId5" Type="http://schemas.openxmlformats.org/officeDocument/2006/relationships/image" Target="../media/image2.png"/><Relationship Id="rId15" Type="http://schemas.openxmlformats.org/officeDocument/2006/relationships/hyperlink" Target="https://www.proteinatlas.org/ENSG00000070019-GUCY2C/cancer" TargetMode="External"/><Relationship Id="rId10" Type="http://schemas.openxmlformats.org/officeDocument/2006/relationships/image" Target="../media/image14.png"/><Relationship Id="rId4" Type="http://schemas.openxmlformats.org/officeDocument/2006/relationships/image" Target="../media/image18.png"/><Relationship Id="rId9" Type="http://schemas.openxmlformats.org/officeDocument/2006/relationships/image" Target="../media/image13.png"/><Relationship Id="rId14" Type="http://schemas.openxmlformats.org/officeDocument/2006/relationships/hyperlink" Target="https://journals.plos.org/plosone/article?id=10.1371/journal.pone.0189953"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7.jpeg"/><Relationship Id="rId3" Type="http://schemas.openxmlformats.org/officeDocument/2006/relationships/image" Target="../media/image18.png"/><Relationship Id="rId7" Type="http://schemas.openxmlformats.org/officeDocument/2006/relationships/image" Target="../media/image12.png"/><Relationship Id="rId12" Type="http://schemas.openxmlformats.org/officeDocument/2006/relationships/hyperlink" Target="https://pmc.ncbi.nlm.nih.gov/articles/PMC4253446/" TargetMode="External"/><Relationship Id="rId2" Type="http://schemas.microsoft.com/office/2018/10/relationships/comments" Target="../comments/modernComment_140_12DEB5C3.xm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pmc.ncbi.nlm.nih.gov/articles/PMC8133521/" TargetMode="External"/><Relationship Id="rId5" Type="http://schemas.openxmlformats.org/officeDocument/2006/relationships/image" Target="../media/image19.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hyperlink" Target="https://pmc.ncbi.nlm.nih.gov/articles/PMC4543852" TargetMode="External"/><Relationship Id="rId13" Type="http://schemas.openxmlformats.org/officeDocument/2006/relationships/image" Target="../media/image11.png"/><Relationship Id="rId3" Type="http://schemas.openxmlformats.org/officeDocument/2006/relationships/hyperlink" Target="https://seer.cancer.gov/statfacts/html/colorect.html" TargetMode="External"/><Relationship Id="rId7" Type="http://schemas.openxmlformats.org/officeDocument/2006/relationships/hyperlink" Target="https://www.nature.com/articles/s41591-024-03254-6" TargetMode="External"/><Relationship Id="rId12" Type="http://schemas.openxmlformats.org/officeDocument/2006/relationships/image" Target="../media/image19.png"/><Relationship Id="rId17" Type="http://schemas.openxmlformats.org/officeDocument/2006/relationships/image" Target="../media/image15.png"/><Relationship Id="rId2" Type="http://schemas.openxmlformats.org/officeDocument/2006/relationships/hyperlink" Target="https://pmc.ncbi.nlm.nih.gov/articles/PMC10606209/" TargetMode="External"/><Relationship Id="rId16"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hyperlink" Target="https://www.mdpi.com/2073-4409/14/3/161" TargetMode="External"/><Relationship Id="rId11" Type="http://schemas.openxmlformats.org/officeDocument/2006/relationships/image" Target="../media/image2.png"/><Relationship Id="rId5" Type="http://schemas.openxmlformats.org/officeDocument/2006/relationships/hyperlink" Target="https://pmc.ncbi.nlm.nih.gov/articles/PMC10777930" TargetMode="External"/><Relationship Id="rId1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hyperlink" Target="https://acsjournals.onlinelibrary.wiley.com/doi/10.3322/caac.21772" TargetMode="External"/><Relationship Id="rId9" Type="http://schemas.openxmlformats.org/officeDocument/2006/relationships/hyperlink" Target="https://journals.sagepub.com/doi/full/10.1177/17562848221137758?utm_source=chatgpt.com" TargetMode="External"/><Relationship Id="rId1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hyperlink" Target="https://www.nature.com/articles/s41591-022-02115-4" TargetMode="External"/><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hyperlink" Target="https://www.nature.com/articles/s41591-024-03254-6" TargetMode="External"/><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hyperlink" Target="https://pmc.ncbi.nlm.nih.gov/articles/PMC10606209/" TargetMode="External"/><Relationship Id="rId5" Type="http://schemas.openxmlformats.org/officeDocument/2006/relationships/image" Target="../media/image11.png"/><Relationship Id="rId10" Type="http://schemas.openxmlformats.org/officeDocument/2006/relationships/hyperlink" Target="https://www.nature.com/articles/s41591-024-03254-6#Sec11" TargetMode="External"/><Relationship Id="rId4" Type="http://schemas.openxmlformats.org/officeDocument/2006/relationships/image" Target="../media/image19.png"/><Relationship Id="rId9" Type="http://schemas.openxmlformats.org/officeDocument/2006/relationships/image" Target="../media/image15.png"/><Relationship Id="rId14" Type="http://schemas.openxmlformats.org/officeDocument/2006/relationships/hyperlink" Target="https://www.nejm.org/doi/full/10.1056/NEJMoa1713709"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1A93A-40E2-B92A-4E46-31DB6A7AEAE7}"/>
              </a:ext>
            </a:extLst>
          </p:cNvPr>
          <p:cNvSpPr>
            <a:spLocks noGrp="1"/>
          </p:cNvSpPr>
          <p:nvPr>
            <p:ph type="ctrTitle"/>
          </p:nvPr>
        </p:nvSpPr>
        <p:spPr/>
        <p:txBody>
          <a:bodyPr/>
          <a:lstStyle/>
          <a:p>
            <a:r>
              <a:rPr lang="en-US"/>
              <a:t>GCC Target Evaluation</a:t>
            </a:r>
          </a:p>
        </p:txBody>
      </p:sp>
      <p:sp>
        <p:nvSpPr>
          <p:cNvPr id="3" name="Subtitle 2">
            <a:extLst>
              <a:ext uri="{FF2B5EF4-FFF2-40B4-BE49-F238E27FC236}">
                <a16:creationId xmlns:a16="http://schemas.microsoft.com/office/drawing/2014/main" id="{05B40B64-41AD-D710-7364-8782E77C6405}"/>
              </a:ext>
            </a:extLst>
          </p:cNvPr>
          <p:cNvSpPr>
            <a:spLocks noGrp="1"/>
          </p:cNvSpPr>
          <p:nvPr>
            <p:ph type="subTitle" idx="1"/>
          </p:nvPr>
        </p:nvSpPr>
        <p:spPr/>
        <p:txBody>
          <a:bodyPr/>
          <a:lstStyle/>
          <a:p>
            <a:endParaRPr lang="en-US"/>
          </a:p>
        </p:txBody>
      </p:sp>
      <p:sp>
        <p:nvSpPr>
          <p:cNvPr id="4" name="TextBox 3">
            <a:extLst>
              <a:ext uri="{FF2B5EF4-FFF2-40B4-BE49-F238E27FC236}">
                <a16:creationId xmlns:a16="http://schemas.microsoft.com/office/drawing/2014/main" id="{C8B37B8E-E4ED-3F09-2AF4-8E6581AB79FF}"/>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136157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23664-E1FF-6675-5CB7-D8661EB8CC08}"/>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9544F0AD-49B2-31CF-C507-01C3571C1A7A}"/>
              </a:ext>
            </a:extLst>
          </p:cNvPr>
          <p:cNvSpPr>
            <a:spLocks noGrp="1"/>
          </p:cNvSpPr>
          <p:nvPr>
            <p:ph type="title"/>
          </p:nvPr>
        </p:nvSpPr>
        <p:spPr>
          <a:xfrm>
            <a:off x="261111" y="1389953"/>
            <a:ext cx="11608727" cy="414463"/>
          </a:xfrm>
        </p:spPr>
        <p:txBody>
          <a:bodyPr/>
          <a:lstStyle/>
          <a:p>
            <a:r>
              <a:rPr lang="en-US" dirty="0"/>
              <a:t>GCC is highly expressed in CRC and has endogenous peptide ligands</a:t>
            </a:r>
          </a:p>
        </p:txBody>
      </p:sp>
      <p:sp>
        <p:nvSpPr>
          <p:cNvPr id="2" name="Footer Placeholder 1">
            <a:extLst>
              <a:ext uri="{FF2B5EF4-FFF2-40B4-BE49-F238E27FC236}">
                <a16:creationId xmlns:a16="http://schemas.microsoft.com/office/drawing/2014/main" id="{23FDDC0C-DB4A-2DA5-AFBD-B1B10366A608}"/>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56670"/>
                </a:solidFill>
                <a:effectLst/>
                <a:uLnTx/>
                <a:uFillTx/>
                <a:latin typeface="Funnel Sans"/>
                <a:ea typeface="+mn-ea"/>
                <a:cs typeface="+mn-cs"/>
              </a:rPr>
              <a:t>Confidential</a:t>
            </a:r>
            <a:endParaRPr kumimoji="0" lang="en-GB" sz="900" b="0" i="0" u="none" strike="noStrike" kern="1200" cap="none" spc="0" normalizeH="0" baseline="0" noProof="0">
              <a:ln>
                <a:noFill/>
              </a:ln>
              <a:solidFill>
                <a:srgbClr val="656670"/>
              </a:solidFill>
              <a:effectLst/>
              <a:uLnTx/>
              <a:uFillTx/>
              <a:latin typeface="Funnel Sans"/>
              <a:ea typeface="+mn-ea"/>
              <a:cs typeface="+mn-cs"/>
            </a:endParaRPr>
          </a:p>
        </p:txBody>
      </p:sp>
      <p:sp>
        <p:nvSpPr>
          <p:cNvPr id="3" name="Slide Number Placeholder 2">
            <a:extLst>
              <a:ext uri="{FF2B5EF4-FFF2-40B4-BE49-F238E27FC236}">
                <a16:creationId xmlns:a16="http://schemas.microsoft.com/office/drawing/2014/main" id="{7CE0BBE3-13DF-AB26-3CE9-EB9BE0C4FE41}"/>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1E5F93-45D3-472F-9EA1-BCB47A04FF6B}" type="slidenum">
              <a:rPr kumimoji="0" lang="en-GB" sz="900" b="0" i="0" u="none" strike="noStrike" kern="1200" cap="none" spc="-39" normalizeH="0" baseline="0" noProof="0" smtClean="0">
                <a:ln>
                  <a:noFill/>
                </a:ln>
                <a:solidFill>
                  <a:srgbClr val="656670"/>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900" b="0" i="0" u="none" strike="noStrike" kern="1200" cap="none" spc="-39" normalizeH="0" baseline="0" noProof="0">
              <a:ln>
                <a:noFill/>
              </a:ln>
              <a:solidFill>
                <a:srgbClr val="656670"/>
              </a:solidFill>
              <a:effectLst/>
              <a:uLnTx/>
              <a:uFillTx/>
              <a:latin typeface="Funnel Sans"/>
              <a:ea typeface="+mn-ea"/>
              <a:cs typeface="+mn-cs"/>
            </a:endParaRPr>
          </a:p>
        </p:txBody>
      </p:sp>
      <p:sp>
        <p:nvSpPr>
          <p:cNvPr id="21" name="Subtitle 20">
            <a:extLst>
              <a:ext uri="{FF2B5EF4-FFF2-40B4-BE49-F238E27FC236}">
                <a16:creationId xmlns:a16="http://schemas.microsoft.com/office/drawing/2014/main" id="{EC23EBF4-D9AF-D609-FA35-4A5C01890A1C}"/>
              </a:ext>
            </a:extLst>
          </p:cNvPr>
          <p:cNvSpPr>
            <a:spLocks noGrp="1"/>
          </p:cNvSpPr>
          <p:nvPr>
            <p:ph type="subTitle" idx="1"/>
          </p:nvPr>
        </p:nvSpPr>
        <p:spPr/>
        <p:txBody>
          <a:bodyPr/>
          <a:lstStyle/>
          <a:p>
            <a:r>
              <a:rPr lang="en-US" b="1"/>
              <a:t>Target Selection</a:t>
            </a:r>
          </a:p>
        </p:txBody>
      </p:sp>
      <p:grpSp>
        <p:nvGrpSpPr>
          <p:cNvPr id="19" name="Group 18">
            <a:extLst>
              <a:ext uri="{FF2B5EF4-FFF2-40B4-BE49-F238E27FC236}">
                <a16:creationId xmlns:a16="http://schemas.microsoft.com/office/drawing/2014/main" id="{B4BACE51-C16A-B1DF-187A-DBF87C7A6429}"/>
              </a:ext>
            </a:extLst>
          </p:cNvPr>
          <p:cNvGrpSpPr/>
          <p:nvPr/>
        </p:nvGrpSpPr>
        <p:grpSpPr>
          <a:xfrm>
            <a:off x="257178" y="1992420"/>
            <a:ext cx="6523518" cy="4576212"/>
            <a:chOff x="3527298" y="2509627"/>
            <a:chExt cx="3423291" cy="4576212"/>
          </a:xfrm>
        </p:grpSpPr>
        <p:sp>
          <p:nvSpPr>
            <p:cNvPr id="4" name="Shape 2">
              <a:extLst>
                <a:ext uri="{FF2B5EF4-FFF2-40B4-BE49-F238E27FC236}">
                  <a16:creationId xmlns:a16="http://schemas.microsoft.com/office/drawing/2014/main" id="{6416782A-C204-AA67-B572-DDCF0D81226A}"/>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Expression</a:t>
              </a:r>
            </a:p>
          </p:txBody>
        </p:sp>
        <p:sp>
          <p:nvSpPr>
            <p:cNvPr id="7" name="Shape 5">
              <a:extLst>
                <a:ext uri="{FF2B5EF4-FFF2-40B4-BE49-F238E27FC236}">
                  <a16:creationId xmlns:a16="http://schemas.microsoft.com/office/drawing/2014/main" id="{1C73ABF0-C652-BDE6-BC68-EF74F1ED2C52}"/>
                </a:ext>
              </a:extLst>
            </p:cNvPr>
            <p:cNvSpPr/>
            <p:nvPr/>
          </p:nvSpPr>
          <p:spPr>
            <a:xfrm rot="10800000">
              <a:off x="3527298" y="2816654"/>
              <a:ext cx="3423291" cy="4269185"/>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2" name="Group 31">
            <a:extLst>
              <a:ext uri="{FF2B5EF4-FFF2-40B4-BE49-F238E27FC236}">
                <a16:creationId xmlns:a16="http://schemas.microsoft.com/office/drawing/2014/main" id="{C32F00D7-1ECB-1900-C30C-BB9BBC2D166E}"/>
              </a:ext>
            </a:extLst>
          </p:cNvPr>
          <p:cNvGrpSpPr/>
          <p:nvPr/>
        </p:nvGrpSpPr>
        <p:grpSpPr>
          <a:xfrm>
            <a:off x="7112641" y="1992420"/>
            <a:ext cx="4703880" cy="2442064"/>
            <a:chOff x="3527297" y="2509627"/>
            <a:chExt cx="3423292" cy="2294930"/>
          </a:xfrm>
        </p:grpSpPr>
        <p:sp>
          <p:nvSpPr>
            <p:cNvPr id="33" name="Shape 2">
              <a:extLst>
                <a:ext uri="{FF2B5EF4-FFF2-40B4-BE49-F238E27FC236}">
                  <a16:creationId xmlns:a16="http://schemas.microsoft.com/office/drawing/2014/main" id="{CA61FE6B-FE7D-CED1-4BB0-498F7636E181}"/>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Biology &amp; Feasibility</a:t>
              </a:r>
            </a:p>
          </p:txBody>
        </p:sp>
        <p:sp>
          <p:nvSpPr>
            <p:cNvPr id="34" name="Shape 5">
              <a:extLst>
                <a:ext uri="{FF2B5EF4-FFF2-40B4-BE49-F238E27FC236}">
                  <a16:creationId xmlns:a16="http://schemas.microsoft.com/office/drawing/2014/main" id="{E8C49B58-0D34-224C-D83A-F0B823E96D87}"/>
                </a:ext>
              </a:extLst>
            </p:cNvPr>
            <p:cNvSpPr/>
            <p:nvPr/>
          </p:nvSpPr>
          <p:spPr>
            <a:xfrm rot="10800000">
              <a:off x="3527297" y="2816654"/>
              <a:ext cx="3423291" cy="1987903"/>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5" name="Group 34">
            <a:extLst>
              <a:ext uri="{FF2B5EF4-FFF2-40B4-BE49-F238E27FC236}">
                <a16:creationId xmlns:a16="http://schemas.microsoft.com/office/drawing/2014/main" id="{DE90D0BE-0AB4-8831-CFDD-1577836F7ADD}"/>
              </a:ext>
            </a:extLst>
          </p:cNvPr>
          <p:cNvGrpSpPr/>
          <p:nvPr/>
        </p:nvGrpSpPr>
        <p:grpSpPr>
          <a:xfrm>
            <a:off x="7112641" y="4513241"/>
            <a:ext cx="4703880" cy="715080"/>
            <a:chOff x="3527297" y="2509627"/>
            <a:chExt cx="3423292" cy="715080"/>
          </a:xfrm>
        </p:grpSpPr>
        <p:sp>
          <p:nvSpPr>
            <p:cNvPr id="36" name="Shape 2">
              <a:extLst>
                <a:ext uri="{FF2B5EF4-FFF2-40B4-BE49-F238E27FC236}">
                  <a16:creationId xmlns:a16="http://schemas.microsoft.com/office/drawing/2014/main" id="{8324829F-3744-11FD-0158-395C16CD6D52}"/>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Landscape</a:t>
              </a:r>
            </a:p>
          </p:txBody>
        </p:sp>
        <p:sp>
          <p:nvSpPr>
            <p:cNvPr id="37" name="Shape 5">
              <a:extLst>
                <a:ext uri="{FF2B5EF4-FFF2-40B4-BE49-F238E27FC236}">
                  <a16:creationId xmlns:a16="http://schemas.microsoft.com/office/drawing/2014/main" id="{B29551BE-01F1-E112-E7D2-E754DDAB6901}"/>
                </a:ext>
              </a:extLst>
            </p:cNvPr>
            <p:cNvSpPr/>
            <p:nvPr/>
          </p:nvSpPr>
          <p:spPr>
            <a:xfrm rot="10800000">
              <a:off x="3527297" y="2816654"/>
              <a:ext cx="3423291" cy="408053"/>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8" name="Group 37">
            <a:extLst>
              <a:ext uri="{FF2B5EF4-FFF2-40B4-BE49-F238E27FC236}">
                <a16:creationId xmlns:a16="http://schemas.microsoft.com/office/drawing/2014/main" id="{6044E4C5-AEBF-AFCA-C45B-E7A970024F1D}"/>
              </a:ext>
            </a:extLst>
          </p:cNvPr>
          <p:cNvGrpSpPr/>
          <p:nvPr/>
        </p:nvGrpSpPr>
        <p:grpSpPr>
          <a:xfrm>
            <a:off x="7112643" y="5353699"/>
            <a:ext cx="4703879" cy="1214933"/>
            <a:chOff x="3527298" y="2509627"/>
            <a:chExt cx="3423291" cy="1214933"/>
          </a:xfrm>
        </p:grpSpPr>
        <p:sp>
          <p:nvSpPr>
            <p:cNvPr id="39" name="Shape 2">
              <a:extLst>
                <a:ext uri="{FF2B5EF4-FFF2-40B4-BE49-F238E27FC236}">
                  <a16:creationId xmlns:a16="http://schemas.microsoft.com/office/drawing/2014/main" id="{7A83FA5E-C91A-E990-426F-A147DFD056CC}"/>
                </a:ext>
              </a:extLst>
            </p:cNvPr>
            <p:cNvSpPr/>
            <p:nvPr/>
          </p:nvSpPr>
          <p:spPr>
            <a:xfrm>
              <a:off x="3527298" y="2509627"/>
              <a:ext cx="3423291" cy="307028"/>
            </a:xfrm>
            <a:prstGeom prst="round2SameRect">
              <a:avLst>
                <a:gd name="adj1" fmla="val 32721"/>
                <a:gd name="adj2" fmla="val 0"/>
              </a:avLst>
            </a:prstGeom>
            <a:solidFill>
              <a:schemeClr val="accent4"/>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Sego’s Approach</a:t>
              </a:r>
            </a:p>
          </p:txBody>
        </p:sp>
        <p:sp>
          <p:nvSpPr>
            <p:cNvPr id="40" name="Shape 5">
              <a:extLst>
                <a:ext uri="{FF2B5EF4-FFF2-40B4-BE49-F238E27FC236}">
                  <a16:creationId xmlns:a16="http://schemas.microsoft.com/office/drawing/2014/main" id="{E489AEE1-69B9-C08B-A976-6D9A05CD74AD}"/>
                </a:ext>
              </a:extLst>
            </p:cNvPr>
            <p:cNvSpPr/>
            <p:nvPr/>
          </p:nvSpPr>
          <p:spPr>
            <a:xfrm rot="10800000">
              <a:off x="3527298" y="2816652"/>
              <a:ext cx="3423291" cy="907908"/>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sp>
        <p:nvSpPr>
          <p:cNvPr id="59" name="TextBox 58">
            <a:extLst>
              <a:ext uri="{FF2B5EF4-FFF2-40B4-BE49-F238E27FC236}">
                <a16:creationId xmlns:a16="http://schemas.microsoft.com/office/drawing/2014/main" id="{D4FE1C27-26A0-334F-A26E-CF99FCDF8621}"/>
              </a:ext>
            </a:extLst>
          </p:cNvPr>
          <p:cNvSpPr txBox="1"/>
          <p:nvPr/>
        </p:nvSpPr>
        <p:spPr>
          <a:xfrm>
            <a:off x="0" y="6647389"/>
            <a:ext cx="9637251"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Funnel Sans"/>
                <a:ea typeface="+mn-ea"/>
                <a:cs typeface="+mn-cs"/>
              </a:rPr>
              <a:t>Sources</a:t>
            </a:r>
            <a:r>
              <a:rPr kumimoji="0" lang="en-US" sz="800" b="0" i="0" u="none" strike="noStrike" kern="1200" cap="none" spc="0" normalizeH="0" baseline="0" noProof="0">
                <a:ln>
                  <a:noFill/>
                </a:ln>
                <a:solidFill>
                  <a:srgbClr val="000000"/>
                </a:solidFill>
                <a:effectLst/>
                <a:uLnTx/>
                <a:uFillTx/>
                <a:latin typeface="Funnel Sans"/>
                <a:ea typeface="+mn-ea"/>
                <a:cs typeface="+mn-cs"/>
                <a:hlinkClick r:id="rId3"/>
              </a:rPr>
              <a:t> Mathur Clin Cancer Res 2020, </a:t>
            </a:r>
            <a:r>
              <a:rPr kumimoji="0" lang="en-US" sz="800" b="0" i="0" u="none" strike="noStrike" kern="1200" cap="none" spc="0" normalizeH="0" baseline="0" noProof="0" err="1">
                <a:ln>
                  <a:noFill/>
                </a:ln>
                <a:solidFill>
                  <a:srgbClr val="61896E"/>
                </a:solidFill>
                <a:effectLst/>
                <a:uLnTx/>
                <a:uFillTx/>
                <a:latin typeface="Funnel Sans"/>
                <a:ea typeface="+mn-ea"/>
                <a:cs typeface="+mn-cs"/>
                <a:hlinkClick r:id="rId4"/>
              </a:rPr>
              <a:t>Danaee</a:t>
            </a:r>
            <a:r>
              <a:rPr kumimoji="0" lang="en-US" sz="800" b="0" i="0" u="none" strike="noStrike" kern="1200" cap="none" spc="0" normalizeH="0" baseline="0" noProof="0">
                <a:ln>
                  <a:noFill/>
                </a:ln>
                <a:solidFill>
                  <a:srgbClr val="61896E"/>
                </a:solidFill>
                <a:effectLst/>
                <a:uLnTx/>
                <a:uFillTx/>
                <a:latin typeface="Funnel Sans"/>
                <a:ea typeface="+mn-ea"/>
                <a:cs typeface="+mn-cs"/>
                <a:hlinkClick r:id="rId4"/>
              </a:rPr>
              <a:t> </a:t>
            </a:r>
            <a:r>
              <a:rPr kumimoji="0" lang="en-US" sz="800" b="0" i="0" u="none" strike="noStrike" kern="1200" cap="none" spc="0" normalizeH="0" baseline="0" noProof="0" err="1">
                <a:ln>
                  <a:noFill/>
                </a:ln>
                <a:solidFill>
                  <a:srgbClr val="61896E"/>
                </a:solidFill>
                <a:effectLst/>
                <a:uLnTx/>
                <a:uFillTx/>
                <a:latin typeface="Funnel Sans"/>
                <a:ea typeface="+mn-ea"/>
                <a:cs typeface="+mn-cs"/>
                <a:hlinkClick r:id="rId4"/>
              </a:rPr>
              <a:t>PLOSone</a:t>
            </a:r>
            <a:r>
              <a:rPr kumimoji="0" lang="en-US" sz="800" b="0" i="0" u="none" strike="noStrike" kern="1200" cap="none" spc="0" normalizeH="0" baseline="0" noProof="0">
                <a:ln>
                  <a:noFill/>
                </a:ln>
                <a:solidFill>
                  <a:srgbClr val="61896E"/>
                </a:solidFill>
                <a:effectLst/>
                <a:uLnTx/>
                <a:uFillTx/>
                <a:latin typeface="Funnel Sans"/>
                <a:ea typeface="+mn-ea"/>
                <a:cs typeface="+mn-cs"/>
                <a:hlinkClick r:id="rId4"/>
              </a:rPr>
              <a:t> 2017</a:t>
            </a:r>
            <a:r>
              <a:rPr kumimoji="0" lang="en-US" sz="800" b="0" i="0" u="none" strike="noStrike" kern="1200" cap="none" spc="0" normalizeH="0" baseline="0" noProof="0">
                <a:ln>
                  <a:noFill/>
                </a:ln>
                <a:solidFill>
                  <a:srgbClr val="61896E"/>
                </a:solidFill>
                <a:effectLst/>
                <a:uLnTx/>
                <a:uFillTx/>
                <a:latin typeface="Funnel Sans"/>
                <a:ea typeface="+mn-ea"/>
                <a:cs typeface="+mn-cs"/>
              </a:rPr>
              <a:t>, </a:t>
            </a:r>
            <a:r>
              <a:rPr kumimoji="0" lang="en-US" sz="800" b="0" i="0" u="none" strike="noStrike" kern="1200" cap="none" spc="0" normalizeH="0" baseline="0" noProof="0">
                <a:ln>
                  <a:noFill/>
                </a:ln>
                <a:solidFill>
                  <a:srgbClr val="000000"/>
                </a:solidFill>
                <a:effectLst/>
                <a:uLnTx/>
                <a:uFillTx/>
                <a:latin typeface="Funnel Sans"/>
                <a:ea typeface="+mn-ea"/>
                <a:cs typeface="+mn-cs"/>
                <a:hlinkClick r:id="rId5"/>
              </a:rPr>
              <a:t>Lisby, Expert Rev Precis Med Dru Dev 2021</a:t>
            </a:r>
            <a:r>
              <a:rPr kumimoji="0" lang="en-US" sz="800" b="0" i="0" u="none" strike="noStrike" kern="1200" cap="none" spc="0" normalizeH="0" baseline="0" noProof="0">
                <a:ln>
                  <a:noFill/>
                </a:ln>
                <a:solidFill>
                  <a:srgbClr val="000000"/>
                </a:solidFill>
                <a:effectLst/>
                <a:uLnTx/>
                <a:uFillTx/>
                <a:latin typeface="Funnel Sans"/>
                <a:ea typeface="+mn-ea"/>
                <a:cs typeface="+mn-cs"/>
              </a:rPr>
              <a:t> </a:t>
            </a:r>
            <a:r>
              <a:rPr kumimoji="0" lang="en-US" sz="800" b="0" i="0" u="none" strike="noStrike" kern="1200" cap="none" spc="0" normalizeH="0" baseline="0" noProof="0" err="1">
                <a:ln>
                  <a:noFill/>
                </a:ln>
                <a:solidFill>
                  <a:srgbClr val="000000"/>
                </a:solidFill>
                <a:effectLst/>
                <a:uLnTx/>
                <a:uFillTx/>
                <a:latin typeface="Funnel Sans"/>
                <a:ea typeface="+mn-ea"/>
                <a:cs typeface="+mn-cs"/>
                <a:hlinkClick r:id="rId6"/>
              </a:rPr>
              <a:t>Marszalowicz</a:t>
            </a:r>
            <a:r>
              <a:rPr kumimoji="0" lang="en-US" sz="800" b="0" i="0" u="none" strike="noStrike" kern="1200" cap="none" spc="0" normalizeH="0" baseline="0" noProof="0">
                <a:ln>
                  <a:noFill/>
                </a:ln>
                <a:solidFill>
                  <a:srgbClr val="000000"/>
                </a:solidFill>
                <a:effectLst/>
                <a:uLnTx/>
                <a:uFillTx/>
                <a:latin typeface="Funnel Sans"/>
                <a:ea typeface="+mn-ea"/>
                <a:cs typeface="+mn-cs"/>
                <a:hlinkClick r:id="rId6"/>
              </a:rPr>
              <a:t> </a:t>
            </a:r>
            <a:r>
              <a:rPr kumimoji="0" lang="en-US" sz="800" b="0" i="0" u="none" strike="noStrike" kern="1200" cap="none" spc="0" normalizeH="0" baseline="0" noProof="0" err="1">
                <a:ln>
                  <a:noFill/>
                </a:ln>
                <a:solidFill>
                  <a:srgbClr val="000000"/>
                </a:solidFill>
                <a:effectLst/>
                <a:uLnTx/>
                <a:uFillTx/>
                <a:latin typeface="Funnel Sans"/>
                <a:ea typeface="+mn-ea"/>
                <a:cs typeface="+mn-cs"/>
                <a:hlinkClick r:id="rId6"/>
              </a:rPr>
              <a:t>Oncotarget</a:t>
            </a:r>
            <a:r>
              <a:rPr kumimoji="0" lang="en-US" sz="800" b="0" i="0" u="none" strike="noStrike" kern="1200" cap="none" spc="0" normalizeH="0" baseline="0" noProof="0">
                <a:ln>
                  <a:noFill/>
                </a:ln>
                <a:solidFill>
                  <a:srgbClr val="000000"/>
                </a:solidFill>
                <a:effectLst/>
                <a:uLnTx/>
                <a:uFillTx/>
                <a:latin typeface="Funnel Sans"/>
                <a:ea typeface="+mn-ea"/>
                <a:cs typeface="+mn-cs"/>
                <a:hlinkClick r:id="rId6"/>
              </a:rPr>
              <a:t> 2014</a:t>
            </a:r>
            <a:endParaRPr kumimoji="0" lang="en-US" sz="800" b="0" i="0" u="sng" strike="noStrike" kern="1200" cap="none" spc="0" normalizeH="0" baseline="0" noProof="0">
              <a:ln>
                <a:noFill/>
              </a:ln>
              <a:solidFill>
                <a:srgbClr val="002924"/>
              </a:solidFill>
              <a:effectLst/>
              <a:uLnTx/>
              <a:uFillTx/>
              <a:latin typeface="Funnel Sans"/>
              <a:ea typeface="+mn-ea"/>
              <a:cs typeface="+mn-cs"/>
              <a:hlinkClick r:id="rId3"/>
            </a:endParaRPr>
          </a:p>
        </p:txBody>
      </p:sp>
      <p:sp>
        <p:nvSpPr>
          <p:cNvPr id="66" name="TextBox 65">
            <a:extLst>
              <a:ext uri="{FF2B5EF4-FFF2-40B4-BE49-F238E27FC236}">
                <a16:creationId xmlns:a16="http://schemas.microsoft.com/office/drawing/2014/main" id="{B5F9886C-0F55-78BF-1767-A275CCCC747E}"/>
              </a:ext>
            </a:extLst>
          </p:cNvPr>
          <p:cNvSpPr txBox="1"/>
          <p:nvPr/>
        </p:nvSpPr>
        <p:spPr>
          <a:xfrm>
            <a:off x="8737047" y="3622716"/>
            <a:ext cx="1035845" cy="5993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p:txBody>
      </p:sp>
      <p:sp>
        <p:nvSpPr>
          <p:cNvPr id="70" name="TextBox 69">
            <a:extLst>
              <a:ext uri="{FF2B5EF4-FFF2-40B4-BE49-F238E27FC236}">
                <a16:creationId xmlns:a16="http://schemas.microsoft.com/office/drawing/2014/main" id="{DA83CD95-797A-B0AD-942D-E5382A38B23C}"/>
              </a:ext>
            </a:extLst>
          </p:cNvPr>
          <p:cNvSpPr txBox="1"/>
          <p:nvPr/>
        </p:nvSpPr>
        <p:spPr>
          <a:xfrm>
            <a:off x="7243010" y="4915521"/>
            <a:ext cx="4626828" cy="52900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No GCC RLT in active development by industry, to our knowledge</a:t>
            </a:r>
          </a:p>
        </p:txBody>
      </p:sp>
      <p:pic>
        <p:nvPicPr>
          <p:cNvPr id="16" name="Picture 15">
            <a:extLst>
              <a:ext uri="{FF2B5EF4-FFF2-40B4-BE49-F238E27FC236}">
                <a16:creationId xmlns:a16="http://schemas.microsoft.com/office/drawing/2014/main" id="{5E26A273-761A-306D-48E3-A37777611159}"/>
              </a:ext>
            </a:extLst>
          </p:cNvPr>
          <p:cNvPicPr>
            <a:picLocks noChangeAspect="1"/>
          </p:cNvPicPr>
          <p:nvPr/>
        </p:nvPicPr>
        <p:blipFill>
          <a:blip r:embed="rId7"/>
          <a:stretch>
            <a:fillRect/>
          </a:stretch>
        </p:blipFill>
        <p:spPr>
          <a:xfrm>
            <a:off x="225285" y="2666256"/>
            <a:ext cx="3673005" cy="3238758"/>
          </a:xfrm>
          <a:prstGeom prst="rect">
            <a:avLst/>
          </a:prstGeom>
        </p:spPr>
      </p:pic>
      <p:pic>
        <p:nvPicPr>
          <p:cNvPr id="17" name="Picture 2">
            <a:extLst>
              <a:ext uri="{FF2B5EF4-FFF2-40B4-BE49-F238E27FC236}">
                <a16:creationId xmlns:a16="http://schemas.microsoft.com/office/drawing/2014/main" id="{8B5FB921-D8DB-16CC-B059-A17C2810C79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1098" r="40562"/>
          <a:stretch>
            <a:fillRect/>
          </a:stretch>
        </p:blipFill>
        <p:spPr bwMode="auto">
          <a:xfrm>
            <a:off x="10532181" y="2387076"/>
            <a:ext cx="1199349" cy="2029965"/>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10F6C58B-D9B3-FF0A-193E-3D853333E826}"/>
              </a:ext>
            </a:extLst>
          </p:cNvPr>
          <p:cNvSpPr txBox="1"/>
          <p:nvPr/>
        </p:nvSpPr>
        <p:spPr>
          <a:xfrm>
            <a:off x="4093224" y="2829700"/>
            <a:ext cx="2486230" cy="274574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Medium" pitchFamily="2" charset="0"/>
                <a:ea typeface="+mn-ea"/>
                <a:cs typeface="+mn-cs"/>
              </a:rPr>
              <a:t>IHC studies demonstrate:</a:t>
            </a: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3000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Strong positivity in 70-98% of CRC tumors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Maintenance of positivity in matched liver metastases in 81% of patients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Evidence of overexpression in gastric, esophageal, pancreatic tumors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Healthy tissue expression in GI tract and some epithelial cells that is shielded by apical localization</a:t>
            </a:r>
          </a:p>
        </p:txBody>
      </p:sp>
      <p:graphicFrame>
        <p:nvGraphicFramePr>
          <p:cNvPr id="42" name="Table 41">
            <a:extLst>
              <a:ext uri="{FF2B5EF4-FFF2-40B4-BE49-F238E27FC236}">
                <a16:creationId xmlns:a16="http://schemas.microsoft.com/office/drawing/2014/main" id="{E5ABC687-FB37-F616-4DC7-4DC74AB1FCE5}"/>
              </a:ext>
            </a:extLst>
          </p:cNvPr>
          <p:cNvGraphicFramePr>
            <a:graphicFrameLocks noGrp="1"/>
          </p:cNvGraphicFramePr>
          <p:nvPr/>
        </p:nvGraphicFramePr>
        <p:xfrm>
          <a:off x="7188485" y="5681492"/>
          <a:ext cx="4552190" cy="840458"/>
        </p:xfrm>
        <a:graphic>
          <a:graphicData uri="http://schemas.openxmlformats.org/drawingml/2006/table">
            <a:tbl>
              <a:tblPr firstRow="1" bandRow="1">
                <a:tableStyleId>{2D5ABB26-0587-4C30-8999-92F81FD0307C}</a:tableStyleId>
              </a:tblPr>
              <a:tblGrid>
                <a:gridCol w="931273">
                  <a:extLst>
                    <a:ext uri="{9D8B030D-6E8A-4147-A177-3AD203B41FA5}">
                      <a16:colId xmlns:a16="http://schemas.microsoft.com/office/drawing/2014/main" val="2342644943"/>
                    </a:ext>
                  </a:extLst>
                </a:gridCol>
                <a:gridCol w="3620917">
                  <a:extLst>
                    <a:ext uri="{9D8B030D-6E8A-4147-A177-3AD203B41FA5}">
                      <a16:colId xmlns:a16="http://schemas.microsoft.com/office/drawing/2014/main" val="1461637697"/>
                    </a:ext>
                  </a:extLst>
                </a:gridCol>
              </a:tblGrid>
              <a:tr h="317973">
                <a:tc>
                  <a:txBody>
                    <a:bodyPr/>
                    <a:lstStyle/>
                    <a:p>
                      <a:r>
                        <a:rPr lang="en-US" sz="1200" b="0">
                          <a:latin typeface="Funnel Sans Medium" pitchFamily="2" charset="0"/>
                        </a:rPr>
                        <a:t>Modality</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a:t>GCC active or allosteric site targeted peptide RLT</a:t>
                      </a:r>
                      <a:endParaRPr lang="en-US" sz="1200" b="0"/>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7577722"/>
                  </a:ext>
                </a:extLst>
              </a:tr>
              <a:tr h="522485">
                <a:tc>
                  <a:txBody>
                    <a:bodyPr/>
                    <a:lstStyle/>
                    <a:p>
                      <a:r>
                        <a:rPr lang="en-US" sz="1200" b="0">
                          <a:latin typeface="Funnel Sans Medium" pitchFamily="2" charset="0"/>
                        </a:rPr>
                        <a:t>Positioning</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r>
                        <a:rPr lang="en-US" sz="1200"/>
                        <a:t>Stage II/III CRC, post surgery MRD+ patients replacing current chemo adjuvant therapy</a:t>
                      </a:r>
                      <a:endParaRPr lang="en-US" sz="1200" b="0"/>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1663785566"/>
                  </a:ext>
                </a:extLst>
              </a:tr>
            </a:tbl>
          </a:graphicData>
        </a:graphic>
      </p:graphicFrame>
      <p:graphicFrame>
        <p:nvGraphicFramePr>
          <p:cNvPr id="43" name="Table 42">
            <a:extLst>
              <a:ext uri="{FF2B5EF4-FFF2-40B4-BE49-F238E27FC236}">
                <a16:creationId xmlns:a16="http://schemas.microsoft.com/office/drawing/2014/main" id="{3A733E44-002E-AF9F-A3D8-0198086AE08F}"/>
              </a:ext>
            </a:extLst>
          </p:cNvPr>
          <p:cNvGraphicFramePr>
            <a:graphicFrameLocks noGrp="1"/>
          </p:cNvGraphicFramePr>
          <p:nvPr/>
        </p:nvGraphicFramePr>
        <p:xfrm>
          <a:off x="7243010" y="2397888"/>
          <a:ext cx="3399701" cy="1975541"/>
        </p:xfrm>
        <a:graphic>
          <a:graphicData uri="http://schemas.openxmlformats.org/drawingml/2006/table">
            <a:tbl>
              <a:tblPr firstRow="1" bandRow="1">
                <a:tableStyleId>{2D5ABB26-0587-4C30-8999-92F81FD0307C}</a:tableStyleId>
              </a:tblPr>
              <a:tblGrid>
                <a:gridCol w="1249072">
                  <a:extLst>
                    <a:ext uri="{9D8B030D-6E8A-4147-A177-3AD203B41FA5}">
                      <a16:colId xmlns:a16="http://schemas.microsoft.com/office/drawing/2014/main" val="2342644943"/>
                    </a:ext>
                  </a:extLst>
                </a:gridCol>
                <a:gridCol w="195512">
                  <a:extLst>
                    <a:ext uri="{9D8B030D-6E8A-4147-A177-3AD203B41FA5}">
                      <a16:colId xmlns:a16="http://schemas.microsoft.com/office/drawing/2014/main" val="3754668722"/>
                    </a:ext>
                  </a:extLst>
                </a:gridCol>
                <a:gridCol w="1955117">
                  <a:extLst>
                    <a:ext uri="{9D8B030D-6E8A-4147-A177-3AD203B41FA5}">
                      <a16:colId xmlns:a16="http://schemas.microsoft.com/office/drawing/2014/main" val="1461637697"/>
                    </a:ext>
                  </a:extLst>
                </a:gridCol>
              </a:tblGrid>
              <a:tr h="447008">
                <a:tc>
                  <a:txBody>
                    <a:bodyPr/>
                    <a:lstStyle/>
                    <a:p>
                      <a:r>
                        <a:rPr lang="en-US" sz="1200" b="0">
                          <a:latin typeface="Funnel Sans Medium" pitchFamily="2" charset="0"/>
                        </a:rPr>
                        <a:t>Tumor-specific accessibility</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150" b="0"/>
                        <a:t>Apical in normal gut, </a:t>
                      </a:r>
                    </a:p>
                    <a:p>
                      <a:r>
                        <a:rPr lang="en-US" sz="1150" b="0"/>
                        <a:t>No polarization in tumors</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7577722"/>
                  </a:ext>
                </a:extLst>
              </a:tr>
              <a:tr h="268205">
                <a:tc>
                  <a:txBody>
                    <a:bodyPr/>
                    <a:lstStyle/>
                    <a:p>
                      <a:r>
                        <a:rPr lang="en-US" sz="1200" b="0">
                          <a:latin typeface="Funnel Sans Medium" pitchFamily="2" charset="0"/>
                        </a:rPr>
                        <a:t>Internalization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150" b="0"/>
                        <a:t>Natively internalized, rapid</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63785566"/>
                  </a:ext>
                </a:extLst>
              </a:tr>
              <a:tr h="439407">
                <a:tc>
                  <a:txBody>
                    <a:bodyPr/>
                    <a:lstStyle/>
                    <a:p>
                      <a:r>
                        <a:rPr lang="en-US" sz="1200" b="0">
                          <a:latin typeface="Funnel Sans Medium" pitchFamily="2" charset="0"/>
                        </a:rPr>
                        <a:t>Secretion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150" b="0"/>
                        <a:t>No secretion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24988676"/>
                  </a:ext>
                </a:extLst>
              </a:tr>
              <a:tr h="804614">
                <a:tc>
                  <a:txBody>
                    <a:bodyPr/>
                    <a:lstStyle/>
                    <a:p>
                      <a:r>
                        <a:rPr lang="en-US" sz="1200" b="0" dirty="0">
                          <a:latin typeface="Funnel Sans Medium" pitchFamily="2" charset="0"/>
                        </a:rPr>
                        <a:t>Ligandability</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r>
                        <a:rPr lang="en-US" sz="1150" b="0" dirty="0"/>
                        <a:t>Natively binds peptide ligands, agonist peptides are approved for constipation</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2277830281"/>
                  </a:ext>
                </a:extLst>
              </a:tr>
            </a:tbl>
          </a:graphicData>
        </a:graphic>
      </p:graphicFrame>
    </p:spTree>
    <p:extLst>
      <p:ext uri="{BB962C8B-B14F-4D97-AF65-F5344CB8AC3E}">
        <p14:creationId xmlns:p14="http://schemas.microsoft.com/office/powerpoint/2010/main" val="1951833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41688-8895-54A4-E57E-DDBAADFC7FEF}"/>
            </a:ext>
          </a:extLst>
        </p:cNvPr>
        <p:cNvGrpSpPr/>
        <p:nvPr/>
      </p:nvGrpSpPr>
      <p:grpSpPr>
        <a:xfrm>
          <a:off x="0" y="0"/>
          <a:ext cx="0" cy="0"/>
          <a:chOff x="0" y="0"/>
          <a:chExt cx="0" cy="0"/>
        </a:xfrm>
      </p:grpSpPr>
      <p:sp>
        <p:nvSpPr>
          <p:cNvPr id="14" name="Text 28">
            <a:extLst>
              <a:ext uri="{FF2B5EF4-FFF2-40B4-BE49-F238E27FC236}">
                <a16:creationId xmlns:a16="http://schemas.microsoft.com/office/drawing/2014/main" id="{DDD0CAB0-FD76-B052-FF47-146C6618ABF3}"/>
              </a:ext>
            </a:extLst>
          </p:cNvPr>
          <p:cNvSpPr/>
          <p:nvPr/>
        </p:nvSpPr>
        <p:spPr>
          <a:xfrm>
            <a:off x="254000" y="635564"/>
            <a:ext cx="11684000"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dirty="0">
                <a:ln>
                  <a:noFill/>
                </a:ln>
                <a:solidFill>
                  <a:srgbClr val="000000">
                    <a:alpha val="99000"/>
                  </a:srgbClr>
                </a:solidFill>
                <a:effectLst/>
                <a:uLnTx/>
                <a:uFillTx/>
                <a:latin typeface="Funnel Sans"/>
                <a:ea typeface="+mn-ea"/>
                <a:cs typeface="+mn-cs"/>
              </a:rPr>
              <a:t>GCC programs across modalities suggest targetability, but therapeutic window has been constrained by immune-format and GI toxicities</a:t>
            </a:r>
          </a:p>
        </p:txBody>
      </p:sp>
      <p:sp>
        <p:nvSpPr>
          <p:cNvPr id="17" name="Rectangle: Rounded Corners 16">
            <a:extLst>
              <a:ext uri="{FF2B5EF4-FFF2-40B4-BE49-F238E27FC236}">
                <a16:creationId xmlns:a16="http://schemas.microsoft.com/office/drawing/2014/main" id="{BDBF3473-107F-D704-F1E5-92E248D02FEC}"/>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ysClr val="windowText" lastClr="000000"/>
                </a:solidFill>
                <a:effectLst/>
                <a:uLnTx/>
                <a:uFillTx/>
                <a:latin typeface="Funnel Sans"/>
                <a:ea typeface="+mn-ea"/>
                <a:cs typeface="+mn-cs"/>
              </a:rPr>
              <a:t>Overview</a:t>
            </a:r>
          </a:p>
        </p:txBody>
      </p:sp>
      <p:sp>
        <p:nvSpPr>
          <p:cNvPr id="16" name="TextBox 15">
            <a:extLst>
              <a:ext uri="{FF2B5EF4-FFF2-40B4-BE49-F238E27FC236}">
                <a16:creationId xmlns:a16="http://schemas.microsoft.com/office/drawing/2014/main" id="{0B3ADCA0-8F9A-AA6D-E70E-EAB505293F5A}"/>
              </a:ext>
            </a:extLst>
          </p:cNvPr>
          <p:cNvSpPr txBox="1"/>
          <p:nvPr/>
        </p:nvSpPr>
        <p:spPr>
          <a:xfrm>
            <a:off x="11055350" y="6540500"/>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cxnSp>
        <p:nvCxnSpPr>
          <p:cNvPr id="100" name="Line 99"/>
          <p:cNvCxnSpPr/>
          <p:nvPr/>
        </p:nvCxnSpPr>
        <p:spPr>
          <a:xfrm>
            <a:off x="254000" y="1422400"/>
            <a:ext cx="11684000" cy="0"/>
          </a:xfrm>
          <a:prstGeom prst="line">
            <a:avLst/>
          </a:prstGeom>
          <a:ln w="9525">
            <a:solidFill>
              <a:srgbClr val="E8E8E8"/>
            </a:solidFill>
          </a:ln>
        </p:spPr>
      </p:cxnSp>
      <p:sp>
        <p:nvSpPr>
          <p:cNvPr id="200" name="Card 200"/>
          <p:cNvSpPr/>
          <p:nvPr/>
        </p:nvSpPr>
        <p:spPr>
          <a:xfrm>
            <a:off x="254000" y="1651000"/>
            <a:ext cx="3810000" cy="4889500"/>
          </a:xfrm>
          <a:prstGeom prst="roundRect">
            <a:avLst>
              <a:gd name="adj" fmla="val 4802"/>
            </a:avLst>
          </a:prstGeom>
          <a:solidFill>
            <a:srgbClr val="F7F6F4"/>
          </a:solidFill>
          <a:ln w="6350">
            <a:noFill/>
          </a:ln>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sp>
        <p:nvSpPr>
          <p:cNvPr id="201" name="Header 201"/>
          <p:cNvSpPr/>
          <p:nvPr/>
        </p:nvSpPr>
        <p:spPr>
          <a:xfrm>
            <a:off x="254000" y="1651000"/>
            <a:ext cx="3810000" cy="508000"/>
          </a:xfrm>
          <a:prstGeom prst="roundRect">
            <a:avLst>
              <a:gd name="adj" fmla="val 16667"/>
            </a:avLst>
          </a:prstGeom>
          <a:solidFill>
            <a:srgbClr val="1A4141"/>
          </a:solidFill>
          <a:ln>
            <a:noFill/>
          </a:ln>
        </p:spPr>
        <p:txBody>
          <a:bodyPr wrap="square" lIns="108000" tIns="54000" rIns="108000" bIns="54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Funnel Sans"/>
                <a:ea typeface="Funnel Sans"/>
                <a:cs typeface="+mn-cs"/>
              </a:rPr>
              <a:t>CAR-T programs</a:t>
            </a:r>
          </a:p>
        </p:txBody>
      </p:sp>
      <p:sp>
        <p:nvSpPr>
          <p:cNvPr id="202" name="Body 202"/>
          <p:cNvSpPr/>
          <p:nvPr/>
        </p:nvSpPr>
        <p:spPr>
          <a:xfrm>
            <a:off x="381000" y="2286000"/>
            <a:ext cx="3556000" cy="4127500"/>
          </a:xfrm>
          <a:prstGeom prst="rect">
            <a:avLst/>
          </a:prstGeom>
          <a:noFill/>
          <a:ln>
            <a:noFill/>
          </a:ln>
        </p:spPr>
        <p:txBody>
          <a:bodyPr wrap="square" lIns="72000" tIns="72000" rIns="72000" bIns="36000" anchor="t"/>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GCC19CART / LYL273</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 </a:t>
            </a:r>
            <a:r>
              <a:rPr kumimoji="0" lang="en-US" sz="1200" b="0" i="1" u="none" strike="noStrike" kern="1200" cap="none" spc="0" normalizeH="0" baseline="0" noProof="0" dirty="0">
                <a:ln>
                  <a:noFill/>
                </a:ln>
                <a:solidFill>
                  <a:srgbClr val="555555"/>
                </a:solidFill>
                <a:effectLst/>
                <a:uLnTx/>
                <a:uFillTx/>
                <a:latin typeface="Funnel Sans"/>
                <a:ea typeface="Funnel Sans"/>
                <a:cs typeface="+mn-cs"/>
              </a:rPr>
              <a:t>Lyell; CoupledCAR platform.</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Ph 1 CARAPIA-1; CRS in most pts (primarily Gr 1–2); ICANS observed (incl. ≥Gr 3 in updated data); diarrhea common; updated data include serious GI toxicity (enterocolitis) and infection-related events; ~73.7% DCR in refractory mCRC (early dataset)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IM96</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 </a:t>
            </a:r>
            <a:r>
              <a:rPr kumimoji="0" lang="en-US" sz="1200" b="0" i="1" u="none" strike="noStrike" kern="1200" cap="none" spc="0" normalizeH="0" baseline="0" noProof="0" dirty="0">
                <a:ln>
                  <a:noFill/>
                </a:ln>
                <a:solidFill>
                  <a:srgbClr val="555555"/>
                </a:solidFill>
                <a:effectLst/>
                <a:uLnTx/>
                <a:uFillTx/>
                <a:latin typeface="Funnel Sans"/>
                <a:ea typeface="Funnel Sans"/>
                <a:cs typeface="+mn-cs"/>
              </a:rPr>
              <a:t>Beijing ImmunoPharm.</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Standalone GUCY2C CAR-T; Ph 1; 73.7% DCR; high potential in pts with liver mets (ASCO 2024)</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XKDCT080 / REVO-UWD-01</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 Additional autologous &amp; allogeneic (off-the-shelf) programs in Ph 1</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Key signal:</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CRS/ICANS are common features of CAR-T programs; GI toxicity (incl. diarrhea / enterocolitis) also frequent and may be target and/or modality mediated</a:t>
            </a:r>
          </a:p>
        </p:txBody>
      </p:sp>
      <p:sp>
        <p:nvSpPr>
          <p:cNvPr id="210" name="Card 210"/>
          <p:cNvSpPr/>
          <p:nvPr/>
        </p:nvSpPr>
        <p:spPr>
          <a:xfrm>
            <a:off x="4216400" y="1651000"/>
            <a:ext cx="3810000" cy="4889500"/>
          </a:xfrm>
          <a:prstGeom prst="roundRect">
            <a:avLst>
              <a:gd name="adj" fmla="val 5341"/>
            </a:avLst>
          </a:prstGeom>
          <a:solidFill>
            <a:srgbClr val="F7F6F4"/>
          </a:solidFill>
          <a:ln w="6350">
            <a:noFill/>
          </a:ln>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sp>
        <p:nvSpPr>
          <p:cNvPr id="211" name="Header 211"/>
          <p:cNvSpPr/>
          <p:nvPr/>
        </p:nvSpPr>
        <p:spPr>
          <a:xfrm>
            <a:off x="4216400" y="1651000"/>
            <a:ext cx="3810000" cy="508000"/>
          </a:xfrm>
          <a:prstGeom prst="roundRect">
            <a:avLst>
              <a:gd name="adj" fmla="val 16667"/>
            </a:avLst>
          </a:prstGeom>
          <a:solidFill>
            <a:srgbClr val="256765"/>
          </a:solidFill>
          <a:ln>
            <a:noFill/>
          </a:ln>
        </p:spPr>
        <p:txBody>
          <a:bodyPr wrap="square" lIns="108000" tIns="54000" rIns="108000" bIns="54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Funnel Sans"/>
                <a:ea typeface="Funnel Sans"/>
                <a:cs typeface="+mn-cs"/>
              </a:rPr>
              <a:t>ADC &amp; bispecific programs</a:t>
            </a:r>
          </a:p>
        </p:txBody>
      </p:sp>
      <p:sp>
        <p:nvSpPr>
          <p:cNvPr id="212" name="Body 212"/>
          <p:cNvSpPr/>
          <p:nvPr/>
        </p:nvSpPr>
        <p:spPr>
          <a:xfrm>
            <a:off x="4343400" y="2286000"/>
            <a:ext cx="3556000" cy="4127500"/>
          </a:xfrm>
          <a:prstGeom prst="rect">
            <a:avLst/>
          </a:prstGeom>
          <a:noFill/>
          <a:ln>
            <a:noFill/>
          </a:ln>
        </p:spPr>
        <p:txBody>
          <a:bodyPr wrap="square" lIns="72000" tIns="72000" rIns="72000" bIns="36000" anchor="t"/>
          <a:lstStyle/>
          <a:p>
            <a:pPr marL="171450" indent="-171450">
              <a:spcBef>
                <a:spcPts val="600"/>
              </a:spcBef>
              <a:buFont typeface="Arial" panose="020B0604020202020204" pitchFamily="34" charset="0"/>
              <a:buChar char="•"/>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MLN0264 / TAK-264</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 </a:t>
            </a:r>
            <a:r>
              <a:rPr kumimoji="0" lang="en-US" sz="1200" b="0" i="1" u="none" strike="noStrike" kern="1200" cap="none" spc="0" normalizeH="0" baseline="0" noProof="0" dirty="0">
                <a:ln>
                  <a:noFill/>
                </a:ln>
                <a:solidFill>
                  <a:srgbClr val="555555"/>
                </a:solidFill>
                <a:effectLst/>
                <a:uLnTx/>
                <a:uFillTx/>
                <a:latin typeface="Funnel Sans"/>
                <a:ea typeface="Funnel Sans"/>
                <a:cs typeface="+mn-cs"/>
              </a:rPr>
              <a:t>Indusatumab vedotin.</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a:t>
            </a:r>
            <a:r>
              <a:rPr lang="en-US" sz="1200" dirty="0">
                <a:solidFill>
                  <a:srgbClr val="000000"/>
                </a:solidFill>
                <a:ea typeface="Funnel Sans"/>
              </a:rPr>
              <a:t>Ph 2 gastric/GEJ; manageable safety but ORR ~6%; discontinued due to limited clinical efficacy</a:t>
            </a:r>
            <a:endParaRPr lang="en-US" sz="1200" dirty="0">
              <a:solidFill>
                <a:srgbClr val="000000"/>
              </a:solidFill>
              <a:latin typeface="Funnel Sans"/>
              <a:ea typeface="Funnel Sans"/>
            </a:endParaRPr>
          </a:p>
          <a:p>
            <a:pPr marL="171450" indent="-171450">
              <a:spcBef>
                <a:spcPts val="600"/>
              </a:spcBef>
              <a:buFont typeface="Arial" panose="020B0604020202020204" pitchFamily="34" charset="0"/>
              <a:buChar char="•"/>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TAK-164</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 </a:t>
            </a:r>
            <a:r>
              <a:rPr kumimoji="0" lang="en-US" sz="1200" b="0" i="1" u="none" strike="noStrike" kern="1200" cap="none" spc="0" normalizeH="0" baseline="0" noProof="0" dirty="0">
                <a:ln>
                  <a:noFill/>
                </a:ln>
                <a:solidFill>
                  <a:srgbClr val="555555"/>
                </a:solidFill>
                <a:effectLst/>
                <a:uLnTx/>
                <a:uFillTx/>
                <a:latin typeface="Funnel Sans"/>
                <a:ea typeface="Funnel Sans"/>
                <a:cs typeface="+mn-cs"/>
              </a:rPr>
              <a:t>Takeda.</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Ph 1 FIH; discontinued; </a:t>
            </a:r>
            <a:r>
              <a:rPr lang="en-US" sz="1200" dirty="0"/>
              <a:t>limited clinical activity at tolerated doses</a:t>
            </a:r>
            <a:endParaRPr kumimoji="0" lang="en-US" sz="1200" b="0" i="0" u="none" strike="noStrike" kern="1200" cap="none" spc="0" normalizeH="0" baseline="0" noProof="0" dirty="0">
              <a:ln>
                <a:noFill/>
              </a:ln>
              <a:solidFill>
                <a:srgbClr val="000000"/>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HDP-201</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 </a:t>
            </a:r>
            <a:r>
              <a:rPr kumimoji="0" lang="en-US" sz="1200" b="0" i="1" u="none" strike="noStrike" kern="1200" cap="none" spc="0" normalizeH="0" baseline="0" noProof="0" dirty="0">
                <a:ln>
                  <a:noFill/>
                </a:ln>
                <a:solidFill>
                  <a:srgbClr val="555555"/>
                </a:solidFill>
                <a:effectLst/>
                <a:uLnTx/>
                <a:uFillTx/>
                <a:latin typeface="Funnel Sans"/>
                <a:ea typeface="Funnel Sans"/>
                <a:cs typeface="+mn-cs"/>
              </a:rPr>
              <a:t>Heidelberg Pharma; exatecan.</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Complete tumor remission preclinically (AACR 2025); seeking partner for clinical development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PF-07062119</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 </a:t>
            </a:r>
            <a:r>
              <a:rPr kumimoji="0" lang="en-US" sz="1200" b="0" i="1" u="none" strike="noStrike" kern="1200" cap="none" spc="0" normalizeH="0" baseline="0" noProof="0" dirty="0">
                <a:ln>
                  <a:noFill/>
                </a:ln>
                <a:solidFill>
                  <a:srgbClr val="555555"/>
                </a:solidFill>
                <a:effectLst/>
                <a:uLnTx/>
                <a:uFillTx/>
                <a:latin typeface="Funnel Sans"/>
                <a:ea typeface="Funnel Sans"/>
                <a:cs typeface="+mn-cs"/>
              </a:rPr>
              <a:t>Pfizer; GUCY2C×CD3 TCE.</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Ph 1 completed late 2023; diarrhea 73%, DLTs ~10% include CRS, colitis; discontinued following limited therapeutic window</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Key signal:</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ADC failures driven by limited therapeutic window (low efficacy, DLTs). GI effects in TCE format likely T-cell activation class-effect. Therapeutic window for ADC/TCE too narrow for GCC, may be overcome by RLT.</a:t>
            </a:r>
          </a:p>
        </p:txBody>
      </p:sp>
      <p:sp>
        <p:nvSpPr>
          <p:cNvPr id="220" name="Card 220"/>
          <p:cNvSpPr/>
          <p:nvPr/>
        </p:nvSpPr>
        <p:spPr>
          <a:xfrm>
            <a:off x="8178800" y="1651000"/>
            <a:ext cx="3810000" cy="4889500"/>
          </a:xfrm>
          <a:prstGeom prst="roundRect">
            <a:avLst>
              <a:gd name="adj" fmla="val 6959"/>
            </a:avLst>
          </a:prstGeom>
          <a:solidFill>
            <a:srgbClr val="F7F6F4"/>
          </a:solidFill>
          <a:ln w="6350">
            <a:noFill/>
          </a:ln>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sp>
        <p:nvSpPr>
          <p:cNvPr id="221" name="Header 221"/>
          <p:cNvSpPr/>
          <p:nvPr/>
        </p:nvSpPr>
        <p:spPr>
          <a:xfrm>
            <a:off x="8178800" y="1651000"/>
            <a:ext cx="3810000" cy="508000"/>
          </a:xfrm>
          <a:prstGeom prst="roundRect">
            <a:avLst>
              <a:gd name="adj" fmla="val 16667"/>
            </a:avLst>
          </a:prstGeom>
          <a:solidFill>
            <a:srgbClr val="1A4141"/>
          </a:solidFill>
          <a:ln>
            <a:noFill/>
          </a:ln>
        </p:spPr>
        <p:txBody>
          <a:bodyPr wrap="square" lIns="108000" tIns="54000" rIns="108000" bIns="54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Funnel Sans"/>
                <a:ea typeface="Funnel Sans"/>
                <a:cs typeface="+mn-cs"/>
              </a:rPr>
              <a:t>Implications for RLT</a:t>
            </a:r>
          </a:p>
        </p:txBody>
      </p:sp>
      <p:sp>
        <p:nvSpPr>
          <p:cNvPr id="222" name="Body 222"/>
          <p:cNvSpPr/>
          <p:nvPr/>
        </p:nvSpPr>
        <p:spPr>
          <a:xfrm>
            <a:off x="8305800" y="2286000"/>
            <a:ext cx="3556000" cy="4127500"/>
          </a:xfrm>
          <a:prstGeom prst="rect">
            <a:avLst/>
          </a:prstGeom>
          <a:noFill/>
          <a:ln>
            <a:noFill/>
          </a:ln>
        </p:spPr>
        <p:txBody>
          <a:bodyPr wrap="square" lIns="72000" tIns="72000" rIns="72000" bIns="36000" anchor="t"/>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No epithelial destruction signal</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 cyno tox showed no erosions or necrosis in intestinal tract; GI symptoms in immune formats likely a mix of modality/payload mediated.</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Apical restriction and 1</a:t>
            </a:r>
            <a:r>
              <a:rPr kumimoji="0" lang="en-US" sz="1200" b="1" i="0" u="none" strike="noStrike" kern="1200" cap="none" spc="0" normalizeH="0" baseline="30000" noProof="0" dirty="0">
                <a:ln>
                  <a:noFill/>
                </a:ln>
                <a:solidFill>
                  <a:srgbClr val="000000"/>
                </a:solidFill>
                <a:effectLst/>
                <a:uLnTx/>
                <a:uFillTx/>
                <a:latin typeface="Funnel Sans"/>
                <a:ea typeface="Funnel Sans"/>
                <a:cs typeface="+mn-cs"/>
              </a:rPr>
              <a:t>st</a:t>
            </a:r>
            <a:r>
              <a:rPr kumimoji="0" lang="en-US" sz="1200" b="1" i="0" u="none" strike="noStrike" kern="1200" cap="none" spc="0" normalizeH="0" baseline="0" noProof="0" dirty="0">
                <a:ln>
                  <a:noFill/>
                </a:ln>
                <a:solidFill>
                  <a:srgbClr val="000000"/>
                </a:solidFill>
                <a:effectLst/>
                <a:uLnTx/>
                <a:uFillTx/>
                <a:latin typeface="Funnel Sans"/>
                <a:ea typeface="Funnel Sans"/>
                <a:cs typeface="+mn-cs"/>
              </a:rPr>
              <a:t> pass kinetics of RLT will increase therapeutic window</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 — short half life of RLT will differentiate malignant and healthy tissues; enabling sufficient RLT uptake in tumors and </a:t>
            </a:r>
            <a:r>
              <a:rPr kumimoji="0" lang="en-US" sz="1200" b="0" i="0" u="none" strike="noStrike" kern="1200" cap="none" spc="0" normalizeH="0" baseline="0" noProof="0">
                <a:ln>
                  <a:noFill/>
                </a:ln>
                <a:solidFill>
                  <a:srgbClr val="000000"/>
                </a:solidFill>
                <a:effectLst/>
                <a:uLnTx/>
                <a:uFillTx/>
                <a:latin typeface="Funnel Sans"/>
                <a:ea typeface="Funnel Sans"/>
                <a:cs typeface="+mn-cs"/>
              </a:rPr>
              <a:t>sparing radiosensitive </a:t>
            </a:r>
            <a:r>
              <a:rPr kumimoji="0" lang="en-US" sz="1200" b="0" i="0" u="none" strike="noStrike" kern="1200" cap="none" spc="0" normalizeH="0" baseline="0" noProof="0" dirty="0">
                <a:ln>
                  <a:noFill/>
                </a:ln>
                <a:solidFill>
                  <a:srgbClr val="000000"/>
                </a:solidFill>
                <a:effectLst/>
                <a:uLnTx/>
                <a:uFillTx/>
                <a:latin typeface="Funnel Sans"/>
                <a:ea typeface="Funnel Sans"/>
                <a:cs typeface="+mn-cs"/>
              </a:rPr>
              <a:t>tissues (e.g., bone marrow </a:t>
            </a:r>
            <a:r>
              <a:rPr kumimoji="0" lang="en-US" sz="1200" b="0" i="0" u="none" strike="noStrike" kern="1200" cap="none" spc="0" normalizeH="0" baseline="0" noProof="0">
                <a:ln>
                  <a:noFill/>
                </a:ln>
                <a:solidFill>
                  <a:srgbClr val="000000"/>
                </a:solidFill>
                <a:effectLst/>
                <a:uLnTx/>
                <a:uFillTx/>
                <a:latin typeface="Funnel Sans"/>
                <a:ea typeface="Funnel Sans"/>
                <a:cs typeface="+mn-cs"/>
              </a:rPr>
              <a:t>and kidneys)</a:t>
            </a:r>
            <a:endParaRPr kumimoji="0" lang="en-US" sz="1200" b="0" i="0" u="none" strike="noStrike" kern="1200" cap="none" spc="0" normalizeH="0" baseline="0" noProof="0" dirty="0">
              <a:ln>
                <a:noFill/>
              </a:ln>
              <a:solidFill>
                <a:srgbClr val="000000"/>
              </a:solidFill>
              <a:effectLst/>
              <a:uLnTx/>
              <a:uFillTx/>
              <a:latin typeface="Funnel Sans"/>
              <a:ea typeface="Funnel Sans"/>
              <a:cs typeface="+mn-cs"/>
            </a:endParaRPr>
          </a:p>
          <a:p>
            <a:pPr marL="171450" lvl="0" indent="-171450">
              <a:spcBef>
                <a:spcPts val="600"/>
              </a:spcBef>
              <a:buFont typeface="Arial" panose="020B0604020202020204" pitchFamily="34" charset="0"/>
              <a:buChar char="•"/>
              <a:defRPr/>
            </a:pPr>
            <a:r>
              <a:rPr lang="en-US" sz="1200" b="1" dirty="0"/>
              <a:t>RLT avoids immune-mediated toxicities </a:t>
            </a:r>
            <a:r>
              <a:rPr lang="en-US" sz="1200" dirty="0">
                <a:solidFill>
                  <a:srgbClr val="000000"/>
                </a:solidFill>
                <a:ea typeface="Funnel Sans"/>
              </a:rPr>
              <a:t>—CRS and ICANS are not typically associated with RLT. RLT works via direct cytotoxic radiation damage to DNA; does not trigger CRS or massive activation of immune cells</a:t>
            </a:r>
            <a:endParaRPr kumimoji="0" lang="en-US" sz="1200" b="0" i="0" u="none" strike="noStrike" kern="1200" cap="none" spc="0" normalizeH="0" baseline="0" noProof="0" dirty="0">
              <a:ln>
                <a:noFill/>
              </a:ln>
              <a:solidFill>
                <a:srgbClr val="000000"/>
              </a:solidFill>
              <a:effectLst/>
              <a:uLnTx/>
              <a:uFillTx/>
              <a:latin typeface="Funnel Sans"/>
              <a:ea typeface="Funnel Sans"/>
              <a:cs typeface="+mn-cs"/>
            </a:endParaRPr>
          </a:p>
          <a:p>
            <a:pPr marL="171450" lvl="0" indent="-171450">
              <a:spcBef>
                <a:spcPts val="600"/>
              </a:spcBef>
              <a:buFont typeface="Arial" panose="020B0604020202020204" pitchFamily="34" charset="0"/>
              <a:buChar char="•"/>
              <a:defRPr/>
            </a:pPr>
            <a:r>
              <a:rPr lang="en-US" sz="1200" b="1" dirty="0">
                <a:solidFill>
                  <a:srgbClr val="000000"/>
                </a:solidFill>
                <a:latin typeface="Funnel Sans"/>
                <a:ea typeface="Funnel Sans"/>
              </a:rPr>
              <a:t>Rapid Internalization, recycling, and intracellular retention  - </a:t>
            </a:r>
            <a:r>
              <a:rPr lang="en-US" sz="1200" dirty="0">
                <a:solidFill>
                  <a:srgbClr val="000000"/>
                </a:solidFill>
                <a:latin typeface="Funnel Sans"/>
                <a:ea typeface="Funnel Sans"/>
              </a:rPr>
              <a:t>can overcome low copy number of cell surface receptors by increasing the total amount of radioactive payload delivered into the cell.</a:t>
            </a:r>
            <a:endParaRPr kumimoji="0" lang="en-US" sz="1200" i="0" u="none" strike="noStrike" kern="1200" cap="none" spc="0" normalizeH="0" baseline="0" noProof="0" dirty="0">
              <a:ln>
                <a:noFill/>
              </a:ln>
              <a:solidFill>
                <a:srgbClr val="000000"/>
              </a:solidFill>
              <a:effectLst/>
              <a:uLnTx/>
              <a:uFillTx/>
              <a:latin typeface="Funnel Sans"/>
              <a:ea typeface="Funnel Sans"/>
              <a:cs typeface="+mn-cs"/>
            </a:endParaRPr>
          </a:p>
        </p:txBody>
      </p:sp>
      <p:sp>
        <p:nvSpPr>
          <p:cNvPr id="2" name="Shape 0">
            <a:extLst>
              <a:ext uri="{FF2B5EF4-FFF2-40B4-BE49-F238E27FC236}">
                <a16:creationId xmlns:a16="http://schemas.microsoft.com/office/drawing/2014/main" id="{425E4CA7-DEEE-4223-D207-6ED06D476A8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 name="Image 3" descr="preencoded.png">
            <a:extLst>
              <a:ext uri="{FF2B5EF4-FFF2-40B4-BE49-F238E27FC236}">
                <a16:creationId xmlns:a16="http://schemas.microsoft.com/office/drawing/2014/main" id="{49649FD3-B1D8-A911-9F0E-5896636F9213}"/>
              </a:ext>
            </a:extLst>
          </p:cNvPr>
          <p:cNvPicPr>
            <a:picLocks noChangeAspect="1"/>
          </p:cNvPicPr>
          <p:nvPr/>
        </p:nvPicPr>
        <p:blipFill>
          <a:blip r:embed="rId2"/>
          <a:stretch>
            <a:fillRect/>
          </a:stretch>
        </p:blipFill>
        <p:spPr>
          <a:xfrm>
            <a:off x="323503" y="254000"/>
            <a:ext cx="156939" cy="191368"/>
          </a:xfrm>
          <a:prstGeom prst="rect">
            <a:avLst/>
          </a:prstGeom>
        </p:spPr>
      </p:pic>
      <p:pic>
        <p:nvPicPr>
          <p:cNvPr id="4" name="Image 4" descr="preencoded.png">
            <a:extLst>
              <a:ext uri="{FF2B5EF4-FFF2-40B4-BE49-F238E27FC236}">
                <a16:creationId xmlns:a16="http://schemas.microsoft.com/office/drawing/2014/main" id="{CFD3B800-138E-C539-55E0-ACACE732008F}"/>
              </a:ext>
            </a:extLst>
          </p:cNvPr>
          <p:cNvPicPr>
            <a:picLocks noChangeAspect="1"/>
          </p:cNvPicPr>
          <p:nvPr/>
        </p:nvPicPr>
        <p:blipFill>
          <a:blip r:embed="rId3"/>
          <a:stretch>
            <a:fillRect/>
          </a:stretch>
        </p:blipFill>
        <p:spPr>
          <a:xfrm>
            <a:off x="387028" y="459541"/>
            <a:ext cx="968" cy="4"/>
          </a:xfrm>
          <a:prstGeom prst="rect">
            <a:avLst/>
          </a:prstGeom>
        </p:spPr>
      </p:pic>
      <p:pic>
        <p:nvPicPr>
          <p:cNvPr id="5" name="Image 5" descr="preencoded.png">
            <a:extLst>
              <a:ext uri="{FF2B5EF4-FFF2-40B4-BE49-F238E27FC236}">
                <a16:creationId xmlns:a16="http://schemas.microsoft.com/office/drawing/2014/main" id="{1F289C7C-1360-E9A9-7CCD-42F673B83656}"/>
              </a:ext>
            </a:extLst>
          </p:cNvPr>
          <p:cNvPicPr>
            <a:picLocks noChangeAspect="1"/>
          </p:cNvPicPr>
          <p:nvPr/>
        </p:nvPicPr>
        <p:blipFill>
          <a:blip r:embed="rId3"/>
          <a:stretch>
            <a:fillRect/>
          </a:stretch>
        </p:blipFill>
        <p:spPr>
          <a:xfrm>
            <a:off x="386756" y="459546"/>
            <a:ext cx="297" cy="4"/>
          </a:xfrm>
          <a:prstGeom prst="rect">
            <a:avLst/>
          </a:prstGeom>
        </p:spPr>
      </p:pic>
      <p:pic>
        <p:nvPicPr>
          <p:cNvPr id="6" name="Image 6" descr="preencoded.png">
            <a:extLst>
              <a:ext uri="{FF2B5EF4-FFF2-40B4-BE49-F238E27FC236}">
                <a16:creationId xmlns:a16="http://schemas.microsoft.com/office/drawing/2014/main" id="{DEA06EC8-F0DA-0F7E-EA5F-DC152C1BA242}"/>
              </a:ext>
            </a:extLst>
          </p:cNvPr>
          <p:cNvPicPr>
            <a:picLocks noChangeAspect="1"/>
          </p:cNvPicPr>
          <p:nvPr/>
        </p:nvPicPr>
        <p:blipFill>
          <a:blip r:embed="rId3"/>
          <a:stretch>
            <a:fillRect/>
          </a:stretch>
        </p:blipFill>
        <p:spPr>
          <a:xfrm>
            <a:off x="389261" y="473634"/>
            <a:ext cx="471" cy="4"/>
          </a:xfrm>
          <a:prstGeom prst="rect">
            <a:avLst/>
          </a:prstGeom>
        </p:spPr>
      </p:pic>
      <p:pic>
        <p:nvPicPr>
          <p:cNvPr id="7" name="Image 7" descr="preencoded.png">
            <a:extLst>
              <a:ext uri="{FF2B5EF4-FFF2-40B4-BE49-F238E27FC236}">
                <a16:creationId xmlns:a16="http://schemas.microsoft.com/office/drawing/2014/main" id="{4D00C4F4-8BD6-1CC6-408B-7E476A2EC44C}"/>
              </a:ext>
            </a:extLst>
          </p:cNvPr>
          <p:cNvPicPr>
            <a:picLocks noChangeAspect="1"/>
          </p:cNvPicPr>
          <p:nvPr/>
        </p:nvPicPr>
        <p:blipFill>
          <a:blip r:embed="rId4"/>
          <a:stretch>
            <a:fillRect/>
          </a:stretch>
        </p:blipFill>
        <p:spPr>
          <a:xfrm>
            <a:off x="600300" y="305277"/>
            <a:ext cx="137641" cy="202443"/>
          </a:xfrm>
          <a:prstGeom prst="rect">
            <a:avLst/>
          </a:prstGeom>
        </p:spPr>
      </p:pic>
      <p:pic>
        <p:nvPicPr>
          <p:cNvPr id="8" name="Image 8" descr="preencoded.png">
            <a:extLst>
              <a:ext uri="{FF2B5EF4-FFF2-40B4-BE49-F238E27FC236}">
                <a16:creationId xmlns:a16="http://schemas.microsoft.com/office/drawing/2014/main" id="{524ABCAD-E301-CC0B-B054-BE69E6FD6D04}"/>
              </a:ext>
            </a:extLst>
          </p:cNvPr>
          <p:cNvPicPr>
            <a:picLocks noChangeAspect="1"/>
          </p:cNvPicPr>
          <p:nvPr/>
        </p:nvPicPr>
        <p:blipFill>
          <a:blip r:embed="rId5"/>
          <a:stretch>
            <a:fillRect/>
          </a:stretch>
        </p:blipFill>
        <p:spPr>
          <a:xfrm>
            <a:off x="743372" y="360473"/>
            <a:ext cx="126579" cy="147243"/>
          </a:xfrm>
          <a:prstGeom prst="rect">
            <a:avLst/>
          </a:prstGeom>
        </p:spPr>
      </p:pic>
      <p:pic>
        <p:nvPicPr>
          <p:cNvPr id="9" name="Image 9" descr="preencoded.png">
            <a:extLst>
              <a:ext uri="{FF2B5EF4-FFF2-40B4-BE49-F238E27FC236}">
                <a16:creationId xmlns:a16="http://schemas.microsoft.com/office/drawing/2014/main" id="{2C3563F8-1964-4C1B-DDEB-145A0C057A44}"/>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0" name="Image 10" descr="preencoded.png">
            <a:extLst>
              <a:ext uri="{FF2B5EF4-FFF2-40B4-BE49-F238E27FC236}">
                <a16:creationId xmlns:a16="http://schemas.microsoft.com/office/drawing/2014/main" id="{5E927C9F-2CC4-C141-15AA-B79691BC41E8}"/>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1" name="Image 11" descr="preencoded.png">
            <a:extLst>
              <a:ext uri="{FF2B5EF4-FFF2-40B4-BE49-F238E27FC236}">
                <a16:creationId xmlns:a16="http://schemas.microsoft.com/office/drawing/2014/main" id="{A9EB8F65-CAB6-FA27-215C-910C6C3A1F1C}"/>
              </a:ext>
            </a:extLst>
          </p:cNvPr>
          <p:cNvPicPr>
            <a:picLocks noChangeAspect="1"/>
          </p:cNvPicPr>
          <p:nvPr/>
        </p:nvPicPr>
        <p:blipFill>
          <a:blip r:embed="rId8"/>
          <a:stretch>
            <a:fillRect/>
          </a:stretch>
        </p:blipFill>
        <p:spPr>
          <a:xfrm>
            <a:off x="375419" y="376364"/>
            <a:ext cx="174501" cy="157568"/>
          </a:xfrm>
          <a:prstGeom prst="rect">
            <a:avLst/>
          </a:prstGeom>
        </p:spPr>
      </p:pic>
      <p:pic>
        <p:nvPicPr>
          <p:cNvPr id="12" name="Image 12" descr="preencoded.png">
            <a:extLst>
              <a:ext uri="{FF2B5EF4-FFF2-40B4-BE49-F238E27FC236}">
                <a16:creationId xmlns:a16="http://schemas.microsoft.com/office/drawing/2014/main" id="{4D40502A-2843-8E0B-6F67-F2CE37CA79B0}"/>
              </a:ext>
            </a:extLst>
          </p:cNvPr>
          <p:cNvPicPr>
            <a:picLocks noChangeAspect="1"/>
          </p:cNvPicPr>
          <p:nvPr/>
        </p:nvPicPr>
        <p:blipFill>
          <a:blip r:embed="rId9"/>
          <a:stretch>
            <a:fillRect/>
          </a:stretch>
        </p:blipFill>
        <p:spPr>
          <a:xfrm>
            <a:off x="254000" y="376361"/>
            <a:ext cx="174501" cy="157575"/>
          </a:xfrm>
          <a:prstGeom prst="rect">
            <a:avLst/>
          </a:prstGeom>
        </p:spPr>
      </p:pic>
      <p:sp>
        <p:nvSpPr>
          <p:cNvPr id="13" name="TextBox 12">
            <a:extLst>
              <a:ext uri="{FF2B5EF4-FFF2-40B4-BE49-F238E27FC236}">
                <a16:creationId xmlns:a16="http://schemas.microsoft.com/office/drawing/2014/main" id="{ADD94083-EBDC-55FD-C41B-DED021B60E54}"/>
              </a:ext>
            </a:extLst>
          </p:cNvPr>
          <p:cNvSpPr txBox="1"/>
          <p:nvPr/>
        </p:nvSpPr>
        <p:spPr>
          <a:xfrm>
            <a:off x="0" y="6647389"/>
            <a:ext cx="9637251"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Funnel Sans"/>
                <a:ea typeface="+mn-ea"/>
                <a:cs typeface="+mn-cs"/>
              </a:rPr>
              <a:t>Sources: Beacon Intelligence, Company presentations</a:t>
            </a:r>
            <a:endParaRPr kumimoji="0" lang="en-US" sz="800" b="0" i="0" u="sng" strike="noStrike" kern="1200" cap="none" spc="0" normalizeH="0" baseline="0" noProof="0">
              <a:ln>
                <a:noFill/>
              </a:ln>
              <a:solidFill>
                <a:srgbClr val="002924"/>
              </a:solidFill>
              <a:effectLst/>
              <a:uLnTx/>
              <a:uFillTx/>
              <a:latin typeface="Funnel Sans"/>
              <a:ea typeface="+mn-ea"/>
              <a:cs typeface="+mn-cs"/>
              <a:hlinkClick r:id="rId10"/>
            </a:endParaRPr>
          </a:p>
        </p:txBody>
      </p:sp>
    </p:spTree>
    <p:extLst>
      <p:ext uri="{BB962C8B-B14F-4D97-AF65-F5344CB8AC3E}">
        <p14:creationId xmlns:p14="http://schemas.microsoft.com/office/powerpoint/2010/main" val="2901174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4377F-89C4-F1BB-69AE-563FBCC2E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61725-0082-DACC-759B-3FF696E59848}"/>
              </a:ext>
            </a:extLst>
          </p:cNvPr>
          <p:cNvSpPr>
            <a:spLocks noGrp="1"/>
          </p:cNvSpPr>
          <p:nvPr>
            <p:ph type="ctrTitle"/>
          </p:nvPr>
        </p:nvSpPr>
        <p:spPr/>
        <p:txBody>
          <a:bodyPr/>
          <a:lstStyle/>
          <a:p>
            <a:r>
              <a:rPr lang="en-US" dirty="0"/>
              <a:t>GCC Details</a:t>
            </a:r>
          </a:p>
        </p:txBody>
      </p:sp>
      <p:sp>
        <p:nvSpPr>
          <p:cNvPr id="3" name="Subtitle 2">
            <a:extLst>
              <a:ext uri="{FF2B5EF4-FFF2-40B4-BE49-F238E27FC236}">
                <a16:creationId xmlns:a16="http://schemas.microsoft.com/office/drawing/2014/main" id="{1A4E9AF6-68AF-648D-A014-66C3AC34136E}"/>
              </a:ext>
            </a:extLst>
          </p:cNvPr>
          <p:cNvSpPr>
            <a:spLocks noGrp="1"/>
          </p:cNvSpPr>
          <p:nvPr>
            <p:ph type="subTitle" idx="1"/>
          </p:nvPr>
        </p:nvSpPr>
        <p:spPr/>
        <p:txBody>
          <a:bodyPr/>
          <a:lstStyle/>
          <a:p>
            <a:endParaRPr lang="en-US"/>
          </a:p>
        </p:txBody>
      </p:sp>
      <p:sp>
        <p:nvSpPr>
          <p:cNvPr id="4" name="TextBox 3">
            <a:extLst>
              <a:ext uri="{FF2B5EF4-FFF2-40B4-BE49-F238E27FC236}">
                <a16:creationId xmlns:a16="http://schemas.microsoft.com/office/drawing/2014/main" id="{FE7EDCCE-6C71-246D-7A68-3DF98B98AEED}"/>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3908079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849D0-FEB8-9D16-EF00-0F5BDCE16026}"/>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1BD5C2B-54EF-AA99-1E60-632EC276E04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19">
            <a:extLst>
              <a:ext uri="{FF2B5EF4-FFF2-40B4-BE49-F238E27FC236}">
                <a16:creationId xmlns:a16="http://schemas.microsoft.com/office/drawing/2014/main" id="{ABC62898-88B3-D2E7-3566-0C2319599CCF}"/>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6" name="Image 3" descr="preencoded.png">
            <a:extLst>
              <a:ext uri="{FF2B5EF4-FFF2-40B4-BE49-F238E27FC236}">
                <a16:creationId xmlns:a16="http://schemas.microsoft.com/office/drawing/2014/main" id="{F697F3AF-4DB2-D89C-E541-CF8B0007D91C}"/>
              </a:ext>
            </a:extLst>
          </p:cNvPr>
          <p:cNvPicPr>
            <a:picLocks noChangeAspect="1"/>
          </p:cNvPicPr>
          <p:nvPr/>
        </p:nvPicPr>
        <p:blipFill>
          <a:blip r:embed="rId3"/>
          <a:stretch>
            <a:fillRect/>
          </a:stretch>
        </p:blipFill>
        <p:spPr>
          <a:xfrm>
            <a:off x="323503" y="254000"/>
            <a:ext cx="156939" cy="191368"/>
          </a:xfrm>
          <a:prstGeom prst="rect">
            <a:avLst/>
          </a:prstGeom>
        </p:spPr>
      </p:pic>
      <p:pic>
        <p:nvPicPr>
          <p:cNvPr id="7" name="Image 4" descr="preencoded.png">
            <a:extLst>
              <a:ext uri="{FF2B5EF4-FFF2-40B4-BE49-F238E27FC236}">
                <a16:creationId xmlns:a16="http://schemas.microsoft.com/office/drawing/2014/main" id="{BD6824E2-E32C-DE1D-DE1A-E763D8A43F51}"/>
              </a:ext>
            </a:extLst>
          </p:cNvPr>
          <p:cNvPicPr>
            <a:picLocks noChangeAspect="1"/>
          </p:cNvPicPr>
          <p:nvPr/>
        </p:nvPicPr>
        <p:blipFill>
          <a:blip r:embed="rId4"/>
          <a:stretch>
            <a:fillRect/>
          </a:stretch>
        </p:blipFill>
        <p:spPr>
          <a:xfrm>
            <a:off x="387028" y="459541"/>
            <a:ext cx="968" cy="4"/>
          </a:xfrm>
          <a:prstGeom prst="rect">
            <a:avLst/>
          </a:prstGeom>
        </p:spPr>
      </p:pic>
      <p:pic>
        <p:nvPicPr>
          <p:cNvPr id="8" name="Image 5" descr="preencoded.png">
            <a:extLst>
              <a:ext uri="{FF2B5EF4-FFF2-40B4-BE49-F238E27FC236}">
                <a16:creationId xmlns:a16="http://schemas.microsoft.com/office/drawing/2014/main" id="{F2ACD1B7-557C-DB84-8279-C293D337BD74}"/>
              </a:ext>
            </a:extLst>
          </p:cNvPr>
          <p:cNvPicPr>
            <a:picLocks noChangeAspect="1"/>
          </p:cNvPicPr>
          <p:nvPr/>
        </p:nvPicPr>
        <p:blipFill>
          <a:blip r:embed="rId4"/>
          <a:stretch>
            <a:fillRect/>
          </a:stretch>
        </p:blipFill>
        <p:spPr>
          <a:xfrm>
            <a:off x="386756" y="459546"/>
            <a:ext cx="297" cy="4"/>
          </a:xfrm>
          <a:prstGeom prst="rect">
            <a:avLst/>
          </a:prstGeom>
        </p:spPr>
      </p:pic>
      <p:pic>
        <p:nvPicPr>
          <p:cNvPr id="9" name="Image 6" descr="preencoded.png">
            <a:extLst>
              <a:ext uri="{FF2B5EF4-FFF2-40B4-BE49-F238E27FC236}">
                <a16:creationId xmlns:a16="http://schemas.microsoft.com/office/drawing/2014/main" id="{AA35D88C-1E39-FC89-55FA-7A865D6B613C}"/>
              </a:ext>
            </a:extLst>
          </p:cNvPr>
          <p:cNvPicPr>
            <a:picLocks noChangeAspect="1"/>
          </p:cNvPicPr>
          <p:nvPr/>
        </p:nvPicPr>
        <p:blipFill>
          <a:blip r:embed="rId4"/>
          <a:stretch>
            <a:fillRect/>
          </a:stretch>
        </p:blipFill>
        <p:spPr>
          <a:xfrm>
            <a:off x="389261" y="473634"/>
            <a:ext cx="471" cy="4"/>
          </a:xfrm>
          <a:prstGeom prst="rect">
            <a:avLst/>
          </a:prstGeom>
        </p:spPr>
      </p:pic>
      <p:pic>
        <p:nvPicPr>
          <p:cNvPr id="10" name="Image 7" descr="preencoded.png">
            <a:extLst>
              <a:ext uri="{FF2B5EF4-FFF2-40B4-BE49-F238E27FC236}">
                <a16:creationId xmlns:a16="http://schemas.microsoft.com/office/drawing/2014/main" id="{15703EF6-DA40-84C3-B156-CCA9D40888E5}"/>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1" name="Image 8" descr="preencoded.png">
            <a:extLst>
              <a:ext uri="{FF2B5EF4-FFF2-40B4-BE49-F238E27FC236}">
                <a16:creationId xmlns:a16="http://schemas.microsoft.com/office/drawing/2014/main" id="{26D27C1F-0B0B-CFB2-8EEE-03E89162BE9D}"/>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2" name="Image 9" descr="preencoded.png">
            <a:extLst>
              <a:ext uri="{FF2B5EF4-FFF2-40B4-BE49-F238E27FC236}">
                <a16:creationId xmlns:a16="http://schemas.microsoft.com/office/drawing/2014/main" id="{CFB2688B-1933-AAF6-242C-4C30378AE947}"/>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3" name="Image 10" descr="preencoded.png">
            <a:extLst>
              <a:ext uri="{FF2B5EF4-FFF2-40B4-BE49-F238E27FC236}">
                <a16:creationId xmlns:a16="http://schemas.microsoft.com/office/drawing/2014/main" id="{1D80EF01-6598-4C5C-1D07-FC8DE4E59EDC}"/>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4" name="Image 11" descr="preencoded.png">
            <a:extLst>
              <a:ext uri="{FF2B5EF4-FFF2-40B4-BE49-F238E27FC236}">
                <a16:creationId xmlns:a16="http://schemas.microsoft.com/office/drawing/2014/main" id="{2BF41F1C-1641-CE49-56F3-5335F570ED37}"/>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5" name="Image 12" descr="preencoded.png">
            <a:extLst>
              <a:ext uri="{FF2B5EF4-FFF2-40B4-BE49-F238E27FC236}">
                <a16:creationId xmlns:a16="http://schemas.microsoft.com/office/drawing/2014/main" id="{D6F763F6-FE72-A23B-C02A-06859166842A}"/>
              </a:ext>
            </a:extLst>
          </p:cNvPr>
          <p:cNvPicPr>
            <a:picLocks noChangeAspect="1"/>
          </p:cNvPicPr>
          <p:nvPr/>
        </p:nvPicPr>
        <p:blipFill>
          <a:blip r:embed="rId10"/>
          <a:stretch>
            <a:fillRect/>
          </a:stretch>
        </p:blipFill>
        <p:spPr>
          <a:xfrm>
            <a:off x="254000" y="376361"/>
            <a:ext cx="174501" cy="157575"/>
          </a:xfrm>
          <a:prstGeom prst="rect">
            <a:avLst/>
          </a:prstGeom>
        </p:spPr>
      </p:pic>
      <p:sp>
        <p:nvSpPr>
          <p:cNvPr id="16" name="Text 28">
            <a:extLst>
              <a:ext uri="{FF2B5EF4-FFF2-40B4-BE49-F238E27FC236}">
                <a16:creationId xmlns:a16="http://schemas.microsoft.com/office/drawing/2014/main" id="{E9E7FBA5-3166-12E0-EEE4-32D01F574F0F}"/>
              </a:ext>
            </a:extLst>
          </p:cNvPr>
          <p:cNvSpPr/>
          <p:nvPr/>
        </p:nvSpPr>
        <p:spPr>
          <a:xfrm>
            <a:off x="254000" y="635564"/>
            <a:ext cx="11230077" cy="762000"/>
          </a:xfrm>
          <a:prstGeom prst="rect">
            <a:avLst/>
          </a:prstGeom>
          <a:noFill/>
          <a:ln/>
        </p:spPr>
        <p:txBody>
          <a:bodyPr wrap="square"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Summary: GCC is an attractive RLT target due to its native peptide ligands, consistent overexpression in CRC, and tumor-specific availability</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cxnSp>
        <p:nvCxnSpPr>
          <p:cNvPr id="2" name="Straight Connector 1">
            <a:extLst>
              <a:ext uri="{FF2B5EF4-FFF2-40B4-BE49-F238E27FC236}">
                <a16:creationId xmlns:a16="http://schemas.microsoft.com/office/drawing/2014/main" id="{BA666483-317F-C1D3-8796-52E790DC863F}"/>
              </a:ext>
            </a:extLst>
          </p:cNvPr>
          <p:cNvCxnSpPr>
            <a:cxnSpLocks/>
          </p:cNvCxnSpPr>
          <p:nvPr/>
        </p:nvCxnSpPr>
        <p:spPr>
          <a:xfrm>
            <a:off x="1455115" y="1819261"/>
            <a:ext cx="0" cy="82296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B1C0F89-F61F-C412-09C2-127E56B297E8}"/>
              </a:ext>
            </a:extLst>
          </p:cNvPr>
          <p:cNvSpPr txBox="1"/>
          <p:nvPr/>
        </p:nvSpPr>
        <p:spPr>
          <a:xfrm>
            <a:off x="232849" y="1805260"/>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Biology</a:t>
            </a:r>
          </a:p>
        </p:txBody>
      </p:sp>
      <p:sp>
        <p:nvSpPr>
          <p:cNvPr id="26" name="TextBox 25">
            <a:extLst>
              <a:ext uri="{FF2B5EF4-FFF2-40B4-BE49-F238E27FC236}">
                <a16:creationId xmlns:a16="http://schemas.microsoft.com/office/drawing/2014/main" id="{ADDC503F-63B0-2DC7-5DC4-4885057A2D09}"/>
              </a:ext>
            </a:extLst>
          </p:cNvPr>
          <p:cNvSpPr txBox="1"/>
          <p:nvPr/>
        </p:nvSpPr>
        <p:spPr>
          <a:xfrm>
            <a:off x="1593009" y="1740130"/>
            <a:ext cx="10100316" cy="375487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B1B1B"/>
                </a:solidFill>
                <a:effectLst/>
                <a:uLnTx/>
                <a:uFillTx/>
                <a:latin typeface="Funnel Sans"/>
                <a:ea typeface="+mn-lt"/>
                <a:cs typeface="+mn-lt"/>
              </a:rPr>
              <a:t>GCC (GUCY2C) is a mucosal guanylin cyclase transmembrane receptor, with multiple native peptide ligands. </a:t>
            </a:r>
            <a:r>
              <a:rPr kumimoji="0" lang="en-US" sz="1400" b="0" i="0" u="none" strike="noStrike" kern="1200" cap="none" spc="0" normalizeH="0" baseline="0" noProof="0">
                <a:ln>
                  <a:noFill/>
                </a:ln>
                <a:solidFill>
                  <a:prstClr val="black"/>
                </a:solidFill>
                <a:effectLst/>
                <a:uLnTx/>
                <a:uFillTx/>
                <a:latin typeface="Funnel Sans"/>
                <a:ea typeface="+mn-ea"/>
                <a:cs typeface="+mn-cs"/>
              </a:rPr>
              <a:t>In healthy tissues, its expression is largely restricted to the apical surface of intestinal epithelium and colon. This polarization is lost in tumor cells, selectively exposing GCC to targeted therapy. </a:t>
            </a:r>
            <a:r>
              <a:rPr kumimoji="0" lang="en-US" sz="1400" b="0" i="0" u="none" strike="noStrike" kern="1200" cap="none" spc="0" normalizeH="0" baseline="0" noProof="0">
                <a:ln>
                  <a:noFill/>
                </a:ln>
                <a:solidFill>
                  <a:srgbClr val="1B1B1B"/>
                </a:solidFill>
                <a:effectLst/>
                <a:uLnTx/>
                <a:uFillTx/>
                <a:latin typeface="Funnel Sans"/>
                <a:ea typeface="+mn-lt"/>
                <a:cs typeface="+mn-lt"/>
              </a:rPr>
              <a:t>Importantly, GCC is rapidly internalized into lysosomes in cancer cells, independent of ligand binding, which supports its suitability for RLT. </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GCC is overexpressed in approximately 70-98% of colorectal cancers and overexpression is consistently maintained across all disease stages and metastatic sites. Expression in other GI cancers (gastric, pancreatic, esophageal) is also significant, while healthy tissue expression outside the intestine is of minimal concern for RLT (e.g. CNS tissue)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GCC is amenable to peptide-based targeting, with FDA-approved synthetic peptides (linaclotide, </a:t>
            </a:r>
            <a:r>
              <a:rPr kumimoji="0" lang="en-US" sz="1400" b="0" i="0" u="none" strike="noStrike" kern="1200" cap="none" spc="0" normalizeH="0" baseline="0" noProof="0" err="1">
                <a:ln>
                  <a:noFill/>
                </a:ln>
                <a:solidFill>
                  <a:prstClr val="black"/>
                </a:solidFill>
                <a:effectLst/>
                <a:uLnTx/>
                <a:uFillTx/>
                <a:latin typeface="Funnel Sans"/>
                <a:ea typeface="+mn-ea"/>
                <a:cs typeface="+mn-cs"/>
              </a:rPr>
              <a:t>plecanatide</a:t>
            </a:r>
            <a:r>
              <a:rPr kumimoji="0" lang="en-US" sz="1400" b="0" i="0" u="none" strike="noStrike" kern="1200" cap="none" spc="0" normalizeH="0" baseline="0" noProof="0">
                <a:ln>
                  <a:noFill/>
                </a:ln>
                <a:solidFill>
                  <a:prstClr val="black"/>
                </a:solidFill>
                <a:effectLst/>
                <a:uLnTx/>
                <a:uFillTx/>
                <a:latin typeface="Funnel Sans"/>
                <a:ea typeface="+mn-ea"/>
                <a:cs typeface="+mn-cs"/>
              </a:rPr>
              <a:t>) already in clinical use for non-oncology GI disorders. Recombinant production is straightforward, and multiple CRC cell lines express GCC, enabling robust preclinical evaluation. ADCs targeting GCC have passed Ph 1, further de-risking RLT development.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Funnel Sans"/>
                <a:cs typeface="+mn-cs"/>
              </a:rPr>
              <a:t>                                                                                                               </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No peptide-based RLTs are in obvious active development. CAR-T programs, while abundant, prove targeting GCC can drive efficacy alongside significant toxicities. GCC RLTs will be more tolerable and equally efficacious. GCC RLT could be used in many points in mCRC treatment pathways, which includes chemo, IO, anti VEGFs and emerging ADC therapies. Given the prevalence of mCRC &amp; expression of GCC across most patients and all stages, there is ample unmet need. </a:t>
            </a:r>
            <a:endParaRPr kumimoji="0" lang="en-US" sz="1400" b="0" i="0" u="none" strike="noStrike" kern="1200" cap="none" spc="0" normalizeH="0" baseline="0" noProof="0">
              <a:ln>
                <a:noFill/>
              </a:ln>
              <a:solidFill>
                <a:srgbClr val="FF0000"/>
              </a:solidFill>
              <a:effectLst/>
              <a:uLnTx/>
              <a:uFillTx/>
              <a:latin typeface="Funnel Sans"/>
              <a:ea typeface="+mn-ea"/>
              <a:cs typeface="+mn-cs"/>
            </a:endParaRPr>
          </a:p>
        </p:txBody>
      </p:sp>
      <p:cxnSp>
        <p:nvCxnSpPr>
          <p:cNvPr id="33" name="Straight Connector 32">
            <a:extLst>
              <a:ext uri="{FF2B5EF4-FFF2-40B4-BE49-F238E27FC236}">
                <a16:creationId xmlns:a16="http://schemas.microsoft.com/office/drawing/2014/main" id="{5CEB9ACA-A0B1-F3EA-B47D-23B5827C0CDB}"/>
              </a:ext>
            </a:extLst>
          </p:cNvPr>
          <p:cNvCxnSpPr>
            <a:cxnSpLocks/>
          </p:cNvCxnSpPr>
          <p:nvPr/>
        </p:nvCxnSpPr>
        <p:spPr>
          <a:xfrm>
            <a:off x="1455115" y="2905496"/>
            <a:ext cx="0" cy="54864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27E96B7E-EE56-942A-0CB4-349283A95976}"/>
              </a:ext>
            </a:extLst>
          </p:cNvPr>
          <p:cNvSpPr txBox="1"/>
          <p:nvPr/>
        </p:nvSpPr>
        <p:spPr>
          <a:xfrm>
            <a:off x="294447" y="2862432"/>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Expression</a:t>
            </a:r>
          </a:p>
        </p:txBody>
      </p:sp>
      <p:cxnSp>
        <p:nvCxnSpPr>
          <p:cNvPr id="35" name="Straight Connector 34">
            <a:extLst>
              <a:ext uri="{FF2B5EF4-FFF2-40B4-BE49-F238E27FC236}">
                <a16:creationId xmlns:a16="http://schemas.microsoft.com/office/drawing/2014/main" id="{FA7B38C1-95C3-25B5-4C14-0CF7E4BC4C6C}"/>
              </a:ext>
            </a:extLst>
          </p:cNvPr>
          <p:cNvCxnSpPr>
            <a:cxnSpLocks/>
          </p:cNvCxnSpPr>
          <p:nvPr/>
        </p:nvCxnSpPr>
        <p:spPr>
          <a:xfrm>
            <a:off x="1455115" y="3773238"/>
            <a:ext cx="0" cy="548640"/>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8CD3010E-21FD-3342-1B7E-9EE88642B18A}"/>
              </a:ext>
            </a:extLst>
          </p:cNvPr>
          <p:cNvSpPr txBox="1"/>
          <p:nvPr/>
        </p:nvSpPr>
        <p:spPr>
          <a:xfrm>
            <a:off x="255980" y="4618013"/>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Landscape</a:t>
            </a:r>
          </a:p>
        </p:txBody>
      </p:sp>
      <p:cxnSp>
        <p:nvCxnSpPr>
          <p:cNvPr id="37" name="Straight Connector 36">
            <a:extLst>
              <a:ext uri="{FF2B5EF4-FFF2-40B4-BE49-F238E27FC236}">
                <a16:creationId xmlns:a16="http://schemas.microsoft.com/office/drawing/2014/main" id="{9A30251D-60C1-85E3-5B82-1824A73CA7E1}"/>
              </a:ext>
            </a:extLst>
          </p:cNvPr>
          <p:cNvCxnSpPr>
            <a:cxnSpLocks/>
          </p:cNvCxnSpPr>
          <p:nvPr/>
        </p:nvCxnSpPr>
        <p:spPr>
          <a:xfrm>
            <a:off x="1455115" y="4589921"/>
            <a:ext cx="0" cy="822960"/>
          </a:xfrm>
          <a:prstGeom prst="line">
            <a:avLst/>
          </a:prstGeom>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6526224-4834-DCC7-E388-DC8CE4F2B867}"/>
              </a:ext>
            </a:extLst>
          </p:cNvPr>
          <p:cNvSpPr txBox="1"/>
          <p:nvPr/>
        </p:nvSpPr>
        <p:spPr>
          <a:xfrm>
            <a:off x="228781" y="3756458"/>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Feasibility</a:t>
            </a:r>
          </a:p>
        </p:txBody>
      </p:sp>
      <p:sp>
        <p:nvSpPr>
          <p:cNvPr id="40" name="Rectangle: Rounded Corners 39">
            <a:extLst>
              <a:ext uri="{FF2B5EF4-FFF2-40B4-BE49-F238E27FC236}">
                <a16:creationId xmlns:a16="http://schemas.microsoft.com/office/drawing/2014/main" id="{5C579F39-5994-50D7-869A-09576E9A0B8D}"/>
              </a:ext>
            </a:extLst>
          </p:cNvPr>
          <p:cNvSpPr/>
          <p:nvPr/>
        </p:nvSpPr>
        <p:spPr>
          <a:xfrm>
            <a:off x="637272" y="5883682"/>
            <a:ext cx="11124093" cy="665313"/>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41" name="Rectangle: Rounded Corners 40">
            <a:extLst>
              <a:ext uri="{FF2B5EF4-FFF2-40B4-BE49-F238E27FC236}">
                <a16:creationId xmlns:a16="http://schemas.microsoft.com/office/drawing/2014/main" id="{203B7584-6BE0-B49F-98FC-4992B8DB1AC5}"/>
              </a:ext>
            </a:extLst>
          </p:cNvPr>
          <p:cNvSpPr/>
          <p:nvPr/>
        </p:nvSpPr>
        <p:spPr>
          <a:xfrm>
            <a:off x="399316" y="5875496"/>
            <a:ext cx="1945303" cy="665313"/>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Funnel Sans"/>
                <a:ea typeface="+mn-ea"/>
                <a:cs typeface="+mn-cs"/>
              </a:rPr>
              <a:t>Sego’s Opportunity</a:t>
            </a:r>
          </a:p>
        </p:txBody>
      </p:sp>
      <p:sp>
        <p:nvSpPr>
          <p:cNvPr id="42" name="TextBox 41">
            <a:extLst>
              <a:ext uri="{FF2B5EF4-FFF2-40B4-BE49-F238E27FC236}">
                <a16:creationId xmlns:a16="http://schemas.microsoft.com/office/drawing/2014/main" id="{0D3D3D40-1B52-DEB6-6AF9-CDF8A6736DE7}"/>
              </a:ext>
            </a:extLst>
          </p:cNvPr>
          <p:cNvSpPr txBox="1"/>
          <p:nvPr/>
        </p:nvSpPr>
        <p:spPr>
          <a:xfrm>
            <a:off x="2292816" y="5954728"/>
            <a:ext cx="9481377" cy="523220"/>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Design a Best in Class, peptide-based RLT that is internalized and released into the cell, driving higher uptake, longer retention &amp; stronger efficacy against target that is consistently &amp; selectively overexpressed in majority of CRCs</a:t>
            </a:r>
          </a:p>
        </p:txBody>
      </p:sp>
      <p:sp>
        <p:nvSpPr>
          <p:cNvPr id="18" name="TextBox 17">
            <a:extLst>
              <a:ext uri="{FF2B5EF4-FFF2-40B4-BE49-F238E27FC236}">
                <a16:creationId xmlns:a16="http://schemas.microsoft.com/office/drawing/2014/main" id="{857CAF0C-722B-731D-FCE4-DCA723E74559}"/>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7" name="Shape 1">
            <a:extLst>
              <a:ext uri="{FF2B5EF4-FFF2-40B4-BE49-F238E27FC236}">
                <a16:creationId xmlns:a16="http://schemas.microsoft.com/office/drawing/2014/main" id="{F693E0EB-7EE8-6C23-A348-EDDD66B7BB4F}"/>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65717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A82DF91-C37F-4D3D-3843-E71E438520E2}"/>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 name="Image 3" descr="preencoded.png">
            <a:extLst>
              <a:ext uri="{FF2B5EF4-FFF2-40B4-BE49-F238E27FC236}">
                <a16:creationId xmlns:a16="http://schemas.microsoft.com/office/drawing/2014/main" id="{0A078373-FE1D-9B71-18A8-1730E451179C}"/>
              </a:ext>
            </a:extLst>
          </p:cNvPr>
          <p:cNvPicPr>
            <a:picLocks noChangeAspect="1"/>
          </p:cNvPicPr>
          <p:nvPr/>
        </p:nvPicPr>
        <p:blipFill>
          <a:blip r:embed="rId2"/>
          <a:stretch>
            <a:fillRect/>
          </a:stretch>
        </p:blipFill>
        <p:spPr>
          <a:xfrm>
            <a:off x="323503" y="254000"/>
            <a:ext cx="156939" cy="191368"/>
          </a:xfrm>
          <a:prstGeom prst="rect">
            <a:avLst/>
          </a:prstGeom>
        </p:spPr>
      </p:pic>
      <p:pic>
        <p:nvPicPr>
          <p:cNvPr id="4" name="Image 4" descr="preencoded.png">
            <a:extLst>
              <a:ext uri="{FF2B5EF4-FFF2-40B4-BE49-F238E27FC236}">
                <a16:creationId xmlns:a16="http://schemas.microsoft.com/office/drawing/2014/main" id="{4D3BC126-DB65-F8A2-BAC8-368D43E5E2F3}"/>
              </a:ext>
            </a:extLst>
          </p:cNvPr>
          <p:cNvPicPr>
            <a:picLocks noChangeAspect="1"/>
          </p:cNvPicPr>
          <p:nvPr/>
        </p:nvPicPr>
        <p:blipFill>
          <a:blip r:embed="rId3"/>
          <a:stretch>
            <a:fillRect/>
          </a:stretch>
        </p:blipFill>
        <p:spPr>
          <a:xfrm>
            <a:off x="387028" y="459541"/>
            <a:ext cx="968" cy="4"/>
          </a:xfrm>
          <a:prstGeom prst="rect">
            <a:avLst/>
          </a:prstGeom>
        </p:spPr>
      </p:pic>
      <p:pic>
        <p:nvPicPr>
          <p:cNvPr id="5" name="Image 5" descr="preencoded.png">
            <a:extLst>
              <a:ext uri="{FF2B5EF4-FFF2-40B4-BE49-F238E27FC236}">
                <a16:creationId xmlns:a16="http://schemas.microsoft.com/office/drawing/2014/main" id="{5DA1775F-B4C1-C483-2573-327D8986BCCB}"/>
              </a:ext>
            </a:extLst>
          </p:cNvPr>
          <p:cNvPicPr>
            <a:picLocks noChangeAspect="1"/>
          </p:cNvPicPr>
          <p:nvPr/>
        </p:nvPicPr>
        <p:blipFill>
          <a:blip r:embed="rId3"/>
          <a:stretch>
            <a:fillRect/>
          </a:stretch>
        </p:blipFill>
        <p:spPr>
          <a:xfrm>
            <a:off x="386756" y="459546"/>
            <a:ext cx="297" cy="4"/>
          </a:xfrm>
          <a:prstGeom prst="rect">
            <a:avLst/>
          </a:prstGeom>
        </p:spPr>
      </p:pic>
      <p:pic>
        <p:nvPicPr>
          <p:cNvPr id="6" name="Image 6" descr="preencoded.png">
            <a:extLst>
              <a:ext uri="{FF2B5EF4-FFF2-40B4-BE49-F238E27FC236}">
                <a16:creationId xmlns:a16="http://schemas.microsoft.com/office/drawing/2014/main" id="{59A18E20-B54C-3CDE-A12D-42169D6EC728}"/>
              </a:ext>
            </a:extLst>
          </p:cNvPr>
          <p:cNvPicPr>
            <a:picLocks noChangeAspect="1"/>
          </p:cNvPicPr>
          <p:nvPr/>
        </p:nvPicPr>
        <p:blipFill>
          <a:blip r:embed="rId3"/>
          <a:stretch>
            <a:fillRect/>
          </a:stretch>
        </p:blipFill>
        <p:spPr>
          <a:xfrm>
            <a:off x="389261" y="473634"/>
            <a:ext cx="471" cy="4"/>
          </a:xfrm>
          <a:prstGeom prst="rect">
            <a:avLst/>
          </a:prstGeom>
        </p:spPr>
      </p:pic>
      <p:pic>
        <p:nvPicPr>
          <p:cNvPr id="7" name="Image 7" descr="preencoded.png">
            <a:extLst>
              <a:ext uri="{FF2B5EF4-FFF2-40B4-BE49-F238E27FC236}">
                <a16:creationId xmlns:a16="http://schemas.microsoft.com/office/drawing/2014/main" id="{C8876BF1-F88A-A7B2-962E-AFB7A9F254AD}"/>
              </a:ext>
            </a:extLst>
          </p:cNvPr>
          <p:cNvPicPr>
            <a:picLocks noChangeAspect="1"/>
          </p:cNvPicPr>
          <p:nvPr/>
        </p:nvPicPr>
        <p:blipFill>
          <a:blip r:embed="rId4"/>
          <a:stretch>
            <a:fillRect/>
          </a:stretch>
        </p:blipFill>
        <p:spPr>
          <a:xfrm>
            <a:off x="600300" y="305277"/>
            <a:ext cx="137641" cy="202443"/>
          </a:xfrm>
          <a:prstGeom prst="rect">
            <a:avLst/>
          </a:prstGeom>
        </p:spPr>
      </p:pic>
      <p:pic>
        <p:nvPicPr>
          <p:cNvPr id="8" name="Image 8" descr="preencoded.png">
            <a:extLst>
              <a:ext uri="{FF2B5EF4-FFF2-40B4-BE49-F238E27FC236}">
                <a16:creationId xmlns:a16="http://schemas.microsoft.com/office/drawing/2014/main" id="{31A2F852-65DA-F178-280C-9D1638C62BBA}"/>
              </a:ext>
            </a:extLst>
          </p:cNvPr>
          <p:cNvPicPr>
            <a:picLocks noChangeAspect="1"/>
          </p:cNvPicPr>
          <p:nvPr/>
        </p:nvPicPr>
        <p:blipFill>
          <a:blip r:embed="rId5"/>
          <a:stretch>
            <a:fillRect/>
          </a:stretch>
        </p:blipFill>
        <p:spPr>
          <a:xfrm>
            <a:off x="743372" y="360473"/>
            <a:ext cx="126579" cy="147243"/>
          </a:xfrm>
          <a:prstGeom prst="rect">
            <a:avLst/>
          </a:prstGeom>
        </p:spPr>
      </p:pic>
      <p:pic>
        <p:nvPicPr>
          <p:cNvPr id="9" name="Image 9" descr="preencoded.png">
            <a:extLst>
              <a:ext uri="{FF2B5EF4-FFF2-40B4-BE49-F238E27FC236}">
                <a16:creationId xmlns:a16="http://schemas.microsoft.com/office/drawing/2014/main" id="{1E894DFA-5966-764B-B3B2-FD9B0367D220}"/>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0" name="Image 10" descr="preencoded.png">
            <a:extLst>
              <a:ext uri="{FF2B5EF4-FFF2-40B4-BE49-F238E27FC236}">
                <a16:creationId xmlns:a16="http://schemas.microsoft.com/office/drawing/2014/main" id="{0C99C57F-8714-795F-137B-5BA01049AD72}"/>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1" name="Image 11" descr="preencoded.png">
            <a:extLst>
              <a:ext uri="{FF2B5EF4-FFF2-40B4-BE49-F238E27FC236}">
                <a16:creationId xmlns:a16="http://schemas.microsoft.com/office/drawing/2014/main" id="{546F725A-CA50-EC69-39B4-8738E6DE7778}"/>
              </a:ext>
            </a:extLst>
          </p:cNvPr>
          <p:cNvPicPr>
            <a:picLocks noChangeAspect="1"/>
          </p:cNvPicPr>
          <p:nvPr/>
        </p:nvPicPr>
        <p:blipFill>
          <a:blip r:embed="rId8"/>
          <a:stretch>
            <a:fillRect/>
          </a:stretch>
        </p:blipFill>
        <p:spPr>
          <a:xfrm>
            <a:off x="375419" y="376364"/>
            <a:ext cx="174501" cy="157568"/>
          </a:xfrm>
          <a:prstGeom prst="rect">
            <a:avLst/>
          </a:prstGeom>
        </p:spPr>
      </p:pic>
      <p:pic>
        <p:nvPicPr>
          <p:cNvPr id="12" name="Image 12" descr="preencoded.png">
            <a:extLst>
              <a:ext uri="{FF2B5EF4-FFF2-40B4-BE49-F238E27FC236}">
                <a16:creationId xmlns:a16="http://schemas.microsoft.com/office/drawing/2014/main" id="{80F06DD7-DF89-DA98-067B-0F0AD4E3D8FF}"/>
              </a:ext>
            </a:extLst>
          </p:cNvPr>
          <p:cNvPicPr>
            <a:picLocks noChangeAspect="1"/>
          </p:cNvPicPr>
          <p:nvPr/>
        </p:nvPicPr>
        <p:blipFill>
          <a:blip r:embed="rId9"/>
          <a:stretch>
            <a:fillRect/>
          </a:stretch>
        </p:blipFill>
        <p:spPr>
          <a:xfrm>
            <a:off x="254000" y="376361"/>
            <a:ext cx="174501" cy="157575"/>
          </a:xfrm>
          <a:prstGeom prst="rect">
            <a:avLst/>
          </a:prstGeom>
        </p:spPr>
      </p:pic>
      <p:sp>
        <p:nvSpPr>
          <p:cNvPr id="13" name="Rectangle: Rounded Corners 12">
            <a:extLst>
              <a:ext uri="{FF2B5EF4-FFF2-40B4-BE49-F238E27FC236}">
                <a16:creationId xmlns:a16="http://schemas.microsoft.com/office/drawing/2014/main" id="{4715B5D6-6430-28C4-B651-286E31ECAB31}"/>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Biology</a:t>
            </a:r>
          </a:p>
        </p:txBody>
      </p:sp>
      <p:sp>
        <p:nvSpPr>
          <p:cNvPr id="14" name="TextBox 13">
            <a:extLst>
              <a:ext uri="{FF2B5EF4-FFF2-40B4-BE49-F238E27FC236}">
                <a16:creationId xmlns:a16="http://schemas.microsoft.com/office/drawing/2014/main" id="{E7CEE552-22FB-BE19-A866-697A8167D1EF}"/>
              </a:ext>
            </a:extLst>
          </p:cNvPr>
          <p:cNvSpPr txBox="1"/>
          <p:nvPr/>
        </p:nvSpPr>
        <p:spPr>
          <a:xfrm>
            <a:off x="11075917" y="6611779"/>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5" name="Text 28">
            <a:extLst>
              <a:ext uri="{FF2B5EF4-FFF2-40B4-BE49-F238E27FC236}">
                <a16:creationId xmlns:a16="http://schemas.microsoft.com/office/drawing/2014/main" id="{98AA3532-1CE3-478F-D04C-044908881E0F}"/>
              </a:ext>
            </a:extLst>
          </p:cNvPr>
          <p:cNvSpPr/>
          <p:nvPr/>
        </p:nvSpPr>
        <p:spPr>
          <a:xfrm>
            <a:off x="254001" y="635564"/>
            <a:ext cx="9926319"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GCC is secluded in gut lumen in healthy tissue, but selectively blood accessible in tumors</a:t>
            </a:r>
          </a:p>
        </p:txBody>
      </p:sp>
      <p:sp>
        <p:nvSpPr>
          <p:cNvPr id="16" name="Shape 1">
            <a:extLst>
              <a:ext uri="{FF2B5EF4-FFF2-40B4-BE49-F238E27FC236}">
                <a16:creationId xmlns:a16="http://schemas.microsoft.com/office/drawing/2014/main" id="{023C5E65-171E-E59C-5FA3-A6F40B0A0D59}"/>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TextBox 17">
            <a:extLst>
              <a:ext uri="{FF2B5EF4-FFF2-40B4-BE49-F238E27FC236}">
                <a16:creationId xmlns:a16="http://schemas.microsoft.com/office/drawing/2014/main" id="{D6C45951-641D-7C75-E26D-4704AE4E574F}"/>
              </a:ext>
            </a:extLst>
          </p:cNvPr>
          <p:cNvSpPr txBox="1"/>
          <p:nvPr/>
        </p:nvSpPr>
        <p:spPr>
          <a:xfrm>
            <a:off x="8731045" y="2233326"/>
            <a:ext cx="3207344" cy="37548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GCC is secluded to the apical side of the epithelial brush border facing the lumen throughout the </a:t>
            </a:r>
            <a:r>
              <a:rPr kumimoji="0" lang="en-US" sz="1400" b="0" i="0" u="none" strike="noStrike" kern="1200" cap="none" spc="0" normalizeH="0" baseline="0" noProof="0" dirty="0">
                <a:ln>
                  <a:noFill/>
                </a:ln>
                <a:solidFill>
                  <a:srgbClr val="1B1B1B"/>
                </a:solidFill>
                <a:effectLst/>
                <a:uLnTx/>
                <a:uFillTx/>
                <a:latin typeface="Funnel Sans"/>
                <a:ea typeface="Cambria"/>
                <a:cs typeface="+mn-lt"/>
              </a:rPr>
              <a:t>entire length of the gastrointestinal tract, from duodenum to rectum but is </a:t>
            </a:r>
            <a:r>
              <a:rPr kumimoji="0" lang="en-US" sz="1400" b="1" i="0" u="sng" strike="noStrike" kern="1200" cap="none" spc="0" normalizeH="0" baseline="0" noProof="0" dirty="0">
                <a:ln>
                  <a:noFill/>
                </a:ln>
                <a:solidFill>
                  <a:srgbClr val="1B1B1B"/>
                </a:solidFill>
                <a:effectLst/>
                <a:uLnTx/>
                <a:uFillTx/>
                <a:latin typeface="Funnel Sans"/>
                <a:ea typeface="Cambria"/>
                <a:cs typeface="+mn-lt"/>
              </a:rPr>
              <a:t>NOT</a:t>
            </a:r>
            <a:r>
              <a:rPr kumimoji="0" lang="en-US" sz="1400" b="0" i="0" u="none" strike="noStrike" kern="1200" cap="none" spc="0" normalizeH="0" baseline="0" noProof="0" dirty="0">
                <a:ln>
                  <a:noFill/>
                </a:ln>
                <a:solidFill>
                  <a:srgbClr val="1B1B1B"/>
                </a:solidFill>
                <a:effectLst/>
                <a:uLnTx/>
                <a:uFillTx/>
                <a:latin typeface="Funnel Sans"/>
                <a:ea typeface="Cambria"/>
                <a:cs typeface="+mn-lt"/>
              </a:rPr>
              <a:t> accessible from the blood.</a:t>
            </a:r>
            <a:endParaRPr kumimoji="0" lang="en-US" sz="1400" b="0" i="0" u="none" strike="noStrike" kern="1200" cap="none" spc="0" normalizeH="0" baseline="0" noProof="0" dirty="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Protection from blood reduces potential on-target, off-tumor exposure in healthy tissue.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During tumorigenesis, cells undergo a loss of apical-basolateral polarization which leads to GCC expression on the cancer cell surface. GCC on tumor cells is </a:t>
            </a:r>
            <a:r>
              <a:rPr kumimoji="0" lang="en-US" sz="1400" b="1" i="0" u="none" strike="noStrike" kern="1200" cap="none" spc="0" normalizeH="0" baseline="0" noProof="0" dirty="0">
                <a:ln>
                  <a:noFill/>
                </a:ln>
                <a:solidFill>
                  <a:prstClr val="black"/>
                </a:solidFill>
                <a:effectLst/>
                <a:uLnTx/>
                <a:uFillTx/>
                <a:latin typeface="Funnel Sans"/>
                <a:ea typeface="+mn-ea"/>
                <a:cs typeface="+mn-cs"/>
              </a:rPr>
              <a:t>available for binding by RLT</a:t>
            </a:r>
            <a:r>
              <a:rPr kumimoji="0" lang="en-US" sz="1400" b="0" i="0" u="none" strike="noStrike" kern="1200" cap="none" spc="0" normalizeH="0" baseline="0" noProof="0" dirty="0">
                <a:ln>
                  <a:noFill/>
                </a:ln>
                <a:solidFill>
                  <a:prstClr val="black"/>
                </a:solidFill>
                <a:effectLst/>
                <a:uLnTx/>
                <a:uFillTx/>
                <a:latin typeface="Funnel Sans"/>
                <a:ea typeface="+mn-ea"/>
                <a:cs typeface="+mn-cs"/>
              </a:rPr>
              <a:t> &amp; other therapeutic modalities.</a:t>
            </a:r>
            <a:endParaRPr kumimoji="0" lang="en-US" sz="1400" b="1" i="0" u="none" strike="noStrike" kern="1200" cap="none" spc="0" normalizeH="0" baseline="0" noProof="0" dirty="0">
              <a:ln>
                <a:noFill/>
              </a:ln>
              <a:solidFill>
                <a:srgbClr val="000000"/>
              </a:solidFill>
              <a:effectLst/>
              <a:uLnTx/>
              <a:uFillTx/>
              <a:latin typeface="Funnel Sans"/>
              <a:ea typeface="Cambria"/>
              <a:cs typeface="+mn-cs"/>
            </a:endParaRPr>
          </a:p>
        </p:txBody>
      </p:sp>
      <p:grpSp>
        <p:nvGrpSpPr>
          <p:cNvPr id="17" name="Group 16">
            <a:extLst>
              <a:ext uri="{FF2B5EF4-FFF2-40B4-BE49-F238E27FC236}">
                <a16:creationId xmlns:a16="http://schemas.microsoft.com/office/drawing/2014/main" id="{24027473-CDD1-A2C0-0B75-E71E8D5FE5CC}"/>
              </a:ext>
            </a:extLst>
          </p:cNvPr>
          <p:cNvGrpSpPr/>
          <p:nvPr/>
        </p:nvGrpSpPr>
        <p:grpSpPr>
          <a:xfrm>
            <a:off x="473976" y="1613265"/>
            <a:ext cx="7620000" cy="3091025"/>
            <a:chOff x="473976" y="1613265"/>
            <a:chExt cx="7620000" cy="3091025"/>
          </a:xfrm>
        </p:grpSpPr>
        <p:pic>
          <p:nvPicPr>
            <p:cNvPr id="20" name="Picture 2" descr="Figure 1">
              <a:extLst>
                <a:ext uri="{FF2B5EF4-FFF2-40B4-BE49-F238E27FC236}">
                  <a16:creationId xmlns:a16="http://schemas.microsoft.com/office/drawing/2014/main" id="{1DDD238C-2CF9-1053-D15C-A3F3705E3EA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49687"/>
            <a:stretch>
              <a:fillRect/>
            </a:stretch>
          </p:blipFill>
          <p:spPr bwMode="auto">
            <a:xfrm>
              <a:off x="473976" y="2332067"/>
              <a:ext cx="7620000" cy="2372223"/>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290D9000-0732-74D1-9DD0-EB6D079EA08D}"/>
                </a:ext>
              </a:extLst>
            </p:cNvPr>
            <p:cNvSpPr/>
            <p:nvPr/>
          </p:nvSpPr>
          <p:spPr>
            <a:xfrm>
              <a:off x="669120" y="1613265"/>
              <a:ext cx="5115651" cy="12252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22" name="Rectangle 21">
              <a:extLst>
                <a:ext uri="{FF2B5EF4-FFF2-40B4-BE49-F238E27FC236}">
                  <a16:creationId xmlns:a16="http://schemas.microsoft.com/office/drawing/2014/main" id="{C6408BC5-B2C7-1F0B-EC3A-FF3D901E2C99}"/>
                </a:ext>
              </a:extLst>
            </p:cNvPr>
            <p:cNvSpPr/>
            <p:nvPr/>
          </p:nvSpPr>
          <p:spPr>
            <a:xfrm>
              <a:off x="1952567" y="2281880"/>
              <a:ext cx="1301905" cy="16844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unnel Sans"/>
                <a:ea typeface="+mn-ea"/>
                <a:cs typeface="+mn-cs"/>
              </a:endParaRPr>
            </a:p>
          </p:txBody>
        </p:sp>
      </p:grpSp>
      <p:sp>
        <p:nvSpPr>
          <p:cNvPr id="23" name="Rectangle 22">
            <a:extLst>
              <a:ext uri="{FF2B5EF4-FFF2-40B4-BE49-F238E27FC236}">
                <a16:creationId xmlns:a16="http://schemas.microsoft.com/office/drawing/2014/main" id="{F31070E4-D411-B43E-CCB4-21EFA34587D0}"/>
              </a:ext>
            </a:extLst>
          </p:cNvPr>
          <p:cNvSpPr/>
          <p:nvPr/>
        </p:nvSpPr>
        <p:spPr>
          <a:xfrm>
            <a:off x="412541" y="1580953"/>
            <a:ext cx="7794533" cy="2820272"/>
          </a:xfrm>
          <a:prstGeom prst="rect">
            <a:avLst/>
          </a:prstGeom>
          <a:solidFill>
            <a:srgbClr val="303428">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24" name="Rectangle 23">
            <a:extLst>
              <a:ext uri="{FF2B5EF4-FFF2-40B4-BE49-F238E27FC236}">
                <a16:creationId xmlns:a16="http://schemas.microsoft.com/office/drawing/2014/main" id="{74969596-12D1-8ED7-9A34-9AE9060A58B6}"/>
              </a:ext>
            </a:extLst>
          </p:cNvPr>
          <p:cNvSpPr/>
          <p:nvPr/>
        </p:nvSpPr>
        <p:spPr>
          <a:xfrm>
            <a:off x="412541" y="4395084"/>
            <a:ext cx="7794533" cy="1875175"/>
          </a:xfrm>
          <a:prstGeom prst="rect">
            <a:avLst/>
          </a:prstGeom>
          <a:solidFill>
            <a:srgbClr val="FF9999">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25" name="TextBox 24">
            <a:extLst>
              <a:ext uri="{FF2B5EF4-FFF2-40B4-BE49-F238E27FC236}">
                <a16:creationId xmlns:a16="http://schemas.microsoft.com/office/drawing/2014/main" id="{586DE5B0-ADEA-5CF6-E554-6AD51654847A}"/>
              </a:ext>
            </a:extLst>
          </p:cNvPr>
          <p:cNvSpPr txBox="1"/>
          <p:nvPr/>
        </p:nvSpPr>
        <p:spPr>
          <a:xfrm>
            <a:off x="549920" y="2422321"/>
            <a:ext cx="232684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Funnel Sans"/>
                <a:ea typeface="+mn-ea"/>
                <a:cs typeface="+mn-cs"/>
              </a:rPr>
              <a:t>Apical target </a:t>
            </a:r>
            <a:r>
              <a:rPr kumimoji="0" lang="en-GB" sz="1200" b="0" i="0" u="none" strike="noStrike" kern="1200" cap="none" spc="0" normalizeH="0" baseline="0" noProof="0">
                <a:ln>
                  <a:noFill/>
                </a:ln>
                <a:solidFill>
                  <a:prstClr val="black"/>
                </a:solidFill>
                <a:effectLst/>
                <a:uLnTx/>
                <a:uFillTx/>
                <a:latin typeface="Funnel Sans"/>
                <a:ea typeface="+mn-ea"/>
                <a:cs typeface="+mn-cs"/>
              </a:rPr>
              <a:t>expression in </a:t>
            </a:r>
            <a:r>
              <a:rPr kumimoji="0" lang="en-GB" sz="1200" b="1" i="0" u="none" strike="noStrike" kern="1200" cap="none" spc="0" normalizeH="0" baseline="0" noProof="0">
                <a:ln>
                  <a:noFill/>
                </a:ln>
                <a:solidFill>
                  <a:prstClr val="black"/>
                </a:solidFill>
                <a:effectLst/>
                <a:uLnTx/>
                <a:uFillTx/>
                <a:latin typeface="Funnel Sans"/>
                <a:ea typeface="+mn-ea"/>
                <a:cs typeface="+mn-cs"/>
              </a:rPr>
              <a:t>normal</a:t>
            </a:r>
            <a:r>
              <a:rPr kumimoji="0" lang="en-GB" sz="1200" b="0" i="0" u="none" strike="noStrike" kern="1200" cap="none" spc="0" normalizeH="0" baseline="0" noProof="0">
                <a:ln>
                  <a:noFill/>
                </a:ln>
                <a:solidFill>
                  <a:prstClr val="black"/>
                </a:solidFill>
                <a:effectLst/>
                <a:uLnTx/>
                <a:uFillTx/>
                <a:latin typeface="Funnel Sans"/>
                <a:ea typeface="+mn-ea"/>
                <a:cs typeface="+mn-cs"/>
              </a:rPr>
              <a:t> epithelium =&gt; </a:t>
            </a:r>
            <a:r>
              <a:rPr kumimoji="0" lang="en-GB" sz="1200" b="0" i="0" u="sng" strike="noStrike" kern="1200" cap="none" spc="0" normalizeH="0" baseline="0" noProof="0">
                <a:ln>
                  <a:noFill/>
                </a:ln>
                <a:solidFill>
                  <a:prstClr val="black"/>
                </a:solidFill>
                <a:effectLst/>
                <a:uLnTx/>
                <a:uFillTx/>
                <a:latin typeface="Funnel Sans"/>
                <a:ea typeface="+mn-ea"/>
                <a:cs typeface="+mn-cs"/>
              </a:rPr>
              <a:t>inaccessible</a:t>
            </a:r>
          </a:p>
        </p:txBody>
      </p:sp>
      <p:sp>
        <p:nvSpPr>
          <p:cNvPr id="26" name="TextBox 25">
            <a:extLst>
              <a:ext uri="{FF2B5EF4-FFF2-40B4-BE49-F238E27FC236}">
                <a16:creationId xmlns:a16="http://schemas.microsoft.com/office/drawing/2014/main" id="{AAC1477D-6ACE-EF29-C4C3-9FD64AB5701D}"/>
              </a:ext>
            </a:extLst>
          </p:cNvPr>
          <p:cNvSpPr txBox="1"/>
          <p:nvPr/>
        </p:nvSpPr>
        <p:spPr>
          <a:xfrm>
            <a:off x="3590848" y="5090816"/>
            <a:ext cx="271748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Target overexpression on the entire </a:t>
            </a:r>
            <a:r>
              <a:rPr kumimoji="0" lang="en-US" sz="1200" b="1" i="0" u="none" strike="noStrike" kern="1200" cap="none" spc="0" normalizeH="0" baseline="0" noProof="0">
                <a:ln>
                  <a:noFill/>
                </a:ln>
                <a:solidFill>
                  <a:prstClr val="black"/>
                </a:solidFill>
                <a:effectLst/>
                <a:uLnTx/>
                <a:uFillTx/>
                <a:latin typeface="Funnel Sans"/>
                <a:ea typeface="+mn-ea"/>
                <a:cs typeface="+mn-cs"/>
              </a:rPr>
              <a:t>tumor </a:t>
            </a:r>
            <a:r>
              <a:rPr kumimoji="0" lang="en-US" sz="1200" b="0" i="0" u="none" strike="noStrike" kern="1200" cap="none" spc="0" normalizeH="0" baseline="0" noProof="0">
                <a:ln>
                  <a:noFill/>
                </a:ln>
                <a:solidFill>
                  <a:prstClr val="black"/>
                </a:solidFill>
                <a:effectLst/>
                <a:uLnTx/>
                <a:uFillTx/>
                <a:latin typeface="Funnel Sans"/>
                <a:ea typeface="+mn-ea"/>
                <a:cs typeface="+mn-cs"/>
              </a:rPr>
              <a:t>cell membrane =&gt; </a:t>
            </a:r>
            <a:r>
              <a:rPr kumimoji="0" lang="en-US" sz="1200" b="0" i="0" u="sng" strike="noStrike" kern="1200" cap="none" spc="0" normalizeH="0" baseline="0" noProof="0">
                <a:ln>
                  <a:noFill/>
                </a:ln>
                <a:solidFill>
                  <a:prstClr val="black"/>
                </a:solidFill>
                <a:effectLst/>
                <a:uLnTx/>
                <a:uFillTx/>
                <a:latin typeface="Funnel Sans"/>
                <a:ea typeface="+mn-ea"/>
                <a:cs typeface="+mn-cs"/>
              </a:rPr>
              <a:t>accessible</a:t>
            </a:r>
          </a:p>
        </p:txBody>
      </p:sp>
      <p:cxnSp>
        <p:nvCxnSpPr>
          <p:cNvPr id="27" name="Straight Arrow Connector 26">
            <a:extLst>
              <a:ext uri="{FF2B5EF4-FFF2-40B4-BE49-F238E27FC236}">
                <a16:creationId xmlns:a16="http://schemas.microsoft.com/office/drawing/2014/main" id="{A585BB0D-FEB1-1E12-8BAF-9FC1E2EEF40C}"/>
              </a:ext>
            </a:extLst>
          </p:cNvPr>
          <p:cNvCxnSpPr>
            <a:cxnSpLocks/>
          </p:cNvCxnSpPr>
          <p:nvPr/>
        </p:nvCxnSpPr>
        <p:spPr>
          <a:xfrm flipH="1" flipV="1">
            <a:off x="4554330" y="4660348"/>
            <a:ext cx="229705" cy="427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936517B5-2FDA-DA94-EFB0-7F34F583753B}"/>
              </a:ext>
            </a:extLst>
          </p:cNvPr>
          <p:cNvSpPr txBox="1"/>
          <p:nvPr/>
        </p:nvSpPr>
        <p:spPr>
          <a:xfrm>
            <a:off x="480447" y="1626847"/>
            <a:ext cx="1665841"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1" u="none" strike="noStrike" kern="1200" cap="none" spc="0" normalizeH="0" baseline="0" noProof="0">
                <a:ln>
                  <a:noFill/>
                </a:ln>
                <a:solidFill>
                  <a:prstClr val="black"/>
                </a:solidFill>
                <a:effectLst/>
                <a:uLnTx/>
                <a:uFillTx/>
                <a:latin typeface="Funnel Sans"/>
                <a:ea typeface="+mn-ea"/>
                <a:cs typeface="+mn-cs"/>
              </a:rPr>
              <a:t>Inside the colon</a:t>
            </a:r>
          </a:p>
        </p:txBody>
      </p:sp>
      <p:sp>
        <p:nvSpPr>
          <p:cNvPr id="29" name="TextBox 28">
            <a:extLst>
              <a:ext uri="{FF2B5EF4-FFF2-40B4-BE49-F238E27FC236}">
                <a16:creationId xmlns:a16="http://schemas.microsoft.com/office/drawing/2014/main" id="{5835A1CC-9A04-5F69-48B7-86FC89B848EA}"/>
              </a:ext>
            </a:extLst>
          </p:cNvPr>
          <p:cNvSpPr txBox="1"/>
          <p:nvPr/>
        </p:nvSpPr>
        <p:spPr>
          <a:xfrm>
            <a:off x="517040" y="5833284"/>
            <a:ext cx="1378904"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1" u="none" strike="noStrike" kern="1200" cap="none" spc="0" normalizeH="0" baseline="0" noProof="0">
                <a:ln>
                  <a:noFill/>
                </a:ln>
                <a:solidFill>
                  <a:prstClr val="black"/>
                </a:solidFill>
                <a:effectLst/>
                <a:uLnTx/>
                <a:uFillTx/>
                <a:latin typeface="Funnel Sans"/>
                <a:ea typeface="+mn-ea"/>
                <a:cs typeface="+mn-cs"/>
              </a:rPr>
              <a:t>Bloodstream</a:t>
            </a:r>
          </a:p>
        </p:txBody>
      </p:sp>
      <p:cxnSp>
        <p:nvCxnSpPr>
          <p:cNvPr id="30" name="Straight Arrow Connector 29">
            <a:extLst>
              <a:ext uri="{FF2B5EF4-FFF2-40B4-BE49-F238E27FC236}">
                <a16:creationId xmlns:a16="http://schemas.microsoft.com/office/drawing/2014/main" id="{B2E4B90E-A9A2-14D0-F052-6A98515FA079}"/>
              </a:ext>
            </a:extLst>
          </p:cNvPr>
          <p:cNvCxnSpPr>
            <a:cxnSpLocks/>
          </p:cNvCxnSpPr>
          <p:nvPr/>
        </p:nvCxnSpPr>
        <p:spPr>
          <a:xfrm>
            <a:off x="1925040" y="2945331"/>
            <a:ext cx="132360" cy="9476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792F92CE-CE5C-D63A-9EE4-B7DFB6E47659}"/>
              </a:ext>
            </a:extLst>
          </p:cNvPr>
          <p:cNvCxnSpPr>
            <a:cxnSpLocks/>
          </p:cNvCxnSpPr>
          <p:nvPr/>
        </p:nvCxnSpPr>
        <p:spPr>
          <a:xfrm flipV="1">
            <a:off x="6096000" y="3495622"/>
            <a:ext cx="594139" cy="16195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DE90319B-EE30-55A9-A142-8E2B0BF9F31E}"/>
              </a:ext>
            </a:extLst>
          </p:cNvPr>
          <p:cNvSpPr txBox="1"/>
          <p:nvPr/>
        </p:nvSpPr>
        <p:spPr>
          <a:xfrm>
            <a:off x="0" y="6611779"/>
            <a:ext cx="12065520" cy="24622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Adapted from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1"/>
              </a:rPr>
              <a:t>Aka Exp Rev Clin </a:t>
            </a:r>
            <a:r>
              <a:rPr kumimoji="0" lang="en-US" sz="1000" b="0" i="0" u="none" strike="noStrike" kern="1200" cap="none" spc="0" normalizeH="0" baseline="0" noProof="0" err="1">
                <a:ln>
                  <a:noFill/>
                </a:ln>
                <a:solidFill>
                  <a:prstClr val="black"/>
                </a:solidFill>
                <a:effectLst/>
                <a:uLnTx/>
                <a:uFillTx/>
                <a:latin typeface="Funnel Sans"/>
                <a:ea typeface="+mn-ea"/>
                <a:cs typeface="+mn-cs"/>
                <a:hlinkClick r:id="rId11"/>
              </a:rPr>
              <a:t>Pharmacol</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1"/>
              </a:rPr>
              <a:t> 2017</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217644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95FE8-8F4B-5FEE-39BE-C51E53987CF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BF1024-8283-B89A-9EC5-A696D7DC3691}"/>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9">
            <a:extLst>
              <a:ext uri="{FF2B5EF4-FFF2-40B4-BE49-F238E27FC236}">
                <a16:creationId xmlns:a16="http://schemas.microsoft.com/office/drawing/2014/main" id="{28A042B8-7C52-9DAB-F13F-3F88244AEC97}"/>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5" name="Image 3" descr="preencoded.png">
            <a:extLst>
              <a:ext uri="{FF2B5EF4-FFF2-40B4-BE49-F238E27FC236}">
                <a16:creationId xmlns:a16="http://schemas.microsoft.com/office/drawing/2014/main" id="{2CE8FC18-1EA6-4C20-D95F-DFDF575A4427}"/>
              </a:ext>
            </a:extLst>
          </p:cNvPr>
          <p:cNvPicPr>
            <a:picLocks noChangeAspect="1"/>
          </p:cNvPicPr>
          <p:nvPr/>
        </p:nvPicPr>
        <p:blipFill>
          <a:blip r:embed="rId4"/>
          <a:stretch>
            <a:fillRect/>
          </a:stretch>
        </p:blipFill>
        <p:spPr>
          <a:xfrm>
            <a:off x="323503" y="254000"/>
            <a:ext cx="156939" cy="191368"/>
          </a:xfrm>
          <a:prstGeom prst="rect">
            <a:avLst/>
          </a:prstGeom>
        </p:spPr>
      </p:pic>
      <p:pic>
        <p:nvPicPr>
          <p:cNvPr id="6" name="Image 4" descr="preencoded.png">
            <a:extLst>
              <a:ext uri="{FF2B5EF4-FFF2-40B4-BE49-F238E27FC236}">
                <a16:creationId xmlns:a16="http://schemas.microsoft.com/office/drawing/2014/main" id="{5DCF083A-DC14-1604-93CC-6F02F52A8141}"/>
              </a:ext>
            </a:extLst>
          </p:cNvPr>
          <p:cNvPicPr>
            <a:picLocks noChangeAspect="1"/>
          </p:cNvPicPr>
          <p:nvPr/>
        </p:nvPicPr>
        <p:blipFill>
          <a:blip r:embed="rId5"/>
          <a:stretch>
            <a:fillRect/>
          </a:stretch>
        </p:blipFill>
        <p:spPr>
          <a:xfrm>
            <a:off x="387028" y="459541"/>
            <a:ext cx="968" cy="4"/>
          </a:xfrm>
          <a:prstGeom prst="rect">
            <a:avLst/>
          </a:prstGeom>
        </p:spPr>
      </p:pic>
      <p:pic>
        <p:nvPicPr>
          <p:cNvPr id="7" name="Image 5" descr="preencoded.png">
            <a:extLst>
              <a:ext uri="{FF2B5EF4-FFF2-40B4-BE49-F238E27FC236}">
                <a16:creationId xmlns:a16="http://schemas.microsoft.com/office/drawing/2014/main" id="{E5EA8EE9-A90F-E7AD-4178-8FC52B367E67}"/>
              </a:ext>
            </a:extLst>
          </p:cNvPr>
          <p:cNvPicPr>
            <a:picLocks noChangeAspect="1"/>
          </p:cNvPicPr>
          <p:nvPr/>
        </p:nvPicPr>
        <p:blipFill>
          <a:blip r:embed="rId5"/>
          <a:stretch>
            <a:fillRect/>
          </a:stretch>
        </p:blipFill>
        <p:spPr>
          <a:xfrm>
            <a:off x="386756" y="459546"/>
            <a:ext cx="297" cy="4"/>
          </a:xfrm>
          <a:prstGeom prst="rect">
            <a:avLst/>
          </a:prstGeom>
        </p:spPr>
      </p:pic>
      <p:pic>
        <p:nvPicPr>
          <p:cNvPr id="8" name="Image 6" descr="preencoded.png">
            <a:extLst>
              <a:ext uri="{FF2B5EF4-FFF2-40B4-BE49-F238E27FC236}">
                <a16:creationId xmlns:a16="http://schemas.microsoft.com/office/drawing/2014/main" id="{07515EAD-B347-E026-AA2C-2B09E945EF76}"/>
              </a:ext>
            </a:extLst>
          </p:cNvPr>
          <p:cNvPicPr>
            <a:picLocks noChangeAspect="1"/>
          </p:cNvPicPr>
          <p:nvPr/>
        </p:nvPicPr>
        <p:blipFill>
          <a:blip r:embed="rId5"/>
          <a:stretch>
            <a:fillRect/>
          </a:stretch>
        </p:blipFill>
        <p:spPr>
          <a:xfrm>
            <a:off x="389261" y="473634"/>
            <a:ext cx="471" cy="4"/>
          </a:xfrm>
          <a:prstGeom prst="rect">
            <a:avLst/>
          </a:prstGeom>
        </p:spPr>
      </p:pic>
      <p:pic>
        <p:nvPicPr>
          <p:cNvPr id="9" name="Image 7" descr="preencoded.png">
            <a:extLst>
              <a:ext uri="{FF2B5EF4-FFF2-40B4-BE49-F238E27FC236}">
                <a16:creationId xmlns:a16="http://schemas.microsoft.com/office/drawing/2014/main" id="{1A284ABC-5418-CC0D-3A76-94FF01CFDB06}"/>
              </a:ext>
            </a:extLst>
          </p:cNvPr>
          <p:cNvPicPr>
            <a:picLocks noChangeAspect="1"/>
          </p:cNvPicPr>
          <p:nvPr/>
        </p:nvPicPr>
        <p:blipFill>
          <a:blip r:embed="rId6"/>
          <a:stretch>
            <a:fillRect/>
          </a:stretch>
        </p:blipFill>
        <p:spPr>
          <a:xfrm>
            <a:off x="600300" y="305277"/>
            <a:ext cx="137641" cy="202443"/>
          </a:xfrm>
          <a:prstGeom prst="rect">
            <a:avLst/>
          </a:prstGeom>
        </p:spPr>
      </p:pic>
      <p:pic>
        <p:nvPicPr>
          <p:cNvPr id="10" name="Image 8" descr="preencoded.png">
            <a:extLst>
              <a:ext uri="{FF2B5EF4-FFF2-40B4-BE49-F238E27FC236}">
                <a16:creationId xmlns:a16="http://schemas.microsoft.com/office/drawing/2014/main" id="{A7ACBE40-4F6D-4460-AB50-E1F4F7439BB6}"/>
              </a:ext>
            </a:extLst>
          </p:cNvPr>
          <p:cNvPicPr>
            <a:picLocks noChangeAspect="1"/>
          </p:cNvPicPr>
          <p:nvPr/>
        </p:nvPicPr>
        <p:blipFill>
          <a:blip r:embed="rId7"/>
          <a:stretch>
            <a:fillRect/>
          </a:stretch>
        </p:blipFill>
        <p:spPr>
          <a:xfrm>
            <a:off x="743372" y="360473"/>
            <a:ext cx="126579" cy="147243"/>
          </a:xfrm>
          <a:prstGeom prst="rect">
            <a:avLst/>
          </a:prstGeom>
        </p:spPr>
      </p:pic>
      <p:pic>
        <p:nvPicPr>
          <p:cNvPr id="11" name="Image 9" descr="preencoded.png">
            <a:extLst>
              <a:ext uri="{FF2B5EF4-FFF2-40B4-BE49-F238E27FC236}">
                <a16:creationId xmlns:a16="http://schemas.microsoft.com/office/drawing/2014/main" id="{1DBAC280-1643-86B5-7FB7-0A93F3F3B7F7}"/>
              </a:ext>
            </a:extLst>
          </p:cNvPr>
          <p:cNvPicPr>
            <a:picLocks noChangeAspect="1"/>
          </p:cNvPicPr>
          <p:nvPr/>
        </p:nvPicPr>
        <p:blipFill>
          <a:blip r:embed="rId8"/>
          <a:stretch>
            <a:fillRect/>
          </a:stretch>
        </p:blipFill>
        <p:spPr>
          <a:xfrm>
            <a:off x="872928" y="360456"/>
            <a:ext cx="131737" cy="198345"/>
          </a:xfrm>
          <a:prstGeom prst="rect">
            <a:avLst/>
          </a:prstGeom>
        </p:spPr>
      </p:pic>
      <p:pic>
        <p:nvPicPr>
          <p:cNvPr id="12" name="Image 10" descr="preencoded.png">
            <a:extLst>
              <a:ext uri="{FF2B5EF4-FFF2-40B4-BE49-F238E27FC236}">
                <a16:creationId xmlns:a16="http://schemas.microsoft.com/office/drawing/2014/main" id="{24500900-4125-5281-30A9-80DE43B1A54B}"/>
              </a:ext>
            </a:extLst>
          </p:cNvPr>
          <p:cNvPicPr>
            <a:picLocks noChangeAspect="1"/>
          </p:cNvPicPr>
          <p:nvPr/>
        </p:nvPicPr>
        <p:blipFill>
          <a:blip r:embed="rId9"/>
          <a:stretch>
            <a:fillRect/>
          </a:stretch>
        </p:blipFill>
        <p:spPr>
          <a:xfrm>
            <a:off x="1001142" y="360468"/>
            <a:ext cx="135508" cy="147243"/>
          </a:xfrm>
          <a:prstGeom prst="rect">
            <a:avLst/>
          </a:prstGeom>
        </p:spPr>
      </p:pic>
      <p:pic>
        <p:nvPicPr>
          <p:cNvPr id="13" name="Image 11" descr="preencoded.png">
            <a:extLst>
              <a:ext uri="{FF2B5EF4-FFF2-40B4-BE49-F238E27FC236}">
                <a16:creationId xmlns:a16="http://schemas.microsoft.com/office/drawing/2014/main" id="{35B6BFB9-2854-E958-CF24-548FE31AF2F9}"/>
              </a:ext>
            </a:extLst>
          </p:cNvPr>
          <p:cNvPicPr>
            <a:picLocks noChangeAspect="1"/>
          </p:cNvPicPr>
          <p:nvPr/>
        </p:nvPicPr>
        <p:blipFill>
          <a:blip r:embed="rId10"/>
          <a:stretch>
            <a:fillRect/>
          </a:stretch>
        </p:blipFill>
        <p:spPr>
          <a:xfrm>
            <a:off x="375419" y="376364"/>
            <a:ext cx="174501" cy="157568"/>
          </a:xfrm>
          <a:prstGeom prst="rect">
            <a:avLst/>
          </a:prstGeom>
        </p:spPr>
      </p:pic>
      <p:pic>
        <p:nvPicPr>
          <p:cNvPr id="14" name="Image 12" descr="preencoded.png">
            <a:extLst>
              <a:ext uri="{FF2B5EF4-FFF2-40B4-BE49-F238E27FC236}">
                <a16:creationId xmlns:a16="http://schemas.microsoft.com/office/drawing/2014/main" id="{E8A1C484-47B8-D4D0-E9F1-2532649C385C}"/>
              </a:ext>
            </a:extLst>
          </p:cNvPr>
          <p:cNvPicPr>
            <a:picLocks noChangeAspect="1"/>
          </p:cNvPicPr>
          <p:nvPr/>
        </p:nvPicPr>
        <p:blipFill>
          <a:blip r:embed="rId11"/>
          <a:stretch>
            <a:fillRect/>
          </a:stretch>
        </p:blipFill>
        <p:spPr>
          <a:xfrm>
            <a:off x="254000" y="376361"/>
            <a:ext cx="174501" cy="157575"/>
          </a:xfrm>
          <a:prstGeom prst="rect">
            <a:avLst/>
          </a:prstGeom>
        </p:spPr>
      </p:pic>
      <p:sp>
        <p:nvSpPr>
          <p:cNvPr id="15" name="Text 28">
            <a:extLst>
              <a:ext uri="{FF2B5EF4-FFF2-40B4-BE49-F238E27FC236}">
                <a16:creationId xmlns:a16="http://schemas.microsoft.com/office/drawing/2014/main" id="{91F95DC1-F592-C21E-ECDF-3CEE11226EBD}"/>
              </a:ext>
            </a:extLst>
          </p:cNvPr>
          <p:cNvSpPr/>
          <p:nvPr/>
        </p:nvSpPr>
        <p:spPr>
          <a:xfrm>
            <a:off x="253999" y="635564"/>
            <a:ext cx="11390243"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Funnel Sans"/>
                <a:ea typeface="+mn-ea"/>
                <a:cs typeface="+mn-cs"/>
              </a:rPr>
              <a:t>GCC expression is retained across stages of CRC transformation &amp; metastasis</a:t>
            </a:r>
            <a:endPar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endParaRPr>
          </a:p>
        </p:txBody>
      </p:sp>
      <p:sp>
        <p:nvSpPr>
          <p:cNvPr id="21" name="Rectangle: Rounded Corners 20">
            <a:extLst>
              <a:ext uri="{FF2B5EF4-FFF2-40B4-BE49-F238E27FC236}">
                <a16:creationId xmlns:a16="http://schemas.microsoft.com/office/drawing/2014/main" id="{4F62D5B3-24EB-8C7F-C216-4CC39E9F00E8}"/>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20" name="TextBox 19">
            <a:extLst>
              <a:ext uri="{FF2B5EF4-FFF2-40B4-BE49-F238E27FC236}">
                <a16:creationId xmlns:a16="http://schemas.microsoft.com/office/drawing/2014/main" id="{B925C3DC-C37C-C54C-1C5E-7CD0A9D2C9AC}"/>
              </a:ext>
            </a:extLst>
          </p:cNvPr>
          <p:cNvSpPr txBox="1"/>
          <p:nvPr/>
        </p:nvSpPr>
        <p:spPr>
          <a:xfrm>
            <a:off x="11075917" y="6611779"/>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Shape 1">
            <a:extLst>
              <a:ext uri="{FF2B5EF4-FFF2-40B4-BE49-F238E27FC236}">
                <a16:creationId xmlns:a16="http://schemas.microsoft.com/office/drawing/2014/main" id="{5D5D9B5D-0D48-C221-BF79-7B0DEB209CF7}"/>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16" name="Content Placeholder 7" descr="Figure 1. GUCY2C expression in gastrointestinal tumors and normal tissues. A, H-scores depicting GUCY2C cell surface expression across colorectal, pancreatic, gastric, and esophageal tumors (red line, median H-score). IHC showing GUCY2C expression (brown) in (B) colorectal adenocarcinoma stage I; (C) colorectal adenocarcinoma stage II; (D) colorectal adenocarcinoma stage III; (E) colorectal adenocarcinoma stage IV; (F) liver metastasis of colorectal adenocarcinoma (H, hepatocytes; T, tumor; dashed line, tumor/normal boundary); (G) gastric adenocarcinoma; (H) esophageal adenocarcinoma; (I) normal colon; and (J) normal small intestine. Scale bar, 200 μm.">
            <a:extLst>
              <a:ext uri="{FF2B5EF4-FFF2-40B4-BE49-F238E27FC236}">
                <a16:creationId xmlns:a16="http://schemas.microsoft.com/office/drawing/2014/main" id="{B108DC59-1497-724F-8855-3FA415F73B41}"/>
              </a:ext>
            </a:extLst>
          </p:cNvPr>
          <p:cNvPicPr>
            <a:picLocks noChangeAspect="1"/>
          </p:cNvPicPr>
          <p:nvPr/>
        </p:nvPicPr>
        <p:blipFill>
          <a:blip r:embed="rId12"/>
          <a:srcRect t="26687"/>
          <a:stretch>
            <a:fillRect/>
          </a:stretch>
        </p:blipFill>
        <p:spPr>
          <a:xfrm>
            <a:off x="1167669" y="2452029"/>
            <a:ext cx="4043768" cy="3756797"/>
          </a:xfrm>
          <a:prstGeom prst="rect">
            <a:avLst/>
          </a:prstGeom>
        </p:spPr>
      </p:pic>
      <p:sp>
        <p:nvSpPr>
          <p:cNvPr id="23" name="TextBox 22">
            <a:extLst>
              <a:ext uri="{FF2B5EF4-FFF2-40B4-BE49-F238E27FC236}">
                <a16:creationId xmlns:a16="http://schemas.microsoft.com/office/drawing/2014/main" id="{56CB6791-79D8-8E4B-5322-4FF512029E79}"/>
              </a:ext>
            </a:extLst>
          </p:cNvPr>
          <p:cNvSpPr txBox="1"/>
          <p:nvPr/>
        </p:nvSpPr>
        <p:spPr>
          <a:xfrm>
            <a:off x="2531079" y="4970865"/>
            <a:ext cx="116416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rPr>
              <a:t>Normal colon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p:txBody>
      </p:sp>
      <p:sp>
        <p:nvSpPr>
          <p:cNvPr id="24" name="TextBox 23">
            <a:extLst>
              <a:ext uri="{FF2B5EF4-FFF2-40B4-BE49-F238E27FC236}">
                <a16:creationId xmlns:a16="http://schemas.microsoft.com/office/drawing/2014/main" id="{36E6A403-1383-E605-7323-0D1305B189A9}"/>
              </a:ext>
            </a:extLst>
          </p:cNvPr>
          <p:cNvSpPr txBox="1"/>
          <p:nvPr/>
        </p:nvSpPr>
        <p:spPr>
          <a:xfrm>
            <a:off x="3934428" y="4970864"/>
            <a:ext cx="1277009"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rPr>
              <a:t>Normal intestine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p:txBody>
      </p:sp>
      <p:sp>
        <p:nvSpPr>
          <p:cNvPr id="25" name="TextBox 24">
            <a:extLst>
              <a:ext uri="{FF2B5EF4-FFF2-40B4-BE49-F238E27FC236}">
                <a16:creationId xmlns:a16="http://schemas.microsoft.com/office/drawing/2014/main" id="{C9C350C0-94BA-0C87-BE66-EC0BA935177E}"/>
              </a:ext>
            </a:extLst>
          </p:cNvPr>
          <p:cNvSpPr txBox="1"/>
          <p:nvPr/>
        </p:nvSpPr>
        <p:spPr>
          <a:xfrm>
            <a:off x="2531079" y="2461555"/>
            <a:ext cx="116416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rPr>
              <a:t>CRC stage II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p:txBody>
      </p:sp>
      <p:sp>
        <p:nvSpPr>
          <p:cNvPr id="26" name="TextBox 25">
            <a:extLst>
              <a:ext uri="{FF2B5EF4-FFF2-40B4-BE49-F238E27FC236}">
                <a16:creationId xmlns:a16="http://schemas.microsoft.com/office/drawing/2014/main" id="{BA728147-1757-3043-83DC-64EA1EAD279F}"/>
              </a:ext>
            </a:extLst>
          </p:cNvPr>
          <p:cNvSpPr txBox="1"/>
          <p:nvPr/>
        </p:nvSpPr>
        <p:spPr>
          <a:xfrm>
            <a:off x="1178529" y="2471079"/>
            <a:ext cx="116416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rPr>
              <a:t>CRC stage 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p:txBody>
      </p:sp>
      <p:sp>
        <p:nvSpPr>
          <p:cNvPr id="27" name="TextBox 26">
            <a:extLst>
              <a:ext uri="{FF2B5EF4-FFF2-40B4-BE49-F238E27FC236}">
                <a16:creationId xmlns:a16="http://schemas.microsoft.com/office/drawing/2014/main" id="{11DE7B88-93E8-B45B-C913-F11A1D6A7D63}"/>
              </a:ext>
            </a:extLst>
          </p:cNvPr>
          <p:cNvSpPr txBox="1"/>
          <p:nvPr/>
        </p:nvSpPr>
        <p:spPr>
          <a:xfrm>
            <a:off x="3934428" y="2461554"/>
            <a:ext cx="116416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rPr>
              <a:t>CRC stage III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p:txBody>
      </p:sp>
      <p:sp>
        <p:nvSpPr>
          <p:cNvPr id="28" name="TextBox 27">
            <a:extLst>
              <a:ext uri="{FF2B5EF4-FFF2-40B4-BE49-F238E27FC236}">
                <a16:creationId xmlns:a16="http://schemas.microsoft.com/office/drawing/2014/main" id="{D644FAA4-3ABF-C173-7957-CE25B33B8D6F}"/>
              </a:ext>
            </a:extLst>
          </p:cNvPr>
          <p:cNvSpPr txBox="1"/>
          <p:nvPr/>
        </p:nvSpPr>
        <p:spPr>
          <a:xfrm>
            <a:off x="1173796" y="3727121"/>
            <a:ext cx="116416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rPr>
              <a:t>CRC stage IV</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p:txBody>
      </p:sp>
      <p:sp>
        <p:nvSpPr>
          <p:cNvPr id="29" name="TextBox 28">
            <a:extLst>
              <a:ext uri="{FF2B5EF4-FFF2-40B4-BE49-F238E27FC236}">
                <a16:creationId xmlns:a16="http://schemas.microsoft.com/office/drawing/2014/main" id="{12BF7808-C3B9-7053-0D72-9BD5AC8E9A76}"/>
              </a:ext>
            </a:extLst>
          </p:cNvPr>
          <p:cNvSpPr txBox="1"/>
          <p:nvPr/>
        </p:nvSpPr>
        <p:spPr>
          <a:xfrm>
            <a:off x="2531079" y="3727120"/>
            <a:ext cx="1164167" cy="8771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highlight>
                  <a:srgbClr val="000000"/>
                </a:highlight>
                <a:uLnTx/>
                <a:uFillTx/>
                <a:latin typeface="Funnel Sans"/>
                <a:ea typeface="+mn-ea"/>
                <a:cs typeface="+mn-cs"/>
              </a:rPr>
              <a:t>CRC liver met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highlight>
                <a:srgbClr val="000000"/>
              </a:highlight>
              <a:uLnTx/>
              <a:uFillTx/>
              <a:latin typeface="Funnel Sans"/>
              <a:ea typeface="+mn-ea"/>
              <a:cs typeface="+mn-cs"/>
            </a:endParaRPr>
          </a:p>
        </p:txBody>
      </p:sp>
      <p:sp>
        <p:nvSpPr>
          <p:cNvPr id="30" name="TextBox 29">
            <a:extLst>
              <a:ext uri="{FF2B5EF4-FFF2-40B4-BE49-F238E27FC236}">
                <a16:creationId xmlns:a16="http://schemas.microsoft.com/office/drawing/2014/main" id="{FE855289-4F50-84CB-9C83-24A535035E71}"/>
              </a:ext>
            </a:extLst>
          </p:cNvPr>
          <p:cNvSpPr txBox="1"/>
          <p:nvPr/>
        </p:nvSpPr>
        <p:spPr>
          <a:xfrm>
            <a:off x="3934428" y="3727119"/>
            <a:ext cx="133669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rPr>
              <a:t>Gastric adenocarcinoma</a:t>
            </a:r>
            <a:endParaRPr kumimoji="0" lang="en-US" sz="16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p:txBody>
      </p:sp>
      <p:sp>
        <p:nvSpPr>
          <p:cNvPr id="31" name="TextBox 30">
            <a:extLst>
              <a:ext uri="{FF2B5EF4-FFF2-40B4-BE49-F238E27FC236}">
                <a16:creationId xmlns:a16="http://schemas.microsoft.com/office/drawing/2014/main" id="{E42DAF9A-9955-C00C-8F2B-5392D58A1E27}"/>
              </a:ext>
            </a:extLst>
          </p:cNvPr>
          <p:cNvSpPr txBox="1"/>
          <p:nvPr/>
        </p:nvSpPr>
        <p:spPr>
          <a:xfrm>
            <a:off x="1173615" y="4968064"/>
            <a:ext cx="135107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rPr>
              <a:t>Esophageal adenocarcinoma</a:t>
            </a:r>
            <a:endParaRPr kumimoji="0" lang="en-US" sz="16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highlight>
                <a:srgbClr val="000000"/>
              </a:highlight>
              <a:uLnTx/>
              <a:uFillTx/>
              <a:latin typeface="Funnel Sans"/>
              <a:ea typeface="+mn-ea"/>
              <a:cs typeface="+mn-cs"/>
            </a:endParaRPr>
          </a:p>
        </p:txBody>
      </p:sp>
      <p:sp>
        <p:nvSpPr>
          <p:cNvPr id="35" name="TextBox 34">
            <a:extLst>
              <a:ext uri="{FF2B5EF4-FFF2-40B4-BE49-F238E27FC236}">
                <a16:creationId xmlns:a16="http://schemas.microsoft.com/office/drawing/2014/main" id="{E1BC4FB4-E24B-CB64-7DB0-51EFD40416C6}"/>
              </a:ext>
            </a:extLst>
          </p:cNvPr>
          <p:cNvSpPr txBox="1"/>
          <p:nvPr/>
        </p:nvSpPr>
        <p:spPr>
          <a:xfrm>
            <a:off x="0" y="6611779"/>
            <a:ext cx="12065520" cy="24622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dirty="0">
                <a:ln>
                  <a:noFill/>
                </a:ln>
                <a:solidFill>
                  <a:srgbClr val="000000"/>
                </a:solidFill>
                <a:effectLst/>
                <a:uLnTx/>
                <a:uFillTx/>
                <a:latin typeface="Funnel Sans"/>
                <a:ea typeface="+mn-ea"/>
                <a:cs typeface="+mn-cs"/>
                <a:hlinkClick r:id="rId13"/>
              </a:rPr>
              <a:t>Mathur Clin Cancer Res 2020, </a:t>
            </a:r>
            <a:r>
              <a:rPr kumimoji="0" lang="en-US" sz="1000" b="0" i="0" u="none" strike="noStrike" kern="1200" cap="none" spc="0" normalizeH="0" baseline="0" noProof="0" dirty="0" err="1">
                <a:ln>
                  <a:noFill/>
                </a:ln>
                <a:solidFill>
                  <a:srgbClr val="7A9F8F"/>
                </a:solidFill>
                <a:effectLst/>
                <a:uLnTx/>
                <a:uFillTx/>
                <a:latin typeface="Funnel Sans"/>
                <a:ea typeface="+mn-ea"/>
                <a:cs typeface="+mn-cs"/>
                <a:hlinkClick r:id="rId14"/>
              </a:rPr>
              <a:t>Danaee</a:t>
            </a:r>
            <a:r>
              <a:rPr kumimoji="0" lang="en-US" sz="1000" b="0" i="0" u="none" strike="noStrike" kern="1200" cap="none" spc="0" normalizeH="0" baseline="0" noProof="0" dirty="0">
                <a:ln>
                  <a:noFill/>
                </a:ln>
                <a:solidFill>
                  <a:srgbClr val="7A9F8F"/>
                </a:solidFill>
                <a:effectLst/>
                <a:uLnTx/>
                <a:uFillTx/>
                <a:latin typeface="Funnel Sans"/>
                <a:ea typeface="+mn-ea"/>
                <a:cs typeface="+mn-cs"/>
                <a:hlinkClick r:id="rId14"/>
              </a:rPr>
              <a:t> </a:t>
            </a:r>
            <a:r>
              <a:rPr kumimoji="0" lang="en-US" sz="1000" b="0" i="0" u="none" strike="noStrike" kern="1200" cap="none" spc="0" normalizeH="0" baseline="0" noProof="0" dirty="0" err="1">
                <a:ln>
                  <a:noFill/>
                </a:ln>
                <a:solidFill>
                  <a:srgbClr val="7A9F8F"/>
                </a:solidFill>
                <a:effectLst/>
                <a:uLnTx/>
                <a:uFillTx/>
                <a:latin typeface="Funnel Sans"/>
                <a:ea typeface="+mn-ea"/>
                <a:cs typeface="+mn-cs"/>
                <a:hlinkClick r:id="rId14"/>
              </a:rPr>
              <a:t>PLOSone</a:t>
            </a:r>
            <a:r>
              <a:rPr kumimoji="0" lang="en-US" sz="1000" b="0" i="0" u="none" strike="noStrike" kern="1200" cap="none" spc="0" normalizeH="0" baseline="0" noProof="0" dirty="0">
                <a:ln>
                  <a:noFill/>
                </a:ln>
                <a:solidFill>
                  <a:srgbClr val="7A9F8F"/>
                </a:solidFill>
                <a:effectLst/>
                <a:uLnTx/>
                <a:uFillTx/>
                <a:latin typeface="Funnel Sans"/>
                <a:ea typeface="+mn-ea"/>
                <a:cs typeface="+mn-cs"/>
                <a:hlinkClick r:id="rId14"/>
              </a:rPr>
              <a:t> 2017</a:t>
            </a:r>
            <a:endParaRPr kumimoji="0" lang="en-US" sz="1000" b="0" i="0" u="none" strike="noStrike" kern="1200" cap="none" spc="0" normalizeH="0" baseline="0" noProof="0" dirty="0">
              <a:ln>
                <a:noFill/>
              </a:ln>
              <a:solidFill>
                <a:srgbClr val="7A9F8F"/>
              </a:solidFill>
              <a:effectLst/>
              <a:uLnTx/>
              <a:uFillTx/>
              <a:latin typeface="Funnel Sans"/>
              <a:ea typeface="+mn-ea"/>
              <a:cs typeface="+mn-cs"/>
            </a:endParaRPr>
          </a:p>
        </p:txBody>
      </p:sp>
      <p:sp>
        <p:nvSpPr>
          <p:cNvPr id="36" name="Shape 17">
            <a:extLst>
              <a:ext uri="{FF2B5EF4-FFF2-40B4-BE49-F238E27FC236}">
                <a16:creationId xmlns:a16="http://schemas.microsoft.com/office/drawing/2014/main" id="{0C2EEC20-5264-F31B-C3EE-CB930FB5331F}"/>
              </a:ext>
            </a:extLst>
          </p:cNvPr>
          <p:cNvSpPr/>
          <p:nvPr/>
        </p:nvSpPr>
        <p:spPr>
          <a:xfrm>
            <a:off x="1167670" y="1952100"/>
            <a:ext cx="4103454" cy="304793"/>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7" name="Text 42">
            <a:extLst>
              <a:ext uri="{FF2B5EF4-FFF2-40B4-BE49-F238E27FC236}">
                <a16:creationId xmlns:a16="http://schemas.microsoft.com/office/drawing/2014/main" id="{EC87F616-C746-A3F8-7185-1EF1A55A39B1}"/>
              </a:ext>
            </a:extLst>
          </p:cNvPr>
          <p:cNvSpPr/>
          <p:nvPr/>
        </p:nvSpPr>
        <p:spPr>
          <a:xfrm>
            <a:off x="1192363" y="1983752"/>
            <a:ext cx="4019074" cy="274320"/>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alpha val="99000"/>
                  </a:srgbClr>
                </a:solidFill>
                <a:effectLst/>
                <a:uLnTx/>
                <a:uFillTx/>
                <a:latin typeface="Funnel Sans" pitchFamily="34" charset="0"/>
                <a:ea typeface="Funnel Sans" pitchFamily="34" charset="-122"/>
                <a:cs typeface="Funnel Sans" pitchFamily="34" charset="-120"/>
              </a:rPr>
              <a:t>GCC staining across stages &amp; metastases</a:t>
            </a:r>
            <a:endParaRPr kumimoji="0" lang="en-US" sz="1400" b="1" i="0" u="none" strike="noStrike" kern="1200" cap="none" spc="0" normalizeH="0" baseline="0" noProof="0" dirty="0">
              <a:ln>
                <a:noFill/>
              </a:ln>
              <a:solidFill>
                <a:prstClr val="black"/>
              </a:solidFill>
              <a:effectLst/>
              <a:uLnTx/>
              <a:uFillTx/>
              <a:latin typeface="Funnel Sans"/>
              <a:ea typeface="+mn-ea"/>
              <a:cs typeface="+mn-cs"/>
            </a:endParaRPr>
          </a:p>
        </p:txBody>
      </p:sp>
      <p:sp>
        <p:nvSpPr>
          <p:cNvPr id="40" name="Shape 17">
            <a:extLst>
              <a:ext uri="{FF2B5EF4-FFF2-40B4-BE49-F238E27FC236}">
                <a16:creationId xmlns:a16="http://schemas.microsoft.com/office/drawing/2014/main" id="{53BF2F20-239E-BDAB-A608-24C435502DDA}"/>
              </a:ext>
            </a:extLst>
          </p:cNvPr>
          <p:cNvSpPr/>
          <p:nvPr/>
        </p:nvSpPr>
        <p:spPr>
          <a:xfrm>
            <a:off x="6206305" y="1952100"/>
            <a:ext cx="4852577" cy="304793"/>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1" name="Text 42">
            <a:extLst>
              <a:ext uri="{FF2B5EF4-FFF2-40B4-BE49-F238E27FC236}">
                <a16:creationId xmlns:a16="http://schemas.microsoft.com/office/drawing/2014/main" id="{B71C9EC0-642F-3C33-B327-9278B3790905}"/>
              </a:ext>
            </a:extLst>
          </p:cNvPr>
          <p:cNvSpPr/>
          <p:nvPr/>
        </p:nvSpPr>
        <p:spPr>
          <a:xfrm>
            <a:off x="6230999" y="1983752"/>
            <a:ext cx="4827882" cy="274320"/>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alpha val="99000"/>
                  </a:srgbClr>
                </a:solidFill>
                <a:effectLst/>
                <a:uLnTx/>
                <a:uFillTx/>
                <a:latin typeface="Funnel Sans" pitchFamily="34" charset="0"/>
                <a:ea typeface="Funnel Sans" pitchFamily="34" charset="-122"/>
                <a:cs typeface="Funnel Sans" pitchFamily="34" charset="-120"/>
              </a:rPr>
              <a:t>GCC expression preserved in most metastases</a:t>
            </a:r>
            <a:endParaRPr kumimoji="0" lang="en-US" sz="1400" b="1" i="0" u="none" strike="noStrike" kern="1200" cap="none" spc="0" normalizeH="0" baseline="0" noProof="0" dirty="0">
              <a:ln>
                <a:noFill/>
              </a:ln>
              <a:solidFill>
                <a:prstClr val="black"/>
              </a:solidFill>
              <a:effectLst/>
              <a:uLnTx/>
              <a:uFillTx/>
              <a:latin typeface="Funnel Sans"/>
              <a:ea typeface="+mn-ea"/>
              <a:cs typeface="+mn-cs"/>
            </a:endParaRPr>
          </a:p>
        </p:txBody>
      </p:sp>
      <p:pic>
        <p:nvPicPr>
          <p:cNvPr id="5122" name="Picture 2">
            <a:extLst>
              <a:ext uri="{FF2B5EF4-FFF2-40B4-BE49-F238E27FC236}">
                <a16:creationId xmlns:a16="http://schemas.microsoft.com/office/drawing/2014/main" id="{E194A81C-77FE-4A99-3DED-27C994852FD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06305" y="2383433"/>
            <a:ext cx="4852576" cy="151327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0F7DFB8F-70D7-0561-1D46-10A991D1235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06305" y="4021396"/>
            <a:ext cx="4852576" cy="2061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285277"/>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4FE8EF1-7E30-BA13-F91E-5442CB6F6E56}"/>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9">
            <a:extLst>
              <a:ext uri="{FF2B5EF4-FFF2-40B4-BE49-F238E27FC236}">
                <a16:creationId xmlns:a16="http://schemas.microsoft.com/office/drawing/2014/main" id="{F5539DB8-A878-E4BE-2A73-E0B47FF84B40}"/>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5" name="Image 3" descr="preencoded.png">
            <a:extLst>
              <a:ext uri="{FF2B5EF4-FFF2-40B4-BE49-F238E27FC236}">
                <a16:creationId xmlns:a16="http://schemas.microsoft.com/office/drawing/2014/main" id="{541923C9-390B-EB57-73AE-D3097BC48A4A}"/>
              </a:ext>
            </a:extLst>
          </p:cNvPr>
          <p:cNvPicPr>
            <a:picLocks noChangeAspect="1"/>
          </p:cNvPicPr>
          <p:nvPr/>
        </p:nvPicPr>
        <p:blipFill>
          <a:blip r:embed="rId4"/>
          <a:stretch>
            <a:fillRect/>
          </a:stretch>
        </p:blipFill>
        <p:spPr>
          <a:xfrm>
            <a:off x="323503" y="254000"/>
            <a:ext cx="156939" cy="191368"/>
          </a:xfrm>
          <a:prstGeom prst="rect">
            <a:avLst/>
          </a:prstGeom>
        </p:spPr>
      </p:pic>
      <p:pic>
        <p:nvPicPr>
          <p:cNvPr id="6" name="Image 4" descr="preencoded.png">
            <a:extLst>
              <a:ext uri="{FF2B5EF4-FFF2-40B4-BE49-F238E27FC236}">
                <a16:creationId xmlns:a16="http://schemas.microsoft.com/office/drawing/2014/main" id="{43FA9F35-7EB7-048F-B129-6BFAC889CD00}"/>
              </a:ext>
            </a:extLst>
          </p:cNvPr>
          <p:cNvPicPr>
            <a:picLocks noChangeAspect="1"/>
          </p:cNvPicPr>
          <p:nvPr/>
        </p:nvPicPr>
        <p:blipFill>
          <a:blip r:embed="rId5"/>
          <a:stretch>
            <a:fillRect/>
          </a:stretch>
        </p:blipFill>
        <p:spPr>
          <a:xfrm>
            <a:off x="387028" y="459541"/>
            <a:ext cx="968" cy="4"/>
          </a:xfrm>
          <a:prstGeom prst="rect">
            <a:avLst/>
          </a:prstGeom>
        </p:spPr>
      </p:pic>
      <p:pic>
        <p:nvPicPr>
          <p:cNvPr id="7" name="Image 5" descr="preencoded.png">
            <a:extLst>
              <a:ext uri="{FF2B5EF4-FFF2-40B4-BE49-F238E27FC236}">
                <a16:creationId xmlns:a16="http://schemas.microsoft.com/office/drawing/2014/main" id="{3904C137-570A-8DA1-4DB4-B7757317AD2E}"/>
              </a:ext>
            </a:extLst>
          </p:cNvPr>
          <p:cNvPicPr>
            <a:picLocks noChangeAspect="1"/>
          </p:cNvPicPr>
          <p:nvPr/>
        </p:nvPicPr>
        <p:blipFill>
          <a:blip r:embed="rId5"/>
          <a:stretch>
            <a:fillRect/>
          </a:stretch>
        </p:blipFill>
        <p:spPr>
          <a:xfrm>
            <a:off x="386756" y="459546"/>
            <a:ext cx="297" cy="4"/>
          </a:xfrm>
          <a:prstGeom prst="rect">
            <a:avLst/>
          </a:prstGeom>
        </p:spPr>
      </p:pic>
      <p:pic>
        <p:nvPicPr>
          <p:cNvPr id="8" name="Image 6" descr="preencoded.png">
            <a:extLst>
              <a:ext uri="{FF2B5EF4-FFF2-40B4-BE49-F238E27FC236}">
                <a16:creationId xmlns:a16="http://schemas.microsoft.com/office/drawing/2014/main" id="{AC123491-4B34-9C72-F7DE-D01A6AB9AE8B}"/>
              </a:ext>
            </a:extLst>
          </p:cNvPr>
          <p:cNvPicPr>
            <a:picLocks noChangeAspect="1"/>
          </p:cNvPicPr>
          <p:nvPr/>
        </p:nvPicPr>
        <p:blipFill>
          <a:blip r:embed="rId5"/>
          <a:stretch>
            <a:fillRect/>
          </a:stretch>
        </p:blipFill>
        <p:spPr>
          <a:xfrm>
            <a:off x="389261" y="473634"/>
            <a:ext cx="471" cy="4"/>
          </a:xfrm>
          <a:prstGeom prst="rect">
            <a:avLst/>
          </a:prstGeom>
        </p:spPr>
      </p:pic>
      <p:pic>
        <p:nvPicPr>
          <p:cNvPr id="9" name="Image 7" descr="preencoded.png">
            <a:extLst>
              <a:ext uri="{FF2B5EF4-FFF2-40B4-BE49-F238E27FC236}">
                <a16:creationId xmlns:a16="http://schemas.microsoft.com/office/drawing/2014/main" id="{08BE2842-BDEE-33A0-B3FB-4A0E0B64A947}"/>
              </a:ext>
            </a:extLst>
          </p:cNvPr>
          <p:cNvPicPr>
            <a:picLocks noChangeAspect="1"/>
          </p:cNvPicPr>
          <p:nvPr/>
        </p:nvPicPr>
        <p:blipFill>
          <a:blip r:embed="rId6"/>
          <a:stretch>
            <a:fillRect/>
          </a:stretch>
        </p:blipFill>
        <p:spPr>
          <a:xfrm>
            <a:off x="600300" y="305277"/>
            <a:ext cx="137641" cy="202443"/>
          </a:xfrm>
          <a:prstGeom prst="rect">
            <a:avLst/>
          </a:prstGeom>
        </p:spPr>
      </p:pic>
      <p:pic>
        <p:nvPicPr>
          <p:cNvPr id="10" name="Image 8" descr="preencoded.png">
            <a:extLst>
              <a:ext uri="{FF2B5EF4-FFF2-40B4-BE49-F238E27FC236}">
                <a16:creationId xmlns:a16="http://schemas.microsoft.com/office/drawing/2014/main" id="{9FF9656D-FF36-5420-89EA-78FF22DF41A0}"/>
              </a:ext>
            </a:extLst>
          </p:cNvPr>
          <p:cNvPicPr>
            <a:picLocks noChangeAspect="1"/>
          </p:cNvPicPr>
          <p:nvPr/>
        </p:nvPicPr>
        <p:blipFill>
          <a:blip r:embed="rId7"/>
          <a:stretch>
            <a:fillRect/>
          </a:stretch>
        </p:blipFill>
        <p:spPr>
          <a:xfrm>
            <a:off x="743372" y="360473"/>
            <a:ext cx="126579" cy="147243"/>
          </a:xfrm>
          <a:prstGeom prst="rect">
            <a:avLst/>
          </a:prstGeom>
        </p:spPr>
      </p:pic>
      <p:pic>
        <p:nvPicPr>
          <p:cNvPr id="11" name="Image 9" descr="preencoded.png">
            <a:extLst>
              <a:ext uri="{FF2B5EF4-FFF2-40B4-BE49-F238E27FC236}">
                <a16:creationId xmlns:a16="http://schemas.microsoft.com/office/drawing/2014/main" id="{6AE9F711-49FB-6E03-42F3-5A937AD007F3}"/>
              </a:ext>
            </a:extLst>
          </p:cNvPr>
          <p:cNvPicPr>
            <a:picLocks noChangeAspect="1"/>
          </p:cNvPicPr>
          <p:nvPr/>
        </p:nvPicPr>
        <p:blipFill>
          <a:blip r:embed="rId8"/>
          <a:stretch>
            <a:fillRect/>
          </a:stretch>
        </p:blipFill>
        <p:spPr>
          <a:xfrm>
            <a:off x="872928" y="360456"/>
            <a:ext cx="131737" cy="198345"/>
          </a:xfrm>
          <a:prstGeom prst="rect">
            <a:avLst/>
          </a:prstGeom>
        </p:spPr>
      </p:pic>
      <p:pic>
        <p:nvPicPr>
          <p:cNvPr id="12" name="Image 10" descr="preencoded.png">
            <a:extLst>
              <a:ext uri="{FF2B5EF4-FFF2-40B4-BE49-F238E27FC236}">
                <a16:creationId xmlns:a16="http://schemas.microsoft.com/office/drawing/2014/main" id="{2222B85A-D098-D2F3-883F-C5EBD916DBA1}"/>
              </a:ext>
            </a:extLst>
          </p:cNvPr>
          <p:cNvPicPr>
            <a:picLocks noChangeAspect="1"/>
          </p:cNvPicPr>
          <p:nvPr/>
        </p:nvPicPr>
        <p:blipFill>
          <a:blip r:embed="rId9"/>
          <a:stretch>
            <a:fillRect/>
          </a:stretch>
        </p:blipFill>
        <p:spPr>
          <a:xfrm>
            <a:off x="1001142" y="360468"/>
            <a:ext cx="135508" cy="147243"/>
          </a:xfrm>
          <a:prstGeom prst="rect">
            <a:avLst/>
          </a:prstGeom>
        </p:spPr>
      </p:pic>
      <p:pic>
        <p:nvPicPr>
          <p:cNvPr id="13" name="Image 11" descr="preencoded.png">
            <a:extLst>
              <a:ext uri="{FF2B5EF4-FFF2-40B4-BE49-F238E27FC236}">
                <a16:creationId xmlns:a16="http://schemas.microsoft.com/office/drawing/2014/main" id="{6C341813-4EC3-1669-9C6A-122DCA7ABCA9}"/>
              </a:ext>
            </a:extLst>
          </p:cNvPr>
          <p:cNvPicPr>
            <a:picLocks noChangeAspect="1"/>
          </p:cNvPicPr>
          <p:nvPr/>
        </p:nvPicPr>
        <p:blipFill>
          <a:blip r:embed="rId10"/>
          <a:stretch>
            <a:fillRect/>
          </a:stretch>
        </p:blipFill>
        <p:spPr>
          <a:xfrm>
            <a:off x="375419" y="376364"/>
            <a:ext cx="174501" cy="157568"/>
          </a:xfrm>
          <a:prstGeom prst="rect">
            <a:avLst/>
          </a:prstGeom>
        </p:spPr>
      </p:pic>
      <p:pic>
        <p:nvPicPr>
          <p:cNvPr id="14" name="Image 12" descr="preencoded.png">
            <a:extLst>
              <a:ext uri="{FF2B5EF4-FFF2-40B4-BE49-F238E27FC236}">
                <a16:creationId xmlns:a16="http://schemas.microsoft.com/office/drawing/2014/main" id="{735AEDAB-8D89-07A9-E119-14A9385C43EB}"/>
              </a:ext>
            </a:extLst>
          </p:cNvPr>
          <p:cNvPicPr>
            <a:picLocks noChangeAspect="1"/>
          </p:cNvPicPr>
          <p:nvPr/>
        </p:nvPicPr>
        <p:blipFill>
          <a:blip r:embed="rId11"/>
          <a:stretch>
            <a:fillRect/>
          </a:stretch>
        </p:blipFill>
        <p:spPr>
          <a:xfrm>
            <a:off x="254000" y="376361"/>
            <a:ext cx="174501" cy="157575"/>
          </a:xfrm>
          <a:prstGeom prst="rect">
            <a:avLst/>
          </a:prstGeom>
        </p:spPr>
      </p:pic>
      <p:sp>
        <p:nvSpPr>
          <p:cNvPr id="15" name="Text 28">
            <a:extLst>
              <a:ext uri="{FF2B5EF4-FFF2-40B4-BE49-F238E27FC236}">
                <a16:creationId xmlns:a16="http://schemas.microsoft.com/office/drawing/2014/main" id="{909A9466-63F6-2318-6DD7-2E68B6042050}"/>
              </a:ext>
            </a:extLst>
          </p:cNvPr>
          <p:cNvSpPr/>
          <p:nvPr/>
        </p:nvSpPr>
        <p:spPr>
          <a:xfrm>
            <a:off x="253999" y="635564"/>
            <a:ext cx="11390243"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GCC is consistently &amp; frequently overexpressed in CRC and beyond</a:t>
            </a:r>
          </a:p>
        </p:txBody>
      </p:sp>
      <p:graphicFrame>
        <p:nvGraphicFramePr>
          <p:cNvPr id="17" name="Table 16">
            <a:extLst>
              <a:ext uri="{FF2B5EF4-FFF2-40B4-BE49-F238E27FC236}">
                <a16:creationId xmlns:a16="http://schemas.microsoft.com/office/drawing/2014/main" id="{781C066A-C181-F149-F5AF-5C9656E98473}"/>
              </a:ext>
            </a:extLst>
          </p:cNvPr>
          <p:cNvGraphicFramePr>
            <a:graphicFrameLocks noGrp="1"/>
          </p:cNvGraphicFramePr>
          <p:nvPr>
            <p:extLst>
              <p:ext uri="{D42A27DB-BD31-4B8C-83A1-F6EECF244321}">
                <p14:modId xmlns:p14="http://schemas.microsoft.com/office/powerpoint/2010/main" val="3282215852"/>
              </p:ext>
            </p:extLst>
          </p:nvPr>
        </p:nvGraphicFramePr>
        <p:xfrm>
          <a:off x="318202" y="1757361"/>
          <a:ext cx="11614486" cy="3413760"/>
        </p:xfrm>
        <a:graphic>
          <a:graphicData uri="http://schemas.openxmlformats.org/drawingml/2006/table">
            <a:tbl>
              <a:tblPr firstRow="1" bandRow="1">
                <a:tableStyleId>{5C22544A-7EE6-4342-B048-85BDC9FD1C3A}</a:tableStyleId>
              </a:tblPr>
              <a:tblGrid>
                <a:gridCol w="1121188">
                  <a:extLst>
                    <a:ext uri="{9D8B030D-6E8A-4147-A177-3AD203B41FA5}">
                      <a16:colId xmlns:a16="http://schemas.microsoft.com/office/drawing/2014/main" val="1030885511"/>
                    </a:ext>
                  </a:extLst>
                </a:gridCol>
                <a:gridCol w="875688">
                  <a:extLst>
                    <a:ext uri="{9D8B030D-6E8A-4147-A177-3AD203B41FA5}">
                      <a16:colId xmlns:a16="http://schemas.microsoft.com/office/drawing/2014/main" val="544434787"/>
                    </a:ext>
                  </a:extLst>
                </a:gridCol>
                <a:gridCol w="850909">
                  <a:extLst>
                    <a:ext uri="{9D8B030D-6E8A-4147-A177-3AD203B41FA5}">
                      <a16:colId xmlns:a16="http://schemas.microsoft.com/office/drawing/2014/main" val="3701184376"/>
                    </a:ext>
                  </a:extLst>
                </a:gridCol>
                <a:gridCol w="3126658">
                  <a:extLst>
                    <a:ext uri="{9D8B030D-6E8A-4147-A177-3AD203B41FA5}">
                      <a16:colId xmlns:a16="http://schemas.microsoft.com/office/drawing/2014/main" val="3241637152"/>
                    </a:ext>
                  </a:extLst>
                </a:gridCol>
                <a:gridCol w="3677265">
                  <a:extLst>
                    <a:ext uri="{9D8B030D-6E8A-4147-A177-3AD203B41FA5}">
                      <a16:colId xmlns:a16="http://schemas.microsoft.com/office/drawing/2014/main" val="2413661414"/>
                    </a:ext>
                  </a:extLst>
                </a:gridCol>
                <a:gridCol w="1962778">
                  <a:extLst>
                    <a:ext uri="{9D8B030D-6E8A-4147-A177-3AD203B41FA5}">
                      <a16:colId xmlns:a16="http://schemas.microsoft.com/office/drawing/2014/main" val="2720780949"/>
                    </a:ext>
                  </a:extLst>
                </a:gridCol>
              </a:tblGrid>
              <a:tr h="186725">
                <a:tc>
                  <a:txBody>
                    <a:bodyPr/>
                    <a:lstStyle/>
                    <a:p>
                      <a:pPr lvl="0">
                        <a:buNone/>
                      </a:pPr>
                      <a:r>
                        <a:rPr lang="en-US" sz="1200" b="0">
                          <a:solidFill>
                            <a:schemeClr val="tx1"/>
                          </a:solidFill>
                        </a:rPr>
                        <a:t>Indication</a:t>
                      </a:r>
                    </a:p>
                  </a:txBody>
                  <a:tcPr>
                    <a:solidFill>
                      <a:srgbClr val="C6DCCD"/>
                    </a:solidFill>
                  </a:tcPr>
                </a:tc>
                <a:tc>
                  <a:txBody>
                    <a:bodyPr/>
                    <a:lstStyle/>
                    <a:p>
                      <a:r>
                        <a:rPr lang="en-US" sz="1200" b="0">
                          <a:solidFill>
                            <a:schemeClr val="tx1"/>
                          </a:solidFill>
                        </a:rPr>
                        <a:t>Type</a:t>
                      </a:r>
                    </a:p>
                  </a:txBody>
                  <a:tcPr>
                    <a:solidFill>
                      <a:srgbClr val="C6DCCD"/>
                    </a:solidFill>
                  </a:tcPr>
                </a:tc>
                <a:tc>
                  <a:txBody>
                    <a:bodyPr/>
                    <a:lstStyle/>
                    <a:p>
                      <a:r>
                        <a:rPr lang="en-US" sz="1200" b="0">
                          <a:solidFill>
                            <a:schemeClr val="tx1"/>
                          </a:solidFill>
                        </a:rPr>
                        <a:t>Method</a:t>
                      </a:r>
                    </a:p>
                  </a:txBody>
                  <a:tcPr>
                    <a:solidFill>
                      <a:srgbClr val="C6DCCD"/>
                    </a:solidFill>
                  </a:tcPr>
                </a:tc>
                <a:tc>
                  <a:txBody>
                    <a:bodyPr/>
                    <a:lstStyle/>
                    <a:p>
                      <a:r>
                        <a:rPr lang="en-US" sz="1200" b="0">
                          <a:solidFill>
                            <a:schemeClr val="tx1"/>
                          </a:solidFill>
                        </a:rPr>
                        <a:t>Criteria</a:t>
                      </a:r>
                    </a:p>
                  </a:txBody>
                  <a:tcPr>
                    <a:solidFill>
                      <a:srgbClr val="C6DCCD"/>
                    </a:solidFill>
                  </a:tcPr>
                </a:tc>
                <a:tc>
                  <a:txBody>
                    <a:bodyPr/>
                    <a:lstStyle/>
                    <a:p>
                      <a:r>
                        <a:rPr lang="en-US" sz="1200" b="0">
                          <a:solidFill>
                            <a:schemeClr val="tx1"/>
                          </a:solidFill>
                        </a:rPr>
                        <a:t>Value</a:t>
                      </a:r>
                    </a:p>
                  </a:txBody>
                  <a:tcPr>
                    <a:solidFill>
                      <a:srgbClr val="C6DCCD"/>
                    </a:solidFill>
                  </a:tcPr>
                </a:tc>
                <a:tc>
                  <a:txBody>
                    <a:bodyPr/>
                    <a:lstStyle/>
                    <a:p>
                      <a:r>
                        <a:rPr lang="en-US" sz="1400" b="0">
                          <a:solidFill>
                            <a:schemeClr val="tx1"/>
                          </a:solidFill>
                        </a:rPr>
                        <a:t>Source</a:t>
                      </a:r>
                    </a:p>
                  </a:txBody>
                  <a:tcPr>
                    <a:solidFill>
                      <a:srgbClr val="C6DCCD"/>
                    </a:solidFill>
                  </a:tcPr>
                </a:tc>
                <a:extLst>
                  <a:ext uri="{0D108BD9-81ED-4DB2-BD59-A6C34878D82A}">
                    <a16:rowId xmlns:a16="http://schemas.microsoft.com/office/drawing/2014/main" val="3281024351"/>
                  </a:ext>
                </a:extLst>
              </a:tr>
              <a:tr h="242742">
                <a:tc rowSpan="3">
                  <a:txBody>
                    <a:bodyPr/>
                    <a:lstStyle/>
                    <a:p>
                      <a:pPr lvl="0">
                        <a:buNone/>
                      </a:pPr>
                      <a:r>
                        <a:rPr lang="en-US" sz="1200"/>
                        <a:t>CRC</a:t>
                      </a:r>
                    </a:p>
                  </a:txBody>
                  <a:tcPr>
                    <a:lnB w="12700">
                      <a:solidFill>
                        <a:schemeClr val="bg2"/>
                      </a:solidFill>
                    </a:lnB>
                    <a:noFill/>
                  </a:tcPr>
                </a:tc>
                <a:tc>
                  <a:txBody>
                    <a:bodyPr/>
                    <a:lstStyle/>
                    <a:p>
                      <a:r>
                        <a:rPr lang="en-US" sz="1200"/>
                        <a:t>Protein</a:t>
                      </a:r>
                    </a:p>
                  </a:txBody>
                  <a:tcPr>
                    <a:lnB w="12700" cap="flat" cmpd="sng" algn="ctr">
                      <a:solidFill>
                        <a:schemeClr val="bg2"/>
                      </a:solidFill>
                      <a:prstDash val="solid"/>
                      <a:round/>
                      <a:headEnd type="none" w="med" len="med"/>
                      <a:tailEnd type="none" w="med" len="med"/>
                    </a:lnB>
                    <a:noFill/>
                  </a:tcPr>
                </a:tc>
                <a:tc>
                  <a:txBody>
                    <a:bodyPr/>
                    <a:lstStyle/>
                    <a:p>
                      <a:r>
                        <a:rPr lang="en-US" sz="1200"/>
                        <a:t>IHC</a:t>
                      </a:r>
                    </a:p>
                  </a:txBody>
                  <a:tcPr>
                    <a:lnB w="12700" cap="flat" cmpd="sng" algn="ctr">
                      <a:solidFill>
                        <a:schemeClr val="bg2"/>
                      </a:solidFill>
                      <a:prstDash val="solid"/>
                      <a:round/>
                      <a:headEnd type="none" w="med" len="med"/>
                      <a:tailEnd type="none" w="med" len="med"/>
                    </a:lnB>
                    <a:noFill/>
                  </a:tcPr>
                </a:tc>
                <a:tc>
                  <a:txBody>
                    <a:bodyPr/>
                    <a:lstStyle/>
                    <a:p>
                      <a:r>
                        <a:rPr lang="en-GB" sz="1200"/>
                        <a:t>H-score over 100</a:t>
                      </a:r>
                    </a:p>
                  </a:txBody>
                  <a:tcPr>
                    <a:lnB w="12700" cap="flat" cmpd="sng" algn="ctr">
                      <a:solidFill>
                        <a:schemeClr val="bg2"/>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t>70% (14/20 pts)</a:t>
                      </a:r>
                    </a:p>
                  </a:txBody>
                  <a:tcPr>
                    <a:lnB w="12700" cap="flat" cmpd="sng" algn="ctr">
                      <a:solidFill>
                        <a:schemeClr val="bg2"/>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000" b="0" i="0" u="none" strike="noStrike" noProof="0">
                          <a:solidFill>
                            <a:srgbClr val="000000"/>
                          </a:solidFill>
                          <a:hlinkClick r:id="rId12"/>
                        </a:rPr>
                        <a:t>Mathur Clin Cancer Res 2020</a:t>
                      </a:r>
                    </a:p>
                  </a:txBody>
                  <a:tcPr>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67172331"/>
                  </a:ext>
                </a:extLst>
              </a:tr>
              <a:tr h="280087">
                <a:tc vMerge="1">
                  <a:txBody>
                    <a:bodyPr/>
                    <a:lstStyle/>
                    <a:p>
                      <a:pPr lvl="0">
                        <a:buNone/>
                      </a:pPr>
                      <a:endParaRPr lang="en-US" sz="1200"/>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2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GB" sz="1200" b="0" i="0" u="none" strike="noStrike" noProof="0">
                          <a:solidFill>
                            <a:srgbClr val="000000"/>
                          </a:solidFill>
                          <a:latin typeface="Funnel Sans"/>
                        </a:rPr>
                        <a:t>3+ and 2+</a:t>
                      </a:r>
                    </a:p>
                  </a:txBody>
                  <a:tcPr>
                    <a:lnT w="12700">
                      <a:solidFill>
                        <a:schemeClr val="bg2"/>
                      </a:solidFill>
                    </a:lnT>
                    <a:lnB w="12700">
                      <a:solidFill>
                        <a:schemeClr val="bg2"/>
                      </a:solidFill>
                    </a:lnB>
                    <a:noFill/>
                  </a:tcPr>
                </a:tc>
                <a:tc>
                  <a:txBody>
                    <a:bodyPr/>
                    <a:lstStyle/>
                    <a:p>
                      <a:pPr lvl="0">
                        <a:buNone/>
                      </a:pPr>
                      <a:r>
                        <a:rPr lang="en-US" sz="1200"/>
                        <a:t>75%: 3+ staining 35.4% (138/390 pts), 2+ staining 23% (90/390 pts)</a:t>
                      </a:r>
                    </a:p>
                  </a:txBody>
                  <a:tcPr>
                    <a:lnT w="12700">
                      <a:solidFill>
                        <a:schemeClr val="bg2"/>
                      </a:solidFill>
                    </a:lnT>
                    <a:lnB w="12700">
                      <a:solidFill>
                        <a:schemeClr val="bg2"/>
                      </a:solidFill>
                    </a:lnB>
                    <a:noFill/>
                  </a:tcPr>
                </a:tc>
                <a:tc>
                  <a:txBody>
                    <a:bodyPr/>
                    <a:lstStyle/>
                    <a:p>
                      <a:pPr lvl="0">
                        <a:buNone/>
                      </a:pPr>
                      <a:r>
                        <a:rPr lang="en-US" sz="1000" b="0" i="0" u="none" strike="noStrike" noProof="0">
                          <a:solidFill>
                            <a:schemeClr val="accent3"/>
                          </a:solidFill>
                          <a:latin typeface="Funnel Sans"/>
                          <a:hlinkClick r:id="rId13">
                            <a:extLst>
                              <a:ext uri="{A12FA001-AC4F-418D-AE19-62706E023703}">
                                <ahyp:hlinkClr xmlns:ahyp="http://schemas.microsoft.com/office/drawing/2018/hyperlinkcolor" val="tx"/>
                              </a:ext>
                            </a:extLst>
                          </a:hlinkClick>
                        </a:rPr>
                        <a:t>Qi J Immunotherapy Cancer 2024</a:t>
                      </a:r>
                      <a:endParaRPr lang="en-US" sz="1400" b="0" i="0" u="none" strike="noStrike" noProof="0">
                        <a:solidFill>
                          <a:schemeClr val="accent3"/>
                        </a:solidFill>
                        <a:latin typeface="Funnel Sans"/>
                      </a:endParaRPr>
                    </a:p>
                  </a:txBody>
                  <a:tcPr>
                    <a:lnT w="12700">
                      <a:solidFill>
                        <a:schemeClr val="bg2"/>
                      </a:solidFill>
                    </a:lnT>
                    <a:lnB w="12700">
                      <a:solidFill>
                        <a:schemeClr val="bg2"/>
                      </a:solidFill>
                    </a:lnB>
                    <a:noFill/>
                  </a:tcPr>
                </a:tc>
                <a:extLst>
                  <a:ext uri="{0D108BD9-81ED-4DB2-BD59-A6C34878D82A}">
                    <a16:rowId xmlns:a16="http://schemas.microsoft.com/office/drawing/2014/main" val="3367641447"/>
                  </a:ext>
                </a:extLst>
              </a:tr>
              <a:tr h="280087">
                <a:tc vMerge="1">
                  <a:txBody>
                    <a:bodyPr/>
                    <a:lstStyle/>
                    <a:p>
                      <a:pPr lvl="0">
                        <a:buNone/>
                      </a:pPr>
                      <a:endParaRPr lang="en-US" sz="1200"/>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2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GB" sz="1200" b="0" i="0" u="none" strike="noStrike" noProof="0">
                          <a:solidFill>
                            <a:srgbClr val="000000"/>
                          </a:solidFill>
                          <a:latin typeface="Funnel Sans"/>
                        </a:rPr>
                        <a:t>Positive if &gt;10% cells stained, membranous or membranous &amp; cytoplasm</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200" b="1" dirty="0"/>
                        <a:t>98% primary tumor </a:t>
                      </a:r>
                      <a:r>
                        <a:rPr lang="en-US" sz="1200" dirty="0"/>
                        <a:t>(83/85 pts), </a:t>
                      </a:r>
                      <a:r>
                        <a:rPr lang="en-US" sz="1200" b="1" dirty="0"/>
                        <a:t>81% </a:t>
                      </a:r>
                      <a:r>
                        <a:rPr lang="en-US" sz="1200" dirty="0"/>
                        <a:t>matched liver </a:t>
                      </a:r>
                      <a:r>
                        <a:rPr lang="en-US" sz="1200" b="1" dirty="0"/>
                        <a:t>metastasis</a:t>
                      </a:r>
                      <a:r>
                        <a:rPr lang="en-US" sz="1200" dirty="0"/>
                        <a:t> (69/85 pts)</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000" b="0" i="0" u="none" strike="noStrike" noProof="0">
                          <a:solidFill>
                            <a:schemeClr val="accent3"/>
                          </a:solidFill>
                          <a:latin typeface="Funnel Sans"/>
                          <a:hlinkClick r:id="rId14"/>
                        </a:rPr>
                        <a:t>Danaee </a:t>
                      </a:r>
                      <a:r>
                        <a:rPr lang="en-US" sz="1000" b="0" i="0" u="none" strike="noStrike" noProof="0" err="1">
                          <a:solidFill>
                            <a:schemeClr val="accent3"/>
                          </a:solidFill>
                          <a:latin typeface="Funnel Sans"/>
                          <a:hlinkClick r:id="rId14"/>
                        </a:rPr>
                        <a:t>PLOSone</a:t>
                      </a:r>
                      <a:r>
                        <a:rPr lang="en-US" sz="1000" b="0" i="0" u="none" strike="noStrike" noProof="0">
                          <a:solidFill>
                            <a:schemeClr val="accent3"/>
                          </a:solidFill>
                          <a:latin typeface="Funnel Sans"/>
                          <a:hlinkClick r:id="rId14"/>
                        </a:rPr>
                        <a:t> 2017</a:t>
                      </a:r>
                      <a:endParaRPr lang="en-US" sz="1000" b="0" i="0" u="none" strike="noStrike" noProof="0">
                        <a:solidFill>
                          <a:schemeClr val="accent3"/>
                        </a:solidFill>
                        <a:latin typeface="Funnel Sans"/>
                      </a:endParaRPr>
                    </a:p>
                  </a:txBody>
                  <a:tcPr>
                    <a:lnT w="12700" cap="flat" cmpd="sng" algn="ctr">
                      <a:solidFill>
                        <a:schemeClr val="bg2"/>
                      </a:solidFill>
                      <a:prstDash val="solid"/>
                      <a:round/>
                      <a:headEnd type="none" w="med" len="med"/>
                      <a:tailEnd type="none" w="med" len="med"/>
                    </a:lnT>
                    <a:lnB w="12700">
                      <a:solidFill>
                        <a:schemeClr val="bg2"/>
                      </a:solidFill>
                    </a:lnB>
                    <a:noFill/>
                  </a:tcPr>
                </a:tc>
                <a:extLst>
                  <a:ext uri="{0D108BD9-81ED-4DB2-BD59-A6C34878D82A}">
                    <a16:rowId xmlns:a16="http://schemas.microsoft.com/office/drawing/2014/main" val="724683763"/>
                  </a:ext>
                </a:extLst>
              </a:tr>
              <a:tr h="242742">
                <a:tc>
                  <a:txBody>
                    <a:bodyPr/>
                    <a:lstStyle/>
                    <a:p>
                      <a:pPr lvl="0">
                        <a:buNone/>
                      </a:pPr>
                      <a:r>
                        <a:rPr lang="en-US" sz="1200"/>
                        <a:t>Gastric</a:t>
                      </a:r>
                    </a:p>
                  </a:txBody>
                  <a:tcPr>
                    <a:lnT w="12700">
                      <a:solidFill>
                        <a:schemeClr val="bg2"/>
                      </a:solidFill>
                    </a:lnT>
                    <a:lnB w="12700" cap="flat" cmpd="sng" algn="ctr">
                      <a:solidFill>
                        <a:schemeClr val="bg2"/>
                      </a:solidFill>
                      <a:prstDash val="solid"/>
                      <a:round/>
                      <a:headEnd type="none" w="med" len="med"/>
                      <a:tailEnd type="none" w="med" len="med"/>
                    </a:lnB>
                    <a:noFill/>
                  </a:tcPr>
                </a:tc>
                <a:tc>
                  <a:txBody>
                    <a:bodyPr/>
                    <a:lstStyle/>
                    <a:p>
                      <a:r>
                        <a:rPr lang="en-US" sz="12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GB" sz="1200" b="0" i="0" u="none" strike="noStrike" noProof="0">
                          <a:solidFill>
                            <a:srgbClr val="000000"/>
                          </a:solidFill>
                          <a:latin typeface="Funnel Sans"/>
                        </a:rPr>
                        <a:t>H-score over 100</a:t>
                      </a:r>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31% (6/19 pts)</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000" b="0" i="0" u="none" strike="noStrike" noProof="0">
                          <a:solidFill>
                            <a:srgbClr val="000000"/>
                          </a:solidFill>
                          <a:hlinkClick r:id="rId12"/>
                        </a:rPr>
                        <a:t>Mathur Clin Cancer Res 2020</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553894309"/>
                  </a:ext>
                </a:extLst>
              </a:tr>
              <a:tr h="280087">
                <a:tc>
                  <a:txBody>
                    <a:bodyPr/>
                    <a:lstStyle/>
                    <a:p>
                      <a:pPr lvl="0">
                        <a:buNone/>
                      </a:pPr>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noProof="0">
                          <a:solidFill>
                            <a:srgbClr val="000000"/>
                          </a:solidFill>
                          <a:latin typeface="+mn-lt"/>
                        </a:rPr>
                        <a:t>Positive if &gt;10% cells stained, membranous or membranous &amp; cytoplasm</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46% primary tumor adenocarcinoma (71/156 pts), 37% metastases adenocarcinoma (36/96 pts) </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chemeClr val="accent3"/>
                          </a:solidFill>
                          <a:latin typeface="+mn-lt"/>
                          <a:hlinkClick r:id="rId14"/>
                        </a:rPr>
                        <a:t>Danaee </a:t>
                      </a:r>
                      <a:r>
                        <a:rPr lang="en-US" sz="1000" b="0" i="0" u="none" strike="noStrike" noProof="0" err="1">
                          <a:solidFill>
                            <a:schemeClr val="accent3"/>
                          </a:solidFill>
                          <a:latin typeface="+mn-lt"/>
                          <a:hlinkClick r:id="rId14"/>
                        </a:rPr>
                        <a:t>PLOSone</a:t>
                      </a:r>
                      <a:r>
                        <a:rPr lang="en-US" sz="1000" b="0" i="0" u="none" strike="noStrike" noProof="0">
                          <a:solidFill>
                            <a:schemeClr val="accent3"/>
                          </a:solidFill>
                          <a:latin typeface="+mn-lt"/>
                          <a:hlinkClick r:id="rId14"/>
                        </a:rPr>
                        <a:t> 2017</a:t>
                      </a:r>
                      <a:endParaRPr lang="en-US" sz="1000" b="0" i="0" u="none" strike="noStrike" noProof="0">
                        <a:solidFill>
                          <a:schemeClr val="accent3"/>
                        </a:solidFill>
                        <a:latin typeface="+mn-lt"/>
                      </a:endParaRPr>
                    </a:p>
                    <a:p>
                      <a:pPr marL="0" marR="0" lvl="0" indent="0" algn="l">
                        <a:lnSpc>
                          <a:spcPct val="100000"/>
                        </a:lnSpc>
                        <a:spcBef>
                          <a:spcPts val="0"/>
                        </a:spcBef>
                        <a:spcAft>
                          <a:spcPts val="0"/>
                        </a:spcAft>
                        <a:buNone/>
                      </a:pPr>
                      <a:endParaRPr lang="en-US" sz="1000" b="0" i="0" u="none" strike="noStrike" noProof="0">
                        <a:solidFill>
                          <a:srgbClr val="000000"/>
                        </a:solidFill>
                        <a:hlinkClick r:id="rId12"/>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628217029"/>
                  </a:ext>
                </a:extLst>
              </a:tr>
              <a:tr h="242742">
                <a:tc>
                  <a:txBody>
                    <a:bodyPr/>
                    <a:lstStyle/>
                    <a:p>
                      <a:pPr lvl="0">
                        <a:buNone/>
                      </a:pPr>
                      <a:r>
                        <a:rPr lang="en-US" sz="1200"/>
                        <a:t>Esophageal</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GB" sz="1200" b="0" i="0" u="none" strike="noStrike" noProof="0">
                          <a:solidFill>
                            <a:srgbClr val="000000"/>
                          </a:solidFill>
                          <a:latin typeface="Funnel Sans"/>
                        </a:rPr>
                        <a:t>H-score over 100</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a:t>50% (9/18 pts)</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000" b="0" i="0" u="none" strike="noStrike" noProof="0">
                          <a:solidFill>
                            <a:srgbClr val="000000"/>
                          </a:solidFill>
                          <a:hlinkClick r:id="rId12"/>
                        </a:rPr>
                        <a:t>Mathur Clin Cancer Res 2020</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675578245"/>
                  </a:ext>
                </a:extLst>
              </a:tr>
              <a:tr h="280087">
                <a:tc>
                  <a:txBody>
                    <a:bodyPr/>
                    <a:lstStyle/>
                    <a:p>
                      <a:pPr lvl="0">
                        <a:buNone/>
                      </a:pPr>
                      <a:r>
                        <a:rPr lang="en-US" sz="1200"/>
                        <a:t>Pancreatic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noProof="0">
                          <a:solidFill>
                            <a:srgbClr val="000000"/>
                          </a:solidFill>
                          <a:latin typeface="+mn-lt"/>
                        </a:rPr>
                        <a:t>Positive if &gt;10% cells stained, membranous or membranous &amp; cytoplasm</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a:t>38% adenocarcinoma (52/136 pts)</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i="0" u="none" strike="noStrike" noProof="0">
                          <a:solidFill>
                            <a:schemeClr val="accent3"/>
                          </a:solidFill>
                          <a:latin typeface="+mn-lt"/>
                          <a:hlinkClick r:id="rId14"/>
                        </a:rPr>
                        <a:t>Danaee </a:t>
                      </a:r>
                      <a:r>
                        <a:rPr lang="en-US" sz="1050" b="0" i="0" u="none" strike="noStrike" noProof="0" err="1">
                          <a:solidFill>
                            <a:schemeClr val="accent3"/>
                          </a:solidFill>
                          <a:latin typeface="+mn-lt"/>
                          <a:hlinkClick r:id="rId14"/>
                        </a:rPr>
                        <a:t>PLOSone</a:t>
                      </a:r>
                      <a:r>
                        <a:rPr lang="en-US" sz="1050" b="0" i="0" u="none" strike="noStrike" noProof="0">
                          <a:solidFill>
                            <a:schemeClr val="accent3"/>
                          </a:solidFill>
                          <a:latin typeface="+mn-lt"/>
                          <a:hlinkClick r:id="rId14"/>
                        </a:rPr>
                        <a:t> 2017</a:t>
                      </a:r>
                      <a:endParaRPr lang="en-US" sz="1050" b="0" i="0" u="none" strike="noStrike" noProof="0">
                        <a:solidFill>
                          <a:schemeClr val="accent3"/>
                        </a:solidFill>
                        <a:latin typeface="+mn-lt"/>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95352649"/>
                  </a:ext>
                </a:extLst>
              </a:tr>
              <a:tr h="280087">
                <a:tc>
                  <a:txBody>
                    <a:bodyPr/>
                    <a:lstStyle/>
                    <a:p>
                      <a:pPr lvl="0">
                        <a:buNone/>
                      </a:pPr>
                      <a:r>
                        <a:rPr lang="en-US" sz="1200"/>
                        <a:t>All</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200"/>
                        <a:t>mRNA</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200" err="1"/>
                        <a:t>RNAseq</a:t>
                      </a:r>
                      <a:endParaRPr lang="en-US" sz="1200"/>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GB" sz="1200" b="0" i="0" u="none" strike="noStrike" noProof="0">
                          <a:solidFill>
                            <a:srgbClr val="000000"/>
                          </a:solidFill>
                          <a:latin typeface="Funnel Sans"/>
                        </a:rPr>
                        <a:t>Median </a:t>
                      </a:r>
                      <a:r>
                        <a:rPr lang="en-GB" sz="1200" b="0" i="0" u="none" strike="noStrike" noProof="0" err="1">
                          <a:solidFill>
                            <a:srgbClr val="000000"/>
                          </a:solidFill>
                          <a:latin typeface="Funnel Sans"/>
                        </a:rPr>
                        <a:t>pTPM</a:t>
                      </a:r>
                      <a:r>
                        <a:rPr lang="en-GB" sz="1200" b="0" i="0" u="none" strike="noStrike" noProof="0">
                          <a:solidFill>
                            <a:srgbClr val="000000"/>
                          </a:solidFill>
                          <a:latin typeface="Funnel Sans"/>
                        </a:rPr>
                        <a:t>&gt;25</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200"/>
                        <a:t>Strong overexpression in Colon and Rectum datasets; some overexpression in Stomach dataset</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i="0" u="none" strike="noStrike" noProof="0" dirty="0">
                          <a:solidFill>
                            <a:srgbClr val="000000"/>
                          </a:solidFill>
                          <a:latin typeface="+mn-lt"/>
                          <a:hlinkClick r:id="rId15"/>
                        </a:rPr>
                        <a:t>TCGA dataset</a:t>
                      </a:r>
                      <a:endParaRPr lang="en-US" sz="1050" dirty="0"/>
                    </a:p>
                  </a:txBody>
                  <a:tcPr>
                    <a:lnT w="12700" cap="flat" cmpd="sng" algn="ctr">
                      <a:solidFill>
                        <a:schemeClr val="bg2"/>
                      </a:solidFill>
                      <a:prstDash val="solid"/>
                      <a:round/>
                      <a:headEnd type="none" w="med" len="med"/>
                      <a:tailEnd type="none" w="med" len="med"/>
                    </a:lnT>
                    <a:lnB w="12700">
                      <a:solidFill>
                        <a:schemeClr val="bg2"/>
                      </a:solidFill>
                    </a:lnB>
                    <a:noFill/>
                  </a:tcPr>
                </a:tc>
                <a:extLst>
                  <a:ext uri="{0D108BD9-81ED-4DB2-BD59-A6C34878D82A}">
                    <a16:rowId xmlns:a16="http://schemas.microsoft.com/office/drawing/2014/main" val="2921834806"/>
                  </a:ext>
                </a:extLst>
              </a:tr>
            </a:tbl>
          </a:graphicData>
        </a:graphic>
      </p:graphicFrame>
      <p:graphicFrame>
        <p:nvGraphicFramePr>
          <p:cNvPr id="3" name="Table 2">
            <a:extLst>
              <a:ext uri="{FF2B5EF4-FFF2-40B4-BE49-F238E27FC236}">
                <a16:creationId xmlns:a16="http://schemas.microsoft.com/office/drawing/2014/main" id="{000667A5-0938-1EAB-8E45-5090A8BA4CB1}"/>
              </a:ext>
            </a:extLst>
          </p:cNvPr>
          <p:cNvGraphicFramePr>
            <a:graphicFrameLocks noGrp="1"/>
          </p:cNvGraphicFramePr>
          <p:nvPr/>
        </p:nvGraphicFramePr>
        <p:xfrm>
          <a:off x="318202" y="5515037"/>
          <a:ext cx="11614491" cy="1188720"/>
        </p:xfrm>
        <a:graphic>
          <a:graphicData uri="http://schemas.openxmlformats.org/drawingml/2006/table">
            <a:tbl>
              <a:tblPr firstRow="1" bandRow="1">
                <a:tableStyleId>{5C22544A-7EE6-4342-B048-85BDC9FD1C3A}</a:tableStyleId>
              </a:tblPr>
              <a:tblGrid>
                <a:gridCol w="1035555">
                  <a:extLst>
                    <a:ext uri="{9D8B030D-6E8A-4147-A177-3AD203B41FA5}">
                      <a16:colId xmlns:a16="http://schemas.microsoft.com/office/drawing/2014/main" val="1736257133"/>
                    </a:ext>
                  </a:extLst>
                </a:gridCol>
                <a:gridCol w="1035555">
                  <a:extLst>
                    <a:ext uri="{9D8B030D-6E8A-4147-A177-3AD203B41FA5}">
                      <a16:colId xmlns:a16="http://schemas.microsoft.com/office/drawing/2014/main" val="544434787"/>
                    </a:ext>
                  </a:extLst>
                </a:gridCol>
                <a:gridCol w="973320">
                  <a:extLst>
                    <a:ext uri="{9D8B030D-6E8A-4147-A177-3AD203B41FA5}">
                      <a16:colId xmlns:a16="http://schemas.microsoft.com/office/drawing/2014/main" val="3701184376"/>
                    </a:ext>
                  </a:extLst>
                </a:gridCol>
                <a:gridCol w="1465007">
                  <a:extLst>
                    <a:ext uri="{9D8B030D-6E8A-4147-A177-3AD203B41FA5}">
                      <a16:colId xmlns:a16="http://schemas.microsoft.com/office/drawing/2014/main" val="3241637152"/>
                    </a:ext>
                  </a:extLst>
                </a:gridCol>
                <a:gridCol w="4989267">
                  <a:extLst>
                    <a:ext uri="{9D8B030D-6E8A-4147-A177-3AD203B41FA5}">
                      <a16:colId xmlns:a16="http://schemas.microsoft.com/office/drawing/2014/main" val="2413661414"/>
                    </a:ext>
                  </a:extLst>
                </a:gridCol>
                <a:gridCol w="2115787">
                  <a:extLst>
                    <a:ext uri="{9D8B030D-6E8A-4147-A177-3AD203B41FA5}">
                      <a16:colId xmlns:a16="http://schemas.microsoft.com/office/drawing/2014/main" val="2720780949"/>
                    </a:ext>
                  </a:extLst>
                </a:gridCol>
              </a:tblGrid>
              <a:tr h="0">
                <a:tc>
                  <a:txBody>
                    <a:bodyPr/>
                    <a:lstStyle/>
                    <a:p>
                      <a:pPr lvl="0">
                        <a:buNone/>
                      </a:pPr>
                      <a:endParaRPr lang="en-US" sz="1200" b="0">
                        <a:solidFill>
                          <a:schemeClr val="tx1"/>
                        </a:solidFill>
                      </a:endParaRPr>
                    </a:p>
                  </a:txBody>
                  <a:tcPr>
                    <a:solidFill>
                      <a:schemeClr val="bg2"/>
                    </a:solidFill>
                  </a:tcPr>
                </a:tc>
                <a:tc>
                  <a:txBody>
                    <a:bodyPr/>
                    <a:lstStyle/>
                    <a:p>
                      <a:r>
                        <a:rPr lang="en-US" sz="1200" b="0">
                          <a:solidFill>
                            <a:schemeClr val="tx1"/>
                          </a:solidFill>
                        </a:rPr>
                        <a:t>Type</a:t>
                      </a:r>
                    </a:p>
                  </a:txBody>
                  <a:tcPr>
                    <a:solidFill>
                      <a:schemeClr val="bg2"/>
                    </a:solidFill>
                  </a:tcPr>
                </a:tc>
                <a:tc>
                  <a:txBody>
                    <a:bodyPr/>
                    <a:lstStyle/>
                    <a:p>
                      <a:r>
                        <a:rPr lang="en-US" sz="1200" b="0">
                          <a:solidFill>
                            <a:schemeClr val="tx1"/>
                          </a:solidFill>
                        </a:rPr>
                        <a:t>Method</a:t>
                      </a:r>
                    </a:p>
                  </a:txBody>
                  <a:tcPr>
                    <a:solidFill>
                      <a:schemeClr val="bg2"/>
                    </a:solidFill>
                  </a:tcPr>
                </a:tc>
                <a:tc>
                  <a:txBody>
                    <a:bodyPr/>
                    <a:lstStyle/>
                    <a:p>
                      <a:r>
                        <a:rPr lang="en-US" sz="1200" b="0">
                          <a:solidFill>
                            <a:schemeClr val="tx1"/>
                          </a:solidFill>
                        </a:rPr>
                        <a:t>Criteria</a:t>
                      </a:r>
                    </a:p>
                  </a:txBody>
                  <a:tcPr>
                    <a:solidFill>
                      <a:schemeClr val="bg2"/>
                    </a:solidFill>
                  </a:tcPr>
                </a:tc>
                <a:tc>
                  <a:txBody>
                    <a:bodyPr/>
                    <a:lstStyle/>
                    <a:p>
                      <a:r>
                        <a:rPr lang="en-US" sz="1200" b="0">
                          <a:solidFill>
                            <a:schemeClr val="tx1"/>
                          </a:solidFill>
                        </a:rPr>
                        <a:t>Value</a:t>
                      </a:r>
                    </a:p>
                  </a:txBody>
                  <a:tcPr>
                    <a:solidFill>
                      <a:schemeClr val="bg2"/>
                    </a:solidFill>
                  </a:tcPr>
                </a:tc>
                <a:tc>
                  <a:txBody>
                    <a:bodyPr/>
                    <a:lstStyle/>
                    <a:p>
                      <a:r>
                        <a:rPr lang="en-US" sz="1200" b="0">
                          <a:solidFill>
                            <a:schemeClr val="tx1"/>
                          </a:solidFill>
                        </a:rPr>
                        <a:t>Source</a:t>
                      </a:r>
                    </a:p>
                  </a:txBody>
                  <a:tcPr>
                    <a:solidFill>
                      <a:schemeClr val="bg2"/>
                    </a:solidFill>
                  </a:tcPr>
                </a:tc>
                <a:extLst>
                  <a:ext uri="{0D108BD9-81ED-4DB2-BD59-A6C34878D82A}">
                    <a16:rowId xmlns:a16="http://schemas.microsoft.com/office/drawing/2014/main" val="3281024351"/>
                  </a:ext>
                </a:extLst>
              </a:tr>
              <a:tr h="0">
                <a:tc>
                  <a:txBody>
                    <a:bodyPr/>
                    <a:lstStyle/>
                    <a:p>
                      <a:pPr lvl="0">
                        <a:buNone/>
                      </a:pPr>
                      <a:r>
                        <a:rPr lang="en-US" sz="1200"/>
                        <a:t>All</a:t>
                      </a:r>
                    </a:p>
                  </a:txBody>
                  <a:tcPr>
                    <a:lnB w="12700" cap="flat" cmpd="sng" algn="ctr">
                      <a:solidFill>
                        <a:schemeClr val="bg2"/>
                      </a:solidFill>
                      <a:prstDash val="solid"/>
                      <a:round/>
                      <a:headEnd type="none" w="med" len="med"/>
                      <a:tailEnd type="none" w="med" len="med"/>
                    </a:lnB>
                    <a:noFill/>
                  </a:tcPr>
                </a:tc>
                <a:tc>
                  <a:txBody>
                    <a:bodyPr/>
                    <a:lstStyle/>
                    <a:p>
                      <a:r>
                        <a:rPr lang="en-US" sz="1200"/>
                        <a:t>Protein</a:t>
                      </a:r>
                    </a:p>
                  </a:txBody>
                  <a:tcPr>
                    <a:lnB w="12700" cap="flat" cmpd="sng" algn="ctr">
                      <a:solidFill>
                        <a:schemeClr val="bg2"/>
                      </a:solidFill>
                      <a:prstDash val="solid"/>
                      <a:round/>
                      <a:headEnd type="none" w="med" len="med"/>
                      <a:tailEnd type="none" w="med" len="med"/>
                    </a:lnB>
                    <a:noFill/>
                  </a:tcPr>
                </a:tc>
                <a:tc>
                  <a:txBody>
                    <a:bodyPr/>
                    <a:lstStyle/>
                    <a:p>
                      <a:r>
                        <a:rPr lang="en-US" sz="1200"/>
                        <a:t>IHC</a:t>
                      </a:r>
                    </a:p>
                  </a:txBody>
                  <a:tcPr>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HPA Medium or High</a:t>
                      </a:r>
                    </a:p>
                  </a:txBody>
                  <a:tcPr>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Medium to High expression in GI tract, brain,  and epithelial cells across organs with a single antibody.  Qi et al saw significantly less staining in healthy tissues (See back up)</a:t>
                      </a:r>
                    </a:p>
                  </a:txBody>
                  <a:tcPr>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hlinkClick r:id="rId16"/>
                        </a:rPr>
                        <a:t>Human protein atlas</a:t>
                      </a:r>
                      <a:endParaRPr lang="en-US" sz="1050"/>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i="0" u="none" strike="noStrike" noProof="0">
                          <a:solidFill>
                            <a:schemeClr val="accent3"/>
                          </a:solidFill>
                          <a:latin typeface="+mn-lt"/>
                          <a:hlinkClick r:id="rId13">
                            <a:extLst>
                              <a:ext uri="{A12FA001-AC4F-418D-AE19-62706E023703}">
                                <ahyp:hlinkClr xmlns:ahyp="http://schemas.microsoft.com/office/drawing/2018/hyperlinkcolor" val="tx"/>
                              </a:ext>
                            </a:extLst>
                          </a:hlinkClick>
                        </a:rPr>
                        <a:t>Qi J </a:t>
                      </a:r>
                      <a:r>
                        <a:rPr lang="en-US" sz="1050" b="0" i="0" u="none" strike="noStrike" noProof="0" err="1">
                          <a:solidFill>
                            <a:schemeClr val="accent3"/>
                          </a:solidFill>
                          <a:latin typeface="+mn-lt"/>
                          <a:hlinkClick r:id="rId13">
                            <a:extLst>
                              <a:ext uri="{A12FA001-AC4F-418D-AE19-62706E023703}">
                                <ahyp:hlinkClr xmlns:ahyp="http://schemas.microsoft.com/office/drawing/2018/hyperlinkcolor" val="tx"/>
                              </a:ext>
                            </a:extLst>
                          </a:hlinkClick>
                        </a:rPr>
                        <a:t>Immunother</a:t>
                      </a:r>
                      <a:r>
                        <a:rPr lang="en-US" sz="1050" b="0" i="0" u="none" strike="noStrike" noProof="0">
                          <a:solidFill>
                            <a:schemeClr val="accent3"/>
                          </a:solidFill>
                          <a:latin typeface="+mn-lt"/>
                          <a:hlinkClick r:id="rId13">
                            <a:extLst>
                              <a:ext uri="{A12FA001-AC4F-418D-AE19-62706E023703}">
                                <ahyp:hlinkClr xmlns:ahyp="http://schemas.microsoft.com/office/drawing/2018/hyperlinkcolor" val="tx"/>
                              </a:ext>
                            </a:extLst>
                          </a:hlinkClick>
                        </a:rPr>
                        <a:t> Cancer 2024</a:t>
                      </a:r>
                      <a:endParaRPr lang="en-US" sz="1600" b="0" i="0" u="none" strike="noStrike" noProof="0">
                        <a:solidFill>
                          <a:schemeClr val="accent3"/>
                        </a:solidFill>
                        <a:latin typeface="+mn-lt"/>
                      </a:endParaRPr>
                    </a:p>
                    <a:p>
                      <a:pPr lvl="0">
                        <a:buNone/>
                      </a:pPr>
                      <a:endParaRPr lang="en-US" sz="1200" b="0" i="0" u="none" strike="noStrike" noProof="0">
                        <a:solidFill>
                          <a:srgbClr val="000000"/>
                        </a:solidFill>
                        <a:latin typeface="Funnel Sans"/>
                      </a:endParaRPr>
                    </a:p>
                  </a:txBody>
                  <a:tcPr>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67172331"/>
                  </a:ext>
                </a:extLst>
              </a:tr>
              <a:tr h="0">
                <a:tc>
                  <a:txBody>
                    <a:bodyPr/>
                    <a:lstStyle/>
                    <a:p>
                      <a:pPr lvl="0">
                        <a:buNone/>
                      </a:pPr>
                      <a:r>
                        <a:rPr lang="en-US" sz="1200"/>
                        <a:t>All</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200"/>
                        <a:t>mRNA</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200" err="1"/>
                        <a:t>RNAseq</a:t>
                      </a:r>
                      <a:endParaRPr lang="en-US" sz="1200"/>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marL="0" lvl="0" indent="0" algn="l" defTabSz="914400">
                        <a:lnSpc>
                          <a:spcPct val="100000"/>
                        </a:lnSpc>
                        <a:spcBef>
                          <a:spcPts val="0"/>
                        </a:spcBef>
                        <a:spcAft>
                          <a:spcPts val="0"/>
                        </a:spcAft>
                        <a:buNone/>
                        <a:tabLst/>
                        <a:defRPr/>
                      </a:pPr>
                      <a:r>
                        <a:rPr lang="en-GB" sz="1200" err="1"/>
                        <a:t>nPTM</a:t>
                      </a:r>
                      <a:r>
                        <a:rPr lang="en-GB" sz="1200"/>
                        <a:t>&gt;10</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marL="0" lvl="0" indent="0" algn="l" defTabSz="914400">
                        <a:lnSpc>
                          <a:spcPct val="100000"/>
                        </a:lnSpc>
                        <a:spcBef>
                          <a:spcPts val="0"/>
                        </a:spcBef>
                        <a:spcAft>
                          <a:spcPts val="0"/>
                        </a:spcAft>
                        <a:buNone/>
                        <a:tabLst/>
                        <a:defRPr/>
                      </a:pPr>
                      <a:r>
                        <a:rPr lang="en-GB" sz="1200"/>
                        <a:t>Expression in healthy duodenum, small intestine, colon and rectum</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050">
                          <a:hlinkClick r:id="rId16"/>
                        </a:rPr>
                        <a:t>Human protein atlas</a:t>
                      </a:r>
                      <a:endParaRPr lang="en-US" sz="1050"/>
                    </a:p>
                  </a:txBody>
                  <a:tcPr>
                    <a:lnT w="12700" cap="flat" cmpd="sng" algn="ctr">
                      <a:solidFill>
                        <a:schemeClr val="bg2"/>
                      </a:solidFill>
                      <a:prstDash val="solid"/>
                      <a:round/>
                      <a:headEnd type="none" w="med" len="med"/>
                      <a:tailEnd type="none" w="med" len="med"/>
                    </a:lnT>
                    <a:lnB w="12700">
                      <a:solidFill>
                        <a:schemeClr val="bg2"/>
                      </a:solidFill>
                    </a:lnB>
                    <a:noFill/>
                  </a:tcPr>
                </a:tc>
                <a:extLst>
                  <a:ext uri="{0D108BD9-81ED-4DB2-BD59-A6C34878D82A}">
                    <a16:rowId xmlns:a16="http://schemas.microsoft.com/office/drawing/2014/main" val="3067301811"/>
                  </a:ext>
                </a:extLst>
              </a:tr>
            </a:tbl>
          </a:graphicData>
        </a:graphic>
      </p:graphicFrame>
      <p:sp>
        <p:nvSpPr>
          <p:cNvPr id="19" name="Text 33">
            <a:extLst>
              <a:ext uri="{FF2B5EF4-FFF2-40B4-BE49-F238E27FC236}">
                <a16:creationId xmlns:a16="http://schemas.microsoft.com/office/drawing/2014/main" id="{8D261986-201A-FB21-B14C-6FF8F5509091}"/>
              </a:ext>
            </a:extLst>
          </p:cNvPr>
          <p:cNvSpPr/>
          <p:nvPr/>
        </p:nvSpPr>
        <p:spPr>
          <a:xfrm>
            <a:off x="318202" y="5299234"/>
            <a:ext cx="4170515" cy="199507"/>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1" i="0" u="none" strike="noStrike" kern="0" cap="none" spc="-12" normalizeH="0" baseline="0" noProof="0">
                <a:ln>
                  <a:noFill/>
                </a:ln>
                <a:solidFill>
                  <a:srgbClr val="000000">
                    <a:alpha val="99000"/>
                  </a:srgbClr>
                </a:solidFill>
                <a:effectLst/>
                <a:uLnTx/>
                <a:uFillTx/>
                <a:latin typeface="Funnel Sans" pitchFamily="34" charset="0"/>
                <a:ea typeface="+mn-ea"/>
                <a:cs typeface="+mn-cs"/>
              </a:rPr>
              <a:t>Healthy</a:t>
            </a:r>
            <a:r>
              <a:rPr kumimoji="0" lang="en-US" sz="1400" b="0" i="0" u="none" strike="noStrike" kern="0" cap="none" spc="-12" normalizeH="0" baseline="0" noProof="0">
                <a:ln>
                  <a:noFill/>
                </a:ln>
                <a:solidFill>
                  <a:srgbClr val="000000">
                    <a:alpha val="99000"/>
                  </a:srgbClr>
                </a:solidFill>
                <a:effectLst/>
                <a:uLnTx/>
                <a:uFillTx/>
                <a:latin typeface="Funnel Sans" pitchFamily="34" charset="0"/>
                <a:ea typeface="+mn-ea"/>
                <a:cs typeface="+mn-cs"/>
              </a:rPr>
              <a:t> tissue expression</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sp>
        <p:nvSpPr>
          <p:cNvPr id="21" name="Rectangle: Rounded Corners 20">
            <a:extLst>
              <a:ext uri="{FF2B5EF4-FFF2-40B4-BE49-F238E27FC236}">
                <a16:creationId xmlns:a16="http://schemas.microsoft.com/office/drawing/2014/main" id="{9935BD4E-3AB1-0E27-D8CD-3A4E754E360B}"/>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20" name="TextBox 19">
            <a:extLst>
              <a:ext uri="{FF2B5EF4-FFF2-40B4-BE49-F238E27FC236}">
                <a16:creationId xmlns:a16="http://schemas.microsoft.com/office/drawing/2014/main" id="{7A791C61-7603-0A79-6FBB-AAD1B3C1B6B8}"/>
              </a:ext>
            </a:extLst>
          </p:cNvPr>
          <p:cNvSpPr txBox="1"/>
          <p:nvPr/>
        </p:nvSpPr>
        <p:spPr>
          <a:xfrm>
            <a:off x="11075917" y="6611779"/>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Shape 1">
            <a:extLst>
              <a:ext uri="{FF2B5EF4-FFF2-40B4-BE49-F238E27FC236}">
                <a16:creationId xmlns:a16="http://schemas.microsoft.com/office/drawing/2014/main" id="{755CFC96-C50D-1E58-1936-81002263F843}"/>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2" name="Text 33">
            <a:extLst>
              <a:ext uri="{FF2B5EF4-FFF2-40B4-BE49-F238E27FC236}">
                <a16:creationId xmlns:a16="http://schemas.microsoft.com/office/drawing/2014/main" id="{1A11BEC8-9346-8A2E-23F9-E69929D12BAB}"/>
              </a:ext>
            </a:extLst>
          </p:cNvPr>
          <p:cNvSpPr/>
          <p:nvPr/>
        </p:nvSpPr>
        <p:spPr>
          <a:xfrm>
            <a:off x="318202" y="1503184"/>
            <a:ext cx="4170515" cy="199507"/>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1" i="0" u="none" strike="noStrike" kern="0" cap="none" spc="-12" normalizeH="0" baseline="0" noProof="0">
                <a:ln>
                  <a:noFill/>
                </a:ln>
                <a:solidFill>
                  <a:srgbClr val="000000">
                    <a:alpha val="99000"/>
                  </a:srgbClr>
                </a:solidFill>
                <a:effectLst/>
                <a:uLnTx/>
                <a:uFillTx/>
                <a:latin typeface="Funnel Sans" pitchFamily="34" charset="0"/>
                <a:ea typeface="+mn-ea"/>
                <a:cs typeface="+mn-cs"/>
              </a:rPr>
              <a:t>Tumor </a:t>
            </a:r>
            <a:r>
              <a:rPr kumimoji="0" lang="en-US" sz="1400" b="0" i="0" u="none" strike="noStrike" kern="0" cap="none" spc="-12" normalizeH="0" baseline="0" noProof="0">
                <a:ln>
                  <a:noFill/>
                </a:ln>
                <a:solidFill>
                  <a:srgbClr val="000000">
                    <a:alpha val="99000"/>
                  </a:srgbClr>
                </a:solidFill>
                <a:effectLst/>
                <a:uLnTx/>
                <a:uFillTx/>
                <a:latin typeface="Funnel Sans" pitchFamily="34" charset="0"/>
                <a:ea typeface="+mn-ea"/>
                <a:cs typeface="+mn-cs"/>
              </a:rPr>
              <a:t>expression levels</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2268803212"/>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8">
            <a:extLst>
              <a:ext uri="{FF2B5EF4-FFF2-40B4-BE49-F238E27FC236}">
                <a16:creationId xmlns:a16="http://schemas.microsoft.com/office/drawing/2014/main" id="{29EBB01E-EA9E-72A9-2B21-8A3D4A654B2A}"/>
              </a:ext>
            </a:extLst>
          </p:cNvPr>
          <p:cNvSpPr/>
          <p:nvPr/>
        </p:nvSpPr>
        <p:spPr>
          <a:xfrm>
            <a:off x="254000" y="635564"/>
            <a:ext cx="11403773"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dirty="0">
                <a:ln>
                  <a:noFill/>
                </a:ln>
                <a:solidFill>
                  <a:srgbClr val="000000">
                    <a:alpha val="99000"/>
                  </a:srgbClr>
                </a:solidFill>
                <a:effectLst/>
                <a:uLnTx/>
                <a:uFillTx/>
                <a:latin typeface="Funnel Sans"/>
                <a:ea typeface="+mn-ea"/>
                <a:cs typeface="+mn-cs"/>
              </a:rPr>
              <a:t>GCC has beneficial traits for an RLT target: </a:t>
            </a:r>
          </a:p>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dirty="0">
                <a:ln>
                  <a:noFill/>
                </a:ln>
                <a:solidFill>
                  <a:srgbClr val="000000">
                    <a:alpha val="99000"/>
                  </a:srgbClr>
                </a:solidFill>
                <a:effectLst/>
                <a:uLnTx/>
                <a:uFillTx/>
                <a:latin typeface="Funnel Sans"/>
                <a:ea typeface="+mn-ea"/>
                <a:cs typeface="+mn-cs"/>
              </a:rPr>
              <a:t>Native peptide ligands, internalization &amp; no shedding into blood</a:t>
            </a:r>
          </a:p>
        </p:txBody>
      </p:sp>
      <p:sp>
        <p:nvSpPr>
          <p:cNvPr id="4" name="Shape 1">
            <a:extLst>
              <a:ext uri="{FF2B5EF4-FFF2-40B4-BE49-F238E27FC236}">
                <a16:creationId xmlns:a16="http://schemas.microsoft.com/office/drawing/2014/main" id="{F7C774A7-7905-CB55-413F-E7E6C63395B0}"/>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0">
            <a:extLst>
              <a:ext uri="{FF2B5EF4-FFF2-40B4-BE49-F238E27FC236}">
                <a16:creationId xmlns:a16="http://schemas.microsoft.com/office/drawing/2014/main" id="{A436C795-358D-011F-E75D-F9AA41A5F20A}"/>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6" name="Image 3" descr="preencoded.png">
            <a:extLst>
              <a:ext uri="{FF2B5EF4-FFF2-40B4-BE49-F238E27FC236}">
                <a16:creationId xmlns:a16="http://schemas.microsoft.com/office/drawing/2014/main" id="{BE6ADB02-2B85-8C6B-DE67-E623FB3CB049}"/>
              </a:ext>
            </a:extLst>
          </p:cNvPr>
          <p:cNvPicPr>
            <a:picLocks noChangeAspect="1"/>
          </p:cNvPicPr>
          <p:nvPr/>
        </p:nvPicPr>
        <p:blipFill>
          <a:blip r:embed="rId3"/>
          <a:stretch>
            <a:fillRect/>
          </a:stretch>
        </p:blipFill>
        <p:spPr>
          <a:xfrm>
            <a:off x="323503" y="254000"/>
            <a:ext cx="156939" cy="191368"/>
          </a:xfrm>
          <a:prstGeom prst="rect">
            <a:avLst/>
          </a:prstGeom>
        </p:spPr>
      </p:pic>
      <p:pic>
        <p:nvPicPr>
          <p:cNvPr id="7" name="Image 4" descr="preencoded.png">
            <a:extLst>
              <a:ext uri="{FF2B5EF4-FFF2-40B4-BE49-F238E27FC236}">
                <a16:creationId xmlns:a16="http://schemas.microsoft.com/office/drawing/2014/main" id="{53633610-A439-DFD6-B2A0-D5D390FD20D3}"/>
              </a:ext>
            </a:extLst>
          </p:cNvPr>
          <p:cNvPicPr>
            <a:picLocks noChangeAspect="1"/>
          </p:cNvPicPr>
          <p:nvPr/>
        </p:nvPicPr>
        <p:blipFill>
          <a:blip r:embed="rId4"/>
          <a:stretch>
            <a:fillRect/>
          </a:stretch>
        </p:blipFill>
        <p:spPr>
          <a:xfrm>
            <a:off x="387028" y="459541"/>
            <a:ext cx="968" cy="4"/>
          </a:xfrm>
          <a:prstGeom prst="rect">
            <a:avLst/>
          </a:prstGeom>
        </p:spPr>
      </p:pic>
      <p:pic>
        <p:nvPicPr>
          <p:cNvPr id="8" name="Image 5" descr="preencoded.png">
            <a:extLst>
              <a:ext uri="{FF2B5EF4-FFF2-40B4-BE49-F238E27FC236}">
                <a16:creationId xmlns:a16="http://schemas.microsoft.com/office/drawing/2014/main" id="{83C59801-1120-89F8-BC13-82AE42356877}"/>
              </a:ext>
            </a:extLst>
          </p:cNvPr>
          <p:cNvPicPr>
            <a:picLocks noChangeAspect="1"/>
          </p:cNvPicPr>
          <p:nvPr/>
        </p:nvPicPr>
        <p:blipFill>
          <a:blip r:embed="rId4"/>
          <a:stretch>
            <a:fillRect/>
          </a:stretch>
        </p:blipFill>
        <p:spPr>
          <a:xfrm>
            <a:off x="386756" y="459546"/>
            <a:ext cx="297" cy="4"/>
          </a:xfrm>
          <a:prstGeom prst="rect">
            <a:avLst/>
          </a:prstGeom>
        </p:spPr>
      </p:pic>
      <p:pic>
        <p:nvPicPr>
          <p:cNvPr id="9" name="Image 6" descr="preencoded.png">
            <a:extLst>
              <a:ext uri="{FF2B5EF4-FFF2-40B4-BE49-F238E27FC236}">
                <a16:creationId xmlns:a16="http://schemas.microsoft.com/office/drawing/2014/main" id="{C2ED5596-EF49-604F-E9EC-937D05A17C88}"/>
              </a:ext>
            </a:extLst>
          </p:cNvPr>
          <p:cNvPicPr>
            <a:picLocks noChangeAspect="1"/>
          </p:cNvPicPr>
          <p:nvPr/>
        </p:nvPicPr>
        <p:blipFill>
          <a:blip r:embed="rId4"/>
          <a:stretch>
            <a:fillRect/>
          </a:stretch>
        </p:blipFill>
        <p:spPr>
          <a:xfrm>
            <a:off x="389261" y="473634"/>
            <a:ext cx="471" cy="4"/>
          </a:xfrm>
          <a:prstGeom prst="rect">
            <a:avLst/>
          </a:prstGeom>
        </p:spPr>
      </p:pic>
      <p:pic>
        <p:nvPicPr>
          <p:cNvPr id="10" name="Image 7" descr="preencoded.png">
            <a:extLst>
              <a:ext uri="{FF2B5EF4-FFF2-40B4-BE49-F238E27FC236}">
                <a16:creationId xmlns:a16="http://schemas.microsoft.com/office/drawing/2014/main" id="{1B53E5F5-46B0-E6D6-3C4E-713B9EEC9D82}"/>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1" name="Image 8" descr="preencoded.png">
            <a:extLst>
              <a:ext uri="{FF2B5EF4-FFF2-40B4-BE49-F238E27FC236}">
                <a16:creationId xmlns:a16="http://schemas.microsoft.com/office/drawing/2014/main" id="{0AC653E9-5E01-6581-EAD2-1DB12E7E9F90}"/>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2" name="Image 9" descr="preencoded.png">
            <a:extLst>
              <a:ext uri="{FF2B5EF4-FFF2-40B4-BE49-F238E27FC236}">
                <a16:creationId xmlns:a16="http://schemas.microsoft.com/office/drawing/2014/main" id="{306B63C1-7649-F405-C8BC-DAF3790DF457}"/>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3" name="Image 10" descr="preencoded.png">
            <a:extLst>
              <a:ext uri="{FF2B5EF4-FFF2-40B4-BE49-F238E27FC236}">
                <a16:creationId xmlns:a16="http://schemas.microsoft.com/office/drawing/2014/main" id="{35D9B110-2D43-EA1F-0498-AABF042933D1}"/>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4" name="Image 11" descr="preencoded.png">
            <a:extLst>
              <a:ext uri="{FF2B5EF4-FFF2-40B4-BE49-F238E27FC236}">
                <a16:creationId xmlns:a16="http://schemas.microsoft.com/office/drawing/2014/main" id="{01F9363D-3157-6A0A-6357-528C136B71FB}"/>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5" name="Image 12" descr="preencoded.png">
            <a:extLst>
              <a:ext uri="{FF2B5EF4-FFF2-40B4-BE49-F238E27FC236}">
                <a16:creationId xmlns:a16="http://schemas.microsoft.com/office/drawing/2014/main" id="{5484E7D7-EDA8-4F22-A07D-6C54992AD631}"/>
              </a:ext>
            </a:extLst>
          </p:cNvPr>
          <p:cNvPicPr>
            <a:picLocks noChangeAspect="1"/>
          </p:cNvPicPr>
          <p:nvPr/>
        </p:nvPicPr>
        <p:blipFill>
          <a:blip r:embed="rId10"/>
          <a:stretch>
            <a:fillRect/>
          </a:stretch>
        </p:blipFill>
        <p:spPr>
          <a:xfrm>
            <a:off x="254000" y="376361"/>
            <a:ext cx="174501" cy="157575"/>
          </a:xfrm>
          <a:prstGeom prst="rect">
            <a:avLst/>
          </a:prstGeom>
        </p:spPr>
      </p:pic>
      <p:sp>
        <p:nvSpPr>
          <p:cNvPr id="16" name="Rectangle: Rounded Corners 15">
            <a:extLst>
              <a:ext uri="{FF2B5EF4-FFF2-40B4-BE49-F238E27FC236}">
                <a16:creationId xmlns:a16="http://schemas.microsoft.com/office/drawing/2014/main" id="{FCABB0BC-4D9C-99C4-799D-B64D1AB8D58F}"/>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Biology</a:t>
            </a:r>
          </a:p>
        </p:txBody>
      </p:sp>
      <p:sp>
        <p:nvSpPr>
          <p:cNvPr id="17" name="TextBox 16">
            <a:extLst>
              <a:ext uri="{FF2B5EF4-FFF2-40B4-BE49-F238E27FC236}">
                <a16:creationId xmlns:a16="http://schemas.microsoft.com/office/drawing/2014/main" id="{B023423A-8393-EEC1-8AAB-87EBC57FD8EB}"/>
              </a:ext>
            </a:extLst>
          </p:cNvPr>
          <p:cNvSpPr txBox="1"/>
          <p:nvPr/>
        </p:nvSpPr>
        <p:spPr>
          <a:xfrm>
            <a:off x="0" y="6611779"/>
            <a:ext cx="12065520" cy="24622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1"/>
              </a:rPr>
              <a:t>Lisby, Expert Rev Precis Med Dru Dev 2021</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err="1">
                <a:ln>
                  <a:noFill/>
                </a:ln>
                <a:solidFill>
                  <a:prstClr val="black"/>
                </a:solidFill>
                <a:effectLst/>
                <a:uLnTx/>
                <a:uFillTx/>
                <a:latin typeface="Funnel Sans"/>
                <a:ea typeface="+mn-ea"/>
                <a:cs typeface="+mn-cs"/>
                <a:hlinkClick r:id="rId12"/>
              </a:rPr>
              <a:t>Marszalowicz</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2"/>
              </a:rPr>
              <a:t> </a:t>
            </a:r>
            <a:r>
              <a:rPr kumimoji="0" lang="en-US" sz="1000" b="0" i="0" u="none" strike="noStrike" kern="1200" cap="none" spc="0" normalizeH="0" baseline="0" noProof="0" err="1">
                <a:ln>
                  <a:noFill/>
                </a:ln>
                <a:solidFill>
                  <a:prstClr val="black"/>
                </a:solidFill>
                <a:effectLst/>
                <a:uLnTx/>
                <a:uFillTx/>
                <a:latin typeface="Funnel Sans"/>
                <a:ea typeface="+mn-ea"/>
                <a:cs typeface="+mn-cs"/>
                <a:hlinkClick r:id="rId12"/>
              </a:rPr>
              <a:t>Oncotarget</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2"/>
              </a:rPr>
              <a:t> 2014</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TextBox 17">
            <a:extLst>
              <a:ext uri="{FF2B5EF4-FFF2-40B4-BE49-F238E27FC236}">
                <a16:creationId xmlns:a16="http://schemas.microsoft.com/office/drawing/2014/main" id="{1460C938-4234-CA69-2F84-72CB3A2FA57F}"/>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22" name="Shape 17">
            <a:extLst>
              <a:ext uri="{FF2B5EF4-FFF2-40B4-BE49-F238E27FC236}">
                <a16:creationId xmlns:a16="http://schemas.microsoft.com/office/drawing/2014/main" id="{6622D5EE-4369-364A-FCA2-979F9BB3526A}"/>
              </a:ext>
            </a:extLst>
          </p:cNvPr>
          <p:cNvSpPr/>
          <p:nvPr/>
        </p:nvSpPr>
        <p:spPr>
          <a:xfrm>
            <a:off x="7443019" y="1586696"/>
            <a:ext cx="4284253" cy="304793"/>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3" name="Text 42">
            <a:extLst>
              <a:ext uri="{FF2B5EF4-FFF2-40B4-BE49-F238E27FC236}">
                <a16:creationId xmlns:a16="http://schemas.microsoft.com/office/drawing/2014/main" id="{C7E69DD2-55A6-8A04-AD23-F6AD95A81987}"/>
              </a:ext>
            </a:extLst>
          </p:cNvPr>
          <p:cNvSpPr/>
          <p:nvPr/>
        </p:nvSpPr>
        <p:spPr>
          <a:xfrm>
            <a:off x="7467714" y="1618348"/>
            <a:ext cx="2999926" cy="274320"/>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Funnel Sans" pitchFamily="34" charset="-120"/>
              </a:rPr>
              <a:t>Structure &amp; Function</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26" name="Shape 5">
            <a:extLst>
              <a:ext uri="{FF2B5EF4-FFF2-40B4-BE49-F238E27FC236}">
                <a16:creationId xmlns:a16="http://schemas.microsoft.com/office/drawing/2014/main" id="{64B953A9-F36E-D21D-B440-BA4836B31F8B}"/>
              </a:ext>
            </a:extLst>
          </p:cNvPr>
          <p:cNvSpPr/>
          <p:nvPr/>
        </p:nvSpPr>
        <p:spPr>
          <a:xfrm rot="10800000">
            <a:off x="7443013" y="1891482"/>
            <a:ext cx="4284255" cy="1600437"/>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4" name="TextBox 23">
            <a:extLst>
              <a:ext uri="{FF2B5EF4-FFF2-40B4-BE49-F238E27FC236}">
                <a16:creationId xmlns:a16="http://schemas.microsoft.com/office/drawing/2014/main" id="{214C6C17-DCAF-B0F7-CD14-D734E10BEFEF}"/>
              </a:ext>
            </a:extLst>
          </p:cNvPr>
          <p:cNvSpPr txBox="1"/>
          <p:nvPr/>
        </p:nvSpPr>
        <p:spPr>
          <a:xfrm>
            <a:off x="7455109" y="1902183"/>
            <a:ext cx="427216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B1B1B"/>
                </a:solidFill>
                <a:effectLst/>
                <a:uLnTx/>
                <a:uFillTx/>
                <a:latin typeface="Funnel Sans"/>
                <a:ea typeface="+mn-ea"/>
                <a:cs typeface="+mn-cs"/>
              </a:rPr>
              <a:t>Native receptor for </a:t>
            </a:r>
            <a:r>
              <a:rPr kumimoji="0" lang="en-US" sz="1400" b="0" i="0" u="none" strike="noStrike" kern="1200" cap="none" spc="0" normalizeH="0" baseline="0" noProof="0">
                <a:ln>
                  <a:noFill/>
                </a:ln>
                <a:solidFill>
                  <a:srgbClr val="221F22"/>
                </a:solidFill>
                <a:effectLst/>
                <a:uLnTx/>
                <a:uFillTx/>
                <a:latin typeface="Funnel Sans"/>
                <a:ea typeface="Cambria"/>
                <a:cs typeface="+mn-cs"/>
              </a:rPr>
              <a:t>enterotoxins and the endogenous paracrine hormones guanylin and </a:t>
            </a:r>
            <a:r>
              <a:rPr kumimoji="0" lang="en-US" sz="1400" b="0" i="0" u="none" strike="noStrike" kern="1200" cap="none" spc="0" normalizeH="0" baseline="0" noProof="0" err="1">
                <a:ln>
                  <a:noFill/>
                </a:ln>
                <a:solidFill>
                  <a:srgbClr val="221F22"/>
                </a:solidFill>
                <a:effectLst/>
                <a:uLnTx/>
                <a:uFillTx/>
                <a:latin typeface="Funnel Sans"/>
                <a:ea typeface="Cambria"/>
                <a:cs typeface="+mn-cs"/>
              </a:rPr>
              <a:t>uroguanylin</a:t>
            </a:r>
            <a:r>
              <a:rPr kumimoji="0" lang="en-US" sz="1400" b="0" i="0" u="none" strike="noStrike" kern="1200" cap="none" spc="0" normalizeH="0" baseline="0" noProof="0">
                <a:ln>
                  <a:noFill/>
                </a:ln>
                <a:solidFill>
                  <a:srgbClr val="221F22"/>
                </a:solidFill>
                <a:effectLst/>
                <a:uLnTx/>
                <a:uFillTx/>
                <a:latin typeface="Funnel Sans"/>
                <a:ea typeface="Cambria"/>
                <a:cs typeface="+mn-cs"/>
              </a:rPr>
              <a:t>. </a:t>
            </a:r>
            <a:r>
              <a:rPr kumimoji="0" lang="en-US" sz="1400" b="0" i="0" u="none" strike="noStrike" kern="1200" cap="none" spc="0" normalizeH="0" baseline="0" noProof="0">
                <a:ln>
                  <a:noFill/>
                </a:ln>
                <a:solidFill>
                  <a:srgbClr val="1B1B1B"/>
                </a:solidFill>
                <a:effectLst/>
                <a:uLnTx/>
                <a:uFillTx/>
                <a:latin typeface="Funnel Sans"/>
                <a:ea typeface="+mn-ea"/>
                <a:cs typeface="+mn-cs"/>
              </a:rPr>
              <a:t>Ligand binding to the ECD of a GCC </a:t>
            </a:r>
            <a:r>
              <a:rPr kumimoji="0" lang="en-US" sz="1400" b="1" i="0" u="none" strike="noStrike" kern="1200" cap="none" spc="0" normalizeH="0" baseline="0" noProof="0">
                <a:ln>
                  <a:noFill/>
                </a:ln>
                <a:solidFill>
                  <a:srgbClr val="1B1B1B"/>
                </a:solidFill>
                <a:effectLst/>
                <a:uLnTx/>
                <a:uFillTx/>
                <a:latin typeface="Funnel Sans"/>
                <a:ea typeface="+mn-ea"/>
                <a:cs typeface="+mn-cs"/>
              </a:rPr>
              <a:t>dimer</a:t>
            </a:r>
            <a:r>
              <a:rPr kumimoji="0" lang="en-US" sz="1400" b="0" i="0" u="none" strike="noStrike" kern="1200" cap="none" spc="0" normalizeH="0" baseline="0" noProof="0">
                <a:ln>
                  <a:noFill/>
                </a:ln>
                <a:solidFill>
                  <a:srgbClr val="1B1B1B"/>
                </a:solidFill>
                <a:effectLst/>
                <a:uLnTx/>
                <a:uFillTx/>
                <a:latin typeface="Funnel Sans"/>
                <a:ea typeface="+mn-ea"/>
                <a:cs typeface="+mn-cs"/>
              </a:rPr>
              <a:t> catalyzes the conversion of GTP into cGMP and initiates downstream signaling, ultimately leading to the regulation of epithelial cell proliferation, differentiation, and apoptosis.</a:t>
            </a:r>
            <a:endParaRPr kumimoji="0" lang="en-US" sz="1800" b="0" i="0" u="none" strike="noStrike" kern="1200" cap="none" spc="0" normalizeH="0" baseline="0" noProof="0">
              <a:ln>
                <a:noFill/>
              </a:ln>
              <a:solidFill>
                <a:prstClr val="black"/>
              </a:solidFill>
              <a:effectLst/>
              <a:uLnTx/>
              <a:uFillTx/>
              <a:latin typeface="Funnel Sans"/>
              <a:ea typeface="+mn-ea"/>
              <a:cs typeface="+mn-cs"/>
            </a:endParaRPr>
          </a:p>
        </p:txBody>
      </p:sp>
      <p:sp>
        <p:nvSpPr>
          <p:cNvPr id="30" name="Shape 17">
            <a:extLst>
              <a:ext uri="{FF2B5EF4-FFF2-40B4-BE49-F238E27FC236}">
                <a16:creationId xmlns:a16="http://schemas.microsoft.com/office/drawing/2014/main" id="{1EA285BE-BA6B-2CB1-134F-C15EBE4D79FA}"/>
              </a:ext>
            </a:extLst>
          </p:cNvPr>
          <p:cNvSpPr/>
          <p:nvPr/>
        </p:nvSpPr>
        <p:spPr>
          <a:xfrm>
            <a:off x="7443014" y="3611490"/>
            <a:ext cx="4284253" cy="304793"/>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1" name="Text 42">
            <a:extLst>
              <a:ext uri="{FF2B5EF4-FFF2-40B4-BE49-F238E27FC236}">
                <a16:creationId xmlns:a16="http://schemas.microsoft.com/office/drawing/2014/main" id="{1562089B-5090-655D-4546-98D32EFC256F}"/>
              </a:ext>
            </a:extLst>
          </p:cNvPr>
          <p:cNvSpPr/>
          <p:nvPr/>
        </p:nvSpPr>
        <p:spPr>
          <a:xfrm>
            <a:off x="7467709" y="3660609"/>
            <a:ext cx="2999926" cy="274320"/>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Funnel Sans" pitchFamily="34" charset="-120"/>
              </a:rPr>
              <a:t>Internalization</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32" name="Shape 5">
            <a:extLst>
              <a:ext uri="{FF2B5EF4-FFF2-40B4-BE49-F238E27FC236}">
                <a16:creationId xmlns:a16="http://schemas.microsoft.com/office/drawing/2014/main" id="{E22A4891-0366-F7EB-28B9-D47208BF7D85}"/>
              </a:ext>
            </a:extLst>
          </p:cNvPr>
          <p:cNvSpPr/>
          <p:nvPr/>
        </p:nvSpPr>
        <p:spPr>
          <a:xfrm rot="10800000">
            <a:off x="7443006" y="3916274"/>
            <a:ext cx="4284255" cy="1600436"/>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3" name="TextBox 32">
            <a:extLst>
              <a:ext uri="{FF2B5EF4-FFF2-40B4-BE49-F238E27FC236}">
                <a16:creationId xmlns:a16="http://schemas.microsoft.com/office/drawing/2014/main" id="{D99D7A2F-7DF9-F8EF-6D05-BC75DFB3B1FD}"/>
              </a:ext>
            </a:extLst>
          </p:cNvPr>
          <p:cNvSpPr txBox="1"/>
          <p:nvPr/>
        </p:nvSpPr>
        <p:spPr>
          <a:xfrm>
            <a:off x="7455104" y="3926977"/>
            <a:ext cx="427216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Rapidly internalizes from the cell surface to lysosomes in intestinal and colorectal cancer cells. Endocytosis is independent of ligand binding and receptor activation and is mediated by </a:t>
            </a:r>
            <a:r>
              <a:rPr kumimoji="0" lang="en-US" sz="1400" b="0" i="0" u="none" strike="noStrike" kern="1200" cap="none" spc="0" normalizeH="0" baseline="0" noProof="0" err="1">
                <a:ln>
                  <a:noFill/>
                </a:ln>
                <a:solidFill>
                  <a:prstClr val="black"/>
                </a:solidFill>
                <a:effectLst/>
                <a:uLnTx/>
                <a:uFillTx/>
                <a:latin typeface="Funnel Sans"/>
                <a:ea typeface="+mn-ea"/>
                <a:cs typeface="+mn-cs"/>
              </a:rPr>
              <a:t>clathrin</a:t>
            </a:r>
            <a:r>
              <a:rPr kumimoji="0" lang="en-US" sz="1400" b="0" i="0" u="none" strike="noStrike" kern="1200" cap="none" spc="0" normalizeH="0" baseline="0" noProof="0">
                <a:ln>
                  <a:noFill/>
                </a:ln>
                <a:solidFill>
                  <a:prstClr val="black"/>
                </a:solidFill>
                <a:effectLst/>
                <a:uLnTx/>
                <a:uFillTx/>
                <a:latin typeface="Funnel Sans"/>
                <a:ea typeface="+mn-ea"/>
                <a:cs typeface="+mn-cs"/>
              </a:rPr>
              <a:t>. Native internalization ideal for RLT, as isotope would be in close proximity to DNA &amp; contain the daughter ions.</a:t>
            </a:r>
          </a:p>
        </p:txBody>
      </p:sp>
      <p:sp>
        <p:nvSpPr>
          <p:cNvPr id="34" name="Shape 17">
            <a:extLst>
              <a:ext uri="{FF2B5EF4-FFF2-40B4-BE49-F238E27FC236}">
                <a16:creationId xmlns:a16="http://schemas.microsoft.com/office/drawing/2014/main" id="{32A4AA8D-4754-FF59-766C-79E70E252EE3}"/>
              </a:ext>
            </a:extLst>
          </p:cNvPr>
          <p:cNvSpPr/>
          <p:nvPr/>
        </p:nvSpPr>
        <p:spPr>
          <a:xfrm>
            <a:off x="7443019" y="5646986"/>
            <a:ext cx="4284253" cy="304793"/>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5" name="Text 42">
            <a:extLst>
              <a:ext uri="{FF2B5EF4-FFF2-40B4-BE49-F238E27FC236}">
                <a16:creationId xmlns:a16="http://schemas.microsoft.com/office/drawing/2014/main" id="{277E6622-B09F-2636-DA61-C4EC52BAE9B5}"/>
              </a:ext>
            </a:extLst>
          </p:cNvPr>
          <p:cNvSpPr/>
          <p:nvPr/>
        </p:nvSpPr>
        <p:spPr>
          <a:xfrm>
            <a:off x="7467714" y="5678638"/>
            <a:ext cx="2999926" cy="274320"/>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Funnel Sans" pitchFamily="34" charset="-120"/>
              </a:rPr>
              <a:t>Secretion &amp; Shedding</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36" name="Shape 5">
            <a:extLst>
              <a:ext uri="{FF2B5EF4-FFF2-40B4-BE49-F238E27FC236}">
                <a16:creationId xmlns:a16="http://schemas.microsoft.com/office/drawing/2014/main" id="{15F85F02-5A0C-EEBF-04FA-3CF787FDFDEC}"/>
              </a:ext>
            </a:extLst>
          </p:cNvPr>
          <p:cNvSpPr/>
          <p:nvPr/>
        </p:nvSpPr>
        <p:spPr>
          <a:xfrm rot="10800000">
            <a:off x="7443012" y="5951773"/>
            <a:ext cx="4284255" cy="382619"/>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7" name="TextBox 36">
            <a:extLst>
              <a:ext uri="{FF2B5EF4-FFF2-40B4-BE49-F238E27FC236}">
                <a16:creationId xmlns:a16="http://schemas.microsoft.com/office/drawing/2014/main" id="{4F89B853-6FA4-322D-C392-C9FBD126735C}"/>
              </a:ext>
            </a:extLst>
          </p:cNvPr>
          <p:cNvSpPr txBox="1"/>
          <p:nvPr/>
        </p:nvSpPr>
        <p:spPr>
          <a:xfrm>
            <a:off x="7455109" y="5962473"/>
            <a:ext cx="427216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Funnel Sans"/>
                <a:cs typeface="+mn-cs"/>
              </a:rPr>
              <a:t>There is no evidence GCC is secreted or shed. </a:t>
            </a:r>
          </a:p>
        </p:txBody>
      </p:sp>
      <p:pic>
        <p:nvPicPr>
          <p:cNvPr id="3074" name="Picture 2">
            <a:extLst>
              <a:ext uri="{FF2B5EF4-FFF2-40B4-BE49-F238E27FC236}">
                <a16:creationId xmlns:a16="http://schemas.microsoft.com/office/drawing/2014/main" id="{B5E3F8ED-982C-B8EF-3679-1C08402E829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9920" y="1944336"/>
            <a:ext cx="6191837" cy="4018137"/>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AA39A819-23E7-5C04-D5B7-D7D633E4D879}"/>
              </a:ext>
            </a:extLst>
          </p:cNvPr>
          <p:cNvSpPr txBox="1"/>
          <p:nvPr/>
        </p:nvSpPr>
        <p:spPr>
          <a:xfrm>
            <a:off x="4234533" y="1941979"/>
            <a:ext cx="167148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A4141"/>
                </a:solidFill>
                <a:effectLst/>
                <a:uLnTx/>
                <a:uFillTx/>
                <a:latin typeface="Funnel Sans"/>
                <a:ea typeface="+mn-ea"/>
                <a:cs typeface="+mn-cs"/>
              </a:rPr>
              <a:t>Native &amp; known peptide ligands</a:t>
            </a:r>
          </a:p>
        </p:txBody>
      </p:sp>
    </p:spTree>
    <p:extLst>
      <p:ext uri="{BB962C8B-B14F-4D97-AF65-F5344CB8AC3E}">
        <p14:creationId xmlns:p14="http://schemas.microsoft.com/office/powerpoint/2010/main" val="316585411"/>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43A1C-EFA6-B7EA-0EC1-B66D98E10BBE}"/>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6DC8550C-4839-9AF6-8FDC-41414EABF536}"/>
              </a:ext>
            </a:extLst>
          </p:cNvPr>
          <p:cNvSpPr txBox="1"/>
          <p:nvPr/>
        </p:nvSpPr>
        <p:spPr>
          <a:xfrm>
            <a:off x="0" y="6440189"/>
            <a:ext cx="7598979" cy="70788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Funnel Sans"/>
                <a:ea typeface="+mn-ea"/>
                <a:cs typeface="+mn-cs"/>
                <a:hlinkClick r:id="rId2">
                  <a:extLst>
                    <a:ext uri="{A12FA001-AC4F-418D-AE19-62706E023703}">
                      <ahyp:hlinkClr xmlns:ahyp="http://schemas.microsoft.com/office/drawing/2018/hyperlinkcolor" val="tx"/>
                    </a:ext>
                  </a:extLst>
                </a:hlinkClick>
              </a:rPr>
              <a:t>Sources:</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3"/>
              </a:rPr>
              <a:t>SEER</a:t>
            </a:r>
            <a:r>
              <a:rPr kumimoji="0" lang="en-GB" sz="1000" b="0" i="0" u="none" strike="noStrike" kern="1200" cap="none" spc="0" normalizeH="0" baseline="0" noProof="0">
                <a:ln>
                  <a:noFill/>
                </a:ln>
                <a:solidFill>
                  <a:prstClr val="black"/>
                </a:solidFill>
                <a:effectLst/>
                <a:uLnTx/>
                <a:uFillTx/>
                <a:latin typeface="Funnel Sans"/>
                <a:ea typeface="+mn-lt"/>
                <a:cs typeface="+mn-lt"/>
              </a:rPr>
              <a:t> ,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4"/>
              </a:rPr>
              <a:t>Siegel Cancer Journal for Clinicians 2023</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5"/>
              </a:rPr>
              <a:t>Tarpgaard Cancers (Basel) 2023</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6"/>
              </a:rPr>
              <a:t>Abidoye MDPi 2025</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7"/>
              </a:rPr>
              <a:t>Nakamura Nature Med 2024</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8"/>
              </a:rPr>
              <a:t>Upadhyay Ther Adv Med Oncol 2015</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9"/>
              </a:rPr>
              <a:t>Liu Ther Adv Gastero 2022</a:t>
            </a:r>
            <a:endParaRPr kumimoji="0" lang="en-GB" sz="10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0000"/>
              </a:solidFill>
              <a:effectLst/>
              <a:uLnTx/>
              <a:uFillTx/>
              <a:latin typeface="Funnel Sans"/>
              <a:ea typeface="+mn-ea"/>
              <a:cs typeface="+mn-cs"/>
            </a:endParaRPr>
          </a:p>
        </p:txBody>
      </p:sp>
      <p:sp>
        <p:nvSpPr>
          <p:cNvPr id="28" name="TextBox 27">
            <a:extLst>
              <a:ext uri="{FF2B5EF4-FFF2-40B4-BE49-F238E27FC236}">
                <a16:creationId xmlns:a16="http://schemas.microsoft.com/office/drawing/2014/main" id="{1702B227-007E-0C92-A1EE-30122896809B}"/>
              </a:ext>
            </a:extLst>
          </p:cNvPr>
          <p:cNvSpPr txBox="1"/>
          <p:nvPr/>
        </p:nvSpPr>
        <p:spPr>
          <a:xfrm>
            <a:off x="254000" y="1485954"/>
            <a:ext cx="11612959" cy="30777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prstClr val="black"/>
                </a:solidFill>
                <a:effectLst/>
                <a:uLnTx/>
                <a:uFillTx/>
                <a:latin typeface="Funnel Sans"/>
                <a:ea typeface="+mn-ea"/>
                <a:cs typeface="+mn-cs"/>
              </a:rPr>
              <a:t>~</a:t>
            </a:r>
            <a:r>
              <a:rPr kumimoji="0" lang="en-US" sz="1400" b="0" i="1" u="none" strike="noStrike" kern="1200" cap="none" spc="0" normalizeH="0" baseline="0" noProof="0">
                <a:ln>
                  <a:noFill/>
                </a:ln>
                <a:solidFill>
                  <a:srgbClr val="000000"/>
                </a:solidFill>
                <a:effectLst/>
                <a:uLnTx/>
                <a:uFillTx/>
                <a:latin typeface="Funnel Sans"/>
                <a:ea typeface="Source Sans Pro"/>
                <a:cs typeface="+mn-cs"/>
              </a:rPr>
              <a:t>154,000 </a:t>
            </a:r>
            <a:r>
              <a:rPr kumimoji="0" lang="en-US" sz="1400" b="0" i="1" u="none" strike="noStrike" kern="1200" cap="none" spc="0" normalizeH="0" baseline="0" noProof="0">
                <a:ln>
                  <a:noFill/>
                </a:ln>
                <a:solidFill>
                  <a:srgbClr val="000000"/>
                </a:solidFill>
                <a:effectLst/>
                <a:uLnTx/>
                <a:uFillTx/>
                <a:latin typeface="Funnel Sans"/>
                <a:ea typeface="+mn-ea"/>
                <a:cs typeface="+mn-cs"/>
              </a:rPr>
              <a:t>new</a:t>
            </a:r>
            <a:r>
              <a:rPr kumimoji="0" lang="en-US" sz="1400" b="0" i="1" u="none" strike="noStrike" kern="1200" cap="none" spc="0" normalizeH="0" baseline="0" noProof="0">
                <a:ln>
                  <a:noFill/>
                </a:ln>
                <a:solidFill>
                  <a:prstClr val="black"/>
                </a:solidFill>
                <a:effectLst/>
                <a:uLnTx/>
                <a:uFillTx/>
                <a:latin typeface="Funnel Sans"/>
                <a:ea typeface="+mn-ea"/>
                <a:cs typeface="+mn-cs"/>
              </a:rPr>
              <a:t> cases </a:t>
            </a:r>
            <a:r>
              <a:rPr kumimoji="0" lang="en-US" sz="1400" b="0" i="1" u="none" strike="noStrike" kern="1200" cap="none" spc="0" normalizeH="0" baseline="0" noProof="0">
                <a:ln>
                  <a:noFill/>
                </a:ln>
                <a:solidFill>
                  <a:prstClr val="black"/>
                </a:solidFill>
                <a:effectLst/>
                <a:uLnTx/>
                <a:uFillTx/>
                <a:latin typeface="Funnel Sans"/>
                <a:ea typeface="Source Sans Pro"/>
                <a:cs typeface="+mn-cs"/>
              </a:rPr>
              <a:t>and ~53,000</a:t>
            </a:r>
            <a:r>
              <a:rPr kumimoji="0" lang="en-US" sz="1400" b="0" i="1" u="none" strike="noStrike" kern="1200" cap="none" spc="0" normalizeH="0" baseline="0" noProof="0">
                <a:ln>
                  <a:noFill/>
                </a:ln>
                <a:solidFill>
                  <a:prstClr val="black"/>
                </a:solidFill>
                <a:effectLst/>
                <a:uLnTx/>
                <a:uFillTx/>
                <a:latin typeface="Funnel Sans"/>
                <a:ea typeface="+mn-ea"/>
                <a:cs typeface="+mn-cs"/>
              </a:rPr>
              <a:t> deaths from colorectal cancer in the US in 2025</a:t>
            </a:r>
          </a:p>
        </p:txBody>
      </p:sp>
      <p:sp>
        <p:nvSpPr>
          <p:cNvPr id="32" name="Shape 0">
            <a:extLst>
              <a:ext uri="{FF2B5EF4-FFF2-40B4-BE49-F238E27FC236}">
                <a16:creationId xmlns:a16="http://schemas.microsoft.com/office/drawing/2014/main" id="{475FA7B6-ED2B-91E1-A19B-C50B50026AFB}"/>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4" name="Image 3" descr="preencoded.png">
            <a:extLst>
              <a:ext uri="{FF2B5EF4-FFF2-40B4-BE49-F238E27FC236}">
                <a16:creationId xmlns:a16="http://schemas.microsoft.com/office/drawing/2014/main" id="{0A71AE89-A3D8-116C-269C-7B5917AAF6FE}"/>
              </a:ext>
            </a:extLst>
          </p:cNvPr>
          <p:cNvPicPr>
            <a:picLocks noChangeAspect="1"/>
          </p:cNvPicPr>
          <p:nvPr/>
        </p:nvPicPr>
        <p:blipFill>
          <a:blip r:embed="rId10"/>
          <a:stretch>
            <a:fillRect/>
          </a:stretch>
        </p:blipFill>
        <p:spPr>
          <a:xfrm>
            <a:off x="323503" y="254000"/>
            <a:ext cx="156939" cy="191368"/>
          </a:xfrm>
          <a:prstGeom prst="rect">
            <a:avLst/>
          </a:prstGeom>
        </p:spPr>
      </p:pic>
      <p:pic>
        <p:nvPicPr>
          <p:cNvPr id="35" name="Image 4" descr="preencoded.png">
            <a:extLst>
              <a:ext uri="{FF2B5EF4-FFF2-40B4-BE49-F238E27FC236}">
                <a16:creationId xmlns:a16="http://schemas.microsoft.com/office/drawing/2014/main" id="{EA4EA39A-618E-7873-9F24-32C254928395}"/>
              </a:ext>
            </a:extLst>
          </p:cNvPr>
          <p:cNvPicPr>
            <a:picLocks noChangeAspect="1"/>
          </p:cNvPicPr>
          <p:nvPr/>
        </p:nvPicPr>
        <p:blipFill>
          <a:blip r:embed="rId11"/>
          <a:stretch>
            <a:fillRect/>
          </a:stretch>
        </p:blipFill>
        <p:spPr>
          <a:xfrm>
            <a:off x="387028" y="459541"/>
            <a:ext cx="968" cy="4"/>
          </a:xfrm>
          <a:prstGeom prst="rect">
            <a:avLst/>
          </a:prstGeom>
        </p:spPr>
      </p:pic>
      <p:pic>
        <p:nvPicPr>
          <p:cNvPr id="36" name="Image 5" descr="preencoded.png">
            <a:extLst>
              <a:ext uri="{FF2B5EF4-FFF2-40B4-BE49-F238E27FC236}">
                <a16:creationId xmlns:a16="http://schemas.microsoft.com/office/drawing/2014/main" id="{1852D115-4254-F572-1217-0E6CE3121E77}"/>
              </a:ext>
            </a:extLst>
          </p:cNvPr>
          <p:cNvPicPr>
            <a:picLocks noChangeAspect="1"/>
          </p:cNvPicPr>
          <p:nvPr/>
        </p:nvPicPr>
        <p:blipFill>
          <a:blip r:embed="rId11"/>
          <a:stretch>
            <a:fillRect/>
          </a:stretch>
        </p:blipFill>
        <p:spPr>
          <a:xfrm>
            <a:off x="386756" y="459546"/>
            <a:ext cx="297" cy="4"/>
          </a:xfrm>
          <a:prstGeom prst="rect">
            <a:avLst/>
          </a:prstGeom>
        </p:spPr>
      </p:pic>
      <p:pic>
        <p:nvPicPr>
          <p:cNvPr id="37" name="Image 6" descr="preencoded.png">
            <a:extLst>
              <a:ext uri="{FF2B5EF4-FFF2-40B4-BE49-F238E27FC236}">
                <a16:creationId xmlns:a16="http://schemas.microsoft.com/office/drawing/2014/main" id="{4C9D79F2-504C-A94D-5311-151128DD7216}"/>
              </a:ext>
            </a:extLst>
          </p:cNvPr>
          <p:cNvPicPr>
            <a:picLocks noChangeAspect="1"/>
          </p:cNvPicPr>
          <p:nvPr/>
        </p:nvPicPr>
        <p:blipFill>
          <a:blip r:embed="rId11"/>
          <a:stretch>
            <a:fillRect/>
          </a:stretch>
        </p:blipFill>
        <p:spPr>
          <a:xfrm>
            <a:off x="389261" y="473634"/>
            <a:ext cx="471" cy="4"/>
          </a:xfrm>
          <a:prstGeom prst="rect">
            <a:avLst/>
          </a:prstGeom>
        </p:spPr>
      </p:pic>
      <p:pic>
        <p:nvPicPr>
          <p:cNvPr id="38" name="Image 7" descr="preencoded.png">
            <a:extLst>
              <a:ext uri="{FF2B5EF4-FFF2-40B4-BE49-F238E27FC236}">
                <a16:creationId xmlns:a16="http://schemas.microsoft.com/office/drawing/2014/main" id="{EE9EC5CE-43E9-E1CB-CDFA-26B29D2B158B}"/>
              </a:ext>
            </a:extLst>
          </p:cNvPr>
          <p:cNvPicPr>
            <a:picLocks noChangeAspect="1"/>
          </p:cNvPicPr>
          <p:nvPr/>
        </p:nvPicPr>
        <p:blipFill>
          <a:blip r:embed="rId12"/>
          <a:stretch>
            <a:fillRect/>
          </a:stretch>
        </p:blipFill>
        <p:spPr>
          <a:xfrm>
            <a:off x="600300" y="305277"/>
            <a:ext cx="137641" cy="202443"/>
          </a:xfrm>
          <a:prstGeom prst="rect">
            <a:avLst/>
          </a:prstGeom>
        </p:spPr>
      </p:pic>
      <p:pic>
        <p:nvPicPr>
          <p:cNvPr id="39" name="Image 8" descr="preencoded.png">
            <a:extLst>
              <a:ext uri="{FF2B5EF4-FFF2-40B4-BE49-F238E27FC236}">
                <a16:creationId xmlns:a16="http://schemas.microsoft.com/office/drawing/2014/main" id="{37612FB6-312A-CC59-01D2-8F8E5C8AC9F9}"/>
              </a:ext>
            </a:extLst>
          </p:cNvPr>
          <p:cNvPicPr>
            <a:picLocks noChangeAspect="1"/>
          </p:cNvPicPr>
          <p:nvPr/>
        </p:nvPicPr>
        <p:blipFill>
          <a:blip r:embed="rId13"/>
          <a:stretch>
            <a:fillRect/>
          </a:stretch>
        </p:blipFill>
        <p:spPr>
          <a:xfrm>
            <a:off x="743372" y="360473"/>
            <a:ext cx="126579" cy="147243"/>
          </a:xfrm>
          <a:prstGeom prst="rect">
            <a:avLst/>
          </a:prstGeom>
        </p:spPr>
      </p:pic>
      <p:pic>
        <p:nvPicPr>
          <p:cNvPr id="40" name="Image 9" descr="preencoded.png">
            <a:extLst>
              <a:ext uri="{FF2B5EF4-FFF2-40B4-BE49-F238E27FC236}">
                <a16:creationId xmlns:a16="http://schemas.microsoft.com/office/drawing/2014/main" id="{AD1725A6-C11A-4D2B-3259-CE3E48512BCB}"/>
              </a:ext>
            </a:extLst>
          </p:cNvPr>
          <p:cNvPicPr>
            <a:picLocks noChangeAspect="1"/>
          </p:cNvPicPr>
          <p:nvPr/>
        </p:nvPicPr>
        <p:blipFill>
          <a:blip r:embed="rId14"/>
          <a:stretch>
            <a:fillRect/>
          </a:stretch>
        </p:blipFill>
        <p:spPr>
          <a:xfrm>
            <a:off x="872928" y="360456"/>
            <a:ext cx="131737" cy="198345"/>
          </a:xfrm>
          <a:prstGeom prst="rect">
            <a:avLst/>
          </a:prstGeom>
        </p:spPr>
      </p:pic>
      <p:pic>
        <p:nvPicPr>
          <p:cNvPr id="41" name="Image 10" descr="preencoded.png">
            <a:extLst>
              <a:ext uri="{FF2B5EF4-FFF2-40B4-BE49-F238E27FC236}">
                <a16:creationId xmlns:a16="http://schemas.microsoft.com/office/drawing/2014/main" id="{CD1509C7-99E6-61DC-D672-EB4954FC898E}"/>
              </a:ext>
            </a:extLst>
          </p:cNvPr>
          <p:cNvPicPr>
            <a:picLocks noChangeAspect="1"/>
          </p:cNvPicPr>
          <p:nvPr/>
        </p:nvPicPr>
        <p:blipFill>
          <a:blip r:embed="rId15"/>
          <a:stretch>
            <a:fillRect/>
          </a:stretch>
        </p:blipFill>
        <p:spPr>
          <a:xfrm>
            <a:off x="1001142" y="360468"/>
            <a:ext cx="135508" cy="147243"/>
          </a:xfrm>
          <a:prstGeom prst="rect">
            <a:avLst/>
          </a:prstGeom>
        </p:spPr>
      </p:pic>
      <p:pic>
        <p:nvPicPr>
          <p:cNvPr id="42" name="Image 11" descr="preencoded.png">
            <a:extLst>
              <a:ext uri="{FF2B5EF4-FFF2-40B4-BE49-F238E27FC236}">
                <a16:creationId xmlns:a16="http://schemas.microsoft.com/office/drawing/2014/main" id="{BE287846-DFD5-BA9E-94A3-029046D14236}"/>
              </a:ext>
            </a:extLst>
          </p:cNvPr>
          <p:cNvPicPr>
            <a:picLocks noChangeAspect="1"/>
          </p:cNvPicPr>
          <p:nvPr/>
        </p:nvPicPr>
        <p:blipFill>
          <a:blip r:embed="rId16"/>
          <a:stretch>
            <a:fillRect/>
          </a:stretch>
        </p:blipFill>
        <p:spPr>
          <a:xfrm>
            <a:off x="375419" y="376364"/>
            <a:ext cx="174501" cy="157568"/>
          </a:xfrm>
          <a:prstGeom prst="rect">
            <a:avLst/>
          </a:prstGeom>
        </p:spPr>
      </p:pic>
      <p:pic>
        <p:nvPicPr>
          <p:cNvPr id="43" name="Image 12" descr="preencoded.png">
            <a:extLst>
              <a:ext uri="{FF2B5EF4-FFF2-40B4-BE49-F238E27FC236}">
                <a16:creationId xmlns:a16="http://schemas.microsoft.com/office/drawing/2014/main" id="{47FD2D6A-573F-05C1-2140-C288A2AE0E02}"/>
              </a:ext>
            </a:extLst>
          </p:cNvPr>
          <p:cNvPicPr>
            <a:picLocks noChangeAspect="1"/>
          </p:cNvPicPr>
          <p:nvPr/>
        </p:nvPicPr>
        <p:blipFill>
          <a:blip r:embed="rId17"/>
          <a:stretch>
            <a:fillRect/>
          </a:stretch>
        </p:blipFill>
        <p:spPr>
          <a:xfrm>
            <a:off x="254000" y="376361"/>
            <a:ext cx="174501" cy="157575"/>
          </a:xfrm>
          <a:prstGeom prst="rect">
            <a:avLst/>
          </a:prstGeom>
        </p:spPr>
      </p:pic>
      <p:sp>
        <p:nvSpPr>
          <p:cNvPr id="44" name="Text 28">
            <a:extLst>
              <a:ext uri="{FF2B5EF4-FFF2-40B4-BE49-F238E27FC236}">
                <a16:creationId xmlns:a16="http://schemas.microsoft.com/office/drawing/2014/main" id="{7CB8108B-9C58-9CD6-8E42-E9F4F591EB32}"/>
              </a:ext>
            </a:extLst>
          </p:cNvPr>
          <p:cNvSpPr/>
          <p:nvPr/>
        </p:nvSpPr>
        <p:spPr>
          <a:xfrm>
            <a:off x="254000" y="635564"/>
            <a:ext cx="12459110"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GCC positivity across stages &amp; metastases in CRC creates diverse treatment options</a:t>
            </a:r>
          </a:p>
        </p:txBody>
      </p:sp>
      <p:sp>
        <p:nvSpPr>
          <p:cNvPr id="51" name="Rectangle: Rounded Corners 50">
            <a:extLst>
              <a:ext uri="{FF2B5EF4-FFF2-40B4-BE49-F238E27FC236}">
                <a16:creationId xmlns:a16="http://schemas.microsoft.com/office/drawing/2014/main" id="{2120AD1F-DD88-9565-169C-D8845B92269F}"/>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Landscape</a:t>
            </a:r>
          </a:p>
        </p:txBody>
      </p:sp>
      <p:sp>
        <p:nvSpPr>
          <p:cNvPr id="11" name="TextBox 10">
            <a:extLst>
              <a:ext uri="{FF2B5EF4-FFF2-40B4-BE49-F238E27FC236}">
                <a16:creationId xmlns:a16="http://schemas.microsoft.com/office/drawing/2014/main" id="{4F9D2933-35AD-30F8-DD03-AB417E271D01}"/>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9" name="Rectangle 18">
            <a:extLst>
              <a:ext uri="{FF2B5EF4-FFF2-40B4-BE49-F238E27FC236}">
                <a16:creationId xmlns:a16="http://schemas.microsoft.com/office/drawing/2014/main" id="{71F5B7D9-0120-B5AD-3802-339DF1C65F82}"/>
              </a:ext>
            </a:extLst>
          </p:cNvPr>
          <p:cNvSpPr/>
          <p:nvPr/>
        </p:nvSpPr>
        <p:spPr>
          <a:xfrm>
            <a:off x="4227874" y="2486966"/>
            <a:ext cx="6919406" cy="74315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graphicFrame>
        <p:nvGraphicFramePr>
          <p:cNvPr id="16" name="Table 15">
            <a:extLst>
              <a:ext uri="{FF2B5EF4-FFF2-40B4-BE49-F238E27FC236}">
                <a16:creationId xmlns:a16="http://schemas.microsoft.com/office/drawing/2014/main" id="{E5600AA6-130E-A6FE-D4C3-7C1DE9933EDB}"/>
              </a:ext>
            </a:extLst>
          </p:cNvPr>
          <p:cNvGraphicFramePr>
            <a:graphicFrameLocks noGrp="1"/>
          </p:cNvGraphicFramePr>
          <p:nvPr/>
        </p:nvGraphicFramePr>
        <p:xfrm>
          <a:off x="1013246" y="3086192"/>
          <a:ext cx="10134033" cy="2628900"/>
        </p:xfrm>
        <a:graphic>
          <a:graphicData uri="http://schemas.openxmlformats.org/drawingml/2006/table">
            <a:tbl>
              <a:tblPr bandRow="1">
                <a:tableStyleId>{5C22544A-7EE6-4342-B048-85BDC9FD1C3A}</a:tableStyleId>
              </a:tblPr>
              <a:tblGrid>
                <a:gridCol w="3233407">
                  <a:extLst>
                    <a:ext uri="{9D8B030D-6E8A-4147-A177-3AD203B41FA5}">
                      <a16:colId xmlns:a16="http://schemas.microsoft.com/office/drawing/2014/main" val="635467938"/>
                    </a:ext>
                  </a:extLst>
                </a:gridCol>
                <a:gridCol w="3465359">
                  <a:extLst>
                    <a:ext uri="{9D8B030D-6E8A-4147-A177-3AD203B41FA5}">
                      <a16:colId xmlns:a16="http://schemas.microsoft.com/office/drawing/2014/main" val="3845916860"/>
                    </a:ext>
                  </a:extLst>
                </a:gridCol>
                <a:gridCol w="3435267">
                  <a:extLst>
                    <a:ext uri="{9D8B030D-6E8A-4147-A177-3AD203B41FA5}">
                      <a16:colId xmlns:a16="http://schemas.microsoft.com/office/drawing/2014/main" val="2584517878"/>
                    </a:ext>
                  </a:extLst>
                </a:gridCol>
              </a:tblGrid>
              <a:tr h="0">
                <a:tc>
                  <a:txBody>
                    <a:bodyPr/>
                    <a:lstStyle/>
                    <a:p>
                      <a:pPr algn="ctr" fontAlgn="base">
                        <a:lnSpc>
                          <a:spcPts val="1950"/>
                        </a:lnSpc>
                        <a:buNone/>
                      </a:pPr>
                      <a:r>
                        <a:rPr lang="en-US" sz="1600" b="1">
                          <a:effectLst/>
                          <a:latin typeface="Funnel Sans"/>
                        </a:rPr>
                        <a:t>Approach</a:t>
                      </a:r>
                      <a:endParaRPr lang="en-US" b="1">
                        <a:effectLst/>
                      </a:endParaRP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tc>
                  <a:txBody>
                    <a:bodyPr/>
                    <a:lstStyle/>
                    <a:p>
                      <a:pPr lvl="0" algn="ctr">
                        <a:lnSpc>
                          <a:spcPct val="100000"/>
                        </a:lnSpc>
                        <a:buNone/>
                      </a:pPr>
                      <a:r>
                        <a:rPr lang="en-US" sz="1200" b="0"/>
                        <a:t>Adjuvant, curative intent monotherapy for post-resection Stage II/III, MRD+ (ctDNA+) patients</a:t>
                      </a:r>
                      <a:endParaRPr lang="en-US" sz="1200" b="0" baseline="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tc>
                  <a:txBody>
                    <a:bodyPr/>
                    <a:lstStyle/>
                    <a:p>
                      <a:pPr lvl="0" algn="ctr">
                        <a:lnSpc>
                          <a:spcPct val="100000"/>
                        </a:lnSpc>
                        <a:buNone/>
                      </a:pPr>
                      <a:r>
                        <a:rPr lang="en-US" sz="1200" b="0" baseline="0">
                          <a:effectLst/>
                          <a:latin typeface="Funnel Sans"/>
                        </a:rPr>
                        <a:t>Late line monotherapy in Stage IV patients at end of treatment options</a:t>
                      </a:r>
                      <a:endParaRPr lang="en-US" sz="1200" b="0" baseline="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extLst>
                  <a:ext uri="{0D108BD9-81ED-4DB2-BD59-A6C34878D82A}">
                    <a16:rowId xmlns:a16="http://schemas.microsoft.com/office/drawing/2014/main" val="1734815720"/>
                  </a:ext>
                </a:extLst>
              </a:tr>
              <a:tr h="361950">
                <a:tc>
                  <a:txBody>
                    <a:bodyPr/>
                    <a:lstStyle/>
                    <a:p>
                      <a:pPr algn="ctr" fontAlgn="base">
                        <a:lnSpc>
                          <a:spcPts val="1950"/>
                        </a:lnSpc>
                        <a:buNone/>
                      </a:pPr>
                      <a:r>
                        <a:rPr lang="en-US" sz="1400" baseline="0">
                          <a:effectLst/>
                        </a:rPr>
                        <a:t>Annual incident cases</a:t>
                      </a: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154,000</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154,000</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2926821"/>
                  </a:ext>
                </a:extLst>
              </a:tr>
              <a:tr h="361950">
                <a:tc>
                  <a:txBody>
                    <a:bodyPr/>
                    <a:lstStyle/>
                    <a:p>
                      <a:pPr algn="ctr" fontAlgn="base">
                        <a:lnSpc>
                          <a:spcPts val="1950"/>
                        </a:lnSpc>
                        <a:buNone/>
                      </a:pPr>
                      <a:r>
                        <a:rPr lang="en-US" sz="1400" baseline="0">
                          <a:effectLst/>
                          <a:latin typeface="Funnel Sans"/>
                        </a:rPr>
                        <a:t>% diagnosed at Stage</a:t>
                      </a:r>
                      <a:endParaRPr lang="en-US" sz="1400" baseline="0">
                        <a:effectLst/>
                      </a:endParaRP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70-80% local/regional</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20% distant</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5960074"/>
                  </a:ext>
                </a:extLst>
              </a:tr>
              <a:tr h="361950">
                <a:tc>
                  <a:txBody>
                    <a:bodyPr/>
                    <a:lstStyle/>
                    <a:p>
                      <a:pPr algn="ctr" fontAlgn="base">
                        <a:lnSpc>
                          <a:spcPts val="1950"/>
                        </a:lnSpc>
                        <a:buNone/>
                      </a:pPr>
                      <a:endParaRPr lang="en-US" sz="1400" baseline="0">
                        <a:effectLst/>
                      </a:endParaRP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~90% undergo surgery</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25-30% advance to 3</a:t>
                      </a:r>
                      <a:r>
                        <a:rPr lang="en-US" sz="1400" baseline="30000"/>
                        <a:t>rd</a:t>
                      </a:r>
                      <a:r>
                        <a:rPr lang="en-US" sz="1400" baseline="0"/>
                        <a:t> line</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2360491"/>
                  </a:ext>
                </a:extLst>
              </a:tr>
              <a:tr h="361950">
                <a:tc>
                  <a:txBody>
                    <a:bodyPr/>
                    <a:lstStyle/>
                    <a:p>
                      <a:pPr algn="ctr" fontAlgn="base">
                        <a:lnSpc>
                          <a:spcPts val="1950"/>
                        </a:lnSpc>
                        <a:buNone/>
                      </a:pPr>
                      <a:endParaRPr lang="en-US" sz="1400" baseline="0">
                        <a:effectLst/>
                      </a:endParaRP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effectLst/>
                          <a:latin typeface="Funnel Sans"/>
                        </a:rPr>
                        <a:t>~15% MRD+</a:t>
                      </a:r>
                      <a:endParaRPr lang="en-US" sz="1400" baseline="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endParaRPr lang="en-US" sz="1400" baseline="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3364161"/>
                  </a:ext>
                </a:extLst>
              </a:tr>
              <a:tr h="361950">
                <a:tc>
                  <a:txBody>
                    <a:bodyPr/>
                    <a:lstStyle/>
                    <a:p>
                      <a:pPr algn="ctr" fontAlgn="base">
                        <a:lnSpc>
                          <a:spcPts val="1950"/>
                        </a:lnSpc>
                        <a:buNone/>
                      </a:pPr>
                      <a:r>
                        <a:rPr lang="en-US" sz="1400" baseline="0" dirty="0">
                          <a:effectLst/>
                          <a:latin typeface="Funnel Sans"/>
                        </a:rPr>
                        <a:t>% GCC Positive</a:t>
                      </a:r>
                      <a:endParaRPr lang="en-US" sz="1400" baseline="0" dirty="0">
                        <a:effectLst/>
                      </a:endParaRP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dirty="0">
                          <a:effectLst/>
                          <a:latin typeface="Funnel Sans"/>
                        </a:rPr>
                        <a:t>~80%</a:t>
                      </a:r>
                      <a:endParaRPr lang="en-US" sz="1400" baseline="0" dirty="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dirty="0">
                          <a:effectLst/>
                          <a:latin typeface="Funnel Sans"/>
                        </a:rPr>
                        <a:t>~80%</a:t>
                      </a:r>
                      <a:endParaRPr lang="en-US" sz="1400" baseline="0" dirty="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709761"/>
                  </a:ext>
                </a:extLst>
              </a:tr>
              <a:tr h="361950">
                <a:tc>
                  <a:txBody>
                    <a:bodyPr/>
                    <a:lstStyle/>
                    <a:p>
                      <a:pPr algn="ctr" fontAlgn="base">
                        <a:lnSpc>
                          <a:spcPts val="1950"/>
                        </a:lnSpc>
                        <a:buNone/>
                      </a:pPr>
                      <a:r>
                        <a:rPr lang="en-US" sz="1600" b="1">
                          <a:effectLst/>
                          <a:latin typeface="Funnel Sans"/>
                        </a:rPr>
                        <a:t>Rough estimate TAM: </a:t>
                      </a: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4ECE9"/>
                    </a:solidFill>
                  </a:tcPr>
                </a:tc>
                <a:tc>
                  <a:txBody>
                    <a:bodyPr/>
                    <a:lstStyle/>
                    <a:p>
                      <a:pPr lvl="0" algn="ctr">
                        <a:lnSpc>
                          <a:spcPts val="1950"/>
                        </a:lnSpc>
                        <a:buNone/>
                      </a:pPr>
                      <a:r>
                        <a:rPr lang="en-US" sz="1600" b="1">
                          <a:effectLst/>
                          <a:latin typeface="Funnel Sans"/>
                        </a:rPr>
                        <a:t>12,500</a:t>
                      </a:r>
                      <a:endParaRPr lang="en-US"/>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4ECE9"/>
                    </a:solidFill>
                  </a:tcPr>
                </a:tc>
                <a:tc>
                  <a:txBody>
                    <a:bodyPr/>
                    <a:lstStyle/>
                    <a:p>
                      <a:pPr lvl="0" algn="ctr">
                        <a:lnSpc>
                          <a:spcPts val="1950"/>
                        </a:lnSpc>
                        <a:buNone/>
                      </a:pPr>
                      <a:r>
                        <a:rPr lang="en-US" sz="1600" b="1" dirty="0">
                          <a:effectLst/>
                          <a:latin typeface="Funnel Sans"/>
                        </a:rPr>
                        <a:t>7,300</a:t>
                      </a:r>
                      <a:endParaRPr lang="en-US" dirty="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4ECE9"/>
                    </a:solidFill>
                  </a:tcPr>
                </a:tc>
                <a:extLst>
                  <a:ext uri="{0D108BD9-81ED-4DB2-BD59-A6C34878D82A}">
                    <a16:rowId xmlns:a16="http://schemas.microsoft.com/office/drawing/2014/main" val="535520999"/>
                  </a:ext>
                </a:extLst>
              </a:tr>
            </a:tbl>
          </a:graphicData>
        </a:graphic>
      </p:graphicFrame>
      <p:sp>
        <p:nvSpPr>
          <p:cNvPr id="7" name="Rectangle: Rounded Corners 6">
            <a:extLst>
              <a:ext uri="{FF2B5EF4-FFF2-40B4-BE49-F238E27FC236}">
                <a16:creationId xmlns:a16="http://schemas.microsoft.com/office/drawing/2014/main" id="{2921C419-68F4-7F67-E08E-0333CF185F41}"/>
              </a:ext>
            </a:extLst>
          </p:cNvPr>
          <p:cNvSpPr/>
          <p:nvPr/>
        </p:nvSpPr>
        <p:spPr>
          <a:xfrm>
            <a:off x="8153912" y="2140986"/>
            <a:ext cx="2551159"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Late line mCRC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a:t>
            </a:r>
            <a:r>
              <a:rPr kumimoji="0" lang="en-US" sz="1600" b="0"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a:t>
            </a:r>
            <a:r>
              <a:rPr kumimoji="0" lang="en-US" sz="1600" b="0" i="0" u="none" strike="noStrike" kern="1200" cap="none" spc="0" normalizeH="0" baseline="0" noProof="0">
                <a:ln>
                  <a:noFill/>
                </a:ln>
                <a:solidFill>
                  <a:prstClr val="white"/>
                </a:solidFill>
                <a:effectLst/>
                <a:uLnTx/>
                <a:uFillTx/>
                <a:latin typeface="Funnel Sans"/>
                <a:ea typeface="+mn-ea"/>
                <a:cs typeface="+mn-cs"/>
              </a:rPr>
              <a:t>3L)</a:t>
            </a:r>
          </a:p>
        </p:txBody>
      </p:sp>
      <p:sp>
        <p:nvSpPr>
          <p:cNvPr id="3" name="Shape 1">
            <a:extLst>
              <a:ext uri="{FF2B5EF4-FFF2-40B4-BE49-F238E27FC236}">
                <a16:creationId xmlns:a16="http://schemas.microsoft.com/office/drawing/2014/main" id="{B9B1A314-ECC5-34C5-CEAD-D14DD4C637DF}"/>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 name="Rectangle: Rounded Corners 1">
            <a:extLst>
              <a:ext uri="{FF2B5EF4-FFF2-40B4-BE49-F238E27FC236}">
                <a16:creationId xmlns:a16="http://schemas.microsoft.com/office/drawing/2014/main" id="{6436D7F2-D297-DFD0-1C4F-0D4514889121}"/>
              </a:ext>
            </a:extLst>
          </p:cNvPr>
          <p:cNvSpPr/>
          <p:nvPr/>
        </p:nvSpPr>
        <p:spPr>
          <a:xfrm>
            <a:off x="4784899" y="2140986"/>
            <a:ext cx="2551159"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Stage II/III post-resection, MRD+ patients</a:t>
            </a:r>
          </a:p>
        </p:txBody>
      </p:sp>
    </p:spTree>
    <p:extLst>
      <p:ext uri="{BB962C8B-B14F-4D97-AF65-F5344CB8AC3E}">
        <p14:creationId xmlns:p14="http://schemas.microsoft.com/office/powerpoint/2010/main" val="1817007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37A94-1358-D1DD-043F-F0745E1ADA10}"/>
            </a:ext>
          </a:extLst>
        </p:cNvPr>
        <p:cNvGrpSpPr/>
        <p:nvPr/>
      </p:nvGrpSpPr>
      <p:grpSpPr>
        <a:xfrm>
          <a:off x="0" y="0"/>
          <a:ext cx="0" cy="0"/>
          <a:chOff x="0" y="0"/>
          <a:chExt cx="0" cy="0"/>
        </a:xfrm>
      </p:grpSpPr>
      <p:sp>
        <p:nvSpPr>
          <p:cNvPr id="32" name="Shape 0">
            <a:extLst>
              <a:ext uri="{FF2B5EF4-FFF2-40B4-BE49-F238E27FC236}">
                <a16:creationId xmlns:a16="http://schemas.microsoft.com/office/drawing/2014/main" id="{4D7DAC56-3BC9-ECC5-CF5E-49FADA0708C4}"/>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4" name="Image 3" descr="preencoded.png">
            <a:extLst>
              <a:ext uri="{FF2B5EF4-FFF2-40B4-BE49-F238E27FC236}">
                <a16:creationId xmlns:a16="http://schemas.microsoft.com/office/drawing/2014/main" id="{4D49272C-CFBD-2D7D-07F7-76D4D528157E}"/>
              </a:ext>
            </a:extLst>
          </p:cNvPr>
          <p:cNvPicPr>
            <a:picLocks noChangeAspect="1"/>
          </p:cNvPicPr>
          <p:nvPr/>
        </p:nvPicPr>
        <p:blipFill>
          <a:blip r:embed="rId2"/>
          <a:stretch>
            <a:fillRect/>
          </a:stretch>
        </p:blipFill>
        <p:spPr>
          <a:xfrm>
            <a:off x="323503" y="254000"/>
            <a:ext cx="156939" cy="191368"/>
          </a:xfrm>
          <a:prstGeom prst="rect">
            <a:avLst/>
          </a:prstGeom>
        </p:spPr>
      </p:pic>
      <p:pic>
        <p:nvPicPr>
          <p:cNvPr id="35" name="Image 4" descr="preencoded.png">
            <a:extLst>
              <a:ext uri="{FF2B5EF4-FFF2-40B4-BE49-F238E27FC236}">
                <a16:creationId xmlns:a16="http://schemas.microsoft.com/office/drawing/2014/main" id="{F4BDAFAB-D76F-9505-90E4-533FF5F7A808}"/>
              </a:ext>
            </a:extLst>
          </p:cNvPr>
          <p:cNvPicPr>
            <a:picLocks noChangeAspect="1"/>
          </p:cNvPicPr>
          <p:nvPr/>
        </p:nvPicPr>
        <p:blipFill>
          <a:blip r:embed="rId3"/>
          <a:stretch>
            <a:fillRect/>
          </a:stretch>
        </p:blipFill>
        <p:spPr>
          <a:xfrm>
            <a:off x="387028" y="459541"/>
            <a:ext cx="968" cy="4"/>
          </a:xfrm>
          <a:prstGeom prst="rect">
            <a:avLst/>
          </a:prstGeom>
        </p:spPr>
      </p:pic>
      <p:pic>
        <p:nvPicPr>
          <p:cNvPr id="36" name="Image 5" descr="preencoded.png">
            <a:extLst>
              <a:ext uri="{FF2B5EF4-FFF2-40B4-BE49-F238E27FC236}">
                <a16:creationId xmlns:a16="http://schemas.microsoft.com/office/drawing/2014/main" id="{E374BAA2-71B2-110A-D4E2-68F3E6FA3AD9}"/>
              </a:ext>
            </a:extLst>
          </p:cNvPr>
          <p:cNvPicPr>
            <a:picLocks noChangeAspect="1"/>
          </p:cNvPicPr>
          <p:nvPr/>
        </p:nvPicPr>
        <p:blipFill>
          <a:blip r:embed="rId3"/>
          <a:stretch>
            <a:fillRect/>
          </a:stretch>
        </p:blipFill>
        <p:spPr>
          <a:xfrm>
            <a:off x="386756" y="459546"/>
            <a:ext cx="297" cy="4"/>
          </a:xfrm>
          <a:prstGeom prst="rect">
            <a:avLst/>
          </a:prstGeom>
        </p:spPr>
      </p:pic>
      <p:pic>
        <p:nvPicPr>
          <p:cNvPr id="37" name="Image 6" descr="preencoded.png">
            <a:extLst>
              <a:ext uri="{FF2B5EF4-FFF2-40B4-BE49-F238E27FC236}">
                <a16:creationId xmlns:a16="http://schemas.microsoft.com/office/drawing/2014/main" id="{2888264A-A25C-5D9B-4653-C8EBC192DD49}"/>
              </a:ext>
            </a:extLst>
          </p:cNvPr>
          <p:cNvPicPr>
            <a:picLocks noChangeAspect="1"/>
          </p:cNvPicPr>
          <p:nvPr/>
        </p:nvPicPr>
        <p:blipFill>
          <a:blip r:embed="rId3"/>
          <a:stretch>
            <a:fillRect/>
          </a:stretch>
        </p:blipFill>
        <p:spPr>
          <a:xfrm>
            <a:off x="389261" y="473634"/>
            <a:ext cx="471" cy="4"/>
          </a:xfrm>
          <a:prstGeom prst="rect">
            <a:avLst/>
          </a:prstGeom>
        </p:spPr>
      </p:pic>
      <p:pic>
        <p:nvPicPr>
          <p:cNvPr id="38" name="Image 7" descr="preencoded.png">
            <a:extLst>
              <a:ext uri="{FF2B5EF4-FFF2-40B4-BE49-F238E27FC236}">
                <a16:creationId xmlns:a16="http://schemas.microsoft.com/office/drawing/2014/main" id="{ABCF7210-899C-1FB2-102B-89EF8876849C}"/>
              </a:ext>
            </a:extLst>
          </p:cNvPr>
          <p:cNvPicPr>
            <a:picLocks noChangeAspect="1"/>
          </p:cNvPicPr>
          <p:nvPr/>
        </p:nvPicPr>
        <p:blipFill>
          <a:blip r:embed="rId4"/>
          <a:stretch>
            <a:fillRect/>
          </a:stretch>
        </p:blipFill>
        <p:spPr>
          <a:xfrm>
            <a:off x="600300" y="305277"/>
            <a:ext cx="137641" cy="202443"/>
          </a:xfrm>
          <a:prstGeom prst="rect">
            <a:avLst/>
          </a:prstGeom>
        </p:spPr>
      </p:pic>
      <p:pic>
        <p:nvPicPr>
          <p:cNvPr id="39" name="Image 8" descr="preencoded.png">
            <a:extLst>
              <a:ext uri="{FF2B5EF4-FFF2-40B4-BE49-F238E27FC236}">
                <a16:creationId xmlns:a16="http://schemas.microsoft.com/office/drawing/2014/main" id="{7D1FF4DA-BCDB-5B53-6153-7A957BFA2396}"/>
              </a:ext>
            </a:extLst>
          </p:cNvPr>
          <p:cNvPicPr>
            <a:picLocks noChangeAspect="1"/>
          </p:cNvPicPr>
          <p:nvPr/>
        </p:nvPicPr>
        <p:blipFill>
          <a:blip r:embed="rId5"/>
          <a:stretch>
            <a:fillRect/>
          </a:stretch>
        </p:blipFill>
        <p:spPr>
          <a:xfrm>
            <a:off x="743372" y="360473"/>
            <a:ext cx="126579" cy="147243"/>
          </a:xfrm>
          <a:prstGeom prst="rect">
            <a:avLst/>
          </a:prstGeom>
        </p:spPr>
      </p:pic>
      <p:pic>
        <p:nvPicPr>
          <p:cNvPr id="40" name="Image 9" descr="preencoded.png">
            <a:extLst>
              <a:ext uri="{FF2B5EF4-FFF2-40B4-BE49-F238E27FC236}">
                <a16:creationId xmlns:a16="http://schemas.microsoft.com/office/drawing/2014/main" id="{62088191-C811-89DA-4E77-5A6A62B05272}"/>
              </a:ext>
            </a:extLst>
          </p:cNvPr>
          <p:cNvPicPr>
            <a:picLocks noChangeAspect="1"/>
          </p:cNvPicPr>
          <p:nvPr/>
        </p:nvPicPr>
        <p:blipFill>
          <a:blip r:embed="rId6"/>
          <a:stretch>
            <a:fillRect/>
          </a:stretch>
        </p:blipFill>
        <p:spPr>
          <a:xfrm>
            <a:off x="872928" y="360456"/>
            <a:ext cx="131737" cy="198345"/>
          </a:xfrm>
          <a:prstGeom prst="rect">
            <a:avLst/>
          </a:prstGeom>
        </p:spPr>
      </p:pic>
      <p:pic>
        <p:nvPicPr>
          <p:cNvPr id="41" name="Image 10" descr="preencoded.png">
            <a:extLst>
              <a:ext uri="{FF2B5EF4-FFF2-40B4-BE49-F238E27FC236}">
                <a16:creationId xmlns:a16="http://schemas.microsoft.com/office/drawing/2014/main" id="{77559785-26AB-4B8F-6D3B-0C2BEE50CFD4}"/>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42" name="Image 11" descr="preencoded.png">
            <a:extLst>
              <a:ext uri="{FF2B5EF4-FFF2-40B4-BE49-F238E27FC236}">
                <a16:creationId xmlns:a16="http://schemas.microsoft.com/office/drawing/2014/main" id="{8EFC5BE0-A644-8E58-FF27-C33C12435E49}"/>
              </a:ext>
            </a:extLst>
          </p:cNvPr>
          <p:cNvPicPr>
            <a:picLocks noChangeAspect="1"/>
          </p:cNvPicPr>
          <p:nvPr/>
        </p:nvPicPr>
        <p:blipFill>
          <a:blip r:embed="rId8"/>
          <a:stretch>
            <a:fillRect/>
          </a:stretch>
        </p:blipFill>
        <p:spPr>
          <a:xfrm>
            <a:off x="375419" y="376364"/>
            <a:ext cx="174501" cy="157568"/>
          </a:xfrm>
          <a:prstGeom prst="rect">
            <a:avLst/>
          </a:prstGeom>
        </p:spPr>
      </p:pic>
      <p:pic>
        <p:nvPicPr>
          <p:cNvPr id="43" name="Image 12" descr="preencoded.png">
            <a:extLst>
              <a:ext uri="{FF2B5EF4-FFF2-40B4-BE49-F238E27FC236}">
                <a16:creationId xmlns:a16="http://schemas.microsoft.com/office/drawing/2014/main" id="{41779C78-0FB9-62B7-8DFA-E629EA265A72}"/>
              </a:ext>
            </a:extLst>
          </p:cNvPr>
          <p:cNvPicPr>
            <a:picLocks noChangeAspect="1"/>
          </p:cNvPicPr>
          <p:nvPr/>
        </p:nvPicPr>
        <p:blipFill>
          <a:blip r:embed="rId9"/>
          <a:stretch>
            <a:fillRect/>
          </a:stretch>
        </p:blipFill>
        <p:spPr>
          <a:xfrm>
            <a:off x="254000" y="376361"/>
            <a:ext cx="174501" cy="157575"/>
          </a:xfrm>
          <a:prstGeom prst="rect">
            <a:avLst/>
          </a:prstGeom>
        </p:spPr>
      </p:pic>
      <p:sp>
        <p:nvSpPr>
          <p:cNvPr id="44" name="Text 28">
            <a:extLst>
              <a:ext uri="{FF2B5EF4-FFF2-40B4-BE49-F238E27FC236}">
                <a16:creationId xmlns:a16="http://schemas.microsoft.com/office/drawing/2014/main" id="{194594D2-BF98-CA0C-BBCB-BC8A09482356}"/>
              </a:ext>
            </a:extLst>
          </p:cNvPr>
          <p:cNvSpPr/>
          <p:nvPr/>
        </p:nvSpPr>
        <p:spPr>
          <a:xfrm>
            <a:off x="254000" y="444561"/>
            <a:ext cx="11684000" cy="1105727"/>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Example Target Product Profile for GCC-RLT in MRD+, post-resection CRC</a:t>
            </a:r>
          </a:p>
        </p:txBody>
      </p:sp>
      <p:sp>
        <p:nvSpPr>
          <p:cNvPr id="51" name="Rectangle: Rounded Corners 50">
            <a:extLst>
              <a:ext uri="{FF2B5EF4-FFF2-40B4-BE49-F238E27FC236}">
                <a16:creationId xmlns:a16="http://schemas.microsoft.com/office/drawing/2014/main" id="{000F972D-7B6D-ED5A-5E96-D566A43CEF56}"/>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Landscape</a:t>
            </a:r>
          </a:p>
        </p:txBody>
      </p:sp>
      <p:sp>
        <p:nvSpPr>
          <p:cNvPr id="11" name="TextBox 10">
            <a:extLst>
              <a:ext uri="{FF2B5EF4-FFF2-40B4-BE49-F238E27FC236}">
                <a16:creationId xmlns:a16="http://schemas.microsoft.com/office/drawing/2014/main" id="{9E24DB49-C49A-3DD9-D0A6-EEE240F83F9B}"/>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graphicFrame>
        <p:nvGraphicFramePr>
          <p:cNvPr id="16" name="Table 15">
            <a:extLst>
              <a:ext uri="{FF2B5EF4-FFF2-40B4-BE49-F238E27FC236}">
                <a16:creationId xmlns:a16="http://schemas.microsoft.com/office/drawing/2014/main" id="{24E4F316-ABC1-C788-E09B-B360FEE25BAA}"/>
              </a:ext>
            </a:extLst>
          </p:cNvPr>
          <p:cNvGraphicFramePr>
            <a:graphicFrameLocks noGrp="1"/>
          </p:cNvGraphicFramePr>
          <p:nvPr/>
        </p:nvGraphicFramePr>
        <p:xfrm>
          <a:off x="386755" y="1550290"/>
          <a:ext cx="11340519" cy="4842408"/>
        </p:xfrm>
        <a:graphic>
          <a:graphicData uri="http://schemas.openxmlformats.org/drawingml/2006/table">
            <a:tbl>
              <a:tblPr bandRow="1">
                <a:tableStyleId>{5C22544A-7EE6-4342-B048-85BDC9FD1C3A}</a:tableStyleId>
              </a:tblPr>
              <a:tblGrid>
                <a:gridCol w="2513761">
                  <a:extLst>
                    <a:ext uri="{9D8B030D-6E8A-4147-A177-3AD203B41FA5}">
                      <a16:colId xmlns:a16="http://schemas.microsoft.com/office/drawing/2014/main" val="635467938"/>
                    </a:ext>
                  </a:extLst>
                </a:gridCol>
                <a:gridCol w="2497394">
                  <a:extLst>
                    <a:ext uri="{9D8B030D-6E8A-4147-A177-3AD203B41FA5}">
                      <a16:colId xmlns:a16="http://schemas.microsoft.com/office/drawing/2014/main" val="3845916860"/>
                    </a:ext>
                  </a:extLst>
                </a:gridCol>
                <a:gridCol w="3116825">
                  <a:extLst>
                    <a:ext uri="{9D8B030D-6E8A-4147-A177-3AD203B41FA5}">
                      <a16:colId xmlns:a16="http://schemas.microsoft.com/office/drawing/2014/main" val="159078053"/>
                    </a:ext>
                  </a:extLst>
                </a:gridCol>
                <a:gridCol w="3212539">
                  <a:extLst>
                    <a:ext uri="{9D8B030D-6E8A-4147-A177-3AD203B41FA5}">
                      <a16:colId xmlns:a16="http://schemas.microsoft.com/office/drawing/2014/main" val="2644021605"/>
                    </a:ext>
                  </a:extLst>
                </a:gridCol>
              </a:tblGrid>
              <a:tr h="365653">
                <a:tc>
                  <a:txBody>
                    <a:bodyPr/>
                    <a:lstStyle/>
                    <a:p>
                      <a:pPr algn="l" fontAlgn="base">
                        <a:lnSpc>
                          <a:spcPct val="100000"/>
                        </a:lnSpc>
                        <a:buNone/>
                      </a:pPr>
                      <a:r>
                        <a:rPr lang="en-US" sz="1200" b="1">
                          <a:effectLst/>
                          <a:latin typeface="+mn-lt"/>
                        </a:rPr>
                        <a:t>Mechanism / Mode of Action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a:buNone/>
                      </a:pPr>
                      <a:r>
                        <a:rPr lang="en-US" sz="1200"/>
                        <a:t>GCC-targeted peptide ligand conjugated to chelated </a:t>
                      </a:r>
                      <a:r>
                        <a:rPr lang="en-US" sz="1200" baseline="30000"/>
                        <a:t>225</a:t>
                      </a:r>
                      <a:r>
                        <a:rPr lang="en-US" sz="1200"/>
                        <a:t>Ac, delivering targeted alpha radiation to eradicate microscopic residual disease.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a:p>
                  </a:txBody>
                  <a:tcP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tc hMerge="1">
                  <a:txBody>
                    <a:bodyPr/>
                    <a:lstStyle/>
                    <a:p>
                      <a:endParaRPr/>
                    </a:p>
                  </a:txBody>
                  <a:tcP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extLst>
                  <a:ext uri="{0D108BD9-81ED-4DB2-BD59-A6C34878D82A}">
                    <a16:rowId xmlns:a16="http://schemas.microsoft.com/office/drawing/2014/main" val="1734815720"/>
                  </a:ext>
                </a:extLst>
              </a:tr>
              <a:tr h="354543">
                <a:tc>
                  <a:txBody>
                    <a:bodyPr/>
                    <a:lstStyle/>
                    <a:p>
                      <a:pPr algn="l" fontAlgn="base">
                        <a:lnSpc>
                          <a:spcPct val="100000"/>
                        </a:lnSpc>
                        <a:buNone/>
                      </a:pPr>
                      <a:r>
                        <a:rPr lang="en-US" sz="1200" b="1">
                          <a:effectLst/>
                          <a:latin typeface="+mn-lt"/>
                        </a:rPr>
                        <a:t>Clinical Trial Design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baseline="0">
                          <a:latin typeface="+mn-lt"/>
                        </a:rPr>
                        <a:t>Randomized Phase III. GCC-RLT vs. standard adjuvant chemotherapy (CAPOX/FOLFOX) with curative intent. </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5960074"/>
                  </a:ext>
                </a:extLst>
              </a:tr>
              <a:tr h="365653">
                <a:tc>
                  <a:txBody>
                    <a:bodyPr/>
                    <a:lstStyle/>
                    <a:p>
                      <a:pPr algn="l" fontAlgn="base">
                        <a:lnSpc>
                          <a:spcPct val="100000"/>
                        </a:lnSpc>
                        <a:buNone/>
                      </a:pPr>
                      <a:r>
                        <a:rPr lang="en-US" sz="1200" b="1">
                          <a:effectLst/>
                          <a:latin typeface="+mn-lt"/>
                        </a:rPr>
                        <a:t>Indication / Target Patients</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baseline="0">
                          <a:latin typeface="+mn-lt"/>
                        </a:rPr>
                        <a:t>Post-resection Stage II (high risk) </a:t>
                      </a:r>
                      <a:r>
                        <a:rPr lang="en-US" sz="1200" baseline="0">
                          <a:solidFill>
                            <a:schemeClr val="tx1"/>
                          </a:solidFill>
                          <a:latin typeface="+mn-lt"/>
                        </a:rPr>
                        <a:t>or Stage III CRC patients who are MRD+ (ctDNA+) as measured 4-8 weeks post-op and prior to receiving adjuvant chemotherapy. </a:t>
                      </a:r>
                      <a:endParaRPr lang="en-US" sz="1200">
                        <a:solidFill>
                          <a:schemeClr val="tx1"/>
                        </a:solidFill>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8005740"/>
                  </a:ext>
                </a:extLst>
              </a:tr>
              <a:tr h="365653">
                <a:tc>
                  <a:txBody>
                    <a:bodyPr/>
                    <a:lstStyle/>
                    <a:p>
                      <a:pPr algn="l" fontAlgn="base">
                        <a:lnSpc>
                          <a:spcPct val="100000"/>
                        </a:lnSpc>
                        <a:buNone/>
                      </a:pPr>
                      <a:r>
                        <a:rPr lang="en-US" sz="1200" b="1">
                          <a:effectLst/>
                          <a:latin typeface="+mn-lt"/>
                        </a:rPr>
                        <a:t>Dosing Regimen &amp; Administration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Intravenous infusion of GCC-RLT for 4 doses, 4 weeks apart, and 2 doses every six months following the initial cycle until progression</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0418151"/>
                  </a:ext>
                </a:extLst>
              </a:tr>
              <a:tr h="365653">
                <a:tc>
                  <a:txBody>
                    <a:bodyPr/>
                    <a:lstStyle/>
                    <a:p>
                      <a:pPr algn="l" fontAlgn="base">
                        <a:lnSpc>
                          <a:spcPct val="100000"/>
                        </a:lnSpc>
                        <a:buNone/>
                      </a:pPr>
                      <a:r>
                        <a:rPr lang="en-US" sz="1200" b="1">
                          <a:effectLst/>
                          <a:latin typeface="+mn-lt"/>
                        </a:rPr>
                        <a:t>Clinical Endpoints</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Primary Endpoints: Disease Free Survival (DFS) at 18 or 24 months</a:t>
                      </a:r>
                    </a:p>
                    <a:p>
                      <a:pPr marL="0" lvl="0" indent="0" algn="l">
                        <a:lnSpc>
                          <a:spcPct val="100000"/>
                        </a:lnSpc>
                        <a:buFont typeface="Arial" panose="020B0604020202020204" pitchFamily="34" charset="0"/>
                        <a:buNone/>
                      </a:pPr>
                      <a:r>
                        <a:rPr lang="en-US" sz="1200">
                          <a:latin typeface="+mn-lt"/>
                        </a:rPr>
                        <a:t>Secondary &amp; Exploratory Endpoints: </a:t>
                      </a:r>
                      <a:r>
                        <a:rPr lang="en-US" sz="1200" err="1">
                          <a:latin typeface="+mn-lt"/>
                        </a:rPr>
                        <a:t>mDFS</a:t>
                      </a:r>
                      <a:r>
                        <a:rPr lang="en-US" sz="1200">
                          <a:latin typeface="+mn-lt"/>
                        </a:rPr>
                        <a:t>, ctDNA clearance, durability of ctDNA response, overall survival, etc. </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9416583"/>
                  </a:ext>
                </a:extLst>
              </a:tr>
              <a:tr h="219392">
                <a:tc rowSpan="6">
                  <a:txBody>
                    <a:bodyPr/>
                    <a:lstStyle/>
                    <a:p>
                      <a:pPr algn="l" fontAlgn="base">
                        <a:lnSpc>
                          <a:spcPct val="100000"/>
                        </a:lnSpc>
                        <a:buNone/>
                      </a:pPr>
                      <a:r>
                        <a:rPr lang="en-US" sz="1200" b="1">
                          <a:effectLst/>
                          <a:latin typeface="+mn-lt"/>
                        </a:rPr>
                        <a:t>Efficacy</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lvl="0" algn="ctr">
                        <a:lnSpc>
                          <a:spcPct val="100000"/>
                        </a:lnSpc>
                        <a:buNone/>
                      </a:pP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1" baseline="0">
                          <a:effectLst/>
                          <a:latin typeface="+mn-lt"/>
                        </a:rPr>
                        <a:t>GCC-RLT</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1">
                          <a:effectLst/>
                          <a:latin typeface="+mn-lt"/>
                          <a:hlinkClick r:id="rId10"/>
                        </a:rPr>
                        <a:t>Adjuvant Chemo  (CAPOX/FOLFOX)</a:t>
                      </a:r>
                      <a:endParaRPr lang="en-US" sz="1200" b="1">
                        <a:effectLst/>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044083919"/>
                  </a:ext>
                </a:extLst>
              </a:tr>
              <a:tr h="365653">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Dosing Schedule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See above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3-6 </a:t>
                      </a:r>
                      <a:r>
                        <a:rPr lang="en-US" sz="1200" err="1">
                          <a:effectLst/>
                          <a:latin typeface="+mn-lt"/>
                        </a:rPr>
                        <a:t>mo</a:t>
                      </a:r>
                      <a:r>
                        <a:rPr lang="en-US" sz="1200">
                          <a:effectLst/>
                          <a:latin typeface="+mn-lt"/>
                        </a:rPr>
                        <a:t> of standard regimen</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6053593"/>
                  </a:ext>
                </a:extLst>
              </a:tr>
              <a:tr h="219392">
                <a:tc vMerge="1">
                  <a:txBody>
                    <a:bodyPr/>
                    <a:lstStyle/>
                    <a:p>
                      <a:endParaRPr lang="en-US"/>
                    </a:p>
                  </a:txBody>
                  <a:tcPr/>
                </a:tc>
                <a:tc>
                  <a:txBody>
                    <a:bodyPr/>
                    <a:lstStyle/>
                    <a:p>
                      <a:pPr lvl="0" algn="ctr">
                        <a:lnSpc>
                          <a:spcPct val="100000"/>
                        </a:lnSpc>
                        <a:buNone/>
                      </a:pPr>
                      <a:r>
                        <a:rPr lang="en-US" sz="1200">
                          <a:latin typeface="+mn-lt"/>
                        </a:rPr>
                        <a:t>DFS (18 </a:t>
                      </a:r>
                      <a:r>
                        <a:rPr lang="en-US" sz="1200" err="1">
                          <a:latin typeface="+mn-lt"/>
                        </a:rPr>
                        <a:t>mo</a:t>
                      </a:r>
                      <a:r>
                        <a:rPr lang="en-US" sz="1200">
                          <a:latin typeface="+mn-lt"/>
                        </a:rPr>
                        <a:t>)</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&gt;80%</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62%</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3260562"/>
                  </a:ext>
                </a:extLst>
              </a:tr>
              <a:tr h="219392">
                <a:tc vMerge="1">
                  <a:txBody>
                    <a:bodyPr/>
                    <a:lstStyle/>
                    <a:p>
                      <a:endParaRPr lang="en-US"/>
                    </a:p>
                  </a:txBody>
                  <a:tcPr/>
                </a:tc>
                <a:tc>
                  <a:txBody>
                    <a:bodyPr/>
                    <a:lstStyle/>
                    <a:p>
                      <a:pPr lvl="0" algn="ctr">
                        <a:lnSpc>
                          <a:spcPct val="100000"/>
                        </a:lnSpc>
                        <a:buNone/>
                      </a:pPr>
                      <a:r>
                        <a:rPr lang="en-US" sz="1200" err="1">
                          <a:latin typeface="+mn-lt"/>
                        </a:rPr>
                        <a:t>mDFS</a:t>
                      </a: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&gt;18 </a:t>
                      </a:r>
                      <a:r>
                        <a:rPr lang="en-US" sz="1200" baseline="0" err="1">
                          <a:effectLst/>
                          <a:latin typeface="+mn-lt"/>
                        </a:rPr>
                        <a:t>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12 </a:t>
                      </a:r>
                      <a:r>
                        <a:rPr lang="en-US" sz="1200" err="1">
                          <a:effectLst/>
                          <a:latin typeface="+mn-lt"/>
                        </a:rPr>
                        <a:t>mo</a:t>
                      </a:r>
                      <a:endParaRPr lang="en-US" sz="1200">
                        <a:effectLst/>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0510602"/>
                  </a:ext>
                </a:extLst>
              </a:tr>
              <a:tr h="219392">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ctDNA clearance (&gt;18 </a:t>
                      </a:r>
                      <a:r>
                        <a:rPr lang="en-US" sz="1200" err="1">
                          <a:latin typeface="+mn-lt"/>
                        </a:rPr>
                        <a:t>mo</a:t>
                      </a:r>
                      <a:r>
                        <a:rPr lang="en-US" sz="1200">
                          <a:latin typeface="+mn-lt"/>
                        </a:rPr>
                        <a:t>)</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&gt;60%</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37% (“sustained clearance”)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455538"/>
                  </a:ext>
                </a:extLst>
              </a:tr>
              <a:tr h="219392">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latin typeface="+mn-lt"/>
                        </a:rPr>
                        <a:t>ctDNA clearance (6 </a:t>
                      </a:r>
                      <a:r>
                        <a:rPr lang="en-US" sz="1200" err="1">
                          <a:latin typeface="+mn-lt"/>
                        </a:rPr>
                        <a:t>mo</a:t>
                      </a:r>
                      <a:r>
                        <a:rPr lang="en-US" sz="1200">
                          <a:latin typeface="+mn-lt"/>
                        </a:rPr>
                        <a:t>) </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latin typeface="+mn-lt"/>
                        </a:rPr>
                        <a:t>&gt;75%</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68%</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108569"/>
                  </a:ext>
                </a:extLst>
              </a:tr>
              <a:tr h="921812">
                <a:tc>
                  <a:txBody>
                    <a:bodyPr/>
                    <a:lstStyle/>
                    <a:p>
                      <a:pPr algn="l" fontAlgn="base">
                        <a:lnSpc>
                          <a:spcPct val="100000"/>
                        </a:lnSpc>
                        <a:buNone/>
                      </a:pPr>
                      <a:r>
                        <a:rPr lang="en-US" sz="1200" b="1">
                          <a:effectLst/>
                          <a:latin typeface="+mn-lt"/>
                        </a:rPr>
                        <a:t>Safety / Tolerability</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0" lvl="0" indent="0" algn="ctr">
                        <a:lnSpc>
                          <a:spcPct val="100000"/>
                        </a:lnSpc>
                        <a:buNone/>
                      </a:pPr>
                      <a:r>
                        <a:rPr lang="en-US" sz="1200" b="0" i="0" u="none" strike="noStrike" baseline="0" noProof="0">
                          <a:solidFill>
                            <a:srgbClr val="000000"/>
                          </a:solidFill>
                          <a:latin typeface="Funnel Sans"/>
                        </a:rPr>
                        <a:t>Grade ≥3 TEAEs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baseline="0" noProof="0">
                          <a:solidFill>
                            <a:srgbClr val="000000"/>
                          </a:solidFill>
                          <a:latin typeface="Funnel Sans"/>
                        </a:rPr>
                        <a:t>Neuropathy risk </a:t>
                      </a:r>
                      <a:endParaRPr lang="en-US" sz="1200" b="0" i="0" u="none" strike="noStrike" baseline="0" noProof="0">
                        <a:solidFill>
                          <a:srgbClr val="000000"/>
                        </a:solidFill>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&lt;30%</a:t>
                      </a:r>
                    </a:p>
                    <a:p>
                      <a:pPr lvl="0" algn="ctr">
                        <a:lnSpc>
                          <a:spcPct val="100000"/>
                        </a:lnSpc>
                        <a:buNone/>
                      </a:pPr>
                      <a:r>
                        <a:rPr lang="en-US" sz="1200" baseline="0">
                          <a:effectLst/>
                          <a:latin typeface="+mn-lt"/>
                        </a:rPr>
                        <a:t>Minimal/none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50-60%</a:t>
                      </a:r>
                    </a:p>
                    <a:p>
                      <a:pPr lvl="0" algn="ctr">
                        <a:lnSpc>
                          <a:spcPct val="100000"/>
                        </a:lnSpc>
                        <a:buNone/>
                      </a:pPr>
                      <a:r>
                        <a:rPr lang="en-US" sz="1200">
                          <a:effectLst/>
                          <a:latin typeface="+mn-lt"/>
                        </a:rPr>
                        <a:t>17-48%</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3364161"/>
                  </a:ext>
                </a:extLst>
              </a:tr>
            </a:tbl>
          </a:graphicData>
        </a:graphic>
      </p:graphicFrame>
      <p:sp>
        <p:nvSpPr>
          <p:cNvPr id="3" name="Shape 1">
            <a:extLst>
              <a:ext uri="{FF2B5EF4-FFF2-40B4-BE49-F238E27FC236}">
                <a16:creationId xmlns:a16="http://schemas.microsoft.com/office/drawing/2014/main" id="{AD804EB2-A6BC-85F2-57B3-5C0FF77CC044}"/>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 name="TextBox 1">
            <a:extLst>
              <a:ext uri="{FF2B5EF4-FFF2-40B4-BE49-F238E27FC236}">
                <a16:creationId xmlns:a16="http://schemas.microsoft.com/office/drawing/2014/main" id="{19EEF130-07E2-5249-032C-863366B07C2B}"/>
              </a:ext>
            </a:extLst>
          </p:cNvPr>
          <p:cNvSpPr txBox="1"/>
          <p:nvPr/>
        </p:nvSpPr>
        <p:spPr>
          <a:xfrm>
            <a:off x="0" y="6581001"/>
            <a:ext cx="10536005" cy="553998"/>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Funnel Sans"/>
                <a:ea typeface="+mn-ea"/>
                <a:cs typeface="+mn-cs"/>
                <a:hlinkClick r:id="rId11">
                  <a:extLst>
                    <a:ext uri="{A12FA001-AC4F-418D-AE19-62706E023703}">
                      <ahyp:hlinkClr xmlns:ahyp="http://schemas.microsoft.com/office/drawing/2018/hyperlinkcolor" val="tx"/>
                    </a:ext>
                  </a:extLst>
                </a:hlinkClick>
              </a:rPr>
              <a:t>Sources:</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12"/>
              </a:rPr>
              <a:t>Nakamura Nature Med 2024</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13"/>
              </a:rPr>
              <a:t>Kotani Nature Med 2023</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err="1">
                <a:ln>
                  <a:noFill/>
                </a:ln>
                <a:solidFill>
                  <a:prstClr val="black"/>
                </a:solidFill>
                <a:effectLst/>
                <a:uLnTx/>
                <a:uFillTx/>
                <a:latin typeface="Funnel Sans"/>
                <a:ea typeface="+mn-lt"/>
                <a:cs typeface="+mn-lt"/>
                <a:hlinkClick r:id="rId14"/>
              </a:rPr>
              <a:t>Grothey</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14"/>
              </a:rPr>
              <a:t> NEJM 2018</a:t>
            </a:r>
            <a:endParaRPr kumimoji="0" lang="en-GB" sz="10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0000"/>
              </a:solidFill>
              <a:effectLst/>
              <a:uLnTx/>
              <a:uFillTx/>
              <a:latin typeface="Funnel Sans"/>
              <a:ea typeface="+mn-ea"/>
              <a:cs typeface="+mn-cs"/>
            </a:endParaRPr>
          </a:p>
        </p:txBody>
      </p:sp>
    </p:spTree>
    <p:extLst>
      <p:ext uri="{BB962C8B-B14F-4D97-AF65-F5344CB8AC3E}">
        <p14:creationId xmlns:p14="http://schemas.microsoft.com/office/powerpoint/2010/main" val="2874473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5CBA6-D0F4-9614-712D-EA5181C4100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704254A-357D-4FC6-34A6-19D8E5566191}"/>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 name="Shape 19">
            <a:extLst>
              <a:ext uri="{FF2B5EF4-FFF2-40B4-BE49-F238E27FC236}">
                <a16:creationId xmlns:a16="http://schemas.microsoft.com/office/drawing/2014/main" id="{872844FA-7C34-9C45-3D1C-C7CA63359202}"/>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4" name="Image 3" descr="preencoded.png">
            <a:extLst>
              <a:ext uri="{FF2B5EF4-FFF2-40B4-BE49-F238E27FC236}">
                <a16:creationId xmlns:a16="http://schemas.microsoft.com/office/drawing/2014/main" id="{2C1AF53F-A390-B80C-5D5B-43690892F407}"/>
              </a:ext>
            </a:extLst>
          </p:cNvPr>
          <p:cNvPicPr>
            <a:picLocks noChangeAspect="1"/>
          </p:cNvPicPr>
          <p:nvPr/>
        </p:nvPicPr>
        <p:blipFill>
          <a:blip r:embed="rId2"/>
          <a:stretch>
            <a:fillRect/>
          </a:stretch>
        </p:blipFill>
        <p:spPr>
          <a:xfrm>
            <a:off x="323503" y="254000"/>
            <a:ext cx="156939" cy="191368"/>
          </a:xfrm>
          <a:prstGeom prst="rect">
            <a:avLst/>
          </a:prstGeom>
        </p:spPr>
      </p:pic>
      <p:pic>
        <p:nvPicPr>
          <p:cNvPr id="5" name="Image 4" descr="preencoded.png">
            <a:extLst>
              <a:ext uri="{FF2B5EF4-FFF2-40B4-BE49-F238E27FC236}">
                <a16:creationId xmlns:a16="http://schemas.microsoft.com/office/drawing/2014/main" id="{7EA7F889-DDF8-AF13-CAAC-7EE8FB7F206F}"/>
              </a:ext>
            </a:extLst>
          </p:cNvPr>
          <p:cNvPicPr>
            <a:picLocks noChangeAspect="1"/>
          </p:cNvPicPr>
          <p:nvPr/>
        </p:nvPicPr>
        <p:blipFill>
          <a:blip r:embed="rId3"/>
          <a:stretch>
            <a:fillRect/>
          </a:stretch>
        </p:blipFill>
        <p:spPr>
          <a:xfrm>
            <a:off x="387028" y="459541"/>
            <a:ext cx="968" cy="4"/>
          </a:xfrm>
          <a:prstGeom prst="rect">
            <a:avLst/>
          </a:prstGeom>
        </p:spPr>
      </p:pic>
      <p:pic>
        <p:nvPicPr>
          <p:cNvPr id="6" name="Image 5" descr="preencoded.png">
            <a:extLst>
              <a:ext uri="{FF2B5EF4-FFF2-40B4-BE49-F238E27FC236}">
                <a16:creationId xmlns:a16="http://schemas.microsoft.com/office/drawing/2014/main" id="{451CF5F1-3A4C-336E-F99F-5CAED79ABDB7}"/>
              </a:ext>
            </a:extLst>
          </p:cNvPr>
          <p:cNvPicPr>
            <a:picLocks noChangeAspect="1"/>
          </p:cNvPicPr>
          <p:nvPr/>
        </p:nvPicPr>
        <p:blipFill>
          <a:blip r:embed="rId3"/>
          <a:stretch>
            <a:fillRect/>
          </a:stretch>
        </p:blipFill>
        <p:spPr>
          <a:xfrm>
            <a:off x="386756" y="459546"/>
            <a:ext cx="297" cy="4"/>
          </a:xfrm>
          <a:prstGeom prst="rect">
            <a:avLst/>
          </a:prstGeom>
        </p:spPr>
      </p:pic>
      <p:pic>
        <p:nvPicPr>
          <p:cNvPr id="7" name="Image 6" descr="preencoded.png">
            <a:extLst>
              <a:ext uri="{FF2B5EF4-FFF2-40B4-BE49-F238E27FC236}">
                <a16:creationId xmlns:a16="http://schemas.microsoft.com/office/drawing/2014/main" id="{27AC46AB-CD50-90F1-1DB9-61CAA64ACF89}"/>
              </a:ext>
            </a:extLst>
          </p:cNvPr>
          <p:cNvPicPr>
            <a:picLocks noChangeAspect="1"/>
          </p:cNvPicPr>
          <p:nvPr/>
        </p:nvPicPr>
        <p:blipFill>
          <a:blip r:embed="rId3"/>
          <a:stretch>
            <a:fillRect/>
          </a:stretch>
        </p:blipFill>
        <p:spPr>
          <a:xfrm>
            <a:off x="389261" y="473634"/>
            <a:ext cx="471" cy="4"/>
          </a:xfrm>
          <a:prstGeom prst="rect">
            <a:avLst/>
          </a:prstGeom>
        </p:spPr>
      </p:pic>
      <p:pic>
        <p:nvPicPr>
          <p:cNvPr id="8" name="Image 7" descr="preencoded.png">
            <a:extLst>
              <a:ext uri="{FF2B5EF4-FFF2-40B4-BE49-F238E27FC236}">
                <a16:creationId xmlns:a16="http://schemas.microsoft.com/office/drawing/2014/main" id="{E872481F-2F74-DA22-C525-69416FA5BC93}"/>
              </a:ext>
            </a:extLst>
          </p:cNvPr>
          <p:cNvPicPr>
            <a:picLocks noChangeAspect="1"/>
          </p:cNvPicPr>
          <p:nvPr/>
        </p:nvPicPr>
        <p:blipFill>
          <a:blip r:embed="rId4"/>
          <a:stretch>
            <a:fillRect/>
          </a:stretch>
        </p:blipFill>
        <p:spPr>
          <a:xfrm>
            <a:off x="600300" y="305277"/>
            <a:ext cx="137641" cy="202443"/>
          </a:xfrm>
          <a:prstGeom prst="rect">
            <a:avLst/>
          </a:prstGeom>
        </p:spPr>
      </p:pic>
      <p:pic>
        <p:nvPicPr>
          <p:cNvPr id="9" name="Image 8" descr="preencoded.png">
            <a:extLst>
              <a:ext uri="{FF2B5EF4-FFF2-40B4-BE49-F238E27FC236}">
                <a16:creationId xmlns:a16="http://schemas.microsoft.com/office/drawing/2014/main" id="{BF99BF5D-B6ED-4E0C-7135-2694139600EC}"/>
              </a:ext>
            </a:extLst>
          </p:cNvPr>
          <p:cNvPicPr>
            <a:picLocks noChangeAspect="1"/>
          </p:cNvPicPr>
          <p:nvPr/>
        </p:nvPicPr>
        <p:blipFill>
          <a:blip r:embed="rId5"/>
          <a:stretch>
            <a:fillRect/>
          </a:stretch>
        </p:blipFill>
        <p:spPr>
          <a:xfrm>
            <a:off x="743372" y="360473"/>
            <a:ext cx="126579" cy="147243"/>
          </a:xfrm>
          <a:prstGeom prst="rect">
            <a:avLst/>
          </a:prstGeom>
        </p:spPr>
      </p:pic>
      <p:pic>
        <p:nvPicPr>
          <p:cNvPr id="10" name="Image 9" descr="preencoded.png">
            <a:extLst>
              <a:ext uri="{FF2B5EF4-FFF2-40B4-BE49-F238E27FC236}">
                <a16:creationId xmlns:a16="http://schemas.microsoft.com/office/drawing/2014/main" id="{8F46F500-9FBD-3A1F-A430-26E7B9FFF1BF}"/>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1" name="Image 10" descr="preencoded.png">
            <a:extLst>
              <a:ext uri="{FF2B5EF4-FFF2-40B4-BE49-F238E27FC236}">
                <a16:creationId xmlns:a16="http://schemas.microsoft.com/office/drawing/2014/main" id="{AAE744ED-50AB-B8CE-F9E7-DD4D0DE09E95}"/>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2" name="Image 11" descr="preencoded.png">
            <a:extLst>
              <a:ext uri="{FF2B5EF4-FFF2-40B4-BE49-F238E27FC236}">
                <a16:creationId xmlns:a16="http://schemas.microsoft.com/office/drawing/2014/main" id="{2E391298-E79C-759D-AA6C-0F0C658E7ED9}"/>
              </a:ext>
            </a:extLst>
          </p:cNvPr>
          <p:cNvPicPr>
            <a:picLocks noChangeAspect="1"/>
          </p:cNvPicPr>
          <p:nvPr/>
        </p:nvPicPr>
        <p:blipFill>
          <a:blip r:embed="rId8"/>
          <a:stretch>
            <a:fillRect/>
          </a:stretch>
        </p:blipFill>
        <p:spPr>
          <a:xfrm>
            <a:off x="375419" y="376364"/>
            <a:ext cx="174501" cy="157568"/>
          </a:xfrm>
          <a:prstGeom prst="rect">
            <a:avLst/>
          </a:prstGeom>
        </p:spPr>
      </p:pic>
      <p:pic>
        <p:nvPicPr>
          <p:cNvPr id="13" name="Image 12" descr="preencoded.png">
            <a:extLst>
              <a:ext uri="{FF2B5EF4-FFF2-40B4-BE49-F238E27FC236}">
                <a16:creationId xmlns:a16="http://schemas.microsoft.com/office/drawing/2014/main" id="{98E2B7FC-EE10-F421-2712-730AF07AE976}"/>
              </a:ext>
            </a:extLst>
          </p:cNvPr>
          <p:cNvPicPr>
            <a:picLocks noChangeAspect="1"/>
          </p:cNvPicPr>
          <p:nvPr/>
        </p:nvPicPr>
        <p:blipFill>
          <a:blip r:embed="rId9"/>
          <a:stretch>
            <a:fillRect/>
          </a:stretch>
        </p:blipFill>
        <p:spPr>
          <a:xfrm>
            <a:off x="254000" y="376361"/>
            <a:ext cx="174501" cy="157575"/>
          </a:xfrm>
          <a:prstGeom prst="rect">
            <a:avLst/>
          </a:prstGeom>
        </p:spPr>
      </p:pic>
      <p:sp>
        <p:nvSpPr>
          <p:cNvPr id="14" name="Text 28">
            <a:extLst>
              <a:ext uri="{FF2B5EF4-FFF2-40B4-BE49-F238E27FC236}">
                <a16:creationId xmlns:a16="http://schemas.microsoft.com/office/drawing/2014/main" id="{E80AFEC5-FA27-37D4-FECB-9902714AEF32}"/>
              </a:ext>
            </a:extLst>
          </p:cNvPr>
          <p:cNvSpPr/>
          <p:nvPr/>
        </p:nvSpPr>
        <p:spPr>
          <a:xfrm>
            <a:off x="253999" y="624678"/>
            <a:ext cx="11718926"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Funnel Sans"/>
                <a:ea typeface="+mn-ea"/>
                <a:cs typeface="+mn-cs"/>
              </a:rPr>
              <a:t>Sego’s approach to GCC</a:t>
            </a:r>
            <a:endPar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endParaRPr>
          </a:p>
        </p:txBody>
      </p:sp>
      <p:sp>
        <p:nvSpPr>
          <p:cNvPr id="16" name="Shape 1">
            <a:extLst>
              <a:ext uri="{FF2B5EF4-FFF2-40B4-BE49-F238E27FC236}">
                <a16:creationId xmlns:a16="http://schemas.microsoft.com/office/drawing/2014/main" id="{F5BC18A1-941A-DD5B-124E-3850D384E6E0}"/>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7" name="TextBox 16">
            <a:extLst>
              <a:ext uri="{FF2B5EF4-FFF2-40B4-BE49-F238E27FC236}">
                <a16:creationId xmlns:a16="http://schemas.microsoft.com/office/drawing/2014/main" id="{03DB032E-59EA-7AB9-0A29-2808872CBB17}"/>
              </a:ext>
            </a:extLst>
          </p:cNvPr>
          <p:cNvSpPr txBox="1"/>
          <p:nvPr/>
        </p:nvSpPr>
        <p:spPr>
          <a:xfrm>
            <a:off x="11075917" y="6611779"/>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33" name="Rectangle: Rounded Corners 32">
            <a:extLst>
              <a:ext uri="{FF2B5EF4-FFF2-40B4-BE49-F238E27FC236}">
                <a16:creationId xmlns:a16="http://schemas.microsoft.com/office/drawing/2014/main" id="{474259DB-8B97-1E99-8036-19060A7A275B}"/>
              </a:ext>
            </a:extLst>
          </p:cNvPr>
          <p:cNvSpPr/>
          <p:nvPr/>
        </p:nvSpPr>
        <p:spPr>
          <a:xfrm>
            <a:off x="10880036" y="88490"/>
            <a:ext cx="1193978"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Opportunity</a:t>
            </a:r>
          </a:p>
        </p:txBody>
      </p:sp>
      <p:graphicFrame>
        <p:nvGraphicFramePr>
          <p:cNvPr id="15" name="Table 14">
            <a:extLst>
              <a:ext uri="{FF2B5EF4-FFF2-40B4-BE49-F238E27FC236}">
                <a16:creationId xmlns:a16="http://schemas.microsoft.com/office/drawing/2014/main" id="{4E87077A-B4A6-7AAD-806C-ABF2CF0C8F99}"/>
              </a:ext>
            </a:extLst>
          </p:cNvPr>
          <p:cNvGraphicFramePr>
            <a:graphicFrameLocks noGrp="1"/>
          </p:cNvGraphicFramePr>
          <p:nvPr/>
        </p:nvGraphicFramePr>
        <p:xfrm>
          <a:off x="549920" y="1586411"/>
          <a:ext cx="11177356" cy="4793121"/>
        </p:xfrm>
        <a:graphic>
          <a:graphicData uri="http://schemas.openxmlformats.org/drawingml/2006/table">
            <a:tbl>
              <a:tblPr/>
              <a:tblGrid>
                <a:gridCol w="1573848">
                  <a:extLst>
                    <a:ext uri="{9D8B030D-6E8A-4147-A177-3AD203B41FA5}">
                      <a16:colId xmlns:a16="http://schemas.microsoft.com/office/drawing/2014/main" val="4068440047"/>
                    </a:ext>
                  </a:extLst>
                </a:gridCol>
                <a:gridCol w="4801754">
                  <a:extLst>
                    <a:ext uri="{9D8B030D-6E8A-4147-A177-3AD203B41FA5}">
                      <a16:colId xmlns:a16="http://schemas.microsoft.com/office/drawing/2014/main" val="3956450263"/>
                    </a:ext>
                  </a:extLst>
                </a:gridCol>
                <a:gridCol w="4801754">
                  <a:extLst>
                    <a:ext uri="{9D8B030D-6E8A-4147-A177-3AD203B41FA5}">
                      <a16:colId xmlns:a16="http://schemas.microsoft.com/office/drawing/2014/main" val="1773925537"/>
                    </a:ext>
                  </a:extLst>
                </a:gridCol>
              </a:tblGrid>
              <a:tr h="544673">
                <a:tc>
                  <a:txBody>
                    <a:bodyPr/>
                    <a:lstStyle/>
                    <a:p>
                      <a:pPr>
                        <a:buNone/>
                      </a:pPr>
                      <a:endParaRPr lang="en-US" sz="1400"/>
                    </a:p>
                  </a:txBody>
                  <a:tcPr anchor="ctr">
                    <a:lnL>
                      <a:noFill/>
                    </a:lnL>
                    <a:lnR>
                      <a:noFill/>
                    </a:lnR>
                    <a:lnT>
                      <a:noFill/>
                    </a:lnT>
                    <a:lnB>
                      <a:noFill/>
                    </a:lnB>
                    <a:noFill/>
                  </a:tcPr>
                </a:tc>
                <a:tc gridSpan="2">
                  <a:txBody>
                    <a:bodyPr/>
                    <a:lstStyle/>
                    <a:p>
                      <a:pPr algn="ctr">
                        <a:buNone/>
                      </a:pPr>
                      <a:r>
                        <a:rPr lang="en-US" sz="1400" b="1">
                          <a:solidFill>
                            <a:schemeClr val="bg1"/>
                          </a:solidFill>
                        </a:rPr>
                        <a:t>Sego’s Approach</a:t>
                      </a:r>
                    </a:p>
                  </a:txBody>
                  <a:tcPr anchor="ctr">
                    <a:lnL w="28575" cap="flat" cmpd="sng" algn="ctr">
                      <a:noFill/>
                      <a:prstDash val="solid"/>
                      <a:round/>
                      <a:headEnd type="none" w="med" len="med"/>
                      <a:tailEnd type="none" w="med" len="med"/>
                    </a:lnL>
                    <a:lnR>
                      <a:noFill/>
                    </a:lnR>
                    <a:lnT>
                      <a:noFill/>
                    </a:lnT>
                    <a:lnB w="28575" cap="flat" cmpd="sng" algn="ctr">
                      <a:solidFill>
                        <a:schemeClr val="bg1"/>
                      </a:solidFill>
                      <a:prstDash val="solid"/>
                      <a:round/>
                      <a:headEnd type="none" w="med" len="med"/>
                      <a:tailEnd type="none" w="med" len="med"/>
                    </a:lnB>
                    <a:solidFill>
                      <a:srgbClr val="184141"/>
                    </a:solidFill>
                  </a:tcPr>
                </a:tc>
                <a:tc hMerge="1">
                  <a:txBody>
                    <a:bodyPr/>
                    <a:lstStyle/>
                    <a:p>
                      <a:pPr algn="ctr">
                        <a:buNone/>
                      </a:pPr>
                      <a:endParaRPr lang="en-US" sz="1400" b="1">
                        <a:solidFill>
                          <a:schemeClr val="bg1"/>
                        </a:solidFill>
                      </a:endParaRPr>
                    </a:p>
                  </a:txBody>
                  <a:tcPr anchor="ctr">
                    <a:lnL w="28575" cap="flat" cmpd="sng" algn="ctr">
                      <a:noFill/>
                      <a:prstDash val="solid"/>
                      <a:round/>
                      <a:headEnd type="none" w="med" len="med"/>
                      <a:tailEnd type="none" w="med" len="med"/>
                    </a:lnL>
                    <a:lnR>
                      <a:noFill/>
                    </a:lnR>
                    <a:lnT>
                      <a:noFill/>
                    </a:lnT>
                    <a:lnB w="28575" cap="flat" cmpd="sng" algn="ctr">
                      <a:solidFill>
                        <a:schemeClr val="bg1"/>
                      </a:solidFill>
                      <a:prstDash val="solid"/>
                      <a:round/>
                      <a:headEnd type="none" w="med" len="med"/>
                      <a:tailEnd type="none" w="med" len="med"/>
                    </a:lnB>
                    <a:solidFill>
                      <a:srgbClr val="184141"/>
                    </a:solidFill>
                  </a:tcPr>
                </a:tc>
                <a:extLst>
                  <a:ext uri="{0D108BD9-81ED-4DB2-BD59-A6C34878D82A}">
                    <a16:rowId xmlns:a16="http://schemas.microsoft.com/office/drawing/2014/main" val="1090321364"/>
                  </a:ext>
                </a:extLst>
              </a:tr>
              <a:tr h="544673">
                <a:tc>
                  <a:txBody>
                    <a:bodyPr/>
                    <a:lstStyle/>
                    <a:p>
                      <a:pPr>
                        <a:buNone/>
                      </a:pPr>
                      <a:endParaRPr lang="en-US" sz="1400"/>
                    </a:p>
                  </a:txBody>
                  <a:tcPr anchor="ctr">
                    <a:lnL>
                      <a:noFill/>
                    </a:lnL>
                    <a:lnR>
                      <a:noFill/>
                    </a:lnR>
                    <a:lnT>
                      <a:noFill/>
                    </a:lnT>
                    <a:lnB>
                      <a:noFill/>
                    </a:lnB>
                    <a:noFill/>
                  </a:tcPr>
                </a:tc>
                <a:tc>
                  <a:txBody>
                    <a:bodyPr/>
                    <a:lstStyle/>
                    <a:p>
                      <a:pPr algn="ctr">
                        <a:buNone/>
                      </a:pPr>
                      <a:r>
                        <a:rPr lang="en-US" sz="1400" b="1">
                          <a:solidFill>
                            <a:schemeClr val="tx1"/>
                          </a:solidFill>
                        </a:rPr>
                        <a:t>Ligand-binding site targeted cyclic peptide</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a:noFill/>
                    </a:lnB>
                    <a:solidFill>
                      <a:srgbClr val="C6DCC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tx1"/>
                          </a:solidFill>
                        </a:rPr>
                        <a:t>Allosteric cyclic peptide</a:t>
                      </a: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a:noFill/>
                    </a:lnB>
                    <a:solidFill>
                      <a:srgbClr val="C6DCCD"/>
                    </a:solidFill>
                  </a:tcPr>
                </a:tc>
                <a:extLst>
                  <a:ext uri="{0D108BD9-81ED-4DB2-BD59-A6C34878D82A}">
                    <a16:rowId xmlns:a16="http://schemas.microsoft.com/office/drawing/2014/main" val="2780418511"/>
                  </a:ext>
                </a:extLst>
              </a:tr>
              <a:tr h="925944">
                <a:tc>
                  <a:txBody>
                    <a:bodyPr/>
                    <a:lstStyle/>
                    <a:p>
                      <a:pPr>
                        <a:buNone/>
                      </a:pPr>
                      <a:r>
                        <a:rPr lang="en-US" sz="1400" b="1"/>
                        <a:t>Modality</a:t>
                      </a:r>
                    </a:p>
                  </a:txBody>
                  <a:tcPr anchor="ctr">
                    <a:lnL>
                      <a:noFill/>
                    </a:lnL>
                    <a:lnR>
                      <a:noFill/>
                    </a:lnR>
                    <a:lnT>
                      <a:noFill/>
                    </a:lnT>
                    <a:lnB w="12700" cap="flat" cmpd="sng" algn="ctr">
                      <a:solidFill>
                        <a:schemeClr val="bg2"/>
                      </a:solidFill>
                      <a:prstDash val="solid"/>
                      <a:round/>
                      <a:headEnd type="none" w="med" len="med"/>
                      <a:tailEnd type="none" w="med" len="med"/>
                    </a:lnB>
                    <a:noFill/>
                  </a:tcPr>
                </a:tc>
                <a:tc>
                  <a:txBody>
                    <a:bodyPr/>
                    <a:lstStyle/>
                    <a:p>
                      <a:pPr algn="ctr">
                        <a:buNone/>
                      </a:pPr>
                      <a:r>
                        <a:rPr lang="en-US" sz="1400" b="0"/>
                        <a:t>Cyclic peptide targeted to the ligand binding site of GCC dimers on the surface of tumor cells</a:t>
                      </a:r>
                    </a:p>
                  </a:txBody>
                  <a:tcPr anchor="ctr">
                    <a:lnL>
                      <a:noFill/>
                    </a:lnL>
                    <a:lnR>
                      <a:noFill/>
                    </a:lnR>
                    <a:lnT w="28575"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a:t>Non-active-site binding cyclic peptide targeting GCC monomers on the surface of tumor cells</a:t>
                      </a:r>
                    </a:p>
                  </a:txBody>
                  <a:tcPr anchor="ctr">
                    <a:lnL>
                      <a:noFill/>
                    </a:lnL>
                    <a:lnR>
                      <a:noFill/>
                    </a:lnR>
                    <a:lnT w="28575"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511685032"/>
                  </a:ext>
                </a:extLst>
              </a:tr>
              <a:tr h="544673">
                <a:tc>
                  <a:txBody>
                    <a:bodyPr/>
                    <a:lstStyle/>
                    <a:p>
                      <a:pPr>
                        <a:buNone/>
                      </a:pPr>
                      <a:r>
                        <a:rPr lang="en-US" sz="1400" b="1"/>
                        <a:t>Isotope/Payload</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baseline="30000"/>
                        <a:t>225</a:t>
                      </a:r>
                      <a:r>
                        <a:rPr lang="en-US" sz="1400"/>
                        <a:t>Ac or </a:t>
                      </a:r>
                      <a:r>
                        <a:rPr lang="en-US" sz="1400" baseline="30000"/>
                        <a:t>161</a:t>
                      </a:r>
                      <a:r>
                        <a:rPr lang="en-US" sz="1400"/>
                        <a:t>Tb</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30000"/>
                        <a:t>225</a:t>
                      </a:r>
                      <a:r>
                        <a:rPr lang="en-US" sz="1400"/>
                        <a:t>Ac or </a:t>
                      </a:r>
                      <a:r>
                        <a:rPr lang="en-US" sz="1400" baseline="30000"/>
                        <a:t>161</a:t>
                      </a:r>
                      <a:r>
                        <a:rPr lang="en-US" sz="1400"/>
                        <a:t>Tb</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972914581"/>
                  </a:ext>
                </a:extLst>
              </a:tr>
              <a:tr h="925944">
                <a:tc>
                  <a:txBody>
                    <a:bodyPr/>
                    <a:lstStyle/>
                    <a:p>
                      <a:pPr>
                        <a:buNone/>
                      </a:pPr>
                      <a:r>
                        <a:rPr lang="en-US" sz="1400" b="1"/>
                        <a:t>Internalization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Select for internalizing peptides that internalize with ligand-bound GCC</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Select for internalizing peptides that internalize with GCC monomers</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369339733"/>
                  </a:ext>
                </a:extLst>
              </a:tr>
              <a:tr h="1307214">
                <a:tc>
                  <a:txBody>
                    <a:bodyPr/>
                    <a:lstStyle/>
                    <a:p>
                      <a:pPr>
                        <a:buNone/>
                      </a:pPr>
                      <a:r>
                        <a:rPr lang="en-US" sz="1400" b="1"/>
                        <a:t>Advantage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GCC is selectively blood accessible in tumor cells, both in CRC and in metastases, but not healthy tissue, allowing for a therapeutic window. Native peptide ligands provide a starting point for drug development.</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Similar to active site binder, plus this approach effectively doubles available receptor concentration and potential tumor binding of RLT: 1 RLT molecule binds 1 GCC monomer</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85434347"/>
                  </a:ext>
                </a:extLst>
              </a:tr>
            </a:tbl>
          </a:graphicData>
        </a:graphic>
      </p:graphicFrame>
    </p:spTree>
    <p:extLst>
      <p:ext uri="{BB962C8B-B14F-4D97-AF65-F5344CB8AC3E}">
        <p14:creationId xmlns:p14="http://schemas.microsoft.com/office/powerpoint/2010/main" val="517537118"/>
      </p:ext>
    </p:extLst>
  </p:cSld>
  <p:clrMapOvr>
    <a:masterClrMapping/>
  </p:clrMapOvr>
</p:sld>
</file>

<file path=ppt/theme/theme1.xml><?xml version="1.0" encoding="utf-8"?>
<a:theme xmlns:a="http://schemas.openxmlformats.org/drawingml/2006/main" name="Becca's Sego Temp Theme">
  <a:themeElements>
    <a:clrScheme name="Becca's Sego Temp Theme">
      <a:dk1>
        <a:sysClr val="windowText" lastClr="000000"/>
      </a:dk1>
      <a:lt1>
        <a:sysClr val="window" lastClr="FFFFFF"/>
      </a:lt1>
      <a:dk2>
        <a:srgbClr val="0E2841"/>
      </a:dk2>
      <a:lt2>
        <a:srgbClr val="E8E8E8"/>
      </a:lt2>
      <a:accent1>
        <a:srgbClr val="1A4141"/>
      </a:accent1>
      <a:accent2>
        <a:srgbClr val="456464"/>
      </a:accent2>
      <a:accent3>
        <a:srgbClr val="7A9F8F"/>
      </a:accent3>
      <a:accent4>
        <a:srgbClr val="71B787"/>
      </a:accent4>
      <a:accent5>
        <a:srgbClr val="D5ED99"/>
      </a:accent5>
      <a:accent6>
        <a:srgbClr val="F3F1EF"/>
      </a:accent6>
      <a:hlink>
        <a:srgbClr val="7A9F8F"/>
      </a:hlink>
      <a:folHlink>
        <a:srgbClr val="96607D"/>
      </a:folHlink>
    </a:clrScheme>
    <a:fontScheme name="Sego Font">
      <a:majorFont>
        <a:latin typeface="Funnel Sans"/>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ecca's Sego Temp Theme" id="{4A842F55-7C6A-43E5-B4AB-63AC50CBC6DB}" vid="{965FBD5D-36C6-4D68-9EF4-1748213BBE67}"/>
    </a:ext>
  </a:extLst>
</a:theme>
</file>

<file path=ppt/theme/theme2.xml><?xml version="1.0" encoding="utf-8"?>
<a:theme xmlns:a="http://schemas.openxmlformats.org/drawingml/2006/main" name="1_Office Theme">
  <a:themeElements>
    <a:clrScheme name="Office">
      <a:dk1>
        <a:srgbClr val="000000"/>
      </a:dk1>
      <a:lt1>
        <a:sysClr val="window" lastClr="FFFFFF"/>
      </a:lt1>
      <a:dk2>
        <a:srgbClr val="656670"/>
      </a:dk2>
      <a:lt2>
        <a:srgbClr val="F6F3F2"/>
      </a:lt2>
      <a:accent1>
        <a:srgbClr val="002924"/>
      </a:accent1>
      <a:accent2>
        <a:srgbClr val="B1C8B0"/>
      </a:accent2>
      <a:accent3>
        <a:srgbClr val="61896E"/>
      </a:accent3>
      <a:accent4>
        <a:srgbClr val="D5ED99"/>
      </a:accent4>
      <a:accent5>
        <a:srgbClr val="DED6D3"/>
      </a:accent5>
      <a:accent6>
        <a:srgbClr val="8F1A43"/>
      </a:accent6>
      <a:hlink>
        <a:srgbClr val="002924"/>
      </a:hlink>
      <a:folHlink>
        <a:srgbClr val="B1C8B0"/>
      </a:folHlink>
    </a:clrScheme>
    <a:fontScheme name="Sego">
      <a:majorFont>
        <a:latin typeface="Funnel Sans Light"/>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dirty="0" smtClean="0">
            <a:solidFill>
              <a:srgbClr val="FF0000"/>
            </a:solidFill>
            <a:latin typeface="+mj-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b41257d-d9f1-45d2-83fb-79c2dd89ff18" xsi:nil="true"/>
    <lcf76f155ced4ddcb4097134ff3c332f xmlns="883290e6-3317-4731-a933-606cdb1c21b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CA77038FD8B0E4290AC2C78A81B96B0" ma:contentTypeVersion="10" ma:contentTypeDescription="Create a new document." ma:contentTypeScope="" ma:versionID="116237f45c3876c638621d484ff54e8e">
  <xsd:schema xmlns:xsd="http://www.w3.org/2001/XMLSchema" xmlns:xs="http://www.w3.org/2001/XMLSchema" xmlns:p="http://schemas.microsoft.com/office/2006/metadata/properties" xmlns:ns2="883290e6-3317-4731-a933-606cdb1c21ba" xmlns:ns3="9b41257d-d9f1-45d2-83fb-79c2dd89ff18" targetNamespace="http://schemas.microsoft.com/office/2006/metadata/properties" ma:root="true" ma:fieldsID="9cd05f4572e11dc9c3dcb5915d0bb547" ns2:_="" ns3:_="">
    <xsd:import namespace="883290e6-3317-4731-a933-606cdb1c21ba"/>
    <xsd:import namespace="9b41257d-d9f1-45d2-83fb-79c2dd89ff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3290e6-3317-4731-a933-606cdb1c21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d5e21b9-9a91-448a-b7da-1ab90cd0a9b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b41257d-d9f1-45d2-83fb-79c2dd89ff1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b56a1f0-8357-4b64-86fd-fd0a5fd73875}" ma:internalName="TaxCatchAll" ma:showField="CatchAllData" ma:web="9b41257d-d9f1-45d2-83fb-79c2dd89ff1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3D6A1B-8F76-4DD7-815B-FE7BEA842B2C}">
  <ds:schemaRefs>
    <ds:schemaRef ds:uri="http://schemas.microsoft.com/sharepoint/v3/contenttype/forms"/>
  </ds:schemaRefs>
</ds:datastoreItem>
</file>

<file path=customXml/itemProps2.xml><?xml version="1.0" encoding="utf-8"?>
<ds:datastoreItem xmlns:ds="http://schemas.openxmlformats.org/officeDocument/2006/customXml" ds:itemID="{ED2ABF4F-7F95-412E-943B-B68E1FF40FBD}">
  <ds:schemaRefs>
    <ds:schemaRef ds:uri="http://purl.org/dc/elements/1.1/"/>
    <ds:schemaRef ds:uri="http://purl.org/dc/terms/"/>
    <ds:schemaRef ds:uri="http://purl.org/dc/dcmitype/"/>
    <ds:schemaRef ds:uri="http://schemas.microsoft.com/office/2006/documentManagement/types"/>
    <ds:schemaRef ds:uri="9b41257d-d9f1-45d2-83fb-79c2dd89ff18"/>
    <ds:schemaRef ds:uri="883290e6-3317-4731-a933-606cdb1c21ba"/>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F0D346A7-FD8D-452C-B557-F1247AB3F5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3290e6-3317-4731-a933-606cdb1c21ba"/>
    <ds:schemaRef ds:uri="9b41257d-d9f1-45d2-83fb-79c2dd89ff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50</TotalTime>
  <Words>2190</Words>
  <Application>Microsoft Macintosh PowerPoint</Application>
  <PresentationFormat>Widescreen</PresentationFormat>
  <Paragraphs>279</Paragraphs>
  <Slides>12</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Aptos</vt:lpstr>
      <vt:lpstr>Arial</vt:lpstr>
      <vt:lpstr>Funnel Sans</vt:lpstr>
      <vt:lpstr>Funnel Sans Light</vt:lpstr>
      <vt:lpstr>Funnel Sans Medium</vt:lpstr>
      <vt:lpstr>Times New Roman</vt:lpstr>
      <vt:lpstr>Becca's Sego Temp Theme</vt:lpstr>
      <vt:lpstr>1_Office Theme</vt:lpstr>
      <vt:lpstr>GCC Target Evaluation</vt:lpstr>
      <vt:lpstr>GCC is highly expressed in CRC and has endogenous peptide ligands</vt:lpstr>
      <vt:lpstr>PowerPoint Presentation</vt:lpstr>
      <vt:lpstr>GCC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Becca Levin</dc:creator>
  <cp:lastModifiedBy>Kirstin Zettlitz</cp:lastModifiedBy>
  <cp:revision>1</cp:revision>
  <dcterms:created xsi:type="dcterms:W3CDTF">2026-04-07T21:42:33Z</dcterms:created>
  <dcterms:modified xsi:type="dcterms:W3CDTF">2026-04-08T16:14:29Z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0x0101006CA77038FD8B0E4290AC2C78A81B96B0</vt:lpwstr>
  </property>
  <property fmtid="{D5CDD505-2E9C-101B-9397-08002B2CF9AE}" pid="3" name="MediaServiceImageTags">
    <vt:lpwstr/>
  </property>
</Properties>
</file>