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257_849FE7DE.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7" r:id="rId5"/>
  </p:sldMasterIdLst>
  <p:notesMasterIdLst>
    <p:notesMasterId r:id="rId18"/>
  </p:notesMasterIdLst>
  <p:sldIdLst>
    <p:sldId id="478" r:id="rId6"/>
    <p:sldId id="596" r:id="rId7"/>
    <p:sldId id="599" r:id="rId8"/>
    <p:sldId id="600" r:id="rId9"/>
    <p:sldId id="284" r:id="rId10"/>
    <p:sldId id="515" r:id="rId11"/>
    <p:sldId id="523" r:id="rId12"/>
    <p:sldId id="518" r:id="rId13"/>
    <p:sldId id="517" r:id="rId14"/>
    <p:sldId id="368" r:id="rId15"/>
    <p:sldId id="524" r:id="rId16"/>
    <p:sldId id="51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43E7231E-D65A-7660-884F-A801964A74DA}" name="Becca Levin" initials="BL" userId="S::BLevin@segotx.com::08c76d0b-4d1f-44f5-8508-8653b2f54768" providerId="AD"/>
  <p188:author id="{2EC6969D-662B-A44E-D074-D4E7369444A4}" name="Edie Mitchell" initials="EM" userId="S::emitchell@segotx.com::049308e2-fe35-45a7-be98-5d15c4b5be47" providerId="AD"/>
  <p188:author id="{1B2CCED9-E761-A789-87FA-8A8BE5E75A61}" name="Greg Mullen" initials="GM" userId="S::gmullen@segotx.com::15d9f696-28c4-4111-b985-4ee728509f1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0296EA-5968-9126-9375-E2F01BCF4BEA}" v="8" dt="2026-04-08T10:49:33.658"/>
    <p1510:client id="{384EAF9B-3B67-A403-CF8B-8D76D6847EEB}" v="263" dt="2026-04-08T15:41:17.129"/>
    <p1510:client id="{4C612EFD-FA5B-4B10-83FE-BA7786B3BDB0}" v="9" dt="2026-04-08T15:46:30.0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26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ie Mitchell" userId="S::emitchell@segotx.com::049308e2-fe35-45a7-be98-5d15c4b5be47" providerId="AD" clId="Web-{384EAF9B-3B67-A403-CF8B-8D76D6847EEB}"/>
    <pc:docChg chg="mod modSld">
      <pc:chgData name="Edie Mitchell" userId="S::emitchell@segotx.com::049308e2-fe35-45a7-be98-5d15c4b5be47" providerId="AD" clId="Web-{384EAF9B-3B67-A403-CF8B-8D76D6847EEB}" dt="2026-04-08T15:41:17.129" v="232"/>
      <pc:docMkLst>
        <pc:docMk/>
      </pc:docMkLst>
      <pc:sldChg chg="modSp">
        <pc:chgData name="Edie Mitchell" userId="S::emitchell@segotx.com::049308e2-fe35-45a7-be98-5d15c4b5be47" providerId="AD" clId="Web-{384EAF9B-3B67-A403-CF8B-8D76D6847EEB}" dt="2026-04-08T15:36:58.583" v="204"/>
        <pc:sldMkLst>
          <pc:docMk/>
          <pc:sldMk cId="720863078" sldId="518"/>
        </pc:sldMkLst>
        <pc:graphicFrameChg chg="mod modGraphic">
          <ac:chgData name="Edie Mitchell" userId="S::emitchell@segotx.com::049308e2-fe35-45a7-be98-5d15c4b5be47" providerId="AD" clId="Web-{384EAF9B-3B67-A403-CF8B-8D76D6847EEB}" dt="2026-04-08T15:36:58.583" v="204"/>
          <ac:graphicFrameMkLst>
            <pc:docMk/>
            <pc:sldMk cId="720863078" sldId="518"/>
            <ac:graphicFrameMk id="17" creationId="{E6750C59-797A-D9E9-66BE-BCCC74AF7CFE}"/>
          </ac:graphicFrameMkLst>
        </pc:graphicFrameChg>
      </pc:sldChg>
      <pc:sldChg chg="delSp modSp">
        <pc:chgData name="Edie Mitchell" userId="S::emitchell@segotx.com::049308e2-fe35-45a7-be98-5d15c4b5be47" providerId="AD" clId="Web-{384EAF9B-3B67-A403-CF8B-8D76D6847EEB}" dt="2026-04-08T15:41:17.129" v="232"/>
        <pc:sldMkLst>
          <pc:docMk/>
          <pc:sldMk cId="1178899444" sldId="519"/>
        </pc:sldMkLst>
        <pc:spChg chg="del">
          <ac:chgData name="Edie Mitchell" userId="S::emitchell@segotx.com::049308e2-fe35-45a7-be98-5d15c4b5be47" providerId="AD" clId="Web-{384EAF9B-3B67-A403-CF8B-8D76D6847EEB}" dt="2026-04-08T15:41:17.129" v="232"/>
          <ac:spMkLst>
            <pc:docMk/>
            <pc:sldMk cId="1178899444" sldId="519"/>
            <ac:spMk id="19" creationId="{34A75D85-AEA8-5166-54D6-98CD3A8FDB19}"/>
          </ac:spMkLst>
        </pc:spChg>
        <pc:graphicFrameChg chg="mod modGraphic">
          <ac:chgData name="Edie Mitchell" userId="S::emitchell@segotx.com::049308e2-fe35-45a7-be98-5d15c4b5be47" providerId="AD" clId="Web-{384EAF9B-3B67-A403-CF8B-8D76D6847EEB}" dt="2026-04-08T15:40:39.957" v="231"/>
          <ac:graphicFrameMkLst>
            <pc:docMk/>
            <pc:sldMk cId="1178899444" sldId="519"/>
            <ac:graphicFrameMk id="3" creationId="{426B0199-A693-1F4A-CF8F-5732ECDB68B3}"/>
          </ac:graphicFrameMkLst>
        </pc:graphicFrameChg>
      </pc:sldChg>
      <pc:sldChg chg="modSp">
        <pc:chgData name="Edie Mitchell" userId="S::emitchell@segotx.com::049308e2-fe35-45a7-be98-5d15c4b5be47" providerId="AD" clId="Web-{384EAF9B-3B67-A403-CF8B-8D76D6847EEB}" dt="2026-04-08T15:40:14.848" v="229" actId="1076"/>
        <pc:sldMkLst>
          <pc:docMk/>
          <pc:sldMk cId="160496349" sldId="524"/>
        </pc:sldMkLst>
        <pc:graphicFrameChg chg="mod modGraphic">
          <ac:chgData name="Edie Mitchell" userId="S::emitchell@segotx.com::049308e2-fe35-45a7-be98-5d15c4b5be47" providerId="AD" clId="Web-{384EAF9B-3B67-A403-CF8B-8D76D6847EEB}" dt="2026-04-08T15:40:14.848" v="229" actId="1076"/>
          <ac:graphicFrameMkLst>
            <pc:docMk/>
            <pc:sldMk cId="160496349" sldId="524"/>
            <ac:graphicFrameMk id="16" creationId="{24E4F316-ABC1-C788-E09B-B360FEE25BAA}"/>
          </ac:graphicFrameMkLst>
        </pc:graphicFrameChg>
      </pc:sldChg>
      <pc:sldChg chg="modSp">
        <pc:chgData name="Edie Mitchell" userId="S::emitchell@segotx.com::049308e2-fe35-45a7-be98-5d15c4b5be47" providerId="AD" clId="Web-{384EAF9B-3B67-A403-CF8B-8D76D6847EEB}" dt="2026-04-08T14:49:51.348" v="9"/>
        <pc:sldMkLst>
          <pc:docMk/>
          <pc:sldMk cId="3765689224" sldId="596"/>
        </pc:sldMkLst>
        <pc:graphicFrameChg chg="mod modGraphic">
          <ac:chgData name="Edie Mitchell" userId="S::emitchell@segotx.com::049308e2-fe35-45a7-be98-5d15c4b5be47" providerId="AD" clId="Web-{384EAF9B-3B67-A403-CF8B-8D76D6847EEB}" dt="2026-04-08T14:48:47.395" v="5"/>
          <ac:graphicFrameMkLst>
            <pc:docMk/>
            <pc:sldMk cId="3765689224" sldId="596"/>
            <ac:graphicFrameMk id="5" creationId="{A6A998A9-818D-6DFE-A75A-DE79A146E79E}"/>
          </ac:graphicFrameMkLst>
        </pc:graphicFrameChg>
        <pc:graphicFrameChg chg="mod modGraphic">
          <ac:chgData name="Edie Mitchell" userId="S::emitchell@segotx.com::049308e2-fe35-45a7-be98-5d15c4b5be47" providerId="AD" clId="Web-{384EAF9B-3B67-A403-CF8B-8D76D6847EEB}" dt="2026-04-08T14:49:51.348" v="9"/>
          <ac:graphicFrameMkLst>
            <pc:docMk/>
            <pc:sldMk cId="3765689224" sldId="596"/>
            <ac:graphicFrameMk id="6" creationId="{E51772EE-FAA1-DBA5-D6F4-2191FD3821F7}"/>
          </ac:graphicFrameMkLst>
        </pc:graphicFrameChg>
      </pc:sldChg>
      <pc:sldChg chg="modSp">
        <pc:chgData name="Edie Mitchell" userId="S::emitchell@segotx.com::049308e2-fe35-45a7-be98-5d15c4b5be47" providerId="AD" clId="Web-{384EAF9B-3B67-A403-CF8B-8D76D6847EEB}" dt="2026-04-08T15:28:30.118" v="14" actId="20577"/>
        <pc:sldMkLst>
          <pc:docMk/>
          <pc:sldMk cId="2367881437" sldId="597"/>
        </pc:sldMkLst>
        <pc:spChg chg="mod">
          <ac:chgData name="Edie Mitchell" userId="S::emitchell@segotx.com::049308e2-fe35-45a7-be98-5d15c4b5be47" providerId="AD" clId="Web-{384EAF9B-3B67-A403-CF8B-8D76D6847EEB}" dt="2026-04-08T15:28:30.118" v="14" actId="20577"/>
          <ac:spMkLst>
            <pc:docMk/>
            <pc:sldMk cId="2367881437" sldId="597"/>
            <ac:spMk id="212" creationId="{00000000-0000-0000-0000-000000000000}"/>
          </ac:spMkLst>
        </pc:spChg>
      </pc:sldChg>
      <pc:sldChg chg="modSp">
        <pc:chgData name="Edie Mitchell" userId="S::emitchell@segotx.com::049308e2-fe35-45a7-be98-5d15c4b5be47" providerId="AD" clId="Web-{384EAF9B-3B67-A403-CF8B-8D76D6847EEB}" dt="2026-04-08T14:52:03.207" v="11" actId="20577"/>
        <pc:sldMkLst>
          <pc:docMk/>
          <pc:sldMk cId="2225072094" sldId="599"/>
        </pc:sldMkLst>
        <pc:spChg chg="mod">
          <ac:chgData name="Edie Mitchell" userId="S::emitchell@segotx.com::049308e2-fe35-45a7-be98-5d15c4b5be47" providerId="AD" clId="Web-{384EAF9B-3B67-A403-CF8B-8D76D6847EEB}" dt="2026-04-08T14:52:03.207" v="11" actId="20577"/>
          <ac:spMkLst>
            <pc:docMk/>
            <pc:sldMk cId="2225072094" sldId="599"/>
            <ac:spMk id="212" creationId="{FF5B59A6-4BB6-8AA8-F1E3-A791EB3D9D94}"/>
          </ac:spMkLst>
        </pc:spChg>
      </pc:sldChg>
    </pc:docChg>
  </pc:docChgLst>
  <pc:docChgLst>
    <pc:chgData name="Becca Levin" userId="08c76d0b-4d1f-44f5-8508-8653b2f54768" providerId="ADAL" clId="{5AA3B8CE-AFEA-44FA-ACCD-448CA31DFD0A}"/>
    <pc:docChg chg="custSel addSld delSld modSld sldOrd">
      <pc:chgData name="Becca Levin" userId="08c76d0b-4d1f-44f5-8508-8653b2f54768" providerId="ADAL" clId="{5AA3B8CE-AFEA-44FA-ACCD-448CA31DFD0A}" dt="2026-04-08T18:35:44.264" v="501" actId="20577"/>
      <pc:docMkLst>
        <pc:docMk/>
      </pc:docMkLst>
      <pc:sldChg chg="add">
        <pc:chgData name="Becca Levin" userId="08c76d0b-4d1f-44f5-8508-8653b2f54768" providerId="ADAL" clId="{5AA3B8CE-AFEA-44FA-ACCD-448CA31DFD0A}" dt="2026-04-07T17:10:28.799" v="1"/>
        <pc:sldMkLst>
          <pc:docMk/>
          <pc:sldMk cId="3137613344" sldId="284"/>
        </pc:sldMkLst>
      </pc:sldChg>
      <pc:sldChg chg="add">
        <pc:chgData name="Becca Levin" userId="08c76d0b-4d1f-44f5-8508-8653b2f54768" providerId="ADAL" clId="{5AA3B8CE-AFEA-44FA-ACCD-448CA31DFD0A}" dt="2026-04-07T17:10:28.799" v="1"/>
        <pc:sldMkLst>
          <pc:docMk/>
          <pc:sldMk cId="2713151835" sldId="368"/>
        </pc:sldMkLst>
      </pc:sldChg>
      <pc:sldChg chg="modSp add mod">
        <pc:chgData name="Becca Levin" userId="08c76d0b-4d1f-44f5-8508-8653b2f54768" providerId="ADAL" clId="{5AA3B8CE-AFEA-44FA-ACCD-448CA31DFD0A}" dt="2026-04-07T21:17:33.575" v="19" actId="20577"/>
        <pc:sldMkLst>
          <pc:docMk/>
          <pc:sldMk cId="955020319" sldId="478"/>
        </pc:sldMkLst>
        <pc:spChg chg="mod">
          <ac:chgData name="Becca Levin" userId="08c76d0b-4d1f-44f5-8508-8653b2f54768" providerId="ADAL" clId="{5AA3B8CE-AFEA-44FA-ACCD-448CA31DFD0A}" dt="2026-04-07T21:17:33.575" v="19" actId="20577"/>
          <ac:spMkLst>
            <pc:docMk/>
            <pc:sldMk cId="955020319" sldId="478"/>
            <ac:spMk id="2" creationId="{1BBE2AEB-8CF8-01CF-CE93-1245F61EDE4C}"/>
          </ac:spMkLst>
        </pc:spChg>
      </pc:sldChg>
      <pc:sldChg chg="add">
        <pc:chgData name="Becca Levin" userId="08c76d0b-4d1f-44f5-8508-8653b2f54768" providerId="ADAL" clId="{5AA3B8CE-AFEA-44FA-ACCD-448CA31DFD0A}" dt="2026-04-07T17:10:28.799" v="1"/>
        <pc:sldMkLst>
          <pc:docMk/>
          <pc:sldMk cId="1954856613" sldId="515"/>
        </pc:sldMkLst>
      </pc:sldChg>
      <pc:sldChg chg="add">
        <pc:chgData name="Becca Levin" userId="08c76d0b-4d1f-44f5-8508-8653b2f54768" providerId="ADAL" clId="{5AA3B8CE-AFEA-44FA-ACCD-448CA31DFD0A}" dt="2026-04-07T17:10:28.799" v="1"/>
        <pc:sldMkLst>
          <pc:docMk/>
          <pc:sldMk cId="1251003085" sldId="517"/>
        </pc:sldMkLst>
      </pc:sldChg>
      <pc:sldChg chg="add">
        <pc:chgData name="Becca Levin" userId="08c76d0b-4d1f-44f5-8508-8653b2f54768" providerId="ADAL" clId="{5AA3B8CE-AFEA-44FA-ACCD-448CA31DFD0A}" dt="2026-04-07T17:10:28.799" v="1"/>
        <pc:sldMkLst>
          <pc:docMk/>
          <pc:sldMk cId="720863078" sldId="518"/>
        </pc:sldMkLst>
      </pc:sldChg>
      <pc:sldChg chg="add">
        <pc:chgData name="Becca Levin" userId="08c76d0b-4d1f-44f5-8508-8653b2f54768" providerId="ADAL" clId="{5AA3B8CE-AFEA-44FA-ACCD-448CA31DFD0A}" dt="2026-04-07T17:10:28.799" v="1"/>
        <pc:sldMkLst>
          <pc:docMk/>
          <pc:sldMk cId="1178899444" sldId="519"/>
        </pc:sldMkLst>
      </pc:sldChg>
      <pc:sldChg chg="add">
        <pc:chgData name="Becca Levin" userId="08c76d0b-4d1f-44f5-8508-8653b2f54768" providerId="ADAL" clId="{5AA3B8CE-AFEA-44FA-ACCD-448CA31DFD0A}" dt="2026-04-07T17:10:28.799" v="1"/>
        <pc:sldMkLst>
          <pc:docMk/>
          <pc:sldMk cId="2165010904" sldId="523"/>
        </pc:sldMkLst>
      </pc:sldChg>
      <pc:sldChg chg="add">
        <pc:chgData name="Becca Levin" userId="08c76d0b-4d1f-44f5-8508-8653b2f54768" providerId="ADAL" clId="{5AA3B8CE-AFEA-44FA-ACCD-448CA31DFD0A}" dt="2026-04-07T17:10:28.799" v="1"/>
        <pc:sldMkLst>
          <pc:docMk/>
          <pc:sldMk cId="160496349" sldId="524"/>
        </pc:sldMkLst>
      </pc:sldChg>
      <pc:sldChg chg="add del ord">
        <pc:chgData name="Becca Levin" userId="08c76d0b-4d1f-44f5-8508-8653b2f54768" providerId="ADAL" clId="{5AA3B8CE-AFEA-44FA-ACCD-448CA31DFD0A}" dt="2026-04-07T17:43:49.168" v="7" actId="47"/>
        <pc:sldMkLst>
          <pc:docMk/>
          <pc:sldMk cId="1416488797" sldId="532"/>
        </pc:sldMkLst>
      </pc:sldChg>
      <pc:sldChg chg="add">
        <pc:chgData name="Becca Levin" userId="08c76d0b-4d1f-44f5-8508-8653b2f54768" providerId="ADAL" clId="{5AA3B8CE-AFEA-44FA-ACCD-448CA31DFD0A}" dt="2026-04-07T17:10:39.105" v="2"/>
        <pc:sldMkLst>
          <pc:docMk/>
          <pc:sldMk cId="3765689224" sldId="596"/>
        </pc:sldMkLst>
      </pc:sldChg>
      <pc:sldChg chg="modSp add del mod">
        <pc:chgData name="Becca Levin" userId="08c76d0b-4d1f-44f5-8508-8653b2f54768" providerId="ADAL" clId="{5AA3B8CE-AFEA-44FA-ACCD-448CA31DFD0A}" dt="2026-04-08T15:46:30.009" v="55" actId="47"/>
        <pc:sldMkLst>
          <pc:docMk/>
          <pc:sldMk cId="2367881437" sldId="597"/>
        </pc:sldMkLst>
        <pc:spChg chg="mod">
          <ac:chgData name="Becca Levin" userId="08c76d0b-4d1f-44f5-8508-8653b2f54768" providerId="ADAL" clId="{5AA3B8CE-AFEA-44FA-ACCD-448CA31DFD0A}" dt="2026-04-07T17:44:29.588" v="14" actId="2085"/>
          <ac:spMkLst>
            <pc:docMk/>
            <pc:sldMk cId="2367881437" sldId="597"/>
            <ac:spMk id="200" creationId="{00000000-0000-0000-0000-000000000000}"/>
          </ac:spMkLst>
        </pc:spChg>
        <pc:spChg chg="mod">
          <ac:chgData name="Becca Levin" userId="08c76d0b-4d1f-44f5-8508-8653b2f54768" providerId="ADAL" clId="{5AA3B8CE-AFEA-44FA-ACCD-448CA31DFD0A}" dt="2026-04-07T17:44:29.588" v="14" actId="2085"/>
          <ac:spMkLst>
            <pc:docMk/>
            <pc:sldMk cId="2367881437" sldId="597"/>
            <ac:spMk id="210" creationId="{00000000-0000-0000-0000-000000000000}"/>
          </ac:spMkLst>
        </pc:spChg>
        <pc:spChg chg="mod">
          <ac:chgData name="Becca Levin" userId="08c76d0b-4d1f-44f5-8508-8653b2f54768" providerId="ADAL" clId="{5AA3B8CE-AFEA-44FA-ACCD-448CA31DFD0A}" dt="2026-04-07T17:44:29.588" v="14" actId="2085"/>
          <ac:spMkLst>
            <pc:docMk/>
            <pc:sldMk cId="2367881437" sldId="597"/>
            <ac:spMk id="220" creationId="{00000000-0000-0000-0000-000000000000}"/>
          </ac:spMkLst>
        </pc:spChg>
      </pc:sldChg>
      <pc:sldChg chg="modSp add del mod">
        <pc:chgData name="Becca Levin" userId="08c76d0b-4d1f-44f5-8508-8653b2f54768" providerId="ADAL" clId="{5AA3B8CE-AFEA-44FA-ACCD-448CA31DFD0A}" dt="2026-04-07T21:44:49.002" v="36" actId="47"/>
        <pc:sldMkLst>
          <pc:docMk/>
          <pc:sldMk cId="613605364" sldId="598"/>
        </pc:sldMkLst>
        <pc:spChg chg="mod">
          <ac:chgData name="Becca Levin" userId="08c76d0b-4d1f-44f5-8508-8653b2f54768" providerId="ADAL" clId="{5AA3B8CE-AFEA-44FA-ACCD-448CA31DFD0A}" dt="2026-04-07T21:44:30.381" v="33" actId="20577"/>
          <ac:spMkLst>
            <pc:docMk/>
            <pc:sldMk cId="613605364" sldId="598"/>
            <ac:spMk id="2" creationId="{EB020DDB-47D0-2A90-EFCA-9B50835B5AB7}"/>
          </ac:spMkLst>
        </pc:spChg>
      </pc:sldChg>
      <pc:sldChg chg="modSp add mod">
        <pc:chgData name="Becca Levin" userId="08c76d0b-4d1f-44f5-8508-8653b2f54768" providerId="ADAL" clId="{5AA3B8CE-AFEA-44FA-ACCD-448CA31DFD0A}" dt="2026-04-08T18:35:44.264" v="501" actId="20577"/>
        <pc:sldMkLst>
          <pc:docMk/>
          <pc:sldMk cId="2225072094" sldId="599"/>
        </pc:sldMkLst>
        <pc:spChg chg="mod">
          <ac:chgData name="Becca Levin" userId="08c76d0b-4d1f-44f5-8508-8653b2f54768" providerId="ADAL" clId="{5AA3B8CE-AFEA-44FA-ACCD-448CA31DFD0A}" dt="2026-04-08T18:33:17.023" v="241" actId="20577"/>
          <ac:spMkLst>
            <pc:docMk/>
            <pc:sldMk cId="2225072094" sldId="599"/>
            <ac:spMk id="14" creationId="{989F017D-FB0B-FB6D-D66B-D3D388ECD60E}"/>
          </ac:spMkLst>
        </pc:spChg>
        <pc:spChg chg="mod">
          <ac:chgData name="Becca Levin" userId="08c76d0b-4d1f-44f5-8508-8653b2f54768" providerId="ADAL" clId="{5AA3B8CE-AFEA-44FA-ACCD-448CA31DFD0A}" dt="2026-04-08T18:35:44.264" v="501" actId="20577"/>
          <ac:spMkLst>
            <pc:docMk/>
            <pc:sldMk cId="2225072094" sldId="599"/>
            <ac:spMk id="212" creationId="{FF5B59A6-4BB6-8AA8-F1E3-A791EB3D9D94}"/>
          </ac:spMkLst>
        </pc:spChg>
        <pc:spChg chg="mod">
          <ac:chgData name="Becca Levin" userId="08c76d0b-4d1f-44f5-8508-8653b2f54768" providerId="ADAL" clId="{5AA3B8CE-AFEA-44FA-ACCD-448CA31DFD0A}" dt="2026-04-08T18:34:43.424" v="479" actId="20577"/>
          <ac:spMkLst>
            <pc:docMk/>
            <pc:sldMk cId="2225072094" sldId="599"/>
            <ac:spMk id="222" creationId="{564BED25-38B7-6C42-0728-A713BF125419}"/>
          </ac:spMkLst>
        </pc:spChg>
      </pc:sldChg>
      <pc:sldChg chg="modSp add mod">
        <pc:chgData name="Becca Levin" userId="08c76d0b-4d1f-44f5-8508-8653b2f54768" providerId="ADAL" clId="{5AA3B8CE-AFEA-44FA-ACCD-448CA31DFD0A}" dt="2026-04-07T21:44:51.768" v="43" actId="20577"/>
        <pc:sldMkLst>
          <pc:docMk/>
          <pc:sldMk cId="242380334" sldId="600"/>
        </pc:sldMkLst>
        <pc:spChg chg="mod">
          <ac:chgData name="Becca Levin" userId="08c76d0b-4d1f-44f5-8508-8653b2f54768" providerId="ADAL" clId="{5AA3B8CE-AFEA-44FA-ACCD-448CA31DFD0A}" dt="2026-04-07T21:44:51.768" v="43" actId="20577"/>
          <ac:spMkLst>
            <pc:docMk/>
            <pc:sldMk cId="242380334" sldId="600"/>
            <ac:spMk id="2" creationId="{1D5969A8-F3A3-58B3-E231-C75F30E0D07F}"/>
          </ac:spMkLst>
        </pc:spChg>
      </pc:sldChg>
      <pc:sldMasterChg chg="delSldLayout">
        <pc:chgData name="Becca Levin" userId="08c76d0b-4d1f-44f5-8508-8653b2f54768" providerId="ADAL" clId="{5AA3B8CE-AFEA-44FA-ACCD-448CA31DFD0A}" dt="2026-04-07T21:44:49.002" v="36" actId="47"/>
        <pc:sldMasterMkLst>
          <pc:docMk/>
          <pc:sldMasterMk cId="2308491595" sldId="2147483667"/>
        </pc:sldMasterMkLst>
        <pc:sldLayoutChg chg="del">
          <pc:chgData name="Becca Levin" userId="08c76d0b-4d1f-44f5-8508-8653b2f54768" providerId="ADAL" clId="{5AA3B8CE-AFEA-44FA-ACCD-448CA31DFD0A}" dt="2026-04-07T21:44:49.002" v="36" actId="47"/>
          <pc:sldLayoutMkLst>
            <pc:docMk/>
            <pc:sldMasterMk cId="2308491595" sldId="2147483667"/>
            <pc:sldLayoutMk cId="3132159276" sldId="2147483691"/>
          </pc:sldLayoutMkLst>
        </pc:sldLayoutChg>
      </pc:sldMasterChg>
    </pc:docChg>
  </pc:docChgLst>
  <pc:docChgLst>
    <pc:chgData name="Greg Mullen" userId="S::gmullen@segotx.com::15d9f696-28c4-4111-b985-4ee728509f13" providerId="AD" clId="Web-{0F0296EA-5968-9126-9375-E2F01BCF4BEA}"/>
    <pc:docChg chg="mod">
      <pc:chgData name="Greg Mullen" userId="S::gmullen@segotx.com::15d9f696-28c4-4111-b985-4ee728509f13" providerId="AD" clId="Web-{0F0296EA-5968-9126-9375-E2F01BCF4BEA}" dt="2026-04-08T10:32:33.403" v="0"/>
      <pc:docMkLst>
        <pc:docMk/>
      </pc:docMkLst>
    </pc:docChg>
  </pc:docChgLst>
</pc:chgInfo>
</file>

<file path=ppt/comments/modernComment_257_849FE7DE.xml><?xml version="1.0" encoding="utf-8"?>
<p188:cmLst xmlns:a="http://schemas.openxmlformats.org/drawingml/2006/main" xmlns:r="http://schemas.openxmlformats.org/officeDocument/2006/relationships" xmlns:p188="http://schemas.microsoft.com/office/powerpoint/2018/8/main">
  <p188:cm id="{1BAE92F7-0783-4194-8A4F-550ED811623F}" authorId="{1B2CCED9-E761-A789-87FA-8A8BE5E75A61}" status="resolved" created="2026-04-08T10:37:40.971" complete="100000">
    <ac:deMkLst xmlns:ac="http://schemas.microsoft.com/office/drawing/2013/main/command">
      <pc:docMk xmlns:pc="http://schemas.microsoft.com/office/powerpoint/2013/main/command"/>
      <pc:sldMk xmlns:pc="http://schemas.microsoft.com/office/powerpoint/2013/main/command" cId="2225072094" sldId="599"/>
      <ac:spMk id="211" creationId="{43AB6A02-3B91-28E2-C830-A5580416DECD}"/>
    </ac:deMkLst>
    <p188:replyLst>
      <p188:reply id="{50A2BE50-5AD9-4618-BF92-73CEA1AC6F7A}" authorId="{43E7231E-D65A-7660-884F-A801964A74DA}" created="2026-04-08T18:35:01.357">
        <p188:txBody>
          <a:bodyPr/>
          <a:lstStyle/>
          <a:p>
            <a:r>
              <a:rPr lang="en-US"/>
              <a:t>Fair. I’m going to leave it. </a:t>
            </a:r>
          </a:p>
        </p188:txBody>
      </p188:reply>
    </p188:replyLst>
    <p188:txBody>
      <a:bodyPr/>
      <a:lstStyle/>
      <a:p>
        <a:r>
          <a:rPr lang="en-GB"/>
          <a:t>The preclinical data only adds weight if there is strong sequence homology and if the expression profile is the same as in the humans i.e. only expressed in the tight junctions in healthy tissue.  </a:t>
        </a:r>
      </a:p>
    </p188:txBody>
  </p188:cm>
  <p188:cm id="{1CF02671-9AB4-4EC8-8A3F-1552953609F0}" authorId="{1B2CCED9-E761-A789-87FA-8A8BE5E75A61}" status="resolved" created="2026-04-08T10:49:33.658" complete="100000">
    <ac:deMkLst xmlns:ac="http://schemas.microsoft.com/office/drawing/2013/main/command">
      <pc:docMk xmlns:pc="http://schemas.microsoft.com/office/powerpoint/2013/main/command"/>
      <pc:sldMk xmlns:pc="http://schemas.microsoft.com/office/powerpoint/2013/main/command" cId="2225072094" sldId="599"/>
      <ac:spMk id="212" creationId="{FF5B59A6-4BB6-8AA8-F1E3-A791EB3D9D94}"/>
    </ac:deMkLst>
    <p188:replyLst>
      <p188:reply id="{33E9267C-A7FC-4F22-8796-5327CFCA8337}" authorId="{43E7231E-D65A-7660-884F-A801964A74DA}" created="2026-04-08T18:35:41.943">
        <p188:txBody>
          <a:bodyPr/>
          <a:lstStyle/>
          <a:p>
            <a:r>
              <a:rPr lang="en-US"/>
              <a:t>Update to on-target, off tumor
</a:t>
            </a:r>
          </a:p>
        </p188:txBody>
      </p188:reply>
    </p188:replyLst>
    <p188:txBody>
      <a:bodyPr/>
      <a:lstStyle/>
      <a:p>
        <a:r>
          <a:rPr lang="en-GB"/>
          <a:t>The issue isn't "off-target" tox the question from Orbimed was specifically around "on-target off tumor" tox i.e. does it bind to CLDNs in health tissues particularly in the lung cf MSLN i.e.  MSLN is more accessible than CLDNs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71D87B-779E-4C53-BDC0-166D55DEDFAE}"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65E18-AC13-408F-BAB5-4CDB0C351CFF}" type="slidenum">
              <a:rPr lang="en-US" smtClean="0"/>
              <a:t>‹#›</a:t>
            </a:fld>
            <a:endParaRPr lang="en-US"/>
          </a:p>
        </p:txBody>
      </p:sp>
    </p:spTree>
    <p:extLst>
      <p:ext uri="{BB962C8B-B14F-4D97-AF65-F5344CB8AC3E}">
        <p14:creationId xmlns:p14="http://schemas.microsoft.com/office/powerpoint/2010/main" val="48654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sciencedirect.com/science/article/pii/S0893395222032689" TargetMode="External"/><Relationship Id="rId2" Type="http://schemas.openxmlformats.org/officeDocument/2006/relationships/slide" Target="../slides/slide10.xml"/><Relationship Id="rId1" Type="http://schemas.openxmlformats.org/officeDocument/2006/relationships/notesMaster" Target="../notesMasters/notesMaster1.xml"/><Relationship Id="rId5" Type="http://schemas.openxmlformats.org/officeDocument/2006/relationships/hyperlink" Target="https://www.journal-of-hepatology.eu/article/S0168-8278(22)03147-6/fulltext#supplementary-material" TargetMode="External"/><Relationship Id="rId4" Type="http://schemas.openxmlformats.org/officeDocument/2006/relationships/hyperlink" Target="https://pubmed.ncbi.nlm.nih.gov/23856835/"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45662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65766-9FB3-C4ED-B104-899C152F08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9B3211-FFF9-E72D-D673-37AB640F4D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AB8973-7558-90A5-67A8-65BBC200C3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9DC8DF-E14F-A74F-9C41-794B668017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62790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A55F5-80A9-5EFC-5FF8-E6AAF58679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25543E-FCFA-3402-78AE-1207AD19D58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2671E1C-2165-8EB4-444A-FC17262EDBB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2817254-828D-0B76-9D4C-2F23D07EE0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58505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Sans-Serif"/>
              <a:buChar char="•"/>
            </a:pPr>
            <a:r>
              <a:rPr lang="en-US">
                <a:ea typeface="Calibri"/>
                <a:cs typeface="Calibri"/>
              </a:rPr>
              <a:t>Notes for later: on shedding</a:t>
            </a:r>
            <a:br>
              <a:rPr lang="en-US">
                <a:ea typeface="Calibri"/>
                <a:cs typeface="+mn-lt"/>
              </a:rPr>
            </a:br>
            <a:r>
              <a:rPr lang="en-US"/>
              <a:t>Single pass, dual pass transmembrane domain proteins and GPI-anchored proteins are typically shed while </a:t>
            </a:r>
            <a:r>
              <a:rPr lang="en-US" err="1"/>
              <a:t>tetraspan</a:t>
            </a:r>
            <a:r>
              <a:rPr lang="en-US"/>
              <a:t> proteins including Claudins are generally not shed into the serum.</a:t>
            </a:r>
          </a:p>
          <a:p>
            <a:pPr marL="171450" indent="-171450">
              <a:buFont typeface="Arial,Sans-Serif"/>
              <a:buChar char="•"/>
            </a:pPr>
            <a:r>
              <a:rPr lang="en-US"/>
              <a:t>CLDN1s extracellular loops are small 20-55 amino acids ,while most well known shed proteins like EGFR and PSMA have large ectodomains of ~600 and 700 amino acids.</a:t>
            </a:r>
          </a:p>
          <a:p>
            <a:pPr marL="171450" indent="-171450">
              <a:buFont typeface="Arial,Sans-Serif"/>
              <a:buChar char="•"/>
            </a:pPr>
            <a:r>
              <a:rPr lang="en-US"/>
              <a:t>There is no convincing evidence any significant amount of CLDN1 is shed into the serum.-1 really bad paper with an  sandwich </a:t>
            </a:r>
            <a:r>
              <a:rPr lang="en-US" err="1"/>
              <a:t>ELisa</a:t>
            </a:r>
            <a:r>
              <a:rPr lang="en-US"/>
              <a:t> ,likely signal is from exosomes not shed versions. And had lower expression in cancer than healthy which is not expected, casting doubt on the publication.</a:t>
            </a:r>
            <a:endParaRPr lang="en-US">
              <a:ea typeface="Calibri"/>
              <a:cs typeface="Calibri"/>
            </a:endParaRPr>
          </a:p>
          <a:p>
            <a:pPr marL="171450" indent="-171450">
              <a:buFont typeface="Arial,Sans-Serif"/>
              <a:buChar char="•"/>
            </a:pPr>
            <a:r>
              <a:rPr lang="en-US"/>
              <a:t>This minimizes the risk of a soluble antigen sink in the serum and reduces off-target exposures.</a:t>
            </a:r>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21A958-E166-4D17-A7E8-44AF4287EA40}"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35938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C615-762E-8F01-9E3C-1D694EA65D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9A848-F347-65E2-E187-2916899AD06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A2AC28-D438-B046-A0BB-F2716EAFA2B4}"/>
              </a:ext>
            </a:extLst>
          </p:cNvPr>
          <p:cNvSpPr>
            <a:spLocks noGrp="1"/>
          </p:cNvSpPr>
          <p:nvPr>
            <p:ph type="body" idx="1"/>
          </p:nvPr>
        </p:nvSpPr>
        <p:spPr/>
        <p:txBody>
          <a:bodyPr/>
          <a:lstStyle/>
          <a:p>
            <a:r>
              <a:rPr lang="en-US">
                <a:hlinkClick r:id="rId3"/>
              </a:rPr>
              <a:t>Claudin-1 and claudin-5 expression patterns differentiate lung squamous cell carcinomas from adenocarcinomas - ScienceDirect</a:t>
            </a:r>
            <a:endParaRPr lang="en-US">
              <a:ea typeface="Calibri" panose="020F0502020204030204"/>
              <a:cs typeface="Calibri" panose="020F0502020204030204"/>
            </a:endParaRPr>
          </a:p>
          <a:p>
            <a:r>
              <a:rPr lang="en-US">
                <a:hlinkClick r:id="rId4"/>
              </a:rPr>
              <a:t>The prognostic role of claudins in head and neck squamous cell carcinomas - PubMed</a:t>
            </a:r>
            <a:br>
              <a:rPr lang="en-US">
                <a:cs typeface="+mn-lt"/>
              </a:rPr>
            </a:br>
            <a:r>
              <a:rPr lang="en-US">
                <a:hlinkClick r:id="rId5"/>
              </a:rPr>
              <a:t>Treatment of HCC with claudin-1-specific antibodies suppresses carcinogenic signaling and reprograms the tumor microenvironment - Journal of Hepatology</a:t>
            </a:r>
            <a:endParaRPr lang="en-US"/>
          </a:p>
          <a:p>
            <a:endParaRPr lang="en-US"/>
          </a:p>
        </p:txBody>
      </p:sp>
      <p:sp>
        <p:nvSpPr>
          <p:cNvPr id="4" name="Slide Number Placeholder 3">
            <a:extLst>
              <a:ext uri="{FF2B5EF4-FFF2-40B4-BE49-F238E27FC236}">
                <a16:creationId xmlns:a16="http://schemas.microsoft.com/office/drawing/2014/main" id="{96886A45-F328-7332-67A9-A13386AE9E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21A958-E166-4D17-A7E8-44AF4287EA4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04732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62216752"/>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CDB6738-640A-285C-80F7-EBA40DE8F0C0}"/>
              </a:ext>
            </a:extLst>
          </p:cNvPr>
          <p:cNvSpPr/>
          <p:nvPr/>
        </p:nvSpPr>
        <p:spPr>
          <a:xfrm>
            <a:off x="-198582" y="-692727"/>
            <a:ext cx="12589164" cy="693651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51204C1-E901-AD77-DE7C-59D21226D74D}"/>
              </a:ext>
            </a:extLst>
          </p:cNvPr>
          <p:cNvSpPr>
            <a:spLocks noGrp="1"/>
          </p:cNvSpPr>
          <p:nvPr>
            <p:ph type="ctrTitle"/>
          </p:nvPr>
        </p:nvSpPr>
        <p:spPr>
          <a:xfrm>
            <a:off x="629515" y="1122363"/>
            <a:ext cx="10038485" cy="1870219"/>
          </a:xfrm>
        </p:spPr>
        <p:txBody>
          <a:bodyPr anchor="b">
            <a:normAutofit/>
          </a:bodyPr>
          <a:lstStyle>
            <a:lvl1pPr algn="l">
              <a:defRPr sz="36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06926440-34FF-6B8F-F8AA-3CB4F6F9D0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AC9C4D9-2245-6A45-3A6B-9AC657259F5F}"/>
              </a:ext>
            </a:extLst>
          </p:cNvPr>
          <p:cNvSpPr>
            <a:spLocks noGrp="1"/>
          </p:cNvSpPr>
          <p:nvPr>
            <p:ph type="dt" sz="half" idx="10"/>
          </p:nvPr>
        </p:nvSpPr>
        <p:spPr>
          <a:xfrm>
            <a:off x="838200" y="6356350"/>
            <a:ext cx="2743200" cy="365125"/>
          </a:xfrm>
          <a:prstGeom prst="rect">
            <a:avLst/>
          </a:prstGeom>
        </p:spPr>
        <p:txBody>
          <a:bodyPr anchor="ctr"/>
          <a:lstStyle>
            <a:lvl1pPr>
              <a:defRPr sz="1200">
                <a:solidFill>
                  <a:schemeClr val="tx1"/>
                </a:solidFill>
              </a:defRPr>
            </a:lvl1pPr>
          </a:lstStyle>
          <a:p>
            <a:fld id="{6E66945E-E29C-4A10-8917-9BE476573A98}" type="datetimeFigureOut">
              <a:rPr lang="en-US" smtClean="0"/>
              <a:t>4/8/2026</a:t>
            </a:fld>
            <a:endParaRPr lang="en-US"/>
          </a:p>
        </p:txBody>
      </p:sp>
      <p:sp>
        <p:nvSpPr>
          <p:cNvPr id="5" name="Footer Placeholder 4">
            <a:extLst>
              <a:ext uri="{FF2B5EF4-FFF2-40B4-BE49-F238E27FC236}">
                <a16:creationId xmlns:a16="http://schemas.microsoft.com/office/drawing/2014/main" id="{2EE75429-B4D5-78E5-BD9B-CC1E613A41C9}"/>
              </a:ext>
            </a:extLst>
          </p:cNvPr>
          <p:cNvSpPr>
            <a:spLocks noGrp="1"/>
          </p:cNvSpPr>
          <p:nvPr>
            <p:ph type="ftr" sz="quarter" idx="11"/>
          </p:nvPr>
        </p:nvSpPr>
        <p:spPr/>
        <p:txBody>
          <a:bodyPr anchor="ctr"/>
          <a:lstStyle>
            <a:lvl1pPr>
              <a:defRPr sz="12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5709ECA2-FE9B-B45C-BC7B-112303A0EFF0}"/>
              </a:ext>
            </a:extLst>
          </p:cNvPr>
          <p:cNvSpPr>
            <a:spLocks noGrp="1"/>
          </p:cNvSpPr>
          <p:nvPr>
            <p:ph type="sldNum" sz="quarter" idx="12"/>
          </p:nvPr>
        </p:nvSpPr>
        <p:spPr/>
        <p:txBody>
          <a:bodyPr anchor="ctr"/>
          <a:lstStyle>
            <a:lvl1pPr>
              <a:defRPr sz="1200">
                <a:solidFill>
                  <a:schemeClr val="tx1"/>
                </a:solidFill>
              </a:defRPr>
            </a:lvl1pPr>
          </a:lstStyle>
          <a:p>
            <a:fld id="{F4CFF174-0C8B-41F2-9A46-1C3276C99A0F}" type="slidenum">
              <a:rPr lang="en-US" smtClean="0"/>
              <a:t>‹#›</a:t>
            </a:fld>
            <a:endParaRPr lang="en-US"/>
          </a:p>
        </p:txBody>
      </p:sp>
      <p:sp>
        <p:nvSpPr>
          <p:cNvPr id="8" name="Shape 1">
            <a:extLst>
              <a:ext uri="{FF2B5EF4-FFF2-40B4-BE49-F238E27FC236}">
                <a16:creationId xmlns:a16="http://schemas.microsoft.com/office/drawing/2014/main" id="{736AE9BE-8563-C614-00B9-06D671AECD41}"/>
              </a:ext>
            </a:extLst>
          </p:cNvPr>
          <p:cNvSpPr/>
          <p:nvPr/>
        </p:nvSpPr>
        <p:spPr>
          <a:xfrm>
            <a:off x="457200" y="457200"/>
            <a:ext cx="871538" cy="300038"/>
          </a:xfrm>
          <a:prstGeom prst="rect">
            <a:avLst/>
          </a:prstGeom>
          <a:noFill/>
          <a:ln/>
        </p:spPr>
        <p:txBody>
          <a:bodyPr/>
          <a:lstStyle/>
          <a:p>
            <a:endParaRPr lang="en-US"/>
          </a:p>
        </p:txBody>
      </p:sp>
      <p:pic>
        <p:nvPicPr>
          <p:cNvPr id="9" name="Image 0" descr="preencoded.png">
            <a:extLst>
              <a:ext uri="{FF2B5EF4-FFF2-40B4-BE49-F238E27FC236}">
                <a16:creationId xmlns:a16="http://schemas.microsoft.com/office/drawing/2014/main" id="{52968D7F-126F-2166-45E4-5006D0BF4F4B}"/>
              </a:ext>
            </a:extLst>
          </p:cNvPr>
          <p:cNvPicPr>
            <a:picLocks noChangeAspect="1"/>
          </p:cNvPicPr>
          <p:nvPr/>
        </p:nvPicPr>
        <p:blipFill>
          <a:blip r:embed="rId2"/>
          <a:stretch>
            <a:fillRect/>
          </a:stretch>
        </p:blipFill>
        <p:spPr>
          <a:xfrm>
            <a:off x="525823" y="457200"/>
            <a:ext cx="154974" cy="188378"/>
          </a:xfrm>
          <a:prstGeom prst="rect">
            <a:avLst/>
          </a:prstGeom>
        </p:spPr>
      </p:pic>
      <p:pic>
        <p:nvPicPr>
          <p:cNvPr id="10" name="Image 1" descr="preencoded.png">
            <a:extLst>
              <a:ext uri="{FF2B5EF4-FFF2-40B4-BE49-F238E27FC236}">
                <a16:creationId xmlns:a16="http://schemas.microsoft.com/office/drawing/2014/main" id="{C4C8A8BD-F576-4C5F-081D-87C0BB3B6AFE}"/>
              </a:ext>
            </a:extLst>
          </p:cNvPr>
          <p:cNvPicPr>
            <a:picLocks noChangeAspect="1"/>
          </p:cNvPicPr>
          <p:nvPr/>
        </p:nvPicPr>
        <p:blipFill>
          <a:blip r:embed="rId3"/>
          <a:stretch>
            <a:fillRect/>
          </a:stretch>
        </p:blipFill>
        <p:spPr>
          <a:xfrm>
            <a:off x="588558" y="659529"/>
            <a:ext cx="959" cy="5"/>
          </a:xfrm>
          <a:prstGeom prst="rect">
            <a:avLst/>
          </a:prstGeom>
        </p:spPr>
      </p:pic>
      <p:pic>
        <p:nvPicPr>
          <p:cNvPr id="11" name="Image 2" descr="preencoded.png">
            <a:extLst>
              <a:ext uri="{FF2B5EF4-FFF2-40B4-BE49-F238E27FC236}">
                <a16:creationId xmlns:a16="http://schemas.microsoft.com/office/drawing/2014/main" id="{1E7B4B12-C9E4-E155-3993-625F6FB1E12B}"/>
              </a:ext>
            </a:extLst>
          </p:cNvPr>
          <p:cNvPicPr>
            <a:picLocks noChangeAspect="1"/>
          </p:cNvPicPr>
          <p:nvPr/>
        </p:nvPicPr>
        <p:blipFill>
          <a:blip r:embed="rId3"/>
          <a:stretch>
            <a:fillRect/>
          </a:stretch>
        </p:blipFill>
        <p:spPr>
          <a:xfrm>
            <a:off x="588274" y="659533"/>
            <a:ext cx="287" cy="5"/>
          </a:xfrm>
          <a:prstGeom prst="rect">
            <a:avLst/>
          </a:prstGeom>
        </p:spPr>
      </p:pic>
      <p:pic>
        <p:nvPicPr>
          <p:cNvPr id="12" name="Image 3" descr="preencoded.png">
            <a:extLst>
              <a:ext uri="{FF2B5EF4-FFF2-40B4-BE49-F238E27FC236}">
                <a16:creationId xmlns:a16="http://schemas.microsoft.com/office/drawing/2014/main" id="{B92E9DCB-F21C-04F7-5F55-34618D4762DB}"/>
              </a:ext>
            </a:extLst>
          </p:cNvPr>
          <p:cNvPicPr>
            <a:picLocks noChangeAspect="1"/>
          </p:cNvPicPr>
          <p:nvPr/>
        </p:nvPicPr>
        <p:blipFill>
          <a:blip r:embed="rId3"/>
          <a:stretch>
            <a:fillRect/>
          </a:stretch>
        </p:blipFill>
        <p:spPr>
          <a:xfrm>
            <a:off x="590747" y="673402"/>
            <a:ext cx="465" cy="5"/>
          </a:xfrm>
          <a:prstGeom prst="rect">
            <a:avLst/>
          </a:prstGeom>
        </p:spPr>
      </p:pic>
      <p:pic>
        <p:nvPicPr>
          <p:cNvPr id="13" name="Image 4" descr="preencoded.png">
            <a:extLst>
              <a:ext uri="{FF2B5EF4-FFF2-40B4-BE49-F238E27FC236}">
                <a16:creationId xmlns:a16="http://schemas.microsoft.com/office/drawing/2014/main" id="{2B422FB9-16AE-8A52-AFD0-F5C0D4C97B71}"/>
              </a:ext>
            </a:extLst>
          </p:cNvPr>
          <p:cNvPicPr>
            <a:picLocks noChangeAspect="1"/>
          </p:cNvPicPr>
          <p:nvPr/>
        </p:nvPicPr>
        <p:blipFill>
          <a:blip r:embed="rId4"/>
          <a:stretch>
            <a:fillRect/>
          </a:stretch>
        </p:blipFill>
        <p:spPr>
          <a:xfrm>
            <a:off x="799143" y="507676"/>
            <a:ext cx="135918" cy="199280"/>
          </a:xfrm>
          <a:prstGeom prst="rect">
            <a:avLst/>
          </a:prstGeom>
        </p:spPr>
      </p:pic>
      <p:pic>
        <p:nvPicPr>
          <p:cNvPr id="14" name="Image 5" descr="preencoded.png">
            <a:extLst>
              <a:ext uri="{FF2B5EF4-FFF2-40B4-BE49-F238E27FC236}">
                <a16:creationId xmlns:a16="http://schemas.microsoft.com/office/drawing/2014/main" id="{0AE362E8-2180-4F33-99E9-3A63658A556C}"/>
              </a:ext>
            </a:extLst>
          </p:cNvPr>
          <p:cNvPicPr>
            <a:picLocks noChangeAspect="1"/>
          </p:cNvPicPr>
          <p:nvPr/>
        </p:nvPicPr>
        <p:blipFill>
          <a:blip r:embed="rId5"/>
          <a:stretch>
            <a:fillRect/>
          </a:stretch>
        </p:blipFill>
        <p:spPr>
          <a:xfrm>
            <a:off x="940416" y="562009"/>
            <a:ext cx="124990" cy="144942"/>
          </a:xfrm>
          <a:prstGeom prst="rect">
            <a:avLst/>
          </a:prstGeom>
        </p:spPr>
      </p:pic>
      <p:pic>
        <p:nvPicPr>
          <p:cNvPr id="15" name="Image 6" descr="preencoded.png">
            <a:extLst>
              <a:ext uri="{FF2B5EF4-FFF2-40B4-BE49-F238E27FC236}">
                <a16:creationId xmlns:a16="http://schemas.microsoft.com/office/drawing/2014/main" id="{05260289-CF13-CF9A-74AC-86175E6B59E7}"/>
              </a:ext>
            </a:extLst>
          </p:cNvPr>
          <p:cNvPicPr>
            <a:picLocks noChangeAspect="1"/>
          </p:cNvPicPr>
          <p:nvPr/>
        </p:nvPicPr>
        <p:blipFill>
          <a:blip r:embed="rId6"/>
          <a:stretch>
            <a:fillRect/>
          </a:stretch>
        </p:blipFill>
        <p:spPr>
          <a:xfrm>
            <a:off x="1068347" y="561991"/>
            <a:ext cx="130069" cy="195247"/>
          </a:xfrm>
          <a:prstGeom prst="rect">
            <a:avLst/>
          </a:prstGeom>
        </p:spPr>
      </p:pic>
      <p:pic>
        <p:nvPicPr>
          <p:cNvPr id="16" name="Image 7" descr="preencoded.png">
            <a:extLst>
              <a:ext uri="{FF2B5EF4-FFF2-40B4-BE49-F238E27FC236}">
                <a16:creationId xmlns:a16="http://schemas.microsoft.com/office/drawing/2014/main" id="{58C28360-A6BE-8081-38E0-A8C32A75C7C3}"/>
              </a:ext>
            </a:extLst>
          </p:cNvPr>
          <p:cNvPicPr>
            <a:picLocks noChangeAspect="1"/>
          </p:cNvPicPr>
          <p:nvPr/>
        </p:nvPicPr>
        <p:blipFill>
          <a:blip r:embed="rId7"/>
          <a:stretch>
            <a:fillRect/>
          </a:stretch>
        </p:blipFill>
        <p:spPr>
          <a:xfrm>
            <a:off x="1194934" y="562005"/>
            <a:ext cx="133799" cy="144942"/>
          </a:xfrm>
          <a:prstGeom prst="rect">
            <a:avLst/>
          </a:prstGeom>
        </p:spPr>
      </p:pic>
      <p:pic>
        <p:nvPicPr>
          <p:cNvPr id="17" name="Image 8" descr="preencoded.png">
            <a:extLst>
              <a:ext uri="{FF2B5EF4-FFF2-40B4-BE49-F238E27FC236}">
                <a16:creationId xmlns:a16="http://schemas.microsoft.com/office/drawing/2014/main" id="{ECBAAB9E-CDC2-0FF4-C755-D815B2BB5F78}"/>
              </a:ext>
            </a:extLst>
          </p:cNvPr>
          <p:cNvPicPr>
            <a:picLocks noChangeAspect="1"/>
          </p:cNvPicPr>
          <p:nvPr/>
        </p:nvPicPr>
        <p:blipFill>
          <a:blip r:embed="rId8"/>
          <a:stretch>
            <a:fillRect/>
          </a:stretch>
        </p:blipFill>
        <p:spPr>
          <a:xfrm>
            <a:off x="577092" y="577653"/>
            <a:ext cx="172315" cy="155106"/>
          </a:xfrm>
          <a:prstGeom prst="rect">
            <a:avLst/>
          </a:prstGeom>
        </p:spPr>
      </p:pic>
      <p:pic>
        <p:nvPicPr>
          <p:cNvPr id="18" name="Image 9" descr="preencoded.png">
            <a:extLst>
              <a:ext uri="{FF2B5EF4-FFF2-40B4-BE49-F238E27FC236}">
                <a16:creationId xmlns:a16="http://schemas.microsoft.com/office/drawing/2014/main" id="{58320A9F-196A-AE77-A484-B6E5D507A6DA}"/>
              </a:ext>
            </a:extLst>
          </p:cNvPr>
          <p:cNvPicPr>
            <a:picLocks noChangeAspect="1"/>
          </p:cNvPicPr>
          <p:nvPr/>
        </p:nvPicPr>
        <p:blipFill>
          <a:blip r:embed="rId9"/>
          <a:stretch>
            <a:fillRect/>
          </a:stretch>
        </p:blipFill>
        <p:spPr>
          <a:xfrm>
            <a:off x="457200" y="577648"/>
            <a:ext cx="172315" cy="155113"/>
          </a:xfrm>
          <a:prstGeom prst="rect">
            <a:avLst/>
          </a:prstGeom>
        </p:spPr>
      </p:pic>
    </p:spTree>
    <p:extLst>
      <p:ext uri="{BB962C8B-B14F-4D97-AF65-F5344CB8AC3E}">
        <p14:creationId xmlns:p14="http://schemas.microsoft.com/office/powerpoint/2010/main" val="3016959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F91E4-0767-757A-6C26-F8C974F5D36E}"/>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F77FBE57-1EB4-8357-C896-4AAAD6BCA147}"/>
              </a:ext>
            </a:extLst>
          </p:cNvPr>
          <p:cNvSpPr>
            <a:spLocks noGrp="1"/>
          </p:cNvSpPr>
          <p:nvPr>
            <p:ph idx="1"/>
          </p:nvPr>
        </p:nvSpPr>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8CFE290-1BA8-4866-A227-485B2A5364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AA9728-BA0F-E899-0CAD-26BC15062FEB}"/>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7" name="Shape 5">
            <a:extLst>
              <a:ext uri="{FF2B5EF4-FFF2-40B4-BE49-F238E27FC236}">
                <a16:creationId xmlns:a16="http://schemas.microsoft.com/office/drawing/2014/main" id="{3309DD90-9BA0-57EA-6D6E-750F1C324FC8}"/>
              </a:ext>
            </a:extLst>
          </p:cNvPr>
          <p:cNvSpPr/>
          <p:nvPr/>
        </p:nvSpPr>
        <p:spPr>
          <a:xfrm>
            <a:off x="190500" y="190500"/>
            <a:ext cx="661988" cy="228600"/>
          </a:xfrm>
          <a:prstGeom prst="rect">
            <a:avLst/>
          </a:prstGeom>
          <a:noFill/>
          <a:ln/>
        </p:spPr>
        <p:txBody>
          <a:bodyPr/>
          <a:lstStyle/>
          <a:p>
            <a:endParaRPr lang="en-US"/>
          </a:p>
        </p:txBody>
      </p:sp>
      <p:pic>
        <p:nvPicPr>
          <p:cNvPr id="8" name="Image 3" descr="preencoded.png">
            <a:extLst>
              <a:ext uri="{FF2B5EF4-FFF2-40B4-BE49-F238E27FC236}">
                <a16:creationId xmlns:a16="http://schemas.microsoft.com/office/drawing/2014/main" id="{B77A0BCF-864C-10EA-E989-AF59B941C2EF}"/>
              </a:ext>
            </a:extLst>
          </p:cNvPr>
          <p:cNvPicPr>
            <a:picLocks noChangeAspect="1"/>
          </p:cNvPicPr>
          <p:nvPr/>
        </p:nvPicPr>
        <p:blipFill>
          <a:blip r:embed="rId2"/>
          <a:stretch>
            <a:fillRect/>
          </a:stretch>
        </p:blipFill>
        <p:spPr>
          <a:xfrm>
            <a:off x="242624" y="190500"/>
            <a:ext cx="117713" cy="143526"/>
          </a:xfrm>
          <a:prstGeom prst="rect">
            <a:avLst/>
          </a:prstGeom>
        </p:spPr>
      </p:pic>
      <p:pic>
        <p:nvPicPr>
          <p:cNvPr id="9" name="Image 4" descr="preencoded.png">
            <a:extLst>
              <a:ext uri="{FF2B5EF4-FFF2-40B4-BE49-F238E27FC236}">
                <a16:creationId xmlns:a16="http://schemas.microsoft.com/office/drawing/2014/main" id="{21522D1E-FB95-FAF3-8759-A99853816295}"/>
              </a:ext>
            </a:extLst>
          </p:cNvPr>
          <p:cNvPicPr>
            <a:picLocks noChangeAspect="1"/>
          </p:cNvPicPr>
          <p:nvPr/>
        </p:nvPicPr>
        <p:blipFill>
          <a:blip r:embed="rId3"/>
          <a:stretch>
            <a:fillRect/>
          </a:stretch>
        </p:blipFill>
        <p:spPr>
          <a:xfrm>
            <a:off x="290275" y="344655"/>
            <a:ext cx="728" cy="3"/>
          </a:xfrm>
          <a:prstGeom prst="rect">
            <a:avLst/>
          </a:prstGeom>
        </p:spPr>
      </p:pic>
      <p:pic>
        <p:nvPicPr>
          <p:cNvPr id="10" name="Image 5" descr="preencoded.png">
            <a:extLst>
              <a:ext uri="{FF2B5EF4-FFF2-40B4-BE49-F238E27FC236}">
                <a16:creationId xmlns:a16="http://schemas.microsoft.com/office/drawing/2014/main" id="{AA1C6DF3-B2B0-D505-0322-4A74DD286D1E}"/>
              </a:ext>
            </a:extLst>
          </p:cNvPr>
          <p:cNvPicPr>
            <a:picLocks noChangeAspect="1"/>
          </p:cNvPicPr>
          <p:nvPr/>
        </p:nvPicPr>
        <p:blipFill>
          <a:blip r:embed="rId3"/>
          <a:stretch>
            <a:fillRect/>
          </a:stretch>
        </p:blipFill>
        <p:spPr>
          <a:xfrm>
            <a:off x="290059" y="344659"/>
            <a:ext cx="216" cy="3"/>
          </a:xfrm>
          <a:prstGeom prst="rect">
            <a:avLst/>
          </a:prstGeom>
        </p:spPr>
      </p:pic>
      <p:pic>
        <p:nvPicPr>
          <p:cNvPr id="11" name="Image 6" descr="preencoded.png">
            <a:extLst>
              <a:ext uri="{FF2B5EF4-FFF2-40B4-BE49-F238E27FC236}">
                <a16:creationId xmlns:a16="http://schemas.microsoft.com/office/drawing/2014/main" id="{74BB9666-7E16-7635-EFAA-9FE0AADA9DE0}"/>
              </a:ext>
            </a:extLst>
          </p:cNvPr>
          <p:cNvPicPr>
            <a:picLocks noChangeAspect="1"/>
          </p:cNvPicPr>
          <p:nvPr/>
        </p:nvPicPr>
        <p:blipFill>
          <a:blip r:embed="rId3"/>
          <a:stretch>
            <a:fillRect/>
          </a:stretch>
        </p:blipFill>
        <p:spPr>
          <a:xfrm>
            <a:off x="291937" y="355225"/>
            <a:ext cx="352" cy="3"/>
          </a:xfrm>
          <a:prstGeom prst="rect">
            <a:avLst/>
          </a:prstGeom>
        </p:spPr>
      </p:pic>
      <p:pic>
        <p:nvPicPr>
          <p:cNvPr id="12" name="Image 7" descr="preencoded.png">
            <a:extLst>
              <a:ext uri="{FF2B5EF4-FFF2-40B4-BE49-F238E27FC236}">
                <a16:creationId xmlns:a16="http://schemas.microsoft.com/office/drawing/2014/main" id="{7B200AFC-D38E-A7C9-8B60-2AA285B679CB}"/>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3" name="Image 8" descr="preencoded.png">
            <a:extLst>
              <a:ext uri="{FF2B5EF4-FFF2-40B4-BE49-F238E27FC236}">
                <a16:creationId xmlns:a16="http://schemas.microsoft.com/office/drawing/2014/main" id="{B4489371-CEE9-45CF-DAB8-D9E30AE7784E}"/>
              </a:ext>
            </a:extLst>
          </p:cNvPr>
          <p:cNvPicPr>
            <a:picLocks noChangeAspect="1"/>
          </p:cNvPicPr>
          <p:nvPr/>
        </p:nvPicPr>
        <p:blipFill>
          <a:blip r:embed="rId5"/>
          <a:stretch>
            <a:fillRect/>
          </a:stretch>
        </p:blipFill>
        <p:spPr>
          <a:xfrm>
            <a:off x="557532" y="270355"/>
            <a:ext cx="94938" cy="110432"/>
          </a:xfrm>
          <a:prstGeom prst="rect">
            <a:avLst/>
          </a:prstGeom>
        </p:spPr>
      </p:pic>
      <p:pic>
        <p:nvPicPr>
          <p:cNvPr id="14" name="Image 9" descr="preencoded.png">
            <a:extLst>
              <a:ext uri="{FF2B5EF4-FFF2-40B4-BE49-F238E27FC236}">
                <a16:creationId xmlns:a16="http://schemas.microsoft.com/office/drawing/2014/main" id="{073A8A60-1964-06AA-7C7B-D0BF8602401C}"/>
              </a:ext>
            </a:extLst>
          </p:cNvPr>
          <p:cNvPicPr>
            <a:picLocks noChangeAspect="1"/>
          </p:cNvPicPr>
          <p:nvPr/>
        </p:nvPicPr>
        <p:blipFill>
          <a:blip r:embed="rId6"/>
          <a:stretch>
            <a:fillRect/>
          </a:stretch>
        </p:blipFill>
        <p:spPr>
          <a:xfrm>
            <a:off x="654704" y="270341"/>
            <a:ext cx="98795" cy="148759"/>
          </a:xfrm>
          <a:prstGeom prst="rect">
            <a:avLst/>
          </a:prstGeom>
        </p:spPr>
      </p:pic>
      <p:pic>
        <p:nvPicPr>
          <p:cNvPr id="15" name="Image 10" descr="preencoded.png">
            <a:extLst>
              <a:ext uri="{FF2B5EF4-FFF2-40B4-BE49-F238E27FC236}">
                <a16:creationId xmlns:a16="http://schemas.microsoft.com/office/drawing/2014/main" id="{4413C882-A29F-0E1B-F4E6-DE194B649107}"/>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6" name="Image 11" descr="preencoded.png">
            <a:extLst>
              <a:ext uri="{FF2B5EF4-FFF2-40B4-BE49-F238E27FC236}">
                <a16:creationId xmlns:a16="http://schemas.microsoft.com/office/drawing/2014/main" id="{599359B0-BC5A-2798-D3EE-E906C8FE4AA1}"/>
              </a:ext>
            </a:extLst>
          </p:cNvPr>
          <p:cNvPicPr>
            <a:picLocks noChangeAspect="1"/>
          </p:cNvPicPr>
          <p:nvPr/>
        </p:nvPicPr>
        <p:blipFill>
          <a:blip r:embed="rId8"/>
          <a:stretch>
            <a:fillRect/>
          </a:stretch>
        </p:blipFill>
        <p:spPr>
          <a:xfrm>
            <a:off x="281565" y="282273"/>
            <a:ext cx="130884" cy="118176"/>
          </a:xfrm>
          <a:prstGeom prst="rect">
            <a:avLst/>
          </a:prstGeom>
        </p:spPr>
      </p:pic>
      <p:pic>
        <p:nvPicPr>
          <p:cNvPr id="17" name="Image 12" descr="preencoded.png">
            <a:extLst>
              <a:ext uri="{FF2B5EF4-FFF2-40B4-BE49-F238E27FC236}">
                <a16:creationId xmlns:a16="http://schemas.microsoft.com/office/drawing/2014/main" id="{1CAF3264-0793-6CDC-24D3-58AF8DEB3742}"/>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3972194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94616-8561-6A16-EBE9-6E1A3F96AA6A}"/>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6E6BEDDA-A7B8-93FA-FC2B-91CA7DFAFB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B46D9C-A2DA-90FE-6625-B23D1A90E9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A195ACC-39E6-3AC4-3A85-0CF2D69CC9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C74000-D324-1C4F-B0DE-8390683A3A94}"/>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8" name="Shape 5">
            <a:extLst>
              <a:ext uri="{FF2B5EF4-FFF2-40B4-BE49-F238E27FC236}">
                <a16:creationId xmlns:a16="http://schemas.microsoft.com/office/drawing/2014/main" id="{8ADAABF8-6644-3F36-4FAC-E26B71106E25}"/>
              </a:ext>
            </a:extLst>
          </p:cNvPr>
          <p:cNvSpPr/>
          <p:nvPr/>
        </p:nvSpPr>
        <p:spPr>
          <a:xfrm>
            <a:off x="190500" y="190500"/>
            <a:ext cx="661988" cy="228600"/>
          </a:xfrm>
          <a:prstGeom prst="rect">
            <a:avLst/>
          </a:prstGeom>
          <a:noFill/>
          <a:ln/>
        </p:spPr>
        <p:txBody>
          <a:bodyPr/>
          <a:lstStyle/>
          <a:p>
            <a:endParaRPr lang="en-US"/>
          </a:p>
        </p:txBody>
      </p:sp>
      <p:pic>
        <p:nvPicPr>
          <p:cNvPr id="9" name="Image 3" descr="preencoded.png">
            <a:extLst>
              <a:ext uri="{FF2B5EF4-FFF2-40B4-BE49-F238E27FC236}">
                <a16:creationId xmlns:a16="http://schemas.microsoft.com/office/drawing/2014/main" id="{D6819D18-280A-59B9-5A82-3AA527A0A22F}"/>
              </a:ext>
            </a:extLst>
          </p:cNvPr>
          <p:cNvPicPr>
            <a:picLocks noChangeAspect="1"/>
          </p:cNvPicPr>
          <p:nvPr/>
        </p:nvPicPr>
        <p:blipFill>
          <a:blip r:embed="rId2"/>
          <a:stretch>
            <a:fillRect/>
          </a:stretch>
        </p:blipFill>
        <p:spPr>
          <a:xfrm>
            <a:off x="242624" y="190500"/>
            <a:ext cx="117713" cy="143526"/>
          </a:xfrm>
          <a:prstGeom prst="rect">
            <a:avLst/>
          </a:prstGeom>
        </p:spPr>
      </p:pic>
      <p:pic>
        <p:nvPicPr>
          <p:cNvPr id="10" name="Image 4" descr="preencoded.png">
            <a:extLst>
              <a:ext uri="{FF2B5EF4-FFF2-40B4-BE49-F238E27FC236}">
                <a16:creationId xmlns:a16="http://schemas.microsoft.com/office/drawing/2014/main" id="{B3DB3EC3-97C7-8E1A-1C58-F2AB502630D7}"/>
              </a:ext>
            </a:extLst>
          </p:cNvPr>
          <p:cNvPicPr>
            <a:picLocks noChangeAspect="1"/>
          </p:cNvPicPr>
          <p:nvPr/>
        </p:nvPicPr>
        <p:blipFill>
          <a:blip r:embed="rId3"/>
          <a:stretch>
            <a:fillRect/>
          </a:stretch>
        </p:blipFill>
        <p:spPr>
          <a:xfrm>
            <a:off x="290275" y="344655"/>
            <a:ext cx="728" cy="3"/>
          </a:xfrm>
          <a:prstGeom prst="rect">
            <a:avLst/>
          </a:prstGeom>
        </p:spPr>
      </p:pic>
      <p:pic>
        <p:nvPicPr>
          <p:cNvPr id="11" name="Image 5" descr="preencoded.png">
            <a:extLst>
              <a:ext uri="{FF2B5EF4-FFF2-40B4-BE49-F238E27FC236}">
                <a16:creationId xmlns:a16="http://schemas.microsoft.com/office/drawing/2014/main" id="{986AD692-BF7B-E30E-AF4B-29E73B37ADA8}"/>
              </a:ext>
            </a:extLst>
          </p:cNvPr>
          <p:cNvPicPr>
            <a:picLocks noChangeAspect="1"/>
          </p:cNvPicPr>
          <p:nvPr/>
        </p:nvPicPr>
        <p:blipFill>
          <a:blip r:embed="rId3"/>
          <a:stretch>
            <a:fillRect/>
          </a:stretch>
        </p:blipFill>
        <p:spPr>
          <a:xfrm>
            <a:off x="290059" y="344659"/>
            <a:ext cx="216" cy="3"/>
          </a:xfrm>
          <a:prstGeom prst="rect">
            <a:avLst/>
          </a:prstGeom>
        </p:spPr>
      </p:pic>
      <p:pic>
        <p:nvPicPr>
          <p:cNvPr id="12" name="Image 6" descr="preencoded.png">
            <a:extLst>
              <a:ext uri="{FF2B5EF4-FFF2-40B4-BE49-F238E27FC236}">
                <a16:creationId xmlns:a16="http://schemas.microsoft.com/office/drawing/2014/main" id="{1E4B8F00-D927-A3D7-DF8B-9621664C91DA}"/>
              </a:ext>
            </a:extLst>
          </p:cNvPr>
          <p:cNvPicPr>
            <a:picLocks noChangeAspect="1"/>
          </p:cNvPicPr>
          <p:nvPr/>
        </p:nvPicPr>
        <p:blipFill>
          <a:blip r:embed="rId3"/>
          <a:stretch>
            <a:fillRect/>
          </a:stretch>
        </p:blipFill>
        <p:spPr>
          <a:xfrm>
            <a:off x="291937" y="355225"/>
            <a:ext cx="352" cy="3"/>
          </a:xfrm>
          <a:prstGeom prst="rect">
            <a:avLst/>
          </a:prstGeom>
        </p:spPr>
      </p:pic>
      <p:pic>
        <p:nvPicPr>
          <p:cNvPr id="13" name="Image 7" descr="preencoded.png">
            <a:extLst>
              <a:ext uri="{FF2B5EF4-FFF2-40B4-BE49-F238E27FC236}">
                <a16:creationId xmlns:a16="http://schemas.microsoft.com/office/drawing/2014/main" id="{8BE371D4-51AA-A4CA-BCA7-C17F586C33EE}"/>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4" name="Image 8" descr="preencoded.png">
            <a:extLst>
              <a:ext uri="{FF2B5EF4-FFF2-40B4-BE49-F238E27FC236}">
                <a16:creationId xmlns:a16="http://schemas.microsoft.com/office/drawing/2014/main" id="{5ECEAA31-DC84-C536-9A68-FCA883D9D779}"/>
              </a:ext>
            </a:extLst>
          </p:cNvPr>
          <p:cNvPicPr>
            <a:picLocks noChangeAspect="1"/>
          </p:cNvPicPr>
          <p:nvPr/>
        </p:nvPicPr>
        <p:blipFill>
          <a:blip r:embed="rId5"/>
          <a:stretch>
            <a:fillRect/>
          </a:stretch>
        </p:blipFill>
        <p:spPr>
          <a:xfrm>
            <a:off x="557532" y="270355"/>
            <a:ext cx="94938" cy="110432"/>
          </a:xfrm>
          <a:prstGeom prst="rect">
            <a:avLst/>
          </a:prstGeom>
        </p:spPr>
      </p:pic>
      <p:pic>
        <p:nvPicPr>
          <p:cNvPr id="15" name="Image 9" descr="preencoded.png">
            <a:extLst>
              <a:ext uri="{FF2B5EF4-FFF2-40B4-BE49-F238E27FC236}">
                <a16:creationId xmlns:a16="http://schemas.microsoft.com/office/drawing/2014/main" id="{62428B7B-F60F-2474-60E5-441970913893}"/>
              </a:ext>
            </a:extLst>
          </p:cNvPr>
          <p:cNvPicPr>
            <a:picLocks noChangeAspect="1"/>
          </p:cNvPicPr>
          <p:nvPr/>
        </p:nvPicPr>
        <p:blipFill>
          <a:blip r:embed="rId6"/>
          <a:stretch>
            <a:fillRect/>
          </a:stretch>
        </p:blipFill>
        <p:spPr>
          <a:xfrm>
            <a:off x="654704" y="270341"/>
            <a:ext cx="98795" cy="148759"/>
          </a:xfrm>
          <a:prstGeom prst="rect">
            <a:avLst/>
          </a:prstGeom>
        </p:spPr>
      </p:pic>
      <p:pic>
        <p:nvPicPr>
          <p:cNvPr id="16" name="Image 10" descr="preencoded.png">
            <a:extLst>
              <a:ext uri="{FF2B5EF4-FFF2-40B4-BE49-F238E27FC236}">
                <a16:creationId xmlns:a16="http://schemas.microsoft.com/office/drawing/2014/main" id="{CD30214C-33F4-EF4D-4A77-2669C3D85995}"/>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7" name="Image 11" descr="preencoded.png">
            <a:extLst>
              <a:ext uri="{FF2B5EF4-FFF2-40B4-BE49-F238E27FC236}">
                <a16:creationId xmlns:a16="http://schemas.microsoft.com/office/drawing/2014/main" id="{F652379B-9CF4-1AD1-870C-8D3C19ADC625}"/>
              </a:ext>
            </a:extLst>
          </p:cNvPr>
          <p:cNvPicPr>
            <a:picLocks noChangeAspect="1"/>
          </p:cNvPicPr>
          <p:nvPr/>
        </p:nvPicPr>
        <p:blipFill>
          <a:blip r:embed="rId8"/>
          <a:stretch>
            <a:fillRect/>
          </a:stretch>
        </p:blipFill>
        <p:spPr>
          <a:xfrm>
            <a:off x="281565" y="282273"/>
            <a:ext cx="130884" cy="118176"/>
          </a:xfrm>
          <a:prstGeom prst="rect">
            <a:avLst/>
          </a:prstGeom>
        </p:spPr>
      </p:pic>
      <p:pic>
        <p:nvPicPr>
          <p:cNvPr id="18" name="Image 12" descr="preencoded.png">
            <a:extLst>
              <a:ext uri="{FF2B5EF4-FFF2-40B4-BE49-F238E27FC236}">
                <a16:creationId xmlns:a16="http://schemas.microsoft.com/office/drawing/2014/main" id="{AAB9CA5D-C147-316E-9EA9-CFAF15793DA1}"/>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1807282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41E4E-8467-05AB-4B28-24FC65159BC7}"/>
              </a:ext>
            </a:extLst>
          </p:cNvPr>
          <p:cNvSpPr>
            <a:spLocks noGrp="1"/>
          </p:cNvSpPr>
          <p:nvPr>
            <p:ph type="title"/>
          </p:nvPr>
        </p:nvSpPr>
        <p:spPr>
          <a:xfrm>
            <a:off x="839788" y="365125"/>
            <a:ext cx="10515600" cy="1325563"/>
          </a:xfrm>
        </p:spPr>
        <p:txBody>
          <a:bodyPr>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2E73AF16-3B94-1554-ADEF-F4AB2AADE2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75CBF1-893D-CA3B-1E82-E42BA520A2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3764CD-180A-9677-3337-000001CB5C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ECCF24-889B-BC14-970F-2418CF0668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8B345D6-958F-BEFC-B6F2-D7DC3D4031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AE3341-5AE8-5BA8-0437-602286D4EE81}"/>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10" name="Shape 5">
            <a:extLst>
              <a:ext uri="{FF2B5EF4-FFF2-40B4-BE49-F238E27FC236}">
                <a16:creationId xmlns:a16="http://schemas.microsoft.com/office/drawing/2014/main" id="{2280E1E3-FBB0-BB01-80DF-10AE73698015}"/>
              </a:ext>
            </a:extLst>
          </p:cNvPr>
          <p:cNvSpPr/>
          <p:nvPr/>
        </p:nvSpPr>
        <p:spPr>
          <a:xfrm>
            <a:off x="190500" y="190500"/>
            <a:ext cx="661988" cy="228600"/>
          </a:xfrm>
          <a:prstGeom prst="rect">
            <a:avLst/>
          </a:prstGeom>
          <a:noFill/>
          <a:ln/>
        </p:spPr>
        <p:txBody>
          <a:bodyPr/>
          <a:lstStyle/>
          <a:p>
            <a:endParaRPr lang="en-US"/>
          </a:p>
        </p:txBody>
      </p:sp>
      <p:pic>
        <p:nvPicPr>
          <p:cNvPr id="11" name="Image 3" descr="preencoded.png">
            <a:extLst>
              <a:ext uri="{FF2B5EF4-FFF2-40B4-BE49-F238E27FC236}">
                <a16:creationId xmlns:a16="http://schemas.microsoft.com/office/drawing/2014/main" id="{996FDED8-EDA6-9343-D0A1-84BEBDD31D97}"/>
              </a:ext>
            </a:extLst>
          </p:cNvPr>
          <p:cNvPicPr>
            <a:picLocks noChangeAspect="1"/>
          </p:cNvPicPr>
          <p:nvPr/>
        </p:nvPicPr>
        <p:blipFill>
          <a:blip r:embed="rId2"/>
          <a:stretch>
            <a:fillRect/>
          </a:stretch>
        </p:blipFill>
        <p:spPr>
          <a:xfrm>
            <a:off x="242624" y="190500"/>
            <a:ext cx="117713" cy="143526"/>
          </a:xfrm>
          <a:prstGeom prst="rect">
            <a:avLst/>
          </a:prstGeom>
        </p:spPr>
      </p:pic>
      <p:pic>
        <p:nvPicPr>
          <p:cNvPr id="12" name="Image 4" descr="preencoded.png">
            <a:extLst>
              <a:ext uri="{FF2B5EF4-FFF2-40B4-BE49-F238E27FC236}">
                <a16:creationId xmlns:a16="http://schemas.microsoft.com/office/drawing/2014/main" id="{D83BCB30-36D8-4C72-14EE-F3E2E8F57313}"/>
              </a:ext>
            </a:extLst>
          </p:cNvPr>
          <p:cNvPicPr>
            <a:picLocks noChangeAspect="1"/>
          </p:cNvPicPr>
          <p:nvPr/>
        </p:nvPicPr>
        <p:blipFill>
          <a:blip r:embed="rId3"/>
          <a:stretch>
            <a:fillRect/>
          </a:stretch>
        </p:blipFill>
        <p:spPr>
          <a:xfrm>
            <a:off x="290275" y="344655"/>
            <a:ext cx="728" cy="3"/>
          </a:xfrm>
          <a:prstGeom prst="rect">
            <a:avLst/>
          </a:prstGeom>
        </p:spPr>
      </p:pic>
      <p:pic>
        <p:nvPicPr>
          <p:cNvPr id="13" name="Image 5" descr="preencoded.png">
            <a:extLst>
              <a:ext uri="{FF2B5EF4-FFF2-40B4-BE49-F238E27FC236}">
                <a16:creationId xmlns:a16="http://schemas.microsoft.com/office/drawing/2014/main" id="{B1AD6F6F-B20E-8D32-FAAB-369A5465E0C8}"/>
              </a:ext>
            </a:extLst>
          </p:cNvPr>
          <p:cNvPicPr>
            <a:picLocks noChangeAspect="1"/>
          </p:cNvPicPr>
          <p:nvPr/>
        </p:nvPicPr>
        <p:blipFill>
          <a:blip r:embed="rId3"/>
          <a:stretch>
            <a:fillRect/>
          </a:stretch>
        </p:blipFill>
        <p:spPr>
          <a:xfrm>
            <a:off x="290059" y="344659"/>
            <a:ext cx="216" cy="3"/>
          </a:xfrm>
          <a:prstGeom prst="rect">
            <a:avLst/>
          </a:prstGeom>
        </p:spPr>
      </p:pic>
      <p:pic>
        <p:nvPicPr>
          <p:cNvPr id="14" name="Image 6" descr="preencoded.png">
            <a:extLst>
              <a:ext uri="{FF2B5EF4-FFF2-40B4-BE49-F238E27FC236}">
                <a16:creationId xmlns:a16="http://schemas.microsoft.com/office/drawing/2014/main" id="{FBDDC6D6-2BEB-31DC-B298-E66E991D550A}"/>
              </a:ext>
            </a:extLst>
          </p:cNvPr>
          <p:cNvPicPr>
            <a:picLocks noChangeAspect="1"/>
          </p:cNvPicPr>
          <p:nvPr/>
        </p:nvPicPr>
        <p:blipFill>
          <a:blip r:embed="rId3"/>
          <a:stretch>
            <a:fillRect/>
          </a:stretch>
        </p:blipFill>
        <p:spPr>
          <a:xfrm>
            <a:off x="291937" y="355225"/>
            <a:ext cx="352" cy="3"/>
          </a:xfrm>
          <a:prstGeom prst="rect">
            <a:avLst/>
          </a:prstGeom>
        </p:spPr>
      </p:pic>
      <p:pic>
        <p:nvPicPr>
          <p:cNvPr id="15" name="Image 7" descr="preencoded.png">
            <a:extLst>
              <a:ext uri="{FF2B5EF4-FFF2-40B4-BE49-F238E27FC236}">
                <a16:creationId xmlns:a16="http://schemas.microsoft.com/office/drawing/2014/main" id="{59255BD3-C3BE-9A85-5AF2-9BB924428ED0}"/>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6" name="Image 8" descr="preencoded.png">
            <a:extLst>
              <a:ext uri="{FF2B5EF4-FFF2-40B4-BE49-F238E27FC236}">
                <a16:creationId xmlns:a16="http://schemas.microsoft.com/office/drawing/2014/main" id="{05589A3A-6BE4-FDF1-77D1-F2E573CBF877}"/>
              </a:ext>
            </a:extLst>
          </p:cNvPr>
          <p:cNvPicPr>
            <a:picLocks noChangeAspect="1"/>
          </p:cNvPicPr>
          <p:nvPr/>
        </p:nvPicPr>
        <p:blipFill>
          <a:blip r:embed="rId5"/>
          <a:stretch>
            <a:fillRect/>
          </a:stretch>
        </p:blipFill>
        <p:spPr>
          <a:xfrm>
            <a:off x="557532" y="270355"/>
            <a:ext cx="94938" cy="110432"/>
          </a:xfrm>
          <a:prstGeom prst="rect">
            <a:avLst/>
          </a:prstGeom>
        </p:spPr>
      </p:pic>
      <p:pic>
        <p:nvPicPr>
          <p:cNvPr id="17" name="Image 9" descr="preencoded.png">
            <a:extLst>
              <a:ext uri="{FF2B5EF4-FFF2-40B4-BE49-F238E27FC236}">
                <a16:creationId xmlns:a16="http://schemas.microsoft.com/office/drawing/2014/main" id="{BB7959B2-981C-3C8F-4F27-DBABC1988333}"/>
              </a:ext>
            </a:extLst>
          </p:cNvPr>
          <p:cNvPicPr>
            <a:picLocks noChangeAspect="1"/>
          </p:cNvPicPr>
          <p:nvPr/>
        </p:nvPicPr>
        <p:blipFill>
          <a:blip r:embed="rId6"/>
          <a:stretch>
            <a:fillRect/>
          </a:stretch>
        </p:blipFill>
        <p:spPr>
          <a:xfrm>
            <a:off x="654704" y="270341"/>
            <a:ext cx="98795" cy="148759"/>
          </a:xfrm>
          <a:prstGeom prst="rect">
            <a:avLst/>
          </a:prstGeom>
        </p:spPr>
      </p:pic>
      <p:pic>
        <p:nvPicPr>
          <p:cNvPr id="18" name="Image 10" descr="preencoded.png">
            <a:extLst>
              <a:ext uri="{FF2B5EF4-FFF2-40B4-BE49-F238E27FC236}">
                <a16:creationId xmlns:a16="http://schemas.microsoft.com/office/drawing/2014/main" id="{FC3F9996-F09C-CD6B-EFCB-DA8BC9C28F31}"/>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9" name="Image 11" descr="preencoded.png">
            <a:extLst>
              <a:ext uri="{FF2B5EF4-FFF2-40B4-BE49-F238E27FC236}">
                <a16:creationId xmlns:a16="http://schemas.microsoft.com/office/drawing/2014/main" id="{2ED1A265-4A95-F6BF-055E-6E7DF38089D5}"/>
              </a:ext>
            </a:extLst>
          </p:cNvPr>
          <p:cNvPicPr>
            <a:picLocks noChangeAspect="1"/>
          </p:cNvPicPr>
          <p:nvPr/>
        </p:nvPicPr>
        <p:blipFill>
          <a:blip r:embed="rId8"/>
          <a:stretch>
            <a:fillRect/>
          </a:stretch>
        </p:blipFill>
        <p:spPr>
          <a:xfrm>
            <a:off x="281565" y="282273"/>
            <a:ext cx="130884" cy="118176"/>
          </a:xfrm>
          <a:prstGeom prst="rect">
            <a:avLst/>
          </a:prstGeom>
        </p:spPr>
      </p:pic>
      <p:pic>
        <p:nvPicPr>
          <p:cNvPr id="20" name="Image 12" descr="preencoded.png">
            <a:extLst>
              <a:ext uri="{FF2B5EF4-FFF2-40B4-BE49-F238E27FC236}">
                <a16:creationId xmlns:a16="http://schemas.microsoft.com/office/drawing/2014/main" id="{8AA81C56-C7C1-8192-BB96-2EAF5E6E65B3}"/>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2190383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32E9C-AC2F-598A-971D-CB008C399593}"/>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4" name="Footer Placeholder 3">
            <a:extLst>
              <a:ext uri="{FF2B5EF4-FFF2-40B4-BE49-F238E27FC236}">
                <a16:creationId xmlns:a16="http://schemas.microsoft.com/office/drawing/2014/main" id="{48522642-A407-B802-D9EF-445D10F6B1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86E38B-EAD0-FDED-82A1-3CE01F794498}"/>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6" name="Shape 5">
            <a:extLst>
              <a:ext uri="{FF2B5EF4-FFF2-40B4-BE49-F238E27FC236}">
                <a16:creationId xmlns:a16="http://schemas.microsoft.com/office/drawing/2014/main" id="{A16C830E-A360-7AC5-875D-9D5222451EAF}"/>
              </a:ext>
            </a:extLst>
          </p:cNvPr>
          <p:cNvSpPr/>
          <p:nvPr/>
        </p:nvSpPr>
        <p:spPr>
          <a:xfrm>
            <a:off x="190500" y="190500"/>
            <a:ext cx="661988" cy="228600"/>
          </a:xfrm>
          <a:prstGeom prst="rect">
            <a:avLst/>
          </a:prstGeom>
          <a:noFill/>
          <a:ln/>
        </p:spPr>
        <p:txBody>
          <a:bodyPr/>
          <a:lstStyle/>
          <a:p>
            <a:endParaRPr lang="en-US"/>
          </a:p>
        </p:txBody>
      </p:sp>
      <p:pic>
        <p:nvPicPr>
          <p:cNvPr id="7" name="Image 3" descr="preencoded.png">
            <a:extLst>
              <a:ext uri="{FF2B5EF4-FFF2-40B4-BE49-F238E27FC236}">
                <a16:creationId xmlns:a16="http://schemas.microsoft.com/office/drawing/2014/main" id="{6FA7C61D-AC3B-A5A8-802C-38559A5BCCF1}"/>
              </a:ext>
            </a:extLst>
          </p:cNvPr>
          <p:cNvPicPr>
            <a:picLocks noChangeAspect="1"/>
          </p:cNvPicPr>
          <p:nvPr/>
        </p:nvPicPr>
        <p:blipFill>
          <a:blip r:embed="rId2"/>
          <a:stretch>
            <a:fillRect/>
          </a:stretch>
        </p:blipFill>
        <p:spPr>
          <a:xfrm>
            <a:off x="242624" y="190500"/>
            <a:ext cx="117713" cy="143526"/>
          </a:xfrm>
          <a:prstGeom prst="rect">
            <a:avLst/>
          </a:prstGeom>
        </p:spPr>
      </p:pic>
      <p:pic>
        <p:nvPicPr>
          <p:cNvPr id="8" name="Image 4" descr="preencoded.png">
            <a:extLst>
              <a:ext uri="{FF2B5EF4-FFF2-40B4-BE49-F238E27FC236}">
                <a16:creationId xmlns:a16="http://schemas.microsoft.com/office/drawing/2014/main" id="{6211D501-648C-ABA1-7828-3399D967353F}"/>
              </a:ext>
            </a:extLst>
          </p:cNvPr>
          <p:cNvPicPr>
            <a:picLocks noChangeAspect="1"/>
          </p:cNvPicPr>
          <p:nvPr/>
        </p:nvPicPr>
        <p:blipFill>
          <a:blip r:embed="rId3"/>
          <a:stretch>
            <a:fillRect/>
          </a:stretch>
        </p:blipFill>
        <p:spPr>
          <a:xfrm>
            <a:off x="290275" y="344655"/>
            <a:ext cx="728" cy="3"/>
          </a:xfrm>
          <a:prstGeom prst="rect">
            <a:avLst/>
          </a:prstGeom>
        </p:spPr>
      </p:pic>
      <p:pic>
        <p:nvPicPr>
          <p:cNvPr id="9" name="Image 5" descr="preencoded.png">
            <a:extLst>
              <a:ext uri="{FF2B5EF4-FFF2-40B4-BE49-F238E27FC236}">
                <a16:creationId xmlns:a16="http://schemas.microsoft.com/office/drawing/2014/main" id="{453193C3-E143-90F7-FFAF-FAE6FF0F8153}"/>
              </a:ext>
            </a:extLst>
          </p:cNvPr>
          <p:cNvPicPr>
            <a:picLocks noChangeAspect="1"/>
          </p:cNvPicPr>
          <p:nvPr/>
        </p:nvPicPr>
        <p:blipFill>
          <a:blip r:embed="rId3"/>
          <a:stretch>
            <a:fillRect/>
          </a:stretch>
        </p:blipFill>
        <p:spPr>
          <a:xfrm>
            <a:off x="290059" y="344659"/>
            <a:ext cx="216" cy="3"/>
          </a:xfrm>
          <a:prstGeom prst="rect">
            <a:avLst/>
          </a:prstGeom>
        </p:spPr>
      </p:pic>
      <p:pic>
        <p:nvPicPr>
          <p:cNvPr id="10" name="Image 6" descr="preencoded.png">
            <a:extLst>
              <a:ext uri="{FF2B5EF4-FFF2-40B4-BE49-F238E27FC236}">
                <a16:creationId xmlns:a16="http://schemas.microsoft.com/office/drawing/2014/main" id="{CD7967F3-83BC-6097-0C75-DA5DAC583598}"/>
              </a:ext>
            </a:extLst>
          </p:cNvPr>
          <p:cNvPicPr>
            <a:picLocks noChangeAspect="1"/>
          </p:cNvPicPr>
          <p:nvPr/>
        </p:nvPicPr>
        <p:blipFill>
          <a:blip r:embed="rId3"/>
          <a:stretch>
            <a:fillRect/>
          </a:stretch>
        </p:blipFill>
        <p:spPr>
          <a:xfrm>
            <a:off x="291937" y="355225"/>
            <a:ext cx="352" cy="3"/>
          </a:xfrm>
          <a:prstGeom prst="rect">
            <a:avLst/>
          </a:prstGeom>
        </p:spPr>
      </p:pic>
      <p:pic>
        <p:nvPicPr>
          <p:cNvPr id="11" name="Image 7" descr="preencoded.png">
            <a:extLst>
              <a:ext uri="{FF2B5EF4-FFF2-40B4-BE49-F238E27FC236}">
                <a16:creationId xmlns:a16="http://schemas.microsoft.com/office/drawing/2014/main" id="{55401895-E400-1D7F-43FA-D0FB891E30F9}"/>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2" name="Image 8" descr="preencoded.png">
            <a:extLst>
              <a:ext uri="{FF2B5EF4-FFF2-40B4-BE49-F238E27FC236}">
                <a16:creationId xmlns:a16="http://schemas.microsoft.com/office/drawing/2014/main" id="{62A5EDCF-DDE8-6DE0-1CC8-819ABA4DB209}"/>
              </a:ext>
            </a:extLst>
          </p:cNvPr>
          <p:cNvPicPr>
            <a:picLocks noChangeAspect="1"/>
          </p:cNvPicPr>
          <p:nvPr/>
        </p:nvPicPr>
        <p:blipFill>
          <a:blip r:embed="rId5"/>
          <a:stretch>
            <a:fillRect/>
          </a:stretch>
        </p:blipFill>
        <p:spPr>
          <a:xfrm>
            <a:off x="557532" y="270355"/>
            <a:ext cx="94938" cy="110432"/>
          </a:xfrm>
          <a:prstGeom prst="rect">
            <a:avLst/>
          </a:prstGeom>
        </p:spPr>
      </p:pic>
      <p:pic>
        <p:nvPicPr>
          <p:cNvPr id="13" name="Image 9" descr="preencoded.png">
            <a:extLst>
              <a:ext uri="{FF2B5EF4-FFF2-40B4-BE49-F238E27FC236}">
                <a16:creationId xmlns:a16="http://schemas.microsoft.com/office/drawing/2014/main" id="{BBD93823-B957-25BB-C99E-9354F16883D4}"/>
              </a:ext>
            </a:extLst>
          </p:cNvPr>
          <p:cNvPicPr>
            <a:picLocks noChangeAspect="1"/>
          </p:cNvPicPr>
          <p:nvPr/>
        </p:nvPicPr>
        <p:blipFill>
          <a:blip r:embed="rId6"/>
          <a:stretch>
            <a:fillRect/>
          </a:stretch>
        </p:blipFill>
        <p:spPr>
          <a:xfrm>
            <a:off x="654704" y="270341"/>
            <a:ext cx="98795" cy="148759"/>
          </a:xfrm>
          <a:prstGeom prst="rect">
            <a:avLst/>
          </a:prstGeom>
        </p:spPr>
      </p:pic>
      <p:pic>
        <p:nvPicPr>
          <p:cNvPr id="14" name="Image 10" descr="preencoded.png">
            <a:extLst>
              <a:ext uri="{FF2B5EF4-FFF2-40B4-BE49-F238E27FC236}">
                <a16:creationId xmlns:a16="http://schemas.microsoft.com/office/drawing/2014/main" id="{EBB4ED86-D056-E708-2D02-AE316C12A110}"/>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5" name="Image 11" descr="preencoded.png">
            <a:extLst>
              <a:ext uri="{FF2B5EF4-FFF2-40B4-BE49-F238E27FC236}">
                <a16:creationId xmlns:a16="http://schemas.microsoft.com/office/drawing/2014/main" id="{BDE3193F-5748-17EB-FB7F-C12EC5E806C3}"/>
              </a:ext>
            </a:extLst>
          </p:cNvPr>
          <p:cNvPicPr>
            <a:picLocks noChangeAspect="1"/>
          </p:cNvPicPr>
          <p:nvPr/>
        </p:nvPicPr>
        <p:blipFill>
          <a:blip r:embed="rId8"/>
          <a:stretch>
            <a:fillRect/>
          </a:stretch>
        </p:blipFill>
        <p:spPr>
          <a:xfrm>
            <a:off x="281565" y="282273"/>
            <a:ext cx="130884" cy="118176"/>
          </a:xfrm>
          <a:prstGeom prst="rect">
            <a:avLst/>
          </a:prstGeom>
        </p:spPr>
      </p:pic>
      <p:pic>
        <p:nvPicPr>
          <p:cNvPr id="16" name="Image 12" descr="preencoded.png">
            <a:extLst>
              <a:ext uri="{FF2B5EF4-FFF2-40B4-BE49-F238E27FC236}">
                <a16:creationId xmlns:a16="http://schemas.microsoft.com/office/drawing/2014/main" id="{32D52360-BAE5-033B-1495-439B02227C38}"/>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1414998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187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age-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50910-A0C0-68BB-7B53-15FDAD26F043}"/>
              </a:ext>
            </a:extLst>
          </p:cNvPr>
          <p:cNvSpPr>
            <a:spLocks noGrp="1"/>
          </p:cNvSpPr>
          <p:nvPr>
            <p:ph type="title" hasCustomPrompt="1"/>
          </p:nvPr>
        </p:nvSpPr>
        <p:spPr>
          <a:xfrm>
            <a:off x="262258" y="3225776"/>
            <a:ext cx="5070017" cy="828064"/>
          </a:xfrm>
        </p:spPr>
        <p:txBody>
          <a:bodyPr/>
          <a:lstStyle>
            <a:lvl1pPr>
              <a:lnSpc>
                <a:spcPct val="100952"/>
              </a:lnSpc>
              <a:defRPr spc="-26">
                <a:solidFill>
                  <a:schemeClr val="bg1"/>
                </a:solidFill>
              </a:defRPr>
            </a:lvl1pPr>
          </a:lstStyle>
          <a:p>
            <a:r>
              <a:rPr lang="en-US"/>
              <a:t>Lorem ipsum dolor sit </a:t>
            </a:r>
            <a:r>
              <a:rPr lang="en-US" err="1"/>
              <a:t>amet</a:t>
            </a:r>
            <a:r>
              <a:rPr lang="en-US"/>
              <a:t> </a:t>
            </a:r>
            <a:r>
              <a:rPr lang="en-US" err="1"/>
              <a:t>consectetur</a:t>
            </a:r>
            <a:r>
              <a:rPr lang="en-US"/>
              <a:t> </a:t>
            </a:r>
            <a:r>
              <a:rPr lang="en-US" err="1"/>
              <a:t>adipiscing</a:t>
            </a:r>
            <a:r>
              <a:rPr lang="en-US"/>
              <a:t>.</a:t>
            </a:r>
            <a:endParaRPr lang="en-GB"/>
          </a:p>
        </p:txBody>
      </p:sp>
      <p:sp>
        <p:nvSpPr>
          <p:cNvPr id="3" name="Footer Placeholder 2">
            <a:extLst>
              <a:ext uri="{FF2B5EF4-FFF2-40B4-BE49-F238E27FC236}">
                <a16:creationId xmlns:a16="http://schemas.microsoft.com/office/drawing/2014/main" id="{CC34FF15-ACE1-BC40-45CB-34D1B57152A0}"/>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314EC72E-7D93-4BA5-9C9F-9730CC1FCBBF}"/>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sp>
        <p:nvSpPr>
          <p:cNvPr id="23" name="Date Placeholder 21" hidden="1">
            <a:extLst>
              <a:ext uri="{FF2B5EF4-FFF2-40B4-BE49-F238E27FC236}">
                <a16:creationId xmlns:a16="http://schemas.microsoft.com/office/drawing/2014/main" id="{538CCEA6-28D6-432F-620A-5FA841D9A67A}"/>
              </a:ext>
            </a:extLst>
          </p:cNvPr>
          <p:cNvSpPr>
            <a:spLocks noGrp="1"/>
          </p:cNvSpPr>
          <p:nvPr>
            <p:ph type="dt" sz="half" idx="2"/>
          </p:nvPr>
        </p:nvSpPr>
        <p:spPr>
          <a:xfrm>
            <a:off x="11028045" y="6492240"/>
            <a:ext cx="906780" cy="109776"/>
          </a:xfrm>
          <a:prstGeom prst="rect">
            <a:avLst/>
          </a:prstGeom>
        </p:spPr>
        <p:txBody>
          <a:bodyPr vert="horz" lIns="0" tIns="0" rIns="0" bIns="0" rtlCol="0" anchor="ctr">
            <a:noAutofit/>
          </a:bodyPr>
          <a:lstStyle>
            <a:lvl1pPr algn="r">
              <a:defRPr lang="en-GB" sz="800" spc="-39" smtClean="0">
                <a:solidFill>
                  <a:schemeClr val="tx1"/>
                </a:solidFill>
              </a:defRPr>
            </a:lvl1pPr>
          </a:lstStyle>
          <a:p>
            <a:fld id="{BC01B09E-BD2E-4777-B4D4-F6B540230C58}" type="datetime6">
              <a:rPr lang="en-GB" smtClean="0"/>
              <a:pPr/>
              <a:t>April 26</a:t>
            </a:fld>
            <a:endParaRPr lang="en-GB" sz="800"/>
          </a:p>
        </p:txBody>
      </p:sp>
      <p:grpSp>
        <p:nvGrpSpPr>
          <p:cNvPr id="7" name="Graphic 8">
            <a:extLst>
              <a:ext uri="{FF2B5EF4-FFF2-40B4-BE49-F238E27FC236}">
                <a16:creationId xmlns:a16="http://schemas.microsoft.com/office/drawing/2014/main" id="{CB562FDC-03F1-5521-89C7-C4C12E07C6DB}"/>
              </a:ext>
            </a:extLst>
          </p:cNvPr>
          <p:cNvGrpSpPr/>
          <p:nvPr userDrawn="1"/>
        </p:nvGrpSpPr>
        <p:grpSpPr>
          <a:xfrm>
            <a:off x="257178" y="255588"/>
            <a:ext cx="895347" cy="306976"/>
            <a:chOff x="257178" y="255588"/>
            <a:chExt cx="895347" cy="306976"/>
          </a:xfrm>
          <a:solidFill>
            <a:schemeClr val="bg1"/>
          </a:solidFill>
        </p:grpSpPr>
        <p:sp>
          <p:nvSpPr>
            <p:cNvPr id="8" name="Free-form: Shape 7">
              <a:extLst>
                <a:ext uri="{FF2B5EF4-FFF2-40B4-BE49-F238E27FC236}">
                  <a16:creationId xmlns:a16="http://schemas.microsoft.com/office/drawing/2014/main" id="{2791912A-744B-425D-F110-EFB13F6FAEE4}"/>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89270859-3F16-2104-574D-74236AD8FD59}"/>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983165A3-2236-5DED-D823-B998BA612380}"/>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F43ADFC-C7F7-447E-7528-B2D251DE959F}"/>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5E1AB878-C85A-B38C-3580-5EE82627FBF3}"/>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71061D67-2C92-6676-B691-D0C3162E6895}"/>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2C5BED9F-A69D-4C82-E00C-5A9A9FD9EC99}"/>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D9E26B4A-0E89-9545-CF71-72B0B21E751A}"/>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DA25754-0125-9425-59B1-7FEC7D4AAAF3}"/>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EB2E4AC9-D18F-9818-11E5-9FAF5E9141FF}"/>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
        <p:nvSpPr>
          <p:cNvPr id="18" name="Subtitle 2">
            <a:extLst>
              <a:ext uri="{FF2B5EF4-FFF2-40B4-BE49-F238E27FC236}">
                <a16:creationId xmlns:a16="http://schemas.microsoft.com/office/drawing/2014/main" id="{620E3FC0-F13B-4AA1-8445-8E35E2CF1931}"/>
              </a:ext>
            </a:extLst>
          </p:cNvPr>
          <p:cNvSpPr>
            <a:spLocks noGrp="1"/>
          </p:cNvSpPr>
          <p:nvPr>
            <p:ph type="subTitle" idx="1" hasCustomPrompt="1"/>
          </p:nvPr>
        </p:nvSpPr>
        <p:spPr>
          <a:xfrm>
            <a:off x="257178" y="2926186"/>
            <a:ext cx="5070017" cy="158693"/>
          </a:xfrm>
        </p:spPr>
        <p:txBody>
          <a:bodyPr/>
          <a:lstStyle>
            <a:lvl1pPr marL="0" indent="0" algn="l">
              <a:buNone/>
              <a:defRPr sz="1200">
                <a:solidFill>
                  <a:schemeClr val="bg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Section Title</a:t>
            </a:r>
          </a:p>
        </p:txBody>
      </p:sp>
    </p:spTree>
    <p:extLst>
      <p:ext uri="{BB962C8B-B14F-4D97-AF65-F5344CB8AC3E}">
        <p14:creationId xmlns:p14="http://schemas.microsoft.com/office/powerpoint/2010/main" val="1138368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Page-2">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B042BA4-469A-ACDB-3C72-111476EA4246}"/>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A19ED306-214C-DFDE-1E4C-3120B3984D77}"/>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grpSp>
        <p:nvGrpSpPr>
          <p:cNvPr id="7" name="Graphic 8">
            <a:extLst>
              <a:ext uri="{FF2B5EF4-FFF2-40B4-BE49-F238E27FC236}">
                <a16:creationId xmlns:a16="http://schemas.microsoft.com/office/drawing/2014/main" id="{42F3CB05-B71F-2304-36F3-1D328DDB162C}"/>
              </a:ext>
            </a:extLst>
          </p:cNvPr>
          <p:cNvGrpSpPr/>
          <p:nvPr userDrawn="1"/>
        </p:nvGrpSpPr>
        <p:grpSpPr>
          <a:xfrm>
            <a:off x="257178" y="255588"/>
            <a:ext cx="895347" cy="306976"/>
            <a:chOff x="257178" y="255588"/>
            <a:chExt cx="895347" cy="306976"/>
          </a:xfrm>
          <a:solidFill>
            <a:schemeClr val="bg1"/>
          </a:solidFill>
        </p:grpSpPr>
        <p:sp>
          <p:nvSpPr>
            <p:cNvPr id="8" name="Free-form: Shape 7">
              <a:extLst>
                <a:ext uri="{FF2B5EF4-FFF2-40B4-BE49-F238E27FC236}">
                  <a16:creationId xmlns:a16="http://schemas.microsoft.com/office/drawing/2014/main" id="{30B7A793-96DD-718F-6C53-3ED56F3EC0D9}"/>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E4A4D229-A539-9666-C803-E715831FCB80}"/>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649BA90A-AFC7-6552-715F-EB24799740AA}"/>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1FDB49AB-05C6-830A-79E4-659B4384A3D7}"/>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CA1B60CB-DCD7-8B10-E27A-06BFF887A080}"/>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59E0B493-3501-EF31-42E0-75A5F876ED0D}"/>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A3DE3EBE-2D35-17A6-7194-22B9C028797B}"/>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865A8686-D0E9-5DE2-D5AF-9469D8DFC277}"/>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E79BEBE-4F28-1B64-3229-278A2A0FCA0C}"/>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C6D91C27-5113-D6F8-DD50-545A13EBBEA4}"/>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
        <p:nvSpPr>
          <p:cNvPr id="18" name="Title 1">
            <a:extLst>
              <a:ext uri="{FF2B5EF4-FFF2-40B4-BE49-F238E27FC236}">
                <a16:creationId xmlns:a16="http://schemas.microsoft.com/office/drawing/2014/main" id="{55FB519E-F037-3DA4-A1C7-8F1520479F9D}"/>
              </a:ext>
            </a:extLst>
          </p:cNvPr>
          <p:cNvSpPr>
            <a:spLocks noGrp="1"/>
          </p:cNvSpPr>
          <p:nvPr>
            <p:ph type="title" hasCustomPrompt="1"/>
          </p:nvPr>
        </p:nvSpPr>
        <p:spPr>
          <a:xfrm>
            <a:off x="2225501" y="3268448"/>
            <a:ext cx="8945261" cy="401344"/>
          </a:xfrm>
        </p:spPr>
        <p:txBody>
          <a:bodyPr/>
          <a:lstStyle>
            <a:lvl1pPr>
              <a:lnSpc>
                <a:spcPct val="100952"/>
              </a:lnSpc>
              <a:defRPr spc="-26">
                <a:solidFill>
                  <a:schemeClr val="bg1"/>
                </a:solidFill>
              </a:defRPr>
            </a:lvl1pPr>
          </a:lstStyle>
          <a:p>
            <a:r>
              <a:rPr lang="en-US"/>
              <a:t>Lorem ipsum dolor sit </a:t>
            </a:r>
            <a:r>
              <a:rPr lang="en-US" err="1"/>
              <a:t>amet</a:t>
            </a:r>
            <a:r>
              <a:rPr lang="en-US"/>
              <a:t> </a:t>
            </a:r>
            <a:r>
              <a:rPr lang="en-US" err="1"/>
              <a:t>consectetur</a:t>
            </a:r>
            <a:r>
              <a:rPr lang="en-US"/>
              <a:t> </a:t>
            </a:r>
            <a:r>
              <a:rPr lang="en-US" err="1"/>
              <a:t>adipiscing</a:t>
            </a:r>
            <a:r>
              <a:rPr lang="en-US"/>
              <a:t>.</a:t>
            </a:r>
            <a:endParaRPr lang="en-GB"/>
          </a:p>
        </p:txBody>
      </p:sp>
      <p:sp>
        <p:nvSpPr>
          <p:cNvPr id="25" name="Text Placeholder 24">
            <a:extLst>
              <a:ext uri="{FF2B5EF4-FFF2-40B4-BE49-F238E27FC236}">
                <a16:creationId xmlns:a16="http://schemas.microsoft.com/office/drawing/2014/main" id="{9A1371C9-0DD0-D675-51AF-9B5EDD28DB46}"/>
              </a:ext>
            </a:extLst>
          </p:cNvPr>
          <p:cNvSpPr>
            <a:spLocks noGrp="1"/>
          </p:cNvSpPr>
          <p:nvPr>
            <p:ph type="body" sz="quarter" idx="12" hasCustomPrompt="1"/>
          </p:nvPr>
        </p:nvSpPr>
        <p:spPr>
          <a:xfrm>
            <a:off x="257178" y="3067617"/>
            <a:ext cx="1144588" cy="158693"/>
          </a:xfrm>
        </p:spPr>
        <p:txBody>
          <a:bodyPr vert="horz" lIns="0" tIns="0" rIns="0" bIns="0" rtlCol="0">
            <a:noAutofit/>
          </a:bodyPr>
          <a:lstStyle>
            <a:lvl1pPr>
              <a:buNone/>
              <a:defRPr lang="en-GB" sz="1200" spc="-9" dirty="0">
                <a:solidFill>
                  <a:schemeClr val="bg1"/>
                </a:solidFill>
                <a:latin typeface="Funnel Sans Medium" pitchFamily="2" charset="0"/>
              </a:defRPr>
            </a:lvl1pPr>
          </a:lstStyle>
          <a:p>
            <a:pPr marL="0" lvl="0" indent="0">
              <a:buNone/>
            </a:pPr>
            <a:r>
              <a:rPr lang="en-US"/>
              <a:t>Section One</a:t>
            </a:r>
            <a:endParaRPr lang="en-GB"/>
          </a:p>
        </p:txBody>
      </p:sp>
      <p:sp>
        <p:nvSpPr>
          <p:cNvPr id="27" name="Text Placeholder 24">
            <a:extLst>
              <a:ext uri="{FF2B5EF4-FFF2-40B4-BE49-F238E27FC236}">
                <a16:creationId xmlns:a16="http://schemas.microsoft.com/office/drawing/2014/main" id="{13899FB2-FBD1-4075-123F-B4536AB49CE9}"/>
              </a:ext>
            </a:extLst>
          </p:cNvPr>
          <p:cNvSpPr>
            <a:spLocks noGrp="1"/>
          </p:cNvSpPr>
          <p:nvPr>
            <p:ph type="body" sz="quarter" idx="13" hasCustomPrompt="1"/>
          </p:nvPr>
        </p:nvSpPr>
        <p:spPr>
          <a:xfrm>
            <a:off x="257178" y="3360957"/>
            <a:ext cx="1144588" cy="158693"/>
          </a:xfrm>
        </p:spPr>
        <p:txBody>
          <a:bodyPr vert="horz" lIns="0" tIns="0" rIns="0" bIns="0" rtlCol="0">
            <a:noAutofit/>
          </a:bodyPr>
          <a:lstStyle>
            <a:lvl1pPr>
              <a:buNone/>
              <a:defRPr lang="en-GB" sz="1200" spc="-6" dirty="0">
                <a:solidFill>
                  <a:schemeClr val="tx2"/>
                </a:solidFill>
                <a:latin typeface="Funnel Sans Medium" pitchFamily="2" charset="0"/>
              </a:defRPr>
            </a:lvl1pPr>
          </a:lstStyle>
          <a:p>
            <a:pPr marL="0" lvl="0" indent="0">
              <a:buNone/>
            </a:pPr>
            <a:r>
              <a:rPr lang="en-US"/>
              <a:t>Section Two</a:t>
            </a:r>
            <a:endParaRPr lang="en-GB"/>
          </a:p>
        </p:txBody>
      </p:sp>
      <p:sp>
        <p:nvSpPr>
          <p:cNvPr id="28" name="Text Placeholder 24">
            <a:extLst>
              <a:ext uri="{FF2B5EF4-FFF2-40B4-BE49-F238E27FC236}">
                <a16:creationId xmlns:a16="http://schemas.microsoft.com/office/drawing/2014/main" id="{D2431CCB-56DE-6E4B-FFA1-297FA4232DEE}"/>
              </a:ext>
            </a:extLst>
          </p:cNvPr>
          <p:cNvSpPr>
            <a:spLocks noGrp="1"/>
          </p:cNvSpPr>
          <p:nvPr>
            <p:ph type="body" sz="quarter" idx="14" hasCustomPrompt="1"/>
          </p:nvPr>
        </p:nvSpPr>
        <p:spPr>
          <a:xfrm>
            <a:off x="257178" y="3654297"/>
            <a:ext cx="1144588" cy="158693"/>
          </a:xfrm>
        </p:spPr>
        <p:txBody>
          <a:bodyPr vert="horz" lIns="0" tIns="0" rIns="0" bIns="0" rtlCol="0">
            <a:noAutofit/>
          </a:bodyPr>
          <a:lstStyle>
            <a:lvl1pPr>
              <a:buNone/>
              <a:defRPr lang="en-GB" sz="1200" spc="-6" dirty="0">
                <a:solidFill>
                  <a:schemeClr val="tx2"/>
                </a:solidFill>
                <a:latin typeface="Funnel Sans Medium" pitchFamily="2" charset="0"/>
              </a:defRPr>
            </a:lvl1pPr>
          </a:lstStyle>
          <a:p>
            <a:pPr marL="0" lvl="0" indent="0">
              <a:buNone/>
            </a:pPr>
            <a:r>
              <a:rPr lang="en-US"/>
              <a:t>Section Three</a:t>
            </a:r>
            <a:endParaRPr lang="en-GB"/>
          </a:p>
        </p:txBody>
      </p:sp>
    </p:spTree>
    <p:extLst>
      <p:ext uri="{BB962C8B-B14F-4D97-AF65-F5344CB8AC3E}">
        <p14:creationId xmlns:p14="http://schemas.microsoft.com/office/powerpoint/2010/main" val="786791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Page-3">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03D0F0-7052-5160-A771-5119F33D0FA6}"/>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8DEDDD5D-8453-021D-0AFE-5BD4B5D976D5}"/>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0E650826-C49B-4E4D-633C-3F0654915E1A}"/>
              </a:ext>
            </a:extLst>
          </p:cNvPr>
          <p:cNvSpPr>
            <a:spLocks noGrp="1"/>
          </p:cNvSpPr>
          <p:nvPr>
            <p:ph type="subTitle" idx="1" hasCustomPrompt="1"/>
          </p:nvPr>
        </p:nvSpPr>
        <p:spPr>
          <a:xfrm>
            <a:off x="257179" y="1091036"/>
            <a:ext cx="10131425" cy="158693"/>
          </a:xfrm>
        </p:spPr>
        <p:txBody>
          <a:bodyPr/>
          <a:lstStyle>
            <a:lvl1pPr marL="0" indent="0" algn="l">
              <a:buNone/>
              <a:defRPr sz="1200" spc="-10">
                <a:solidFill>
                  <a:schemeClr val="bg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Agenda or Date</a:t>
            </a:r>
          </a:p>
        </p:txBody>
      </p:sp>
      <p:sp>
        <p:nvSpPr>
          <p:cNvPr id="9" name="Table Placeholder 8">
            <a:extLst>
              <a:ext uri="{FF2B5EF4-FFF2-40B4-BE49-F238E27FC236}">
                <a16:creationId xmlns:a16="http://schemas.microsoft.com/office/drawing/2014/main" id="{45FB2E71-CF98-96CB-FAEB-10749E7CDB00}"/>
              </a:ext>
            </a:extLst>
          </p:cNvPr>
          <p:cNvSpPr>
            <a:spLocks noGrp="1"/>
          </p:cNvSpPr>
          <p:nvPr>
            <p:ph type="tbl" sz="quarter" idx="12"/>
          </p:nvPr>
        </p:nvSpPr>
        <p:spPr>
          <a:xfrm>
            <a:off x="257179" y="1396445"/>
            <a:ext cx="10131425" cy="3835400"/>
          </a:xfrm>
        </p:spPr>
        <p:txBody>
          <a:bodyPr/>
          <a:lstStyle/>
          <a:p>
            <a:endParaRPr lang="en-GB"/>
          </a:p>
        </p:txBody>
      </p:sp>
      <p:grpSp>
        <p:nvGrpSpPr>
          <p:cNvPr id="2" name="Graphic 8">
            <a:extLst>
              <a:ext uri="{FF2B5EF4-FFF2-40B4-BE49-F238E27FC236}">
                <a16:creationId xmlns:a16="http://schemas.microsoft.com/office/drawing/2014/main" id="{90A17A9B-0C48-1515-ED38-C14C78957454}"/>
              </a:ext>
            </a:extLst>
          </p:cNvPr>
          <p:cNvGrpSpPr/>
          <p:nvPr userDrawn="1"/>
        </p:nvGrpSpPr>
        <p:grpSpPr>
          <a:xfrm>
            <a:off x="257178" y="255588"/>
            <a:ext cx="895347" cy="306976"/>
            <a:chOff x="257178" y="255588"/>
            <a:chExt cx="895347" cy="306976"/>
          </a:xfrm>
          <a:solidFill>
            <a:schemeClr val="bg1"/>
          </a:solidFill>
        </p:grpSpPr>
        <p:sp>
          <p:nvSpPr>
            <p:cNvPr id="5" name="Free-form: Shape 4">
              <a:extLst>
                <a:ext uri="{FF2B5EF4-FFF2-40B4-BE49-F238E27FC236}">
                  <a16:creationId xmlns:a16="http://schemas.microsoft.com/office/drawing/2014/main" id="{B92FA4EC-976C-DA82-9504-58AF70C402D3}"/>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6" name="Free-form: Shape 5">
              <a:extLst>
                <a:ext uri="{FF2B5EF4-FFF2-40B4-BE49-F238E27FC236}">
                  <a16:creationId xmlns:a16="http://schemas.microsoft.com/office/drawing/2014/main" id="{D4B48300-E7E6-EC2C-F589-F5BBD059681E}"/>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EA2FCC75-9BAA-C54B-469C-5E1CD96B6EF9}"/>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C1D0F2D6-F69A-C4D1-35DD-13FBD7B25F12}"/>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1FE0DA3-BFBB-5A05-D3B9-D06A9C5F5B86}"/>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34C3D3FD-92BD-87C8-7BEF-78648536719E}"/>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7914ED9B-9040-1DAC-207F-44855782ED81}"/>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EA545CE9-1F2E-C4DF-A288-6E0D73E2ABC7}"/>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D93B2B45-E164-0EA4-0C09-6DCA12389939}"/>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D24F9729-F8E5-AF5F-4B62-28C93CE603C4}"/>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Tree>
    <p:extLst>
      <p:ext uri="{BB962C8B-B14F-4D97-AF65-F5344CB8AC3E}">
        <p14:creationId xmlns:p14="http://schemas.microsoft.com/office/powerpoint/2010/main" val="289527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 with Left Imag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69B797-C20F-9FA8-DAAE-469DD3EC516A}"/>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11C1AEAF-E1EB-8682-46B5-C4986478473A}"/>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13" name="Picture Placeholder 12">
            <a:extLst>
              <a:ext uri="{FF2B5EF4-FFF2-40B4-BE49-F238E27FC236}">
                <a16:creationId xmlns:a16="http://schemas.microsoft.com/office/drawing/2014/main" id="{454DAC0B-862D-B90A-DC42-00D38DC4675F}"/>
              </a:ext>
            </a:extLst>
          </p:cNvPr>
          <p:cNvSpPr>
            <a:spLocks noGrp="1"/>
          </p:cNvSpPr>
          <p:nvPr>
            <p:ph type="pic" sz="quarter" idx="12"/>
          </p:nvPr>
        </p:nvSpPr>
        <p:spPr>
          <a:xfrm>
            <a:off x="85344" y="1859280"/>
            <a:ext cx="6917619" cy="4895778"/>
          </a:xfrm>
          <a:custGeom>
            <a:avLst/>
            <a:gdLst>
              <a:gd name="connsiteX0" fmla="*/ 640714 w 6917619"/>
              <a:gd name="connsiteY0" fmla="*/ 0 h 4895778"/>
              <a:gd name="connsiteX1" fmla="*/ 6917619 w 6917619"/>
              <a:gd name="connsiteY1" fmla="*/ 0 h 4895778"/>
              <a:gd name="connsiteX2" fmla="*/ 6917619 w 6917619"/>
              <a:gd name="connsiteY2" fmla="*/ 4252461 h 4895778"/>
              <a:gd name="connsiteX3" fmla="*/ 6276905 w 6917619"/>
              <a:gd name="connsiteY3" fmla="*/ 4895778 h 4895778"/>
              <a:gd name="connsiteX4" fmla="*/ 640714 w 6917619"/>
              <a:gd name="connsiteY4" fmla="*/ 4895778 h 4895778"/>
              <a:gd name="connsiteX5" fmla="*/ 0 w 6917619"/>
              <a:gd name="connsiteY5" fmla="*/ 4252461 h 4895778"/>
              <a:gd name="connsiteX6" fmla="*/ 0 w 6917619"/>
              <a:gd name="connsiteY6" fmla="*/ 643317 h 4895778"/>
              <a:gd name="connsiteX7" fmla="*/ 640714 w 6917619"/>
              <a:gd name="connsiteY7" fmla="*/ 0 h 489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7619" h="4895778">
                <a:moveTo>
                  <a:pt x="640714" y="0"/>
                </a:moveTo>
                <a:lnTo>
                  <a:pt x="6917619" y="0"/>
                </a:lnTo>
                <a:lnTo>
                  <a:pt x="6917619" y="4252461"/>
                </a:lnTo>
                <a:cubicBezTo>
                  <a:pt x="6917619" y="4607513"/>
                  <a:pt x="6630521" y="4895778"/>
                  <a:pt x="6276905" y="4895778"/>
                </a:cubicBezTo>
                <a:lnTo>
                  <a:pt x="640714" y="4895778"/>
                </a:lnTo>
                <a:cubicBezTo>
                  <a:pt x="287099" y="4895778"/>
                  <a:pt x="0" y="4607513"/>
                  <a:pt x="0" y="4252461"/>
                </a:cubicBezTo>
                <a:lnTo>
                  <a:pt x="0" y="643317"/>
                </a:lnTo>
                <a:cubicBezTo>
                  <a:pt x="0" y="288265"/>
                  <a:pt x="287099" y="0"/>
                  <a:pt x="640714" y="0"/>
                </a:cubicBezTo>
                <a:close/>
              </a:path>
            </a:pathLst>
          </a:custGeom>
        </p:spPr>
        <p:txBody>
          <a:bodyPr wrap="square">
            <a:noAutofit/>
          </a:bodyPr>
          <a:lstStyle/>
          <a:p>
            <a:endParaRPr lang="en-GB"/>
          </a:p>
        </p:txBody>
      </p:sp>
      <p:sp>
        <p:nvSpPr>
          <p:cNvPr id="14" name="Title 1">
            <a:extLst>
              <a:ext uri="{FF2B5EF4-FFF2-40B4-BE49-F238E27FC236}">
                <a16:creationId xmlns:a16="http://schemas.microsoft.com/office/drawing/2014/main" id="{C81AD52E-1789-01A1-2BBB-C4BD46A5C6EE}"/>
              </a:ext>
            </a:extLst>
          </p:cNvPr>
          <p:cNvSpPr>
            <a:spLocks noGrp="1"/>
          </p:cNvSpPr>
          <p:nvPr>
            <p:ph type="title" hasCustomPrompt="1"/>
          </p:nvPr>
        </p:nvSpPr>
        <p:spPr>
          <a:xfrm>
            <a:off x="8129556" y="1907516"/>
            <a:ext cx="3498564" cy="1186204"/>
          </a:xfrm>
        </p:spPr>
        <p:txBody>
          <a:bodyPr/>
          <a:lstStyle>
            <a:lvl1pPr>
              <a:lnSpc>
                <a:spcPct val="100952"/>
              </a:lnSpc>
              <a:defRPr spc="-26">
                <a:solidFill>
                  <a:schemeClr val="tx1"/>
                </a:solidFill>
              </a:defRPr>
            </a:lvl1pPr>
          </a:lstStyle>
          <a:p>
            <a:r>
              <a:rPr lang="en-US"/>
              <a:t>An example quote or statement that’s paired with the left image.</a:t>
            </a:r>
            <a:endParaRPr lang="en-GB"/>
          </a:p>
        </p:txBody>
      </p:sp>
      <p:sp>
        <p:nvSpPr>
          <p:cNvPr id="15" name="Text Placeholder 24">
            <a:extLst>
              <a:ext uri="{FF2B5EF4-FFF2-40B4-BE49-F238E27FC236}">
                <a16:creationId xmlns:a16="http://schemas.microsoft.com/office/drawing/2014/main" id="{F5FB426E-22B9-2183-4B0B-A78B89CDDD0D}"/>
              </a:ext>
            </a:extLst>
          </p:cNvPr>
          <p:cNvSpPr>
            <a:spLocks noGrp="1"/>
          </p:cNvSpPr>
          <p:nvPr>
            <p:ph type="body" sz="quarter" idx="13" hasCustomPrompt="1"/>
          </p:nvPr>
        </p:nvSpPr>
        <p:spPr>
          <a:xfrm>
            <a:off x="8129555" y="3395374"/>
            <a:ext cx="3498563"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Presenter Name</a:t>
            </a:r>
            <a:endParaRPr lang="en-GB"/>
          </a:p>
        </p:txBody>
      </p:sp>
      <p:sp>
        <p:nvSpPr>
          <p:cNvPr id="16" name="Text Placeholder 24">
            <a:extLst>
              <a:ext uri="{FF2B5EF4-FFF2-40B4-BE49-F238E27FC236}">
                <a16:creationId xmlns:a16="http://schemas.microsoft.com/office/drawing/2014/main" id="{2A367706-A504-DD7D-152D-F9949108D1F3}"/>
              </a:ext>
            </a:extLst>
          </p:cNvPr>
          <p:cNvSpPr>
            <a:spLocks noGrp="1"/>
          </p:cNvSpPr>
          <p:nvPr>
            <p:ph type="body" sz="quarter" idx="14" hasCustomPrompt="1"/>
          </p:nvPr>
        </p:nvSpPr>
        <p:spPr>
          <a:xfrm>
            <a:off x="8129555" y="3611410"/>
            <a:ext cx="3498563" cy="158693"/>
          </a:xfrm>
        </p:spPr>
        <p:txBody>
          <a:bodyPr vert="horz" lIns="0" tIns="0" rIns="0" bIns="0" rtlCol="0">
            <a:noAutofit/>
          </a:bodyPr>
          <a:lstStyle>
            <a:lvl1pPr>
              <a:buNone/>
              <a:defRPr lang="en-GB" sz="1200" spc="-9" dirty="0">
                <a:solidFill>
                  <a:schemeClr val="tx2"/>
                </a:solidFill>
                <a:latin typeface="Funnel Sans Medium" pitchFamily="2" charset="0"/>
              </a:defRPr>
            </a:lvl1pPr>
          </a:lstStyle>
          <a:p>
            <a:pPr marL="0" lvl="0" indent="0">
              <a:buNone/>
            </a:pPr>
            <a:r>
              <a:rPr lang="en-US"/>
              <a:t>Presenter Title</a:t>
            </a:r>
            <a:endParaRPr lang="en-GB"/>
          </a:p>
        </p:txBody>
      </p:sp>
    </p:spTree>
    <p:extLst>
      <p:ext uri="{BB962C8B-B14F-4D97-AF65-F5344CB8AC3E}">
        <p14:creationId xmlns:p14="http://schemas.microsoft.com/office/powerpoint/2010/main" val="3662768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Quote with Left Imag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69B797-C20F-9FA8-DAAE-469DD3EC516A}"/>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11C1AEAF-E1EB-8682-46B5-C4986478473A}"/>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13" name="Picture Placeholder 12">
            <a:extLst>
              <a:ext uri="{FF2B5EF4-FFF2-40B4-BE49-F238E27FC236}">
                <a16:creationId xmlns:a16="http://schemas.microsoft.com/office/drawing/2014/main" id="{454DAC0B-862D-B90A-DC42-00D38DC4675F}"/>
              </a:ext>
            </a:extLst>
          </p:cNvPr>
          <p:cNvSpPr>
            <a:spLocks noGrp="1"/>
          </p:cNvSpPr>
          <p:nvPr>
            <p:ph type="pic" sz="quarter" idx="12"/>
          </p:nvPr>
        </p:nvSpPr>
        <p:spPr>
          <a:xfrm>
            <a:off x="85344" y="1859280"/>
            <a:ext cx="6917619" cy="4895778"/>
          </a:xfrm>
          <a:custGeom>
            <a:avLst/>
            <a:gdLst>
              <a:gd name="connsiteX0" fmla="*/ 640714 w 6917619"/>
              <a:gd name="connsiteY0" fmla="*/ 0 h 4895778"/>
              <a:gd name="connsiteX1" fmla="*/ 6917619 w 6917619"/>
              <a:gd name="connsiteY1" fmla="*/ 0 h 4895778"/>
              <a:gd name="connsiteX2" fmla="*/ 6917619 w 6917619"/>
              <a:gd name="connsiteY2" fmla="*/ 4252461 h 4895778"/>
              <a:gd name="connsiteX3" fmla="*/ 6276905 w 6917619"/>
              <a:gd name="connsiteY3" fmla="*/ 4895778 h 4895778"/>
              <a:gd name="connsiteX4" fmla="*/ 640714 w 6917619"/>
              <a:gd name="connsiteY4" fmla="*/ 4895778 h 4895778"/>
              <a:gd name="connsiteX5" fmla="*/ 0 w 6917619"/>
              <a:gd name="connsiteY5" fmla="*/ 4252461 h 4895778"/>
              <a:gd name="connsiteX6" fmla="*/ 0 w 6917619"/>
              <a:gd name="connsiteY6" fmla="*/ 643317 h 4895778"/>
              <a:gd name="connsiteX7" fmla="*/ 640714 w 6917619"/>
              <a:gd name="connsiteY7" fmla="*/ 0 h 489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7619" h="4895778">
                <a:moveTo>
                  <a:pt x="640714" y="0"/>
                </a:moveTo>
                <a:lnTo>
                  <a:pt x="6917619" y="0"/>
                </a:lnTo>
                <a:lnTo>
                  <a:pt x="6917619" y="4252461"/>
                </a:lnTo>
                <a:cubicBezTo>
                  <a:pt x="6917619" y="4607513"/>
                  <a:pt x="6630521" y="4895778"/>
                  <a:pt x="6276905" y="4895778"/>
                </a:cubicBezTo>
                <a:lnTo>
                  <a:pt x="640714" y="4895778"/>
                </a:lnTo>
                <a:cubicBezTo>
                  <a:pt x="287099" y="4895778"/>
                  <a:pt x="0" y="4607513"/>
                  <a:pt x="0" y="4252461"/>
                </a:cubicBezTo>
                <a:lnTo>
                  <a:pt x="0" y="643317"/>
                </a:lnTo>
                <a:cubicBezTo>
                  <a:pt x="0" y="288265"/>
                  <a:pt x="287099" y="0"/>
                  <a:pt x="640714" y="0"/>
                </a:cubicBezTo>
                <a:close/>
              </a:path>
            </a:pathLst>
          </a:custGeom>
        </p:spPr>
        <p:txBody>
          <a:bodyPr wrap="square">
            <a:noAutofit/>
          </a:bodyPr>
          <a:lstStyle/>
          <a:p>
            <a:endParaRPr lang="en-GB"/>
          </a:p>
        </p:txBody>
      </p:sp>
      <p:sp>
        <p:nvSpPr>
          <p:cNvPr id="14" name="Title 1">
            <a:extLst>
              <a:ext uri="{FF2B5EF4-FFF2-40B4-BE49-F238E27FC236}">
                <a16:creationId xmlns:a16="http://schemas.microsoft.com/office/drawing/2014/main" id="{C81AD52E-1789-01A1-2BBB-C4BD46A5C6EE}"/>
              </a:ext>
            </a:extLst>
          </p:cNvPr>
          <p:cNvSpPr>
            <a:spLocks noGrp="1"/>
          </p:cNvSpPr>
          <p:nvPr>
            <p:ph type="title" hasCustomPrompt="1"/>
          </p:nvPr>
        </p:nvSpPr>
        <p:spPr>
          <a:xfrm>
            <a:off x="8129556" y="1907516"/>
            <a:ext cx="3498564" cy="1186204"/>
          </a:xfrm>
        </p:spPr>
        <p:txBody>
          <a:bodyPr/>
          <a:lstStyle>
            <a:lvl1pPr>
              <a:lnSpc>
                <a:spcPct val="100952"/>
              </a:lnSpc>
              <a:defRPr spc="-26">
                <a:solidFill>
                  <a:schemeClr val="tx1"/>
                </a:solidFill>
              </a:defRPr>
            </a:lvl1pPr>
          </a:lstStyle>
          <a:p>
            <a:r>
              <a:rPr lang="en-US"/>
              <a:t>An example quote or statement that’s paired with the left image.</a:t>
            </a:r>
            <a:endParaRPr lang="en-GB"/>
          </a:p>
        </p:txBody>
      </p:sp>
      <p:sp>
        <p:nvSpPr>
          <p:cNvPr id="15" name="Text Placeholder 24">
            <a:extLst>
              <a:ext uri="{FF2B5EF4-FFF2-40B4-BE49-F238E27FC236}">
                <a16:creationId xmlns:a16="http://schemas.microsoft.com/office/drawing/2014/main" id="{F5FB426E-22B9-2183-4B0B-A78B89CDDD0D}"/>
              </a:ext>
            </a:extLst>
          </p:cNvPr>
          <p:cNvSpPr>
            <a:spLocks noGrp="1"/>
          </p:cNvSpPr>
          <p:nvPr>
            <p:ph type="body" sz="quarter" idx="13" hasCustomPrompt="1"/>
          </p:nvPr>
        </p:nvSpPr>
        <p:spPr>
          <a:xfrm>
            <a:off x="8129555" y="3395374"/>
            <a:ext cx="3498563"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Presenter Name</a:t>
            </a:r>
            <a:endParaRPr lang="en-GB"/>
          </a:p>
        </p:txBody>
      </p:sp>
      <p:sp>
        <p:nvSpPr>
          <p:cNvPr id="16" name="Text Placeholder 24">
            <a:extLst>
              <a:ext uri="{FF2B5EF4-FFF2-40B4-BE49-F238E27FC236}">
                <a16:creationId xmlns:a16="http://schemas.microsoft.com/office/drawing/2014/main" id="{2A367706-A504-DD7D-152D-F9949108D1F3}"/>
              </a:ext>
            </a:extLst>
          </p:cNvPr>
          <p:cNvSpPr>
            <a:spLocks noGrp="1"/>
          </p:cNvSpPr>
          <p:nvPr>
            <p:ph type="body" sz="quarter" idx="14" hasCustomPrompt="1"/>
          </p:nvPr>
        </p:nvSpPr>
        <p:spPr>
          <a:xfrm>
            <a:off x="8129555" y="3611410"/>
            <a:ext cx="3498563" cy="158693"/>
          </a:xfrm>
        </p:spPr>
        <p:txBody>
          <a:bodyPr vert="horz" lIns="0" tIns="0" rIns="0" bIns="0" rtlCol="0">
            <a:noAutofit/>
          </a:bodyPr>
          <a:lstStyle>
            <a:lvl1pPr>
              <a:buNone/>
              <a:defRPr lang="en-GB" sz="1200" spc="-9" dirty="0">
                <a:solidFill>
                  <a:schemeClr val="tx2"/>
                </a:solidFill>
                <a:latin typeface="Funnel Sans Medium" pitchFamily="2" charset="0"/>
              </a:defRPr>
            </a:lvl1pPr>
          </a:lstStyle>
          <a:p>
            <a:pPr marL="0" lvl="0" indent="0">
              <a:buNone/>
            </a:pPr>
            <a:r>
              <a:rPr lang="en-US"/>
              <a:t>Presenter Title</a:t>
            </a:r>
            <a:endParaRPr lang="en-GB"/>
          </a:p>
        </p:txBody>
      </p:sp>
    </p:spTree>
    <p:extLst>
      <p:ext uri="{BB962C8B-B14F-4D97-AF65-F5344CB8AC3E}">
        <p14:creationId xmlns:p14="http://schemas.microsoft.com/office/powerpoint/2010/main" val="33675256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line with Two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9761" cy="414463"/>
          </a:xfrm>
        </p:spPr>
        <p:txBody>
          <a:bodyPr/>
          <a:lstStyle>
            <a:lvl1pPr>
              <a:defRPr spc="-26">
                <a:solidFill>
                  <a:schemeClr val="tx1"/>
                </a:solidFill>
              </a:defRPr>
            </a:lvl1pPr>
          </a:lstStyle>
          <a:p>
            <a:r>
              <a:rPr lang="en-US"/>
              <a:t>Headline for slide with two images</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5770"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7B780EE7-8B48-AE2D-938E-E4D65084BBCE}"/>
              </a:ext>
            </a:extLst>
          </p:cNvPr>
          <p:cNvSpPr>
            <a:spLocks noGrp="1"/>
          </p:cNvSpPr>
          <p:nvPr>
            <p:ph type="pic" sz="quarter" idx="12"/>
          </p:nvPr>
        </p:nvSpPr>
        <p:spPr>
          <a:xfrm>
            <a:off x="91313" y="2687320"/>
            <a:ext cx="7909560" cy="4101878"/>
          </a:xfrm>
          <a:custGeom>
            <a:avLst/>
            <a:gdLst>
              <a:gd name="connsiteX0" fmla="*/ 640856 w 7909560"/>
              <a:gd name="connsiteY0" fmla="*/ 0 h 4101878"/>
              <a:gd name="connsiteX1" fmla="*/ 7909560 w 7909560"/>
              <a:gd name="connsiteY1" fmla="*/ 0 h 4101878"/>
              <a:gd name="connsiteX2" fmla="*/ 7909560 w 7909560"/>
              <a:gd name="connsiteY2" fmla="*/ 3461353 h 4101878"/>
              <a:gd name="connsiteX3" fmla="*/ 7268704 w 7909560"/>
              <a:gd name="connsiteY3" fmla="*/ 4101878 h 4101878"/>
              <a:gd name="connsiteX4" fmla="*/ 640856 w 7909560"/>
              <a:gd name="connsiteY4" fmla="*/ 4101878 h 4101878"/>
              <a:gd name="connsiteX5" fmla="*/ 0 w 7909560"/>
              <a:gd name="connsiteY5" fmla="*/ 3461353 h 4101878"/>
              <a:gd name="connsiteX6" fmla="*/ 0 w 7909560"/>
              <a:gd name="connsiteY6" fmla="*/ 640525 h 4101878"/>
              <a:gd name="connsiteX7" fmla="*/ 640856 w 7909560"/>
              <a:gd name="connsiteY7" fmla="*/ 0 h 410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9560" h="4101878">
                <a:moveTo>
                  <a:pt x="640856" y="0"/>
                </a:moveTo>
                <a:lnTo>
                  <a:pt x="7909560" y="0"/>
                </a:lnTo>
                <a:lnTo>
                  <a:pt x="7909560" y="3461353"/>
                </a:lnTo>
                <a:cubicBezTo>
                  <a:pt x="7909560" y="3814847"/>
                  <a:pt x="7622380" y="4101878"/>
                  <a:pt x="7268704" y="4101878"/>
                </a:cubicBezTo>
                <a:lnTo>
                  <a:pt x="640856" y="4101878"/>
                </a:lnTo>
                <a:cubicBezTo>
                  <a:pt x="287180" y="4101878"/>
                  <a:pt x="0" y="3814847"/>
                  <a:pt x="0" y="3461353"/>
                </a:cubicBezTo>
                <a:lnTo>
                  <a:pt x="0" y="640525"/>
                </a:lnTo>
                <a:cubicBezTo>
                  <a:pt x="0" y="287031"/>
                  <a:pt x="287180" y="0"/>
                  <a:pt x="640856" y="0"/>
                </a:cubicBezTo>
                <a:close/>
              </a:path>
            </a:pathLst>
          </a:custGeom>
        </p:spPr>
        <p:txBody>
          <a:bodyPr wrap="square">
            <a:noAutofit/>
          </a:bodyPr>
          <a:lstStyle/>
          <a:p>
            <a:endParaRPr lang="en-GB"/>
          </a:p>
        </p:txBody>
      </p:sp>
      <p:sp>
        <p:nvSpPr>
          <p:cNvPr id="20" name="Picture Placeholder 19">
            <a:extLst>
              <a:ext uri="{FF2B5EF4-FFF2-40B4-BE49-F238E27FC236}">
                <a16:creationId xmlns:a16="http://schemas.microsoft.com/office/drawing/2014/main" id="{3717AD81-D334-8CCB-130E-2510F2DB65F6}"/>
              </a:ext>
            </a:extLst>
          </p:cNvPr>
          <p:cNvSpPr>
            <a:spLocks noGrp="1"/>
          </p:cNvSpPr>
          <p:nvPr>
            <p:ph type="pic" sz="quarter" idx="13"/>
          </p:nvPr>
        </p:nvSpPr>
        <p:spPr>
          <a:xfrm>
            <a:off x="8125632" y="2687320"/>
            <a:ext cx="3975183" cy="4101813"/>
          </a:xfrm>
          <a:custGeom>
            <a:avLst/>
            <a:gdLst>
              <a:gd name="connsiteX0" fmla="*/ 0 w 3975183"/>
              <a:gd name="connsiteY0" fmla="*/ 0 h 4101813"/>
              <a:gd name="connsiteX1" fmla="*/ 3325754 w 3975183"/>
              <a:gd name="connsiteY1" fmla="*/ 0 h 4101813"/>
              <a:gd name="connsiteX2" fmla="*/ 3975183 w 3975183"/>
              <a:gd name="connsiteY2" fmla="*/ 649429 h 4101813"/>
              <a:gd name="connsiteX3" fmla="*/ 3975183 w 3975183"/>
              <a:gd name="connsiteY3" fmla="*/ 3452384 h 4101813"/>
              <a:gd name="connsiteX4" fmla="*/ 3325754 w 3975183"/>
              <a:gd name="connsiteY4" fmla="*/ 4101813 h 4101813"/>
              <a:gd name="connsiteX5" fmla="*/ 649429 w 3975183"/>
              <a:gd name="connsiteY5" fmla="*/ 4101813 h 4101813"/>
              <a:gd name="connsiteX6" fmla="*/ 0 w 3975183"/>
              <a:gd name="connsiteY6" fmla="*/ 3452384 h 41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75183" h="4101813">
                <a:moveTo>
                  <a:pt x="0" y="0"/>
                </a:moveTo>
                <a:lnTo>
                  <a:pt x="3325754" y="0"/>
                </a:lnTo>
                <a:cubicBezTo>
                  <a:pt x="3684209" y="0"/>
                  <a:pt x="3975183" y="290974"/>
                  <a:pt x="3975183" y="649429"/>
                </a:cubicBezTo>
                <a:lnTo>
                  <a:pt x="3975183" y="3452384"/>
                </a:lnTo>
                <a:cubicBezTo>
                  <a:pt x="3975183" y="3810839"/>
                  <a:pt x="3684209" y="4101813"/>
                  <a:pt x="3325754" y="4101813"/>
                </a:cubicBezTo>
                <a:lnTo>
                  <a:pt x="649429" y="4101813"/>
                </a:lnTo>
                <a:cubicBezTo>
                  <a:pt x="290974" y="4101813"/>
                  <a:pt x="0" y="3810839"/>
                  <a:pt x="0" y="3452384"/>
                </a:cubicBezTo>
                <a:close/>
              </a:path>
            </a:pathLst>
          </a:custGeom>
        </p:spPr>
        <p:txBody>
          <a:bodyPr wrap="square">
            <a:noAutofit/>
          </a:bodyPr>
          <a:lstStyle/>
          <a:p>
            <a:endParaRPr lang="en-GB"/>
          </a:p>
        </p:txBody>
      </p:sp>
    </p:spTree>
    <p:extLst>
      <p:ext uri="{BB962C8B-B14F-4D97-AF65-F5344CB8AC3E}">
        <p14:creationId xmlns:p14="http://schemas.microsoft.com/office/powerpoint/2010/main" val="12635596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Headline with Two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9761" cy="414463"/>
          </a:xfrm>
        </p:spPr>
        <p:txBody>
          <a:bodyPr/>
          <a:lstStyle>
            <a:lvl1pPr>
              <a:defRPr spc="-26">
                <a:solidFill>
                  <a:schemeClr val="tx1"/>
                </a:solidFill>
              </a:defRPr>
            </a:lvl1pPr>
          </a:lstStyle>
          <a:p>
            <a:r>
              <a:rPr lang="en-US"/>
              <a:t>Headline for slide with two images</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5770"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7B780EE7-8B48-AE2D-938E-E4D65084BBCE}"/>
              </a:ext>
            </a:extLst>
          </p:cNvPr>
          <p:cNvSpPr>
            <a:spLocks noGrp="1"/>
          </p:cNvSpPr>
          <p:nvPr>
            <p:ph type="pic" sz="quarter" idx="12"/>
          </p:nvPr>
        </p:nvSpPr>
        <p:spPr>
          <a:xfrm>
            <a:off x="91313" y="2687320"/>
            <a:ext cx="7909560" cy="4101878"/>
          </a:xfrm>
          <a:custGeom>
            <a:avLst/>
            <a:gdLst>
              <a:gd name="connsiteX0" fmla="*/ 640856 w 7909560"/>
              <a:gd name="connsiteY0" fmla="*/ 0 h 4101878"/>
              <a:gd name="connsiteX1" fmla="*/ 7909560 w 7909560"/>
              <a:gd name="connsiteY1" fmla="*/ 0 h 4101878"/>
              <a:gd name="connsiteX2" fmla="*/ 7909560 w 7909560"/>
              <a:gd name="connsiteY2" fmla="*/ 3461353 h 4101878"/>
              <a:gd name="connsiteX3" fmla="*/ 7268704 w 7909560"/>
              <a:gd name="connsiteY3" fmla="*/ 4101878 h 4101878"/>
              <a:gd name="connsiteX4" fmla="*/ 640856 w 7909560"/>
              <a:gd name="connsiteY4" fmla="*/ 4101878 h 4101878"/>
              <a:gd name="connsiteX5" fmla="*/ 0 w 7909560"/>
              <a:gd name="connsiteY5" fmla="*/ 3461353 h 4101878"/>
              <a:gd name="connsiteX6" fmla="*/ 0 w 7909560"/>
              <a:gd name="connsiteY6" fmla="*/ 640525 h 4101878"/>
              <a:gd name="connsiteX7" fmla="*/ 640856 w 7909560"/>
              <a:gd name="connsiteY7" fmla="*/ 0 h 410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9560" h="4101878">
                <a:moveTo>
                  <a:pt x="640856" y="0"/>
                </a:moveTo>
                <a:lnTo>
                  <a:pt x="7909560" y="0"/>
                </a:lnTo>
                <a:lnTo>
                  <a:pt x="7909560" y="3461353"/>
                </a:lnTo>
                <a:cubicBezTo>
                  <a:pt x="7909560" y="3814847"/>
                  <a:pt x="7622380" y="4101878"/>
                  <a:pt x="7268704" y="4101878"/>
                </a:cubicBezTo>
                <a:lnTo>
                  <a:pt x="640856" y="4101878"/>
                </a:lnTo>
                <a:cubicBezTo>
                  <a:pt x="287180" y="4101878"/>
                  <a:pt x="0" y="3814847"/>
                  <a:pt x="0" y="3461353"/>
                </a:cubicBezTo>
                <a:lnTo>
                  <a:pt x="0" y="640525"/>
                </a:lnTo>
                <a:cubicBezTo>
                  <a:pt x="0" y="287031"/>
                  <a:pt x="287180" y="0"/>
                  <a:pt x="640856" y="0"/>
                </a:cubicBezTo>
                <a:close/>
              </a:path>
            </a:pathLst>
          </a:custGeom>
        </p:spPr>
        <p:txBody>
          <a:bodyPr wrap="square">
            <a:noAutofit/>
          </a:bodyPr>
          <a:lstStyle/>
          <a:p>
            <a:endParaRPr lang="en-GB"/>
          </a:p>
        </p:txBody>
      </p:sp>
      <p:sp>
        <p:nvSpPr>
          <p:cNvPr id="20" name="Picture Placeholder 19">
            <a:extLst>
              <a:ext uri="{FF2B5EF4-FFF2-40B4-BE49-F238E27FC236}">
                <a16:creationId xmlns:a16="http://schemas.microsoft.com/office/drawing/2014/main" id="{3717AD81-D334-8CCB-130E-2510F2DB65F6}"/>
              </a:ext>
            </a:extLst>
          </p:cNvPr>
          <p:cNvSpPr>
            <a:spLocks noGrp="1"/>
          </p:cNvSpPr>
          <p:nvPr>
            <p:ph type="pic" sz="quarter" idx="13"/>
          </p:nvPr>
        </p:nvSpPr>
        <p:spPr>
          <a:xfrm>
            <a:off x="8125632" y="2687320"/>
            <a:ext cx="3975183" cy="4101813"/>
          </a:xfrm>
          <a:custGeom>
            <a:avLst/>
            <a:gdLst>
              <a:gd name="connsiteX0" fmla="*/ 0 w 3975183"/>
              <a:gd name="connsiteY0" fmla="*/ 0 h 4101813"/>
              <a:gd name="connsiteX1" fmla="*/ 3325754 w 3975183"/>
              <a:gd name="connsiteY1" fmla="*/ 0 h 4101813"/>
              <a:gd name="connsiteX2" fmla="*/ 3975183 w 3975183"/>
              <a:gd name="connsiteY2" fmla="*/ 649429 h 4101813"/>
              <a:gd name="connsiteX3" fmla="*/ 3975183 w 3975183"/>
              <a:gd name="connsiteY3" fmla="*/ 3452384 h 4101813"/>
              <a:gd name="connsiteX4" fmla="*/ 3325754 w 3975183"/>
              <a:gd name="connsiteY4" fmla="*/ 4101813 h 4101813"/>
              <a:gd name="connsiteX5" fmla="*/ 649429 w 3975183"/>
              <a:gd name="connsiteY5" fmla="*/ 4101813 h 4101813"/>
              <a:gd name="connsiteX6" fmla="*/ 0 w 3975183"/>
              <a:gd name="connsiteY6" fmla="*/ 3452384 h 41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75183" h="4101813">
                <a:moveTo>
                  <a:pt x="0" y="0"/>
                </a:moveTo>
                <a:lnTo>
                  <a:pt x="3325754" y="0"/>
                </a:lnTo>
                <a:cubicBezTo>
                  <a:pt x="3684209" y="0"/>
                  <a:pt x="3975183" y="290974"/>
                  <a:pt x="3975183" y="649429"/>
                </a:cubicBezTo>
                <a:lnTo>
                  <a:pt x="3975183" y="3452384"/>
                </a:lnTo>
                <a:cubicBezTo>
                  <a:pt x="3975183" y="3810839"/>
                  <a:pt x="3684209" y="4101813"/>
                  <a:pt x="3325754" y="4101813"/>
                </a:cubicBezTo>
                <a:lnTo>
                  <a:pt x="649429" y="4101813"/>
                </a:lnTo>
                <a:cubicBezTo>
                  <a:pt x="290974" y="4101813"/>
                  <a:pt x="0" y="3810839"/>
                  <a:pt x="0" y="3452384"/>
                </a:cubicBezTo>
                <a:close/>
              </a:path>
            </a:pathLst>
          </a:custGeom>
        </p:spPr>
        <p:txBody>
          <a:bodyPr wrap="square">
            <a:noAutofit/>
          </a:bodyPr>
          <a:lstStyle/>
          <a:p>
            <a:endParaRPr lang="en-GB"/>
          </a:p>
        </p:txBody>
      </p:sp>
    </p:spTree>
    <p:extLst>
      <p:ext uri="{BB962C8B-B14F-4D97-AF65-F5344CB8AC3E}">
        <p14:creationId xmlns:p14="http://schemas.microsoft.com/office/powerpoint/2010/main" val="11740859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line &amp; Body with Im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20" name="Text Placeholder 18">
            <a:extLst>
              <a:ext uri="{FF2B5EF4-FFF2-40B4-BE49-F238E27FC236}">
                <a16:creationId xmlns:a16="http://schemas.microsoft.com/office/drawing/2014/main" id="{8992FF23-EEEA-EC59-C320-07847EF7C9A9}"/>
              </a:ext>
            </a:extLst>
          </p:cNvPr>
          <p:cNvSpPr>
            <a:spLocks noGrp="1"/>
          </p:cNvSpPr>
          <p:nvPr>
            <p:ph type="body" sz="quarter" idx="16"/>
          </p:nvPr>
        </p:nvSpPr>
        <p:spPr>
          <a:xfrm>
            <a:off x="257175" y="2929573"/>
            <a:ext cx="3753993" cy="3671252"/>
          </a:xfrm>
        </p:spPr>
        <p:txBody>
          <a:bodyPr/>
          <a:lstStyle>
            <a:lvl1pPr>
              <a:lnSpc>
                <a:spcPct val="103000"/>
              </a:lnSpc>
              <a:spcBef>
                <a:spcPts val="1000"/>
              </a:spcBef>
              <a:defRPr sz="1400" spc="-17"/>
            </a:lvl1pPr>
            <a:lvl2pPr>
              <a:lnSpc>
                <a:spcPct val="103000"/>
              </a:lnSpc>
              <a:spcBef>
                <a:spcPts val="1000"/>
              </a:spcBef>
              <a:defRPr sz="1400" spc="-17"/>
            </a:lvl2pPr>
            <a:lvl3pPr>
              <a:lnSpc>
                <a:spcPct val="103000"/>
              </a:lnSpc>
              <a:spcBef>
                <a:spcPts val="1000"/>
              </a:spcBef>
              <a:defRPr sz="1400" spc="-17"/>
            </a:lvl3pPr>
            <a:lvl4pPr>
              <a:lnSpc>
                <a:spcPct val="103000"/>
              </a:lnSpc>
              <a:spcBef>
                <a:spcPts val="1000"/>
              </a:spcBef>
              <a:defRPr sz="1400" spc="-17"/>
            </a:lvl4pPr>
            <a:lvl5pPr>
              <a:lnSpc>
                <a:spcPct val="103000"/>
              </a:lnSpc>
              <a:spcBef>
                <a:spcPts val="1000"/>
              </a:spcBef>
              <a:defRPr sz="1400" spc="-17"/>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4171734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Headline &amp; Body with Image-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20" name="Text Placeholder 18">
            <a:extLst>
              <a:ext uri="{FF2B5EF4-FFF2-40B4-BE49-F238E27FC236}">
                <a16:creationId xmlns:a16="http://schemas.microsoft.com/office/drawing/2014/main" id="{8992FF23-EEEA-EC59-C320-07847EF7C9A9}"/>
              </a:ext>
            </a:extLst>
          </p:cNvPr>
          <p:cNvSpPr>
            <a:spLocks noGrp="1"/>
          </p:cNvSpPr>
          <p:nvPr>
            <p:ph type="body" sz="quarter" idx="16"/>
          </p:nvPr>
        </p:nvSpPr>
        <p:spPr>
          <a:xfrm>
            <a:off x="257175" y="2929573"/>
            <a:ext cx="3753993" cy="3671252"/>
          </a:xfrm>
        </p:spPr>
        <p:txBody>
          <a:bodyPr/>
          <a:lstStyle>
            <a:lvl1pPr>
              <a:lnSpc>
                <a:spcPct val="103000"/>
              </a:lnSpc>
              <a:spcBef>
                <a:spcPts val="1000"/>
              </a:spcBef>
              <a:defRPr sz="1400" spc="-17"/>
            </a:lvl1pPr>
            <a:lvl2pPr>
              <a:lnSpc>
                <a:spcPct val="103000"/>
              </a:lnSpc>
              <a:spcBef>
                <a:spcPts val="1000"/>
              </a:spcBef>
              <a:defRPr sz="1400" spc="-17"/>
            </a:lvl2pPr>
            <a:lvl3pPr>
              <a:lnSpc>
                <a:spcPct val="103000"/>
              </a:lnSpc>
              <a:spcBef>
                <a:spcPts val="1000"/>
              </a:spcBef>
              <a:defRPr sz="1400" spc="-17"/>
            </a:lvl3pPr>
            <a:lvl4pPr>
              <a:lnSpc>
                <a:spcPct val="103000"/>
              </a:lnSpc>
              <a:spcBef>
                <a:spcPts val="1000"/>
              </a:spcBef>
              <a:defRPr sz="1400" spc="-17"/>
            </a:lvl4pPr>
            <a:lvl5pPr>
              <a:lnSpc>
                <a:spcPct val="103000"/>
              </a:lnSpc>
              <a:spcBef>
                <a:spcPts val="1000"/>
              </a:spcBef>
              <a:defRPr sz="1400" spc="-17"/>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40745646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line &amp; Body with Imag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9" name="Text Placeholder 18">
            <a:extLst>
              <a:ext uri="{FF2B5EF4-FFF2-40B4-BE49-F238E27FC236}">
                <a16:creationId xmlns:a16="http://schemas.microsoft.com/office/drawing/2014/main" id="{CA6B0C59-8056-303C-E693-D8259BDDE613}"/>
              </a:ext>
            </a:extLst>
          </p:cNvPr>
          <p:cNvSpPr>
            <a:spLocks noGrp="1"/>
          </p:cNvSpPr>
          <p:nvPr>
            <p:ph type="body" sz="quarter" idx="16"/>
          </p:nvPr>
        </p:nvSpPr>
        <p:spPr>
          <a:xfrm>
            <a:off x="257175" y="3299031"/>
            <a:ext cx="3753993" cy="3301794"/>
          </a:xfrm>
        </p:spPr>
        <p:txBody>
          <a:bodyPr/>
          <a:lstStyle>
            <a:lvl1pPr marL="237744">
              <a:lnSpc>
                <a:spcPct val="93000"/>
              </a:lnSpc>
              <a:spcBef>
                <a:spcPts val="1000"/>
              </a:spcBef>
              <a:defRPr sz="1200" spc="-17">
                <a:solidFill>
                  <a:schemeClr val="tx2"/>
                </a:solidFill>
              </a:defRPr>
            </a:lvl1pPr>
            <a:lvl2pPr marL="402336">
              <a:lnSpc>
                <a:spcPct val="93000"/>
              </a:lnSpc>
              <a:spcBef>
                <a:spcPts val="1000"/>
              </a:spcBef>
              <a:defRPr sz="1200" spc="-17">
                <a:solidFill>
                  <a:schemeClr val="tx2"/>
                </a:solidFill>
              </a:defRPr>
            </a:lvl2pPr>
            <a:lvl3pPr marL="585216">
              <a:lnSpc>
                <a:spcPct val="93000"/>
              </a:lnSpc>
              <a:spcBef>
                <a:spcPts val="1000"/>
              </a:spcBef>
              <a:defRPr sz="1200" spc="-17">
                <a:solidFill>
                  <a:schemeClr val="tx2"/>
                </a:solidFill>
              </a:defRPr>
            </a:lvl3pPr>
            <a:lvl4pPr marL="768096">
              <a:lnSpc>
                <a:spcPct val="93000"/>
              </a:lnSpc>
              <a:spcBef>
                <a:spcPts val="1000"/>
              </a:spcBef>
              <a:defRPr sz="1200" spc="-17">
                <a:solidFill>
                  <a:schemeClr val="tx2"/>
                </a:solidFill>
              </a:defRPr>
            </a:lvl4pPr>
            <a:lvl5pPr marL="950976">
              <a:lnSpc>
                <a:spcPct val="93000"/>
              </a:lnSpc>
              <a:spcBef>
                <a:spcPts val="1000"/>
              </a:spcBef>
              <a:defRPr sz="12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24">
            <a:extLst>
              <a:ext uri="{FF2B5EF4-FFF2-40B4-BE49-F238E27FC236}">
                <a16:creationId xmlns:a16="http://schemas.microsoft.com/office/drawing/2014/main" id="{6E77B6E7-D661-181A-C34B-26EF05233EBA}"/>
              </a:ext>
            </a:extLst>
          </p:cNvPr>
          <p:cNvSpPr>
            <a:spLocks noGrp="1"/>
          </p:cNvSpPr>
          <p:nvPr>
            <p:ph type="body" sz="quarter" idx="13" hasCustomPrompt="1"/>
          </p:nvPr>
        </p:nvSpPr>
        <p:spPr>
          <a:xfrm>
            <a:off x="257180" y="2938535"/>
            <a:ext cx="3753871"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Tree>
    <p:extLst>
      <p:ext uri="{BB962C8B-B14F-4D97-AF65-F5344CB8AC3E}">
        <p14:creationId xmlns:p14="http://schemas.microsoft.com/office/powerpoint/2010/main" val="40964599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lumn with Images-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6679" cy="414463"/>
          </a:xfrm>
        </p:spPr>
        <p:txBody>
          <a:bodyPr/>
          <a:lstStyle>
            <a:lvl1pPr>
              <a:defRPr spc="-26">
                <a:solidFill>
                  <a:schemeClr val="tx1"/>
                </a:solidFill>
              </a:defRPr>
            </a:lvl1pPr>
          </a:lstStyle>
          <a:p>
            <a:r>
              <a:rPr lang="en-US"/>
              <a:t>A template for three columns of information</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2686"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27" name="Text Placeholder 24">
            <a:extLst>
              <a:ext uri="{FF2B5EF4-FFF2-40B4-BE49-F238E27FC236}">
                <a16:creationId xmlns:a16="http://schemas.microsoft.com/office/drawing/2014/main" id="{82B53A0F-9769-BFF4-2FB4-C73782AF9BD9}"/>
              </a:ext>
            </a:extLst>
          </p:cNvPr>
          <p:cNvSpPr>
            <a:spLocks noGrp="1"/>
          </p:cNvSpPr>
          <p:nvPr>
            <p:ph type="body" sz="quarter" idx="15" hasCustomPrompt="1"/>
          </p:nvPr>
        </p:nvSpPr>
        <p:spPr>
          <a:xfrm>
            <a:off x="257178"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28" name="Text Placeholder 24">
            <a:extLst>
              <a:ext uri="{FF2B5EF4-FFF2-40B4-BE49-F238E27FC236}">
                <a16:creationId xmlns:a16="http://schemas.microsoft.com/office/drawing/2014/main" id="{44FE4434-42C1-8BF3-BAA6-94B7EF00C87A}"/>
              </a:ext>
            </a:extLst>
          </p:cNvPr>
          <p:cNvSpPr>
            <a:spLocks noGrp="1"/>
          </p:cNvSpPr>
          <p:nvPr>
            <p:ph type="body" sz="quarter" idx="16" hasCustomPrompt="1"/>
          </p:nvPr>
        </p:nvSpPr>
        <p:spPr>
          <a:xfrm>
            <a:off x="257178"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29" name="Text Placeholder 24">
            <a:extLst>
              <a:ext uri="{FF2B5EF4-FFF2-40B4-BE49-F238E27FC236}">
                <a16:creationId xmlns:a16="http://schemas.microsoft.com/office/drawing/2014/main" id="{5C89FC96-610E-E710-FD59-5C6C4E45C75A}"/>
              </a:ext>
            </a:extLst>
          </p:cNvPr>
          <p:cNvSpPr>
            <a:spLocks noGrp="1"/>
          </p:cNvSpPr>
          <p:nvPr>
            <p:ph type="body" sz="quarter" idx="17" hasCustomPrompt="1"/>
          </p:nvPr>
        </p:nvSpPr>
        <p:spPr>
          <a:xfrm>
            <a:off x="4194141"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0" name="Text Placeholder 24">
            <a:extLst>
              <a:ext uri="{FF2B5EF4-FFF2-40B4-BE49-F238E27FC236}">
                <a16:creationId xmlns:a16="http://schemas.microsoft.com/office/drawing/2014/main" id="{DB5B3D3B-C4B0-1E8B-C229-72FF828AB6A1}"/>
              </a:ext>
            </a:extLst>
          </p:cNvPr>
          <p:cNvSpPr>
            <a:spLocks noGrp="1"/>
          </p:cNvSpPr>
          <p:nvPr>
            <p:ph type="body" sz="quarter" idx="18" hasCustomPrompt="1"/>
          </p:nvPr>
        </p:nvSpPr>
        <p:spPr>
          <a:xfrm>
            <a:off x="4194141"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1" name="Text Placeholder 24">
            <a:extLst>
              <a:ext uri="{FF2B5EF4-FFF2-40B4-BE49-F238E27FC236}">
                <a16:creationId xmlns:a16="http://schemas.microsoft.com/office/drawing/2014/main" id="{A7182F27-B965-0E1E-DE4D-C6A3690AAC48}"/>
              </a:ext>
            </a:extLst>
          </p:cNvPr>
          <p:cNvSpPr>
            <a:spLocks noGrp="1"/>
          </p:cNvSpPr>
          <p:nvPr>
            <p:ph type="body" sz="quarter" idx="19" hasCustomPrompt="1"/>
          </p:nvPr>
        </p:nvSpPr>
        <p:spPr>
          <a:xfrm>
            <a:off x="8131104"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24">
            <a:extLst>
              <a:ext uri="{FF2B5EF4-FFF2-40B4-BE49-F238E27FC236}">
                <a16:creationId xmlns:a16="http://schemas.microsoft.com/office/drawing/2014/main" id="{A5796F65-7D98-EAE7-B767-CEEB4AA47493}"/>
              </a:ext>
            </a:extLst>
          </p:cNvPr>
          <p:cNvSpPr>
            <a:spLocks noGrp="1"/>
          </p:cNvSpPr>
          <p:nvPr>
            <p:ph type="body" sz="quarter" idx="20" hasCustomPrompt="1"/>
          </p:nvPr>
        </p:nvSpPr>
        <p:spPr>
          <a:xfrm>
            <a:off x="8131104"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4" name="Picture Placeholder 33">
            <a:extLst>
              <a:ext uri="{FF2B5EF4-FFF2-40B4-BE49-F238E27FC236}">
                <a16:creationId xmlns:a16="http://schemas.microsoft.com/office/drawing/2014/main" id="{259A2748-5765-3F1C-D7FC-C9C2898E6DC8}"/>
              </a:ext>
            </a:extLst>
          </p:cNvPr>
          <p:cNvSpPr>
            <a:spLocks noGrp="1"/>
          </p:cNvSpPr>
          <p:nvPr>
            <p:ph type="pic" sz="quarter" idx="21"/>
          </p:nvPr>
        </p:nvSpPr>
        <p:spPr>
          <a:xfrm>
            <a:off x="257175" y="3695700"/>
            <a:ext cx="3803650" cy="2908300"/>
          </a:xfrm>
          <a:prstGeom prst="roundRect">
            <a:avLst>
              <a:gd name="adj" fmla="val 3567"/>
            </a:avLst>
          </a:prstGeom>
        </p:spPr>
        <p:txBody>
          <a:bodyPr/>
          <a:lstStyle/>
          <a:p>
            <a:endParaRPr lang="en-GB"/>
          </a:p>
        </p:txBody>
      </p:sp>
      <p:sp>
        <p:nvSpPr>
          <p:cNvPr id="35" name="Picture Placeholder 33">
            <a:extLst>
              <a:ext uri="{FF2B5EF4-FFF2-40B4-BE49-F238E27FC236}">
                <a16:creationId xmlns:a16="http://schemas.microsoft.com/office/drawing/2014/main" id="{7D97A640-D804-0F5B-92BA-4FF2AA9F178F}"/>
              </a:ext>
            </a:extLst>
          </p:cNvPr>
          <p:cNvSpPr>
            <a:spLocks noGrp="1"/>
          </p:cNvSpPr>
          <p:nvPr>
            <p:ph type="pic" sz="quarter" idx="22"/>
          </p:nvPr>
        </p:nvSpPr>
        <p:spPr>
          <a:xfrm>
            <a:off x="4194141" y="3695700"/>
            <a:ext cx="3803650" cy="2908300"/>
          </a:xfrm>
          <a:prstGeom prst="roundRect">
            <a:avLst>
              <a:gd name="adj" fmla="val 3567"/>
            </a:avLst>
          </a:prstGeom>
        </p:spPr>
        <p:txBody>
          <a:bodyPr/>
          <a:lstStyle/>
          <a:p>
            <a:endParaRPr lang="en-GB"/>
          </a:p>
        </p:txBody>
      </p:sp>
      <p:sp>
        <p:nvSpPr>
          <p:cNvPr id="36" name="Picture Placeholder 33">
            <a:extLst>
              <a:ext uri="{FF2B5EF4-FFF2-40B4-BE49-F238E27FC236}">
                <a16:creationId xmlns:a16="http://schemas.microsoft.com/office/drawing/2014/main" id="{033C8B42-5CD4-4659-31F0-5175AEA6C24B}"/>
              </a:ext>
            </a:extLst>
          </p:cNvPr>
          <p:cNvSpPr>
            <a:spLocks noGrp="1"/>
          </p:cNvSpPr>
          <p:nvPr>
            <p:ph type="pic" sz="quarter" idx="23"/>
          </p:nvPr>
        </p:nvSpPr>
        <p:spPr>
          <a:xfrm>
            <a:off x="8131171" y="3695700"/>
            <a:ext cx="3803650" cy="2908300"/>
          </a:xfrm>
          <a:prstGeom prst="roundRect">
            <a:avLst>
              <a:gd name="adj" fmla="val 3567"/>
            </a:avLst>
          </a:prstGeom>
        </p:spPr>
        <p:txBody>
          <a:bodyPr/>
          <a:lstStyle/>
          <a:p>
            <a:endParaRPr lang="en-GB"/>
          </a:p>
        </p:txBody>
      </p:sp>
    </p:spTree>
    <p:extLst>
      <p:ext uri="{BB962C8B-B14F-4D97-AF65-F5344CB8AC3E}">
        <p14:creationId xmlns:p14="http://schemas.microsoft.com/office/powerpoint/2010/main" val="19715544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hree Column with Images-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6679" cy="414463"/>
          </a:xfrm>
        </p:spPr>
        <p:txBody>
          <a:bodyPr/>
          <a:lstStyle>
            <a:lvl1pPr>
              <a:defRPr spc="-26">
                <a:solidFill>
                  <a:schemeClr val="tx1"/>
                </a:solidFill>
              </a:defRPr>
            </a:lvl1pPr>
          </a:lstStyle>
          <a:p>
            <a:r>
              <a:rPr lang="en-US"/>
              <a:t>A template for three columns of information</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2686"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27" name="Text Placeholder 24">
            <a:extLst>
              <a:ext uri="{FF2B5EF4-FFF2-40B4-BE49-F238E27FC236}">
                <a16:creationId xmlns:a16="http://schemas.microsoft.com/office/drawing/2014/main" id="{82B53A0F-9769-BFF4-2FB4-C73782AF9BD9}"/>
              </a:ext>
            </a:extLst>
          </p:cNvPr>
          <p:cNvSpPr>
            <a:spLocks noGrp="1"/>
          </p:cNvSpPr>
          <p:nvPr>
            <p:ph type="body" sz="quarter" idx="15" hasCustomPrompt="1"/>
          </p:nvPr>
        </p:nvSpPr>
        <p:spPr>
          <a:xfrm>
            <a:off x="257178"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28" name="Text Placeholder 24">
            <a:extLst>
              <a:ext uri="{FF2B5EF4-FFF2-40B4-BE49-F238E27FC236}">
                <a16:creationId xmlns:a16="http://schemas.microsoft.com/office/drawing/2014/main" id="{44FE4434-42C1-8BF3-BAA6-94B7EF00C87A}"/>
              </a:ext>
            </a:extLst>
          </p:cNvPr>
          <p:cNvSpPr>
            <a:spLocks noGrp="1"/>
          </p:cNvSpPr>
          <p:nvPr>
            <p:ph type="body" sz="quarter" idx="16" hasCustomPrompt="1"/>
          </p:nvPr>
        </p:nvSpPr>
        <p:spPr>
          <a:xfrm>
            <a:off x="257178"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29" name="Text Placeholder 24">
            <a:extLst>
              <a:ext uri="{FF2B5EF4-FFF2-40B4-BE49-F238E27FC236}">
                <a16:creationId xmlns:a16="http://schemas.microsoft.com/office/drawing/2014/main" id="{5C89FC96-610E-E710-FD59-5C6C4E45C75A}"/>
              </a:ext>
            </a:extLst>
          </p:cNvPr>
          <p:cNvSpPr>
            <a:spLocks noGrp="1"/>
          </p:cNvSpPr>
          <p:nvPr>
            <p:ph type="body" sz="quarter" idx="17" hasCustomPrompt="1"/>
          </p:nvPr>
        </p:nvSpPr>
        <p:spPr>
          <a:xfrm>
            <a:off x="4194141"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0" name="Text Placeholder 24">
            <a:extLst>
              <a:ext uri="{FF2B5EF4-FFF2-40B4-BE49-F238E27FC236}">
                <a16:creationId xmlns:a16="http://schemas.microsoft.com/office/drawing/2014/main" id="{DB5B3D3B-C4B0-1E8B-C229-72FF828AB6A1}"/>
              </a:ext>
            </a:extLst>
          </p:cNvPr>
          <p:cNvSpPr>
            <a:spLocks noGrp="1"/>
          </p:cNvSpPr>
          <p:nvPr>
            <p:ph type="body" sz="quarter" idx="18" hasCustomPrompt="1"/>
          </p:nvPr>
        </p:nvSpPr>
        <p:spPr>
          <a:xfrm>
            <a:off x="4194141"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1" name="Text Placeholder 24">
            <a:extLst>
              <a:ext uri="{FF2B5EF4-FFF2-40B4-BE49-F238E27FC236}">
                <a16:creationId xmlns:a16="http://schemas.microsoft.com/office/drawing/2014/main" id="{A7182F27-B965-0E1E-DE4D-C6A3690AAC48}"/>
              </a:ext>
            </a:extLst>
          </p:cNvPr>
          <p:cNvSpPr>
            <a:spLocks noGrp="1"/>
          </p:cNvSpPr>
          <p:nvPr>
            <p:ph type="body" sz="quarter" idx="19" hasCustomPrompt="1"/>
          </p:nvPr>
        </p:nvSpPr>
        <p:spPr>
          <a:xfrm>
            <a:off x="8131104"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24">
            <a:extLst>
              <a:ext uri="{FF2B5EF4-FFF2-40B4-BE49-F238E27FC236}">
                <a16:creationId xmlns:a16="http://schemas.microsoft.com/office/drawing/2014/main" id="{A5796F65-7D98-EAE7-B767-CEEB4AA47493}"/>
              </a:ext>
            </a:extLst>
          </p:cNvPr>
          <p:cNvSpPr>
            <a:spLocks noGrp="1"/>
          </p:cNvSpPr>
          <p:nvPr>
            <p:ph type="body" sz="quarter" idx="20" hasCustomPrompt="1"/>
          </p:nvPr>
        </p:nvSpPr>
        <p:spPr>
          <a:xfrm>
            <a:off x="8131104"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4" name="Picture Placeholder 33">
            <a:extLst>
              <a:ext uri="{FF2B5EF4-FFF2-40B4-BE49-F238E27FC236}">
                <a16:creationId xmlns:a16="http://schemas.microsoft.com/office/drawing/2014/main" id="{259A2748-5765-3F1C-D7FC-C9C2898E6DC8}"/>
              </a:ext>
            </a:extLst>
          </p:cNvPr>
          <p:cNvSpPr>
            <a:spLocks noGrp="1"/>
          </p:cNvSpPr>
          <p:nvPr>
            <p:ph type="pic" sz="quarter" idx="21"/>
          </p:nvPr>
        </p:nvSpPr>
        <p:spPr>
          <a:xfrm>
            <a:off x="257175" y="3695700"/>
            <a:ext cx="3803650" cy="2908300"/>
          </a:xfrm>
          <a:prstGeom prst="roundRect">
            <a:avLst>
              <a:gd name="adj" fmla="val 3567"/>
            </a:avLst>
          </a:prstGeom>
        </p:spPr>
        <p:txBody>
          <a:bodyPr/>
          <a:lstStyle/>
          <a:p>
            <a:endParaRPr lang="en-GB"/>
          </a:p>
        </p:txBody>
      </p:sp>
      <p:sp>
        <p:nvSpPr>
          <p:cNvPr id="35" name="Picture Placeholder 33">
            <a:extLst>
              <a:ext uri="{FF2B5EF4-FFF2-40B4-BE49-F238E27FC236}">
                <a16:creationId xmlns:a16="http://schemas.microsoft.com/office/drawing/2014/main" id="{7D97A640-D804-0F5B-92BA-4FF2AA9F178F}"/>
              </a:ext>
            </a:extLst>
          </p:cNvPr>
          <p:cNvSpPr>
            <a:spLocks noGrp="1"/>
          </p:cNvSpPr>
          <p:nvPr>
            <p:ph type="pic" sz="quarter" idx="22"/>
          </p:nvPr>
        </p:nvSpPr>
        <p:spPr>
          <a:xfrm>
            <a:off x="4194141" y="3695700"/>
            <a:ext cx="3803650" cy="2908300"/>
          </a:xfrm>
          <a:prstGeom prst="roundRect">
            <a:avLst>
              <a:gd name="adj" fmla="val 3567"/>
            </a:avLst>
          </a:prstGeom>
        </p:spPr>
        <p:txBody>
          <a:bodyPr/>
          <a:lstStyle/>
          <a:p>
            <a:endParaRPr lang="en-GB"/>
          </a:p>
        </p:txBody>
      </p:sp>
      <p:sp>
        <p:nvSpPr>
          <p:cNvPr id="36" name="Picture Placeholder 33">
            <a:extLst>
              <a:ext uri="{FF2B5EF4-FFF2-40B4-BE49-F238E27FC236}">
                <a16:creationId xmlns:a16="http://schemas.microsoft.com/office/drawing/2014/main" id="{033C8B42-5CD4-4659-31F0-5175AEA6C24B}"/>
              </a:ext>
            </a:extLst>
          </p:cNvPr>
          <p:cNvSpPr>
            <a:spLocks noGrp="1"/>
          </p:cNvSpPr>
          <p:nvPr>
            <p:ph type="pic" sz="quarter" idx="23"/>
          </p:nvPr>
        </p:nvSpPr>
        <p:spPr>
          <a:xfrm>
            <a:off x="8131171" y="3695700"/>
            <a:ext cx="3803650" cy="2908300"/>
          </a:xfrm>
          <a:prstGeom prst="roundRect">
            <a:avLst>
              <a:gd name="adj" fmla="val 3567"/>
            </a:avLst>
          </a:prstGeom>
        </p:spPr>
        <p:txBody>
          <a:bodyPr/>
          <a:lstStyle/>
          <a:p>
            <a:endParaRPr lang="en-GB"/>
          </a:p>
        </p:txBody>
      </p:sp>
    </p:spTree>
    <p:extLst>
      <p:ext uri="{BB962C8B-B14F-4D97-AF65-F5344CB8AC3E}">
        <p14:creationId xmlns:p14="http://schemas.microsoft.com/office/powerpoint/2010/main" val="15154852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 with Images-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D087A9-08E7-6C44-BF3A-F150866106EC}"/>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71689407-E72F-B7C0-5F24-2EB64881AF1B}"/>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DEC308B-3AA4-6AD2-F3B3-058F2A28654F}"/>
              </a:ext>
            </a:extLst>
          </p:cNvPr>
          <p:cNvSpPr>
            <a:spLocks noGrp="1"/>
          </p:cNvSpPr>
          <p:nvPr>
            <p:ph type="subTitle" idx="1" hasCustomPrompt="1"/>
          </p:nvPr>
        </p:nvSpPr>
        <p:spPr>
          <a:xfrm>
            <a:off x="257178" y="1088496"/>
            <a:ext cx="3803647"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Our Values</a:t>
            </a:r>
            <a:endParaRPr lang="en-GB"/>
          </a:p>
        </p:txBody>
      </p:sp>
      <p:sp>
        <p:nvSpPr>
          <p:cNvPr id="8" name="Text Placeholder 18">
            <a:extLst>
              <a:ext uri="{FF2B5EF4-FFF2-40B4-BE49-F238E27FC236}">
                <a16:creationId xmlns:a16="http://schemas.microsoft.com/office/drawing/2014/main" id="{E0117899-3E76-D3F5-0D23-B952DA57678D}"/>
              </a:ext>
            </a:extLst>
          </p:cNvPr>
          <p:cNvSpPr>
            <a:spLocks noGrp="1"/>
          </p:cNvSpPr>
          <p:nvPr>
            <p:ph type="body" sz="quarter" idx="16"/>
          </p:nvPr>
        </p:nvSpPr>
        <p:spPr>
          <a:xfrm>
            <a:off x="257175"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Picture Placeholder 33">
            <a:extLst>
              <a:ext uri="{FF2B5EF4-FFF2-40B4-BE49-F238E27FC236}">
                <a16:creationId xmlns:a16="http://schemas.microsoft.com/office/drawing/2014/main" id="{47E5F4DB-7207-C400-8FC3-3AF767281D2D}"/>
              </a:ext>
            </a:extLst>
          </p:cNvPr>
          <p:cNvSpPr>
            <a:spLocks noGrp="1"/>
          </p:cNvSpPr>
          <p:nvPr>
            <p:ph type="pic" sz="quarter" idx="21"/>
          </p:nvPr>
        </p:nvSpPr>
        <p:spPr>
          <a:xfrm>
            <a:off x="257175" y="1879599"/>
            <a:ext cx="3803650" cy="2908300"/>
          </a:xfrm>
          <a:prstGeom prst="roundRect">
            <a:avLst>
              <a:gd name="adj" fmla="val 3567"/>
            </a:avLst>
          </a:prstGeom>
        </p:spPr>
        <p:txBody>
          <a:bodyPr/>
          <a:lstStyle/>
          <a:p>
            <a:endParaRPr lang="en-GB"/>
          </a:p>
        </p:txBody>
      </p:sp>
      <p:sp>
        <p:nvSpPr>
          <p:cNvPr id="10" name="Picture Placeholder 33">
            <a:extLst>
              <a:ext uri="{FF2B5EF4-FFF2-40B4-BE49-F238E27FC236}">
                <a16:creationId xmlns:a16="http://schemas.microsoft.com/office/drawing/2014/main" id="{AC2F4AC6-1718-66CC-B3E7-9C6D2CFE59D9}"/>
              </a:ext>
            </a:extLst>
          </p:cNvPr>
          <p:cNvSpPr>
            <a:spLocks noGrp="1"/>
          </p:cNvSpPr>
          <p:nvPr>
            <p:ph type="pic" sz="quarter" idx="22"/>
          </p:nvPr>
        </p:nvSpPr>
        <p:spPr>
          <a:xfrm>
            <a:off x="4194141" y="1879599"/>
            <a:ext cx="3803650" cy="2908300"/>
          </a:xfrm>
          <a:prstGeom prst="roundRect">
            <a:avLst>
              <a:gd name="adj" fmla="val 3567"/>
            </a:avLst>
          </a:prstGeom>
        </p:spPr>
        <p:txBody>
          <a:bodyPr/>
          <a:lstStyle/>
          <a:p>
            <a:endParaRPr lang="en-GB"/>
          </a:p>
        </p:txBody>
      </p:sp>
      <p:sp>
        <p:nvSpPr>
          <p:cNvPr id="11" name="Picture Placeholder 33">
            <a:extLst>
              <a:ext uri="{FF2B5EF4-FFF2-40B4-BE49-F238E27FC236}">
                <a16:creationId xmlns:a16="http://schemas.microsoft.com/office/drawing/2014/main" id="{836F6D11-A1CF-A88C-B5A0-6A0A4E3FAE7C}"/>
              </a:ext>
            </a:extLst>
          </p:cNvPr>
          <p:cNvSpPr>
            <a:spLocks noGrp="1"/>
          </p:cNvSpPr>
          <p:nvPr>
            <p:ph type="pic" sz="quarter" idx="23"/>
          </p:nvPr>
        </p:nvSpPr>
        <p:spPr>
          <a:xfrm>
            <a:off x="8131171" y="1879599"/>
            <a:ext cx="3803650" cy="2908300"/>
          </a:xfrm>
          <a:prstGeom prst="roundRect">
            <a:avLst>
              <a:gd name="adj" fmla="val 3567"/>
            </a:avLst>
          </a:prstGeom>
        </p:spPr>
        <p:txBody>
          <a:bodyPr/>
          <a:lstStyle/>
          <a:p>
            <a:endParaRPr lang="en-GB"/>
          </a:p>
        </p:txBody>
      </p:sp>
      <p:sp>
        <p:nvSpPr>
          <p:cNvPr id="12" name="Text Placeholder 18">
            <a:extLst>
              <a:ext uri="{FF2B5EF4-FFF2-40B4-BE49-F238E27FC236}">
                <a16:creationId xmlns:a16="http://schemas.microsoft.com/office/drawing/2014/main" id="{B23F71E5-5599-C507-0217-57BC661E72F1}"/>
              </a:ext>
            </a:extLst>
          </p:cNvPr>
          <p:cNvSpPr>
            <a:spLocks noGrp="1"/>
          </p:cNvSpPr>
          <p:nvPr>
            <p:ph type="body" sz="quarter" idx="24"/>
          </p:nvPr>
        </p:nvSpPr>
        <p:spPr>
          <a:xfrm>
            <a:off x="4194141"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18">
            <a:extLst>
              <a:ext uri="{FF2B5EF4-FFF2-40B4-BE49-F238E27FC236}">
                <a16:creationId xmlns:a16="http://schemas.microsoft.com/office/drawing/2014/main" id="{62143D84-C449-472E-13E7-11DD5B739482}"/>
              </a:ext>
            </a:extLst>
          </p:cNvPr>
          <p:cNvSpPr>
            <a:spLocks noGrp="1"/>
          </p:cNvSpPr>
          <p:nvPr>
            <p:ph type="body" sz="quarter" idx="25"/>
          </p:nvPr>
        </p:nvSpPr>
        <p:spPr>
          <a:xfrm>
            <a:off x="8131107"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6231751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Colum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E48907C-A293-A24F-523C-5514B8DCF603}"/>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34E2BDE1-1549-02AE-0796-64039E1E8A08}"/>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Title 1">
            <a:extLst>
              <a:ext uri="{FF2B5EF4-FFF2-40B4-BE49-F238E27FC236}">
                <a16:creationId xmlns:a16="http://schemas.microsoft.com/office/drawing/2014/main" id="{4E15E787-00FA-16DF-09F6-81048AA4568B}"/>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four columns of information with icons</a:t>
            </a:r>
            <a:endParaRPr lang="en-GB"/>
          </a:p>
        </p:txBody>
      </p:sp>
      <p:sp>
        <p:nvSpPr>
          <p:cNvPr id="8" name="Subtitle 2">
            <a:extLst>
              <a:ext uri="{FF2B5EF4-FFF2-40B4-BE49-F238E27FC236}">
                <a16:creationId xmlns:a16="http://schemas.microsoft.com/office/drawing/2014/main" id="{68FDF0A5-B915-C040-7FB2-B05758D07357}"/>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79" name="Text Placeholder 24">
            <a:extLst>
              <a:ext uri="{FF2B5EF4-FFF2-40B4-BE49-F238E27FC236}">
                <a16:creationId xmlns:a16="http://schemas.microsoft.com/office/drawing/2014/main" id="{A0369386-5491-B34C-6363-9519032339FF}"/>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0" name="Text Placeholder 18">
            <a:extLst>
              <a:ext uri="{FF2B5EF4-FFF2-40B4-BE49-F238E27FC236}">
                <a16:creationId xmlns:a16="http://schemas.microsoft.com/office/drawing/2014/main" id="{54BA11C3-44D1-0024-87F6-1334B5D0AF5C}"/>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1" name="Text Placeholder 24">
            <a:extLst>
              <a:ext uri="{FF2B5EF4-FFF2-40B4-BE49-F238E27FC236}">
                <a16:creationId xmlns:a16="http://schemas.microsoft.com/office/drawing/2014/main" id="{AF394668-C890-66A2-CEB8-9580654AF034}"/>
              </a:ext>
            </a:extLst>
          </p:cNvPr>
          <p:cNvSpPr>
            <a:spLocks noGrp="1"/>
          </p:cNvSpPr>
          <p:nvPr>
            <p:ph type="body" sz="quarter" idx="17" hasCustomPrompt="1"/>
          </p:nvPr>
        </p:nvSpPr>
        <p:spPr>
          <a:xfrm>
            <a:off x="3414204"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2" name="Text Placeholder 18">
            <a:extLst>
              <a:ext uri="{FF2B5EF4-FFF2-40B4-BE49-F238E27FC236}">
                <a16:creationId xmlns:a16="http://schemas.microsoft.com/office/drawing/2014/main" id="{5DCB598D-3D78-24FF-514B-2D325AFFFEA2}"/>
              </a:ext>
            </a:extLst>
          </p:cNvPr>
          <p:cNvSpPr>
            <a:spLocks noGrp="1"/>
          </p:cNvSpPr>
          <p:nvPr>
            <p:ph type="body" sz="quarter" idx="18"/>
          </p:nvPr>
        </p:nvSpPr>
        <p:spPr>
          <a:xfrm>
            <a:off x="3414204"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3" name="Text Placeholder 24">
            <a:extLst>
              <a:ext uri="{FF2B5EF4-FFF2-40B4-BE49-F238E27FC236}">
                <a16:creationId xmlns:a16="http://schemas.microsoft.com/office/drawing/2014/main" id="{BD0630B3-E95F-2FE2-AF86-AA84BF2D8726}"/>
              </a:ext>
            </a:extLst>
          </p:cNvPr>
          <p:cNvSpPr>
            <a:spLocks noGrp="1"/>
          </p:cNvSpPr>
          <p:nvPr>
            <p:ph type="body" sz="quarter" idx="19" hasCustomPrompt="1"/>
          </p:nvPr>
        </p:nvSpPr>
        <p:spPr>
          <a:xfrm>
            <a:off x="636504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4" name="Text Placeholder 18">
            <a:extLst>
              <a:ext uri="{FF2B5EF4-FFF2-40B4-BE49-F238E27FC236}">
                <a16:creationId xmlns:a16="http://schemas.microsoft.com/office/drawing/2014/main" id="{F8313115-A112-3FE0-6FB9-7D4DD3149387}"/>
              </a:ext>
            </a:extLst>
          </p:cNvPr>
          <p:cNvSpPr>
            <a:spLocks noGrp="1"/>
          </p:cNvSpPr>
          <p:nvPr>
            <p:ph type="body" sz="quarter" idx="20"/>
          </p:nvPr>
        </p:nvSpPr>
        <p:spPr>
          <a:xfrm>
            <a:off x="636504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5" name="Text Placeholder 24">
            <a:extLst>
              <a:ext uri="{FF2B5EF4-FFF2-40B4-BE49-F238E27FC236}">
                <a16:creationId xmlns:a16="http://schemas.microsoft.com/office/drawing/2014/main" id="{8EBDB70F-A626-208F-4EED-1D636825EF52}"/>
              </a:ext>
            </a:extLst>
          </p:cNvPr>
          <p:cNvSpPr>
            <a:spLocks noGrp="1"/>
          </p:cNvSpPr>
          <p:nvPr>
            <p:ph type="body" sz="quarter" idx="21" hasCustomPrompt="1"/>
          </p:nvPr>
        </p:nvSpPr>
        <p:spPr>
          <a:xfrm>
            <a:off x="9315886"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6" name="Text Placeholder 18">
            <a:extLst>
              <a:ext uri="{FF2B5EF4-FFF2-40B4-BE49-F238E27FC236}">
                <a16:creationId xmlns:a16="http://schemas.microsoft.com/office/drawing/2014/main" id="{30268815-D602-794A-3F1C-7DA8ABFD6B93}"/>
              </a:ext>
            </a:extLst>
          </p:cNvPr>
          <p:cNvSpPr>
            <a:spLocks noGrp="1"/>
          </p:cNvSpPr>
          <p:nvPr>
            <p:ph type="body" sz="quarter" idx="22"/>
          </p:nvPr>
        </p:nvSpPr>
        <p:spPr>
          <a:xfrm>
            <a:off x="9315886"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5704988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Four Colum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E48907C-A293-A24F-523C-5514B8DCF603}"/>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34E2BDE1-1549-02AE-0796-64039E1E8A08}"/>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Title 1">
            <a:extLst>
              <a:ext uri="{FF2B5EF4-FFF2-40B4-BE49-F238E27FC236}">
                <a16:creationId xmlns:a16="http://schemas.microsoft.com/office/drawing/2014/main" id="{4E15E787-00FA-16DF-09F6-81048AA4568B}"/>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four columns of information with icons</a:t>
            </a:r>
            <a:endParaRPr lang="en-GB"/>
          </a:p>
        </p:txBody>
      </p:sp>
      <p:sp>
        <p:nvSpPr>
          <p:cNvPr id="8" name="Subtitle 2">
            <a:extLst>
              <a:ext uri="{FF2B5EF4-FFF2-40B4-BE49-F238E27FC236}">
                <a16:creationId xmlns:a16="http://schemas.microsoft.com/office/drawing/2014/main" id="{68FDF0A5-B915-C040-7FB2-B05758D07357}"/>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79" name="Text Placeholder 24">
            <a:extLst>
              <a:ext uri="{FF2B5EF4-FFF2-40B4-BE49-F238E27FC236}">
                <a16:creationId xmlns:a16="http://schemas.microsoft.com/office/drawing/2014/main" id="{A0369386-5491-B34C-6363-9519032339FF}"/>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0" name="Text Placeholder 18">
            <a:extLst>
              <a:ext uri="{FF2B5EF4-FFF2-40B4-BE49-F238E27FC236}">
                <a16:creationId xmlns:a16="http://schemas.microsoft.com/office/drawing/2014/main" id="{54BA11C3-44D1-0024-87F6-1334B5D0AF5C}"/>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1" name="Text Placeholder 24">
            <a:extLst>
              <a:ext uri="{FF2B5EF4-FFF2-40B4-BE49-F238E27FC236}">
                <a16:creationId xmlns:a16="http://schemas.microsoft.com/office/drawing/2014/main" id="{AF394668-C890-66A2-CEB8-9580654AF034}"/>
              </a:ext>
            </a:extLst>
          </p:cNvPr>
          <p:cNvSpPr>
            <a:spLocks noGrp="1"/>
          </p:cNvSpPr>
          <p:nvPr>
            <p:ph type="body" sz="quarter" idx="17" hasCustomPrompt="1"/>
          </p:nvPr>
        </p:nvSpPr>
        <p:spPr>
          <a:xfrm>
            <a:off x="3414204"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2" name="Text Placeholder 18">
            <a:extLst>
              <a:ext uri="{FF2B5EF4-FFF2-40B4-BE49-F238E27FC236}">
                <a16:creationId xmlns:a16="http://schemas.microsoft.com/office/drawing/2014/main" id="{5DCB598D-3D78-24FF-514B-2D325AFFFEA2}"/>
              </a:ext>
            </a:extLst>
          </p:cNvPr>
          <p:cNvSpPr>
            <a:spLocks noGrp="1"/>
          </p:cNvSpPr>
          <p:nvPr>
            <p:ph type="body" sz="quarter" idx="18"/>
          </p:nvPr>
        </p:nvSpPr>
        <p:spPr>
          <a:xfrm>
            <a:off x="3414204"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3" name="Text Placeholder 24">
            <a:extLst>
              <a:ext uri="{FF2B5EF4-FFF2-40B4-BE49-F238E27FC236}">
                <a16:creationId xmlns:a16="http://schemas.microsoft.com/office/drawing/2014/main" id="{BD0630B3-E95F-2FE2-AF86-AA84BF2D8726}"/>
              </a:ext>
            </a:extLst>
          </p:cNvPr>
          <p:cNvSpPr>
            <a:spLocks noGrp="1"/>
          </p:cNvSpPr>
          <p:nvPr>
            <p:ph type="body" sz="quarter" idx="19" hasCustomPrompt="1"/>
          </p:nvPr>
        </p:nvSpPr>
        <p:spPr>
          <a:xfrm>
            <a:off x="636504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4" name="Text Placeholder 18">
            <a:extLst>
              <a:ext uri="{FF2B5EF4-FFF2-40B4-BE49-F238E27FC236}">
                <a16:creationId xmlns:a16="http://schemas.microsoft.com/office/drawing/2014/main" id="{F8313115-A112-3FE0-6FB9-7D4DD3149387}"/>
              </a:ext>
            </a:extLst>
          </p:cNvPr>
          <p:cNvSpPr>
            <a:spLocks noGrp="1"/>
          </p:cNvSpPr>
          <p:nvPr>
            <p:ph type="body" sz="quarter" idx="20"/>
          </p:nvPr>
        </p:nvSpPr>
        <p:spPr>
          <a:xfrm>
            <a:off x="636504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5" name="Text Placeholder 24">
            <a:extLst>
              <a:ext uri="{FF2B5EF4-FFF2-40B4-BE49-F238E27FC236}">
                <a16:creationId xmlns:a16="http://schemas.microsoft.com/office/drawing/2014/main" id="{8EBDB70F-A626-208F-4EED-1D636825EF52}"/>
              </a:ext>
            </a:extLst>
          </p:cNvPr>
          <p:cNvSpPr>
            <a:spLocks noGrp="1"/>
          </p:cNvSpPr>
          <p:nvPr>
            <p:ph type="body" sz="quarter" idx="21" hasCustomPrompt="1"/>
          </p:nvPr>
        </p:nvSpPr>
        <p:spPr>
          <a:xfrm>
            <a:off x="9315886"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6" name="Text Placeholder 18">
            <a:extLst>
              <a:ext uri="{FF2B5EF4-FFF2-40B4-BE49-F238E27FC236}">
                <a16:creationId xmlns:a16="http://schemas.microsoft.com/office/drawing/2014/main" id="{30268815-D602-794A-3F1C-7DA8ABFD6B93}"/>
              </a:ext>
            </a:extLst>
          </p:cNvPr>
          <p:cNvSpPr>
            <a:spLocks noGrp="1"/>
          </p:cNvSpPr>
          <p:nvPr>
            <p:ph type="body" sz="quarter" idx="22"/>
          </p:nvPr>
        </p:nvSpPr>
        <p:spPr>
          <a:xfrm>
            <a:off x="9315886"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8939824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three columns of information with icons</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Text Placeholder 24">
            <a:extLst>
              <a:ext uri="{FF2B5EF4-FFF2-40B4-BE49-F238E27FC236}">
                <a16:creationId xmlns:a16="http://schemas.microsoft.com/office/drawing/2014/main" id="{36D3AC0F-9CCE-BDEB-91EC-43E4BC5CB166}"/>
              </a:ext>
            </a:extLst>
          </p:cNvPr>
          <p:cNvSpPr>
            <a:spLocks noGrp="1"/>
          </p:cNvSpPr>
          <p:nvPr>
            <p:ph type="body" sz="quarter" idx="17" hasCustomPrompt="1"/>
          </p:nvPr>
        </p:nvSpPr>
        <p:spPr>
          <a:xfrm>
            <a:off x="440036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4" name="Text Placeholder 18">
            <a:extLst>
              <a:ext uri="{FF2B5EF4-FFF2-40B4-BE49-F238E27FC236}">
                <a16:creationId xmlns:a16="http://schemas.microsoft.com/office/drawing/2014/main" id="{D7DE6A89-B9BA-2BC0-5715-AD30DD39E001}"/>
              </a:ext>
            </a:extLst>
          </p:cNvPr>
          <p:cNvSpPr>
            <a:spLocks noGrp="1"/>
          </p:cNvSpPr>
          <p:nvPr>
            <p:ph type="body" sz="quarter" idx="18"/>
          </p:nvPr>
        </p:nvSpPr>
        <p:spPr>
          <a:xfrm>
            <a:off x="440036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5" name="Text Placeholder 24">
            <a:extLst>
              <a:ext uri="{FF2B5EF4-FFF2-40B4-BE49-F238E27FC236}">
                <a16:creationId xmlns:a16="http://schemas.microsoft.com/office/drawing/2014/main" id="{EB96FE59-26F5-1285-5BE3-7FA0E4844BA7}"/>
              </a:ext>
            </a:extLst>
          </p:cNvPr>
          <p:cNvSpPr>
            <a:spLocks noGrp="1"/>
          </p:cNvSpPr>
          <p:nvPr>
            <p:ph type="body" sz="quarter" idx="19" hasCustomPrompt="1"/>
          </p:nvPr>
        </p:nvSpPr>
        <p:spPr>
          <a:xfrm>
            <a:off x="8337371"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6" name="Text Placeholder 18">
            <a:extLst>
              <a:ext uri="{FF2B5EF4-FFF2-40B4-BE49-F238E27FC236}">
                <a16:creationId xmlns:a16="http://schemas.microsoft.com/office/drawing/2014/main" id="{4BD02C11-4BCB-8B90-A0FE-FB87EDDC4419}"/>
              </a:ext>
            </a:extLst>
          </p:cNvPr>
          <p:cNvSpPr>
            <a:spLocks noGrp="1"/>
          </p:cNvSpPr>
          <p:nvPr>
            <p:ph type="body" sz="quarter" idx="20"/>
          </p:nvPr>
        </p:nvSpPr>
        <p:spPr>
          <a:xfrm>
            <a:off x="8337371"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25914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hree Colum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three columns of information with icons</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Text Placeholder 24">
            <a:extLst>
              <a:ext uri="{FF2B5EF4-FFF2-40B4-BE49-F238E27FC236}">
                <a16:creationId xmlns:a16="http://schemas.microsoft.com/office/drawing/2014/main" id="{36D3AC0F-9CCE-BDEB-91EC-43E4BC5CB166}"/>
              </a:ext>
            </a:extLst>
          </p:cNvPr>
          <p:cNvSpPr>
            <a:spLocks noGrp="1"/>
          </p:cNvSpPr>
          <p:nvPr>
            <p:ph type="body" sz="quarter" idx="17" hasCustomPrompt="1"/>
          </p:nvPr>
        </p:nvSpPr>
        <p:spPr>
          <a:xfrm>
            <a:off x="440036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4" name="Text Placeholder 18">
            <a:extLst>
              <a:ext uri="{FF2B5EF4-FFF2-40B4-BE49-F238E27FC236}">
                <a16:creationId xmlns:a16="http://schemas.microsoft.com/office/drawing/2014/main" id="{D7DE6A89-B9BA-2BC0-5715-AD30DD39E001}"/>
              </a:ext>
            </a:extLst>
          </p:cNvPr>
          <p:cNvSpPr>
            <a:spLocks noGrp="1"/>
          </p:cNvSpPr>
          <p:nvPr>
            <p:ph type="body" sz="quarter" idx="18"/>
          </p:nvPr>
        </p:nvSpPr>
        <p:spPr>
          <a:xfrm>
            <a:off x="440036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5" name="Text Placeholder 24">
            <a:extLst>
              <a:ext uri="{FF2B5EF4-FFF2-40B4-BE49-F238E27FC236}">
                <a16:creationId xmlns:a16="http://schemas.microsoft.com/office/drawing/2014/main" id="{EB96FE59-26F5-1285-5BE3-7FA0E4844BA7}"/>
              </a:ext>
            </a:extLst>
          </p:cNvPr>
          <p:cNvSpPr>
            <a:spLocks noGrp="1"/>
          </p:cNvSpPr>
          <p:nvPr>
            <p:ph type="body" sz="quarter" idx="19" hasCustomPrompt="1"/>
          </p:nvPr>
        </p:nvSpPr>
        <p:spPr>
          <a:xfrm>
            <a:off x="8337371"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6" name="Text Placeholder 18">
            <a:extLst>
              <a:ext uri="{FF2B5EF4-FFF2-40B4-BE49-F238E27FC236}">
                <a16:creationId xmlns:a16="http://schemas.microsoft.com/office/drawing/2014/main" id="{4BD02C11-4BCB-8B90-A0FE-FB87EDDC4419}"/>
              </a:ext>
            </a:extLst>
          </p:cNvPr>
          <p:cNvSpPr>
            <a:spLocks noGrp="1"/>
          </p:cNvSpPr>
          <p:nvPr>
            <p:ph type="body" sz="quarter" idx="20"/>
          </p:nvPr>
        </p:nvSpPr>
        <p:spPr>
          <a:xfrm>
            <a:off x="8337371"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4022362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Sectio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 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7219762" y="1098656"/>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7219763" y="1508760"/>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6" name="Text Placeholder 24">
            <a:extLst>
              <a:ext uri="{FF2B5EF4-FFF2-40B4-BE49-F238E27FC236}">
                <a16:creationId xmlns:a16="http://schemas.microsoft.com/office/drawing/2014/main" id="{02DE45A7-F0D6-9AE9-EEAE-33D9CAF4BD49}"/>
              </a:ext>
            </a:extLst>
          </p:cNvPr>
          <p:cNvSpPr>
            <a:spLocks noGrp="1"/>
          </p:cNvSpPr>
          <p:nvPr>
            <p:ph type="body" sz="quarter" idx="17" hasCustomPrompt="1"/>
          </p:nvPr>
        </p:nvSpPr>
        <p:spPr>
          <a:xfrm>
            <a:off x="7219762" y="2720075"/>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7" name="Text Placeholder 18">
            <a:extLst>
              <a:ext uri="{FF2B5EF4-FFF2-40B4-BE49-F238E27FC236}">
                <a16:creationId xmlns:a16="http://schemas.microsoft.com/office/drawing/2014/main" id="{22502C5A-341A-BA01-1E99-66D29F7CE7DF}"/>
              </a:ext>
            </a:extLst>
          </p:cNvPr>
          <p:cNvSpPr>
            <a:spLocks noGrp="1"/>
          </p:cNvSpPr>
          <p:nvPr>
            <p:ph type="body" sz="quarter" idx="18"/>
          </p:nvPr>
        </p:nvSpPr>
        <p:spPr>
          <a:xfrm>
            <a:off x="7219763" y="3130179"/>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8" name="Text Placeholder 24">
            <a:extLst>
              <a:ext uri="{FF2B5EF4-FFF2-40B4-BE49-F238E27FC236}">
                <a16:creationId xmlns:a16="http://schemas.microsoft.com/office/drawing/2014/main" id="{0A402D78-651B-49D4-8CB0-D8BB60B2C4E7}"/>
              </a:ext>
            </a:extLst>
          </p:cNvPr>
          <p:cNvSpPr>
            <a:spLocks noGrp="1"/>
          </p:cNvSpPr>
          <p:nvPr>
            <p:ph type="body" sz="quarter" idx="19" hasCustomPrompt="1"/>
          </p:nvPr>
        </p:nvSpPr>
        <p:spPr>
          <a:xfrm>
            <a:off x="7219762" y="4336414"/>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9" name="Text Placeholder 18">
            <a:extLst>
              <a:ext uri="{FF2B5EF4-FFF2-40B4-BE49-F238E27FC236}">
                <a16:creationId xmlns:a16="http://schemas.microsoft.com/office/drawing/2014/main" id="{B9C3EFA1-D458-DCCA-B07C-3DF36495AE49}"/>
              </a:ext>
            </a:extLst>
          </p:cNvPr>
          <p:cNvSpPr>
            <a:spLocks noGrp="1"/>
          </p:cNvSpPr>
          <p:nvPr>
            <p:ph type="body" sz="quarter" idx="20"/>
          </p:nvPr>
        </p:nvSpPr>
        <p:spPr>
          <a:xfrm>
            <a:off x="7219763" y="4746518"/>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20763150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hree Sectio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 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7219762" y="1098656"/>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7219763" y="1508760"/>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6" name="Text Placeholder 24">
            <a:extLst>
              <a:ext uri="{FF2B5EF4-FFF2-40B4-BE49-F238E27FC236}">
                <a16:creationId xmlns:a16="http://schemas.microsoft.com/office/drawing/2014/main" id="{02DE45A7-F0D6-9AE9-EEAE-33D9CAF4BD49}"/>
              </a:ext>
            </a:extLst>
          </p:cNvPr>
          <p:cNvSpPr>
            <a:spLocks noGrp="1"/>
          </p:cNvSpPr>
          <p:nvPr>
            <p:ph type="body" sz="quarter" idx="17" hasCustomPrompt="1"/>
          </p:nvPr>
        </p:nvSpPr>
        <p:spPr>
          <a:xfrm>
            <a:off x="7219762" y="2720075"/>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7" name="Text Placeholder 18">
            <a:extLst>
              <a:ext uri="{FF2B5EF4-FFF2-40B4-BE49-F238E27FC236}">
                <a16:creationId xmlns:a16="http://schemas.microsoft.com/office/drawing/2014/main" id="{22502C5A-341A-BA01-1E99-66D29F7CE7DF}"/>
              </a:ext>
            </a:extLst>
          </p:cNvPr>
          <p:cNvSpPr>
            <a:spLocks noGrp="1"/>
          </p:cNvSpPr>
          <p:nvPr>
            <p:ph type="body" sz="quarter" idx="18"/>
          </p:nvPr>
        </p:nvSpPr>
        <p:spPr>
          <a:xfrm>
            <a:off x="7219763" y="3130179"/>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8" name="Text Placeholder 24">
            <a:extLst>
              <a:ext uri="{FF2B5EF4-FFF2-40B4-BE49-F238E27FC236}">
                <a16:creationId xmlns:a16="http://schemas.microsoft.com/office/drawing/2014/main" id="{0A402D78-651B-49D4-8CB0-D8BB60B2C4E7}"/>
              </a:ext>
            </a:extLst>
          </p:cNvPr>
          <p:cNvSpPr>
            <a:spLocks noGrp="1"/>
          </p:cNvSpPr>
          <p:nvPr>
            <p:ph type="body" sz="quarter" idx="19" hasCustomPrompt="1"/>
          </p:nvPr>
        </p:nvSpPr>
        <p:spPr>
          <a:xfrm>
            <a:off x="7219762" y="4336414"/>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9" name="Text Placeholder 18">
            <a:extLst>
              <a:ext uri="{FF2B5EF4-FFF2-40B4-BE49-F238E27FC236}">
                <a16:creationId xmlns:a16="http://schemas.microsoft.com/office/drawing/2014/main" id="{B9C3EFA1-D458-DCCA-B07C-3DF36495AE49}"/>
              </a:ext>
            </a:extLst>
          </p:cNvPr>
          <p:cNvSpPr>
            <a:spLocks noGrp="1"/>
          </p:cNvSpPr>
          <p:nvPr>
            <p:ph type="body" sz="quarter" idx="20"/>
          </p:nvPr>
        </p:nvSpPr>
        <p:spPr>
          <a:xfrm>
            <a:off x="7219763" y="4746518"/>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9444640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Sectio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four</a:t>
            </a:r>
            <a:br>
              <a:rPr lang="en-US"/>
            </a:br>
            <a:r>
              <a:rPr lang="en-US"/>
              <a:t>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517531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517531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2" name="Text Placeholder 24">
            <a:extLst>
              <a:ext uri="{FF2B5EF4-FFF2-40B4-BE49-F238E27FC236}">
                <a16:creationId xmlns:a16="http://schemas.microsoft.com/office/drawing/2014/main" id="{650890D0-27EF-EEA5-0CBD-BCC3C1B147D2}"/>
              </a:ext>
            </a:extLst>
          </p:cNvPr>
          <p:cNvSpPr>
            <a:spLocks noGrp="1"/>
          </p:cNvSpPr>
          <p:nvPr>
            <p:ph type="body" sz="quarter" idx="17" hasCustomPrompt="1"/>
          </p:nvPr>
        </p:nvSpPr>
        <p:spPr>
          <a:xfrm>
            <a:off x="911262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3" name="Text Placeholder 18">
            <a:extLst>
              <a:ext uri="{FF2B5EF4-FFF2-40B4-BE49-F238E27FC236}">
                <a16:creationId xmlns:a16="http://schemas.microsoft.com/office/drawing/2014/main" id="{DB2E498E-FC14-A65E-9456-10AFF3022528}"/>
              </a:ext>
            </a:extLst>
          </p:cNvPr>
          <p:cNvSpPr>
            <a:spLocks noGrp="1"/>
          </p:cNvSpPr>
          <p:nvPr>
            <p:ph type="body" sz="quarter" idx="18"/>
          </p:nvPr>
        </p:nvSpPr>
        <p:spPr>
          <a:xfrm>
            <a:off x="911262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0" name="Text Placeholder 24">
            <a:extLst>
              <a:ext uri="{FF2B5EF4-FFF2-40B4-BE49-F238E27FC236}">
                <a16:creationId xmlns:a16="http://schemas.microsoft.com/office/drawing/2014/main" id="{F13C5BA7-39B1-76D6-B614-954B5847D361}"/>
              </a:ext>
            </a:extLst>
          </p:cNvPr>
          <p:cNvSpPr>
            <a:spLocks noGrp="1"/>
          </p:cNvSpPr>
          <p:nvPr>
            <p:ph type="body" sz="quarter" idx="19" hasCustomPrompt="1"/>
          </p:nvPr>
        </p:nvSpPr>
        <p:spPr>
          <a:xfrm>
            <a:off x="517531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1" name="Text Placeholder 18">
            <a:extLst>
              <a:ext uri="{FF2B5EF4-FFF2-40B4-BE49-F238E27FC236}">
                <a16:creationId xmlns:a16="http://schemas.microsoft.com/office/drawing/2014/main" id="{CB74D52F-7941-DED7-3799-706AF0DB8ABD}"/>
              </a:ext>
            </a:extLst>
          </p:cNvPr>
          <p:cNvSpPr>
            <a:spLocks noGrp="1"/>
          </p:cNvSpPr>
          <p:nvPr>
            <p:ph type="body" sz="quarter" idx="20"/>
          </p:nvPr>
        </p:nvSpPr>
        <p:spPr>
          <a:xfrm>
            <a:off x="517531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2" name="Text Placeholder 24">
            <a:extLst>
              <a:ext uri="{FF2B5EF4-FFF2-40B4-BE49-F238E27FC236}">
                <a16:creationId xmlns:a16="http://schemas.microsoft.com/office/drawing/2014/main" id="{F225D206-8F03-0CC0-4677-1C3237B30664}"/>
              </a:ext>
            </a:extLst>
          </p:cNvPr>
          <p:cNvSpPr>
            <a:spLocks noGrp="1"/>
          </p:cNvSpPr>
          <p:nvPr>
            <p:ph type="body" sz="quarter" idx="21" hasCustomPrompt="1"/>
          </p:nvPr>
        </p:nvSpPr>
        <p:spPr>
          <a:xfrm>
            <a:off x="911262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3" name="Text Placeholder 18">
            <a:extLst>
              <a:ext uri="{FF2B5EF4-FFF2-40B4-BE49-F238E27FC236}">
                <a16:creationId xmlns:a16="http://schemas.microsoft.com/office/drawing/2014/main" id="{4FBE3359-784B-AF8D-8324-03D79D851606}"/>
              </a:ext>
            </a:extLst>
          </p:cNvPr>
          <p:cNvSpPr>
            <a:spLocks noGrp="1"/>
          </p:cNvSpPr>
          <p:nvPr>
            <p:ph type="body" sz="quarter" idx="22"/>
          </p:nvPr>
        </p:nvSpPr>
        <p:spPr>
          <a:xfrm>
            <a:off x="911262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755578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Four Sectio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four</a:t>
            </a:r>
            <a:br>
              <a:rPr lang="en-US"/>
            </a:br>
            <a:r>
              <a:rPr lang="en-US"/>
              <a:t>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517531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517531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2" name="Text Placeholder 24">
            <a:extLst>
              <a:ext uri="{FF2B5EF4-FFF2-40B4-BE49-F238E27FC236}">
                <a16:creationId xmlns:a16="http://schemas.microsoft.com/office/drawing/2014/main" id="{650890D0-27EF-EEA5-0CBD-BCC3C1B147D2}"/>
              </a:ext>
            </a:extLst>
          </p:cNvPr>
          <p:cNvSpPr>
            <a:spLocks noGrp="1"/>
          </p:cNvSpPr>
          <p:nvPr>
            <p:ph type="body" sz="quarter" idx="17" hasCustomPrompt="1"/>
          </p:nvPr>
        </p:nvSpPr>
        <p:spPr>
          <a:xfrm>
            <a:off x="911262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3" name="Text Placeholder 18">
            <a:extLst>
              <a:ext uri="{FF2B5EF4-FFF2-40B4-BE49-F238E27FC236}">
                <a16:creationId xmlns:a16="http://schemas.microsoft.com/office/drawing/2014/main" id="{DB2E498E-FC14-A65E-9456-10AFF3022528}"/>
              </a:ext>
            </a:extLst>
          </p:cNvPr>
          <p:cNvSpPr>
            <a:spLocks noGrp="1"/>
          </p:cNvSpPr>
          <p:nvPr>
            <p:ph type="body" sz="quarter" idx="18"/>
          </p:nvPr>
        </p:nvSpPr>
        <p:spPr>
          <a:xfrm>
            <a:off x="911262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0" name="Text Placeholder 24">
            <a:extLst>
              <a:ext uri="{FF2B5EF4-FFF2-40B4-BE49-F238E27FC236}">
                <a16:creationId xmlns:a16="http://schemas.microsoft.com/office/drawing/2014/main" id="{F13C5BA7-39B1-76D6-B614-954B5847D361}"/>
              </a:ext>
            </a:extLst>
          </p:cNvPr>
          <p:cNvSpPr>
            <a:spLocks noGrp="1"/>
          </p:cNvSpPr>
          <p:nvPr>
            <p:ph type="body" sz="quarter" idx="19" hasCustomPrompt="1"/>
          </p:nvPr>
        </p:nvSpPr>
        <p:spPr>
          <a:xfrm>
            <a:off x="517531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1" name="Text Placeholder 18">
            <a:extLst>
              <a:ext uri="{FF2B5EF4-FFF2-40B4-BE49-F238E27FC236}">
                <a16:creationId xmlns:a16="http://schemas.microsoft.com/office/drawing/2014/main" id="{CB74D52F-7941-DED7-3799-706AF0DB8ABD}"/>
              </a:ext>
            </a:extLst>
          </p:cNvPr>
          <p:cNvSpPr>
            <a:spLocks noGrp="1"/>
          </p:cNvSpPr>
          <p:nvPr>
            <p:ph type="body" sz="quarter" idx="20"/>
          </p:nvPr>
        </p:nvSpPr>
        <p:spPr>
          <a:xfrm>
            <a:off x="517531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2" name="Text Placeholder 24">
            <a:extLst>
              <a:ext uri="{FF2B5EF4-FFF2-40B4-BE49-F238E27FC236}">
                <a16:creationId xmlns:a16="http://schemas.microsoft.com/office/drawing/2014/main" id="{F225D206-8F03-0CC0-4677-1C3237B30664}"/>
              </a:ext>
            </a:extLst>
          </p:cNvPr>
          <p:cNvSpPr>
            <a:spLocks noGrp="1"/>
          </p:cNvSpPr>
          <p:nvPr>
            <p:ph type="body" sz="quarter" idx="21" hasCustomPrompt="1"/>
          </p:nvPr>
        </p:nvSpPr>
        <p:spPr>
          <a:xfrm>
            <a:off x="911262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3" name="Text Placeholder 18">
            <a:extLst>
              <a:ext uri="{FF2B5EF4-FFF2-40B4-BE49-F238E27FC236}">
                <a16:creationId xmlns:a16="http://schemas.microsoft.com/office/drawing/2014/main" id="{4FBE3359-784B-AF8D-8324-03D79D851606}"/>
              </a:ext>
            </a:extLst>
          </p:cNvPr>
          <p:cNvSpPr>
            <a:spLocks noGrp="1"/>
          </p:cNvSpPr>
          <p:nvPr>
            <p:ph type="body" sz="quarter" idx="22"/>
          </p:nvPr>
        </p:nvSpPr>
        <p:spPr>
          <a:xfrm>
            <a:off x="911262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5634268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Pieces of Data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a:t>
            </a:r>
            <a:br>
              <a:rPr lang="en-US"/>
            </a:br>
            <a:r>
              <a:rPr lang="en-US"/>
              <a:t>pieces of data</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8127809" y="1355663"/>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8" name="Text Placeholder 18">
            <a:extLst>
              <a:ext uri="{FF2B5EF4-FFF2-40B4-BE49-F238E27FC236}">
                <a16:creationId xmlns:a16="http://schemas.microsoft.com/office/drawing/2014/main" id="{732AC2A8-0CD2-B276-6ECA-49CF1F7D958F}"/>
              </a:ext>
            </a:extLst>
          </p:cNvPr>
          <p:cNvSpPr>
            <a:spLocks noGrp="1"/>
          </p:cNvSpPr>
          <p:nvPr>
            <p:ph type="body" sz="quarter" idx="21"/>
          </p:nvPr>
        </p:nvSpPr>
        <p:spPr>
          <a:xfrm>
            <a:off x="257181" y="2395728"/>
            <a:ext cx="4028947" cy="3239654"/>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9" name="Text Placeholder 24">
            <a:extLst>
              <a:ext uri="{FF2B5EF4-FFF2-40B4-BE49-F238E27FC236}">
                <a16:creationId xmlns:a16="http://schemas.microsoft.com/office/drawing/2014/main" id="{EAA277A7-7321-7A88-5F93-190B60652EE1}"/>
              </a:ext>
            </a:extLst>
          </p:cNvPr>
          <p:cNvSpPr>
            <a:spLocks noGrp="1"/>
          </p:cNvSpPr>
          <p:nvPr>
            <p:ph type="body" sz="quarter" idx="22" hasCustomPrompt="1"/>
          </p:nvPr>
        </p:nvSpPr>
        <p:spPr>
          <a:xfrm>
            <a:off x="8127809" y="2149184"/>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
        <p:nvSpPr>
          <p:cNvPr id="10" name="Text Placeholder 24">
            <a:extLst>
              <a:ext uri="{FF2B5EF4-FFF2-40B4-BE49-F238E27FC236}">
                <a16:creationId xmlns:a16="http://schemas.microsoft.com/office/drawing/2014/main" id="{13238D00-3EAE-DC62-E521-5E63FD0B9BE9}"/>
              </a:ext>
            </a:extLst>
          </p:cNvPr>
          <p:cNvSpPr>
            <a:spLocks noGrp="1"/>
          </p:cNvSpPr>
          <p:nvPr>
            <p:ph type="body" sz="quarter" idx="23" hasCustomPrompt="1"/>
          </p:nvPr>
        </p:nvSpPr>
        <p:spPr>
          <a:xfrm>
            <a:off x="8127809" y="2992341"/>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11" name="Text Placeholder 24">
            <a:extLst>
              <a:ext uri="{FF2B5EF4-FFF2-40B4-BE49-F238E27FC236}">
                <a16:creationId xmlns:a16="http://schemas.microsoft.com/office/drawing/2014/main" id="{8CF5F73C-4783-7687-CD38-BDAE75533690}"/>
              </a:ext>
            </a:extLst>
          </p:cNvPr>
          <p:cNvSpPr>
            <a:spLocks noGrp="1"/>
          </p:cNvSpPr>
          <p:nvPr>
            <p:ph type="body" sz="quarter" idx="24" hasCustomPrompt="1"/>
          </p:nvPr>
        </p:nvSpPr>
        <p:spPr>
          <a:xfrm>
            <a:off x="8127809" y="3785862"/>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
        <p:nvSpPr>
          <p:cNvPr id="12" name="Text Placeholder 24">
            <a:extLst>
              <a:ext uri="{FF2B5EF4-FFF2-40B4-BE49-F238E27FC236}">
                <a16:creationId xmlns:a16="http://schemas.microsoft.com/office/drawing/2014/main" id="{5D47E480-92FD-B068-A30D-AB1FCD626A96}"/>
              </a:ext>
            </a:extLst>
          </p:cNvPr>
          <p:cNvSpPr>
            <a:spLocks noGrp="1"/>
          </p:cNvSpPr>
          <p:nvPr>
            <p:ph type="body" sz="quarter" idx="25" hasCustomPrompt="1"/>
          </p:nvPr>
        </p:nvSpPr>
        <p:spPr>
          <a:xfrm>
            <a:off x="8127809" y="4623196"/>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13" name="Text Placeholder 24">
            <a:extLst>
              <a:ext uri="{FF2B5EF4-FFF2-40B4-BE49-F238E27FC236}">
                <a16:creationId xmlns:a16="http://schemas.microsoft.com/office/drawing/2014/main" id="{331C8AFE-CB23-661B-7C14-586A53BBD679}"/>
              </a:ext>
            </a:extLst>
          </p:cNvPr>
          <p:cNvSpPr>
            <a:spLocks noGrp="1"/>
          </p:cNvSpPr>
          <p:nvPr>
            <p:ph type="body" sz="quarter" idx="26" hasCustomPrompt="1"/>
          </p:nvPr>
        </p:nvSpPr>
        <p:spPr>
          <a:xfrm>
            <a:off x="8127809" y="5416717"/>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Tree>
    <p:extLst>
      <p:ext uri="{BB962C8B-B14F-4D97-AF65-F5344CB8AC3E}">
        <p14:creationId xmlns:p14="http://schemas.microsoft.com/office/powerpoint/2010/main" val="21236013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7EFC1-1303-072F-1268-89AE9D9D646C}"/>
              </a:ext>
            </a:extLst>
          </p:cNvPr>
          <p:cNvSpPr>
            <a:spLocks noGrp="1"/>
          </p:cNvSpPr>
          <p:nvPr>
            <p:ph type="title"/>
          </p:nvPr>
        </p:nvSpPr>
        <p:spPr/>
        <p:txBody>
          <a:bodyPr/>
          <a:lstStyle/>
          <a:p>
            <a:r>
              <a:rPr lang="en-GB"/>
              <a:t>Click to edit Master title style</a:t>
            </a:r>
          </a:p>
        </p:txBody>
      </p:sp>
      <p:sp>
        <p:nvSpPr>
          <p:cNvPr id="3" name="Footer Placeholder 2">
            <a:extLst>
              <a:ext uri="{FF2B5EF4-FFF2-40B4-BE49-F238E27FC236}">
                <a16:creationId xmlns:a16="http://schemas.microsoft.com/office/drawing/2014/main" id="{58ADFD45-BBA2-0FD1-6247-2B24FE11A9A3}"/>
              </a:ext>
            </a:extLst>
          </p:cNvPr>
          <p:cNvSpPr>
            <a:spLocks noGrp="1"/>
          </p:cNvSpPr>
          <p:nvPr>
            <p:ph type="ftr" sz="quarter" idx="10"/>
          </p:nvPr>
        </p:nvSpPr>
        <p:spPr/>
        <p:txBody>
          <a:bodyPr/>
          <a:lstStyle/>
          <a:p>
            <a:r>
              <a:rPr lang="en-US"/>
              <a:t>Confidential</a:t>
            </a:r>
            <a:endParaRPr lang="en-GB"/>
          </a:p>
        </p:txBody>
      </p:sp>
      <p:sp>
        <p:nvSpPr>
          <p:cNvPr id="4" name="Slide Number Placeholder 3">
            <a:extLst>
              <a:ext uri="{FF2B5EF4-FFF2-40B4-BE49-F238E27FC236}">
                <a16:creationId xmlns:a16="http://schemas.microsoft.com/office/drawing/2014/main" id="{ACA83A8C-033D-5957-3864-393DC98EAFF4}"/>
              </a:ext>
            </a:extLst>
          </p:cNvPr>
          <p:cNvSpPr>
            <a:spLocks noGrp="1"/>
          </p:cNvSpPr>
          <p:nvPr>
            <p:ph type="sldNum" sz="quarter" idx="11"/>
          </p:nvPr>
        </p:nvSpPr>
        <p:spPr/>
        <p:txBody>
          <a:bodyPr/>
          <a:lstStyle/>
          <a:p>
            <a:fld id="{F41E5F93-45D3-472F-9EA1-BCB47A04FF6B}" type="slidenum">
              <a:rPr lang="en-GB" smtClean="0"/>
              <a:pPr/>
              <a:t>‹#›</a:t>
            </a:fld>
            <a:endParaRPr lang="en-GB"/>
          </a:p>
        </p:txBody>
      </p:sp>
    </p:spTree>
    <p:extLst>
      <p:ext uri="{BB962C8B-B14F-4D97-AF65-F5344CB8AC3E}">
        <p14:creationId xmlns:p14="http://schemas.microsoft.com/office/powerpoint/2010/main" val="3468629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8193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 Type="http://schemas.openxmlformats.org/officeDocument/2006/relationships/slideLayout" Target="../slideLayouts/slideLayout9.xml"/><Relationship Id="rId21" Type="http://schemas.openxmlformats.org/officeDocument/2006/relationships/slideLayout" Target="../slideLayouts/slideLayout27.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5" Type="http://schemas.openxmlformats.org/officeDocument/2006/relationships/theme" Target="../theme/theme2.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24" Type="http://schemas.openxmlformats.org/officeDocument/2006/relationships/slideLayout" Target="../slideLayouts/slideLayout30.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633642-E6A3-4C5F-3A36-9FEF361F53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BD7D81-BE25-A6F1-3032-60F7A1E493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F26E0BC-72C0-DE90-5A98-38BAC9CA39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1D36855-D560-7AF2-9CB7-00E82541DE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CFF174-0C8B-41F2-9A46-1C3276C99A0F}" type="slidenum">
              <a:rPr lang="en-US" smtClean="0"/>
              <a:t>‹#›</a:t>
            </a:fld>
            <a:endParaRPr lang="en-US"/>
          </a:p>
        </p:txBody>
      </p:sp>
    </p:spTree>
    <p:extLst>
      <p:ext uri="{BB962C8B-B14F-4D97-AF65-F5344CB8AC3E}">
        <p14:creationId xmlns:p14="http://schemas.microsoft.com/office/powerpoint/2010/main" val="39565947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317050-C30C-E74C-C1F5-1B4FC8F3DACC}"/>
              </a:ext>
            </a:extLst>
          </p:cNvPr>
          <p:cNvSpPr>
            <a:spLocks noGrp="1"/>
          </p:cNvSpPr>
          <p:nvPr>
            <p:ph type="title"/>
          </p:nvPr>
        </p:nvSpPr>
        <p:spPr>
          <a:xfrm>
            <a:off x="261111" y="1389953"/>
            <a:ext cx="11673713" cy="774128"/>
          </a:xfrm>
          <a:prstGeom prst="rect">
            <a:avLst/>
          </a:prstGeom>
        </p:spPr>
        <p:txBody>
          <a:bodyPr vert="horz" lIns="0" tIns="0" rIns="0" bIns="0" rtlCol="0" anchor="t">
            <a:noAutofit/>
          </a:bodyPr>
          <a:lstStyle/>
          <a:p>
            <a:r>
              <a:rPr lang="en-GB"/>
              <a:t>Click to edit Master title style</a:t>
            </a:r>
          </a:p>
        </p:txBody>
      </p:sp>
      <p:sp>
        <p:nvSpPr>
          <p:cNvPr id="3" name="Text Placeholder 2">
            <a:extLst>
              <a:ext uri="{FF2B5EF4-FFF2-40B4-BE49-F238E27FC236}">
                <a16:creationId xmlns:a16="http://schemas.microsoft.com/office/drawing/2014/main" id="{B769E737-7895-43E7-91EE-24C987662CD7}"/>
              </a:ext>
            </a:extLst>
          </p:cNvPr>
          <p:cNvSpPr>
            <a:spLocks noGrp="1"/>
          </p:cNvSpPr>
          <p:nvPr>
            <p:ph type="body" idx="1"/>
          </p:nvPr>
        </p:nvSpPr>
        <p:spPr>
          <a:xfrm>
            <a:off x="261111" y="2335371"/>
            <a:ext cx="11673712" cy="3709829"/>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Footer Placeholder 4">
            <a:extLst>
              <a:ext uri="{FF2B5EF4-FFF2-40B4-BE49-F238E27FC236}">
                <a16:creationId xmlns:a16="http://schemas.microsoft.com/office/drawing/2014/main" id="{ACFCE6EB-5441-53CA-2FEE-EBCF971E1B92}"/>
              </a:ext>
            </a:extLst>
          </p:cNvPr>
          <p:cNvSpPr>
            <a:spLocks noGrp="1"/>
          </p:cNvSpPr>
          <p:nvPr>
            <p:ph type="ftr" sz="quarter" idx="3"/>
          </p:nvPr>
        </p:nvSpPr>
        <p:spPr>
          <a:xfrm>
            <a:off x="10108812" y="255984"/>
            <a:ext cx="871608" cy="133985"/>
          </a:xfrm>
          <a:prstGeom prst="rect">
            <a:avLst/>
          </a:prstGeom>
        </p:spPr>
        <p:txBody>
          <a:bodyPr vert="horz" lIns="0" tIns="0" rIns="0" bIns="0" rtlCol="0" anchor="ctr">
            <a:noAutofit/>
          </a:bodyPr>
          <a:lstStyle>
            <a:lvl1pPr algn="l">
              <a:defRPr sz="900" spc="-39">
                <a:solidFill>
                  <a:schemeClr val="tx2"/>
                </a:solidFill>
              </a:defRPr>
            </a:lvl1pPr>
          </a:lstStyle>
          <a:p>
            <a:r>
              <a:rPr lang="en-US"/>
              <a:t>Confidential</a:t>
            </a:r>
            <a:endParaRPr lang="en-GB"/>
          </a:p>
        </p:txBody>
      </p:sp>
      <p:sp>
        <p:nvSpPr>
          <p:cNvPr id="6" name="Slide Number Placeholder 5">
            <a:extLst>
              <a:ext uri="{FF2B5EF4-FFF2-40B4-BE49-F238E27FC236}">
                <a16:creationId xmlns:a16="http://schemas.microsoft.com/office/drawing/2014/main" id="{8686E8A7-6991-B8DA-83B1-EBCD0C2AD733}"/>
              </a:ext>
            </a:extLst>
          </p:cNvPr>
          <p:cNvSpPr>
            <a:spLocks noGrp="1"/>
          </p:cNvSpPr>
          <p:nvPr>
            <p:ph type="sldNum" sz="quarter" idx="4"/>
          </p:nvPr>
        </p:nvSpPr>
        <p:spPr>
          <a:xfrm>
            <a:off x="11628119" y="255984"/>
            <a:ext cx="306703" cy="133985"/>
          </a:xfrm>
          <a:prstGeom prst="rect">
            <a:avLst/>
          </a:prstGeom>
        </p:spPr>
        <p:txBody>
          <a:bodyPr vert="horz" lIns="0" tIns="0" rIns="0" bIns="0" rtlCol="0" anchor="ctr">
            <a:noAutofit/>
          </a:bodyPr>
          <a:lstStyle>
            <a:lvl1pPr algn="r">
              <a:defRPr lang="en-GB" sz="900" spc="-39" smtClean="0">
                <a:solidFill>
                  <a:schemeClr val="tx2"/>
                </a:solidFill>
              </a:defRPr>
            </a:lvl1pPr>
          </a:lstStyle>
          <a:p>
            <a:fld id="{F41E5F93-45D3-472F-9EA1-BCB47A04FF6B}" type="slidenum">
              <a:rPr lang="en-GB" smtClean="0"/>
              <a:pPr/>
              <a:t>‹#›</a:t>
            </a:fld>
            <a:endParaRPr lang="en-GB"/>
          </a:p>
        </p:txBody>
      </p:sp>
      <p:grpSp>
        <p:nvGrpSpPr>
          <p:cNvPr id="10" name="Graphic 8">
            <a:extLst>
              <a:ext uri="{FF2B5EF4-FFF2-40B4-BE49-F238E27FC236}">
                <a16:creationId xmlns:a16="http://schemas.microsoft.com/office/drawing/2014/main" id="{D8A8E73E-4DB6-FA58-001E-2368A417CCAB}"/>
              </a:ext>
            </a:extLst>
          </p:cNvPr>
          <p:cNvGrpSpPr/>
          <p:nvPr/>
        </p:nvGrpSpPr>
        <p:grpSpPr>
          <a:xfrm>
            <a:off x="257178" y="255588"/>
            <a:ext cx="895347" cy="306976"/>
            <a:chOff x="257178" y="255588"/>
            <a:chExt cx="895347" cy="306976"/>
          </a:xfrm>
          <a:solidFill>
            <a:srgbClr val="000000"/>
          </a:solidFill>
        </p:grpSpPr>
        <p:sp>
          <p:nvSpPr>
            <p:cNvPr id="11" name="Free-form: Shape 10">
              <a:extLst>
                <a:ext uri="{FF2B5EF4-FFF2-40B4-BE49-F238E27FC236}">
                  <a16:creationId xmlns:a16="http://schemas.microsoft.com/office/drawing/2014/main" id="{3EB496F3-A661-4DBF-0232-FCB4C123B869}"/>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solidFill>
              <a:srgbClr val="000000"/>
            </a:solid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E5404865-E213-33CC-D712-771E46F7FD66}"/>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solidFill>
              <a:srgbClr val="000000"/>
            </a:solid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36CFE573-0387-CB48-F17A-213B6C9CA169}"/>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solidFill>
              <a:srgbClr val="000000"/>
            </a:solid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7BB9D01A-1C1B-7B67-291A-A8524BBF96BB}"/>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solidFill>
              <a:srgbClr val="000000"/>
            </a:solid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403EE07-5ED7-8C84-947B-7AE4F4EF6F56}"/>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solidFill>
              <a:srgbClr val="000000"/>
            </a:solid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32F9F18C-FA01-2F12-DDEF-7C2431B88C17}"/>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solidFill>
              <a:srgbClr val="000000"/>
            </a:solidFill>
            <a:ln w="6327"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78A5A8A2-DE91-8B1C-6FF3-41BEF31A4D88}"/>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solidFill>
              <a:srgbClr val="000000"/>
            </a:solidFill>
            <a:ln w="6327"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4BDD56E3-1929-5137-04FF-F77B9406C158}"/>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solidFill>
              <a:srgbClr val="000000"/>
            </a:solidFill>
            <a:ln w="6327"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75D71F2B-6D4E-D00D-1133-C56670C78B58}"/>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solidFill>
              <a:srgbClr val="000000"/>
            </a:solidFill>
            <a:ln w="6327"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593D9C17-8D66-0E81-4046-4F54E2BC65A0}"/>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solidFill>
              <a:srgbClr val="000000"/>
            </a:solidFill>
            <a:ln w="6327" cap="flat">
              <a:noFill/>
              <a:prstDash val="solid"/>
              <a:miter/>
            </a:ln>
          </p:spPr>
          <p:txBody>
            <a:bodyPr rtlCol="0" anchor="ctr"/>
            <a:lstStyle/>
            <a:p>
              <a:endParaRPr lang="en-GB"/>
            </a:p>
          </p:txBody>
        </p:sp>
      </p:grpSp>
    </p:spTree>
    <p:extLst>
      <p:ext uri="{BB962C8B-B14F-4D97-AF65-F5344CB8AC3E}">
        <p14:creationId xmlns:p14="http://schemas.microsoft.com/office/powerpoint/2010/main" val="230849159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88" r:id="rId21"/>
    <p:sldLayoutId id="2147483689" r:id="rId22"/>
    <p:sldLayoutId id="2147483690" r:id="rId23"/>
    <p:sldLayoutId id="2147483692" r:id="rId24"/>
  </p:sldLayoutIdLst>
  <p:hf hdr="0"/>
  <p:txStyles>
    <p:titleStyle>
      <a:lvl1pPr algn="l" defTabSz="914400" rtl="0" eaLnBrk="1" latinLnBrk="0" hangingPunct="1">
        <a:lnSpc>
          <a:spcPct val="96000"/>
        </a:lnSpc>
        <a:spcBef>
          <a:spcPts val="1000"/>
        </a:spcBef>
        <a:buNone/>
        <a:defRPr sz="2400" kern="1200">
          <a:solidFill>
            <a:schemeClr val="tx1"/>
          </a:solidFill>
          <a:latin typeface="+mj-lt"/>
          <a:ea typeface="+mj-ea"/>
          <a:cs typeface="+mj-cs"/>
        </a:defRPr>
      </a:lvl1pPr>
    </p:titleStyle>
    <p:bodyStyle>
      <a:lvl1pPr marL="0" indent="-146304" algn="l" defTabSz="914400" rtl="0" eaLnBrk="1" latinLnBrk="0" hangingPunct="1">
        <a:lnSpc>
          <a:spcPct val="90000"/>
        </a:lnSpc>
        <a:spcBef>
          <a:spcPts val="1000"/>
        </a:spcBef>
        <a:buFont typeface="Arial" panose="020B0604020202020204" pitchFamily="34" charset="0"/>
        <a:buChar char="•"/>
        <a:defRPr sz="1050" kern="1200">
          <a:solidFill>
            <a:schemeClr val="tx2"/>
          </a:solidFill>
          <a:latin typeface="+mn-lt"/>
          <a:ea typeface="+mn-ea"/>
          <a:cs typeface="+mn-cs"/>
        </a:defRPr>
      </a:lvl1pPr>
      <a:lvl2pPr marL="32004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2pPr>
      <a:lvl3pPr marL="50292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3pPr>
      <a:lvl4pPr marL="68580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4pPr>
      <a:lvl5pPr marL="86868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462901"/>
          </p15:clr>
        </p15:guide>
        <p15:guide id="2" pos="7680">
          <p15:clr>
            <a:srgbClr val="462901"/>
          </p15:clr>
        </p15:guide>
        <p15:guide id="3" pos="161">
          <p15:clr>
            <a:srgbClr val="462901"/>
          </p15:clr>
        </p15:guide>
        <p15:guide id="4" pos="1935">
          <p15:clr>
            <a:srgbClr val="462901"/>
          </p15:clr>
        </p15:guide>
        <p15:guide id="5" pos="2022">
          <p15:clr>
            <a:srgbClr val="462901"/>
          </p15:clr>
        </p15:guide>
        <p15:guide id="6" pos="3796">
          <p15:clr>
            <a:srgbClr val="462901"/>
          </p15:clr>
        </p15:guide>
        <p15:guide id="7" pos="3883">
          <p15:clr>
            <a:srgbClr val="462901"/>
          </p15:clr>
        </p15:guide>
        <p15:guide id="8" pos="5657">
          <p15:clr>
            <a:srgbClr val="462901"/>
          </p15:clr>
        </p15:guide>
        <p15:guide id="9" pos="5744">
          <p15:clr>
            <a:srgbClr val="462901"/>
          </p15:clr>
        </p15:guide>
        <p15:guide id="10" pos="7518">
          <p15:clr>
            <a:srgbClr val="462901"/>
          </p15:clr>
        </p15:guide>
        <p15:guide id="11" orient="horz">
          <p15:clr>
            <a:srgbClr val="462901"/>
          </p15:clr>
        </p15:guide>
        <p15:guide id="12" orient="horz" pos="4320">
          <p15:clr>
            <a:srgbClr val="462901"/>
          </p15:clr>
        </p15:guide>
        <p15:guide id="13" orient="horz" pos="161">
          <p15:clr>
            <a:srgbClr val="462901"/>
          </p15:clr>
        </p15:guide>
        <p15:guide id="14" orient="horz" pos="755">
          <p15:clr>
            <a:srgbClr val="462901"/>
          </p15:clr>
        </p15:guide>
        <p15:guide id="15" orient="horz" pos="841">
          <p15:clr>
            <a:srgbClr val="462901"/>
          </p15:clr>
        </p15:guide>
        <p15:guide id="16" orient="horz" pos="1436">
          <p15:clr>
            <a:srgbClr val="462901"/>
          </p15:clr>
        </p15:guide>
        <p15:guide id="17" orient="horz" pos="1522">
          <p15:clr>
            <a:srgbClr val="462901"/>
          </p15:clr>
        </p15:guide>
        <p15:guide id="18" orient="horz" pos="2116">
          <p15:clr>
            <a:srgbClr val="462901"/>
          </p15:clr>
        </p15:guide>
        <p15:guide id="19" orient="horz" pos="2203">
          <p15:clr>
            <a:srgbClr val="462901"/>
          </p15:clr>
        </p15:guide>
        <p15:guide id="20" orient="horz" pos="2797">
          <p15:clr>
            <a:srgbClr val="462901"/>
          </p15:clr>
        </p15:guide>
        <p15:guide id="21" orient="horz" pos="2883">
          <p15:clr>
            <a:srgbClr val="462901"/>
          </p15:clr>
        </p15:guide>
        <p15:guide id="22" orient="horz" pos="3478">
          <p15:clr>
            <a:srgbClr val="462901"/>
          </p15:clr>
        </p15:guide>
        <p15:guide id="23" orient="horz" pos="3564">
          <p15:clr>
            <a:srgbClr val="462901"/>
          </p15:clr>
        </p15:guide>
        <p15:guide id="24" orient="horz" pos="4158">
          <p15:clr>
            <a:srgbClr val="46290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20.png"/><Relationship Id="rId18" Type="http://schemas.microsoft.com/office/2007/relationships/hdphoto" Target="../media/hdphoto7.wdp"/><Relationship Id="rId3" Type="http://schemas.openxmlformats.org/officeDocument/2006/relationships/hyperlink" Target="https://www.frontiersin.org/journals/oncology/articles/10.3389/fonc.2024.1320766/full" TargetMode="External"/><Relationship Id="rId21" Type="http://schemas.openxmlformats.org/officeDocument/2006/relationships/image" Target="../media/image24.png"/><Relationship Id="rId7" Type="http://schemas.openxmlformats.org/officeDocument/2006/relationships/image" Target="../media/image17.png"/><Relationship Id="rId12" Type="http://schemas.microsoft.com/office/2007/relationships/hdphoto" Target="../media/hdphoto4.wdp"/><Relationship Id="rId17" Type="http://schemas.openxmlformats.org/officeDocument/2006/relationships/image" Target="../media/image22.png"/><Relationship Id="rId2" Type="http://schemas.openxmlformats.org/officeDocument/2006/relationships/hyperlink" Target="https://www.proteinatlas.org/ENSG00000163347-CLDN1/cancer/cervical+cancer#IHC" TargetMode="External"/><Relationship Id="rId16" Type="http://schemas.microsoft.com/office/2007/relationships/hdphoto" Target="../media/hdphoto6.wdp"/><Relationship Id="rId20" Type="http://schemas.microsoft.com/office/2007/relationships/hdphoto" Target="../media/hdphoto8.wdp"/><Relationship Id="rId1" Type="http://schemas.openxmlformats.org/officeDocument/2006/relationships/slideLayout" Target="../slideLayouts/slideLayout12.xml"/><Relationship Id="rId6" Type="http://schemas.microsoft.com/office/2007/relationships/hdphoto" Target="../media/hdphoto1.wdp"/><Relationship Id="rId11" Type="http://schemas.openxmlformats.org/officeDocument/2006/relationships/image" Target="../media/image19.png"/><Relationship Id="rId5" Type="http://schemas.openxmlformats.org/officeDocument/2006/relationships/image" Target="../media/image16.png"/><Relationship Id="rId15" Type="http://schemas.openxmlformats.org/officeDocument/2006/relationships/image" Target="../media/image21.png"/><Relationship Id="rId23" Type="http://schemas.openxmlformats.org/officeDocument/2006/relationships/image" Target="../media/image25.png"/><Relationship Id="rId10" Type="http://schemas.microsoft.com/office/2007/relationships/hdphoto" Target="../media/hdphoto3.wdp"/><Relationship Id="rId19" Type="http://schemas.openxmlformats.org/officeDocument/2006/relationships/image" Target="../media/image23.png"/><Relationship Id="rId4" Type="http://schemas.openxmlformats.org/officeDocument/2006/relationships/hyperlink" Target="https://aacrjournals.org/clincancerres/article/26/9/2188/83190/A-Novel-GUCY2C-CD3-T-Cell-Engaging-Bispecific" TargetMode="External"/><Relationship Id="rId9" Type="http://schemas.openxmlformats.org/officeDocument/2006/relationships/image" Target="../media/image18.png"/><Relationship Id="rId14" Type="http://schemas.microsoft.com/office/2007/relationships/hdphoto" Target="../media/hdphoto5.wdp"/><Relationship Id="rId22" Type="http://schemas.microsoft.com/office/2007/relationships/hdphoto" Target="../media/hdphoto9.wdp"/></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hyperlink" Target="https://www.abstractsonline.com/pp8/#!/20273/presentation/2846" TargetMode="External"/><Relationship Id="rId3"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hyperlink" Target="https://pmc.ncbi.nlm.nih.gov/articles/PMC5490170/" TargetMode="External"/><Relationship Id="rId2" Type="http://schemas.microsoft.com/office/2018/10/relationships/comments" Target="../comments/modernComment_257_849FE7DE.xml"/><Relationship Id="rId1" Type="http://schemas.openxmlformats.org/officeDocument/2006/relationships/slideLayout" Target="../slideLayouts/slideLayout30.xml"/><Relationship Id="rId6" Type="http://schemas.openxmlformats.org/officeDocument/2006/relationships/image" Target="../media/image11.png"/><Relationship Id="rId11" Type="http://schemas.openxmlformats.org/officeDocument/2006/relationships/hyperlink" Target="https://www.journal-of-hepatology.eu/article/S0168-8278(22)03147-6/fulltext#supplementary-material" TargetMode="External"/><Relationship Id="rId5" Type="http://schemas.openxmlformats.org/officeDocument/2006/relationships/image" Target="../media/image27.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6.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27.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hyperlink" Target="https://pubmed.ncbi.nlm.nih.gov/38731853/" TargetMode="External"/><Relationship Id="rId3"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hyperlink" Target="https://www.frontiersin.org/journals/oncology/articles/10.3389/fonc.2024.1320766/full" TargetMode="External"/><Relationship Id="rId2" Type="http://schemas.openxmlformats.org/officeDocument/2006/relationships/notesSlide" Target="../notesSlides/notesSlide2.xml"/><Relationship Id="rId16" Type="http://schemas.openxmlformats.org/officeDocument/2006/relationships/hyperlink" Target="https://pmc.ncbi.nlm.nih.gov/articles/PMC10127193/" TargetMode="External"/><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image" Target="../media/image28.png"/><Relationship Id="rId5" Type="http://schemas.openxmlformats.org/officeDocument/2006/relationships/image" Target="../media/image27.png"/><Relationship Id="rId15" Type="http://schemas.openxmlformats.org/officeDocument/2006/relationships/hyperlink" Target="https://alentis.ch/ale-p02-ale-p03-adcs-for-claudin-1-positive-tumors/" TargetMode="External"/><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 Id="rId14" Type="http://schemas.openxmlformats.org/officeDocument/2006/relationships/hyperlink" Target="https://doi.org/10.1371/journal.ppat.1006916"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22.png"/><Relationship Id="rId18" Type="http://schemas.microsoft.com/office/2007/relationships/hdphoto" Target="../media/hdphoto9.wdp"/><Relationship Id="rId26" Type="http://schemas.microsoft.com/office/2007/relationships/hdphoto" Target="../media/hdphoto4.wdp"/><Relationship Id="rId3" Type="http://schemas.openxmlformats.org/officeDocument/2006/relationships/image" Target="../media/image2.png"/><Relationship Id="rId21" Type="http://schemas.openxmlformats.org/officeDocument/2006/relationships/image" Target="../media/image17.png"/><Relationship Id="rId7" Type="http://schemas.openxmlformats.org/officeDocument/2006/relationships/image" Target="../media/image13.png"/><Relationship Id="rId12" Type="http://schemas.microsoft.com/office/2007/relationships/hdphoto" Target="../media/hdphoto6.wdp"/><Relationship Id="rId17" Type="http://schemas.openxmlformats.org/officeDocument/2006/relationships/image" Target="../media/image24.png"/><Relationship Id="rId25" Type="http://schemas.openxmlformats.org/officeDocument/2006/relationships/image" Target="../media/image19.png"/><Relationship Id="rId2" Type="http://schemas.openxmlformats.org/officeDocument/2006/relationships/image" Target="../media/image26.png"/><Relationship Id="rId16" Type="http://schemas.microsoft.com/office/2007/relationships/hdphoto" Target="../media/hdphoto8.wdp"/><Relationship Id="rId20" Type="http://schemas.microsoft.com/office/2007/relationships/hdphoto" Target="../media/hdphoto1.wdp"/><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image" Target="../media/image21.png"/><Relationship Id="rId24" Type="http://schemas.microsoft.com/office/2007/relationships/hdphoto" Target="../media/hdphoto3.wdp"/><Relationship Id="rId5" Type="http://schemas.openxmlformats.org/officeDocument/2006/relationships/image" Target="../media/image11.png"/><Relationship Id="rId15" Type="http://schemas.openxmlformats.org/officeDocument/2006/relationships/image" Target="../media/image23.png"/><Relationship Id="rId23" Type="http://schemas.openxmlformats.org/officeDocument/2006/relationships/image" Target="../media/image18.png"/><Relationship Id="rId28" Type="http://schemas.microsoft.com/office/2007/relationships/hdphoto" Target="../media/hdphoto5.wdp"/><Relationship Id="rId10" Type="http://schemas.openxmlformats.org/officeDocument/2006/relationships/hyperlink" Target="https://www.proteinatlas.org/ENSG00000163347-CLDN1/cancer/cervical+cancer#IHC" TargetMode="External"/><Relationship Id="rId19" Type="http://schemas.openxmlformats.org/officeDocument/2006/relationships/image" Target="../media/image16.png"/><Relationship Id="rId4" Type="http://schemas.openxmlformats.org/officeDocument/2006/relationships/image" Target="../media/image27.png"/><Relationship Id="rId9" Type="http://schemas.openxmlformats.org/officeDocument/2006/relationships/image" Target="../media/image15.png"/><Relationship Id="rId14" Type="http://schemas.microsoft.com/office/2007/relationships/hdphoto" Target="../media/hdphoto7.wdp"/><Relationship Id="rId22" Type="http://schemas.microsoft.com/office/2007/relationships/hdphoto" Target="../media/hdphoto2.wdp"/><Relationship Id="rId27"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hyperlink" Target="https://www.proteinatlas.org/ENSG00000163347-CLDN1/cancer/cervical+cancer#IHC" TargetMode="External"/><Relationship Id="rId3"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hyperlink" Target="https://por.hu/2014/20/1/0099/0099a.pdf" TargetMode="External"/><Relationship Id="rId17" Type="http://schemas.openxmlformats.org/officeDocument/2006/relationships/hyperlink" Target="https://www.gtexportal.org/home/gene/CLDN1#geneExpression" TargetMode="External"/><Relationship Id="rId2" Type="http://schemas.openxmlformats.org/officeDocument/2006/relationships/notesSlide" Target="../notesSlides/notesSlide3.xml"/><Relationship Id="rId16" Type="http://schemas.openxmlformats.org/officeDocument/2006/relationships/hyperlink" Target="https://cprosite.ccr.cancer.gov/" TargetMode="External"/><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hyperlink" Target="https://www.sciencedirect.com/science/article/pii/S0893395222032689" TargetMode="External"/><Relationship Id="rId5" Type="http://schemas.openxmlformats.org/officeDocument/2006/relationships/image" Target="../media/image27.png"/><Relationship Id="rId15" Type="http://schemas.openxmlformats.org/officeDocument/2006/relationships/hyperlink" Target="https://www.proteinatlas.org/ENSG00000163347-CLDN1" TargetMode="External"/><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 Id="rId14" Type="http://schemas.openxmlformats.org/officeDocument/2006/relationships/hyperlink" Target="https://pmc.ncbi.nlm.nih.gov/articles/PMC5490170/"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hyperlink" Target="https://pubmed.ncbi.nlm.nih.gov/22671586/" TargetMode="External"/><Relationship Id="rId18" Type="http://schemas.openxmlformats.org/officeDocument/2006/relationships/hyperlink" Target="https://www.nature.com/articles/s41598-019-49021-3" TargetMode="External"/><Relationship Id="rId3" Type="http://schemas.openxmlformats.org/officeDocument/2006/relationships/image" Target="../media/image26.png"/><Relationship Id="rId21" Type="http://schemas.openxmlformats.org/officeDocument/2006/relationships/image" Target="../media/image25.png"/><Relationship Id="rId7" Type="http://schemas.openxmlformats.org/officeDocument/2006/relationships/image" Target="../media/image12.png"/><Relationship Id="rId12" Type="http://schemas.openxmlformats.org/officeDocument/2006/relationships/hyperlink" Target="https://pubmed.ncbi.nlm.nih.gov/21757541/" TargetMode="External"/><Relationship Id="rId17" Type="http://schemas.openxmlformats.org/officeDocument/2006/relationships/hyperlink" Target="https://pubmed.ncbi.nlm.nih.gov/26886788/" TargetMode="External"/><Relationship Id="rId2" Type="http://schemas.openxmlformats.org/officeDocument/2006/relationships/notesSlide" Target="../notesSlides/notesSlide4.xml"/><Relationship Id="rId16" Type="http://schemas.openxmlformats.org/officeDocument/2006/relationships/hyperlink" Target="https://pmc.ncbi.nlm.nih.gov/articles/PMC4665381" TargetMode="External"/><Relationship Id="rId20" Type="http://schemas.openxmlformats.org/officeDocument/2006/relationships/hyperlink" Target="https://www.sciencedirect.com/science/article/pii/S2589004221002273#undfig1" TargetMode="External"/><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hyperlink" Target="https://www.frontiersin.org/journals/oncology/articles/10.3389/fonc.2024.1320766/full" TargetMode="External"/><Relationship Id="rId5" Type="http://schemas.openxmlformats.org/officeDocument/2006/relationships/image" Target="../media/image27.png"/><Relationship Id="rId15" Type="http://schemas.openxmlformats.org/officeDocument/2006/relationships/hyperlink" Target="https://pmc.ncbi.nlm.nih.gov/articles/PMC2789582/" TargetMode="External"/><Relationship Id="rId10" Type="http://schemas.openxmlformats.org/officeDocument/2006/relationships/image" Target="../media/image15.png"/><Relationship Id="rId19" Type="http://schemas.openxmlformats.org/officeDocument/2006/relationships/hyperlink" Target="https://pmc.ncbi.nlm.nih.gov/articles/PMC3144428/" TargetMode="External"/><Relationship Id="rId4" Type="http://schemas.openxmlformats.org/officeDocument/2006/relationships/image" Target="../media/image2.png"/><Relationship Id="rId9" Type="http://schemas.openxmlformats.org/officeDocument/2006/relationships/image" Target="../media/image14.png"/><Relationship Id="rId14" Type="http://schemas.openxmlformats.org/officeDocument/2006/relationships/hyperlink" Target="https://journals.plos.org/plosone/article?id=10.1371%2Fjournal.pone.0028659"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hyperlink" Target="https://www.journal-of-hepatology.eu/article/S0168-8278(22)03147-6/fulltext#supplementary-material" TargetMode="External"/><Relationship Id="rId18" Type="http://schemas.openxmlformats.org/officeDocument/2006/relationships/hyperlink" Target="https://pmc.ncbi.nlm.nih.gov/articles/PMC5490170/" TargetMode="External"/><Relationship Id="rId3" Type="http://schemas.openxmlformats.org/officeDocument/2006/relationships/image" Target="../media/image26.png"/><Relationship Id="rId21" Type="http://schemas.openxmlformats.org/officeDocument/2006/relationships/hyperlink" Target="https://www.ejgo.org/DOIx.php?id=10.3802%2Fjgo.2016.27.e43" TargetMode="External"/><Relationship Id="rId7" Type="http://schemas.openxmlformats.org/officeDocument/2006/relationships/image" Target="../media/image12.png"/><Relationship Id="rId12" Type="http://schemas.openxmlformats.org/officeDocument/2006/relationships/hyperlink" Target="https://por.hu/2014/20/1/0099/0099a.pdf" TargetMode="External"/><Relationship Id="rId17" Type="http://schemas.openxmlformats.org/officeDocument/2006/relationships/hyperlink" Target="https://acsjournals.onlinelibrary.wiley.com/doi/full/10.1002/cncr.25960" TargetMode="External"/><Relationship Id="rId2" Type="http://schemas.openxmlformats.org/officeDocument/2006/relationships/notesSlide" Target="../notesSlides/notesSlide5.xml"/><Relationship Id="rId16" Type="http://schemas.openxmlformats.org/officeDocument/2006/relationships/hyperlink" Target="https://pmc.ncbi.nlm.nih.gov/articles/PMC7817269" TargetMode="External"/><Relationship Id="rId20" Type="http://schemas.openxmlformats.org/officeDocument/2006/relationships/hyperlink" Target="https://www.frontiersin.org/journals/medicine/articles/10.3389/fmed.2025.1579446/full?utm_source=chatgpt.com" TargetMode="External"/><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hyperlink" Target="https://www.sciencedirect.com/science/article/pii/S0893395222032689" TargetMode="External"/><Relationship Id="rId5" Type="http://schemas.openxmlformats.org/officeDocument/2006/relationships/image" Target="../media/image27.png"/><Relationship Id="rId15" Type="http://schemas.openxmlformats.org/officeDocument/2006/relationships/hyperlink" Target="https://pubmed.ncbi.nlm.nih.gov/39594842/" TargetMode="External"/><Relationship Id="rId10" Type="http://schemas.openxmlformats.org/officeDocument/2006/relationships/image" Target="../media/image15.png"/><Relationship Id="rId19" Type="http://schemas.openxmlformats.org/officeDocument/2006/relationships/hyperlink" Target="https://www.cancer.org/cancer/types/cervical-cancer/about/key-statistics.html" TargetMode="External"/><Relationship Id="rId4" Type="http://schemas.openxmlformats.org/officeDocument/2006/relationships/image" Target="../media/image2.png"/><Relationship Id="rId9" Type="http://schemas.openxmlformats.org/officeDocument/2006/relationships/image" Target="../media/image14.png"/><Relationship Id="rId14" Type="http://schemas.openxmlformats.org/officeDocument/2006/relationships/hyperlink" Target="https://journals.lww.com/md-journal/fulltext/2019/08300/overall_survival_of_colorectal_cancer_by_stage_at.44.aspx"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26.png"/><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hyperlink" Target="https://www.lungcancerjournal.info/article/S0169-5002(17)30351-3/abstract" TargetMode="External"/><Relationship Id="rId5" Type="http://schemas.openxmlformats.org/officeDocument/2006/relationships/image" Target="../media/image11.png"/><Relationship Id="rId10" Type="http://schemas.openxmlformats.org/officeDocument/2006/relationships/hyperlink" Target="https://www.thelancet.com/journals/lancet/article/PIIS0140-6736(14)60845-X/abstract" TargetMode="External"/><Relationship Id="rId4" Type="http://schemas.openxmlformats.org/officeDocument/2006/relationships/image" Target="../media/image27.pn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6.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27.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D8714-006B-AB57-E5EF-2AF5C163AF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E2AEB-8CF8-01CF-CE93-1245F61EDE4C}"/>
              </a:ext>
            </a:extLst>
          </p:cNvPr>
          <p:cNvSpPr>
            <a:spLocks noGrp="1"/>
          </p:cNvSpPr>
          <p:nvPr>
            <p:ph type="ctrTitle"/>
          </p:nvPr>
        </p:nvSpPr>
        <p:spPr/>
        <p:txBody>
          <a:bodyPr/>
          <a:lstStyle/>
          <a:p>
            <a:r>
              <a:rPr lang="en-US"/>
              <a:t>CLDN1 Target Evaluation</a:t>
            </a:r>
          </a:p>
        </p:txBody>
      </p:sp>
      <p:sp>
        <p:nvSpPr>
          <p:cNvPr id="4" name="TextBox 3">
            <a:extLst>
              <a:ext uri="{FF2B5EF4-FFF2-40B4-BE49-F238E27FC236}">
                <a16:creationId xmlns:a16="http://schemas.microsoft.com/office/drawing/2014/main" id="{27CBA9A3-BBB7-DA27-A3B4-EED18EAA4BD7}"/>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955020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3EC80-D1A5-1D63-3D3C-20D346E61316}"/>
            </a:ext>
          </a:extLst>
        </p:cNvPr>
        <p:cNvGrpSpPr/>
        <p:nvPr/>
      </p:nvGrpSpPr>
      <p:grpSpPr>
        <a:xfrm>
          <a:off x="0" y="0"/>
          <a:ext cx="0" cy="0"/>
          <a:chOff x="0" y="0"/>
          <a:chExt cx="0" cy="0"/>
        </a:xfrm>
      </p:grpSpPr>
      <p:sp>
        <p:nvSpPr>
          <p:cNvPr id="20" name="Title 19">
            <a:extLst>
              <a:ext uri="{FF2B5EF4-FFF2-40B4-BE49-F238E27FC236}">
                <a16:creationId xmlns:a16="http://schemas.microsoft.com/office/drawing/2014/main" id="{90C1467F-9163-A370-4018-CCC12AEE4B3F}"/>
              </a:ext>
            </a:extLst>
          </p:cNvPr>
          <p:cNvSpPr>
            <a:spLocks noGrp="1"/>
          </p:cNvSpPr>
          <p:nvPr>
            <p:ph type="title"/>
          </p:nvPr>
        </p:nvSpPr>
        <p:spPr>
          <a:xfrm>
            <a:off x="261111" y="1389953"/>
            <a:ext cx="11800750" cy="414463"/>
          </a:xfrm>
        </p:spPr>
        <p:txBody>
          <a:bodyPr/>
          <a:lstStyle/>
          <a:p>
            <a:r>
              <a:rPr lang="en-US"/>
              <a:t>Multi-Cancer: CLDN1 tumor-specific accessibility &amp; high expression create RLT window</a:t>
            </a:r>
          </a:p>
        </p:txBody>
      </p:sp>
      <p:sp>
        <p:nvSpPr>
          <p:cNvPr id="2" name="Footer Placeholder 1">
            <a:extLst>
              <a:ext uri="{FF2B5EF4-FFF2-40B4-BE49-F238E27FC236}">
                <a16:creationId xmlns:a16="http://schemas.microsoft.com/office/drawing/2014/main" id="{B810EFAD-A39D-943A-3A36-807FDA8A2B70}"/>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656670"/>
                </a:solidFill>
                <a:effectLst/>
                <a:uLnTx/>
                <a:uFillTx/>
                <a:latin typeface="Funnel Sans"/>
                <a:ea typeface="+mn-ea"/>
                <a:cs typeface="+mn-cs"/>
              </a:rPr>
              <a:t>Confidential</a:t>
            </a:r>
            <a:endParaRPr kumimoji="0" lang="en-GB" sz="900" b="0" i="0" u="none" strike="noStrike" kern="1200" cap="none" spc="0" normalizeH="0" baseline="0" noProof="0">
              <a:ln>
                <a:noFill/>
              </a:ln>
              <a:solidFill>
                <a:srgbClr val="656670"/>
              </a:solidFill>
              <a:effectLst/>
              <a:uLnTx/>
              <a:uFillTx/>
              <a:latin typeface="Funnel Sans"/>
              <a:ea typeface="+mn-ea"/>
              <a:cs typeface="+mn-cs"/>
            </a:endParaRPr>
          </a:p>
        </p:txBody>
      </p:sp>
      <p:sp>
        <p:nvSpPr>
          <p:cNvPr id="3" name="Slide Number Placeholder 2">
            <a:extLst>
              <a:ext uri="{FF2B5EF4-FFF2-40B4-BE49-F238E27FC236}">
                <a16:creationId xmlns:a16="http://schemas.microsoft.com/office/drawing/2014/main" id="{3CE31A70-AE8A-93E7-1CDC-879C97BA05E8}"/>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1E5F93-45D3-472F-9EA1-BCB47A04FF6B}" type="slidenum">
              <a:rPr kumimoji="0" lang="en-GB" sz="900" b="0" i="0" u="none" strike="noStrike" kern="1200" cap="none" spc="-39" normalizeH="0" baseline="0" noProof="0" smtClean="0">
                <a:ln>
                  <a:noFill/>
                </a:ln>
                <a:solidFill>
                  <a:srgbClr val="656670"/>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900" b="0" i="0" u="none" strike="noStrike" kern="1200" cap="none" spc="-39" normalizeH="0" baseline="0" noProof="0">
              <a:ln>
                <a:noFill/>
              </a:ln>
              <a:solidFill>
                <a:srgbClr val="656670"/>
              </a:solidFill>
              <a:effectLst/>
              <a:uLnTx/>
              <a:uFillTx/>
              <a:latin typeface="Funnel Sans"/>
              <a:ea typeface="+mn-ea"/>
              <a:cs typeface="+mn-cs"/>
            </a:endParaRPr>
          </a:p>
        </p:txBody>
      </p:sp>
      <p:sp>
        <p:nvSpPr>
          <p:cNvPr id="21" name="Subtitle 20">
            <a:extLst>
              <a:ext uri="{FF2B5EF4-FFF2-40B4-BE49-F238E27FC236}">
                <a16:creationId xmlns:a16="http://schemas.microsoft.com/office/drawing/2014/main" id="{2FE87C20-9222-EB2F-C131-2AF83E1E55A0}"/>
              </a:ext>
            </a:extLst>
          </p:cNvPr>
          <p:cNvSpPr>
            <a:spLocks noGrp="1"/>
          </p:cNvSpPr>
          <p:nvPr>
            <p:ph type="subTitle" idx="1"/>
          </p:nvPr>
        </p:nvSpPr>
        <p:spPr/>
        <p:txBody>
          <a:bodyPr/>
          <a:lstStyle/>
          <a:p>
            <a:r>
              <a:rPr lang="en-US" b="1"/>
              <a:t>Target Selection</a:t>
            </a:r>
          </a:p>
        </p:txBody>
      </p:sp>
      <p:grpSp>
        <p:nvGrpSpPr>
          <p:cNvPr id="19" name="Group 18">
            <a:extLst>
              <a:ext uri="{FF2B5EF4-FFF2-40B4-BE49-F238E27FC236}">
                <a16:creationId xmlns:a16="http://schemas.microsoft.com/office/drawing/2014/main" id="{0A65233B-78BA-AD9B-6A02-D4021AA95340}"/>
              </a:ext>
            </a:extLst>
          </p:cNvPr>
          <p:cNvGrpSpPr/>
          <p:nvPr/>
        </p:nvGrpSpPr>
        <p:grpSpPr>
          <a:xfrm>
            <a:off x="257178" y="1992420"/>
            <a:ext cx="6523518" cy="4576212"/>
            <a:chOff x="3527298" y="2509627"/>
            <a:chExt cx="3423291" cy="4576212"/>
          </a:xfrm>
        </p:grpSpPr>
        <p:sp>
          <p:nvSpPr>
            <p:cNvPr id="4" name="Shape 2">
              <a:extLst>
                <a:ext uri="{FF2B5EF4-FFF2-40B4-BE49-F238E27FC236}">
                  <a16:creationId xmlns:a16="http://schemas.microsoft.com/office/drawing/2014/main" id="{A9C4AD10-E9C3-8700-AAAA-DE27AEEA71A2}"/>
                </a:ext>
              </a:extLst>
            </p:cNvPr>
            <p:cNvSpPr/>
            <p:nvPr/>
          </p:nvSpPr>
          <p:spPr>
            <a:xfrm>
              <a:off x="3527298" y="2509627"/>
              <a:ext cx="3423291" cy="307028"/>
            </a:xfrm>
            <a:prstGeom prst="round2SameRect">
              <a:avLst>
                <a:gd name="adj1" fmla="val 32721"/>
                <a:gd name="adj2" fmla="val 0"/>
              </a:avLst>
            </a:prstGeom>
            <a:solidFill>
              <a:schemeClr val="accent2"/>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Expression</a:t>
              </a:r>
            </a:p>
          </p:txBody>
        </p:sp>
        <p:sp>
          <p:nvSpPr>
            <p:cNvPr id="7" name="Shape 5">
              <a:extLst>
                <a:ext uri="{FF2B5EF4-FFF2-40B4-BE49-F238E27FC236}">
                  <a16:creationId xmlns:a16="http://schemas.microsoft.com/office/drawing/2014/main" id="{509B66E0-B5BC-1F4E-384F-19DF973BA5F0}"/>
                </a:ext>
              </a:extLst>
            </p:cNvPr>
            <p:cNvSpPr/>
            <p:nvPr/>
          </p:nvSpPr>
          <p:spPr>
            <a:xfrm rot="10800000">
              <a:off x="3527298" y="2816654"/>
              <a:ext cx="3423291" cy="4269185"/>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32" name="Group 31">
            <a:extLst>
              <a:ext uri="{FF2B5EF4-FFF2-40B4-BE49-F238E27FC236}">
                <a16:creationId xmlns:a16="http://schemas.microsoft.com/office/drawing/2014/main" id="{E82A499F-16D0-A5B7-FA59-B669C01256BA}"/>
              </a:ext>
            </a:extLst>
          </p:cNvPr>
          <p:cNvGrpSpPr/>
          <p:nvPr/>
        </p:nvGrpSpPr>
        <p:grpSpPr>
          <a:xfrm>
            <a:off x="7112641" y="1992420"/>
            <a:ext cx="4703880" cy="2442064"/>
            <a:chOff x="3527297" y="2509627"/>
            <a:chExt cx="3423292" cy="2294930"/>
          </a:xfrm>
        </p:grpSpPr>
        <p:sp>
          <p:nvSpPr>
            <p:cNvPr id="33" name="Shape 2">
              <a:extLst>
                <a:ext uri="{FF2B5EF4-FFF2-40B4-BE49-F238E27FC236}">
                  <a16:creationId xmlns:a16="http://schemas.microsoft.com/office/drawing/2014/main" id="{5B6D32DC-7C4A-8A68-95A5-08B6DB712223}"/>
                </a:ext>
              </a:extLst>
            </p:cNvPr>
            <p:cNvSpPr/>
            <p:nvPr/>
          </p:nvSpPr>
          <p:spPr>
            <a:xfrm>
              <a:off x="3527298" y="2509627"/>
              <a:ext cx="3423291" cy="307028"/>
            </a:xfrm>
            <a:prstGeom prst="round2SameRect">
              <a:avLst>
                <a:gd name="adj1" fmla="val 32721"/>
                <a:gd name="adj2" fmla="val 0"/>
              </a:avLst>
            </a:prstGeom>
            <a:solidFill>
              <a:schemeClr val="accent2"/>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Biology &amp; Feasibility</a:t>
              </a:r>
            </a:p>
          </p:txBody>
        </p:sp>
        <p:sp>
          <p:nvSpPr>
            <p:cNvPr id="34" name="Shape 5">
              <a:extLst>
                <a:ext uri="{FF2B5EF4-FFF2-40B4-BE49-F238E27FC236}">
                  <a16:creationId xmlns:a16="http://schemas.microsoft.com/office/drawing/2014/main" id="{F924DE3A-37C4-871B-7127-F8B5BA1A6B6E}"/>
                </a:ext>
              </a:extLst>
            </p:cNvPr>
            <p:cNvSpPr/>
            <p:nvPr/>
          </p:nvSpPr>
          <p:spPr>
            <a:xfrm rot="10800000">
              <a:off x="3527297" y="2816654"/>
              <a:ext cx="3423291" cy="1987903"/>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35" name="Group 34">
            <a:extLst>
              <a:ext uri="{FF2B5EF4-FFF2-40B4-BE49-F238E27FC236}">
                <a16:creationId xmlns:a16="http://schemas.microsoft.com/office/drawing/2014/main" id="{CDC1471E-2FD6-CB94-61E7-7D13D8199D74}"/>
              </a:ext>
            </a:extLst>
          </p:cNvPr>
          <p:cNvGrpSpPr/>
          <p:nvPr/>
        </p:nvGrpSpPr>
        <p:grpSpPr>
          <a:xfrm>
            <a:off x="7112641" y="4513241"/>
            <a:ext cx="4703880" cy="715080"/>
            <a:chOff x="3527297" y="2509627"/>
            <a:chExt cx="3423292" cy="715080"/>
          </a:xfrm>
        </p:grpSpPr>
        <p:sp>
          <p:nvSpPr>
            <p:cNvPr id="36" name="Shape 2">
              <a:extLst>
                <a:ext uri="{FF2B5EF4-FFF2-40B4-BE49-F238E27FC236}">
                  <a16:creationId xmlns:a16="http://schemas.microsoft.com/office/drawing/2014/main" id="{A792D67B-9C23-70BF-88C3-68639B0A5A9F}"/>
                </a:ext>
              </a:extLst>
            </p:cNvPr>
            <p:cNvSpPr/>
            <p:nvPr/>
          </p:nvSpPr>
          <p:spPr>
            <a:xfrm>
              <a:off x="3527298" y="2509627"/>
              <a:ext cx="3423291" cy="307028"/>
            </a:xfrm>
            <a:prstGeom prst="round2SameRect">
              <a:avLst>
                <a:gd name="adj1" fmla="val 32721"/>
                <a:gd name="adj2" fmla="val 0"/>
              </a:avLst>
            </a:prstGeom>
            <a:solidFill>
              <a:schemeClr val="accent2"/>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Landscape</a:t>
              </a:r>
            </a:p>
          </p:txBody>
        </p:sp>
        <p:sp>
          <p:nvSpPr>
            <p:cNvPr id="37" name="Shape 5">
              <a:extLst>
                <a:ext uri="{FF2B5EF4-FFF2-40B4-BE49-F238E27FC236}">
                  <a16:creationId xmlns:a16="http://schemas.microsoft.com/office/drawing/2014/main" id="{C10C7248-4DFB-B6B7-9F8B-134ADDEAEA8E}"/>
                </a:ext>
              </a:extLst>
            </p:cNvPr>
            <p:cNvSpPr/>
            <p:nvPr/>
          </p:nvSpPr>
          <p:spPr>
            <a:xfrm rot="10800000">
              <a:off x="3527297" y="2816654"/>
              <a:ext cx="3423291" cy="408053"/>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38" name="Group 37">
            <a:extLst>
              <a:ext uri="{FF2B5EF4-FFF2-40B4-BE49-F238E27FC236}">
                <a16:creationId xmlns:a16="http://schemas.microsoft.com/office/drawing/2014/main" id="{F6C50104-E2C1-D21F-C716-7DDE19D3BD20}"/>
              </a:ext>
            </a:extLst>
          </p:cNvPr>
          <p:cNvGrpSpPr/>
          <p:nvPr/>
        </p:nvGrpSpPr>
        <p:grpSpPr>
          <a:xfrm>
            <a:off x="7112643" y="5353699"/>
            <a:ext cx="4703879" cy="1214933"/>
            <a:chOff x="3527298" y="2509627"/>
            <a:chExt cx="3423291" cy="1214933"/>
          </a:xfrm>
        </p:grpSpPr>
        <p:sp>
          <p:nvSpPr>
            <p:cNvPr id="39" name="Shape 2">
              <a:extLst>
                <a:ext uri="{FF2B5EF4-FFF2-40B4-BE49-F238E27FC236}">
                  <a16:creationId xmlns:a16="http://schemas.microsoft.com/office/drawing/2014/main" id="{2D24B93C-F115-0643-BFE7-07849F4F3EBD}"/>
                </a:ext>
              </a:extLst>
            </p:cNvPr>
            <p:cNvSpPr/>
            <p:nvPr/>
          </p:nvSpPr>
          <p:spPr>
            <a:xfrm>
              <a:off x="3527298" y="2509627"/>
              <a:ext cx="3423291" cy="307028"/>
            </a:xfrm>
            <a:prstGeom prst="round2SameRect">
              <a:avLst>
                <a:gd name="adj1" fmla="val 32721"/>
                <a:gd name="adj2" fmla="val 0"/>
              </a:avLst>
            </a:prstGeom>
            <a:solidFill>
              <a:schemeClr val="accent4"/>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Sego’s Approach</a:t>
              </a:r>
            </a:p>
          </p:txBody>
        </p:sp>
        <p:sp>
          <p:nvSpPr>
            <p:cNvPr id="40" name="Shape 5">
              <a:extLst>
                <a:ext uri="{FF2B5EF4-FFF2-40B4-BE49-F238E27FC236}">
                  <a16:creationId xmlns:a16="http://schemas.microsoft.com/office/drawing/2014/main" id="{0569C8BC-73D8-FBFD-5896-2B8C28BAF4DE}"/>
                </a:ext>
              </a:extLst>
            </p:cNvPr>
            <p:cNvSpPr/>
            <p:nvPr/>
          </p:nvSpPr>
          <p:spPr>
            <a:xfrm rot="10800000">
              <a:off x="3527298" y="2816652"/>
              <a:ext cx="3423291" cy="907908"/>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sp>
        <p:nvSpPr>
          <p:cNvPr id="59" name="TextBox 58">
            <a:extLst>
              <a:ext uri="{FF2B5EF4-FFF2-40B4-BE49-F238E27FC236}">
                <a16:creationId xmlns:a16="http://schemas.microsoft.com/office/drawing/2014/main" id="{3BB230C3-C758-9D5C-FCE4-D45F68481CCF}"/>
              </a:ext>
            </a:extLst>
          </p:cNvPr>
          <p:cNvSpPr txBox="1"/>
          <p:nvPr/>
        </p:nvSpPr>
        <p:spPr>
          <a:xfrm>
            <a:off x="0" y="6647389"/>
            <a:ext cx="9637251"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Funnel Sans"/>
                <a:ea typeface="+mn-ea"/>
                <a:cs typeface="+mn-cs"/>
              </a:rPr>
              <a:t>Sources: </a:t>
            </a:r>
            <a:r>
              <a:rPr kumimoji="0" lang="en-GB" sz="800" b="0" i="0" u="none" strike="noStrike" kern="1200" cap="none" spc="0" normalizeH="0" baseline="0" noProof="0">
                <a:ln>
                  <a:noFill/>
                </a:ln>
                <a:solidFill>
                  <a:srgbClr val="000000"/>
                </a:solidFill>
                <a:effectLst/>
                <a:uLnTx/>
                <a:uFillTx/>
                <a:latin typeface="Funnel Sans"/>
                <a:ea typeface="+mn-ea"/>
                <a:cs typeface="+mn-cs"/>
                <a:hlinkClick r:id="rId2"/>
              </a:rPr>
              <a:t>Human Protein Atlas</a:t>
            </a:r>
            <a:r>
              <a:rPr kumimoji="0" lang="en-GB" sz="800" b="0" i="0" u="none" strike="noStrike" kern="1200" cap="none" spc="0" normalizeH="0" baseline="0" noProof="0">
                <a:ln>
                  <a:noFill/>
                </a:ln>
                <a:solidFill>
                  <a:srgbClr val="000000"/>
                </a:solidFill>
                <a:effectLst/>
                <a:uLnTx/>
                <a:uFillTx/>
                <a:latin typeface="Funnel Sans"/>
                <a:ea typeface="+mn-ea"/>
                <a:cs typeface="+mn-cs"/>
              </a:rPr>
              <a:t>, </a:t>
            </a:r>
            <a:r>
              <a:rPr kumimoji="0" lang="en-US" sz="800" b="0" i="0" u="none" strike="noStrike" kern="1200" cap="none" spc="0" normalizeH="0" baseline="0" noProof="0" err="1">
                <a:ln>
                  <a:noFill/>
                </a:ln>
                <a:solidFill>
                  <a:srgbClr val="000000"/>
                </a:solidFill>
                <a:effectLst/>
                <a:uLnTx/>
                <a:uFillTx/>
                <a:latin typeface="Funnel Sans"/>
                <a:ea typeface="+mn-lt"/>
                <a:cs typeface="+mn-lt"/>
                <a:hlinkClick r:id="rId3"/>
              </a:rPr>
              <a:t>Vonniessen</a:t>
            </a:r>
            <a:r>
              <a:rPr kumimoji="0" lang="en-US" sz="800" b="0" i="0" u="none" strike="noStrike" kern="1200" cap="none" spc="0" normalizeH="0" baseline="0" noProof="0">
                <a:ln>
                  <a:noFill/>
                </a:ln>
                <a:solidFill>
                  <a:srgbClr val="000000"/>
                </a:solidFill>
                <a:effectLst/>
                <a:uLnTx/>
                <a:uFillTx/>
                <a:latin typeface="Funnel Sans"/>
                <a:ea typeface="+mn-lt"/>
                <a:cs typeface="+mn-lt"/>
                <a:hlinkClick r:id="rId3"/>
              </a:rPr>
              <a:t> Frontiers </a:t>
            </a:r>
            <a:r>
              <a:rPr kumimoji="0" lang="en-US" sz="800" b="0" i="0" u="none" strike="noStrike" kern="1200" cap="none" spc="0" normalizeH="0" baseline="0" noProof="0" err="1">
                <a:ln>
                  <a:noFill/>
                </a:ln>
                <a:solidFill>
                  <a:srgbClr val="000000"/>
                </a:solidFill>
                <a:effectLst/>
                <a:uLnTx/>
                <a:uFillTx/>
                <a:latin typeface="Funnel Sans"/>
                <a:ea typeface="+mn-lt"/>
                <a:cs typeface="+mn-lt"/>
                <a:hlinkClick r:id="rId3"/>
              </a:rPr>
              <a:t>Onc</a:t>
            </a:r>
            <a:r>
              <a:rPr kumimoji="0" lang="en-US" sz="800" b="0" i="0" u="none" strike="noStrike" kern="1200" cap="none" spc="0" normalizeH="0" baseline="0" noProof="0">
                <a:ln>
                  <a:noFill/>
                </a:ln>
                <a:solidFill>
                  <a:srgbClr val="000000"/>
                </a:solidFill>
                <a:effectLst/>
                <a:uLnTx/>
                <a:uFillTx/>
                <a:latin typeface="Funnel Sans"/>
                <a:ea typeface="+mn-lt"/>
                <a:cs typeface="+mn-lt"/>
                <a:hlinkClick r:id="rId3"/>
              </a:rPr>
              <a:t> 2024</a:t>
            </a:r>
            <a:endParaRPr kumimoji="0" lang="en-US" sz="800" b="0" i="0" u="sng" strike="noStrike" kern="1200" cap="none" spc="0" normalizeH="0" baseline="0" noProof="0">
              <a:ln>
                <a:noFill/>
              </a:ln>
              <a:solidFill>
                <a:srgbClr val="002924"/>
              </a:solidFill>
              <a:effectLst/>
              <a:uLnTx/>
              <a:uFillTx/>
              <a:latin typeface="Funnel Sans"/>
              <a:ea typeface="+mn-ea"/>
              <a:cs typeface="+mn-cs"/>
              <a:hlinkClick r:id="rId4"/>
            </a:endParaRPr>
          </a:p>
        </p:txBody>
      </p:sp>
      <p:sp>
        <p:nvSpPr>
          <p:cNvPr id="66" name="TextBox 65">
            <a:extLst>
              <a:ext uri="{FF2B5EF4-FFF2-40B4-BE49-F238E27FC236}">
                <a16:creationId xmlns:a16="http://schemas.microsoft.com/office/drawing/2014/main" id="{7F80B4BD-F745-FB45-8F98-C4BE5EC698D1}"/>
              </a:ext>
            </a:extLst>
          </p:cNvPr>
          <p:cNvSpPr txBox="1"/>
          <p:nvPr/>
        </p:nvSpPr>
        <p:spPr>
          <a:xfrm>
            <a:off x="8737047" y="3622716"/>
            <a:ext cx="1035845" cy="5993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Funnel Sans"/>
              <a:ea typeface="+mn-ea"/>
              <a:cs typeface="+mn-cs"/>
            </a:endParaRPr>
          </a:p>
        </p:txBody>
      </p:sp>
      <p:sp>
        <p:nvSpPr>
          <p:cNvPr id="70" name="TextBox 69">
            <a:extLst>
              <a:ext uri="{FF2B5EF4-FFF2-40B4-BE49-F238E27FC236}">
                <a16:creationId xmlns:a16="http://schemas.microsoft.com/office/drawing/2014/main" id="{2EA5818E-0454-1329-0191-820A1AE322A9}"/>
              </a:ext>
            </a:extLst>
          </p:cNvPr>
          <p:cNvSpPr txBox="1"/>
          <p:nvPr/>
        </p:nvSpPr>
        <p:spPr>
          <a:xfrm>
            <a:off x="7243010" y="4915521"/>
            <a:ext cx="4524957" cy="529002"/>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No CLDN1 RLT in development, to our knowledge</a:t>
            </a:r>
          </a:p>
        </p:txBody>
      </p:sp>
      <p:sp>
        <p:nvSpPr>
          <p:cNvPr id="14" name="TextBox 13">
            <a:extLst>
              <a:ext uri="{FF2B5EF4-FFF2-40B4-BE49-F238E27FC236}">
                <a16:creationId xmlns:a16="http://schemas.microsoft.com/office/drawing/2014/main" id="{4E788EE5-215D-B0C4-6EE1-9D4854F734BC}"/>
              </a:ext>
            </a:extLst>
          </p:cNvPr>
          <p:cNvSpPr txBox="1"/>
          <p:nvPr/>
        </p:nvSpPr>
        <p:spPr>
          <a:xfrm>
            <a:off x="327504" y="2463261"/>
            <a:ext cx="356465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Funnel Sans Medium" pitchFamily="2" charset="0"/>
                <a:ea typeface="+mn-ea"/>
                <a:cs typeface="+mn-cs"/>
              </a:rPr>
              <a:t>Normal Tissues</a:t>
            </a:r>
            <a:r>
              <a:rPr kumimoji="0" lang="en-US" sz="1200" b="0" i="0" u="none" strike="noStrike" kern="1200" cap="none" spc="0" normalizeH="0" baseline="0" noProof="0">
                <a:ln>
                  <a:noFill/>
                </a:ln>
                <a:solidFill>
                  <a:srgbClr val="000000"/>
                </a:solidFill>
                <a:effectLst/>
                <a:uLnTx/>
                <a:uFillTx/>
                <a:latin typeface="Funnel Sans Medium" pitchFamily="2" charset="0"/>
                <a:ea typeface="+mn-ea"/>
                <a:cs typeface="+mn-cs"/>
              </a:rPr>
              <a:t>: </a:t>
            </a:r>
            <a:r>
              <a:rPr kumimoji="0" lang="en-US" sz="1200" b="0" i="0" u="none" strike="noStrike" kern="1200" cap="none" spc="0" normalizeH="0" baseline="0" noProof="0">
                <a:ln>
                  <a:noFill/>
                </a:ln>
                <a:solidFill>
                  <a:srgbClr val="000000"/>
                </a:solidFill>
                <a:effectLst/>
                <a:uLnTx/>
                <a:uFillTx/>
                <a:latin typeface="Funnel Sans Light"/>
                <a:ea typeface="+mn-ea"/>
                <a:cs typeface="+mn-cs"/>
              </a:rPr>
              <a:t>Occupied in tight junctions</a:t>
            </a:r>
          </a:p>
        </p:txBody>
      </p:sp>
      <p:sp>
        <p:nvSpPr>
          <p:cNvPr id="15" name="TextBox 14">
            <a:extLst>
              <a:ext uri="{FF2B5EF4-FFF2-40B4-BE49-F238E27FC236}">
                <a16:creationId xmlns:a16="http://schemas.microsoft.com/office/drawing/2014/main" id="{EB241908-C2AC-2BC1-1017-180ECBCD32FE}"/>
              </a:ext>
            </a:extLst>
          </p:cNvPr>
          <p:cNvSpPr txBox="1"/>
          <p:nvPr/>
        </p:nvSpPr>
        <p:spPr>
          <a:xfrm>
            <a:off x="327504" y="4584401"/>
            <a:ext cx="367432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Funnel Sans Medium" pitchFamily="2" charset="0"/>
                <a:ea typeface="+mn-ea"/>
                <a:cs typeface="+mn-cs"/>
              </a:rPr>
              <a:t>Tumors</a:t>
            </a:r>
            <a:r>
              <a:rPr kumimoji="0" lang="en-US" sz="1200" b="0" i="0" u="none" strike="noStrike" kern="1200" cap="none" spc="0" normalizeH="0" baseline="0" noProof="0">
                <a:ln>
                  <a:noFill/>
                </a:ln>
                <a:solidFill>
                  <a:srgbClr val="000000"/>
                </a:solidFill>
                <a:effectLst/>
                <a:uLnTx/>
                <a:uFillTx/>
                <a:latin typeface="Funnel Sans Medium" pitchFamily="2" charset="0"/>
                <a:ea typeface="+mn-ea"/>
                <a:cs typeface="+mn-cs"/>
              </a:rPr>
              <a:t>: </a:t>
            </a:r>
            <a:r>
              <a:rPr kumimoji="0" lang="en-US" sz="1200" b="0" i="0" u="none" strike="noStrike" kern="1200" cap="none" spc="0" normalizeH="0" baseline="0" noProof="0">
                <a:ln>
                  <a:noFill/>
                </a:ln>
                <a:solidFill>
                  <a:srgbClr val="000000"/>
                </a:solidFill>
                <a:effectLst/>
                <a:uLnTx/>
                <a:uFillTx/>
                <a:latin typeface="Funnel Sans Light"/>
                <a:ea typeface="+mn-ea"/>
                <a:cs typeface="+mn-cs"/>
              </a:rPr>
              <a:t>Diffuse expression, blood</a:t>
            </a:r>
          </a:p>
        </p:txBody>
      </p:sp>
      <p:cxnSp>
        <p:nvCxnSpPr>
          <p:cNvPr id="22" name="Straight Connector 21">
            <a:extLst>
              <a:ext uri="{FF2B5EF4-FFF2-40B4-BE49-F238E27FC236}">
                <a16:creationId xmlns:a16="http://schemas.microsoft.com/office/drawing/2014/main" id="{8FF5CDF8-DD5F-C7DE-759B-042D4EDEC846}"/>
              </a:ext>
            </a:extLst>
          </p:cNvPr>
          <p:cNvCxnSpPr>
            <a:cxnSpLocks/>
          </p:cNvCxnSpPr>
          <p:nvPr/>
        </p:nvCxnSpPr>
        <p:spPr>
          <a:xfrm>
            <a:off x="398176" y="2765479"/>
            <a:ext cx="6126480" cy="0"/>
          </a:xfrm>
          <a:prstGeom prst="line">
            <a:avLst/>
          </a:prstGeom>
          <a:ln w="317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ABC420B4-F848-E062-3663-C4B3DDF83A97}"/>
              </a:ext>
            </a:extLst>
          </p:cNvPr>
          <p:cNvCxnSpPr>
            <a:cxnSpLocks/>
          </p:cNvCxnSpPr>
          <p:nvPr/>
        </p:nvCxnSpPr>
        <p:spPr>
          <a:xfrm>
            <a:off x="398176" y="4878387"/>
            <a:ext cx="6126480" cy="0"/>
          </a:xfrm>
          <a:prstGeom prst="line">
            <a:avLst/>
          </a:prstGeom>
          <a:ln w="3175">
            <a:solidFill>
              <a:schemeClr val="tx2"/>
            </a:solidFill>
          </a:ln>
        </p:spPr>
        <p:style>
          <a:lnRef idx="2">
            <a:schemeClr val="accent1"/>
          </a:lnRef>
          <a:fillRef idx="0">
            <a:schemeClr val="accent1"/>
          </a:fillRef>
          <a:effectRef idx="1">
            <a:schemeClr val="accent1"/>
          </a:effectRef>
          <a:fontRef idx="minor">
            <a:schemeClr val="tx1"/>
          </a:fontRef>
        </p:style>
      </p:cxnSp>
      <p:grpSp>
        <p:nvGrpSpPr>
          <p:cNvPr id="61" name="Group 60">
            <a:extLst>
              <a:ext uri="{FF2B5EF4-FFF2-40B4-BE49-F238E27FC236}">
                <a16:creationId xmlns:a16="http://schemas.microsoft.com/office/drawing/2014/main" id="{0FAC00A2-FFA0-21B4-CEAD-8114B8D0F1EC}"/>
              </a:ext>
            </a:extLst>
          </p:cNvPr>
          <p:cNvGrpSpPr/>
          <p:nvPr/>
        </p:nvGrpSpPr>
        <p:grpSpPr>
          <a:xfrm>
            <a:off x="648110" y="2922397"/>
            <a:ext cx="5710391" cy="1360038"/>
            <a:chOff x="2735111" y="2135040"/>
            <a:chExt cx="6947652" cy="1654715"/>
          </a:xfrm>
        </p:grpSpPr>
        <p:grpSp>
          <p:nvGrpSpPr>
            <p:cNvPr id="16" name="Group 15">
              <a:extLst>
                <a:ext uri="{FF2B5EF4-FFF2-40B4-BE49-F238E27FC236}">
                  <a16:creationId xmlns:a16="http://schemas.microsoft.com/office/drawing/2014/main" id="{DB23158A-718D-833C-8902-2E558BF620CE}"/>
                </a:ext>
              </a:extLst>
            </p:cNvPr>
            <p:cNvGrpSpPr/>
            <p:nvPr/>
          </p:nvGrpSpPr>
          <p:grpSpPr>
            <a:xfrm>
              <a:off x="8548632" y="2135040"/>
              <a:ext cx="1134131" cy="1593921"/>
              <a:chOff x="8548632" y="2039343"/>
              <a:chExt cx="1134131" cy="1593921"/>
            </a:xfrm>
          </p:grpSpPr>
          <p:pic>
            <p:nvPicPr>
              <p:cNvPr id="17" name="Picture 16" descr="A collage of images of a cell&#10;&#10;AI-generated content may be incorrect.">
                <a:extLst>
                  <a:ext uri="{FF2B5EF4-FFF2-40B4-BE49-F238E27FC236}">
                    <a16:creationId xmlns:a16="http://schemas.microsoft.com/office/drawing/2014/main" id="{D4C7B857-9705-84D8-8366-88A5F1AE2F00}"/>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rcRect l="-45" t="3110" r="54040" b="50773"/>
              <a:stretch>
                <a:fillRect/>
              </a:stretch>
            </p:blipFill>
            <p:spPr>
              <a:xfrm>
                <a:off x="8548632" y="2460369"/>
                <a:ext cx="1134131" cy="1172895"/>
              </a:xfrm>
              <a:prstGeom prst="rect">
                <a:avLst/>
              </a:prstGeom>
            </p:spPr>
          </p:pic>
          <p:sp>
            <p:nvSpPr>
              <p:cNvPr id="18" name="TextBox 20">
                <a:extLst>
                  <a:ext uri="{FF2B5EF4-FFF2-40B4-BE49-F238E27FC236}">
                    <a16:creationId xmlns:a16="http://schemas.microsoft.com/office/drawing/2014/main" id="{0523E714-A3FC-2EB8-C84D-12D8C1ADBB36}"/>
                  </a:ext>
                </a:extLst>
              </p:cNvPr>
              <p:cNvSpPr txBox="1"/>
              <p:nvPr/>
            </p:nvSpPr>
            <p:spPr>
              <a:xfrm>
                <a:off x="8687203" y="2039343"/>
                <a:ext cx="856989"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Funnel Sans"/>
                    <a:cs typeface="+mn-cs"/>
                  </a:rPr>
                  <a:t>Kidney</a:t>
                </a:r>
                <a:endParaRPr kumimoji="0" lang="en-US" sz="12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24" name="Group 23">
              <a:extLst>
                <a:ext uri="{FF2B5EF4-FFF2-40B4-BE49-F238E27FC236}">
                  <a16:creationId xmlns:a16="http://schemas.microsoft.com/office/drawing/2014/main" id="{E002C5C4-3F79-00AA-8E14-737FFCEB7A92}"/>
                </a:ext>
              </a:extLst>
            </p:cNvPr>
            <p:cNvGrpSpPr/>
            <p:nvPr/>
          </p:nvGrpSpPr>
          <p:grpSpPr>
            <a:xfrm>
              <a:off x="5667714" y="2135040"/>
              <a:ext cx="1228356" cy="1640548"/>
              <a:chOff x="5668702" y="2039343"/>
              <a:chExt cx="1228356" cy="1640548"/>
            </a:xfrm>
          </p:grpSpPr>
          <p:pic>
            <p:nvPicPr>
              <p:cNvPr id="30" name="Picture 29" descr="A screenshot of a cell phone&#10;&#10;AI-generated content may be incorrect.">
                <a:extLst>
                  <a:ext uri="{FF2B5EF4-FFF2-40B4-BE49-F238E27FC236}">
                    <a16:creationId xmlns:a16="http://schemas.microsoft.com/office/drawing/2014/main" id="{0870BCFF-5DA1-01D3-37D5-696705C200CE}"/>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imgEffect>
                        <a14:imgEffect>
                          <a14:brightnessContrast bright="6000"/>
                        </a14:imgEffect>
                      </a14:imgLayer>
                    </a14:imgProps>
                  </a:ext>
                </a:extLst>
              </a:blip>
              <a:srcRect l="27367" t="15301" r="38469" b="47615"/>
              <a:stretch>
                <a:fillRect/>
              </a:stretch>
            </p:blipFill>
            <p:spPr>
              <a:xfrm>
                <a:off x="5668702" y="2413741"/>
                <a:ext cx="1228356" cy="1266150"/>
              </a:xfrm>
              <a:prstGeom prst="rect">
                <a:avLst/>
              </a:prstGeom>
            </p:spPr>
          </p:pic>
          <p:sp>
            <p:nvSpPr>
              <p:cNvPr id="42" name="TextBox 24">
                <a:extLst>
                  <a:ext uri="{FF2B5EF4-FFF2-40B4-BE49-F238E27FC236}">
                    <a16:creationId xmlns:a16="http://schemas.microsoft.com/office/drawing/2014/main" id="{27D49385-DB8D-9E7F-0BFA-F46FFAB1AD7E}"/>
                  </a:ext>
                </a:extLst>
              </p:cNvPr>
              <p:cNvSpPr txBox="1"/>
              <p:nvPr/>
            </p:nvSpPr>
            <p:spPr>
              <a:xfrm>
                <a:off x="5830951" y="2039343"/>
                <a:ext cx="751869"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Funnel Sans"/>
                    <a:cs typeface="+mn-cs"/>
                  </a:rPr>
                  <a:t>Liver</a:t>
                </a:r>
                <a:endParaRPr kumimoji="0" lang="en-US" sz="12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43" name="Group 42">
              <a:extLst>
                <a:ext uri="{FF2B5EF4-FFF2-40B4-BE49-F238E27FC236}">
                  <a16:creationId xmlns:a16="http://schemas.microsoft.com/office/drawing/2014/main" id="{4B828750-8167-D5F4-B75F-650BC9CEE45E}"/>
                </a:ext>
              </a:extLst>
            </p:cNvPr>
            <p:cNvGrpSpPr/>
            <p:nvPr/>
          </p:nvGrpSpPr>
          <p:grpSpPr>
            <a:xfrm>
              <a:off x="7105297" y="2135040"/>
              <a:ext cx="1234109" cy="1636031"/>
              <a:chOff x="7103301" y="2039343"/>
              <a:chExt cx="1234109" cy="1636031"/>
            </a:xfrm>
          </p:grpSpPr>
          <p:pic>
            <p:nvPicPr>
              <p:cNvPr id="46" name="Picture 45" descr="A close up of a cell&#10;&#10;AI-generated content may be incorrect.">
                <a:extLst>
                  <a:ext uri="{FF2B5EF4-FFF2-40B4-BE49-F238E27FC236}">
                    <a16:creationId xmlns:a16="http://schemas.microsoft.com/office/drawing/2014/main" id="{6E92D605-AEB8-FB8C-251E-159A6ECB5FCF}"/>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imgEffect>
                      </a14:imgLayer>
                    </a14:imgProps>
                  </a:ext>
                </a:extLst>
              </a:blip>
              <a:stretch>
                <a:fillRect/>
              </a:stretch>
            </p:blipFill>
            <p:spPr>
              <a:xfrm>
                <a:off x="7103301" y="2418259"/>
                <a:ext cx="1234109" cy="1257115"/>
              </a:xfrm>
              <a:prstGeom prst="rect">
                <a:avLst/>
              </a:prstGeom>
            </p:spPr>
          </p:pic>
          <p:sp>
            <p:nvSpPr>
              <p:cNvPr id="51" name="TextBox 28">
                <a:extLst>
                  <a:ext uri="{FF2B5EF4-FFF2-40B4-BE49-F238E27FC236}">
                    <a16:creationId xmlns:a16="http://schemas.microsoft.com/office/drawing/2014/main" id="{74BBADA9-9A84-2F27-564C-6B405CE22B0C}"/>
                  </a:ext>
                </a:extLst>
              </p:cNvPr>
              <p:cNvSpPr txBox="1"/>
              <p:nvPr/>
            </p:nvSpPr>
            <p:spPr>
              <a:xfrm>
                <a:off x="7197317" y="2039343"/>
                <a:ext cx="1046077"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Bladder</a:t>
                </a:r>
              </a:p>
            </p:txBody>
          </p:sp>
        </p:grpSp>
        <p:grpSp>
          <p:nvGrpSpPr>
            <p:cNvPr id="52" name="Group 51">
              <a:extLst>
                <a:ext uri="{FF2B5EF4-FFF2-40B4-BE49-F238E27FC236}">
                  <a16:creationId xmlns:a16="http://schemas.microsoft.com/office/drawing/2014/main" id="{C47FCDF4-FC49-5039-E738-77DB81FEBDAB}"/>
                </a:ext>
              </a:extLst>
            </p:cNvPr>
            <p:cNvGrpSpPr/>
            <p:nvPr/>
          </p:nvGrpSpPr>
          <p:grpSpPr>
            <a:xfrm>
              <a:off x="2735111" y="2135040"/>
              <a:ext cx="1259574" cy="1654715"/>
              <a:chOff x="2735111" y="2039343"/>
              <a:chExt cx="1259574" cy="1654715"/>
            </a:xfrm>
          </p:grpSpPr>
          <p:sp>
            <p:nvSpPr>
              <p:cNvPr id="54" name="TextBox 23">
                <a:extLst>
                  <a:ext uri="{FF2B5EF4-FFF2-40B4-BE49-F238E27FC236}">
                    <a16:creationId xmlns:a16="http://schemas.microsoft.com/office/drawing/2014/main" id="{880B2479-A576-3711-CE1F-374918171368}"/>
                  </a:ext>
                </a:extLst>
              </p:cNvPr>
              <p:cNvSpPr txBox="1"/>
              <p:nvPr/>
            </p:nvSpPr>
            <p:spPr>
              <a:xfrm>
                <a:off x="3033138" y="2039343"/>
                <a:ext cx="663521"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Funnel Sans"/>
                    <a:cs typeface="+mn-cs"/>
                  </a:rPr>
                  <a:t>Skin</a:t>
                </a:r>
                <a:endParaRPr kumimoji="0" lang="en-US" sz="1200" b="0" i="0" u="none" strike="noStrike" kern="1200" cap="none" spc="0" normalizeH="0" baseline="0" noProof="0">
                  <a:ln>
                    <a:noFill/>
                  </a:ln>
                  <a:solidFill>
                    <a:srgbClr val="000000"/>
                  </a:solidFill>
                  <a:effectLst/>
                  <a:uLnTx/>
                  <a:uFillTx/>
                  <a:latin typeface="Funnel Sans"/>
                  <a:ea typeface="+mn-ea"/>
                  <a:cs typeface="+mn-cs"/>
                </a:endParaRPr>
              </a:p>
            </p:txBody>
          </p:sp>
          <p:pic>
            <p:nvPicPr>
              <p:cNvPr id="55" name="Picture 54">
                <a:extLst>
                  <a:ext uri="{FF2B5EF4-FFF2-40B4-BE49-F238E27FC236}">
                    <a16:creationId xmlns:a16="http://schemas.microsoft.com/office/drawing/2014/main" id="{30E5973D-0AAC-7C77-7A69-F5F37AE8A688}"/>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10000" b="90000" l="10000" r="90000"/>
                        </a14:imgEffect>
                      </a14:imgLayer>
                    </a14:imgProps>
                  </a:ext>
                </a:extLst>
              </a:blip>
              <a:stretch>
                <a:fillRect/>
              </a:stretch>
            </p:blipFill>
            <p:spPr>
              <a:xfrm>
                <a:off x="2735111" y="2399574"/>
                <a:ext cx="1259574" cy="1294484"/>
              </a:xfrm>
              <a:prstGeom prst="rect">
                <a:avLst/>
              </a:prstGeom>
            </p:spPr>
          </p:pic>
        </p:grpSp>
        <p:grpSp>
          <p:nvGrpSpPr>
            <p:cNvPr id="56" name="Group 55">
              <a:extLst>
                <a:ext uri="{FF2B5EF4-FFF2-40B4-BE49-F238E27FC236}">
                  <a16:creationId xmlns:a16="http://schemas.microsoft.com/office/drawing/2014/main" id="{4C5E099E-C918-2F07-27CB-A4C0A2A82DD7}"/>
                </a:ext>
              </a:extLst>
            </p:cNvPr>
            <p:cNvGrpSpPr/>
            <p:nvPr/>
          </p:nvGrpSpPr>
          <p:grpSpPr>
            <a:xfrm>
              <a:off x="4203912" y="2135040"/>
              <a:ext cx="1254576" cy="1588328"/>
              <a:chOff x="4197725" y="2039343"/>
              <a:chExt cx="1254576" cy="1588328"/>
            </a:xfrm>
          </p:grpSpPr>
          <p:sp>
            <p:nvSpPr>
              <p:cNvPr id="57" name="TextBox 20">
                <a:extLst>
                  <a:ext uri="{FF2B5EF4-FFF2-40B4-BE49-F238E27FC236}">
                    <a16:creationId xmlns:a16="http://schemas.microsoft.com/office/drawing/2014/main" id="{D31C2310-E5D9-DD8F-F016-DAFCF68D9F0A}"/>
                  </a:ext>
                </a:extLst>
              </p:cNvPr>
              <p:cNvSpPr txBox="1"/>
              <p:nvPr/>
            </p:nvSpPr>
            <p:spPr>
              <a:xfrm>
                <a:off x="4272400" y="2039343"/>
                <a:ext cx="1105227"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Funnel Sans"/>
                    <a:cs typeface="+mn-cs"/>
                  </a:rPr>
                  <a:t>Bronchus</a:t>
                </a:r>
                <a:endParaRPr kumimoji="0" lang="en-US" sz="1200" b="0" i="0" u="none" strike="noStrike" kern="1200" cap="none" spc="0" normalizeH="0" baseline="0" noProof="0">
                  <a:ln>
                    <a:noFill/>
                  </a:ln>
                  <a:solidFill>
                    <a:srgbClr val="000000"/>
                  </a:solidFill>
                  <a:effectLst/>
                  <a:uLnTx/>
                  <a:uFillTx/>
                  <a:latin typeface="Funnel Sans"/>
                  <a:ea typeface="+mn-ea"/>
                  <a:cs typeface="+mn-cs"/>
                </a:endParaRPr>
              </a:p>
            </p:txBody>
          </p:sp>
          <p:pic>
            <p:nvPicPr>
              <p:cNvPr id="58" name="Picture 57" descr="A close-up of a cross section of a human tissue&#10;&#10;AI-generated content may be incorrect.">
                <a:extLst>
                  <a:ext uri="{FF2B5EF4-FFF2-40B4-BE49-F238E27FC236}">
                    <a16:creationId xmlns:a16="http://schemas.microsoft.com/office/drawing/2014/main" id="{BB7C544D-59BE-DB67-A19E-9BA2FA788CE9}"/>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4197725" y="2465962"/>
                <a:ext cx="1254576" cy="1161709"/>
              </a:xfrm>
              <a:prstGeom prst="rect">
                <a:avLst/>
              </a:prstGeom>
            </p:spPr>
          </p:pic>
        </p:grpSp>
      </p:grpSp>
      <p:grpSp>
        <p:nvGrpSpPr>
          <p:cNvPr id="64" name="Group 63">
            <a:extLst>
              <a:ext uri="{FF2B5EF4-FFF2-40B4-BE49-F238E27FC236}">
                <a16:creationId xmlns:a16="http://schemas.microsoft.com/office/drawing/2014/main" id="{0A98A684-D9F4-5000-D557-6C2B80130F3B}"/>
              </a:ext>
            </a:extLst>
          </p:cNvPr>
          <p:cNvGrpSpPr/>
          <p:nvPr/>
        </p:nvGrpSpPr>
        <p:grpSpPr>
          <a:xfrm>
            <a:off x="5096684" y="5066291"/>
            <a:ext cx="1100915" cy="1321465"/>
            <a:chOff x="7890734" y="4333046"/>
            <a:chExt cx="1625964" cy="1951699"/>
          </a:xfrm>
        </p:grpSpPr>
        <p:sp>
          <p:nvSpPr>
            <p:cNvPr id="65" name="TextBox 64">
              <a:extLst>
                <a:ext uri="{FF2B5EF4-FFF2-40B4-BE49-F238E27FC236}">
                  <a16:creationId xmlns:a16="http://schemas.microsoft.com/office/drawing/2014/main" id="{275E32B6-B12E-BAFC-136C-B07EB47A1DB8}"/>
                </a:ext>
              </a:extLst>
            </p:cNvPr>
            <p:cNvSpPr txBox="1"/>
            <p:nvPr/>
          </p:nvSpPr>
          <p:spPr>
            <a:xfrm>
              <a:off x="7975546" y="4333046"/>
              <a:ext cx="1456341" cy="40910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Colorectal</a:t>
              </a:r>
            </a:p>
          </p:txBody>
        </p:sp>
        <p:pic>
          <p:nvPicPr>
            <p:cNvPr id="67" name="Picture 66" descr="A close up of a cell&#10;&#10;AI-generated content may be incorrect.">
              <a:extLst>
                <a:ext uri="{FF2B5EF4-FFF2-40B4-BE49-F238E27FC236}">
                  <a16:creationId xmlns:a16="http://schemas.microsoft.com/office/drawing/2014/main" id="{A40F919D-3CB0-C215-2C26-CAE007A64DB8}"/>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10000" b="90000" l="10000" r="90000"/>
                      </a14:imgEffect>
                    </a14:imgLayer>
                  </a14:imgProps>
                </a:ext>
              </a:extLst>
            </a:blip>
            <a:stretch>
              <a:fillRect/>
            </a:stretch>
          </p:blipFill>
          <p:spPr>
            <a:xfrm>
              <a:off x="7890734" y="4613798"/>
              <a:ext cx="1625964" cy="1670947"/>
            </a:xfrm>
            <a:prstGeom prst="rect">
              <a:avLst/>
            </a:prstGeom>
          </p:spPr>
        </p:pic>
      </p:grpSp>
      <p:grpSp>
        <p:nvGrpSpPr>
          <p:cNvPr id="68" name="Group 67">
            <a:extLst>
              <a:ext uri="{FF2B5EF4-FFF2-40B4-BE49-F238E27FC236}">
                <a16:creationId xmlns:a16="http://schemas.microsoft.com/office/drawing/2014/main" id="{9DA82A50-D88D-9415-AEF9-826AD49BA768}"/>
              </a:ext>
            </a:extLst>
          </p:cNvPr>
          <p:cNvGrpSpPr/>
          <p:nvPr/>
        </p:nvGrpSpPr>
        <p:grpSpPr>
          <a:xfrm>
            <a:off x="2247869" y="5054919"/>
            <a:ext cx="1103177" cy="1340423"/>
            <a:chOff x="4532933" y="4316250"/>
            <a:chExt cx="1629305" cy="1979699"/>
          </a:xfrm>
        </p:grpSpPr>
        <p:pic>
          <p:nvPicPr>
            <p:cNvPr id="69" name="Picture 68" descr="A close up of a circular object&#10;&#10;AI-generated content may be incorrect.">
              <a:extLst>
                <a:ext uri="{FF2B5EF4-FFF2-40B4-BE49-F238E27FC236}">
                  <a16:creationId xmlns:a16="http://schemas.microsoft.com/office/drawing/2014/main" id="{467405F1-EF21-D946-4F17-F68749B87C96}"/>
                </a:ext>
              </a:extLst>
            </p:cNvPr>
            <p:cNvPicPr>
              <a:picLocks noChangeAspect="1"/>
            </p:cNvPicPr>
            <p:nvPr/>
          </p:nvPicPr>
          <p:blipFill>
            <a:blip r:embed="rId17">
              <a:extLst>
                <a:ext uri="{BEBA8EAE-BF5A-486C-A8C5-ECC9F3942E4B}">
                  <a14:imgProps xmlns:a14="http://schemas.microsoft.com/office/drawing/2010/main">
                    <a14:imgLayer r:embed="rId18">
                      <a14:imgEffect>
                        <a14:backgroundRemoval t="10000" b="90000" l="10000" r="90000"/>
                      </a14:imgEffect>
                    </a14:imgLayer>
                  </a14:imgProps>
                </a:ext>
              </a:extLst>
            </a:blip>
            <a:stretch>
              <a:fillRect/>
            </a:stretch>
          </p:blipFill>
          <p:spPr>
            <a:xfrm>
              <a:off x="4532933" y="4613798"/>
              <a:ext cx="1629305" cy="1682151"/>
            </a:xfrm>
            <a:prstGeom prst="rect">
              <a:avLst/>
            </a:prstGeom>
          </p:spPr>
        </p:pic>
        <p:sp>
          <p:nvSpPr>
            <p:cNvPr id="71" name="TextBox 70">
              <a:extLst>
                <a:ext uri="{FF2B5EF4-FFF2-40B4-BE49-F238E27FC236}">
                  <a16:creationId xmlns:a16="http://schemas.microsoft.com/office/drawing/2014/main" id="{9E4B7300-D22D-38F1-5DBD-FC152CBBF4DC}"/>
                </a:ext>
              </a:extLst>
            </p:cNvPr>
            <p:cNvSpPr txBox="1"/>
            <p:nvPr/>
          </p:nvSpPr>
          <p:spPr>
            <a:xfrm>
              <a:off x="4546032" y="4316250"/>
              <a:ext cx="1603106" cy="409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Cervical Sq</a:t>
              </a:r>
            </a:p>
          </p:txBody>
        </p:sp>
      </p:grpSp>
      <p:grpSp>
        <p:nvGrpSpPr>
          <p:cNvPr id="72" name="Group 71">
            <a:extLst>
              <a:ext uri="{FF2B5EF4-FFF2-40B4-BE49-F238E27FC236}">
                <a16:creationId xmlns:a16="http://schemas.microsoft.com/office/drawing/2014/main" id="{9DB7E539-2A07-C2A6-118A-D53BD366B9E6}"/>
              </a:ext>
            </a:extLst>
          </p:cNvPr>
          <p:cNvGrpSpPr/>
          <p:nvPr/>
        </p:nvGrpSpPr>
        <p:grpSpPr>
          <a:xfrm>
            <a:off x="699139" y="5054917"/>
            <a:ext cx="1349423" cy="1336788"/>
            <a:chOff x="2483765" y="4316252"/>
            <a:chExt cx="1992991" cy="1974332"/>
          </a:xfrm>
        </p:grpSpPr>
        <p:sp>
          <p:nvSpPr>
            <p:cNvPr id="73" name="TextBox 72">
              <a:extLst>
                <a:ext uri="{FF2B5EF4-FFF2-40B4-BE49-F238E27FC236}">
                  <a16:creationId xmlns:a16="http://schemas.microsoft.com/office/drawing/2014/main" id="{6334FE52-FC93-9E48-A291-6243FE6C7819}"/>
                </a:ext>
              </a:extLst>
            </p:cNvPr>
            <p:cNvSpPr txBox="1"/>
            <p:nvPr/>
          </p:nvSpPr>
          <p:spPr>
            <a:xfrm>
              <a:off x="2905417" y="4316252"/>
              <a:ext cx="1141311" cy="409106"/>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Lung Sq </a:t>
              </a:r>
            </a:p>
          </p:txBody>
        </p:sp>
        <p:pic>
          <p:nvPicPr>
            <p:cNvPr id="74" name="Picture 73" descr="A circular object with a white background&#10;&#10;AI-generated content may be incorrect.">
              <a:extLst>
                <a:ext uri="{FF2B5EF4-FFF2-40B4-BE49-F238E27FC236}">
                  <a16:creationId xmlns:a16="http://schemas.microsoft.com/office/drawing/2014/main" id="{DB8D8AF5-497A-6FCE-0A58-29EDA70BC8B1}"/>
                </a:ext>
              </a:extLst>
            </p:cNvPr>
            <p:cNvPicPr>
              <a:picLocks noChangeAspect="1"/>
            </p:cNvPicPr>
            <p:nvPr/>
          </p:nvPicPr>
          <p:blipFill>
            <a:blip r:embed="rId19">
              <a:extLst>
                <a:ext uri="{BEBA8EAE-BF5A-486C-A8C5-ECC9F3942E4B}">
                  <a14:imgProps xmlns:a14="http://schemas.microsoft.com/office/drawing/2010/main">
                    <a14:imgLayer r:embed="rId20">
                      <a14:imgEffect>
                        <a14:backgroundRemoval t="10000" b="90000" l="10000" r="90000"/>
                      </a14:imgEffect>
                    </a14:imgLayer>
                  </a14:imgProps>
                </a:ext>
              </a:extLst>
            </a:blip>
            <a:stretch>
              <a:fillRect/>
            </a:stretch>
          </p:blipFill>
          <p:spPr>
            <a:xfrm>
              <a:off x="2483765" y="4608431"/>
              <a:ext cx="1992991" cy="1682153"/>
            </a:xfrm>
            <a:prstGeom prst="rect">
              <a:avLst/>
            </a:prstGeom>
          </p:spPr>
        </p:pic>
      </p:grpSp>
      <p:grpSp>
        <p:nvGrpSpPr>
          <p:cNvPr id="75" name="Group 74">
            <a:extLst>
              <a:ext uri="{FF2B5EF4-FFF2-40B4-BE49-F238E27FC236}">
                <a16:creationId xmlns:a16="http://schemas.microsoft.com/office/drawing/2014/main" id="{73EF739F-606B-0759-8F1D-69CFFF122028}"/>
              </a:ext>
            </a:extLst>
          </p:cNvPr>
          <p:cNvGrpSpPr/>
          <p:nvPr/>
        </p:nvGrpSpPr>
        <p:grpSpPr>
          <a:xfrm>
            <a:off x="3550356" y="5066291"/>
            <a:ext cx="1488904" cy="1325417"/>
            <a:chOff x="6066552" y="4333047"/>
            <a:chExt cx="2198991" cy="1957536"/>
          </a:xfrm>
        </p:grpSpPr>
        <p:pic>
          <p:nvPicPr>
            <p:cNvPr id="76" name="Picture 75" descr="A circular object with a swirl of brown and white paint&#10;&#10;AI-generated content may be incorrect.">
              <a:extLst>
                <a:ext uri="{FF2B5EF4-FFF2-40B4-BE49-F238E27FC236}">
                  <a16:creationId xmlns:a16="http://schemas.microsoft.com/office/drawing/2014/main" id="{85D7BF3A-A010-2235-BA7B-936CD960DF36}"/>
                </a:ext>
              </a:extLst>
            </p:cNvPr>
            <p:cNvPicPr>
              <a:picLocks noChangeAspect="1"/>
            </p:cNvPicPr>
            <p:nvPr/>
          </p:nvPicPr>
          <p:blipFill>
            <a:blip r:embed="rId21">
              <a:extLst>
                <a:ext uri="{BEBA8EAE-BF5A-486C-A8C5-ECC9F3942E4B}">
                  <a14:imgProps xmlns:a14="http://schemas.microsoft.com/office/drawing/2010/main">
                    <a14:imgLayer r:embed="rId22">
                      <a14:imgEffect>
                        <a14:backgroundRemoval t="10000" b="90000" l="10000" r="90000"/>
                      </a14:imgEffect>
                    </a14:imgLayer>
                  </a14:imgProps>
                </a:ext>
              </a:extLst>
            </a:blip>
            <a:stretch>
              <a:fillRect/>
            </a:stretch>
          </p:blipFill>
          <p:spPr>
            <a:xfrm>
              <a:off x="6247673" y="4608431"/>
              <a:ext cx="1627205" cy="1682152"/>
            </a:xfrm>
            <a:prstGeom prst="rect">
              <a:avLst/>
            </a:prstGeom>
          </p:spPr>
        </p:pic>
        <p:sp>
          <p:nvSpPr>
            <p:cNvPr id="77" name="TextBox 76">
              <a:extLst>
                <a:ext uri="{FF2B5EF4-FFF2-40B4-BE49-F238E27FC236}">
                  <a16:creationId xmlns:a16="http://schemas.microsoft.com/office/drawing/2014/main" id="{F5E3F062-2821-1963-0EA6-E21D78F9EBD7}"/>
                </a:ext>
              </a:extLst>
            </p:cNvPr>
            <p:cNvSpPr txBox="1"/>
            <p:nvPr/>
          </p:nvSpPr>
          <p:spPr>
            <a:xfrm>
              <a:off x="6066552" y="4333047"/>
              <a:ext cx="2198991" cy="409101"/>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Head &amp; Neck Sq</a:t>
              </a:r>
            </a:p>
          </p:txBody>
        </p:sp>
      </p:grpSp>
      <p:grpSp>
        <p:nvGrpSpPr>
          <p:cNvPr id="79" name="Group 78">
            <a:extLst>
              <a:ext uri="{FF2B5EF4-FFF2-40B4-BE49-F238E27FC236}">
                <a16:creationId xmlns:a16="http://schemas.microsoft.com/office/drawing/2014/main" id="{96CD40C6-CFA6-5BE2-63BF-EA57D7DD7858}"/>
              </a:ext>
            </a:extLst>
          </p:cNvPr>
          <p:cNvGrpSpPr/>
          <p:nvPr/>
        </p:nvGrpSpPr>
        <p:grpSpPr>
          <a:xfrm>
            <a:off x="10394122" y="2817226"/>
            <a:ext cx="1373845" cy="1055438"/>
            <a:chOff x="1599176" y="4141106"/>
            <a:chExt cx="3189640" cy="2473030"/>
          </a:xfrm>
        </p:grpSpPr>
        <p:pic>
          <p:nvPicPr>
            <p:cNvPr id="80" name="Picture 79" descr="A diagram of a cell line&#10;&#10;AI-generated content may be incorrect.">
              <a:extLst>
                <a:ext uri="{FF2B5EF4-FFF2-40B4-BE49-F238E27FC236}">
                  <a16:creationId xmlns:a16="http://schemas.microsoft.com/office/drawing/2014/main" id="{83FC84CB-B8C8-44E2-66A9-615120B03ECF}"/>
                </a:ext>
              </a:extLst>
            </p:cNvPr>
            <p:cNvPicPr>
              <a:picLocks noChangeAspect="1"/>
            </p:cNvPicPr>
            <p:nvPr/>
          </p:nvPicPr>
          <p:blipFill>
            <a:blip r:embed="rId23"/>
            <a:srcRect l="34132" t="-1" r="8868" b="11293"/>
            <a:stretch>
              <a:fillRect/>
            </a:stretch>
          </p:blipFill>
          <p:spPr>
            <a:xfrm>
              <a:off x="1599176" y="4141106"/>
              <a:ext cx="3189640" cy="2429768"/>
            </a:xfrm>
            <a:prstGeom prst="rect">
              <a:avLst/>
            </a:prstGeom>
          </p:spPr>
        </p:pic>
        <p:sp>
          <p:nvSpPr>
            <p:cNvPr id="81" name="Rectangle 80">
              <a:extLst>
                <a:ext uri="{FF2B5EF4-FFF2-40B4-BE49-F238E27FC236}">
                  <a16:creationId xmlns:a16="http://schemas.microsoft.com/office/drawing/2014/main" id="{42F8CCE1-8B40-5545-8178-77D1830DB74C}"/>
                </a:ext>
              </a:extLst>
            </p:cNvPr>
            <p:cNvSpPr/>
            <p:nvPr/>
          </p:nvSpPr>
          <p:spPr>
            <a:xfrm>
              <a:off x="1636099" y="6359612"/>
              <a:ext cx="2366128" cy="2545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grpSp>
      <p:graphicFrame>
        <p:nvGraphicFramePr>
          <p:cNvPr id="5" name="Table 4">
            <a:extLst>
              <a:ext uri="{FF2B5EF4-FFF2-40B4-BE49-F238E27FC236}">
                <a16:creationId xmlns:a16="http://schemas.microsoft.com/office/drawing/2014/main" id="{A6A998A9-818D-6DFE-A75A-DE79A146E79E}"/>
              </a:ext>
            </a:extLst>
          </p:cNvPr>
          <p:cNvGraphicFramePr>
            <a:graphicFrameLocks noGrp="1"/>
          </p:cNvGraphicFramePr>
          <p:nvPr>
            <p:extLst>
              <p:ext uri="{D42A27DB-BD31-4B8C-83A1-F6EECF244321}">
                <p14:modId xmlns:p14="http://schemas.microsoft.com/office/powerpoint/2010/main" val="948579186"/>
              </p:ext>
            </p:extLst>
          </p:nvPr>
        </p:nvGraphicFramePr>
        <p:xfrm>
          <a:off x="7218813" y="2378640"/>
          <a:ext cx="3180051" cy="2051912"/>
        </p:xfrm>
        <a:graphic>
          <a:graphicData uri="http://schemas.openxmlformats.org/drawingml/2006/table">
            <a:tbl>
              <a:tblPr firstRow="1" bandRow="1">
                <a:tableStyleId>{2D5ABB26-0587-4C30-8999-92F81FD0307C}</a:tableStyleId>
              </a:tblPr>
              <a:tblGrid>
                <a:gridCol w="1168371">
                  <a:extLst>
                    <a:ext uri="{9D8B030D-6E8A-4147-A177-3AD203B41FA5}">
                      <a16:colId xmlns:a16="http://schemas.microsoft.com/office/drawing/2014/main" val="2342644943"/>
                    </a:ext>
                  </a:extLst>
                </a:gridCol>
                <a:gridCol w="182880">
                  <a:extLst>
                    <a:ext uri="{9D8B030D-6E8A-4147-A177-3AD203B41FA5}">
                      <a16:colId xmlns:a16="http://schemas.microsoft.com/office/drawing/2014/main" val="3754668722"/>
                    </a:ext>
                  </a:extLst>
                </a:gridCol>
                <a:gridCol w="1828800">
                  <a:extLst>
                    <a:ext uri="{9D8B030D-6E8A-4147-A177-3AD203B41FA5}">
                      <a16:colId xmlns:a16="http://schemas.microsoft.com/office/drawing/2014/main" val="1461637697"/>
                    </a:ext>
                  </a:extLst>
                </a:gridCol>
              </a:tblGrid>
              <a:tr h="575785">
                <a:tc>
                  <a:txBody>
                    <a:bodyPr/>
                    <a:lstStyle/>
                    <a:p>
                      <a:r>
                        <a:rPr lang="en-US" sz="1200" b="0">
                          <a:latin typeface="Funnel Sans Medium" pitchFamily="2" charset="0"/>
                        </a:rPr>
                        <a:t>Tumor-specific accessibility</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b="0"/>
                        <a:t>✓</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b="0"/>
                        <a:t>Found outside tight junctions in tumors</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7577722"/>
                  </a:ext>
                </a:extLst>
              </a:tr>
              <a:tr h="345472">
                <a:tc>
                  <a:txBody>
                    <a:bodyPr/>
                    <a:lstStyle/>
                    <a:p>
                      <a:r>
                        <a:rPr lang="en-US" sz="1200" b="0">
                          <a:latin typeface="Funnel Sans Medium" pitchFamily="2" charset="0"/>
                        </a:rPr>
                        <a:t>Internalization</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b="0"/>
                        <a:t>✓</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b="0"/>
                        <a:t>Natively internalized</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63785566"/>
                  </a:ext>
                </a:extLst>
              </a:tr>
              <a:tr h="490575">
                <a:tc>
                  <a:txBody>
                    <a:bodyPr/>
                    <a:lstStyle/>
                    <a:p>
                      <a:r>
                        <a:rPr lang="en-US" sz="1200" b="0">
                          <a:latin typeface="Funnel Sans Medium" pitchFamily="2" charset="0"/>
                        </a:rPr>
                        <a:t>Secretion</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b="0"/>
                        <a:t>No observed secretion</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24988676"/>
                  </a:ext>
                </a:extLst>
              </a:tr>
              <a:tr h="575785">
                <a:tc>
                  <a:txBody>
                    <a:bodyPr/>
                    <a:lstStyle/>
                    <a:p>
                      <a:r>
                        <a:rPr lang="en-US" sz="1200" b="0">
                          <a:latin typeface="Funnel Sans Medium"/>
                        </a:rPr>
                        <a:t>Ligandability</a:t>
                      </a:r>
                      <a:endParaRPr lang="en-US" sz="1200" b="0" err="1">
                        <a:latin typeface="Funnel Sans Medium" pitchFamily="2" charset="0"/>
                      </a:endParaRP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r>
                        <a:rPr lang="en-US" sz="1200" b="0"/>
                        <a:t>Peptides for other CLDN family members used in imaging studies</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2277830281"/>
                  </a:ext>
                </a:extLst>
              </a:tr>
            </a:tbl>
          </a:graphicData>
        </a:graphic>
      </p:graphicFrame>
      <p:graphicFrame>
        <p:nvGraphicFramePr>
          <p:cNvPr id="6" name="Table 5">
            <a:extLst>
              <a:ext uri="{FF2B5EF4-FFF2-40B4-BE49-F238E27FC236}">
                <a16:creationId xmlns:a16="http://schemas.microsoft.com/office/drawing/2014/main" id="{E51772EE-FAA1-DBA5-D6F4-2191FD3821F7}"/>
              </a:ext>
            </a:extLst>
          </p:cNvPr>
          <p:cNvGraphicFramePr>
            <a:graphicFrameLocks noGrp="1"/>
          </p:cNvGraphicFramePr>
          <p:nvPr>
            <p:extLst>
              <p:ext uri="{D42A27DB-BD31-4B8C-83A1-F6EECF244321}">
                <p14:modId xmlns:p14="http://schemas.microsoft.com/office/powerpoint/2010/main" val="4245286318"/>
              </p:ext>
            </p:extLst>
          </p:nvPr>
        </p:nvGraphicFramePr>
        <p:xfrm>
          <a:off x="7188485" y="5657428"/>
          <a:ext cx="4552190" cy="840458"/>
        </p:xfrm>
        <a:graphic>
          <a:graphicData uri="http://schemas.openxmlformats.org/drawingml/2006/table">
            <a:tbl>
              <a:tblPr firstRow="1" bandRow="1">
                <a:tableStyleId>{2D5ABB26-0587-4C30-8999-92F81FD0307C}</a:tableStyleId>
              </a:tblPr>
              <a:tblGrid>
                <a:gridCol w="931273">
                  <a:extLst>
                    <a:ext uri="{9D8B030D-6E8A-4147-A177-3AD203B41FA5}">
                      <a16:colId xmlns:a16="http://schemas.microsoft.com/office/drawing/2014/main" val="2342644943"/>
                    </a:ext>
                  </a:extLst>
                </a:gridCol>
                <a:gridCol w="3620917">
                  <a:extLst>
                    <a:ext uri="{9D8B030D-6E8A-4147-A177-3AD203B41FA5}">
                      <a16:colId xmlns:a16="http://schemas.microsoft.com/office/drawing/2014/main" val="1461637697"/>
                    </a:ext>
                  </a:extLst>
                </a:gridCol>
              </a:tblGrid>
              <a:tr h="317973">
                <a:tc>
                  <a:txBody>
                    <a:bodyPr/>
                    <a:lstStyle/>
                    <a:p>
                      <a:r>
                        <a:rPr lang="en-US" sz="1200" b="0">
                          <a:latin typeface="Funnel Sans Medium" pitchFamily="2" charset="0"/>
                        </a:rPr>
                        <a:t>Modality</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a:t>CLDN1 peptide RLT</a:t>
                      </a:r>
                      <a:endParaRPr lang="en-US" sz="1200" b="0"/>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7577722"/>
                  </a:ext>
                </a:extLst>
              </a:tr>
              <a:tr h="522485">
                <a:tc>
                  <a:txBody>
                    <a:bodyPr/>
                    <a:lstStyle/>
                    <a:p>
                      <a:r>
                        <a:rPr lang="en-US" sz="1200" b="0">
                          <a:latin typeface="Funnel Sans Medium" pitchFamily="2" charset="0"/>
                        </a:rPr>
                        <a:t>Positioning</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r>
                        <a:rPr lang="en-US" sz="1200"/>
                        <a:t>2L metastatic </a:t>
                      </a:r>
                      <a:r>
                        <a:rPr lang="en-US" sz="1200" err="1"/>
                        <a:t>sqNSCLC</a:t>
                      </a:r>
                      <a:r>
                        <a:rPr lang="en-US" sz="1200"/>
                        <a:t> with the goal of replacing current salvage </a:t>
                      </a:r>
                      <a:r>
                        <a:rPr lang="en-US" sz="1200" err="1"/>
                        <a:t>tx</a:t>
                      </a:r>
                      <a:r>
                        <a:rPr lang="en-US" sz="1200"/>
                        <a:t>. May combine with PD-L1.</a:t>
                      </a:r>
                      <a:endParaRPr lang="en-US" sz="1200" b="0"/>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1663785566"/>
                  </a:ext>
                </a:extLst>
              </a:tr>
            </a:tbl>
          </a:graphicData>
        </a:graphic>
      </p:graphicFrame>
      <p:sp>
        <p:nvSpPr>
          <p:cNvPr id="8" name="TextBox 7">
            <a:extLst>
              <a:ext uri="{FF2B5EF4-FFF2-40B4-BE49-F238E27FC236}">
                <a16:creationId xmlns:a16="http://schemas.microsoft.com/office/drawing/2014/main" id="{D37B3482-4658-4290-D22D-24DBDA0A2347}"/>
              </a:ext>
            </a:extLst>
          </p:cNvPr>
          <p:cNvSpPr txBox="1"/>
          <p:nvPr/>
        </p:nvSpPr>
        <p:spPr>
          <a:xfrm>
            <a:off x="5422274" y="2552332"/>
            <a:ext cx="1207473" cy="288759"/>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F1A43"/>
                </a:solidFill>
                <a:effectLst/>
                <a:uLnTx/>
                <a:uFillTx/>
                <a:latin typeface="Funnel Sans Medium" pitchFamily="2" charset="0"/>
                <a:ea typeface="+mn-ea"/>
                <a:cs typeface="+mn-cs"/>
              </a:rPr>
              <a:t>Inaccessible</a:t>
            </a:r>
          </a:p>
        </p:txBody>
      </p:sp>
      <p:sp>
        <p:nvSpPr>
          <p:cNvPr id="9" name="TextBox 8">
            <a:extLst>
              <a:ext uri="{FF2B5EF4-FFF2-40B4-BE49-F238E27FC236}">
                <a16:creationId xmlns:a16="http://schemas.microsoft.com/office/drawing/2014/main" id="{0CF41298-E04F-10B9-7724-E01215D6B6F8}"/>
              </a:ext>
            </a:extLst>
          </p:cNvPr>
          <p:cNvSpPr txBox="1"/>
          <p:nvPr/>
        </p:nvSpPr>
        <p:spPr>
          <a:xfrm>
            <a:off x="5447550" y="4675888"/>
            <a:ext cx="1207473" cy="288759"/>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61896E">
                    <a:lumMod val="75000"/>
                  </a:srgbClr>
                </a:solidFill>
                <a:effectLst/>
                <a:uLnTx/>
                <a:uFillTx/>
                <a:latin typeface="Funnel Sans Medium" pitchFamily="2" charset="0"/>
                <a:ea typeface="+mn-ea"/>
                <a:cs typeface="+mn-cs"/>
              </a:rPr>
              <a:t>Accessible</a:t>
            </a:r>
          </a:p>
        </p:txBody>
      </p:sp>
    </p:spTree>
    <p:extLst>
      <p:ext uri="{BB962C8B-B14F-4D97-AF65-F5344CB8AC3E}">
        <p14:creationId xmlns:p14="http://schemas.microsoft.com/office/powerpoint/2010/main" val="3765689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4C3C3-9862-05A8-48A0-70D2115895C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FB085EE-119C-B627-E03F-74CB04FBC4D0}"/>
              </a:ext>
            </a:extLst>
          </p:cNvPr>
          <p:cNvSpPr/>
          <p:nvPr/>
        </p:nvSpPr>
        <p:spPr>
          <a:xfrm>
            <a:off x="254000" y="254000"/>
            <a:ext cx="882651" cy="304800"/>
          </a:xfrm>
          <a:prstGeom prst="rect">
            <a:avLst/>
          </a:prstGeom>
          <a:noFill/>
          <a:ln/>
        </p:spPr>
        <p:txBody>
          <a:bodyPr/>
          <a:lstStyle/>
          <a:p>
            <a:endParaRPr lang="en-US" sz="2400"/>
          </a:p>
        </p:txBody>
      </p:sp>
      <p:sp>
        <p:nvSpPr>
          <p:cNvPr id="3" name="Shape 19">
            <a:extLst>
              <a:ext uri="{FF2B5EF4-FFF2-40B4-BE49-F238E27FC236}">
                <a16:creationId xmlns:a16="http://schemas.microsoft.com/office/drawing/2014/main" id="{7124653D-3A44-DF4D-F76E-35139A3BE615}"/>
              </a:ext>
            </a:extLst>
          </p:cNvPr>
          <p:cNvSpPr/>
          <p:nvPr/>
        </p:nvSpPr>
        <p:spPr>
          <a:xfrm>
            <a:off x="2082801" y="330201"/>
            <a:ext cx="139700" cy="114300"/>
          </a:xfrm>
          <a:prstGeom prst="rect">
            <a:avLst/>
          </a:prstGeom>
          <a:noFill/>
          <a:ln/>
        </p:spPr>
        <p:txBody>
          <a:bodyPr/>
          <a:lstStyle/>
          <a:p>
            <a:endParaRPr lang="en-US" sz="2400"/>
          </a:p>
        </p:txBody>
      </p:sp>
      <p:pic>
        <p:nvPicPr>
          <p:cNvPr id="4" name="Image 3" descr="preencoded.png">
            <a:extLst>
              <a:ext uri="{FF2B5EF4-FFF2-40B4-BE49-F238E27FC236}">
                <a16:creationId xmlns:a16="http://schemas.microsoft.com/office/drawing/2014/main" id="{95B91FAD-6EE1-E455-5941-C249014F62C7}"/>
              </a:ext>
            </a:extLst>
          </p:cNvPr>
          <p:cNvPicPr>
            <a:picLocks noChangeAspect="1"/>
          </p:cNvPicPr>
          <p:nvPr/>
        </p:nvPicPr>
        <p:blipFill>
          <a:blip r:embed="rId3"/>
          <a:stretch>
            <a:fillRect/>
          </a:stretch>
        </p:blipFill>
        <p:spPr>
          <a:xfrm>
            <a:off x="323503" y="254000"/>
            <a:ext cx="156939" cy="191368"/>
          </a:xfrm>
          <a:prstGeom prst="rect">
            <a:avLst/>
          </a:prstGeom>
        </p:spPr>
      </p:pic>
      <p:pic>
        <p:nvPicPr>
          <p:cNvPr id="5" name="Image 4" descr="preencoded.png">
            <a:extLst>
              <a:ext uri="{FF2B5EF4-FFF2-40B4-BE49-F238E27FC236}">
                <a16:creationId xmlns:a16="http://schemas.microsoft.com/office/drawing/2014/main" id="{7C21D160-5D2D-DCA2-6560-EAF260117097}"/>
              </a:ext>
            </a:extLst>
          </p:cNvPr>
          <p:cNvPicPr>
            <a:picLocks noChangeAspect="1"/>
          </p:cNvPicPr>
          <p:nvPr/>
        </p:nvPicPr>
        <p:blipFill>
          <a:blip r:embed="rId4"/>
          <a:stretch>
            <a:fillRect/>
          </a:stretch>
        </p:blipFill>
        <p:spPr>
          <a:xfrm>
            <a:off x="387028" y="459541"/>
            <a:ext cx="968" cy="4"/>
          </a:xfrm>
          <a:prstGeom prst="rect">
            <a:avLst/>
          </a:prstGeom>
        </p:spPr>
      </p:pic>
      <p:pic>
        <p:nvPicPr>
          <p:cNvPr id="6" name="Image 5" descr="preencoded.png">
            <a:extLst>
              <a:ext uri="{FF2B5EF4-FFF2-40B4-BE49-F238E27FC236}">
                <a16:creationId xmlns:a16="http://schemas.microsoft.com/office/drawing/2014/main" id="{2DE418AE-273A-5AE6-B01F-4E3E0EC7C332}"/>
              </a:ext>
            </a:extLst>
          </p:cNvPr>
          <p:cNvPicPr>
            <a:picLocks noChangeAspect="1"/>
          </p:cNvPicPr>
          <p:nvPr/>
        </p:nvPicPr>
        <p:blipFill>
          <a:blip r:embed="rId4"/>
          <a:stretch>
            <a:fillRect/>
          </a:stretch>
        </p:blipFill>
        <p:spPr>
          <a:xfrm>
            <a:off x="386756" y="459546"/>
            <a:ext cx="297" cy="4"/>
          </a:xfrm>
          <a:prstGeom prst="rect">
            <a:avLst/>
          </a:prstGeom>
        </p:spPr>
      </p:pic>
      <p:pic>
        <p:nvPicPr>
          <p:cNvPr id="7" name="Image 6" descr="preencoded.png">
            <a:extLst>
              <a:ext uri="{FF2B5EF4-FFF2-40B4-BE49-F238E27FC236}">
                <a16:creationId xmlns:a16="http://schemas.microsoft.com/office/drawing/2014/main" id="{EFE77E12-D2DB-47A1-44B0-51E6EBD491B1}"/>
              </a:ext>
            </a:extLst>
          </p:cNvPr>
          <p:cNvPicPr>
            <a:picLocks noChangeAspect="1"/>
          </p:cNvPicPr>
          <p:nvPr/>
        </p:nvPicPr>
        <p:blipFill>
          <a:blip r:embed="rId4"/>
          <a:stretch>
            <a:fillRect/>
          </a:stretch>
        </p:blipFill>
        <p:spPr>
          <a:xfrm>
            <a:off x="389261" y="473634"/>
            <a:ext cx="471" cy="4"/>
          </a:xfrm>
          <a:prstGeom prst="rect">
            <a:avLst/>
          </a:prstGeom>
        </p:spPr>
      </p:pic>
      <p:pic>
        <p:nvPicPr>
          <p:cNvPr id="8" name="Image 7" descr="preencoded.png">
            <a:extLst>
              <a:ext uri="{FF2B5EF4-FFF2-40B4-BE49-F238E27FC236}">
                <a16:creationId xmlns:a16="http://schemas.microsoft.com/office/drawing/2014/main" id="{72382A3E-59A6-4C57-2D9E-DAE697E4CDF7}"/>
              </a:ext>
            </a:extLst>
          </p:cNvPr>
          <p:cNvPicPr>
            <a:picLocks noChangeAspect="1"/>
          </p:cNvPicPr>
          <p:nvPr/>
        </p:nvPicPr>
        <p:blipFill>
          <a:blip r:embed="rId5"/>
          <a:stretch>
            <a:fillRect/>
          </a:stretch>
        </p:blipFill>
        <p:spPr>
          <a:xfrm>
            <a:off x="600300" y="305277"/>
            <a:ext cx="137641" cy="202443"/>
          </a:xfrm>
          <a:prstGeom prst="rect">
            <a:avLst/>
          </a:prstGeom>
        </p:spPr>
      </p:pic>
      <p:pic>
        <p:nvPicPr>
          <p:cNvPr id="9" name="Image 8" descr="preencoded.png">
            <a:extLst>
              <a:ext uri="{FF2B5EF4-FFF2-40B4-BE49-F238E27FC236}">
                <a16:creationId xmlns:a16="http://schemas.microsoft.com/office/drawing/2014/main" id="{FD273A65-6861-C403-382B-7F33E2D0BA31}"/>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0" name="Image 9" descr="preencoded.png">
            <a:extLst>
              <a:ext uri="{FF2B5EF4-FFF2-40B4-BE49-F238E27FC236}">
                <a16:creationId xmlns:a16="http://schemas.microsoft.com/office/drawing/2014/main" id="{991AD63D-F3F0-15A2-F38E-7ACA23D406CA}"/>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1" name="Image 10" descr="preencoded.png">
            <a:extLst>
              <a:ext uri="{FF2B5EF4-FFF2-40B4-BE49-F238E27FC236}">
                <a16:creationId xmlns:a16="http://schemas.microsoft.com/office/drawing/2014/main" id="{710BC52E-FDFF-DE7D-5195-0B0C9448B054}"/>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2" name="Image 11" descr="preencoded.png">
            <a:extLst>
              <a:ext uri="{FF2B5EF4-FFF2-40B4-BE49-F238E27FC236}">
                <a16:creationId xmlns:a16="http://schemas.microsoft.com/office/drawing/2014/main" id="{C94110F0-9E8E-4B3B-D68E-8248CBD7F1C4}"/>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3" name="Image 12" descr="preencoded.png">
            <a:extLst>
              <a:ext uri="{FF2B5EF4-FFF2-40B4-BE49-F238E27FC236}">
                <a16:creationId xmlns:a16="http://schemas.microsoft.com/office/drawing/2014/main" id="{E6D5B11F-2EA4-4F4F-04CE-38D26B8C5D2C}"/>
              </a:ext>
            </a:extLst>
          </p:cNvPr>
          <p:cNvPicPr>
            <a:picLocks noChangeAspect="1"/>
          </p:cNvPicPr>
          <p:nvPr/>
        </p:nvPicPr>
        <p:blipFill>
          <a:blip r:embed="rId10"/>
          <a:stretch>
            <a:fillRect/>
          </a:stretch>
        </p:blipFill>
        <p:spPr>
          <a:xfrm>
            <a:off x="254000" y="376361"/>
            <a:ext cx="174501" cy="157575"/>
          </a:xfrm>
          <a:prstGeom prst="rect">
            <a:avLst/>
          </a:prstGeom>
        </p:spPr>
      </p:pic>
      <p:sp>
        <p:nvSpPr>
          <p:cNvPr id="14" name="Text 28">
            <a:extLst>
              <a:ext uri="{FF2B5EF4-FFF2-40B4-BE49-F238E27FC236}">
                <a16:creationId xmlns:a16="http://schemas.microsoft.com/office/drawing/2014/main" id="{989F017D-FB0B-FB6D-D66B-D3D388ECD60E}"/>
              </a:ext>
            </a:extLst>
          </p:cNvPr>
          <p:cNvSpPr/>
          <p:nvPr/>
        </p:nvSpPr>
        <p:spPr>
          <a:xfrm>
            <a:off x="254000" y="635564"/>
            <a:ext cx="11684000" cy="762000"/>
          </a:xfrm>
          <a:prstGeom prst="rect">
            <a:avLst/>
          </a:prstGeom>
          <a:noFill/>
          <a:ln/>
        </p:spPr>
        <p:txBody>
          <a:bodyPr wrap="square" lIns="91440" tIns="45720" rIns="91440" bIns="45720" rtlCol="0" anchor="ctr"/>
          <a:lstStyle/>
          <a:p>
            <a:pPr>
              <a:lnSpc>
                <a:spcPts val="3000"/>
              </a:lnSpc>
            </a:pPr>
            <a:r>
              <a:rPr lang="en-US" sz="2400" kern="0" spc="-24" dirty="0">
                <a:solidFill>
                  <a:srgbClr val="000000">
                    <a:alpha val="99000"/>
                  </a:srgbClr>
                </a:solidFill>
              </a:rPr>
              <a:t>Clinical data for the claudin family strongly support CLDN1 as an RLT target</a:t>
            </a:r>
          </a:p>
        </p:txBody>
      </p:sp>
      <p:sp>
        <p:nvSpPr>
          <p:cNvPr id="17" name="Rectangle: Rounded Corners 16">
            <a:extLst>
              <a:ext uri="{FF2B5EF4-FFF2-40B4-BE49-F238E27FC236}">
                <a16:creationId xmlns:a16="http://schemas.microsoft.com/office/drawing/2014/main" id="{258BF26E-C0E2-371E-1F06-EDF9D292502C}"/>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ysClr val="windowText" lastClr="000000"/>
                </a:solidFill>
              </a:rPr>
              <a:t>Landscape</a:t>
            </a:r>
          </a:p>
        </p:txBody>
      </p:sp>
      <p:sp>
        <p:nvSpPr>
          <p:cNvPr id="16" name="TextBox 15">
            <a:extLst>
              <a:ext uri="{FF2B5EF4-FFF2-40B4-BE49-F238E27FC236}">
                <a16:creationId xmlns:a16="http://schemas.microsoft.com/office/drawing/2014/main" id="{B0E3F85F-9113-8C0B-F6BA-8F40ACA598D8}"/>
              </a:ext>
            </a:extLst>
          </p:cNvPr>
          <p:cNvSpPr txBox="1"/>
          <p:nvPr/>
        </p:nvSpPr>
        <p:spPr>
          <a:xfrm>
            <a:off x="11055350" y="6614136"/>
            <a:ext cx="1136650" cy="246221"/>
          </a:xfrm>
          <a:prstGeom prst="rect">
            <a:avLst/>
          </a:prstGeom>
          <a:noFill/>
        </p:spPr>
        <p:txBody>
          <a:bodyPr wrap="square" rtlCol="0">
            <a:spAutoFit/>
          </a:bodyPr>
          <a:lstStyle/>
          <a:p>
            <a:pPr algn="r"/>
            <a:r>
              <a:rPr lang="en-US" sz="1000"/>
              <a:t>Confidential </a:t>
            </a:r>
            <a:fld id="{F55465F9-4A58-45DB-8234-396342B5FF6F}" type="slidenum">
              <a:rPr lang="en-US" sz="1000" smtClean="0"/>
              <a:pPr algn="r"/>
              <a:t>3</a:t>
            </a:fld>
            <a:endParaRPr lang="en-US" sz="1000"/>
          </a:p>
        </p:txBody>
      </p:sp>
      <p:cxnSp>
        <p:nvCxnSpPr>
          <p:cNvPr id="100" name="Line 99">
            <a:extLst>
              <a:ext uri="{FF2B5EF4-FFF2-40B4-BE49-F238E27FC236}">
                <a16:creationId xmlns:a16="http://schemas.microsoft.com/office/drawing/2014/main" id="{3BFB009D-2D51-F947-1189-9F4ABF07B83C}"/>
              </a:ext>
            </a:extLst>
          </p:cNvPr>
          <p:cNvCxnSpPr/>
          <p:nvPr/>
        </p:nvCxnSpPr>
        <p:spPr>
          <a:xfrm>
            <a:off x="254000" y="1422400"/>
            <a:ext cx="11684000" cy="0"/>
          </a:xfrm>
          <a:prstGeom prst="line">
            <a:avLst/>
          </a:prstGeom>
          <a:ln w="9525">
            <a:solidFill>
              <a:srgbClr val="E8E8E8"/>
            </a:solidFill>
          </a:ln>
        </p:spPr>
      </p:cxnSp>
      <p:sp>
        <p:nvSpPr>
          <p:cNvPr id="200" name="Card 200">
            <a:extLst>
              <a:ext uri="{FF2B5EF4-FFF2-40B4-BE49-F238E27FC236}">
                <a16:creationId xmlns:a16="http://schemas.microsoft.com/office/drawing/2014/main" id="{107C780C-2FF5-4139-9B22-17F747779D0D}"/>
              </a:ext>
            </a:extLst>
          </p:cNvPr>
          <p:cNvSpPr/>
          <p:nvPr/>
        </p:nvSpPr>
        <p:spPr>
          <a:xfrm>
            <a:off x="254000" y="1651000"/>
            <a:ext cx="3810000" cy="4889500"/>
          </a:xfrm>
          <a:prstGeom prst="roundRect">
            <a:avLst>
              <a:gd name="adj" fmla="val 4802"/>
            </a:avLst>
          </a:prstGeom>
          <a:solidFill>
            <a:srgbClr val="F7F6F4"/>
          </a:solidFill>
          <a:ln w="6350">
            <a:noFill/>
          </a:ln>
        </p:spPr>
        <p:txBody>
          <a:bodyPr wrap="square" lIns="0" tIns="0" rIns="0" bIns="0" anchor="t"/>
          <a:lstStyle/>
          <a:p>
            <a:endParaRPr lang="en-US" sz="1400"/>
          </a:p>
        </p:txBody>
      </p:sp>
      <p:sp>
        <p:nvSpPr>
          <p:cNvPr id="201" name="Header 201">
            <a:extLst>
              <a:ext uri="{FF2B5EF4-FFF2-40B4-BE49-F238E27FC236}">
                <a16:creationId xmlns:a16="http://schemas.microsoft.com/office/drawing/2014/main" id="{6E1C3AED-2981-8F31-5E06-9F049660FF58}"/>
              </a:ext>
            </a:extLst>
          </p:cNvPr>
          <p:cNvSpPr/>
          <p:nvPr/>
        </p:nvSpPr>
        <p:spPr>
          <a:xfrm>
            <a:off x="254000" y="1651000"/>
            <a:ext cx="3810000" cy="508000"/>
          </a:xfrm>
          <a:prstGeom prst="roundRect">
            <a:avLst>
              <a:gd name="adj" fmla="val 16667"/>
            </a:avLst>
          </a:prstGeom>
          <a:solidFill>
            <a:srgbClr val="1A4141"/>
          </a:solidFill>
          <a:ln>
            <a:noFill/>
          </a:ln>
        </p:spPr>
        <p:txBody>
          <a:bodyPr wrap="square" lIns="108000" tIns="54000" rIns="108000" bIns="54000" anchor="ctr"/>
          <a:lstStyle/>
          <a:p>
            <a:pPr algn="ctr"/>
            <a:r>
              <a:rPr lang="en-US" sz="1400" b="1">
                <a:solidFill>
                  <a:srgbClr val="FFFFFF"/>
                </a:solidFill>
                <a:latin typeface="Funnel Sans"/>
                <a:ea typeface="Funnel Sans"/>
              </a:rPr>
              <a:t>Alentis ADCs advancing in clinic</a:t>
            </a:r>
          </a:p>
        </p:txBody>
      </p:sp>
      <p:sp>
        <p:nvSpPr>
          <p:cNvPr id="202" name="Body 202">
            <a:extLst>
              <a:ext uri="{FF2B5EF4-FFF2-40B4-BE49-F238E27FC236}">
                <a16:creationId xmlns:a16="http://schemas.microsoft.com/office/drawing/2014/main" id="{DC1DC96D-61DC-2696-E538-F4F65FCDCBD2}"/>
              </a:ext>
            </a:extLst>
          </p:cNvPr>
          <p:cNvSpPr/>
          <p:nvPr/>
        </p:nvSpPr>
        <p:spPr>
          <a:xfrm>
            <a:off x="381000" y="2286000"/>
            <a:ext cx="3556000" cy="4127500"/>
          </a:xfrm>
          <a:prstGeom prst="rect">
            <a:avLst/>
          </a:prstGeom>
          <a:noFill/>
          <a:ln>
            <a:noFill/>
          </a:ln>
        </p:spPr>
        <p:txBody>
          <a:bodyPr wrap="square" lIns="72000" tIns="72000" rIns="72000" bIns="36000" anchor="t"/>
          <a:lstStyle/>
          <a:p>
            <a:pPr marL="171450" indent="-171450">
              <a:spcBef>
                <a:spcPts val="800"/>
              </a:spcBef>
              <a:buFont typeface="Arial" panose="020B0604020202020204" pitchFamily="34" charset="0"/>
              <a:buChar char="•"/>
            </a:pPr>
            <a:r>
              <a:rPr lang="en-US" sz="1200" b="1">
                <a:solidFill>
                  <a:srgbClr val="000000"/>
                </a:solidFill>
                <a:latin typeface="Funnel Sans"/>
                <a:ea typeface="Funnel Sans"/>
              </a:rPr>
              <a:t>ALE.P02 (MMAE)</a:t>
            </a:r>
            <a:r>
              <a:rPr lang="en-US" sz="1200">
                <a:solidFill>
                  <a:srgbClr val="000000"/>
                </a:solidFill>
                <a:latin typeface="Funnel Sans"/>
                <a:ea typeface="Funnel Sans"/>
              </a:rPr>
              <a:t> — Ph 1/2 in CLDN1+ squamous tumors (HNSCC, sqNSCLC, ESCC); FDA Fast Track Nov 2024</a:t>
            </a:r>
          </a:p>
          <a:p>
            <a:pPr marL="171450" indent="-171450">
              <a:spcBef>
                <a:spcPts val="800"/>
              </a:spcBef>
              <a:buFont typeface="Arial" panose="020B0604020202020204" pitchFamily="34" charset="0"/>
              <a:buChar char="•"/>
            </a:pPr>
            <a:r>
              <a:rPr lang="en-US" sz="1200" b="1">
                <a:solidFill>
                  <a:srgbClr val="000000"/>
                </a:solidFill>
                <a:latin typeface="Funnel Sans"/>
                <a:ea typeface="Funnel Sans"/>
              </a:rPr>
              <a:t>ALE.P03 (Topo-I)</a:t>
            </a:r>
            <a:r>
              <a:rPr lang="en-US" sz="1200">
                <a:solidFill>
                  <a:srgbClr val="000000"/>
                </a:solidFill>
                <a:latin typeface="Funnel Sans"/>
                <a:ea typeface="Funnel Sans"/>
              </a:rPr>
              <a:t> — Ph 1/2 in adenocarcinomas (mCRC, cholangiocarcinoma, urothelial); initiated 4Q 2025</a:t>
            </a:r>
          </a:p>
          <a:p>
            <a:pPr marL="171450" indent="-171450">
              <a:spcBef>
                <a:spcPts val="800"/>
              </a:spcBef>
              <a:buFont typeface="Arial" panose="020B0604020202020204" pitchFamily="34" charset="0"/>
              <a:buChar char="•"/>
            </a:pPr>
            <a:r>
              <a:rPr lang="en-US" sz="1200" b="1">
                <a:solidFill>
                  <a:srgbClr val="000000"/>
                </a:solidFill>
                <a:latin typeface="Funnel Sans"/>
                <a:ea typeface="Funnel Sans"/>
              </a:rPr>
              <a:t>Early signals encouraging</a:t>
            </a:r>
            <a:r>
              <a:rPr lang="en-US" sz="1200">
                <a:solidFill>
                  <a:srgbClr val="000000"/>
                </a:solidFill>
                <a:latin typeface="Funnel Sans"/>
                <a:ea typeface="Funnel Sans"/>
              </a:rPr>
              <a:t> — </a:t>
            </a:r>
            <a:r>
              <a:rPr lang="en-US" sz="1200" err="1">
                <a:solidFill>
                  <a:srgbClr val="000000"/>
                </a:solidFill>
                <a:latin typeface="Funnel Sans"/>
                <a:ea typeface="Funnel Sans"/>
              </a:rPr>
              <a:t>mgmt</a:t>
            </a:r>
            <a:r>
              <a:rPr lang="en-US" sz="1200">
                <a:solidFill>
                  <a:srgbClr val="000000"/>
                </a:solidFill>
                <a:latin typeface="Funnel Sans"/>
                <a:ea typeface="Funnel Sans"/>
              </a:rPr>
              <a:t> reports robust responses in HNSCC and esophageal; dose-ranging data for both ADCs expected in 2026</a:t>
            </a:r>
          </a:p>
          <a:p>
            <a:pPr marL="171450" indent="-171450">
              <a:spcBef>
                <a:spcPts val="800"/>
              </a:spcBef>
              <a:buFont typeface="Arial" panose="020B0604020202020204" pitchFamily="34" charset="0"/>
              <a:buChar char="•"/>
            </a:pPr>
            <a:r>
              <a:rPr lang="en-US" sz="1200" b="1">
                <a:solidFill>
                  <a:srgbClr val="000000"/>
                </a:solidFill>
                <a:latin typeface="Funnel Sans"/>
                <a:ea typeface="Funnel Sans"/>
              </a:rPr>
              <a:t>No on-target DLTs</a:t>
            </a:r>
            <a:r>
              <a:rPr lang="en-US" sz="1200">
                <a:solidFill>
                  <a:srgbClr val="000000"/>
                </a:solidFill>
                <a:latin typeface="Funnel Sans"/>
                <a:ea typeface="Funnel Sans"/>
              </a:rPr>
              <a:t> across </a:t>
            </a:r>
            <a:r>
              <a:rPr lang="en-US" sz="1200" err="1">
                <a:solidFill>
                  <a:srgbClr val="000000"/>
                </a:solidFill>
                <a:latin typeface="Funnel Sans"/>
                <a:ea typeface="Funnel Sans"/>
              </a:rPr>
              <a:t>Alentis</a:t>
            </a:r>
            <a:r>
              <a:rPr lang="en-US" sz="1200">
                <a:solidFill>
                  <a:srgbClr val="000000"/>
                </a:solidFill>
                <a:latin typeface="Funnel Sans"/>
                <a:ea typeface="Funnel Sans"/>
              </a:rPr>
              <a:t> programs to date, a positive signal for CLDN1 as a therapeutic target</a:t>
            </a:r>
          </a:p>
        </p:txBody>
      </p:sp>
      <p:sp>
        <p:nvSpPr>
          <p:cNvPr id="210" name="Card 210">
            <a:extLst>
              <a:ext uri="{FF2B5EF4-FFF2-40B4-BE49-F238E27FC236}">
                <a16:creationId xmlns:a16="http://schemas.microsoft.com/office/drawing/2014/main" id="{1024D5F3-D7A5-E3C1-4580-A5DBB00E9947}"/>
              </a:ext>
            </a:extLst>
          </p:cNvPr>
          <p:cNvSpPr/>
          <p:nvPr/>
        </p:nvSpPr>
        <p:spPr>
          <a:xfrm>
            <a:off x="4216400" y="1651000"/>
            <a:ext cx="3810000" cy="4889500"/>
          </a:xfrm>
          <a:prstGeom prst="roundRect">
            <a:avLst>
              <a:gd name="adj" fmla="val 5341"/>
            </a:avLst>
          </a:prstGeom>
          <a:solidFill>
            <a:srgbClr val="F7F6F4"/>
          </a:solidFill>
          <a:ln w="6350">
            <a:noFill/>
          </a:ln>
        </p:spPr>
        <p:txBody>
          <a:bodyPr wrap="square" lIns="0" tIns="0" rIns="0" bIns="0" anchor="t"/>
          <a:lstStyle/>
          <a:p>
            <a:endParaRPr lang="en-US" sz="1400"/>
          </a:p>
        </p:txBody>
      </p:sp>
      <p:sp>
        <p:nvSpPr>
          <p:cNvPr id="211" name="Header 211">
            <a:extLst>
              <a:ext uri="{FF2B5EF4-FFF2-40B4-BE49-F238E27FC236}">
                <a16:creationId xmlns:a16="http://schemas.microsoft.com/office/drawing/2014/main" id="{43AB6A02-3B91-28E2-C830-A5580416DECD}"/>
              </a:ext>
            </a:extLst>
          </p:cNvPr>
          <p:cNvSpPr/>
          <p:nvPr/>
        </p:nvSpPr>
        <p:spPr>
          <a:xfrm>
            <a:off x="4216400" y="1651000"/>
            <a:ext cx="3810000" cy="508000"/>
          </a:xfrm>
          <a:prstGeom prst="roundRect">
            <a:avLst>
              <a:gd name="adj" fmla="val 16667"/>
            </a:avLst>
          </a:prstGeom>
          <a:solidFill>
            <a:srgbClr val="456464"/>
          </a:solidFill>
          <a:ln>
            <a:noFill/>
          </a:ln>
        </p:spPr>
        <p:txBody>
          <a:bodyPr wrap="square" lIns="108000" tIns="54000" rIns="108000" bIns="54000" anchor="ctr"/>
          <a:lstStyle/>
          <a:p>
            <a:pPr algn="ctr"/>
            <a:r>
              <a:rPr lang="en-US" sz="1400" b="1">
                <a:solidFill>
                  <a:srgbClr val="FFFFFF"/>
                </a:solidFill>
                <a:latin typeface="Funnel Sans"/>
                <a:ea typeface="Funnel Sans"/>
              </a:rPr>
              <a:t>Preclinical CLDN1 ADCs show clean safety</a:t>
            </a:r>
          </a:p>
        </p:txBody>
      </p:sp>
      <p:sp>
        <p:nvSpPr>
          <p:cNvPr id="212" name="Body 212">
            <a:extLst>
              <a:ext uri="{FF2B5EF4-FFF2-40B4-BE49-F238E27FC236}">
                <a16:creationId xmlns:a16="http://schemas.microsoft.com/office/drawing/2014/main" id="{FF5B59A6-4BB6-8AA8-F1E3-A791EB3D9D94}"/>
              </a:ext>
            </a:extLst>
          </p:cNvPr>
          <p:cNvSpPr/>
          <p:nvPr/>
        </p:nvSpPr>
        <p:spPr>
          <a:xfrm>
            <a:off x="4343400" y="2286000"/>
            <a:ext cx="3556000" cy="4127500"/>
          </a:xfrm>
          <a:prstGeom prst="rect">
            <a:avLst/>
          </a:prstGeom>
          <a:noFill/>
          <a:ln>
            <a:noFill/>
          </a:ln>
        </p:spPr>
        <p:txBody>
          <a:bodyPr wrap="square" lIns="72000" tIns="72000" rIns="72000" bIns="36000" anchor="t"/>
          <a:lstStyle/>
          <a:p>
            <a:pPr marL="171450" indent="-171450">
              <a:spcBef>
                <a:spcPts val="800"/>
              </a:spcBef>
              <a:buFont typeface="Arial" panose="020B0604020202020204" pitchFamily="34" charset="0"/>
              <a:buChar char="•"/>
            </a:pPr>
            <a:r>
              <a:rPr lang="en-US" sz="1200" b="1" dirty="0">
                <a:solidFill>
                  <a:srgbClr val="000000"/>
                </a:solidFill>
                <a:latin typeface="Funnel Sans"/>
                <a:ea typeface="Funnel Sans"/>
              </a:rPr>
              <a:t>MW-C1-MMAE</a:t>
            </a:r>
            <a:r>
              <a:rPr lang="en-US" sz="1200" dirty="0">
                <a:solidFill>
                  <a:srgbClr val="000000"/>
                </a:solidFill>
                <a:latin typeface="Funnel Sans"/>
                <a:ea typeface="Funnel Sans"/>
              </a:rPr>
              <a:t> — tumor regression in CDX/PDX; no off-target tox in primate GLP tox studies (AACR 2025)</a:t>
            </a:r>
          </a:p>
          <a:p>
            <a:pPr marL="171450" indent="-171450">
              <a:spcBef>
                <a:spcPts val="800"/>
              </a:spcBef>
              <a:buFont typeface="Arial" panose="020B0604020202020204" pitchFamily="34" charset="0"/>
              <a:buChar char="•"/>
            </a:pPr>
            <a:r>
              <a:rPr lang="en-US" sz="1200" b="1" dirty="0">
                <a:solidFill>
                  <a:srgbClr val="000000"/>
                </a:solidFill>
                <a:latin typeface="Funnel Sans"/>
                <a:ea typeface="Funnel Sans"/>
              </a:rPr>
              <a:t>6-F6-MMAE</a:t>
            </a:r>
            <a:r>
              <a:rPr lang="en-US" sz="1200" dirty="0">
                <a:solidFill>
                  <a:srgbClr val="000000"/>
                </a:solidFill>
                <a:latin typeface="Funnel Sans"/>
                <a:ea typeface="Funnel Sans"/>
              </a:rPr>
              <a:t> — Focused on CRC, PDAC, OC; decreased tumor size and liver </a:t>
            </a:r>
            <a:r>
              <a:rPr lang="en-US" sz="1200" dirty="0" err="1">
                <a:solidFill>
                  <a:srgbClr val="000000"/>
                </a:solidFill>
                <a:latin typeface="Funnel Sans"/>
                <a:ea typeface="Funnel Sans"/>
              </a:rPr>
              <a:t>mets</a:t>
            </a:r>
            <a:r>
              <a:rPr lang="en-US" sz="1200" dirty="0">
                <a:solidFill>
                  <a:srgbClr val="000000"/>
                </a:solidFill>
                <a:latin typeface="Funnel Sans"/>
                <a:ea typeface="Funnel Sans"/>
              </a:rPr>
              <a:t>; synergistic with oxaliplatin</a:t>
            </a:r>
          </a:p>
          <a:p>
            <a:pPr marL="171450" indent="-171450">
              <a:spcBef>
                <a:spcPts val="800"/>
              </a:spcBef>
              <a:buFont typeface="Arial" panose="020B0604020202020204" pitchFamily="34" charset="0"/>
              <a:buChar char="•"/>
            </a:pPr>
            <a:r>
              <a:rPr lang="en-US" sz="1200" b="1" dirty="0">
                <a:solidFill>
                  <a:srgbClr val="000000"/>
                </a:solidFill>
                <a:latin typeface="Funnel Sans"/>
                <a:ea typeface="Funnel Sans"/>
              </a:rPr>
              <a:t>Xi-342</a:t>
            </a:r>
            <a:r>
              <a:rPr lang="en-US" sz="1200" dirty="0">
                <a:solidFill>
                  <a:srgbClr val="000000"/>
                </a:solidFill>
                <a:latin typeface="Funnel Sans"/>
                <a:ea typeface="Funnel Sans"/>
              </a:rPr>
              <a:t> — </a:t>
            </a:r>
            <a:r>
              <a:rPr lang="en-US" sz="1200" dirty="0">
                <a:ea typeface="Funnel Sans"/>
              </a:rPr>
              <a:t>neutralizing </a:t>
            </a:r>
            <a:r>
              <a:rPr lang="en-US" sz="1200" dirty="0" err="1">
                <a:ea typeface="Funnel Sans"/>
              </a:rPr>
              <a:t>mAb</a:t>
            </a:r>
            <a:r>
              <a:rPr lang="en-US" sz="1200" dirty="0">
                <a:ea typeface="Funnel Sans"/>
              </a:rPr>
              <a:t>, </a:t>
            </a:r>
            <a:r>
              <a:rPr lang="en-US" sz="1200" dirty="0">
                <a:latin typeface="Funnel Sans"/>
                <a:ea typeface="Funnel Sans"/>
              </a:rPr>
              <a:t>xenograft accumulation and tumor growth </a:t>
            </a:r>
            <a:r>
              <a:rPr lang="en-US" sz="1200" dirty="0">
                <a:solidFill>
                  <a:srgbClr val="000000"/>
                </a:solidFill>
                <a:latin typeface="Funnel Sans"/>
                <a:ea typeface="Funnel Sans"/>
              </a:rPr>
              <a:t>inhibition; no toxicity in humanized mice</a:t>
            </a:r>
          </a:p>
          <a:p>
            <a:pPr marL="171450" indent="-171450">
              <a:spcBef>
                <a:spcPts val="800"/>
              </a:spcBef>
              <a:buFont typeface="Arial" panose="020B0604020202020204" pitchFamily="34" charset="0"/>
              <a:buChar char="•"/>
            </a:pPr>
            <a:r>
              <a:rPr lang="en-US" sz="1200" b="1">
                <a:solidFill>
                  <a:srgbClr val="000000"/>
                </a:solidFill>
                <a:latin typeface="Funnel Sans"/>
                <a:ea typeface="Funnel Sans"/>
              </a:rPr>
              <a:t>No on-target, off-tumor </a:t>
            </a:r>
            <a:r>
              <a:rPr lang="en-US" sz="1200" b="1" dirty="0">
                <a:solidFill>
                  <a:srgbClr val="000000"/>
                </a:solidFill>
                <a:latin typeface="Funnel Sans"/>
                <a:ea typeface="Funnel Sans"/>
              </a:rPr>
              <a:t>safety signals</a:t>
            </a:r>
            <a:r>
              <a:rPr lang="en-US" sz="1200" dirty="0">
                <a:solidFill>
                  <a:srgbClr val="000000"/>
                </a:solidFill>
                <a:latin typeface="Funnel Sans"/>
                <a:ea typeface="Funnel Sans"/>
              </a:rPr>
              <a:t> in any disclosed preclinical CLDN1 molecule</a:t>
            </a:r>
          </a:p>
        </p:txBody>
      </p:sp>
      <p:sp>
        <p:nvSpPr>
          <p:cNvPr id="220" name="Card 220">
            <a:extLst>
              <a:ext uri="{FF2B5EF4-FFF2-40B4-BE49-F238E27FC236}">
                <a16:creationId xmlns:a16="http://schemas.microsoft.com/office/drawing/2014/main" id="{9D419354-8792-79E6-70E0-EB6D505EF840}"/>
              </a:ext>
            </a:extLst>
          </p:cNvPr>
          <p:cNvSpPr/>
          <p:nvPr/>
        </p:nvSpPr>
        <p:spPr>
          <a:xfrm>
            <a:off x="8178800" y="1651000"/>
            <a:ext cx="3810000" cy="4889500"/>
          </a:xfrm>
          <a:prstGeom prst="roundRect">
            <a:avLst>
              <a:gd name="adj" fmla="val 6959"/>
            </a:avLst>
          </a:prstGeom>
          <a:solidFill>
            <a:srgbClr val="F7F6F4"/>
          </a:solidFill>
          <a:ln w="6350">
            <a:noFill/>
          </a:ln>
        </p:spPr>
        <p:txBody>
          <a:bodyPr wrap="square" lIns="0" tIns="0" rIns="0" bIns="0" anchor="t"/>
          <a:lstStyle/>
          <a:p>
            <a:endParaRPr lang="en-US" sz="1400"/>
          </a:p>
        </p:txBody>
      </p:sp>
      <p:sp>
        <p:nvSpPr>
          <p:cNvPr id="221" name="Header 221">
            <a:extLst>
              <a:ext uri="{FF2B5EF4-FFF2-40B4-BE49-F238E27FC236}">
                <a16:creationId xmlns:a16="http://schemas.microsoft.com/office/drawing/2014/main" id="{C0633685-9A5A-2E60-BC41-CA32A9097976}"/>
              </a:ext>
            </a:extLst>
          </p:cNvPr>
          <p:cNvSpPr/>
          <p:nvPr/>
        </p:nvSpPr>
        <p:spPr>
          <a:xfrm>
            <a:off x="8178800" y="1651000"/>
            <a:ext cx="3810000" cy="508000"/>
          </a:xfrm>
          <a:prstGeom prst="roundRect">
            <a:avLst>
              <a:gd name="adj" fmla="val 16667"/>
            </a:avLst>
          </a:prstGeom>
          <a:solidFill>
            <a:srgbClr val="2D5454"/>
          </a:solidFill>
          <a:ln>
            <a:noFill/>
          </a:ln>
        </p:spPr>
        <p:txBody>
          <a:bodyPr wrap="square" lIns="108000" tIns="54000" rIns="108000" bIns="54000" anchor="ctr"/>
          <a:lstStyle/>
          <a:p>
            <a:pPr algn="ctr"/>
            <a:r>
              <a:rPr lang="en-US" sz="1400" b="1">
                <a:solidFill>
                  <a:srgbClr val="FFFFFF"/>
                </a:solidFill>
                <a:latin typeface="Funnel Sans"/>
                <a:ea typeface="Funnel Sans"/>
              </a:rPr>
              <a:t>Claudin family validates targetability</a:t>
            </a:r>
          </a:p>
        </p:txBody>
      </p:sp>
      <p:sp>
        <p:nvSpPr>
          <p:cNvPr id="222" name="Body 222">
            <a:extLst>
              <a:ext uri="{FF2B5EF4-FFF2-40B4-BE49-F238E27FC236}">
                <a16:creationId xmlns:a16="http://schemas.microsoft.com/office/drawing/2014/main" id="{564BED25-38B7-6C42-0728-A713BF125419}"/>
              </a:ext>
            </a:extLst>
          </p:cNvPr>
          <p:cNvSpPr/>
          <p:nvPr/>
        </p:nvSpPr>
        <p:spPr>
          <a:xfrm>
            <a:off x="8305800" y="2286000"/>
            <a:ext cx="3556000" cy="4127500"/>
          </a:xfrm>
          <a:prstGeom prst="rect">
            <a:avLst/>
          </a:prstGeom>
          <a:noFill/>
          <a:ln>
            <a:noFill/>
          </a:ln>
        </p:spPr>
        <p:txBody>
          <a:bodyPr wrap="square" lIns="72000" tIns="72000" rIns="72000" bIns="36000" anchor="t"/>
          <a:lstStyle/>
          <a:p>
            <a:pPr marL="171450" indent="-171450">
              <a:spcBef>
                <a:spcPts val="800"/>
              </a:spcBef>
              <a:buFont typeface="Arial" panose="020B0604020202020204" pitchFamily="34" charset="0"/>
              <a:buChar char="•"/>
            </a:pPr>
            <a:r>
              <a:rPr lang="en-US" sz="1200" dirty="0">
                <a:solidFill>
                  <a:srgbClr val="000000"/>
                </a:solidFill>
                <a:latin typeface="Funnel Sans"/>
                <a:ea typeface="Funnel Sans"/>
              </a:rPr>
              <a:t>Claudin family members are also tumor-specifically available, and occupied in </a:t>
            </a:r>
            <a:r>
              <a:rPr lang="en-US" sz="1200" dirty="0" err="1">
                <a:solidFill>
                  <a:srgbClr val="000000"/>
                </a:solidFill>
                <a:latin typeface="Funnel Sans"/>
                <a:ea typeface="Funnel Sans"/>
              </a:rPr>
              <a:t>juntions</a:t>
            </a:r>
            <a:r>
              <a:rPr lang="en-US" sz="1200" dirty="0">
                <a:solidFill>
                  <a:srgbClr val="000000"/>
                </a:solidFill>
                <a:latin typeface="Funnel Sans"/>
                <a:ea typeface="Funnel Sans"/>
              </a:rPr>
              <a:t> in healthy tissue. We can infer CLDN1 feasibility from other claudin family members:</a:t>
            </a:r>
          </a:p>
          <a:p>
            <a:pPr marL="171450" indent="-171450">
              <a:spcBef>
                <a:spcPts val="800"/>
              </a:spcBef>
              <a:buFont typeface="Arial" panose="020B0604020202020204" pitchFamily="34" charset="0"/>
              <a:buChar char="•"/>
            </a:pPr>
            <a:r>
              <a:rPr lang="en-US" sz="1200" b="1" dirty="0" err="1">
                <a:solidFill>
                  <a:srgbClr val="000000"/>
                </a:solidFill>
                <a:latin typeface="Funnel Sans"/>
                <a:ea typeface="Funnel Sans"/>
              </a:rPr>
              <a:t>Zolbetuximab</a:t>
            </a:r>
            <a:r>
              <a:rPr lang="en-US" sz="1200" b="1" dirty="0">
                <a:solidFill>
                  <a:srgbClr val="000000"/>
                </a:solidFill>
                <a:latin typeface="Funnel Sans"/>
                <a:ea typeface="Funnel Sans"/>
              </a:rPr>
              <a:t> (CLDN18.2)</a:t>
            </a:r>
            <a:r>
              <a:rPr lang="en-US" sz="1200" dirty="0">
                <a:solidFill>
                  <a:srgbClr val="000000"/>
                </a:solidFill>
                <a:latin typeface="Funnel Sans"/>
                <a:ea typeface="Funnel Sans"/>
              </a:rPr>
              <a:t> — approved for G/GEJ; confirms claudins targetable with tumor-normal window</a:t>
            </a:r>
          </a:p>
          <a:p>
            <a:pPr marL="171450" indent="-171450">
              <a:spcBef>
                <a:spcPts val="800"/>
              </a:spcBef>
              <a:buFont typeface="Arial" panose="020B0604020202020204" pitchFamily="34" charset="0"/>
              <a:buChar char="•"/>
            </a:pPr>
            <a:r>
              <a:rPr lang="en-US" sz="1200" b="1" dirty="0">
                <a:solidFill>
                  <a:srgbClr val="000000"/>
                </a:solidFill>
                <a:ea typeface="Funnel Sans"/>
              </a:rPr>
              <a:t>Multiple CLDN18.2 programs</a:t>
            </a:r>
            <a:r>
              <a:rPr lang="en-US" sz="1200" dirty="0">
                <a:solidFill>
                  <a:srgbClr val="000000"/>
                </a:solidFill>
                <a:ea typeface="Funnel Sans"/>
              </a:rPr>
              <a:t> in development further validate claudin target class</a:t>
            </a:r>
          </a:p>
          <a:p>
            <a:pPr marL="171450" indent="-171450">
              <a:spcBef>
                <a:spcPts val="800"/>
              </a:spcBef>
              <a:buFont typeface="Arial" panose="020B0604020202020204" pitchFamily="34" charset="0"/>
              <a:buChar char="•"/>
            </a:pPr>
            <a:r>
              <a:rPr lang="en-US" sz="1200" b="1" dirty="0" err="1">
                <a:solidFill>
                  <a:srgbClr val="000000"/>
                </a:solidFill>
                <a:latin typeface="Funnel Sans"/>
                <a:ea typeface="Funnel Sans"/>
              </a:rPr>
              <a:t>Ixotatug</a:t>
            </a:r>
            <a:r>
              <a:rPr lang="en-US" sz="1200" b="1" dirty="0">
                <a:solidFill>
                  <a:srgbClr val="000000"/>
                </a:solidFill>
                <a:latin typeface="Funnel Sans"/>
                <a:ea typeface="Funnel Sans"/>
              </a:rPr>
              <a:t> vedotin (CLDN6)</a:t>
            </a:r>
            <a:r>
              <a:rPr lang="en-US" sz="1200" dirty="0">
                <a:solidFill>
                  <a:srgbClr val="000000"/>
                </a:solidFill>
                <a:latin typeface="Funnel Sans"/>
                <a:ea typeface="Funnel Sans"/>
              </a:rPr>
              <a:t> — Ph 2 ADC; AEs consistent with payload, not on-target activity</a:t>
            </a:r>
          </a:p>
          <a:p>
            <a:pPr marL="171450" indent="-171450">
              <a:spcBef>
                <a:spcPts val="800"/>
              </a:spcBef>
              <a:buFont typeface="Arial" panose="020B0604020202020204" pitchFamily="34" charset="0"/>
              <a:buChar char="•"/>
            </a:pPr>
            <a:r>
              <a:rPr lang="en-US" sz="1200" b="1" dirty="0">
                <a:solidFill>
                  <a:srgbClr val="000000"/>
                </a:solidFill>
                <a:latin typeface="Funnel Sans"/>
                <a:ea typeface="Funnel Sans"/>
              </a:rPr>
              <a:t>RLT readthrough:</a:t>
            </a:r>
            <a:r>
              <a:rPr lang="en-US" sz="1200" dirty="0">
                <a:solidFill>
                  <a:srgbClr val="000000"/>
                </a:solidFill>
                <a:latin typeface="Funnel Sans"/>
                <a:ea typeface="Funnel Sans"/>
              </a:rPr>
              <a:t> absence of on-target DLTs across CLDN1, 6, 18.2 supports RLT feasibility</a:t>
            </a:r>
          </a:p>
        </p:txBody>
      </p:sp>
      <p:sp>
        <p:nvSpPr>
          <p:cNvPr id="15" name="TextBox 14">
            <a:extLst>
              <a:ext uri="{FF2B5EF4-FFF2-40B4-BE49-F238E27FC236}">
                <a16:creationId xmlns:a16="http://schemas.microsoft.com/office/drawing/2014/main" id="{AA3D8DEE-C235-BD4F-7226-1323FD555AD0}"/>
              </a:ext>
            </a:extLst>
          </p:cNvPr>
          <p:cNvSpPr txBox="1"/>
          <p:nvPr/>
        </p:nvSpPr>
        <p:spPr>
          <a:xfrm>
            <a:off x="6518" y="6610684"/>
            <a:ext cx="1161715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0" i="0" u="none" strike="noStrike" baseline="0">
                <a:solidFill>
                  <a:srgbClr val="000000"/>
                </a:solidFill>
                <a:latin typeface="Funnel Sans"/>
                <a:ea typeface="Funnel Sans"/>
                <a:cs typeface="Funnel Sans"/>
              </a:rPr>
              <a:t>Sources:</a:t>
            </a:r>
            <a:r>
              <a:rPr lang="en-US" sz="1000" b="0" i="0" u="none" strike="noStrike" baseline="0">
                <a:solidFill>
                  <a:schemeClr val="accent3"/>
                </a:solidFill>
                <a:latin typeface="Funnel Sans"/>
                <a:ea typeface="+mn-lt"/>
                <a:cs typeface="+mn-lt"/>
              </a:rPr>
              <a:t> </a:t>
            </a:r>
            <a:r>
              <a:rPr lang="en-US" sz="1000">
                <a:solidFill>
                  <a:schemeClr val="accent3"/>
                </a:solidFill>
                <a:ea typeface="+mn-lt"/>
                <a:cs typeface="+mn-lt"/>
                <a:hlinkClick r:id="rId11">
                  <a:extLst>
                    <a:ext uri="{A12FA001-AC4F-418D-AE19-62706E023703}">
                      <ahyp:hlinkClr xmlns:ahyp="http://schemas.microsoft.com/office/drawing/2018/hyperlinkcolor" val="tx"/>
                    </a:ext>
                  </a:extLst>
                </a:hlinkClick>
              </a:rPr>
              <a:t>Roehlen, J of Hepatology 2023</a:t>
            </a:r>
            <a:r>
              <a:rPr lang="en-US" sz="1000">
                <a:solidFill>
                  <a:schemeClr val="accent3"/>
                </a:solidFill>
                <a:ea typeface="+mn-lt"/>
                <a:cs typeface="+mn-lt"/>
              </a:rPr>
              <a:t> , </a:t>
            </a:r>
            <a:r>
              <a:rPr lang="en-US" sz="1000" err="1">
                <a:solidFill>
                  <a:schemeClr val="accent3"/>
                </a:solidFill>
                <a:ea typeface="+mn-lt"/>
                <a:cs typeface="+mn-lt"/>
                <a:hlinkClick r:id="rId12">
                  <a:extLst>
                    <a:ext uri="{A12FA001-AC4F-418D-AE19-62706E023703}">
                      <ahyp:hlinkClr xmlns:ahyp="http://schemas.microsoft.com/office/drawing/2018/hyperlinkcolor" val="tx"/>
                    </a:ext>
                  </a:extLst>
                </a:hlinkClick>
              </a:rPr>
              <a:t>Cherradi</a:t>
            </a:r>
            <a:r>
              <a:rPr lang="en-US" sz="1000">
                <a:solidFill>
                  <a:schemeClr val="accent3"/>
                </a:solidFill>
                <a:ea typeface="+mn-lt"/>
                <a:cs typeface="+mn-lt"/>
                <a:hlinkClick r:id="rId12">
                  <a:extLst>
                    <a:ext uri="{A12FA001-AC4F-418D-AE19-62706E023703}">
                      <ahyp:hlinkClr xmlns:ahyp="http://schemas.microsoft.com/office/drawing/2018/hyperlinkcolor" val="tx"/>
                    </a:ext>
                  </a:extLst>
                </a:hlinkClick>
              </a:rPr>
              <a:t> ,J Exp &amp; Clinical Cancer Res 2017</a:t>
            </a:r>
            <a:r>
              <a:rPr lang="en-US" sz="1000">
                <a:solidFill>
                  <a:schemeClr val="accent3"/>
                </a:solidFill>
                <a:ea typeface="+mn-lt"/>
                <a:cs typeface="+mn-lt"/>
              </a:rPr>
              <a:t>, </a:t>
            </a:r>
            <a:r>
              <a:rPr lang="en-US" sz="1000" err="1">
                <a:solidFill>
                  <a:schemeClr val="accent3"/>
                </a:solidFill>
                <a:ea typeface="+mn-lt"/>
                <a:cs typeface="+mn-lt"/>
                <a:hlinkClick r:id="rId13"/>
              </a:rPr>
              <a:t>Mabwell</a:t>
            </a:r>
            <a:r>
              <a:rPr lang="en-US" sz="1000">
                <a:solidFill>
                  <a:schemeClr val="accent3"/>
                </a:solidFill>
                <a:ea typeface="+mn-lt"/>
                <a:cs typeface="+mn-lt"/>
                <a:hlinkClick r:id="rId13"/>
              </a:rPr>
              <a:t> AACR 2025</a:t>
            </a:r>
            <a:r>
              <a:rPr lang="en-US" sz="1000">
                <a:solidFill>
                  <a:schemeClr val="accent3"/>
                </a:solidFill>
                <a:ea typeface="+mn-lt"/>
                <a:cs typeface="+mn-lt"/>
              </a:rPr>
              <a:t>, </a:t>
            </a:r>
            <a:r>
              <a:rPr lang="en-US" sz="1000" err="1">
                <a:solidFill>
                  <a:schemeClr val="accent3"/>
                </a:solidFill>
                <a:ea typeface="+mn-lt"/>
                <a:cs typeface="+mn-lt"/>
              </a:rPr>
              <a:t>Alentis</a:t>
            </a:r>
            <a:r>
              <a:rPr lang="en-US" sz="1000">
                <a:solidFill>
                  <a:schemeClr val="accent3"/>
                </a:solidFill>
                <a:ea typeface="+mn-lt"/>
                <a:cs typeface="+mn-lt"/>
              </a:rPr>
              <a:t> </a:t>
            </a:r>
            <a:r>
              <a:rPr lang="en-US" sz="1000" err="1">
                <a:solidFill>
                  <a:schemeClr val="accent3"/>
                </a:solidFill>
                <a:ea typeface="+mn-lt"/>
                <a:cs typeface="+mn-lt"/>
              </a:rPr>
              <a:t>Webisite</a:t>
            </a:r>
            <a:r>
              <a:rPr lang="en-US" sz="1000">
                <a:solidFill>
                  <a:schemeClr val="accent3"/>
                </a:solidFill>
                <a:ea typeface="+mn-lt"/>
                <a:cs typeface="+mn-lt"/>
              </a:rPr>
              <a:t>, Beacon Intelligence</a:t>
            </a:r>
            <a:endParaRPr lang="en-US" sz="1000">
              <a:solidFill>
                <a:schemeClr val="accent3"/>
              </a:solidFill>
            </a:endParaRPr>
          </a:p>
          <a:p>
            <a:pPr algn="ctr"/>
            <a:endParaRPr lang="en-US"/>
          </a:p>
        </p:txBody>
      </p:sp>
    </p:spTree>
    <p:extLst>
      <p:ext uri="{BB962C8B-B14F-4D97-AF65-F5344CB8AC3E}">
        <p14:creationId xmlns:p14="http://schemas.microsoft.com/office/powerpoint/2010/main" val="222507209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8C184-2EA7-C45D-75C7-EF669F99A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969A8-F3A3-58B3-E231-C75F30E0D07F}"/>
              </a:ext>
            </a:extLst>
          </p:cNvPr>
          <p:cNvSpPr>
            <a:spLocks noGrp="1"/>
          </p:cNvSpPr>
          <p:nvPr>
            <p:ph type="ctrTitle"/>
          </p:nvPr>
        </p:nvSpPr>
        <p:spPr/>
        <p:txBody>
          <a:bodyPr/>
          <a:lstStyle/>
          <a:p>
            <a:r>
              <a:rPr lang="en-US"/>
              <a:t>CLDN1 Details</a:t>
            </a:r>
          </a:p>
        </p:txBody>
      </p:sp>
      <p:sp>
        <p:nvSpPr>
          <p:cNvPr id="4" name="TextBox 3">
            <a:extLst>
              <a:ext uri="{FF2B5EF4-FFF2-40B4-BE49-F238E27FC236}">
                <a16:creationId xmlns:a16="http://schemas.microsoft.com/office/drawing/2014/main" id="{84313F60-DFE0-8B46-45C5-D4C7FE772166}"/>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24238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849D0-FEB8-9D16-EF00-0F5BDCE16026}"/>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B1BD5C2B-54EF-AA99-1E60-632EC276E047}"/>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 name="Shape 1">
            <a:extLst>
              <a:ext uri="{FF2B5EF4-FFF2-40B4-BE49-F238E27FC236}">
                <a16:creationId xmlns:a16="http://schemas.microsoft.com/office/drawing/2014/main" id="{C4AC7AEF-C028-E61F-DFC7-967E4ACE5AE2}"/>
              </a:ext>
            </a:extLst>
          </p:cNvPr>
          <p:cNvSpPr/>
          <p:nvPr/>
        </p:nvSpPr>
        <p:spPr>
          <a:xfrm>
            <a:off x="227264" y="1508776"/>
            <a:ext cx="11338231"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5" name="Shape 19">
            <a:extLst>
              <a:ext uri="{FF2B5EF4-FFF2-40B4-BE49-F238E27FC236}">
                <a16:creationId xmlns:a16="http://schemas.microsoft.com/office/drawing/2014/main" id="{ABC62898-88B3-D2E7-3566-0C2319599CCF}"/>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6" name="Image 3" descr="preencoded.png">
            <a:extLst>
              <a:ext uri="{FF2B5EF4-FFF2-40B4-BE49-F238E27FC236}">
                <a16:creationId xmlns:a16="http://schemas.microsoft.com/office/drawing/2014/main" id="{F697F3AF-4DB2-D89C-E541-CF8B0007D91C}"/>
              </a:ext>
            </a:extLst>
          </p:cNvPr>
          <p:cNvPicPr>
            <a:picLocks noChangeAspect="1"/>
          </p:cNvPicPr>
          <p:nvPr/>
        </p:nvPicPr>
        <p:blipFill>
          <a:blip r:embed="rId3"/>
          <a:stretch>
            <a:fillRect/>
          </a:stretch>
        </p:blipFill>
        <p:spPr>
          <a:xfrm>
            <a:off x="323503" y="254000"/>
            <a:ext cx="156939" cy="191368"/>
          </a:xfrm>
          <a:prstGeom prst="rect">
            <a:avLst/>
          </a:prstGeom>
        </p:spPr>
      </p:pic>
      <p:pic>
        <p:nvPicPr>
          <p:cNvPr id="7" name="Image 4" descr="preencoded.png">
            <a:extLst>
              <a:ext uri="{FF2B5EF4-FFF2-40B4-BE49-F238E27FC236}">
                <a16:creationId xmlns:a16="http://schemas.microsoft.com/office/drawing/2014/main" id="{BD6824E2-E32C-DE1D-DE1A-E763D8A43F51}"/>
              </a:ext>
            </a:extLst>
          </p:cNvPr>
          <p:cNvPicPr>
            <a:picLocks noChangeAspect="1"/>
          </p:cNvPicPr>
          <p:nvPr/>
        </p:nvPicPr>
        <p:blipFill>
          <a:blip r:embed="rId4"/>
          <a:stretch>
            <a:fillRect/>
          </a:stretch>
        </p:blipFill>
        <p:spPr>
          <a:xfrm>
            <a:off x="387028" y="459541"/>
            <a:ext cx="968" cy="4"/>
          </a:xfrm>
          <a:prstGeom prst="rect">
            <a:avLst/>
          </a:prstGeom>
        </p:spPr>
      </p:pic>
      <p:pic>
        <p:nvPicPr>
          <p:cNvPr id="8" name="Image 5" descr="preencoded.png">
            <a:extLst>
              <a:ext uri="{FF2B5EF4-FFF2-40B4-BE49-F238E27FC236}">
                <a16:creationId xmlns:a16="http://schemas.microsoft.com/office/drawing/2014/main" id="{F2ACD1B7-557C-DB84-8279-C293D337BD74}"/>
              </a:ext>
            </a:extLst>
          </p:cNvPr>
          <p:cNvPicPr>
            <a:picLocks noChangeAspect="1"/>
          </p:cNvPicPr>
          <p:nvPr/>
        </p:nvPicPr>
        <p:blipFill>
          <a:blip r:embed="rId4"/>
          <a:stretch>
            <a:fillRect/>
          </a:stretch>
        </p:blipFill>
        <p:spPr>
          <a:xfrm>
            <a:off x="386756" y="459546"/>
            <a:ext cx="297" cy="4"/>
          </a:xfrm>
          <a:prstGeom prst="rect">
            <a:avLst/>
          </a:prstGeom>
        </p:spPr>
      </p:pic>
      <p:pic>
        <p:nvPicPr>
          <p:cNvPr id="9" name="Image 6" descr="preencoded.png">
            <a:extLst>
              <a:ext uri="{FF2B5EF4-FFF2-40B4-BE49-F238E27FC236}">
                <a16:creationId xmlns:a16="http://schemas.microsoft.com/office/drawing/2014/main" id="{AA35D88C-1E39-FC89-55FA-7A865D6B613C}"/>
              </a:ext>
            </a:extLst>
          </p:cNvPr>
          <p:cNvPicPr>
            <a:picLocks noChangeAspect="1"/>
          </p:cNvPicPr>
          <p:nvPr/>
        </p:nvPicPr>
        <p:blipFill>
          <a:blip r:embed="rId4"/>
          <a:stretch>
            <a:fillRect/>
          </a:stretch>
        </p:blipFill>
        <p:spPr>
          <a:xfrm>
            <a:off x="389261" y="473634"/>
            <a:ext cx="471" cy="4"/>
          </a:xfrm>
          <a:prstGeom prst="rect">
            <a:avLst/>
          </a:prstGeom>
        </p:spPr>
      </p:pic>
      <p:pic>
        <p:nvPicPr>
          <p:cNvPr id="10" name="Image 7" descr="preencoded.png">
            <a:extLst>
              <a:ext uri="{FF2B5EF4-FFF2-40B4-BE49-F238E27FC236}">
                <a16:creationId xmlns:a16="http://schemas.microsoft.com/office/drawing/2014/main" id="{15703EF6-DA40-84C3-B156-CCA9D40888E5}"/>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1" name="Image 8" descr="preencoded.png">
            <a:extLst>
              <a:ext uri="{FF2B5EF4-FFF2-40B4-BE49-F238E27FC236}">
                <a16:creationId xmlns:a16="http://schemas.microsoft.com/office/drawing/2014/main" id="{26D27C1F-0B0B-CFB2-8EEE-03E89162BE9D}"/>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2" name="Image 9" descr="preencoded.png">
            <a:extLst>
              <a:ext uri="{FF2B5EF4-FFF2-40B4-BE49-F238E27FC236}">
                <a16:creationId xmlns:a16="http://schemas.microsoft.com/office/drawing/2014/main" id="{CFB2688B-1933-AAF6-242C-4C30378AE947}"/>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3" name="Image 10" descr="preencoded.png">
            <a:extLst>
              <a:ext uri="{FF2B5EF4-FFF2-40B4-BE49-F238E27FC236}">
                <a16:creationId xmlns:a16="http://schemas.microsoft.com/office/drawing/2014/main" id="{1D80EF01-6598-4C5C-1D07-FC8DE4E59EDC}"/>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4" name="Image 11" descr="preencoded.png">
            <a:extLst>
              <a:ext uri="{FF2B5EF4-FFF2-40B4-BE49-F238E27FC236}">
                <a16:creationId xmlns:a16="http://schemas.microsoft.com/office/drawing/2014/main" id="{2BF41F1C-1641-CE49-56F3-5335F570ED37}"/>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5" name="Image 12" descr="preencoded.png">
            <a:extLst>
              <a:ext uri="{FF2B5EF4-FFF2-40B4-BE49-F238E27FC236}">
                <a16:creationId xmlns:a16="http://schemas.microsoft.com/office/drawing/2014/main" id="{D6F763F6-FE72-A23B-C02A-06859166842A}"/>
              </a:ext>
            </a:extLst>
          </p:cNvPr>
          <p:cNvPicPr>
            <a:picLocks noChangeAspect="1"/>
          </p:cNvPicPr>
          <p:nvPr/>
        </p:nvPicPr>
        <p:blipFill>
          <a:blip r:embed="rId10"/>
          <a:stretch>
            <a:fillRect/>
          </a:stretch>
        </p:blipFill>
        <p:spPr>
          <a:xfrm>
            <a:off x="254000" y="376361"/>
            <a:ext cx="174501" cy="157575"/>
          </a:xfrm>
          <a:prstGeom prst="rect">
            <a:avLst/>
          </a:prstGeom>
        </p:spPr>
      </p:pic>
      <p:sp>
        <p:nvSpPr>
          <p:cNvPr id="16" name="Text 28">
            <a:extLst>
              <a:ext uri="{FF2B5EF4-FFF2-40B4-BE49-F238E27FC236}">
                <a16:creationId xmlns:a16="http://schemas.microsoft.com/office/drawing/2014/main" id="{E9E7FBA5-3166-12E0-EEE4-32D01F574F0F}"/>
              </a:ext>
            </a:extLst>
          </p:cNvPr>
          <p:cNvSpPr/>
          <p:nvPr/>
        </p:nvSpPr>
        <p:spPr>
          <a:xfrm>
            <a:off x="227264" y="711101"/>
            <a:ext cx="11144370"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Tumor-specific </a:t>
            </a:r>
            <a:r>
              <a:rPr kumimoji="0" lang="en-US" sz="2400" b="0" i="0" u="none" strike="noStrike" kern="0" cap="none" spc="-24" normalizeH="0" baseline="0" noProof="0">
                <a:ln>
                  <a:noFill/>
                </a:ln>
                <a:solidFill>
                  <a:srgbClr val="000000">
                    <a:alpha val="99000"/>
                  </a:srgbClr>
                </a:solidFill>
                <a:effectLst/>
                <a:uLnTx/>
                <a:uFillTx/>
                <a:latin typeface="Funnel Sans"/>
                <a:ea typeface="+mn-lt"/>
                <a:cs typeface="+mn-lt"/>
              </a:rPr>
              <a:t>accessibility of CLDN1 creates a therapeutic window for RLT</a:t>
            </a:r>
            <a:endParaRPr kumimoji="0" lang="en-US" sz="2400" b="0" i="0" u="none" strike="noStrike" kern="1200" cap="none" spc="0" normalizeH="0" baseline="0" noProof="0">
              <a:ln>
                <a:noFill/>
              </a:ln>
              <a:solidFill>
                <a:prstClr val="black"/>
              </a:solidFill>
              <a:effectLst/>
              <a:uLnTx/>
              <a:uFillTx/>
              <a:latin typeface="Funnel Sans"/>
              <a:ea typeface="+mn-lt"/>
              <a:cs typeface="+mn-lt"/>
            </a:endParaRPr>
          </a:p>
        </p:txBody>
      </p:sp>
      <p:cxnSp>
        <p:nvCxnSpPr>
          <p:cNvPr id="2" name="Straight Connector 1">
            <a:extLst>
              <a:ext uri="{FF2B5EF4-FFF2-40B4-BE49-F238E27FC236}">
                <a16:creationId xmlns:a16="http://schemas.microsoft.com/office/drawing/2014/main" id="{BA666483-317F-C1D3-8796-52E790DC863F}"/>
              </a:ext>
            </a:extLst>
          </p:cNvPr>
          <p:cNvCxnSpPr>
            <a:cxnSpLocks/>
          </p:cNvCxnSpPr>
          <p:nvPr/>
        </p:nvCxnSpPr>
        <p:spPr>
          <a:xfrm>
            <a:off x="1465744" y="1685283"/>
            <a:ext cx="0" cy="723620"/>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2B1C0F89-F61F-C412-09C2-127E56B297E8}"/>
              </a:ext>
            </a:extLst>
          </p:cNvPr>
          <p:cNvSpPr txBox="1"/>
          <p:nvPr/>
        </p:nvSpPr>
        <p:spPr>
          <a:xfrm>
            <a:off x="297893" y="1597813"/>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Biology</a:t>
            </a:r>
          </a:p>
        </p:txBody>
      </p:sp>
      <p:sp>
        <p:nvSpPr>
          <p:cNvPr id="26" name="TextBox 25">
            <a:extLst>
              <a:ext uri="{FF2B5EF4-FFF2-40B4-BE49-F238E27FC236}">
                <a16:creationId xmlns:a16="http://schemas.microsoft.com/office/drawing/2014/main" id="{ADDC503F-63B0-2DC7-5DC4-4885057A2D09}"/>
              </a:ext>
            </a:extLst>
          </p:cNvPr>
          <p:cNvSpPr txBox="1"/>
          <p:nvPr/>
        </p:nvSpPr>
        <p:spPr>
          <a:xfrm>
            <a:off x="1580794" y="1592494"/>
            <a:ext cx="10163366" cy="418576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lt"/>
                <a:cs typeface="+mn-lt"/>
              </a:rPr>
              <a:t>In cancer, Claudin 1 (CLDN1) becomes selectively accessible. Loss of polarity and tight-junction integrity in CLDN1-overexpressing tumor cells exposes the extracellular loops creating a therapeutic window well suited for peptide-RLT. In intact epithelia, claudin tight junctions form sub-</a:t>
            </a:r>
            <a:r>
              <a:rPr kumimoji="0" lang="en-US" sz="1400" b="0" i="0" u="none" strike="noStrike" kern="1200" cap="none" spc="0" normalizeH="0" baseline="0" noProof="0" err="1">
                <a:ln>
                  <a:noFill/>
                </a:ln>
                <a:solidFill>
                  <a:prstClr val="black"/>
                </a:solidFill>
                <a:effectLst/>
                <a:uLnTx/>
                <a:uFillTx/>
                <a:latin typeface="Funnel Sans"/>
                <a:ea typeface="+mn-lt"/>
                <a:cs typeface="+mn-lt"/>
              </a:rPr>
              <a:t>nM</a:t>
            </a:r>
            <a:r>
              <a:rPr kumimoji="0" lang="en-US" sz="1400" b="0" i="0" u="none" strike="noStrike" kern="1200" cap="none" spc="0" normalizeH="0" baseline="0" noProof="0">
                <a:ln>
                  <a:noFill/>
                </a:ln>
                <a:solidFill>
                  <a:prstClr val="black"/>
                </a:solidFill>
                <a:effectLst/>
                <a:uLnTx/>
                <a:uFillTx/>
                <a:latin typeface="Funnel Sans"/>
                <a:ea typeface="+mn-lt"/>
                <a:cs typeface="+mn-lt"/>
              </a:rPr>
              <a:t> pores that permit only small solutes and ions, excluding peptides and proteins from reaching the extracellular loops. CLDN1 is constitutively internalized; a route for RLT agents to enter the cell.</a:t>
            </a:r>
            <a:endParaRPr kumimoji="0" lang="en-US" sz="18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Funnel Sans"/>
              <a:ea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lt"/>
                <a:cs typeface="+mn-lt"/>
              </a:rPr>
              <a:t>Total CLDN1 is overexpressed in 77% of Lung Squamous Cell Carcinoma, 75% HCC, 49% HNSCC, 80% of CRC, and in 70% of Squamous Cervical Carcinoma with lymph node metastases. CLDN1 has been confirmed to be available outside tight junctions in HCC and CRC patients and is likely to be available in other overexpressing tumors. Although CLDN1 is expressed in normal tissues (skin, tonsil, liver, bladder, and kidney), confinement in tight junctions provides a shield, minimizing off-target risk. </a:t>
            </a:r>
            <a:endParaRPr kumimoji="0" lang="en-US" sz="18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Funnel Sans"/>
              <a:ea typeface="+mn-lt"/>
              <a:cs typeface="Aptos Serif"/>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lt"/>
                <a:cs typeface="+mn-lt"/>
              </a:rPr>
              <a:t>Antibodies against the CLDN1 extracellular loops validate this epitope as selectively available &amp; druggable, and peptide ligands can be engineered to the same site. The approval of </a:t>
            </a:r>
            <a:r>
              <a:rPr kumimoji="0" lang="en-US" sz="1400" b="0" i="0" u="none" strike="noStrike" kern="1200" cap="none" spc="0" normalizeH="0" baseline="0" noProof="0" err="1">
                <a:ln>
                  <a:noFill/>
                </a:ln>
                <a:solidFill>
                  <a:prstClr val="black"/>
                </a:solidFill>
                <a:effectLst/>
                <a:uLnTx/>
                <a:uFillTx/>
                <a:latin typeface="Funnel Sans"/>
                <a:ea typeface="+mn-lt"/>
                <a:cs typeface="+mn-lt"/>
              </a:rPr>
              <a:t>Zolbetuximab</a:t>
            </a:r>
            <a:r>
              <a:rPr kumimoji="0" lang="en-US" sz="1400" b="0" i="0" u="none" strike="noStrike" kern="1200" cap="none" spc="0" normalizeH="0" baseline="0" noProof="0">
                <a:ln>
                  <a:noFill/>
                </a:ln>
                <a:solidFill>
                  <a:prstClr val="black"/>
                </a:solidFill>
                <a:effectLst/>
                <a:uLnTx/>
                <a:uFillTx/>
                <a:latin typeface="Funnel Sans"/>
                <a:ea typeface="+mn-lt"/>
                <a:cs typeface="+mn-lt"/>
              </a:rPr>
              <a:t> (CLDN18.2 </a:t>
            </a:r>
            <a:r>
              <a:rPr kumimoji="0" lang="en-US" sz="1400" b="0" i="0" u="none" strike="noStrike" kern="1200" cap="none" spc="0" normalizeH="0" baseline="0" noProof="0" err="1">
                <a:ln>
                  <a:noFill/>
                </a:ln>
                <a:solidFill>
                  <a:prstClr val="black"/>
                </a:solidFill>
                <a:effectLst/>
                <a:uLnTx/>
                <a:uFillTx/>
                <a:latin typeface="Funnel Sans"/>
                <a:ea typeface="+mn-lt"/>
                <a:cs typeface="+mn-lt"/>
              </a:rPr>
              <a:t>mAb</a:t>
            </a:r>
            <a:r>
              <a:rPr kumimoji="0" lang="en-US" sz="1400" b="0" i="0" u="none" strike="noStrike" kern="1200" cap="none" spc="0" normalizeH="0" baseline="0" noProof="0">
                <a:ln>
                  <a:noFill/>
                </a:ln>
                <a:solidFill>
                  <a:prstClr val="black"/>
                </a:solidFill>
                <a:effectLst/>
                <a:uLnTx/>
                <a:uFillTx/>
                <a:latin typeface="Funnel Sans"/>
                <a:ea typeface="+mn-lt"/>
                <a:cs typeface="+mn-lt"/>
              </a:rPr>
              <a:t>) further establishes the clinical relevance of claudin overexpression. Peptides provide an additional safety layer through rapid clearance and low background tissue retention avoiding the nonspecific accumulation seen with larger antibodies kept at saturating concentrations.</a:t>
            </a:r>
            <a:endParaRPr kumimoji="0" lang="en-US" sz="1800" b="0" i="0" u="none" strike="noStrike" kern="1200" cap="none" spc="0" normalizeH="0" baseline="0" noProof="0">
              <a:ln>
                <a:noFill/>
              </a:ln>
              <a:solidFill>
                <a:prstClr val="black"/>
              </a:solidFill>
              <a:effectLst/>
              <a:uLnTx/>
              <a:uFillTx/>
              <a:latin typeface="Funnel Sans"/>
              <a:ea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Funnel Sans"/>
              <a:ea typeface="+mn-lt"/>
              <a:cs typeface="Aptos Serif"/>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lt"/>
                <a:cs typeface="Aptos Serif"/>
              </a:rPr>
              <a:t>Tumors with known CLDN1 overexpression impact millions worldwide annually. All these indications have significant metastatic patient populations which lack effective treatment options. No other CLDN1 RLTs are in development, only CLDN1 targeted ADCs from </a:t>
            </a:r>
            <a:r>
              <a:rPr kumimoji="0" lang="en-US" sz="1400" b="0" i="0" u="none" strike="noStrike" kern="1200" cap="none" spc="0" normalizeH="0" baseline="0" noProof="0" err="1">
                <a:ln>
                  <a:noFill/>
                </a:ln>
                <a:solidFill>
                  <a:prstClr val="black"/>
                </a:solidFill>
                <a:effectLst/>
                <a:uLnTx/>
                <a:uFillTx/>
                <a:latin typeface="Funnel Sans"/>
                <a:ea typeface="+mn-lt"/>
                <a:cs typeface="Aptos Serif"/>
              </a:rPr>
              <a:t>Alentis</a:t>
            </a:r>
            <a:r>
              <a:rPr kumimoji="0" lang="en-US" sz="1400" b="0" i="0" u="none" strike="noStrike" kern="1200" cap="none" spc="0" normalizeH="0" baseline="0" noProof="0">
                <a:ln>
                  <a:noFill/>
                </a:ln>
                <a:solidFill>
                  <a:prstClr val="black"/>
                </a:solidFill>
                <a:effectLst/>
                <a:uLnTx/>
                <a:uFillTx/>
                <a:latin typeface="Funnel Sans"/>
                <a:ea typeface="+mn-lt"/>
                <a:cs typeface="Aptos Serif"/>
              </a:rPr>
              <a:t> Therapeutics currently in Ph 1 / 2. </a:t>
            </a:r>
            <a:endParaRPr kumimoji="0" lang="en-US" sz="1400" b="0" i="0" u="none" strike="noStrike" kern="1200" cap="none" spc="0" normalizeH="0" baseline="0" noProof="0">
              <a:ln>
                <a:noFill/>
              </a:ln>
              <a:solidFill>
                <a:prstClr val="black"/>
              </a:solidFill>
              <a:effectLst/>
              <a:uLnTx/>
              <a:uFillTx/>
              <a:latin typeface="Funnel Sans"/>
              <a:ea typeface="+mn-ea"/>
              <a:cs typeface="+mn-cs"/>
            </a:endParaRPr>
          </a:p>
        </p:txBody>
      </p:sp>
      <p:cxnSp>
        <p:nvCxnSpPr>
          <p:cNvPr id="33" name="Straight Connector 32">
            <a:extLst>
              <a:ext uri="{FF2B5EF4-FFF2-40B4-BE49-F238E27FC236}">
                <a16:creationId xmlns:a16="http://schemas.microsoft.com/office/drawing/2014/main" id="{5CEB9ACA-A0B1-F3EA-B47D-23B5827C0CDB}"/>
              </a:ext>
            </a:extLst>
          </p:cNvPr>
          <p:cNvCxnSpPr>
            <a:cxnSpLocks/>
          </p:cNvCxnSpPr>
          <p:nvPr/>
        </p:nvCxnSpPr>
        <p:spPr>
          <a:xfrm>
            <a:off x="1472636" y="2771809"/>
            <a:ext cx="0" cy="782966"/>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27E96B7E-EE56-942A-0CB4-349283A95976}"/>
              </a:ext>
            </a:extLst>
          </p:cNvPr>
          <p:cNvSpPr txBox="1"/>
          <p:nvPr/>
        </p:nvSpPr>
        <p:spPr>
          <a:xfrm>
            <a:off x="297893" y="2732856"/>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Expression</a:t>
            </a:r>
          </a:p>
        </p:txBody>
      </p:sp>
      <p:cxnSp>
        <p:nvCxnSpPr>
          <p:cNvPr id="35" name="Straight Connector 34">
            <a:extLst>
              <a:ext uri="{FF2B5EF4-FFF2-40B4-BE49-F238E27FC236}">
                <a16:creationId xmlns:a16="http://schemas.microsoft.com/office/drawing/2014/main" id="{FA7B38C1-95C3-25B5-4C14-0CF7E4BC4C6C}"/>
              </a:ext>
            </a:extLst>
          </p:cNvPr>
          <p:cNvCxnSpPr>
            <a:cxnSpLocks/>
          </p:cNvCxnSpPr>
          <p:nvPr/>
        </p:nvCxnSpPr>
        <p:spPr>
          <a:xfrm flipH="1">
            <a:off x="1465744" y="3999627"/>
            <a:ext cx="6892" cy="777002"/>
          </a:xfrm>
          <a:prstGeom prst="line">
            <a:avLst/>
          </a:prstGeom>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8CD3010E-21FD-3342-1B7E-9EE88642B18A}"/>
              </a:ext>
            </a:extLst>
          </p:cNvPr>
          <p:cNvSpPr txBox="1"/>
          <p:nvPr/>
        </p:nvSpPr>
        <p:spPr>
          <a:xfrm>
            <a:off x="297893" y="5062530"/>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Landscape</a:t>
            </a:r>
          </a:p>
        </p:txBody>
      </p:sp>
      <p:cxnSp>
        <p:nvCxnSpPr>
          <p:cNvPr id="37" name="Straight Connector 36">
            <a:extLst>
              <a:ext uri="{FF2B5EF4-FFF2-40B4-BE49-F238E27FC236}">
                <a16:creationId xmlns:a16="http://schemas.microsoft.com/office/drawing/2014/main" id="{9A30251D-60C1-85E3-5B82-1824A73CA7E1}"/>
              </a:ext>
            </a:extLst>
          </p:cNvPr>
          <p:cNvCxnSpPr>
            <a:cxnSpLocks/>
          </p:cNvCxnSpPr>
          <p:nvPr/>
        </p:nvCxnSpPr>
        <p:spPr>
          <a:xfrm>
            <a:off x="1453529" y="5088531"/>
            <a:ext cx="0" cy="555185"/>
          </a:xfrm>
          <a:prstGeom prst="line">
            <a:avLst/>
          </a:prstGeom>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6526224-4834-DCC7-E388-DC8CE4F2B867}"/>
              </a:ext>
            </a:extLst>
          </p:cNvPr>
          <p:cNvSpPr txBox="1"/>
          <p:nvPr/>
        </p:nvSpPr>
        <p:spPr>
          <a:xfrm>
            <a:off x="297893" y="3948611"/>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Feasibility</a:t>
            </a:r>
          </a:p>
        </p:txBody>
      </p:sp>
      <p:sp>
        <p:nvSpPr>
          <p:cNvPr id="40" name="Rectangle: Rounded Corners 39">
            <a:extLst>
              <a:ext uri="{FF2B5EF4-FFF2-40B4-BE49-F238E27FC236}">
                <a16:creationId xmlns:a16="http://schemas.microsoft.com/office/drawing/2014/main" id="{5C579F39-5994-50D7-869A-09576E9A0B8D}"/>
              </a:ext>
            </a:extLst>
          </p:cNvPr>
          <p:cNvSpPr/>
          <p:nvPr/>
        </p:nvSpPr>
        <p:spPr>
          <a:xfrm>
            <a:off x="637272" y="5953482"/>
            <a:ext cx="11124093" cy="665313"/>
          </a:xfrm>
          <a:prstGeom prst="round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41" name="Rectangle: Rounded Corners 40">
            <a:extLst>
              <a:ext uri="{FF2B5EF4-FFF2-40B4-BE49-F238E27FC236}">
                <a16:creationId xmlns:a16="http://schemas.microsoft.com/office/drawing/2014/main" id="{203B7584-6BE0-B49F-98FC-4992B8DB1AC5}"/>
              </a:ext>
            </a:extLst>
          </p:cNvPr>
          <p:cNvSpPr/>
          <p:nvPr/>
        </p:nvSpPr>
        <p:spPr>
          <a:xfrm>
            <a:off x="392343" y="5945628"/>
            <a:ext cx="1945303" cy="665313"/>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Funnel Sans"/>
                <a:ea typeface="+mn-ea"/>
                <a:cs typeface="+mn-cs"/>
              </a:rPr>
              <a:t>Sego’s Opportunity</a:t>
            </a:r>
          </a:p>
        </p:txBody>
      </p:sp>
      <p:sp>
        <p:nvSpPr>
          <p:cNvPr id="42" name="TextBox 41">
            <a:extLst>
              <a:ext uri="{FF2B5EF4-FFF2-40B4-BE49-F238E27FC236}">
                <a16:creationId xmlns:a16="http://schemas.microsoft.com/office/drawing/2014/main" id="{0D3D3D40-1B52-DEB6-6AF9-CDF8A6736DE7}"/>
              </a:ext>
            </a:extLst>
          </p:cNvPr>
          <p:cNvSpPr txBox="1"/>
          <p:nvPr/>
        </p:nvSpPr>
        <p:spPr>
          <a:xfrm>
            <a:off x="2344619" y="6030320"/>
            <a:ext cx="9416746" cy="523220"/>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Design a peptide-based RLT for CLDN1 that selectively targets an epitope available on tumor cells, creating a therapeutic window over healthy tissue. Possible application across multiple squamous &amp; adeno-carcinomas.</a:t>
            </a:r>
          </a:p>
        </p:txBody>
      </p:sp>
      <p:sp>
        <p:nvSpPr>
          <p:cNvPr id="18" name="TextBox 17">
            <a:extLst>
              <a:ext uri="{FF2B5EF4-FFF2-40B4-BE49-F238E27FC236}">
                <a16:creationId xmlns:a16="http://schemas.microsoft.com/office/drawing/2014/main" id="{857CAF0C-722B-731D-FCE4-DCA723E74559}"/>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3137613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53EAD-4449-4B33-0A3C-6948D39DBE24}"/>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0B9E6998-457B-14C7-A9E6-879BC3B11430}"/>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5" name="Shape 19">
            <a:extLst>
              <a:ext uri="{FF2B5EF4-FFF2-40B4-BE49-F238E27FC236}">
                <a16:creationId xmlns:a16="http://schemas.microsoft.com/office/drawing/2014/main" id="{DACE153A-B9D0-A9A7-0085-50B22037B143}"/>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6" name="Image 3" descr="preencoded.png">
            <a:extLst>
              <a:ext uri="{FF2B5EF4-FFF2-40B4-BE49-F238E27FC236}">
                <a16:creationId xmlns:a16="http://schemas.microsoft.com/office/drawing/2014/main" id="{29323491-42F2-72A9-06B0-8F751F239363}"/>
              </a:ext>
            </a:extLst>
          </p:cNvPr>
          <p:cNvPicPr>
            <a:picLocks noChangeAspect="1"/>
          </p:cNvPicPr>
          <p:nvPr/>
        </p:nvPicPr>
        <p:blipFill>
          <a:blip r:embed="rId3"/>
          <a:stretch>
            <a:fillRect/>
          </a:stretch>
        </p:blipFill>
        <p:spPr>
          <a:xfrm>
            <a:off x="323503" y="254000"/>
            <a:ext cx="156939" cy="191368"/>
          </a:xfrm>
          <a:prstGeom prst="rect">
            <a:avLst/>
          </a:prstGeom>
        </p:spPr>
      </p:pic>
      <p:pic>
        <p:nvPicPr>
          <p:cNvPr id="7" name="Image 4" descr="preencoded.png">
            <a:extLst>
              <a:ext uri="{FF2B5EF4-FFF2-40B4-BE49-F238E27FC236}">
                <a16:creationId xmlns:a16="http://schemas.microsoft.com/office/drawing/2014/main" id="{D1E0FDA8-43E8-F063-9978-1DE0768A574E}"/>
              </a:ext>
            </a:extLst>
          </p:cNvPr>
          <p:cNvPicPr>
            <a:picLocks noChangeAspect="1"/>
          </p:cNvPicPr>
          <p:nvPr/>
        </p:nvPicPr>
        <p:blipFill>
          <a:blip r:embed="rId4"/>
          <a:stretch>
            <a:fillRect/>
          </a:stretch>
        </p:blipFill>
        <p:spPr>
          <a:xfrm>
            <a:off x="387028" y="459541"/>
            <a:ext cx="968" cy="4"/>
          </a:xfrm>
          <a:prstGeom prst="rect">
            <a:avLst/>
          </a:prstGeom>
        </p:spPr>
      </p:pic>
      <p:pic>
        <p:nvPicPr>
          <p:cNvPr id="8" name="Image 5" descr="preencoded.png">
            <a:extLst>
              <a:ext uri="{FF2B5EF4-FFF2-40B4-BE49-F238E27FC236}">
                <a16:creationId xmlns:a16="http://schemas.microsoft.com/office/drawing/2014/main" id="{9BC86625-5C27-9143-05C0-F218C21D89AA}"/>
              </a:ext>
            </a:extLst>
          </p:cNvPr>
          <p:cNvPicPr>
            <a:picLocks noChangeAspect="1"/>
          </p:cNvPicPr>
          <p:nvPr/>
        </p:nvPicPr>
        <p:blipFill>
          <a:blip r:embed="rId4"/>
          <a:stretch>
            <a:fillRect/>
          </a:stretch>
        </p:blipFill>
        <p:spPr>
          <a:xfrm>
            <a:off x="386756" y="459546"/>
            <a:ext cx="297" cy="4"/>
          </a:xfrm>
          <a:prstGeom prst="rect">
            <a:avLst/>
          </a:prstGeom>
        </p:spPr>
      </p:pic>
      <p:pic>
        <p:nvPicPr>
          <p:cNvPr id="9" name="Image 6" descr="preencoded.png">
            <a:extLst>
              <a:ext uri="{FF2B5EF4-FFF2-40B4-BE49-F238E27FC236}">
                <a16:creationId xmlns:a16="http://schemas.microsoft.com/office/drawing/2014/main" id="{2A05BBDD-730E-E9EB-07BA-BBA0AEC5D59C}"/>
              </a:ext>
            </a:extLst>
          </p:cNvPr>
          <p:cNvPicPr>
            <a:picLocks noChangeAspect="1"/>
          </p:cNvPicPr>
          <p:nvPr/>
        </p:nvPicPr>
        <p:blipFill>
          <a:blip r:embed="rId4"/>
          <a:stretch>
            <a:fillRect/>
          </a:stretch>
        </p:blipFill>
        <p:spPr>
          <a:xfrm>
            <a:off x="389261" y="473634"/>
            <a:ext cx="471" cy="4"/>
          </a:xfrm>
          <a:prstGeom prst="rect">
            <a:avLst/>
          </a:prstGeom>
        </p:spPr>
      </p:pic>
      <p:pic>
        <p:nvPicPr>
          <p:cNvPr id="10" name="Image 7" descr="preencoded.png">
            <a:extLst>
              <a:ext uri="{FF2B5EF4-FFF2-40B4-BE49-F238E27FC236}">
                <a16:creationId xmlns:a16="http://schemas.microsoft.com/office/drawing/2014/main" id="{2C41FF55-B74B-F793-050C-4D30C7921428}"/>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1" name="Image 8" descr="preencoded.png">
            <a:extLst>
              <a:ext uri="{FF2B5EF4-FFF2-40B4-BE49-F238E27FC236}">
                <a16:creationId xmlns:a16="http://schemas.microsoft.com/office/drawing/2014/main" id="{DB5D91A5-9877-9DEE-453B-155ACD28685C}"/>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2" name="Image 9" descr="preencoded.png">
            <a:extLst>
              <a:ext uri="{FF2B5EF4-FFF2-40B4-BE49-F238E27FC236}">
                <a16:creationId xmlns:a16="http://schemas.microsoft.com/office/drawing/2014/main" id="{AF6F1D09-FA4A-3979-3F4E-CAC45AE9BB21}"/>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3" name="Image 10" descr="preencoded.png">
            <a:extLst>
              <a:ext uri="{FF2B5EF4-FFF2-40B4-BE49-F238E27FC236}">
                <a16:creationId xmlns:a16="http://schemas.microsoft.com/office/drawing/2014/main" id="{F5A52F84-0344-48C9-A715-C70262D88BB7}"/>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4" name="Image 11" descr="preencoded.png">
            <a:extLst>
              <a:ext uri="{FF2B5EF4-FFF2-40B4-BE49-F238E27FC236}">
                <a16:creationId xmlns:a16="http://schemas.microsoft.com/office/drawing/2014/main" id="{6D312814-67A9-DAC0-8BA7-A8A4709B8BFF}"/>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5" name="Image 12" descr="preencoded.png">
            <a:extLst>
              <a:ext uri="{FF2B5EF4-FFF2-40B4-BE49-F238E27FC236}">
                <a16:creationId xmlns:a16="http://schemas.microsoft.com/office/drawing/2014/main" id="{253F1CC5-4A06-A850-9EE7-0C6034C17A52}"/>
              </a:ext>
            </a:extLst>
          </p:cNvPr>
          <p:cNvPicPr>
            <a:picLocks noChangeAspect="1"/>
          </p:cNvPicPr>
          <p:nvPr/>
        </p:nvPicPr>
        <p:blipFill>
          <a:blip r:embed="rId10"/>
          <a:stretch>
            <a:fillRect/>
          </a:stretch>
        </p:blipFill>
        <p:spPr>
          <a:xfrm>
            <a:off x="254000" y="376361"/>
            <a:ext cx="174501" cy="157575"/>
          </a:xfrm>
          <a:prstGeom prst="rect">
            <a:avLst/>
          </a:prstGeom>
        </p:spPr>
      </p:pic>
      <p:sp>
        <p:nvSpPr>
          <p:cNvPr id="16" name="Text 28">
            <a:extLst>
              <a:ext uri="{FF2B5EF4-FFF2-40B4-BE49-F238E27FC236}">
                <a16:creationId xmlns:a16="http://schemas.microsoft.com/office/drawing/2014/main" id="{8E7A7FFC-B051-4BC4-2D02-888E4B353E47}"/>
              </a:ext>
            </a:extLst>
          </p:cNvPr>
          <p:cNvSpPr/>
          <p:nvPr/>
        </p:nvSpPr>
        <p:spPr>
          <a:xfrm>
            <a:off x="441342" y="-50799"/>
            <a:ext cx="11124153"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18" name="TextBox 17">
            <a:extLst>
              <a:ext uri="{FF2B5EF4-FFF2-40B4-BE49-F238E27FC236}">
                <a16:creationId xmlns:a16="http://schemas.microsoft.com/office/drawing/2014/main" id="{F7E967E2-FCBB-120B-3A58-6D9E156CC547}"/>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pic>
        <p:nvPicPr>
          <p:cNvPr id="19" name="Picture 18" descr="A diagram of a healthy and uncontrolled cell&#10;&#10;AI-generated content may be incorrect.">
            <a:extLst>
              <a:ext uri="{FF2B5EF4-FFF2-40B4-BE49-F238E27FC236}">
                <a16:creationId xmlns:a16="http://schemas.microsoft.com/office/drawing/2014/main" id="{66A32903-767F-2CF1-F6C2-D5EA907BE8D1}"/>
              </a:ext>
            </a:extLst>
          </p:cNvPr>
          <p:cNvPicPr>
            <a:picLocks noChangeAspect="1"/>
          </p:cNvPicPr>
          <p:nvPr/>
        </p:nvPicPr>
        <p:blipFill>
          <a:blip r:embed="rId11"/>
          <a:stretch>
            <a:fillRect/>
          </a:stretch>
        </p:blipFill>
        <p:spPr>
          <a:xfrm>
            <a:off x="2692401" y="2230615"/>
            <a:ext cx="7107497" cy="3784314"/>
          </a:xfrm>
          <a:prstGeom prst="rect">
            <a:avLst/>
          </a:prstGeom>
        </p:spPr>
      </p:pic>
      <p:sp>
        <p:nvSpPr>
          <p:cNvPr id="30" name="Text 28">
            <a:extLst>
              <a:ext uri="{FF2B5EF4-FFF2-40B4-BE49-F238E27FC236}">
                <a16:creationId xmlns:a16="http://schemas.microsoft.com/office/drawing/2014/main" id="{9F7CF5E0-7FF5-0D97-95B6-0AD8F3B7D38B}"/>
              </a:ext>
            </a:extLst>
          </p:cNvPr>
          <p:cNvSpPr/>
          <p:nvPr/>
        </p:nvSpPr>
        <p:spPr>
          <a:xfrm>
            <a:off x="227264" y="711101"/>
            <a:ext cx="11496658"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When overexpressed in tumor cells, CLDN1 is exposed and accessible for binding outside of normal location in tight junctions</a:t>
            </a:r>
            <a:endParaRPr kumimoji="0" lang="en-US" sz="2400" b="0" i="0" u="none" strike="noStrike" kern="1200" cap="none" spc="0" normalizeH="0" baseline="0" noProof="0">
              <a:ln>
                <a:noFill/>
              </a:ln>
              <a:solidFill>
                <a:srgbClr val="000000">
                  <a:alpha val="99000"/>
                </a:srgbClr>
              </a:solidFill>
              <a:effectLst/>
              <a:uLnTx/>
              <a:uFillTx/>
              <a:latin typeface="Funnel Sans"/>
              <a:ea typeface="Funnel Sans"/>
              <a:cs typeface="+mn-cs"/>
            </a:endParaRPr>
          </a:p>
        </p:txBody>
      </p:sp>
      <p:sp>
        <p:nvSpPr>
          <p:cNvPr id="46" name="TextBox 45">
            <a:extLst>
              <a:ext uri="{FF2B5EF4-FFF2-40B4-BE49-F238E27FC236}">
                <a16:creationId xmlns:a16="http://schemas.microsoft.com/office/drawing/2014/main" id="{7CE350EE-CE2E-8AF7-0DCF-19306133A5CF}"/>
              </a:ext>
            </a:extLst>
          </p:cNvPr>
          <p:cNvSpPr txBox="1"/>
          <p:nvPr/>
        </p:nvSpPr>
        <p:spPr>
          <a:xfrm>
            <a:off x="0" y="6611779"/>
            <a:ext cx="10874477" cy="24622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Sources: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2"/>
              </a:rPr>
              <a:t>Vonniessen Frontiers Onc 2024</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Segoe UI"/>
                <a:ea typeface="+mn-lt"/>
                <a:cs typeface="Segoe UI"/>
                <a:hlinkClick r:id="rId13"/>
              </a:rPr>
              <a:t>Hana Int J Mol Sci 2024</a:t>
            </a:r>
            <a:r>
              <a:rPr kumimoji="0" lang="en-US" sz="1000" b="0" i="0" u="none" strike="noStrike" kern="1200" cap="none" spc="0" normalizeH="0" baseline="0" noProof="0">
                <a:ln>
                  <a:noFill/>
                </a:ln>
                <a:solidFill>
                  <a:prstClr val="black"/>
                </a:solidFill>
                <a:effectLst/>
                <a:uLnTx/>
                <a:uFillTx/>
                <a:latin typeface="Funnel Sans"/>
                <a:ea typeface="+mn-lt"/>
                <a:cs typeface="+mn-lt"/>
              </a:rPr>
              <a:t> ,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4"/>
              </a:rPr>
              <a:t>Sekhar PLOS Pathogens 2018</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5"/>
              </a:rPr>
              <a:t>Image – Alentis</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6"/>
              </a:rPr>
              <a:t>Horowitz Nat Rev Gastroenterol Hepatol 2023</a:t>
            </a:r>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47" name="Shape 1">
            <a:extLst>
              <a:ext uri="{FF2B5EF4-FFF2-40B4-BE49-F238E27FC236}">
                <a16:creationId xmlns:a16="http://schemas.microsoft.com/office/drawing/2014/main" id="{58AE2135-1E3A-C865-6004-8F9C7F966082}"/>
              </a:ext>
            </a:extLst>
          </p:cNvPr>
          <p:cNvSpPr/>
          <p:nvPr/>
        </p:nvSpPr>
        <p:spPr>
          <a:xfrm>
            <a:off x="227264" y="1508776"/>
            <a:ext cx="11757078"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8" name="Rectangle: Rounded Corners 47">
            <a:extLst>
              <a:ext uri="{FF2B5EF4-FFF2-40B4-BE49-F238E27FC236}">
                <a16:creationId xmlns:a16="http://schemas.microsoft.com/office/drawing/2014/main" id="{39433B5D-1048-89D3-C5D7-5F41F407AE95}"/>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Biology</a:t>
            </a:r>
          </a:p>
        </p:txBody>
      </p:sp>
      <p:cxnSp>
        <p:nvCxnSpPr>
          <p:cNvPr id="26" name="Straight Connector 25">
            <a:extLst>
              <a:ext uri="{FF2B5EF4-FFF2-40B4-BE49-F238E27FC236}">
                <a16:creationId xmlns:a16="http://schemas.microsoft.com/office/drawing/2014/main" id="{7EBD287D-F69B-05F3-5F43-8A4B3F4FEC0C}"/>
              </a:ext>
            </a:extLst>
          </p:cNvPr>
          <p:cNvCxnSpPr>
            <a:cxnSpLocks/>
          </p:cNvCxnSpPr>
          <p:nvPr/>
        </p:nvCxnSpPr>
        <p:spPr>
          <a:xfrm>
            <a:off x="9206654" y="4009627"/>
            <a:ext cx="1393055" cy="0"/>
          </a:xfrm>
          <a:prstGeom prst="line">
            <a:avLst/>
          </a:prstGeom>
          <a:ln>
            <a:solidFill>
              <a:srgbClr val="FFBA31"/>
            </a:solidFill>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CAD096BB-DA75-5B4C-08D5-1C5108318A52}"/>
              </a:ext>
            </a:extLst>
          </p:cNvPr>
          <p:cNvSpPr/>
          <p:nvPr/>
        </p:nvSpPr>
        <p:spPr>
          <a:xfrm>
            <a:off x="9390100" y="3353556"/>
            <a:ext cx="2696902" cy="1384996"/>
          </a:xfrm>
          <a:prstGeom prst="roundRect">
            <a:avLst/>
          </a:prstGeom>
          <a:solidFill>
            <a:schemeClr val="bg1"/>
          </a:solidFill>
          <a:ln>
            <a:solidFill>
              <a:srgbClr val="FFBA3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Over-expression and loss of normal cellular polarization in tumor cells leads to excess CLDN1 exposed &amp; accessible for peptide RLT binding on the cell surface.</a:t>
            </a:r>
          </a:p>
        </p:txBody>
      </p:sp>
      <p:cxnSp>
        <p:nvCxnSpPr>
          <p:cNvPr id="36" name="Straight Connector 35">
            <a:extLst>
              <a:ext uri="{FF2B5EF4-FFF2-40B4-BE49-F238E27FC236}">
                <a16:creationId xmlns:a16="http://schemas.microsoft.com/office/drawing/2014/main" id="{EA173F17-4AFF-3022-2F43-16D65DECA76F}"/>
              </a:ext>
            </a:extLst>
          </p:cNvPr>
          <p:cNvCxnSpPr>
            <a:cxnSpLocks/>
          </p:cNvCxnSpPr>
          <p:nvPr/>
        </p:nvCxnSpPr>
        <p:spPr>
          <a:xfrm>
            <a:off x="2600678" y="4304267"/>
            <a:ext cx="1801431" cy="0"/>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sp>
        <p:nvSpPr>
          <p:cNvPr id="35" name="Rectangle: Rounded Corners 34">
            <a:extLst>
              <a:ext uri="{FF2B5EF4-FFF2-40B4-BE49-F238E27FC236}">
                <a16:creationId xmlns:a16="http://schemas.microsoft.com/office/drawing/2014/main" id="{964699F1-EFEF-0439-9A3B-CAEE24FB4FE2}"/>
              </a:ext>
            </a:extLst>
          </p:cNvPr>
          <p:cNvSpPr/>
          <p:nvPr/>
        </p:nvSpPr>
        <p:spPr>
          <a:xfrm>
            <a:off x="664523" y="3520030"/>
            <a:ext cx="2696902" cy="2238110"/>
          </a:xfrm>
          <a:prstGeom prst="roundRect">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CLDN1 is fully occupied in tight junctions in healthy cells. Tight junctions have an effective diameter of 0.6nM and restricts solutes larger than ~400 Da. Due to this, it is unlikely that a &gt;1500 Da CLND1 peptide RLT would be able to bind healthy cells. </a:t>
            </a:r>
          </a:p>
        </p:txBody>
      </p:sp>
    </p:spTree>
    <p:extLst>
      <p:ext uri="{BB962C8B-B14F-4D97-AF65-F5344CB8AC3E}">
        <p14:creationId xmlns:p14="http://schemas.microsoft.com/office/powerpoint/2010/main" val="1954856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25439-E845-714C-B89B-366D8DB99FF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E9A06A-2F21-5CAE-4EB6-EA2F86F8A760}"/>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 name="Shape 19">
            <a:extLst>
              <a:ext uri="{FF2B5EF4-FFF2-40B4-BE49-F238E27FC236}">
                <a16:creationId xmlns:a16="http://schemas.microsoft.com/office/drawing/2014/main" id="{75F3A23E-8337-272B-1DB2-44BED64D4D37}"/>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4" name="Image 3" descr="preencoded.png">
            <a:extLst>
              <a:ext uri="{FF2B5EF4-FFF2-40B4-BE49-F238E27FC236}">
                <a16:creationId xmlns:a16="http://schemas.microsoft.com/office/drawing/2014/main" id="{A935A29B-057A-CA90-7811-010D4B7FD24B}"/>
              </a:ext>
            </a:extLst>
          </p:cNvPr>
          <p:cNvPicPr>
            <a:picLocks noChangeAspect="1"/>
          </p:cNvPicPr>
          <p:nvPr/>
        </p:nvPicPr>
        <p:blipFill>
          <a:blip r:embed="rId2"/>
          <a:stretch>
            <a:fillRect/>
          </a:stretch>
        </p:blipFill>
        <p:spPr>
          <a:xfrm>
            <a:off x="323503" y="254000"/>
            <a:ext cx="156939" cy="191368"/>
          </a:xfrm>
          <a:prstGeom prst="rect">
            <a:avLst/>
          </a:prstGeom>
        </p:spPr>
      </p:pic>
      <p:pic>
        <p:nvPicPr>
          <p:cNvPr id="5" name="Image 4" descr="preencoded.png">
            <a:extLst>
              <a:ext uri="{FF2B5EF4-FFF2-40B4-BE49-F238E27FC236}">
                <a16:creationId xmlns:a16="http://schemas.microsoft.com/office/drawing/2014/main" id="{524B9638-F12E-C771-EE07-525A34DD238B}"/>
              </a:ext>
            </a:extLst>
          </p:cNvPr>
          <p:cNvPicPr>
            <a:picLocks noChangeAspect="1"/>
          </p:cNvPicPr>
          <p:nvPr/>
        </p:nvPicPr>
        <p:blipFill>
          <a:blip r:embed="rId3"/>
          <a:stretch>
            <a:fillRect/>
          </a:stretch>
        </p:blipFill>
        <p:spPr>
          <a:xfrm>
            <a:off x="387028" y="459541"/>
            <a:ext cx="968" cy="4"/>
          </a:xfrm>
          <a:prstGeom prst="rect">
            <a:avLst/>
          </a:prstGeom>
        </p:spPr>
      </p:pic>
      <p:pic>
        <p:nvPicPr>
          <p:cNvPr id="6" name="Image 5" descr="preencoded.png">
            <a:extLst>
              <a:ext uri="{FF2B5EF4-FFF2-40B4-BE49-F238E27FC236}">
                <a16:creationId xmlns:a16="http://schemas.microsoft.com/office/drawing/2014/main" id="{1F8AD5B6-AC07-AE6D-DD71-02BCF044917A}"/>
              </a:ext>
            </a:extLst>
          </p:cNvPr>
          <p:cNvPicPr>
            <a:picLocks noChangeAspect="1"/>
          </p:cNvPicPr>
          <p:nvPr/>
        </p:nvPicPr>
        <p:blipFill>
          <a:blip r:embed="rId3"/>
          <a:stretch>
            <a:fillRect/>
          </a:stretch>
        </p:blipFill>
        <p:spPr>
          <a:xfrm>
            <a:off x="386756" y="459546"/>
            <a:ext cx="297" cy="4"/>
          </a:xfrm>
          <a:prstGeom prst="rect">
            <a:avLst/>
          </a:prstGeom>
        </p:spPr>
      </p:pic>
      <p:pic>
        <p:nvPicPr>
          <p:cNvPr id="7" name="Image 6" descr="preencoded.png">
            <a:extLst>
              <a:ext uri="{FF2B5EF4-FFF2-40B4-BE49-F238E27FC236}">
                <a16:creationId xmlns:a16="http://schemas.microsoft.com/office/drawing/2014/main" id="{31E67F06-90DC-7599-5443-8E9CF60D4E76}"/>
              </a:ext>
            </a:extLst>
          </p:cNvPr>
          <p:cNvPicPr>
            <a:picLocks noChangeAspect="1"/>
          </p:cNvPicPr>
          <p:nvPr/>
        </p:nvPicPr>
        <p:blipFill>
          <a:blip r:embed="rId3"/>
          <a:stretch>
            <a:fillRect/>
          </a:stretch>
        </p:blipFill>
        <p:spPr>
          <a:xfrm>
            <a:off x="389261" y="473634"/>
            <a:ext cx="471" cy="4"/>
          </a:xfrm>
          <a:prstGeom prst="rect">
            <a:avLst/>
          </a:prstGeom>
        </p:spPr>
      </p:pic>
      <p:pic>
        <p:nvPicPr>
          <p:cNvPr id="8" name="Image 7" descr="preencoded.png">
            <a:extLst>
              <a:ext uri="{FF2B5EF4-FFF2-40B4-BE49-F238E27FC236}">
                <a16:creationId xmlns:a16="http://schemas.microsoft.com/office/drawing/2014/main" id="{66C74796-A2D1-1CCE-DA2C-E1FCD9D918C8}"/>
              </a:ext>
            </a:extLst>
          </p:cNvPr>
          <p:cNvPicPr>
            <a:picLocks noChangeAspect="1"/>
          </p:cNvPicPr>
          <p:nvPr/>
        </p:nvPicPr>
        <p:blipFill>
          <a:blip r:embed="rId4"/>
          <a:stretch>
            <a:fillRect/>
          </a:stretch>
        </p:blipFill>
        <p:spPr>
          <a:xfrm>
            <a:off x="600300" y="305277"/>
            <a:ext cx="137641" cy="202443"/>
          </a:xfrm>
          <a:prstGeom prst="rect">
            <a:avLst/>
          </a:prstGeom>
        </p:spPr>
      </p:pic>
      <p:pic>
        <p:nvPicPr>
          <p:cNvPr id="9" name="Image 8" descr="preencoded.png">
            <a:extLst>
              <a:ext uri="{FF2B5EF4-FFF2-40B4-BE49-F238E27FC236}">
                <a16:creationId xmlns:a16="http://schemas.microsoft.com/office/drawing/2014/main" id="{10D58F1E-7138-F6D3-7E5C-815FC3CB721D}"/>
              </a:ext>
            </a:extLst>
          </p:cNvPr>
          <p:cNvPicPr>
            <a:picLocks noChangeAspect="1"/>
          </p:cNvPicPr>
          <p:nvPr/>
        </p:nvPicPr>
        <p:blipFill>
          <a:blip r:embed="rId5"/>
          <a:stretch>
            <a:fillRect/>
          </a:stretch>
        </p:blipFill>
        <p:spPr>
          <a:xfrm>
            <a:off x="743372" y="360473"/>
            <a:ext cx="126579" cy="147243"/>
          </a:xfrm>
          <a:prstGeom prst="rect">
            <a:avLst/>
          </a:prstGeom>
        </p:spPr>
      </p:pic>
      <p:pic>
        <p:nvPicPr>
          <p:cNvPr id="10" name="Image 9" descr="preencoded.png">
            <a:extLst>
              <a:ext uri="{FF2B5EF4-FFF2-40B4-BE49-F238E27FC236}">
                <a16:creationId xmlns:a16="http://schemas.microsoft.com/office/drawing/2014/main" id="{B4439490-D477-B9DE-49A1-83E27DC05F0A}"/>
              </a:ext>
            </a:extLst>
          </p:cNvPr>
          <p:cNvPicPr>
            <a:picLocks noChangeAspect="1"/>
          </p:cNvPicPr>
          <p:nvPr/>
        </p:nvPicPr>
        <p:blipFill>
          <a:blip r:embed="rId6"/>
          <a:stretch>
            <a:fillRect/>
          </a:stretch>
        </p:blipFill>
        <p:spPr>
          <a:xfrm>
            <a:off x="872928" y="360456"/>
            <a:ext cx="131737" cy="198345"/>
          </a:xfrm>
          <a:prstGeom prst="rect">
            <a:avLst/>
          </a:prstGeom>
        </p:spPr>
      </p:pic>
      <p:pic>
        <p:nvPicPr>
          <p:cNvPr id="11" name="Image 10" descr="preencoded.png">
            <a:extLst>
              <a:ext uri="{FF2B5EF4-FFF2-40B4-BE49-F238E27FC236}">
                <a16:creationId xmlns:a16="http://schemas.microsoft.com/office/drawing/2014/main" id="{F4086F39-3233-4AAD-B59D-783E7AB95735}"/>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12" name="Image 11" descr="preencoded.png">
            <a:extLst>
              <a:ext uri="{FF2B5EF4-FFF2-40B4-BE49-F238E27FC236}">
                <a16:creationId xmlns:a16="http://schemas.microsoft.com/office/drawing/2014/main" id="{55A10AEC-6068-790D-604F-813B2AD7C29C}"/>
              </a:ext>
            </a:extLst>
          </p:cNvPr>
          <p:cNvPicPr>
            <a:picLocks noChangeAspect="1"/>
          </p:cNvPicPr>
          <p:nvPr/>
        </p:nvPicPr>
        <p:blipFill>
          <a:blip r:embed="rId8"/>
          <a:stretch>
            <a:fillRect/>
          </a:stretch>
        </p:blipFill>
        <p:spPr>
          <a:xfrm>
            <a:off x="375419" y="376364"/>
            <a:ext cx="174501" cy="157568"/>
          </a:xfrm>
          <a:prstGeom prst="rect">
            <a:avLst/>
          </a:prstGeom>
        </p:spPr>
      </p:pic>
      <p:pic>
        <p:nvPicPr>
          <p:cNvPr id="13" name="Image 12" descr="preencoded.png">
            <a:extLst>
              <a:ext uri="{FF2B5EF4-FFF2-40B4-BE49-F238E27FC236}">
                <a16:creationId xmlns:a16="http://schemas.microsoft.com/office/drawing/2014/main" id="{9D0A23B3-7C2A-597A-A3CB-885F59B2157B}"/>
              </a:ext>
            </a:extLst>
          </p:cNvPr>
          <p:cNvPicPr>
            <a:picLocks noChangeAspect="1"/>
          </p:cNvPicPr>
          <p:nvPr/>
        </p:nvPicPr>
        <p:blipFill>
          <a:blip r:embed="rId9"/>
          <a:stretch>
            <a:fillRect/>
          </a:stretch>
        </p:blipFill>
        <p:spPr>
          <a:xfrm>
            <a:off x="254000" y="376361"/>
            <a:ext cx="174501" cy="157575"/>
          </a:xfrm>
          <a:prstGeom prst="rect">
            <a:avLst/>
          </a:prstGeom>
        </p:spPr>
      </p:pic>
      <p:sp>
        <p:nvSpPr>
          <p:cNvPr id="14" name="Text 28">
            <a:extLst>
              <a:ext uri="{FF2B5EF4-FFF2-40B4-BE49-F238E27FC236}">
                <a16:creationId xmlns:a16="http://schemas.microsoft.com/office/drawing/2014/main" id="{25EE327A-75EA-AA80-0D88-088E7B2545E9}"/>
              </a:ext>
            </a:extLst>
          </p:cNvPr>
          <p:cNvSpPr/>
          <p:nvPr/>
        </p:nvSpPr>
        <p:spPr>
          <a:xfrm>
            <a:off x="-3953282" y="2751207"/>
            <a:ext cx="10571840"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unnel Sans"/>
              <a:ea typeface="+mn-ea"/>
              <a:cs typeface="+mn-cs"/>
            </a:endParaRPr>
          </a:p>
        </p:txBody>
      </p:sp>
      <p:sp>
        <p:nvSpPr>
          <p:cNvPr id="18" name="TextBox 17">
            <a:extLst>
              <a:ext uri="{FF2B5EF4-FFF2-40B4-BE49-F238E27FC236}">
                <a16:creationId xmlns:a16="http://schemas.microsoft.com/office/drawing/2014/main" id="{32D8BDCC-C811-EE41-CD49-432028F968FF}"/>
              </a:ext>
            </a:extLst>
          </p:cNvPr>
          <p:cNvSpPr txBox="1"/>
          <p:nvPr/>
        </p:nvSpPr>
        <p:spPr>
          <a:xfrm>
            <a:off x="-19288" y="6552723"/>
            <a:ext cx="10629289" cy="26161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Sources: </a:t>
            </a:r>
            <a:r>
              <a:rPr kumimoji="0" lang="en-GB" sz="1100" b="0" i="0" u="none" strike="noStrike" kern="1200" cap="none" spc="0" normalizeH="0" baseline="0" noProof="0">
                <a:ln>
                  <a:noFill/>
                </a:ln>
                <a:solidFill>
                  <a:prstClr val="black"/>
                </a:solidFill>
                <a:effectLst/>
                <a:uLnTx/>
                <a:uFillTx/>
                <a:latin typeface="Funnel Sans"/>
                <a:ea typeface="+mn-ea"/>
                <a:cs typeface="+mn-cs"/>
                <a:hlinkClick r:id="rId10"/>
              </a:rPr>
              <a:t>Human Protein Atlas</a:t>
            </a:r>
            <a:endParaRPr kumimoji="0" lang="en-US" sz="1100" b="0" i="0" u="none" strike="noStrike" kern="1200" cap="none" spc="0" normalizeH="0" baseline="0" noProof="0">
              <a:ln>
                <a:noFill/>
              </a:ln>
              <a:solidFill>
                <a:prstClr val="black"/>
              </a:solidFill>
              <a:effectLst/>
              <a:uLnTx/>
              <a:uFillTx/>
              <a:latin typeface="Funnel Sans"/>
              <a:ea typeface="Funnel Sans"/>
              <a:cs typeface="+mn-cs"/>
            </a:endParaRPr>
          </a:p>
        </p:txBody>
      </p:sp>
      <p:sp>
        <p:nvSpPr>
          <p:cNvPr id="17" name="Rectangle: Rounded Corners 16">
            <a:extLst>
              <a:ext uri="{FF2B5EF4-FFF2-40B4-BE49-F238E27FC236}">
                <a16:creationId xmlns:a16="http://schemas.microsoft.com/office/drawing/2014/main" id="{8FA61914-C59C-0CBF-BD54-2B76D4565C7F}"/>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Expression</a:t>
            </a:r>
          </a:p>
        </p:txBody>
      </p:sp>
      <p:sp>
        <p:nvSpPr>
          <p:cNvPr id="16" name="TextBox 15">
            <a:extLst>
              <a:ext uri="{FF2B5EF4-FFF2-40B4-BE49-F238E27FC236}">
                <a16:creationId xmlns:a16="http://schemas.microsoft.com/office/drawing/2014/main" id="{D0953FCD-15DC-CDED-8F08-B66C0DDF78C6}"/>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grpSp>
        <p:nvGrpSpPr>
          <p:cNvPr id="25" name="Group 24">
            <a:extLst>
              <a:ext uri="{FF2B5EF4-FFF2-40B4-BE49-F238E27FC236}">
                <a16:creationId xmlns:a16="http://schemas.microsoft.com/office/drawing/2014/main" id="{C86A2C03-A393-22BB-3B92-E84D68983F7F}"/>
              </a:ext>
            </a:extLst>
          </p:cNvPr>
          <p:cNvGrpSpPr/>
          <p:nvPr/>
        </p:nvGrpSpPr>
        <p:grpSpPr>
          <a:xfrm>
            <a:off x="8156551" y="4464019"/>
            <a:ext cx="1625964" cy="1916423"/>
            <a:chOff x="7890734" y="4368322"/>
            <a:chExt cx="1625964" cy="1916423"/>
          </a:xfrm>
        </p:grpSpPr>
        <p:sp>
          <p:nvSpPr>
            <p:cNvPr id="22" name="TextBox 21">
              <a:extLst>
                <a:ext uri="{FF2B5EF4-FFF2-40B4-BE49-F238E27FC236}">
                  <a16:creationId xmlns:a16="http://schemas.microsoft.com/office/drawing/2014/main" id="{59E703C7-D40F-3D14-94B8-6FD98FEC4041}"/>
                </a:ext>
              </a:extLst>
            </p:cNvPr>
            <p:cNvSpPr txBox="1"/>
            <p:nvPr/>
          </p:nvSpPr>
          <p:spPr>
            <a:xfrm>
              <a:off x="8097682" y="4368322"/>
              <a:ext cx="1212069"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mn-ea"/>
                  <a:cs typeface="+mn-cs"/>
                </a:rPr>
                <a:t>Colorectal</a:t>
              </a:r>
            </a:p>
          </p:txBody>
        </p:sp>
        <p:pic>
          <p:nvPicPr>
            <p:cNvPr id="23" name="Picture 22" descr="A close up of a cell&#10;&#10;AI-generated content may be incorrect.">
              <a:extLst>
                <a:ext uri="{FF2B5EF4-FFF2-40B4-BE49-F238E27FC236}">
                  <a16:creationId xmlns:a16="http://schemas.microsoft.com/office/drawing/2014/main" id="{91E6C28F-AE63-DD05-EB0B-806A1757EBF1}"/>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10000" b="90000" l="10000" r="90000"/>
                      </a14:imgEffect>
                    </a14:imgLayer>
                  </a14:imgProps>
                </a:ext>
              </a:extLst>
            </a:blip>
            <a:stretch>
              <a:fillRect/>
            </a:stretch>
          </p:blipFill>
          <p:spPr>
            <a:xfrm>
              <a:off x="7890734" y="4613798"/>
              <a:ext cx="1625964" cy="1670947"/>
            </a:xfrm>
            <a:prstGeom prst="rect">
              <a:avLst/>
            </a:prstGeom>
          </p:spPr>
        </p:pic>
      </p:grpSp>
      <p:grpSp>
        <p:nvGrpSpPr>
          <p:cNvPr id="28" name="Group 27">
            <a:extLst>
              <a:ext uri="{FF2B5EF4-FFF2-40B4-BE49-F238E27FC236}">
                <a16:creationId xmlns:a16="http://schemas.microsoft.com/office/drawing/2014/main" id="{EDE1C583-83E6-4FE6-263A-4F62A723C9B0}"/>
              </a:ext>
            </a:extLst>
          </p:cNvPr>
          <p:cNvGrpSpPr/>
          <p:nvPr/>
        </p:nvGrpSpPr>
        <p:grpSpPr>
          <a:xfrm>
            <a:off x="4563998" y="4464019"/>
            <a:ext cx="1629305" cy="1927627"/>
            <a:chOff x="4532933" y="4368322"/>
            <a:chExt cx="1629305" cy="1927627"/>
          </a:xfrm>
        </p:grpSpPr>
        <p:pic>
          <p:nvPicPr>
            <p:cNvPr id="33" name="Picture 32" descr="A close up of a circular object&#10;&#10;AI-generated content may be incorrect.">
              <a:extLst>
                <a:ext uri="{FF2B5EF4-FFF2-40B4-BE49-F238E27FC236}">
                  <a16:creationId xmlns:a16="http://schemas.microsoft.com/office/drawing/2014/main" id="{6F5F3C63-7BDD-A734-1495-37F62D284A00}"/>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10000" b="90000" l="10000" r="90000"/>
                      </a14:imgEffect>
                    </a14:imgLayer>
                  </a14:imgProps>
                </a:ext>
              </a:extLst>
            </a:blip>
            <a:stretch>
              <a:fillRect/>
            </a:stretch>
          </p:blipFill>
          <p:spPr>
            <a:xfrm>
              <a:off x="4532933" y="4613798"/>
              <a:ext cx="1629305" cy="1682151"/>
            </a:xfrm>
            <a:prstGeom prst="rect">
              <a:avLst/>
            </a:prstGeom>
          </p:spPr>
        </p:pic>
        <p:sp>
          <p:nvSpPr>
            <p:cNvPr id="34" name="TextBox 33">
              <a:extLst>
                <a:ext uri="{FF2B5EF4-FFF2-40B4-BE49-F238E27FC236}">
                  <a16:creationId xmlns:a16="http://schemas.microsoft.com/office/drawing/2014/main" id="{0C13AFA9-4665-3380-0E18-A98B60F8964C}"/>
                </a:ext>
              </a:extLst>
            </p:cNvPr>
            <p:cNvSpPr txBox="1"/>
            <p:nvPr/>
          </p:nvSpPr>
          <p:spPr>
            <a:xfrm>
              <a:off x="4730213" y="4368322"/>
              <a:ext cx="123474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mn-ea"/>
                  <a:cs typeface="+mn-cs"/>
                </a:rPr>
                <a:t>Cervical Sq</a:t>
              </a:r>
            </a:p>
          </p:txBody>
        </p:sp>
      </p:grpSp>
      <p:grpSp>
        <p:nvGrpSpPr>
          <p:cNvPr id="30" name="Group 29">
            <a:extLst>
              <a:ext uri="{FF2B5EF4-FFF2-40B4-BE49-F238E27FC236}">
                <a16:creationId xmlns:a16="http://schemas.microsoft.com/office/drawing/2014/main" id="{443BFE70-5764-6AF6-FBFD-CE81B70C6D18}"/>
              </a:ext>
            </a:extLst>
          </p:cNvPr>
          <p:cNvGrpSpPr/>
          <p:nvPr/>
        </p:nvGrpSpPr>
        <p:grpSpPr>
          <a:xfrm>
            <a:off x="2483765" y="4448630"/>
            <a:ext cx="1992991" cy="1937651"/>
            <a:chOff x="2483765" y="4352933"/>
            <a:chExt cx="1992991" cy="1937651"/>
          </a:xfrm>
        </p:grpSpPr>
        <p:sp>
          <p:nvSpPr>
            <p:cNvPr id="29" name="TextBox 28">
              <a:extLst>
                <a:ext uri="{FF2B5EF4-FFF2-40B4-BE49-F238E27FC236}">
                  <a16:creationId xmlns:a16="http://schemas.microsoft.com/office/drawing/2014/main" id="{EE88D856-9CAE-4E98-1874-E5085F099446}"/>
                </a:ext>
              </a:extLst>
            </p:cNvPr>
            <p:cNvSpPr txBox="1"/>
            <p:nvPr/>
          </p:nvSpPr>
          <p:spPr>
            <a:xfrm>
              <a:off x="2909604" y="4352933"/>
              <a:ext cx="1141312" cy="369332"/>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mn-ea"/>
                  <a:cs typeface="+mn-cs"/>
                </a:rPr>
                <a:t>Lung Sq</a:t>
              </a:r>
              <a:r>
                <a:rPr kumimoji="0" lang="en-US" sz="1800" b="0" i="0" u="none" strike="noStrike" kern="1200" cap="none" spc="0" normalizeH="0" baseline="0" noProof="0">
                  <a:ln>
                    <a:noFill/>
                  </a:ln>
                  <a:solidFill>
                    <a:prstClr val="black"/>
                  </a:solidFill>
                  <a:effectLst/>
                  <a:uLnTx/>
                  <a:uFillTx/>
                  <a:latin typeface="Funnel Sans"/>
                  <a:ea typeface="+mn-ea"/>
                  <a:cs typeface="+mn-cs"/>
                </a:rPr>
                <a:t> </a:t>
              </a:r>
            </a:p>
          </p:txBody>
        </p:sp>
        <p:pic>
          <p:nvPicPr>
            <p:cNvPr id="35" name="Picture 34" descr="A circular object with a white background&#10;&#10;AI-generated content may be incorrect.">
              <a:extLst>
                <a:ext uri="{FF2B5EF4-FFF2-40B4-BE49-F238E27FC236}">
                  <a16:creationId xmlns:a16="http://schemas.microsoft.com/office/drawing/2014/main" id="{E91969BC-D929-F28F-95EF-86565F0135AF}"/>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10000" b="90000" l="10000" r="90000"/>
                      </a14:imgEffect>
                    </a14:imgLayer>
                  </a14:imgProps>
                </a:ext>
              </a:extLst>
            </a:blip>
            <a:stretch>
              <a:fillRect/>
            </a:stretch>
          </p:blipFill>
          <p:spPr>
            <a:xfrm>
              <a:off x="2483765" y="4608431"/>
              <a:ext cx="1992991" cy="1682153"/>
            </a:xfrm>
            <a:prstGeom prst="rect">
              <a:avLst/>
            </a:prstGeom>
          </p:spPr>
        </p:pic>
      </p:grpSp>
      <p:grpSp>
        <p:nvGrpSpPr>
          <p:cNvPr id="26" name="Group 25">
            <a:extLst>
              <a:ext uri="{FF2B5EF4-FFF2-40B4-BE49-F238E27FC236}">
                <a16:creationId xmlns:a16="http://schemas.microsoft.com/office/drawing/2014/main" id="{B9957659-7C3C-D43C-19AC-C654AA546A51}"/>
              </a:ext>
            </a:extLst>
          </p:cNvPr>
          <p:cNvGrpSpPr/>
          <p:nvPr/>
        </p:nvGrpSpPr>
        <p:grpSpPr>
          <a:xfrm>
            <a:off x="6280545" y="4464019"/>
            <a:ext cx="1788763" cy="1922261"/>
            <a:chOff x="6166894" y="4368322"/>
            <a:chExt cx="1788763" cy="1922261"/>
          </a:xfrm>
        </p:grpSpPr>
        <p:pic>
          <p:nvPicPr>
            <p:cNvPr id="32" name="Picture 31" descr="A circular object with a swirl of brown and white paint&#10;&#10;AI-generated content may be incorrect.">
              <a:extLst>
                <a:ext uri="{FF2B5EF4-FFF2-40B4-BE49-F238E27FC236}">
                  <a16:creationId xmlns:a16="http://schemas.microsoft.com/office/drawing/2014/main" id="{51A598DD-CDC8-8CA7-561D-C2F17A49ABC9}"/>
                </a:ext>
              </a:extLst>
            </p:cNvPr>
            <p:cNvPicPr>
              <a:picLocks noChangeAspect="1"/>
            </p:cNvPicPr>
            <p:nvPr/>
          </p:nvPicPr>
          <p:blipFill>
            <a:blip r:embed="rId17">
              <a:extLst>
                <a:ext uri="{BEBA8EAE-BF5A-486C-A8C5-ECC9F3942E4B}">
                  <a14:imgProps xmlns:a14="http://schemas.microsoft.com/office/drawing/2010/main">
                    <a14:imgLayer r:embed="rId18">
                      <a14:imgEffect>
                        <a14:backgroundRemoval t="10000" b="90000" l="10000" r="90000"/>
                      </a14:imgEffect>
                    </a14:imgLayer>
                  </a14:imgProps>
                </a:ext>
              </a:extLst>
            </a:blip>
            <a:stretch>
              <a:fillRect/>
            </a:stretch>
          </p:blipFill>
          <p:spPr>
            <a:xfrm>
              <a:off x="6247673" y="4608431"/>
              <a:ext cx="1627205" cy="1682152"/>
            </a:xfrm>
            <a:prstGeom prst="rect">
              <a:avLst/>
            </a:prstGeom>
          </p:spPr>
        </p:pic>
        <p:sp>
          <p:nvSpPr>
            <p:cNvPr id="21" name="TextBox 20">
              <a:extLst>
                <a:ext uri="{FF2B5EF4-FFF2-40B4-BE49-F238E27FC236}">
                  <a16:creationId xmlns:a16="http://schemas.microsoft.com/office/drawing/2014/main" id="{3D52B699-E0AE-3F96-CDA6-34A77721E391}"/>
                </a:ext>
              </a:extLst>
            </p:cNvPr>
            <p:cNvSpPr txBox="1"/>
            <p:nvPr/>
          </p:nvSpPr>
          <p:spPr>
            <a:xfrm>
              <a:off x="6166894" y="4368322"/>
              <a:ext cx="1788763"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mn-ea"/>
                  <a:cs typeface="+mn-cs"/>
                </a:rPr>
                <a:t>Head &amp; Neck Sq</a:t>
              </a:r>
            </a:p>
          </p:txBody>
        </p:sp>
      </p:grpSp>
      <p:grpSp>
        <p:nvGrpSpPr>
          <p:cNvPr id="45" name="Group 44">
            <a:extLst>
              <a:ext uri="{FF2B5EF4-FFF2-40B4-BE49-F238E27FC236}">
                <a16:creationId xmlns:a16="http://schemas.microsoft.com/office/drawing/2014/main" id="{A3E85CDC-0F1E-AB4D-1482-F79F6DF668B9}"/>
              </a:ext>
            </a:extLst>
          </p:cNvPr>
          <p:cNvGrpSpPr/>
          <p:nvPr/>
        </p:nvGrpSpPr>
        <p:grpSpPr>
          <a:xfrm>
            <a:off x="8548632" y="2135040"/>
            <a:ext cx="1134131" cy="1593921"/>
            <a:chOff x="8548632" y="2039343"/>
            <a:chExt cx="1134131" cy="1593921"/>
          </a:xfrm>
        </p:grpSpPr>
        <p:pic>
          <p:nvPicPr>
            <p:cNvPr id="27" name="Picture 26" descr="A collage of images of a cell&#10;&#10;AI-generated content may be incorrect.">
              <a:extLst>
                <a:ext uri="{FF2B5EF4-FFF2-40B4-BE49-F238E27FC236}">
                  <a16:creationId xmlns:a16="http://schemas.microsoft.com/office/drawing/2014/main" id="{F19FD6BD-0CE8-CAFA-7AE9-BA3A1623EA75}"/>
                </a:ext>
              </a:extLst>
            </p:cNvPr>
            <p:cNvPicPr>
              <a:picLocks noChangeAspect="1"/>
            </p:cNvPicPr>
            <p:nvPr/>
          </p:nvPicPr>
          <p:blipFill>
            <a:blip r:embed="rId19">
              <a:extLst>
                <a:ext uri="{BEBA8EAE-BF5A-486C-A8C5-ECC9F3942E4B}">
                  <a14:imgProps xmlns:a14="http://schemas.microsoft.com/office/drawing/2010/main">
                    <a14:imgLayer r:embed="rId20">
                      <a14:imgEffect>
                        <a14:backgroundRemoval t="10000" b="90000" l="10000" r="90000"/>
                      </a14:imgEffect>
                    </a14:imgLayer>
                  </a14:imgProps>
                </a:ext>
              </a:extLst>
            </a:blip>
            <a:srcRect l="-45" t="3110" r="54040" b="50773"/>
            <a:stretch>
              <a:fillRect/>
            </a:stretch>
          </p:blipFill>
          <p:spPr>
            <a:xfrm>
              <a:off x="8548632" y="2460369"/>
              <a:ext cx="1134131" cy="1172895"/>
            </a:xfrm>
            <a:prstGeom prst="rect">
              <a:avLst/>
            </a:prstGeom>
          </p:spPr>
        </p:pic>
        <p:sp>
          <p:nvSpPr>
            <p:cNvPr id="36" name="TextBox 20">
              <a:extLst>
                <a:ext uri="{FF2B5EF4-FFF2-40B4-BE49-F238E27FC236}">
                  <a16:creationId xmlns:a16="http://schemas.microsoft.com/office/drawing/2014/main" id="{6C1D47C2-15C4-875A-BE57-8ED15BD553D9}"/>
                </a:ext>
              </a:extLst>
            </p:cNvPr>
            <p:cNvSpPr txBox="1"/>
            <p:nvPr/>
          </p:nvSpPr>
          <p:spPr>
            <a:xfrm>
              <a:off x="8687203" y="2039343"/>
              <a:ext cx="856989"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Funnel Sans"/>
                  <a:cs typeface="+mn-cs"/>
                </a:rPr>
                <a:t>Kidney</a:t>
              </a:r>
              <a:endParaRPr kumimoji="0" lang="en-US" sz="1600" b="0" i="0" u="none" strike="noStrike" kern="1200" cap="none" spc="0" normalizeH="0" baseline="0" noProof="0">
                <a:ln>
                  <a:noFill/>
                </a:ln>
                <a:solidFill>
                  <a:prstClr val="black"/>
                </a:solidFill>
                <a:effectLst/>
                <a:uLnTx/>
                <a:uFillTx/>
                <a:latin typeface="Funnel Sans"/>
                <a:ea typeface="+mn-ea"/>
                <a:cs typeface="+mn-cs"/>
              </a:endParaRPr>
            </a:p>
          </p:txBody>
        </p:sp>
      </p:grpSp>
      <p:grpSp>
        <p:nvGrpSpPr>
          <p:cNvPr id="50" name="Group 49">
            <a:extLst>
              <a:ext uri="{FF2B5EF4-FFF2-40B4-BE49-F238E27FC236}">
                <a16:creationId xmlns:a16="http://schemas.microsoft.com/office/drawing/2014/main" id="{4C69CE7D-6DBD-42D0-8797-EEFDA93B90FB}"/>
              </a:ext>
            </a:extLst>
          </p:cNvPr>
          <p:cNvGrpSpPr/>
          <p:nvPr/>
        </p:nvGrpSpPr>
        <p:grpSpPr>
          <a:xfrm>
            <a:off x="5667714" y="2135040"/>
            <a:ext cx="1228356" cy="1640548"/>
            <a:chOff x="5668702" y="2039343"/>
            <a:chExt cx="1228356" cy="1640548"/>
          </a:xfrm>
        </p:grpSpPr>
        <p:pic>
          <p:nvPicPr>
            <p:cNvPr id="31" name="Picture 30" descr="A screenshot of a cell phone&#10;&#10;AI-generated content may be incorrect.">
              <a:extLst>
                <a:ext uri="{FF2B5EF4-FFF2-40B4-BE49-F238E27FC236}">
                  <a16:creationId xmlns:a16="http://schemas.microsoft.com/office/drawing/2014/main" id="{4049414E-08C6-8E30-8E11-0423B5356C2B}"/>
                </a:ext>
              </a:extLst>
            </p:cNvPr>
            <p:cNvPicPr>
              <a:picLocks noChangeAspect="1"/>
            </p:cNvPicPr>
            <p:nvPr/>
          </p:nvPicPr>
          <p:blipFill>
            <a:blip r:embed="rId21">
              <a:extLst>
                <a:ext uri="{BEBA8EAE-BF5A-486C-A8C5-ECC9F3942E4B}">
                  <a14:imgProps xmlns:a14="http://schemas.microsoft.com/office/drawing/2010/main">
                    <a14:imgLayer r:embed="rId22">
                      <a14:imgEffect>
                        <a14:backgroundRemoval t="10000" b="90000" l="10000" r="90000"/>
                      </a14:imgEffect>
                      <a14:imgEffect>
                        <a14:brightnessContrast bright="6000"/>
                      </a14:imgEffect>
                    </a14:imgLayer>
                  </a14:imgProps>
                </a:ext>
              </a:extLst>
            </a:blip>
            <a:srcRect l="27367" t="15301" r="38469" b="47615"/>
            <a:stretch>
              <a:fillRect/>
            </a:stretch>
          </p:blipFill>
          <p:spPr>
            <a:xfrm>
              <a:off x="5668702" y="2413741"/>
              <a:ext cx="1228356" cy="1266150"/>
            </a:xfrm>
            <a:prstGeom prst="rect">
              <a:avLst/>
            </a:prstGeom>
          </p:spPr>
        </p:pic>
        <p:sp>
          <p:nvSpPr>
            <p:cNvPr id="38" name="TextBox 24">
              <a:extLst>
                <a:ext uri="{FF2B5EF4-FFF2-40B4-BE49-F238E27FC236}">
                  <a16:creationId xmlns:a16="http://schemas.microsoft.com/office/drawing/2014/main" id="{7ECE9C27-2F41-27F1-94FB-333016597C0D}"/>
                </a:ext>
              </a:extLst>
            </p:cNvPr>
            <p:cNvSpPr txBox="1"/>
            <p:nvPr/>
          </p:nvSpPr>
          <p:spPr>
            <a:xfrm>
              <a:off x="5830951" y="2039343"/>
              <a:ext cx="751869"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Funnel Sans"/>
                  <a:cs typeface="+mn-cs"/>
                </a:rPr>
                <a:t>Liver</a:t>
              </a:r>
              <a:endParaRPr kumimoji="0" lang="en-US" sz="1600" b="0" i="0" u="none" strike="noStrike" kern="1200" cap="none" spc="0" normalizeH="0" baseline="0" noProof="0">
                <a:ln>
                  <a:noFill/>
                </a:ln>
                <a:solidFill>
                  <a:prstClr val="black"/>
                </a:solidFill>
                <a:effectLst/>
                <a:uLnTx/>
                <a:uFillTx/>
                <a:latin typeface="Funnel Sans"/>
                <a:ea typeface="+mn-ea"/>
                <a:cs typeface="+mn-cs"/>
              </a:endParaRPr>
            </a:p>
          </p:txBody>
        </p:sp>
      </p:grpSp>
      <p:grpSp>
        <p:nvGrpSpPr>
          <p:cNvPr id="47" name="Group 46">
            <a:extLst>
              <a:ext uri="{FF2B5EF4-FFF2-40B4-BE49-F238E27FC236}">
                <a16:creationId xmlns:a16="http://schemas.microsoft.com/office/drawing/2014/main" id="{CEACACA6-444D-ED3F-C25D-8C3924AFA3B4}"/>
              </a:ext>
            </a:extLst>
          </p:cNvPr>
          <p:cNvGrpSpPr/>
          <p:nvPr/>
        </p:nvGrpSpPr>
        <p:grpSpPr>
          <a:xfrm>
            <a:off x="7105297" y="2135040"/>
            <a:ext cx="1234109" cy="1636031"/>
            <a:chOff x="7103301" y="2039343"/>
            <a:chExt cx="1234109" cy="1636031"/>
          </a:xfrm>
        </p:grpSpPr>
        <p:pic>
          <p:nvPicPr>
            <p:cNvPr id="41" name="Picture 40" descr="A close up of a cell&#10;&#10;AI-generated content may be incorrect.">
              <a:extLst>
                <a:ext uri="{FF2B5EF4-FFF2-40B4-BE49-F238E27FC236}">
                  <a16:creationId xmlns:a16="http://schemas.microsoft.com/office/drawing/2014/main" id="{F04D1E30-CEDA-4475-2AAD-5BC9A72B62C3}"/>
                </a:ext>
              </a:extLst>
            </p:cNvPr>
            <p:cNvPicPr>
              <a:picLocks noChangeAspect="1"/>
            </p:cNvPicPr>
            <p:nvPr/>
          </p:nvPicPr>
          <p:blipFill>
            <a:blip r:embed="rId23">
              <a:extLst>
                <a:ext uri="{BEBA8EAE-BF5A-486C-A8C5-ECC9F3942E4B}">
                  <a14:imgProps xmlns:a14="http://schemas.microsoft.com/office/drawing/2010/main">
                    <a14:imgLayer r:embed="rId24">
                      <a14:imgEffect>
                        <a14:backgroundRemoval t="10000" b="90000" l="10000" r="90000"/>
                      </a14:imgEffect>
                    </a14:imgLayer>
                  </a14:imgProps>
                </a:ext>
              </a:extLst>
            </a:blip>
            <a:stretch>
              <a:fillRect/>
            </a:stretch>
          </p:blipFill>
          <p:spPr>
            <a:xfrm>
              <a:off x="7103301" y="2418259"/>
              <a:ext cx="1234109" cy="1257115"/>
            </a:xfrm>
            <a:prstGeom prst="rect">
              <a:avLst/>
            </a:prstGeom>
          </p:spPr>
        </p:pic>
        <p:sp>
          <p:nvSpPr>
            <p:cNvPr id="42" name="TextBox 28">
              <a:extLst>
                <a:ext uri="{FF2B5EF4-FFF2-40B4-BE49-F238E27FC236}">
                  <a16:creationId xmlns:a16="http://schemas.microsoft.com/office/drawing/2014/main" id="{897DA38C-189D-7E74-A00C-1C9F4415A7B0}"/>
                </a:ext>
              </a:extLst>
            </p:cNvPr>
            <p:cNvSpPr txBox="1"/>
            <p:nvPr/>
          </p:nvSpPr>
          <p:spPr>
            <a:xfrm>
              <a:off x="7197317" y="2039343"/>
              <a:ext cx="1046077"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mn-ea"/>
                  <a:cs typeface="+mn-cs"/>
                </a:rPr>
                <a:t>Bladder</a:t>
              </a:r>
            </a:p>
          </p:txBody>
        </p:sp>
      </p:grpSp>
      <p:grpSp>
        <p:nvGrpSpPr>
          <p:cNvPr id="52" name="Group 51">
            <a:extLst>
              <a:ext uri="{FF2B5EF4-FFF2-40B4-BE49-F238E27FC236}">
                <a16:creationId xmlns:a16="http://schemas.microsoft.com/office/drawing/2014/main" id="{26EFAFA0-5821-DC8F-4F1C-6B18845873F5}"/>
              </a:ext>
            </a:extLst>
          </p:cNvPr>
          <p:cNvGrpSpPr/>
          <p:nvPr/>
        </p:nvGrpSpPr>
        <p:grpSpPr>
          <a:xfrm>
            <a:off x="2735111" y="2135040"/>
            <a:ext cx="1259574" cy="1654715"/>
            <a:chOff x="2735111" y="2039343"/>
            <a:chExt cx="1259574" cy="1654715"/>
          </a:xfrm>
        </p:grpSpPr>
        <p:sp>
          <p:nvSpPr>
            <p:cNvPr id="37" name="TextBox 23">
              <a:extLst>
                <a:ext uri="{FF2B5EF4-FFF2-40B4-BE49-F238E27FC236}">
                  <a16:creationId xmlns:a16="http://schemas.microsoft.com/office/drawing/2014/main" id="{94476CF2-0BAC-32C8-D469-9A3B38EC677C}"/>
                </a:ext>
              </a:extLst>
            </p:cNvPr>
            <p:cNvSpPr txBox="1"/>
            <p:nvPr/>
          </p:nvSpPr>
          <p:spPr>
            <a:xfrm>
              <a:off x="3033138" y="2039343"/>
              <a:ext cx="663521"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Funnel Sans"/>
                  <a:cs typeface="+mn-cs"/>
                </a:rPr>
                <a:t>Skin</a:t>
              </a:r>
              <a:endParaRPr kumimoji="0" lang="en-US" sz="1600" b="0" i="0" u="none" strike="noStrike" kern="1200" cap="none" spc="0" normalizeH="0" baseline="0" noProof="0">
                <a:ln>
                  <a:noFill/>
                </a:ln>
                <a:solidFill>
                  <a:prstClr val="black"/>
                </a:solidFill>
                <a:effectLst/>
                <a:uLnTx/>
                <a:uFillTx/>
                <a:latin typeface="Funnel Sans"/>
                <a:ea typeface="+mn-ea"/>
                <a:cs typeface="+mn-cs"/>
              </a:endParaRPr>
            </a:p>
          </p:txBody>
        </p:sp>
        <p:pic>
          <p:nvPicPr>
            <p:cNvPr id="43" name="Picture 42">
              <a:extLst>
                <a:ext uri="{FF2B5EF4-FFF2-40B4-BE49-F238E27FC236}">
                  <a16:creationId xmlns:a16="http://schemas.microsoft.com/office/drawing/2014/main" id="{32BD2ADF-D305-9FE9-12C2-04834C4982D2}"/>
                </a:ext>
              </a:extLst>
            </p:cNvPr>
            <p:cNvPicPr>
              <a:picLocks noChangeAspect="1"/>
            </p:cNvPicPr>
            <p:nvPr/>
          </p:nvPicPr>
          <p:blipFill>
            <a:blip r:embed="rId25">
              <a:extLst>
                <a:ext uri="{BEBA8EAE-BF5A-486C-A8C5-ECC9F3942E4B}">
                  <a14:imgProps xmlns:a14="http://schemas.microsoft.com/office/drawing/2010/main">
                    <a14:imgLayer r:embed="rId26">
                      <a14:imgEffect>
                        <a14:backgroundRemoval t="10000" b="90000" l="10000" r="90000"/>
                      </a14:imgEffect>
                    </a14:imgLayer>
                  </a14:imgProps>
                </a:ext>
              </a:extLst>
            </a:blip>
            <a:stretch>
              <a:fillRect/>
            </a:stretch>
          </p:blipFill>
          <p:spPr>
            <a:xfrm>
              <a:off x="2735111" y="2399574"/>
              <a:ext cx="1259574" cy="1294484"/>
            </a:xfrm>
            <a:prstGeom prst="rect">
              <a:avLst/>
            </a:prstGeom>
          </p:spPr>
        </p:pic>
      </p:grpSp>
      <p:sp>
        <p:nvSpPr>
          <p:cNvPr id="46" name="Shape 17">
            <a:extLst>
              <a:ext uri="{FF2B5EF4-FFF2-40B4-BE49-F238E27FC236}">
                <a16:creationId xmlns:a16="http://schemas.microsoft.com/office/drawing/2014/main" id="{45B6C204-04E8-BA85-8E2B-73AE57C4B33C}"/>
              </a:ext>
            </a:extLst>
          </p:cNvPr>
          <p:cNvSpPr/>
          <p:nvPr/>
        </p:nvSpPr>
        <p:spPr>
          <a:xfrm>
            <a:off x="2740737" y="1712171"/>
            <a:ext cx="6954827" cy="339812"/>
          </a:xfrm>
          <a:prstGeom prst="round2SameRect">
            <a:avLst/>
          </a:prstGeom>
          <a:solidFill>
            <a:srgbClr val="C6DCCD"/>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Funnel Sans"/>
                <a:ea typeface="+mn-ea"/>
                <a:cs typeface="+mn-cs"/>
              </a:rPr>
              <a:t>Normal tissues</a:t>
            </a:r>
          </a:p>
        </p:txBody>
      </p:sp>
      <p:sp>
        <p:nvSpPr>
          <p:cNvPr id="49" name="Shape 17">
            <a:extLst>
              <a:ext uri="{FF2B5EF4-FFF2-40B4-BE49-F238E27FC236}">
                <a16:creationId xmlns:a16="http://schemas.microsoft.com/office/drawing/2014/main" id="{88D8D233-B705-BF30-2DDC-E31F1C37AD98}"/>
              </a:ext>
            </a:extLst>
          </p:cNvPr>
          <p:cNvSpPr/>
          <p:nvPr/>
        </p:nvSpPr>
        <p:spPr>
          <a:xfrm>
            <a:off x="2740737" y="4065112"/>
            <a:ext cx="6954827" cy="339812"/>
          </a:xfrm>
          <a:prstGeom prst="round2SameRect">
            <a:avLst/>
          </a:prstGeom>
          <a:solidFill>
            <a:srgbClr val="C6DCCD"/>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Funnel Sans"/>
                <a:ea typeface="+mn-ea"/>
                <a:cs typeface="+mn-cs"/>
              </a:rPr>
              <a:t>Tumor tissues</a:t>
            </a:r>
          </a:p>
        </p:txBody>
      </p:sp>
      <p:grpSp>
        <p:nvGrpSpPr>
          <p:cNvPr id="51" name="Group 50">
            <a:extLst>
              <a:ext uri="{FF2B5EF4-FFF2-40B4-BE49-F238E27FC236}">
                <a16:creationId xmlns:a16="http://schemas.microsoft.com/office/drawing/2014/main" id="{19B8B369-0B57-5CBB-BE79-D0111F8EA775}"/>
              </a:ext>
            </a:extLst>
          </p:cNvPr>
          <p:cNvGrpSpPr/>
          <p:nvPr/>
        </p:nvGrpSpPr>
        <p:grpSpPr>
          <a:xfrm>
            <a:off x="4203912" y="2135040"/>
            <a:ext cx="1254576" cy="1588328"/>
            <a:chOff x="4197725" y="2039343"/>
            <a:chExt cx="1254576" cy="1588328"/>
          </a:xfrm>
        </p:grpSpPr>
        <p:sp>
          <p:nvSpPr>
            <p:cNvPr id="15" name="TextBox 20">
              <a:extLst>
                <a:ext uri="{FF2B5EF4-FFF2-40B4-BE49-F238E27FC236}">
                  <a16:creationId xmlns:a16="http://schemas.microsoft.com/office/drawing/2014/main" id="{77BC9ACC-C6AA-7681-BFA7-6C7B46F72D46}"/>
                </a:ext>
              </a:extLst>
            </p:cNvPr>
            <p:cNvSpPr txBox="1"/>
            <p:nvPr/>
          </p:nvSpPr>
          <p:spPr>
            <a:xfrm>
              <a:off x="4272400" y="2039343"/>
              <a:ext cx="1105227" cy="3385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Funnel Sans"/>
                  <a:cs typeface="+mn-cs"/>
                </a:rPr>
                <a:t>Bronchus</a:t>
              </a:r>
              <a:endParaRPr kumimoji="0" lang="en-US" sz="1600" b="0" i="0" u="none" strike="noStrike" kern="1200" cap="none" spc="0" normalizeH="0" baseline="0" noProof="0">
                <a:ln>
                  <a:noFill/>
                </a:ln>
                <a:solidFill>
                  <a:prstClr val="black"/>
                </a:solidFill>
                <a:effectLst/>
                <a:uLnTx/>
                <a:uFillTx/>
                <a:latin typeface="Funnel Sans"/>
                <a:ea typeface="+mn-ea"/>
                <a:cs typeface="+mn-cs"/>
              </a:endParaRPr>
            </a:p>
          </p:txBody>
        </p:sp>
        <p:pic>
          <p:nvPicPr>
            <p:cNvPr id="20" name="Picture 19" descr="A close-up of a cross section of a human tissue&#10;&#10;AI-generated content may be incorrect.">
              <a:extLst>
                <a:ext uri="{FF2B5EF4-FFF2-40B4-BE49-F238E27FC236}">
                  <a16:creationId xmlns:a16="http://schemas.microsoft.com/office/drawing/2014/main" id="{D5F3FE84-F502-1B7F-01E2-6BEC067A3250}"/>
                </a:ext>
              </a:extLst>
            </p:cNvPr>
            <p:cNvPicPr>
              <a:picLocks noChangeAspect="1"/>
            </p:cNvPicPr>
            <p:nvPr/>
          </p:nvPicPr>
          <p:blipFill>
            <a:blip r:embed="rId27">
              <a:extLst>
                <a:ext uri="{BEBA8EAE-BF5A-486C-A8C5-ECC9F3942E4B}">
                  <a14:imgProps xmlns:a14="http://schemas.microsoft.com/office/drawing/2010/main">
                    <a14:imgLayer r:embed="rId28">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4197725" y="2465962"/>
              <a:ext cx="1254576" cy="1161709"/>
            </a:xfrm>
            <a:prstGeom prst="rect">
              <a:avLst/>
            </a:prstGeom>
          </p:spPr>
        </p:pic>
      </p:grpSp>
      <p:sp>
        <p:nvSpPr>
          <p:cNvPr id="19" name="Shape 1">
            <a:extLst>
              <a:ext uri="{FF2B5EF4-FFF2-40B4-BE49-F238E27FC236}">
                <a16:creationId xmlns:a16="http://schemas.microsoft.com/office/drawing/2014/main" id="{C8334FE2-F431-EA7B-E9E5-4F9760509755}"/>
              </a:ext>
            </a:extLst>
          </p:cNvPr>
          <p:cNvSpPr/>
          <p:nvPr/>
        </p:nvSpPr>
        <p:spPr>
          <a:xfrm>
            <a:off x="227264" y="1508776"/>
            <a:ext cx="11757078"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4" name="Text 28">
            <a:extLst>
              <a:ext uri="{FF2B5EF4-FFF2-40B4-BE49-F238E27FC236}">
                <a16:creationId xmlns:a16="http://schemas.microsoft.com/office/drawing/2014/main" id="{121C9869-9343-CEFC-38C5-305363B22051}"/>
              </a:ext>
            </a:extLst>
          </p:cNvPr>
          <p:cNvSpPr/>
          <p:nvPr/>
        </p:nvSpPr>
        <p:spPr>
          <a:xfrm>
            <a:off x="227264" y="711101"/>
            <a:ext cx="11496658"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CLDN1 is highly overexpressed in Squamous Cell Carcinomas &amp; CRC</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2165010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5A209-136C-E539-F816-60D2FBE14F3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CF796B8-E5D8-0C60-0029-F1F992C86A41}"/>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 name="Shape 19">
            <a:extLst>
              <a:ext uri="{FF2B5EF4-FFF2-40B4-BE49-F238E27FC236}">
                <a16:creationId xmlns:a16="http://schemas.microsoft.com/office/drawing/2014/main" id="{DF175EFB-4141-BA89-897C-D3F0B48A5578}"/>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5" name="Image 3" descr="preencoded.png">
            <a:extLst>
              <a:ext uri="{FF2B5EF4-FFF2-40B4-BE49-F238E27FC236}">
                <a16:creationId xmlns:a16="http://schemas.microsoft.com/office/drawing/2014/main" id="{7D12E021-1C10-68B5-C1C1-5CF4CF307E27}"/>
              </a:ext>
            </a:extLst>
          </p:cNvPr>
          <p:cNvPicPr>
            <a:picLocks noChangeAspect="1"/>
          </p:cNvPicPr>
          <p:nvPr/>
        </p:nvPicPr>
        <p:blipFill>
          <a:blip r:embed="rId3"/>
          <a:stretch>
            <a:fillRect/>
          </a:stretch>
        </p:blipFill>
        <p:spPr>
          <a:xfrm>
            <a:off x="323503" y="254000"/>
            <a:ext cx="156939" cy="191368"/>
          </a:xfrm>
          <a:prstGeom prst="rect">
            <a:avLst/>
          </a:prstGeom>
        </p:spPr>
      </p:pic>
      <p:pic>
        <p:nvPicPr>
          <p:cNvPr id="6" name="Image 4" descr="preencoded.png">
            <a:extLst>
              <a:ext uri="{FF2B5EF4-FFF2-40B4-BE49-F238E27FC236}">
                <a16:creationId xmlns:a16="http://schemas.microsoft.com/office/drawing/2014/main" id="{D0317280-62BA-4343-2683-2B9E8052EDE1}"/>
              </a:ext>
            </a:extLst>
          </p:cNvPr>
          <p:cNvPicPr>
            <a:picLocks noChangeAspect="1"/>
          </p:cNvPicPr>
          <p:nvPr/>
        </p:nvPicPr>
        <p:blipFill>
          <a:blip r:embed="rId4"/>
          <a:stretch>
            <a:fillRect/>
          </a:stretch>
        </p:blipFill>
        <p:spPr>
          <a:xfrm>
            <a:off x="387028" y="459541"/>
            <a:ext cx="968" cy="4"/>
          </a:xfrm>
          <a:prstGeom prst="rect">
            <a:avLst/>
          </a:prstGeom>
        </p:spPr>
      </p:pic>
      <p:pic>
        <p:nvPicPr>
          <p:cNvPr id="7" name="Image 5" descr="preencoded.png">
            <a:extLst>
              <a:ext uri="{FF2B5EF4-FFF2-40B4-BE49-F238E27FC236}">
                <a16:creationId xmlns:a16="http://schemas.microsoft.com/office/drawing/2014/main" id="{2DB6BE04-5DE6-79DE-E061-728A1D59B407}"/>
              </a:ext>
            </a:extLst>
          </p:cNvPr>
          <p:cNvPicPr>
            <a:picLocks noChangeAspect="1"/>
          </p:cNvPicPr>
          <p:nvPr/>
        </p:nvPicPr>
        <p:blipFill>
          <a:blip r:embed="rId4"/>
          <a:stretch>
            <a:fillRect/>
          </a:stretch>
        </p:blipFill>
        <p:spPr>
          <a:xfrm>
            <a:off x="386756" y="459546"/>
            <a:ext cx="297" cy="4"/>
          </a:xfrm>
          <a:prstGeom prst="rect">
            <a:avLst/>
          </a:prstGeom>
        </p:spPr>
      </p:pic>
      <p:pic>
        <p:nvPicPr>
          <p:cNvPr id="8" name="Image 6" descr="preencoded.png">
            <a:extLst>
              <a:ext uri="{FF2B5EF4-FFF2-40B4-BE49-F238E27FC236}">
                <a16:creationId xmlns:a16="http://schemas.microsoft.com/office/drawing/2014/main" id="{D1C3FA49-7896-CFE3-D8E1-BBDCE5EADFAA}"/>
              </a:ext>
            </a:extLst>
          </p:cNvPr>
          <p:cNvPicPr>
            <a:picLocks noChangeAspect="1"/>
          </p:cNvPicPr>
          <p:nvPr/>
        </p:nvPicPr>
        <p:blipFill>
          <a:blip r:embed="rId4"/>
          <a:stretch>
            <a:fillRect/>
          </a:stretch>
        </p:blipFill>
        <p:spPr>
          <a:xfrm>
            <a:off x="389261" y="473634"/>
            <a:ext cx="471" cy="4"/>
          </a:xfrm>
          <a:prstGeom prst="rect">
            <a:avLst/>
          </a:prstGeom>
        </p:spPr>
      </p:pic>
      <p:pic>
        <p:nvPicPr>
          <p:cNvPr id="9" name="Image 7" descr="preencoded.png">
            <a:extLst>
              <a:ext uri="{FF2B5EF4-FFF2-40B4-BE49-F238E27FC236}">
                <a16:creationId xmlns:a16="http://schemas.microsoft.com/office/drawing/2014/main" id="{E0E24A7D-01C9-2230-30F4-34289D478283}"/>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0" name="Image 8" descr="preencoded.png">
            <a:extLst>
              <a:ext uri="{FF2B5EF4-FFF2-40B4-BE49-F238E27FC236}">
                <a16:creationId xmlns:a16="http://schemas.microsoft.com/office/drawing/2014/main" id="{D09C2C77-A134-E70A-3D37-AE56F841B583}"/>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1" name="Image 9" descr="preencoded.png">
            <a:extLst>
              <a:ext uri="{FF2B5EF4-FFF2-40B4-BE49-F238E27FC236}">
                <a16:creationId xmlns:a16="http://schemas.microsoft.com/office/drawing/2014/main" id="{A54627B8-C5D8-5B3E-BFA9-026C87073C2B}"/>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2" name="Image 10" descr="preencoded.png">
            <a:extLst>
              <a:ext uri="{FF2B5EF4-FFF2-40B4-BE49-F238E27FC236}">
                <a16:creationId xmlns:a16="http://schemas.microsoft.com/office/drawing/2014/main" id="{4325145C-E346-B447-7CE0-162D870E975B}"/>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3" name="Image 11" descr="preencoded.png">
            <a:extLst>
              <a:ext uri="{FF2B5EF4-FFF2-40B4-BE49-F238E27FC236}">
                <a16:creationId xmlns:a16="http://schemas.microsoft.com/office/drawing/2014/main" id="{862F358F-D307-3B63-CC1B-AA3162B01A09}"/>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4" name="Image 12" descr="preencoded.png">
            <a:extLst>
              <a:ext uri="{FF2B5EF4-FFF2-40B4-BE49-F238E27FC236}">
                <a16:creationId xmlns:a16="http://schemas.microsoft.com/office/drawing/2014/main" id="{186E4ABA-ADED-7D76-C714-3C251F436C88}"/>
              </a:ext>
            </a:extLst>
          </p:cNvPr>
          <p:cNvPicPr>
            <a:picLocks noChangeAspect="1"/>
          </p:cNvPicPr>
          <p:nvPr/>
        </p:nvPicPr>
        <p:blipFill>
          <a:blip r:embed="rId10"/>
          <a:stretch>
            <a:fillRect/>
          </a:stretch>
        </p:blipFill>
        <p:spPr>
          <a:xfrm>
            <a:off x="254000" y="376361"/>
            <a:ext cx="174501" cy="157575"/>
          </a:xfrm>
          <a:prstGeom prst="rect">
            <a:avLst/>
          </a:prstGeom>
        </p:spPr>
      </p:pic>
      <p:graphicFrame>
        <p:nvGraphicFramePr>
          <p:cNvPr id="17" name="Table 16">
            <a:extLst>
              <a:ext uri="{FF2B5EF4-FFF2-40B4-BE49-F238E27FC236}">
                <a16:creationId xmlns:a16="http://schemas.microsoft.com/office/drawing/2014/main" id="{E6750C59-797A-D9E9-66BE-BCCC74AF7CFE}"/>
              </a:ext>
            </a:extLst>
          </p:cNvPr>
          <p:cNvGraphicFramePr>
            <a:graphicFrameLocks noGrp="1"/>
          </p:cNvGraphicFramePr>
          <p:nvPr>
            <p:extLst>
              <p:ext uri="{D42A27DB-BD31-4B8C-83A1-F6EECF244321}">
                <p14:modId xmlns:p14="http://schemas.microsoft.com/office/powerpoint/2010/main" val="1868705134"/>
              </p:ext>
            </p:extLst>
          </p:nvPr>
        </p:nvGraphicFramePr>
        <p:xfrm>
          <a:off x="335280" y="1553691"/>
          <a:ext cx="11614495" cy="3838926"/>
        </p:xfrm>
        <a:graphic>
          <a:graphicData uri="http://schemas.openxmlformats.org/drawingml/2006/table">
            <a:tbl>
              <a:tblPr firstRow="1" bandRow="1">
                <a:tableStyleId>{5C22544A-7EE6-4342-B048-85BDC9FD1C3A}</a:tableStyleId>
              </a:tblPr>
              <a:tblGrid>
                <a:gridCol w="765175">
                  <a:extLst>
                    <a:ext uri="{9D8B030D-6E8A-4147-A177-3AD203B41FA5}">
                      <a16:colId xmlns:a16="http://schemas.microsoft.com/office/drawing/2014/main" val="544434787"/>
                    </a:ext>
                  </a:extLst>
                </a:gridCol>
                <a:gridCol w="800100">
                  <a:extLst>
                    <a:ext uri="{9D8B030D-6E8A-4147-A177-3AD203B41FA5}">
                      <a16:colId xmlns:a16="http://schemas.microsoft.com/office/drawing/2014/main" val="3701184376"/>
                    </a:ext>
                  </a:extLst>
                </a:gridCol>
                <a:gridCol w="2924175">
                  <a:extLst>
                    <a:ext uri="{9D8B030D-6E8A-4147-A177-3AD203B41FA5}">
                      <a16:colId xmlns:a16="http://schemas.microsoft.com/office/drawing/2014/main" val="3241637152"/>
                    </a:ext>
                  </a:extLst>
                </a:gridCol>
                <a:gridCol w="5210175">
                  <a:extLst>
                    <a:ext uri="{9D8B030D-6E8A-4147-A177-3AD203B41FA5}">
                      <a16:colId xmlns:a16="http://schemas.microsoft.com/office/drawing/2014/main" val="2413661414"/>
                    </a:ext>
                  </a:extLst>
                </a:gridCol>
                <a:gridCol w="1914870">
                  <a:extLst>
                    <a:ext uri="{9D8B030D-6E8A-4147-A177-3AD203B41FA5}">
                      <a16:colId xmlns:a16="http://schemas.microsoft.com/office/drawing/2014/main" val="2720780949"/>
                    </a:ext>
                  </a:extLst>
                </a:gridCol>
              </a:tblGrid>
              <a:tr h="218524">
                <a:tc>
                  <a:txBody>
                    <a:bodyPr/>
                    <a:lstStyle/>
                    <a:p>
                      <a:r>
                        <a:rPr lang="en-US" sz="1200" b="1">
                          <a:solidFill>
                            <a:schemeClr val="tx1"/>
                          </a:solidFill>
                        </a:rPr>
                        <a:t>Type</a:t>
                      </a:r>
                    </a:p>
                  </a:txBody>
                  <a:tcPr>
                    <a:solidFill>
                      <a:srgbClr val="C6DCCD"/>
                    </a:solidFill>
                  </a:tcPr>
                </a:tc>
                <a:tc>
                  <a:txBody>
                    <a:bodyPr/>
                    <a:lstStyle/>
                    <a:p>
                      <a:r>
                        <a:rPr lang="en-US" sz="1200" b="1">
                          <a:solidFill>
                            <a:schemeClr val="tx1"/>
                          </a:solidFill>
                        </a:rPr>
                        <a:t>Method</a:t>
                      </a:r>
                    </a:p>
                  </a:txBody>
                  <a:tcPr>
                    <a:solidFill>
                      <a:srgbClr val="C6DCCD"/>
                    </a:solidFill>
                  </a:tcPr>
                </a:tc>
                <a:tc>
                  <a:txBody>
                    <a:bodyPr/>
                    <a:lstStyle/>
                    <a:p>
                      <a:r>
                        <a:rPr lang="en-US" sz="1200" b="1">
                          <a:solidFill>
                            <a:schemeClr val="tx1"/>
                          </a:solidFill>
                        </a:rPr>
                        <a:t>Criteria</a:t>
                      </a:r>
                    </a:p>
                  </a:txBody>
                  <a:tcPr>
                    <a:solidFill>
                      <a:srgbClr val="C6DCCD"/>
                    </a:solidFill>
                  </a:tcPr>
                </a:tc>
                <a:tc>
                  <a:txBody>
                    <a:bodyPr/>
                    <a:lstStyle/>
                    <a:p>
                      <a:r>
                        <a:rPr lang="en-US" sz="1200" b="1">
                          <a:solidFill>
                            <a:schemeClr val="tx1"/>
                          </a:solidFill>
                        </a:rPr>
                        <a:t>Value</a:t>
                      </a:r>
                    </a:p>
                  </a:txBody>
                  <a:tcPr>
                    <a:solidFill>
                      <a:srgbClr val="C6DCCD"/>
                    </a:solidFill>
                  </a:tcPr>
                </a:tc>
                <a:tc>
                  <a:txBody>
                    <a:bodyPr/>
                    <a:lstStyle/>
                    <a:p>
                      <a:r>
                        <a:rPr lang="en-US" sz="1200" b="1">
                          <a:solidFill>
                            <a:schemeClr val="tx1"/>
                          </a:solidFill>
                        </a:rPr>
                        <a:t>Source</a:t>
                      </a:r>
                    </a:p>
                  </a:txBody>
                  <a:tcPr>
                    <a:solidFill>
                      <a:srgbClr val="C6DCCD"/>
                    </a:solidFill>
                  </a:tcPr>
                </a:tc>
                <a:extLst>
                  <a:ext uri="{0D108BD9-81ED-4DB2-BD59-A6C34878D82A}">
                    <a16:rowId xmlns:a16="http://schemas.microsoft.com/office/drawing/2014/main" val="3281024351"/>
                  </a:ext>
                </a:extLst>
              </a:tr>
              <a:tr h="364206">
                <a:tc>
                  <a:txBody>
                    <a:bodyPr/>
                    <a:lstStyle/>
                    <a:p>
                      <a:r>
                        <a:rPr lang="en-US" sz="1200"/>
                        <a:t>Protein</a:t>
                      </a:r>
                    </a:p>
                  </a:txBody>
                  <a:tcPr>
                    <a:lnB w="12700" cap="flat" cmpd="sng" algn="ctr">
                      <a:solidFill>
                        <a:schemeClr val="bg2"/>
                      </a:solidFill>
                      <a:prstDash val="solid"/>
                      <a:round/>
                      <a:headEnd type="none" w="med" len="med"/>
                      <a:tailEnd type="none" w="med" len="med"/>
                    </a:lnB>
                    <a:noFill/>
                  </a:tcPr>
                </a:tc>
                <a:tc>
                  <a:txBody>
                    <a:bodyPr/>
                    <a:lstStyle/>
                    <a:p>
                      <a:r>
                        <a:rPr lang="en-US" sz="1200"/>
                        <a:t>IHC</a:t>
                      </a:r>
                    </a:p>
                  </a:txBody>
                  <a:tcPr>
                    <a:lnB w="12700" cap="flat" cmpd="sng" algn="ctr">
                      <a:solidFill>
                        <a:schemeClr val="bg2"/>
                      </a:solidFill>
                      <a:prstDash val="solid"/>
                      <a:round/>
                      <a:headEnd type="none" w="med" len="med"/>
                      <a:tailEnd type="none" w="med" len="med"/>
                    </a:lnB>
                    <a:noFill/>
                  </a:tcPr>
                </a:tc>
                <a:tc>
                  <a:txBody>
                    <a:bodyPr/>
                    <a:lstStyle/>
                    <a:p>
                      <a:r>
                        <a:rPr lang="en-GB" sz="1200"/>
                        <a:t>&gt;25% cells moderate to strong staining for total CLND1</a:t>
                      </a:r>
                      <a:endParaRPr lang="en-US" sz="1200"/>
                    </a:p>
                  </a:txBody>
                  <a:tcPr>
                    <a:lnB w="12700" cap="flat" cmpd="sng" algn="ctr">
                      <a:solidFill>
                        <a:schemeClr val="bg2"/>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a:t>77% </a:t>
                      </a:r>
                      <a:r>
                        <a:rPr lang="en-US" sz="1200" b="1"/>
                        <a:t>Lung Squamous Cell </a:t>
                      </a:r>
                      <a:r>
                        <a:rPr lang="en-US" sz="1200"/>
                        <a:t>(38/49 samples), 17% Lung Adeno (7/41 samples). Staining maintained across stages/</a:t>
                      </a:r>
                      <a:r>
                        <a:rPr lang="en-US" sz="1200" err="1"/>
                        <a:t>histologies</a:t>
                      </a:r>
                      <a:r>
                        <a:rPr lang="en-US" sz="1200"/>
                        <a:t>. </a:t>
                      </a:r>
                    </a:p>
                  </a:txBody>
                  <a:tcPr>
                    <a:lnB w="12700" cap="flat" cmpd="sng" algn="ctr">
                      <a:solidFill>
                        <a:schemeClr val="bg2"/>
                      </a:solidFill>
                      <a:prstDash val="solid"/>
                      <a:round/>
                      <a:headEnd type="none" w="med" len="med"/>
                      <a:tailEnd type="none" w="med" len="med"/>
                    </a:lnB>
                    <a:noFill/>
                  </a:tcPr>
                </a:tc>
                <a:tc>
                  <a:txBody>
                    <a:bodyPr/>
                    <a:lstStyle/>
                    <a:p>
                      <a:r>
                        <a:rPr lang="en-US" sz="1100" b="0" i="0" u="none" strike="noStrike" noProof="0" err="1">
                          <a:solidFill>
                            <a:schemeClr val="accent3"/>
                          </a:solidFill>
                          <a:latin typeface="Funnel Sans"/>
                          <a:hlinkClick r:id="rId11">
                            <a:extLst>
                              <a:ext uri="{A12FA001-AC4F-418D-AE19-62706E023703}">
                                <ahyp:hlinkClr xmlns:ahyp="http://schemas.microsoft.com/office/drawing/2018/hyperlinkcolor" val="tx"/>
                              </a:ext>
                            </a:extLst>
                          </a:hlinkClick>
                        </a:rPr>
                        <a:t>Pschoud</a:t>
                      </a:r>
                      <a:r>
                        <a:rPr lang="en-US" sz="1100" b="0" i="0" u="none" strike="noStrike" noProof="0">
                          <a:solidFill>
                            <a:schemeClr val="accent3"/>
                          </a:solidFill>
                          <a:latin typeface="Funnel Sans"/>
                          <a:hlinkClick r:id="rId11">
                            <a:extLst>
                              <a:ext uri="{A12FA001-AC4F-418D-AE19-62706E023703}">
                                <ahyp:hlinkClr xmlns:ahyp="http://schemas.microsoft.com/office/drawing/2018/hyperlinkcolor" val="tx"/>
                              </a:ext>
                            </a:extLst>
                          </a:hlinkClick>
                        </a:rPr>
                        <a:t> Modern Path 2007</a:t>
                      </a:r>
                      <a:r>
                        <a:rPr lang="en-US" sz="1100" b="0" i="0" u="none" strike="noStrike" noProof="0">
                          <a:solidFill>
                            <a:schemeClr val="accent3"/>
                          </a:solidFill>
                          <a:latin typeface="Funnel Sans"/>
                        </a:rPr>
                        <a:t> </a:t>
                      </a:r>
                      <a:endParaRPr lang="en-GB" sz="1100">
                        <a:solidFill>
                          <a:schemeClr val="accent3"/>
                        </a:solidFill>
                      </a:endParaRPr>
                    </a:p>
                  </a:txBody>
                  <a:tcPr>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67172331"/>
                  </a:ext>
                </a:extLst>
              </a:tr>
              <a:tr h="364206">
                <a:tc>
                  <a:txBody>
                    <a:bodyPr/>
                    <a:lstStyle/>
                    <a:p>
                      <a:endParaRPr lang="en-US" sz="12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H Score: High is defined as &gt;170</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a:t>49% “High CLDN1” in </a:t>
                      </a:r>
                      <a:r>
                        <a:rPr lang="en-US" sz="1200" b="1"/>
                        <a:t>HNSCC</a:t>
                      </a:r>
                      <a:r>
                        <a:rPr lang="en-US" sz="1200"/>
                        <a:t> . H score of  ~10 for healthy tissue (71 total samples)</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100" b="0" i="0" u="none" strike="noStrike" noProof="0" err="1">
                          <a:solidFill>
                            <a:schemeClr val="accent3"/>
                          </a:solidFill>
                          <a:latin typeface="+mn-lt"/>
                          <a:hlinkClick r:id="rId12">
                            <a:extLst>
                              <a:ext uri="{A12FA001-AC4F-418D-AE19-62706E023703}">
                                <ahyp:hlinkClr xmlns:ahyp="http://schemas.microsoft.com/office/drawing/2018/hyperlinkcolor" val="tx"/>
                              </a:ext>
                            </a:extLst>
                          </a:hlinkClick>
                        </a:rPr>
                        <a:t>Nelhűbel</a:t>
                      </a:r>
                      <a:r>
                        <a:rPr lang="en-US" sz="1100" b="0" i="0" u="none" strike="noStrike" noProof="0">
                          <a:solidFill>
                            <a:schemeClr val="accent3"/>
                          </a:solidFill>
                          <a:latin typeface="+mn-lt"/>
                          <a:hlinkClick r:id="rId12">
                            <a:extLst>
                              <a:ext uri="{A12FA001-AC4F-418D-AE19-62706E023703}">
                                <ahyp:hlinkClr xmlns:ahyp="http://schemas.microsoft.com/office/drawing/2018/hyperlinkcolor" val="tx"/>
                              </a:ext>
                            </a:extLst>
                          </a:hlinkClick>
                        </a:rPr>
                        <a:t> </a:t>
                      </a:r>
                      <a:r>
                        <a:rPr lang="en-US" sz="1100" b="0" i="0" u="none" strike="noStrike" noProof="0" err="1">
                          <a:solidFill>
                            <a:schemeClr val="accent3"/>
                          </a:solidFill>
                          <a:latin typeface="+mn-lt"/>
                          <a:hlinkClick r:id="rId12">
                            <a:extLst>
                              <a:ext uri="{A12FA001-AC4F-418D-AE19-62706E023703}">
                                <ahyp:hlinkClr xmlns:ahyp="http://schemas.microsoft.com/office/drawing/2018/hyperlinkcolor" val="tx"/>
                              </a:ext>
                            </a:extLst>
                          </a:hlinkClick>
                        </a:rPr>
                        <a:t>Pathol</a:t>
                      </a:r>
                      <a:r>
                        <a:rPr lang="en-US" sz="1100" b="0" i="0" u="none" strike="noStrike" noProof="0">
                          <a:solidFill>
                            <a:schemeClr val="accent3"/>
                          </a:solidFill>
                          <a:latin typeface="+mn-lt"/>
                          <a:hlinkClick r:id="rId12">
                            <a:extLst>
                              <a:ext uri="{A12FA001-AC4F-418D-AE19-62706E023703}">
                                <ahyp:hlinkClr xmlns:ahyp="http://schemas.microsoft.com/office/drawing/2018/hyperlinkcolor" val="tx"/>
                              </a:ext>
                            </a:extLst>
                          </a:hlinkClick>
                        </a:rPr>
                        <a:t> Oncol Res 2014</a:t>
                      </a:r>
                      <a:r>
                        <a:rPr lang="en-US" sz="1100" b="0" i="0" u="none" strike="noStrike" noProof="0">
                          <a:solidFill>
                            <a:schemeClr val="accent3"/>
                          </a:solidFill>
                          <a:latin typeface="+mn-lt"/>
                        </a:rPr>
                        <a:t>, </a:t>
                      </a:r>
                      <a:endParaRPr lang="en-GB" sz="1100">
                        <a:solidFill>
                          <a:schemeClr val="accent3"/>
                        </a:solidFill>
                      </a:endParaRP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168800073"/>
                  </a:ext>
                </a:extLst>
              </a:tr>
              <a:tr h="364206">
                <a:tc>
                  <a:txBody>
                    <a:bodyPr/>
                    <a:lstStyle/>
                    <a:p>
                      <a:endParaRPr lang="en-US" sz="12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Human Protein Atlas Criteria</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a:t>75% of </a:t>
                      </a:r>
                      <a:r>
                        <a:rPr lang="en-US" sz="1200" b="1"/>
                        <a:t>HCC</a:t>
                      </a:r>
                      <a:r>
                        <a:rPr lang="en-US" sz="1200"/>
                        <a:t> show medium or high CLDN1 expression in human protein atlas, with additional confirmation with non-junctional CLDN1 </a:t>
                      </a:r>
                      <a:r>
                        <a:rPr lang="en-US" sz="1200" err="1"/>
                        <a:t>mAb</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GB" sz="1100" b="0" i="0" u="none" strike="noStrike" noProof="0">
                          <a:solidFill>
                            <a:schemeClr val="accent3"/>
                          </a:solidFill>
                          <a:latin typeface="Funnel Sans"/>
                          <a:hlinkClick r:id="rId13"/>
                        </a:rPr>
                        <a:t>Human</a:t>
                      </a:r>
                      <a:r>
                        <a:rPr lang="en-GB" sz="1100" b="0" i="0" u="none" strike="noStrike" noProof="0">
                          <a:solidFill>
                            <a:schemeClr val="accent3"/>
                          </a:solidFill>
                          <a:latin typeface="Funnel Sans"/>
                          <a:hlinkClick r:id="rId13">
                            <a:extLst>
                              <a:ext uri="{A12FA001-AC4F-418D-AE19-62706E023703}">
                                <ahyp:hlinkClr xmlns:ahyp="http://schemas.microsoft.com/office/drawing/2018/hyperlinkcolor" val="tx"/>
                              </a:ext>
                            </a:extLst>
                          </a:hlinkClick>
                        </a:rPr>
                        <a:t> Protein Atlas</a:t>
                      </a:r>
                      <a:r>
                        <a:rPr lang="en-GB" sz="1100" b="0" i="0" u="none" strike="noStrike" noProof="0">
                          <a:solidFill>
                            <a:schemeClr val="accent3"/>
                          </a:solidFill>
                          <a:latin typeface="Funnel Sans"/>
                        </a:rPr>
                        <a:t>,</a:t>
                      </a:r>
                      <a:r>
                        <a:rPr lang="en-US" sz="1100" b="0" i="0" u="none" strike="noStrike" noProof="0">
                          <a:solidFill>
                            <a:schemeClr val="accent3"/>
                          </a:solidFill>
                          <a:latin typeface="+mn-lt"/>
                          <a:hlinkClick r:id="rId13">
                            <a:extLst>
                              <a:ext uri="{A12FA001-AC4F-418D-AE19-62706E023703}">
                                <ahyp:hlinkClr xmlns:ahyp="http://schemas.microsoft.com/office/drawing/2018/hyperlinkcolor" val="tx"/>
                              </a:ext>
                            </a:extLst>
                          </a:hlinkClick>
                        </a:rPr>
                        <a:t> Roehlen J of Hepatology 2023</a:t>
                      </a:r>
                      <a:endParaRPr lang="en-GB" sz="1100">
                        <a:solidFill>
                          <a:schemeClr val="accent3"/>
                        </a:solidFill>
                        <a:hlinkClick r:id="rId13">
                          <a:extLst>
                            <a:ext uri="{A12FA001-AC4F-418D-AE19-62706E023703}">
                              <ahyp:hlinkClr xmlns:ahyp="http://schemas.microsoft.com/office/drawing/2018/hyperlinkcolor" val="tx"/>
                            </a:ext>
                          </a:extLst>
                        </a:hlinkClick>
                      </a:endParaRP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704960571"/>
                  </a:ext>
                </a:extLst>
              </a:tr>
              <a:tr h="364206">
                <a:tc>
                  <a:txBody>
                    <a:bodyPr/>
                    <a:lstStyle/>
                    <a:p>
                      <a:endParaRPr lang="en-US" sz="12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Staining intensity by spot (0-neg, 1-yellow, 2-brown, 3-darkbrown)</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a:t>80% of </a:t>
                      </a:r>
                      <a:r>
                        <a:rPr lang="en-US" sz="1200" err="1"/>
                        <a:t>adenocarcionoma</a:t>
                      </a:r>
                      <a:r>
                        <a:rPr lang="en-US" sz="1200"/>
                        <a:t> </a:t>
                      </a:r>
                      <a:r>
                        <a:rPr lang="en-US" sz="1200" b="1"/>
                        <a:t>CRC</a:t>
                      </a:r>
                      <a:r>
                        <a:rPr lang="en-US" sz="1200"/>
                        <a:t> samples (36/45) positive for CLDN1</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100" b="0" i="0" u="none" strike="noStrike" noProof="0" err="1">
                          <a:solidFill>
                            <a:schemeClr val="accent3"/>
                          </a:solidFill>
                          <a:latin typeface="+mn-lt"/>
                          <a:hlinkClick r:id="rId14">
                            <a:extLst>
                              <a:ext uri="{A12FA001-AC4F-418D-AE19-62706E023703}">
                                <ahyp:hlinkClr xmlns:ahyp="http://schemas.microsoft.com/office/drawing/2018/hyperlinkcolor" val="tx"/>
                              </a:ext>
                            </a:extLst>
                          </a:hlinkClick>
                        </a:rPr>
                        <a:t>Cherradi</a:t>
                      </a:r>
                      <a:r>
                        <a:rPr lang="en-US" sz="1100" b="0" i="0" u="none" strike="noStrike" noProof="0">
                          <a:solidFill>
                            <a:schemeClr val="accent3"/>
                          </a:solidFill>
                          <a:latin typeface="+mn-lt"/>
                          <a:hlinkClick r:id="rId14">
                            <a:extLst>
                              <a:ext uri="{A12FA001-AC4F-418D-AE19-62706E023703}">
                                <ahyp:hlinkClr xmlns:ahyp="http://schemas.microsoft.com/office/drawing/2018/hyperlinkcolor" val="tx"/>
                              </a:ext>
                            </a:extLst>
                          </a:hlinkClick>
                        </a:rPr>
                        <a:t> Journal of Exp &amp; Clini Can Res 2017</a:t>
                      </a:r>
                      <a:endParaRPr lang="en-GB" sz="1100">
                        <a:solidFill>
                          <a:schemeClr val="accent3"/>
                        </a:solidFill>
                      </a:endParaRP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774973550"/>
                  </a:ext>
                </a:extLst>
              </a:tr>
              <a:tr h="364206">
                <a:tc>
                  <a:txBody>
                    <a:bodyPr/>
                    <a:lstStyle/>
                    <a:p>
                      <a:endParaRPr lang="en-US" sz="12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Unpublished</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a:t>1200 samples, 12 indications – “NJ-CLDN1 is frequently overexpressed in solid tumors” and “25% high expression [of NJ-CLDN1] in CRC”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err="1"/>
                        <a:t>Alentis</a:t>
                      </a:r>
                      <a:r>
                        <a:rPr lang="en-US" sz="1100"/>
                        <a:t>, Feb ’25. Private Co. Panel, Guggenheim</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197129914"/>
                  </a:ext>
                </a:extLst>
              </a:tr>
              <a:tr h="364206">
                <a:tc>
                  <a:txBody>
                    <a:bodyPr/>
                    <a:lstStyle/>
                    <a:p>
                      <a:endParaRPr lang="en-US" sz="12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Staining high intensity (&gt;75% positive)</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a:t>~80% of </a:t>
                      </a:r>
                      <a:r>
                        <a:rPr lang="en-US" sz="1200" b="1"/>
                        <a:t>squamous Cervical Carcinoma </a:t>
                      </a:r>
                      <a:r>
                        <a:rPr lang="en-US" sz="1200"/>
                        <a:t>samples in HPA dataset have high staining intensity </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GB" sz="1100">
                          <a:hlinkClick r:id="rId13"/>
                        </a:rPr>
                        <a:t>Human Protein Atlas</a:t>
                      </a:r>
                      <a:endParaRPr lang="en-GB" sz="11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993166636"/>
                  </a:ext>
                </a:extLst>
              </a:tr>
              <a:tr h="364206">
                <a:tc>
                  <a:txBody>
                    <a:bodyPr/>
                    <a:lstStyle/>
                    <a:p>
                      <a:r>
                        <a:rPr lang="en-US" sz="1200"/>
                        <a:t>Protein</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Omics</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endParaRPr lang="en-US" sz="12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a:t>1.6- to 2-fold higher tumor expression compared to normal adjacent tissue</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GB" sz="1100">
                          <a:hlinkClick r:id="rId15"/>
                        </a:rPr>
                        <a:t>HPA</a:t>
                      </a:r>
                      <a:r>
                        <a:rPr lang="en-GB" sz="1100"/>
                        <a:t>, </a:t>
                      </a:r>
                      <a:r>
                        <a:rPr lang="en-GB" sz="1100" err="1">
                          <a:hlinkClick r:id="rId16"/>
                        </a:rPr>
                        <a:t>CProSite</a:t>
                      </a:r>
                      <a:r>
                        <a:rPr lang="en-GB" sz="1100"/>
                        <a:t>, </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786086428"/>
                  </a:ext>
                </a:extLst>
              </a:tr>
              <a:tr h="364206">
                <a:tc>
                  <a:txBody>
                    <a:bodyPr/>
                    <a:lstStyle/>
                    <a:p>
                      <a:r>
                        <a:rPr lang="en-US" sz="1200"/>
                        <a:t>mRNA</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err="1"/>
                        <a:t>RNAseq</a:t>
                      </a:r>
                      <a:endParaRPr lang="en-US" sz="12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GB" sz="1200"/>
                        <a:t>Significant fold increase of  ≥10 (0.05)</a:t>
                      </a:r>
                      <a:endParaRPr lang="en-US" sz="12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a:t>30-fold higher than normal tissue in colon, 2-fold higher in HNSCC, 9.7-fold higher in </a:t>
                      </a:r>
                      <a:r>
                        <a:rPr lang="en-US" sz="1200" err="1"/>
                        <a:t>LungSq</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100">
                          <a:hlinkClick r:id="rId16"/>
                        </a:rPr>
                        <a:t>TCGA</a:t>
                      </a:r>
                      <a:endParaRPr lang="en-US" sz="11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553894309"/>
                  </a:ext>
                </a:extLst>
              </a:tr>
            </a:tbl>
          </a:graphicData>
        </a:graphic>
      </p:graphicFrame>
      <p:sp>
        <p:nvSpPr>
          <p:cNvPr id="18" name="Text 33">
            <a:extLst>
              <a:ext uri="{FF2B5EF4-FFF2-40B4-BE49-F238E27FC236}">
                <a16:creationId xmlns:a16="http://schemas.microsoft.com/office/drawing/2014/main" id="{F7E9529B-CF55-3388-5A71-D46D29F3B9F0}"/>
              </a:ext>
            </a:extLst>
          </p:cNvPr>
          <p:cNvSpPr/>
          <p:nvPr/>
        </p:nvSpPr>
        <p:spPr>
          <a:xfrm>
            <a:off x="265778" y="1352545"/>
            <a:ext cx="4170515" cy="199507"/>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1" i="0" u="none" strike="noStrike" kern="0" cap="none" spc="-12" normalizeH="0" baseline="0" noProof="0">
                <a:ln>
                  <a:noFill/>
                </a:ln>
                <a:solidFill>
                  <a:srgbClr val="000000">
                    <a:alpha val="99000"/>
                  </a:srgbClr>
                </a:solidFill>
                <a:effectLst/>
                <a:uLnTx/>
                <a:uFillTx/>
                <a:latin typeface="Funnel Sans"/>
                <a:ea typeface="+mn-ea"/>
                <a:cs typeface="+mn-cs"/>
              </a:rPr>
              <a:t>Cancer </a:t>
            </a:r>
            <a:r>
              <a:rPr kumimoji="0" lang="en-US" sz="1400" b="0" i="0" u="none" strike="noStrike" kern="0" cap="none" spc="-12" normalizeH="0" baseline="0" noProof="0">
                <a:ln>
                  <a:noFill/>
                </a:ln>
                <a:solidFill>
                  <a:srgbClr val="000000">
                    <a:alpha val="99000"/>
                  </a:srgbClr>
                </a:solidFill>
                <a:effectLst/>
                <a:uLnTx/>
                <a:uFillTx/>
                <a:latin typeface="Funnel Sans"/>
                <a:ea typeface="+mn-ea"/>
                <a:cs typeface="+mn-cs"/>
              </a:rPr>
              <a:t>Expression</a:t>
            </a:r>
            <a:endParaRPr kumimoji="0" lang="en-US" sz="1400" b="0" i="0" u="none" strike="noStrike" kern="1200" cap="none" spc="0" normalizeH="0" baseline="0" noProof="0">
              <a:ln>
                <a:noFill/>
              </a:ln>
              <a:solidFill>
                <a:prstClr val="black"/>
              </a:solidFill>
              <a:effectLst/>
              <a:uLnTx/>
              <a:uFillTx/>
              <a:latin typeface="Funnel Sans"/>
              <a:ea typeface="+mn-ea"/>
              <a:cs typeface="+mn-cs"/>
            </a:endParaRPr>
          </a:p>
        </p:txBody>
      </p:sp>
      <p:sp>
        <p:nvSpPr>
          <p:cNvPr id="21" name="Rectangle: Rounded Corners 20">
            <a:extLst>
              <a:ext uri="{FF2B5EF4-FFF2-40B4-BE49-F238E27FC236}">
                <a16:creationId xmlns:a16="http://schemas.microsoft.com/office/drawing/2014/main" id="{07B9F33C-83A9-1F4B-744D-D9CF4903E9F2}"/>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Expression</a:t>
            </a:r>
          </a:p>
        </p:txBody>
      </p:sp>
      <p:sp>
        <p:nvSpPr>
          <p:cNvPr id="20" name="TextBox 19">
            <a:extLst>
              <a:ext uri="{FF2B5EF4-FFF2-40B4-BE49-F238E27FC236}">
                <a16:creationId xmlns:a16="http://schemas.microsoft.com/office/drawing/2014/main" id="{F23D55B0-F469-30E8-F028-469730DD88CB}"/>
              </a:ext>
            </a:extLst>
          </p:cNvPr>
          <p:cNvSpPr txBox="1"/>
          <p:nvPr/>
        </p:nvSpPr>
        <p:spPr>
          <a:xfrm>
            <a:off x="11075917" y="6611779"/>
            <a:ext cx="1136650" cy="246221"/>
          </a:xfrm>
          <a:prstGeom prst="rect">
            <a:avLst/>
          </a:prstGeom>
          <a:noFill/>
        </p:spPr>
        <p:txBody>
          <a:bodyPr wrap="square" lIns="91440" tIns="45720" rIns="91440" bIns="4572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23</a:t>
            </a:r>
          </a:p>
        </p:txBody>
      </p:sp>
      <p:sp>
        <p:nvSpPr>
          <p:cNvPr id="24" name="Text 28">
            <a:extLst>
              <a:ext uri="{FF2B5EF4-FFF2-40B4-BE49-F238E27FC236}">
                <a16:creationId xmlns:a16="http://schemas.microsoft.com/office/drawing/2014/main" id="{EF1732E0-A6BB-AD56-7067-585F0198F447}"/>
              </a:ext>
            </a:extLst>
          </p:cNvPr>
          <p:cNvSpPr/>
          <p:nvPr/>
        </p:nvSpPr>
        <p:spPr>
          <a:xfrm>
            <a:off x="227264" y="711101"/>
            <a:ext cx="11496658"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CLDN1 is consistently overexpressed in Squamous Cell Carcinomas, CRC &amp; HCC</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3" name="Text 33">
            <a:extLst>
              <a:ext uri="{FF2B5EF4-FFF2-40B4-BE49-F238E27FC236}">
                <a16:creationId xmlns:a16="http://schemas.microsoft.com/office/drawing/2014/main" id="{185FC6A5-DFEC-61D4-041B-9A985EF486F8}"/>
              </a:ext>
            </a:extLst>
          </p:cNvPr>
          <p:cNvSpPr/>
          <p:nvPr/>
        </p:nvSpPr>
        <p:spPr>
          <a:xfrm>
            <a:off x="292670" y="5540243"/>
            <a:ext cx="4170515" cy="199507"/>
          </a:xfrm>
          <a:prstGeom prst="rect">
            <a:avLst/>
          </a:prstGeom>
          <a:noFill/>
          <a:ln/>
        </p:spPr>
        <p:txBody>
          <a:bodyPr wrap="square"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1" i="0" u="none" strike="noStrike" kern="0" cap="none" spc="-12" normalizeH="0" baseline="0" noProof="0">
                <a:ln>
                  <a:noFill/>
                </a:ln>
                <a:solidFill>
                  <a:srgbClr val="000000">
                    <a:alpha val="99000"/>
                  </a:srgbClr>
                </a:solidFill>
                <a:effectLst/>
                <a:uLnTx/>
                <a:uFillTx/>
                <a:latin typeface="Funnel Sans" pitchFamily="34" charset="0"/>
                <a:ea typeface="+mn-ea"/>
                <a:cs typeface="+mn-cs"/>
              </a:rPr>
              <a:t>Healthy</a:t>
            </a:r>
            <a:r>
              <a:rPr kumimoji="0" lang="en-US" sz="1400" b="0" i="0" u="none" strike="noStrike" kern="0" cap="none" spc="-12" normalizeH="0" baseline="0" noProof="0">
                <a:ln>
                  <a:noFill/>
                </a:ln>
                <a:solidFill>
                  <a:srgbClr val="000000">
                    <a:alpha val="99000"/>
                  </a:srgbClr>
                </a:solidFill>
                <a:effectLst/>
                <a:uLnTx/>
                <a:uFillTx/>
                <a:latin typeface="Funnel Sans" pitchFamily="34" charset="0"/>
                <a:ea typeface="+mn-ea"/>
                <a:cs typeface="+mn-cs"/>
              </a:rPr>
              <a:t> Tissue Expression</a:t>
            </a:r>
            <a:endParaRPr kumimoji="0" lang="en-US" sz="1400" b="0" i="0" u="none" strike="noStrike" kern="1200" cap="none" spc="0" normalizeH="0" baseline="0" noProof="0">
              <a:ln>
                <a:noFill/>
              </a:ln>
              <a:solidFill>
                <a:prstClr val="black"/>
              </a:solidFill>
              <a:effectLst/>
              <a:uLnTx/>
              <a:uFillTx/>
              <a:latin typeface="Funnel Sans"/>
              <a:ea typeface="+mn-ea"/>
              <a:cs typeface="+mn-cs"/>
            </a:endParaRPr>
          </a:p>
        </p:txBody>
      </p:sp>
      <p:graphicFrame>
        <p:nvGraphicFramePr>
          <p:cNvPr id="28" name="Table 27">
            <a:extLst>
              <a:ext uri="{FF2B5EF4-FFF2-40B4-BE49-F238E27FC236}">
                <a16:creationId xmlns:a16="http://schemas.microsoft.com/office/drawing/2014/main" id="{7E3AACCD-58D2-13C4-D0A3-521A3FDC3599}"/>
              </a:ext>
            </a:extLst>
          </p:cNvPr>
          <p:cNvGraphicFramePr>
            <a:graphicFrameLocks noGrp="1"/>
          </p:cNvGraphicFramePr>
          <p:nvPr/>
        </p:nvGraphicFramePr>
        <p:xfrm>
          <a:off x="335280" y="5773500"/>
          <a:ext cx="11614495" cy="1005840"/>
        </p:xfrm>
        <a:graphic>
          <a:graphicData uri="http://schemas.openxmlformats.org/drawingml/2006/table">
            <a:tbl>
              <a:tblPr firstRow="1" bandRow="1">
                <a:tableStyleId>{5C22544A-7EE6-4342-B048-85BDC9FD1C3A}</a:tableStyleId>
              </a:tblPr>
              <a:tblGrid>
                <a:gridCol w="765175">
                  <a:extLst>
                    <a:ext uri="{9D8B030D-6E8A-4147-A177-3AD203B41FA5}">
                      <a16:colId xmlns:a16="http://schemas.microsoft.com/office/drawing/2014/main" val="544434787"/>
                    </a:ext>
                  </a:extLst>
                </a:gridCol>
                <a:gridCol w="800100">
                  <a:extLst>
                    <a:ext uri="{9D8B030D-6E8A-4147-A177-3AD203B41FA5}">
                      <a16:colId xmlns:a16="http://schemas.microsoft.com/office/drawing/2014/main" val="3701184376"/>
                    </a:ext>
                  </a:extLst>
                </a:gridCol>
                <a:gridCol w="2924175">
                  <a:extLst>
                    <a:ext uri="{9D8B030D-6E8A-4147-A177-3AD203B41FA5}">
                      <a16:colId xmlns:a16="http://schemas.microsoft.com/office/drawing/2014/main" val="3241637152"/>
                    </a:ext>
                  </a:extLst>
                </a:gridCol>
                <a:gridCol w="5210175">
                  <a:extLst>
                    <a:ext uri="{9D8B030D-6E8A-4147-A177-3AD203B41FA5}">
                      <a16:colId xmlns:a16="http://schemas.microsoft.com/office/drawing/2014/main" val="2413661414"/>
                    </a:ext>
                  </a:extLst>
                </a:gridCol>
                <a:gridCol w="1914870">
                  <a:extLst>
                    <a:ext uri="{9D8B030D-6E8A-4147-A177-3AD203B41FA5}">
                      <a16:colId xmlns:a16="http://schemas.microsoft.com/office/drawing/2014/main" val="2720780949"/>
                    </a:ext>
                  </a:extLst>
                </a:gridCol>
              </a:tblGrid>
              <a:tr h="208444">
                <a:tc>
                  <a:txBody>
                    <a:bodyPr/>
                    <a:lstStyle/>
                    <a:p>
                      <a:r>
                        <a:rPr lang="en-US" sz="1200" b="1">
                          <a:solidFill>
                            <a:schemeClr val="tx1"/>
                          </a:solidFill>
                        </a:rPr>
                        <a:t>Type</a:t>
                      </a:r>
                    </a:p>
                  </a:txBody>
                  <a:tcPr>
                    <a:solidFill>
                      <a:schemeClr val="bg2"/>
                    </a:solidFill>
                  </a:tcPr>
                </a:tc>
                <a:tc>
                  <a:txBody>
                    <a:bodyPr/>
                    <a:lstStyle/>
                    <a:p>
                      <a:r>
                        <a:rPr lang="en-US" sz="1200" b="1">
                          <a:solidFill>
                            <a:schemeClr val="tx1"/>
                          </a:solidFill>
                        </a:rPr>
                        <a:t>Method</a:t>
                      </a:r>
                    </a:p>
                  </a:txBody>
                  <a:tcPr>
                    <a:solidFill>
                      <a:schemeClr val="bg2"/>
                    </a:solidFill>
                  </a:tcPr>
                </a:tc>
                <a:tc>
                  <a:txBody>
                    <a:bodyPr/>
                    <a:lstStyle/>
                    <a:p>
                      <a:r>
                        <a:rPr lang="en-US" sz="1200" b="1">
                          <a:solidFill>
                            <a:schemeClr val="tx1"/>
                          </a:solidFill>
                        </a:rPr>
                        <a:t>Criteria</a:t>
                      </a:r>
                    </a:p>
                  </a:txBody>
                  <a:tcPr>
                    <a:solidFill>
                      <a:schemeClr val="bg2"/>
                    </a:solidFill>
                  </a:tcPr>
                </a:tc>
                <a:tc>
                  <a:txBody>
                    <a:bodyPr/>
                    <a:lstStyle/>
                    <a:p>
                      <a:r>
                        <a:rPr lang="en-US" sz="1200" b="1">
                          <a:solidFill>
                            <a:schemeClr val="tx1"/>
                          </a:solidFill>
                        </a:rPr>
                        <a:t>Value</a:t>
                      </a:r>
                    </a:p>
                  </a:txBody>
                  <a:tcPr>
                    <a:solidFill>
                      <a:schemeClr val="bg2"/>
                    </a:solidFill>
                  </a:tcPr>
                </a:tc>
                <a:tc>
                  <a:txBody>
                    <a:bodyPr/>
                    <a:lstStyle/>
                    <a:p>
                      <a:r>
                        <a:rPr lang="en-US" sz="1200" b="1">
                          <a:solidFill>
                            <a:schemeClr val="tx1"/>
                          </a:solidFill>
                        </a:rPr>
                        <a:t>Source</a:t>
                      </a:r>
                    </a:p>
                  </a:txBody>
                  <a:tcPr>
                    <a:solidFill>
                      <a:schemeClr val="bg2"/>
                    </a:solidFill>
                  </a:tcPr>
                </a:tc>
                <a:extLst>
                  <a:ext uri="{0D108BD9-81ED-4DB2-BD59-A6C34878D82A}">
                    <a16:rowId xmlns:a16="http://schemas.microsoft.com/office/drawing/2014/main" val="3281024351"/>
                  </a:ext>
                </a:extLst>
              </a:tr>
              <a:tr h="347406">
                <a:tc>
                  <a:txBody>
                    <a:bodyPr/>
                    <a:lstStyle/>
                    <a:p>
                      <a:r>
                        <a:rPr lang="en-US" sz="1200"/>
                        <a:t>Protein</a:t>
                      </a:r>
                    </a:p>
                  </a:txBody>
                  <a:tcPr>
                    <a:lnB w="12700" cap="flat" cmpd="sng" algn="ctr">
                      <a:solidFill>
                        <a:schemeClr val="bg2"/>
                      </a:solidFill>
                      <a:prstDash val="solid"/>
                      <a:round/>
                      <a:headEnd type="none" w="med" len="med"/>
                      <a:tailEnd type="none" w="med" len="med"/>
                    </a:lnB>
                    <a:noFill/>
                  </a:tcPr>
                </a:tc>
                <a:tc>
                  <a:txBody>
                    <a:bodyPr/>
                    <a:lstStyle/>
                    <a:p>
                      <a:r>
                        <a:rPr lang="en-US" sz="1200"/>
                        <a:t>IHC</a:t>
                      </a:r>
                    </a:p>
                  </a:txBody>
                  <a:tcPr>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Minimal or absent staining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(ideally &lt;1–10%; 0% preferred)​</a:t>
                      </a:r>
                    </a:p>
                  </a:txBody>
                  <a:tcPr>
                    <a:lnB w="12700" cap="flat" cmpd="sng" algn="ctr">
                      <a:solidFill>
                        <a:schemeClr val="bg2"/>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GB" sz="1200"/>
                        <a:t>Squamous epithelial skin cells, tonsil squamous, bladder, liver, kidney have moderate to high expression of the CLDN1</a:t>
                      </a:r>
                      <a:endParaRPr lang="en-US" sz="1200"/>
                    </a:p>
                  </a:txBody>
                  <a:tcPr>
                    <a:lnB w="12700" cap="flat" cmpd="sng" algn="ctr">
                      <a:solidFill>
                        <a:schemeClr val="bg2"/>
                      </a:solidFill>
                      <a:prstDash val="solid"/>
                      <a:round/>
                      <a:headEnd type="none" w="med" len="med"/>
                      <a:tailEnd type="none" w="med" len="med"/>
                    </a:lnB>
                    <a:noFill/>
                  </a:tcPr>
                </a:tc>
                <a:tc>
                  <a:txBody>
                    <a:bodyPr/>
                    <a:lstStyle/>
                    <a:p>
                      <a:pPr lvl="0">
                        <a:buNone/>
                      </a:pPr>
                      <a:r>
                        <a:rPr lang="en-GB" sz="1000" b="0" i="0" u="none" strike="noStrike" noProof="0">
                          <a:solidFill>
                            <a:srgbClr val="000000"/>
                          </a:solidFill>
                          <a:latin typeface="Funnel Sans"/>
                          <a:hlinkClick r:id="rId15"/>
                        </a:rPr>
                        <a:t>Human Protein Atlas</a:t>
                      </a:r>
                      <a:endParaRPr lang="en-GB" sz="1000" b="0" i="0" u="none" strike="noStrike" noProof="0">
                        <a:solidFill>
                          <a:srgbClr val="000000"/>
                        </a:solidFill>
                        <a:latin typeface="Funnel Sans"/>
                      </a:endParaRPr>
                    </a:p>
                    <a:p>
                      <a:pPr lvl="0">
                        <a:buNone/>
                      </a:pPr>
                      <a:r>
                        <a:rPr lang="en-GB" sz="1000" b="0" i="0" u="none" strike="noStrike" noProof="0">
                          <a:solidFill>
                            <a:srgbClr val="000000"/>
                          </a:solidFill>
                          <a:latin typeface="Funnel Sans"/>
                        </a:rPr>
                        <a:t> </a:t>
                      </a:r>
                      <a:r>
                        <a:rPr lang="en-GB" sz="1000" b="0" i="0" u="none" strike="noStrike" noProof="0">
                          <a:solidFill>
                            <a:srgbClr val="000000"/>
                          </a:solidFill>
                          <a:latin typeface="Funnel Sans"/>
                          <a:hlinkClick r:id="rId16"/>
                        </a:rPr>
                        <a:t>CProSite</a:t>
                      </a:r>
                      <a:endParaRPr lang="fr-FR" sz="1000" b="0" i="0" u="none" strike="noStrike" noProof="0">
                        <a:solidFill>
                          <a:srgbClr val="000000"/>
                        </a:solidFill>
                        <a:latin typeface="Funnel Sans"/>
                      </a:endParaRPr>
                    </a:p>
                  </a:txBody>
                  <a:tcPr>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67172331"/>
                  </a:ext>
                </a:extLst>
              </a:tr>
              <a:tr h="208444">
                <a:tc>
                  <a:txBody>
                    <a:bodyPr/>
                    <a:lstStyle/>
                    <a:p>
                      <a:pPr lvl="0">
                        <a:buNone/>
                      </a:pPr>
                      <a:r>
                        <a:rPr lang="en-US" sz="1200"/>
                        <a:t>mRNA</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200" err="1"/>
                        <a:t>RNAseq</a:t>
                      </a:r>
                      <a:endParaRPr lang="en-US" sz="12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lvl="0" indent="0" algn="l" defTabSz="914400">
                        <a:lnSpc>
                          <a:spcPct val="100000"/>
                        </a:lnSpc>
                        <a:spcBef>
                          <a:spcPts val="0"/>
                        </a:spcBef>
                        <a:spcAft>
                          <a:spcPts val="0"/>
                        </a:spcAft>
                        <a:buNone/>
                        <a:tabLst/>
                        <a:defRPr/>
                      </a:pPr>
                      <a:endParaRPr lang="en-GB" sz="12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GB" sz="1200"/>
                        <a:t>Similar to above</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fr-FR" sz="1000">
                          <a:hlinkClick r:id="rId17"/>
                        </a:rPr>
                        <a:t>GTex</a:t>
                      </a:r>
                      <a:r>
                        <a:rPr lang="fr-FR" sz="1000"/>
                        <a:t> /</a:t>
                      </a:r>
                      <a:r>
                        <a:rPr lang="fr-FR" sz="1000">
                          <a:hlinkClick r:id="rId16"/>
                        </a:rPr>
                        <a:t>TCGA</a:t>
                      </a:r>
                      <a:endParaRPr lang="fr-FR" sz="10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168800073"/>
                  </a:ext>
                </a:extLst>
              </a:tr>
            </a:tbl>
          </a:graphicData>
        </a:graphic>
      </p:graphicFrame>
    </p:spTree>
    <p:extLst>
      <p:ext uri="{BB962C8B-B14F-4D97-AF65-F5344CB8AC3E}">
        <p14:creationId xmlns:p14="http://schemas.microsoft.com/office/powerpoint/2010/main" val="720863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B6591-6516-EBFC-3491-F98562A1190A}"/>
            </a:ext>
          </a:extLst>
        </p:cNvPr>
        <p:cNvGrpSpPr/>
        <p:nvPr/>
      </p:nvGrpSpPr>
      <p:grpSpPr>
        <a:xfrm>
          <a:off x="0" y="0"/>
          <a:ext cx="0" cy="0"/>
          <a:chOff x="0" y="0"/>
          <a:chExt cx="0" cy="0"/>
        </a:xfrm>
      </p:grpSpPr>
      <p:sp>
        <p:nvSpPr>
          <p:cNvPr id="31" name="Shape 5">
            <a:extLst>
              <a:ext uri="{FF2B5EF4-FFF2-40B4-BE49-F238E27FC236}">
                <a16:creationId xmlns:a16="http://schemas.microsoft.com/office/drawing/2014/main" id="{D5445CFD-623B-51EF-9E11-1501459281E9}"/>
              </a:ext>
            </a:extLst>
          </p:cNvPr>
          <p:cNvSpPr/>
          <p:nvPr/>
        </p:nvSpPr>
        <p:spPr>
          <a:xfrm rot="10800000">
            <a:off x="541074" y="1968360"/>
            <a:ext cx="3423291" cy="4394914"/>
          </a:xfrm>
          <a:prstGeom prst="round2SameRect">
            <a:avLst>
              <a:gd name="adj1" fmla="val 5880"/>
              <a:gd name="adj2" fmla="val 0"/>
            </a:avLst>
          </a:prstGeom>
          <a:solidFill>
            <a:schemeClr val="bg2">
              <a:alpha val="7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9" name="Shape 5">
            <a:extLst>
              <a:ext uri="{FF2B5EF4-FFF2-40B4-BE49-F238E27FC236}">
                <a16:creationId xmlns:a16="http://schemas.microsoft.com/office/drawing/2014/main" id="{633F0725-4364-D94D-55AE-3BDEDBE747CB}"/>
              </a:ext>
            </a:extLst>
          </p:cNvPr>
          <p:cNvSpPr/>
          <p:nvPr/>
        </p:nvSpPr>
        <p:spPr>
          <a:xfrm rot="10800000">
            <a:off x="8117901" y="4137779"/>
            <a:ext cx="3423291" cy="2111766"/>
          </a:xfrm>
          <a:prstGeom prst="round2SameRect">
            <a:avLst>
              <a:gd name="adj1" fmla="val 5880"/>
              <a:gd name="adj2" fmla="val 0"/>
            </a:avLst>
          </a:prstGeom>
          <a:solidFill>
            <a:schemeClr val="bg2">
              <a:alpha val="70000"/>
            </a:schemeClr>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0" name="Shape 5">
            <a:extLst>
              <a:ext uri="{FF2B5EF4-FFF2-40B4-BE49-F238E27FC236}">
                <a16:creationId xmlns:a16="http://schemas.microsoft.com/office/drawing/2014/main" id="{FCD0E30A-155C-813E-2254-B61A893519FB}"/>
              </a:ext>
            </a:extLst>
          </p:cNvPr>
          <p:cNvSpPr/>
          <p:nvPr/>
        </p:nvSpPr>
        <p:spPr>
          <a:xfrm rot="10800000">
            <a:off x="8126999" y="2171044"/>
            <a:ext cx="3423291" cy="1437889"/>
          </a:xfrm>
          <a:prstGeom prst="round2SameRect">
            <a:avLst>
              <a:gd name="adj1" fmla="val 5880"/>
              <a:gd name="adj2" fmla="val 0"/>
            </a:avLst>
          </a:prstGeom>
          <a:solidFill>
            <a:schemeClr val="bg2">
              <a:alpha val="7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5" name="Shape 0">
            <a:extLst>
              <a:ext uri="{FF2B5EF4-FFF2-40B4-BE49-F238E27FC236}">
                <a16:creationId xmlns:a16="http://schemas.microsoft.com/office/drawing/2014/main" id="{2CD36A44-6201-74E6-7F91-091B2AEDDA02}"/>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6" name="Shape 19">
            <a:extLst>
              <a:ext uri="{FF2B5EF4-FFF2-40B4-BE49-F238E27FC236}">
                <a16:creationId xmlns:a16="http://schemas.microsoft.com/office/drawing/2014/main" id="{C402F995-1CF3-8DAF-606A-1C1725D98924}"/>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7" name="Image 3" descr="preencoded.png">
            <a:extLst>
              <a:ext uri="{FF2B5EF4-FFF2-40B4-BE49-F238E27FC236}">
                <a16:creationId xmlns:a16="http://schemas.microsoft.com/office/drawing/2014/main" id="{1CF786BB-ACCD-E0F7-E1B8-8B201A5C9360}"/>
              </a:ext>
            </a:extLst>
          </p:cNvPr>
          <p:cNvPicPr>
            <a:picLocks noChangeAspect="1"/>
          </p:cNvPicPr>
          <p:nvPr/>
        </p:nvPicPr>
        <p:blipFill>
          <a:blip r:embed="rId3"/>
          <a:stretch>
            <a:fillRect/>
          </a:stretch>
        </p:blipFill>
        <p:spPr>
          <a:xfrm>
            <a:off x="323503" y="254000"/>
            <a:ext cx="156939" cy="191368"/>
          </a:xfrm>
          <a:prstGeom prst="rect">
            <a:avLst/>
          </a:prstGeom>
        </p:spPr>
      </p:pic>
      <p:pic>
        <p:nvPicPr>
          <p:cNvPr id="8" name="Image 4" descr="preencoded.png">
            <a:extLst>
              <a:ext uri="{FF2B5EF4-FFF2-40B4-BE49-F238E27FC236}">
                <a16:creationId xmlns:a16="http://schemas.microsoft.com/office/drawing/2014/main" id="{6D60BC55-E74F-5568-AC57-5419E261F1C1}"/>
              </a:ext>
            </a:extLst>
          </p:cNvPr>
          <p:cNvPicPr>
            <a:picLocks noChangeAspect="1"/>
          </p:cNvPicPr>
          <p:nvPr/>
        </p:nvPicPr>
        <p:blipFill>
          <a:blip r:embed="rId4"/>
          <a:stretch>
            <a:fillRect/>
          </a:stretch>
        </p:blipFill>
        <p:spPr>
          <a:xfrm>
            <a:off x="387028" y="459541"/>
            <a:ext cx="968" cy="4"/>
          </a:xfrm>
          <a:prstGeom prst="rect">
            <a:avLst/>
          </a:prstGeom>
        </p:spPr>
      </p:pic>
      <p:pic>
        <p:nvPicPr>
          <p:cNvPr id="9" name="Image 5" descr="preencoded.png">
            <a:extLst>
              <a:ext uri="{FF2B5EF4-FFF2-40B4-BE49-F238E27FC236}">
                <a16:creationId xmlns:a16="http://schemas.microsoft.com/office/drawing/2014/main" id="{FEB83129-6195-BCD3-737E-A22E54D13AA4}"/>
              </a:ext>
            </a:extLst>
          </p:cNvPr>
          <p:cNvPicPr>
            <a:picLocks noChangeAspect="1"/>
          </p:cNvPicPr>
          <p:nvPr/>
        </p:nvPicPr>
        <p:blipFill>
          <a:blip r:embed="rId4"/>
          <a:stretch>
            <a:fillRect/>
          </a:stretch>
        </p:blipFill>
        <p:spPr>
          <a:xfrm>
            <a:off x="386756" y="459546"/>
            <a:ext cx="297" cy="4"/>
          </a:xfrm>
          <a:prstGeom prst="rect">
            <a:avLst/>
          </a:prstGeom>
        </p:spPr>
      </p:pic>
      <p:pic>
        <p:nvPicPr>
          <p:cNvPr id="10" name="Image 6" descr="preencoded.png">
            <a:extLst>
              <a:ext uri="{FF2B5EF4-FFF2-40B4-BE49-F238E27FC236}">
                <a16:creationId xmlns:a16="http://schemas.microsoft.com/office/drawing/2014/main" id="{017FCD0F-D8F3-802B-7F55-8EB27264A41B}"/>
              </a:ext>
            </a:extLst>
          </p:cNvPr>
          <p:cNvPicPr>
            <a:picLocks noChangeAspect="1"/>
          </p:cNvPicPr>
          <p:nvPr/>
        </p:nvPicPr>
        <p:blipFill>
          <a:blip r:embed="rId4"/>
          <a:stretch>
            <a:fillRect/>
          </a:stretch>
        </p:blipFill>
        <p:spPr>
          <a:xfrm>
            <a:off x="389261" y="473634"/>
            <a:ext cx="471" cy="4"/>
          </a:xfrm>
          <a:prstGeom prst="rect">
            <a:avLst/>
          </a:prstGeom>
        </p:spPr>
      </p:pic>
      <p:pic>
        <p:nvPicPr>
          <p:cNvPr id="11" name="Image 7" descr="preencoded.png">
            <a:extLst>
              <a:ext uri="{FF2B5EF4-FFF2-40B4-BE49-F238E27FC236}">
                <a16:creationId xmlns:a16="http://schemas.microsoft.com/office/drawing/2014/main" id="{307B98E1-3712-9CAC-443A-34D44B59F48B}"/>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2" name="Image 8" descr="preencoded.png">
            <a:extLst>
              <a:ext uri="{FF2B5EF4-FFF2-40B4-BE49-F238E27FC236}">
                <a16:creationId xmlns:a16="http://schemas.microsoft.com/office/drawing/2014/main" id="{512EABEA-D0E2-0D9E-E5BC-AAEF5AA13B94}"/>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3" name="Image 9" descr="preencoded.png">
            <a:extLst>
              <a:ext uri="{FF2B5EF4-FFF2-40B4-BE49-F238E27FC236}">
                <a16:creationId xmlns:a16="http://schemas.microsoft.com/office/drawing/2014/main" id="{730FA1E0-CC54-8711-7870-BDCC8A376DDE}"/>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4" name="Image 10" descr="preencoded.png">
            <a:extLst>
              <a:ext uri="{FF2B5EF4-FFF2-40B4-BE49-F238E27FC236}">
                <a16:creationId xmlns:a16="http://schemas.microsoft.com/office/drawing/2014/main" id="{FF45BDB8-54AE-7E38-AC6D-FCC53FC5D2FD}"/>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5" name="Image 11" descr="preencoded.png">
            <a:extLst>
              <a:ext uri="{FF2B5EF4-FFF2-40B4-BE49-F238E27FC236}">
                <a16:creationId xmlns:a16="http://schemas.microsoft.com/office/drawing/2014/main" id="{C49DD3F1-F70C-DA0D-A476-7AF883C208E5}"/>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6" name="Image 12" descr="preencoded.png">
            <a:extLst>
              <a:ext uri="{FF2B5EF4-FFF2-40B4-BE49-F238E27FC236}">
                <a16:creationId xmlns:a16="http://schemas.microsoft.com/office/drawing/2014/main" id="{35A3BDDE-B94F-6FE6-CD38-585EBB257968}"/>
              </a:ext>
            </a:extLst>
          </p:cNvPr>
          <p:cNvPicPr>
            <a:picLocks noChangeAspect="1"/>
          </p:cNvPicPr>
          <p:nvPr/>
        </p:nvPicPr>
        <p:blipFill>
          <a:blip r:embed="rId10"/>
          <a:stretch>
            <a:fillRect/>
          </a:stretch>
        </p:blipFill>
        <p:spPr>
          <a:xfrm>
            <a:off x="254000" y="376361"/>
            <a:ext cx="174501" cy="157575"/>
          </a:xfrm>
          <a:prstGeom prst="rect">
            <a:avLst/>
          </a:prstGeom>
        </p:spPr>
      </p:pic>
      <p:sp>
        <p:nvSpPr>
          <p:cNvPr id="18" name="Rectangle: Rounded Corners 17">
            <a:extLst>
              <a:ext uri="{FF2B5EF4-FFF2-40B4-BE49-F238E27FC236}">
                <a16:creationId xmlns:a16="http://schemas.microsoft.com/office/drawing/2014/main" id="{8B1104D5-AE3D-F693-06E0-2C33D822F43C}"/>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Biology</a:t>
            </a:r>
          </a:p>
        </p:txBody>
      </p:sp>
      <p:sp>
        <p:nvSpPr>
          <p:cNvPr id="2" name="Shape 2">
            <a:extLst>
              <a:ext uri="{FF2B5EF4-FFF2-40B4-BE49-F238E27FC236}">
                <a16:creationId xmlns:a16="http://schemas.microsoft.com/office/drawing/2014/main" id="{65120DA8-47FF-5D4D-B78B-B9E6ADC605AA}"/>
              </a:ext>
            </a:extLst>
          </p:cNvPr>
          <p:cNvSpPr/>
          <p:nvPr/>
        </p:nvSpPr>
        <p:spPr>
          <a:xfrm>
            <a:off x="8121385" y="3764166"/>
            <a:ext cx="3423291" cy="495300"/>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1" name="Shape 3">
            <a:extLst>
              <a:ext uri="{FF2B5EF4-FFF2-40B4-BE49-F238E27FC236}">
                <a16:creationId xmlns:a16="http://schemas.microsoft.com/office/drawing/2014/main" id="{76A72BB1-AAF2-C192-A452-A72B65C6FE55}"/>
              </a:ext>
            </a:extLst>
          </p:cNvPr>
          <p:cNvSpPr/>
          <p:nvPr/>
        </p:nvSpPr>
        <p:spPr>
          <a:xfrm>
            <a:off x="8127003" y="1692235"/>
            <a:ext cx="3423291" cy="495300"/>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5" name="Shape 17">
            <a:extLst>
              <a:ext uri="{FF2B5EF4-FFF2-40B4-BE49-F238E27FC236}">
                <a16:creationId xmlns:a16="http://schemas.microsoft.com/office/drawing/2014/main" id="{418E7623-0A80-7D73-7DE9-04EC0A695C84}"/>
              </a:ext>
            </a:extLst>
          </p:cNvPr>
          <p:cNvSpPr/>
          <p:nvPr/>
        </p:nvSpPr>
        <p:spPr>
          <a:xfrm>
            <a:off x="541079" y="1692235"/>
            <a:ext cx="3423291" cy="495300"/>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6" name="Text 35">
            <a:extLst>
              <a:ext uri="{FF2B5EF4-FFF2-40B4-BE49-F238E27FC236}">
                <a16:creationId xmlns:a16="http://schemas.microsoft.com/office/drawing/2014/main" id="{0E8E36BD-29A4-F91B-B692-2E842924DB73}"/>
              </a:ext>
            </a:extLst>
          </p:cNvPr>
          <p:cNvSpPr/>
          <p:nvPr/>
        </p:nvSpPr>
        <p:spPr>
          <a:xfrm>
            <a:off x="8258176" y="1824085"/>
            <a:ext cx="2378448" cy="27432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alpha val="99000"/>
                  </a:srgbClr>
                </a:solidFill>
                <a:effectLst/>
                <a:uLnTx/>
                <a:uFillTx/>
                <a:latin typeface="Funnel Sans"/>
                <a:ea typeface="+mn-ea"/>
                <a:cs typeface="+mn-cs"/>
              </a:rPr>
              <a:t>No shedding into serum</a:t>
            </a:r>
          </a:p>
        </p:txBody>
      </p:sp>
      <p:sp>
        <p:nvSpPr>
          <p:cNvPr id="27" name="Text 36">
            <a:extLst>
              <a:ext uri="{FF2B5EF4-FFF2-40B4-BE49-F238E27FC236}">
                <a16:creationId xmlns:a16="http://schemas.microsoft.com/office/drawing/2014/main" id="{1CA93B6C-54FA-3445-E5DC-B5D3D971D905}"/>
              </a:ext>
            </a:extLst>
          </p:cNvPr>
          <p:cNvSpPr/>
          <p:nvPr/>
        </p:nvSpPr>
        <p:spPr>
          <a:xfrm>
            <a:off x="8295052" y="3896016"/>
            <a:ext cx="3302554" cy="275836"/>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alpha val="99000"/>
                  </a:srgbClr>
                </a:solidFill>
                <a:effectLst/>
                <a:uLnTx/>
                <a:uFillTx/>
                <a:latin typeface="Funnel Sans"/>
                <a:ea typeface="Funnel Sans" pitchFamily="34" charset="-122"/>
                <a:cs typeface="Funnel Sans" pitchFamily="34" charset="-120"/>
              </a:rPr>
              <a:t>Natively &amp; rapidly internalized</a:t>
            </a:r>
            <a:endParaRPr kumimoji="0" lang="en-US" sz="1400" b="1" i="0" u="none" strike="noStrike" kern="1200" cap="none" spc="0" normalizeH="0" baseline="0" noProof="0">
              <a:ln>
                <a:noFill/>
              </a:ln>
              <a:solidFill>
                <a:prstClr val="black"/>
              </a:solidFill>
              <a:effectLst/>
              <a:uLnTx/>
              <a:uFillTx/>
              <a:latin typeface="Funnel Sans"/>
              <a:ea typeface="+mn-ea"/>
              <a:cs typeface="+mn-cs"/>
            </a:endParaRPr>
          </a:p>
        </p:txBody>
      </p:sp>
      <p:sp>
        <p:nvSpPr>
          <p:cNvPr id="28" name="Text 42">
            <a:extLst>
              <a:ext uri="{FF2B5EF4-FFF2-40B4-BE49-F238E27FC236}">
                <a16:creationId xmlns:a16="http://schemas.microsoft.com/office/drawing/2014/main" id="{4DFF55D1-3BE2-5AA3-92A4-C90D07DC8529}"/>
              </a:ext>
            </a:extLst>
          </p:cNvPr>
          <p:cNvSpPr/>
          <p:nvPr/>
        </p:nvSpPr>
        <p:spPr>
          <a:xfrm>
            <a:off x="660347" y="1824085"/>
            <a:ext cx="3109312" cy="274320"/>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alpha val="99000"/>
                  </a:srgbClr>
                </a:solidFill>
                <a:effectLst/>
                <a:uLnTx/>
                <a:uFillTx/>
                <a:latin typeface="Funnel Sans" pitchFamily="34" charset="0"/>
                <a:ea typeface="Funnel Sans" pitchFamily="34" charset="-122"/>
                <a:cs typeface="Funnel Sans" pitchFamily="34" charset="-120"/>
              </a:rPr>
              <a:t>Well-established structural features</a:t>
            </a:r>
            <a:endParaRPr kumimoji="0" lang="en-US" sz="1400" b="1" i="0" u="none" strike="noStrike" kern="1200" cap="none" spc="0" normalizeH="0" baseline="0" noProof="0">
              <a:ln>
                <a:noFill/>
              </a:ln>
              <a:solidFill>
                <a:prstClr val="black"/>
              </a:solidFill>
              <a:effectLst/>
              <a:uLnTx/>
              <a:uFillTx/>
              <a:latin typeface="Funnel Sans"/>
              <a:ea typeface="+mn-ea"/>
              <a:cs typeface="+mn-cs"/>
            </a:endParaRPr>
          </a:p>
        </p:txBody>
      </p:sp>
      <p:sp>
        <p:nvSpPr>
          <p:cNvPr id="3" name="TextBox 2">
            <a:extLst>
              <a:ext uri="{FF2B5EF4-FFF2-40B4-BE49-F238E27FC236}">
                <a16:creationId xmlns:a16="http://schemas.microsoft.com/office/drawing/2014/main" id="{035F194F-DF17-B7E7-3525-DF0806E084C8}"/>
              </a:ext>
            </a:extLst>
          </p:cNvPr>
          <p:cNvSpPr txBox="1"/>
          <p:nvPr/>
        </p:nvSpPr>
        <p:spPr>
          <a:xfrm>
            <a:off x="11055350" y="6614136"/>
            <a:ext cx="1136650" cy="246221"/>
          </a:xfrm>
          <a:prstGeom prst="rect">
            <a:avLst/>
          </a:prstGeom>
          <a:noFill/>
        </p:spPr>
        <p:txBody>
          <a:bodyPr wrap="square" lIns="91440" tIns="45720" rIns="91440" bIns="4572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21</a:t>
            </a:r>
          </a:p>
        </p:txBody>
      </p:sp>
      <p:sp>
        <p:nvSpPr>
          <p:cNvPr id="4" name="TextBox 3">
            <a:extLst>
              <a:ext uri="{FF2B5EF4-FFF2-40B4-BE49-F238E27FC236}">
                <a16:creationId xmlns:a16="http://schemas.microsoft.com/office/drawing/2014/main" id="{B7E6177E-B774-B7E5-8141-656491C3DCFA}"/>
              </a:ext>
            </a:extLst>
          </p:cNvPr>
          <p:cNvSpPr txBox="1"/>
          <p:nvPr/>
        </p:nvSpPr>
        <p:spPr>
          <a:xfrm>
            <a:off x="8121386" y="4264675"/>
            <a:ext cx="3435194"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Constitutively endocytosed via </a:t>
            </a:r>
            <a:r>
              <a:rPr kumimoji="0" lang="en-US" sz="1200" b="0" i="0" u="none" strike="noStrike" kern="1200" cap="none" spc="0" normalizeH="0" baseline="0" noProof="0" err="1">
                <a:ln>
                  <a:noFill/>
                </a:ln>
                <a:solidFill>
                  <a:prstClr val="black"/>
                </a:solidFill>
                <a:effectLst/>
                <a:uLnTx/>
                <a:uFillTx/>
                <a:latin typeface="Funnel Sans"/>
                <a:ea typeface="+mn-ea"/>
                <a:cs typeface="+mn-cs"/>
              </a:rPr>
              <a:t>clathrin</a:t>
            </a:r>
            <a:r>
              <a:rPr kumimoji="0" lang="en-US" sz="1200" b="0" i="0" u="none" strike="noStrike" kern="1200" cap="none" spc="0" normalizeH="0" baseline="0" noProof="0">
                <a:ln>
                  <a:noFill/>
                </a:ln>
                <a:solidFill>
                  <a:prstClr val="black"/>
                </a:solidFill>
                <a:effectLst/>
                <a:uLnTx/>
                <a:uFillTx/>
                <a:latin typeface="Funnel Sans"/>
                <a:ea typeface="+mn-ea"/>
                <a:cs typeface="+mn-cs"/>
              </a:rPr>
              <a:t> coated pits and micropinocytosis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Kinetics: surface </a:t>
            </a:r>
            <a:r>
              <a:rPr kumimoji="0" lang="en-US" sz="1200" b="0" i="0" u="none" strike="noStrike" kern="1200" cap="none" spc="0" normalizeH="0" baseline="0" noProof="0" err="1">
                <a:ln>
                  <a:noFill/>
                </a:ln>
                <a:solidFill>
                  <a:prstClr val="black"/>
                </a:solidFill>
                <a:effectLst/>
                <a:uLnTx/>
                <a:uFillTx/>
                <a:latin typeface="Funnel Sans"/>
                <a:ea typeface="+mn-ea"/>
                <a:cs typeface="+mn-cs"/>
              </a:rPr>
              <a:t>biotinylation</a:t>
            </a:r>
            <a:r>
              <a:rPr kumimoji="0" lang="en-US" sz="1200" b="0" i="0" u="none" strike="noStrike" kern="1200" cap="none" spc="0" normalizeH="0" baseline="0" noProof="0">
                <a:ln>
                  <a:noFill/>
                </a:ln>
                <a:solidFill>
                  <a:prstClr val="black"/>
                </a:solidFill>
                <a:effectLst/>
                <a:uLnTx/>
                <a:uFillTx/>
                <a:latin typeface="Funnel Sans"/>
                <a:ea typeface="+mn-ea"/>
                <a:cs typeface="+mn-cs"/>
              </a:rPr>
              <a:t> assays indicate a substantial pool is internalized rapidly, signal plateau by ~30 min and ~35% internalized by 60 min in MDCK cells (then recycled)</a:t>
            </a:r>
            <a:endParaRPr kumimoji="0" lang="en-US" sz="1200" b="0" i="0" u="none" strike="noStrike" kern="1200" cap="none" spc="0" normalizeH="0" baseline="0" noProof="0">
              <a:ln>
                <a:noFill/>
              </a:ln>
              <a:solidFill>
                <a:prstClr val="black"/>
              </a:solidFill>
              <a:effectLst/>
              <a:uLnTx/>
              <a:uFillTx/>
              <a:latin typeface="Funnel Sans"/>
              <a:ea typeface="Funnel Sans"/>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Likely would carry RLT into cell which is ideal</a:t>
            </a:r>
            <a:endParaRPr kumimoji="0" lang="en-US" sz="1200" b="0" i="0" u="none" strike="noStrike" kern="1200" cap="none" spc="0" normalizeH="0" baseline="0" noProof="0">
              <a:ln>
                <a:noFill/>
              </a:ln>
              <a:solidFill>
                <a:prstClr val="black"/>
              </a:solidFill>
              <a:effectLst/>
              <a:uLnTx/>
              <a:uFillTx/>
              <a:latin typeface="Funnel Sans"/>
              <a:ea typeface="Funnel Sans"/>
              <a:cs typeface="+mn-cs"/>
            </a:endParaRPr>
          </a:p>
        </p:txBody>
      </p:sp>
      <p:sp>
        <p:nvSpPr>
          <p:cNvPr id="19" name="TextBox 18">
            <a:extLst>
              <a:ext uri="{FF2B5EF4-FFF2-40B4-BE49-F238E27FC236}">
                <a16:creationId xmlns:a16="http://schemas.microsoft.com/office/drawing/2014/main" id="{5E0962EA-3DFB-1FB5-7F71-B51E8C5CFA61}"/>
              </a:ext>
            </a:extLst>
          </p:cNvPr>
          <p:cNvSpPr txBox="1"/>
          <p:nvPr/>
        </p:nvSpPr>
        <p:spPr>
          <a:xfrm>
            <a:off x="560956" y="2192744"/>
            <a:ext cx="3403412"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4-pass </a:t>
            </a:r>
            <a:r>
              <a:rPr kumimoji="0" lang="en-US" sz="1200" b="0" i="0" u="none" strike="noStrike" kern="1200" cap="none" spc="0" normalizeH="0" baseline="0" noProof="0" err="1">
                <a:ln>
                  <a:noFill/>
                </a:ln>
                <a:solidFill>
                  <a:prstClr val="black"/>
                </a:solidFill>
                <a:effectLst/>
                <a:uLnTx/>
                <a:uFillTx/>
                <a:latin typeface="Funnel Sans"/>
                <a:ea typeface="+mn-ea"/>
                <a:cs typeface="+mn-cs"/>
              </a:rPr>
              <a:t>tetraspan</a:t>
            </a:r>
            <a:r>
              <a:rPr kumimoji="0" lang="en-US" sz="1200" b="0" i="0" u="none" strike="noStrike" kern="1200" cap="none" spc="0" normalizeH="0" baseline="0" noProof="0">
                <a:ln>
                  <a:noFill/>
                </a:ln>
                <a:solidFill>
                  <a:prstClr val="black"/>
                </a:solidFill>
                <a:effectLst/>
                <a:uLnTx/>
                <a:uFillTx/>
                <a:latin typeface="Funnel Sans"/>
                <a:ea typeface="+mn-ea"/>
                <a:cs typeface="+mn-cs"/>
              </a:rPr>
              <a:t> tight junction protein (~22–23 </a:t>
            </a:r>
            <a:r>
              <a:rPr kumimoji="0" lang="en-US" sz="1200" b="0" i="0" u="none" strike="noStrike" kern="1200" cap="none" spc="0" normalizeH="0" baseline="0" noProof="0" err="1">
                <a:ln>
                  <a:noFill/>
                </a:ln>
                <a:solidFill>
                  <a:prstClr val="black"/>
                </a:solidFill>
                <a:effectLst/>
                <a:uLnTx/>
                <a:uFillTx/>
                <a:latin typeface="Funnel Sans"/>
                <a:ea typeface="+mn-ea"/>
                <a:cs typeface="+mn-cs"/>
              </a:rPr>
              <a:t>kDa</a:t>
            </a:r>
            <a:r>
              <a:rPr kumimoji="0" lang="en-US" sz="1200" b="0" i="0" u="none" strike="noStrike" kern="1200" cap="none" spc="0" normalizeH="0" baseline="0" noProof="0">
                <a:ln>
                  <a:noFill/>
                </a:ln>
                <a:solidFill>
                  <a:prstClr val="black"/>
                </a:solidFill>
                <a:effectLst/>
                <a:uLnTx/>
                <a:uFillTx/>
                <a:latin typeface="Funnel Sans"/>
                <a:ea typeface="+mn-ea"/>
                <a:cs typeface="+mn-cs"/>
              </a:rPr>
              <a:t>) with two extracellular loops (ECL1, ECL2) and cytosolic N/C termini.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While there is no empirically derived crystal structure, multiple AF-derived homology models exist for structure-based drug design.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CLDN1 largely governs paracellular ion selectivity/barrier “tightness”. CLDN1 based junctions are typically extremely tight, and do not permit peptide sized molecules in. Injury may weaken these junctions.</a:t>
            </a:r>
            <a:endParaRPr kumimoji="0" lang="en-US" sz="1200" b="0" i="0" u="none" strike="noStrike" kern="1200" cap="none" spc="0" normalizeH="0" baseline="0" noProof="0">
              <a:ln>
                <a:noFill/>
              </a:ln>
              <a:solidFill>
                <a:prstClr val="black"/>
              </a:solidFill>
              <a:effectLst/>
              <a:uLnTx/>
              <a:uFillTx/>
              <a:latin typeface="Funnel Sans"/>
              <a:ea typeface="Funnel Sans"/>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Core determinant of epithelial barrier integrity; CLDN1 loss disrupts epidermal barrier (Cldn1⁻/⁻ mice die within 1 day from dehydration). </a:t>
            </a:r>
          </a:p>
        </p:txBody>
      </p:sp>
      <p:sp>
        <p:nvSpPr>
          <p:cNvPr id="34" name="TextBox 33">
            <a:extLst>
              <a:ext uri="{FF2B5EF4-FFF2-40B4-BE49-F238E27FC236}">
                <a16:creationId xmlns:a16="http://schemas.microsoft.com/office/drawing/2014/main" id="{6B47223F-0D5E-29BE-2F36-ECB4976E5CFE}"/>
              </a:ext>
            </a:extLst>
          </p:cNvPr>
          <p:cNvSpPr txBox="1"/>
          <p:nvPr/>
        </p:nvSpPr>
        <p:spPr>
          <a:xfrm>
            <a:off x="0" y="6472456"/>
            <a:ext cx="10826064" cy="40011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Sources: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1"/>
              </a:rPr>
              <a:t>Vonniessen Frontiers Onc 2024</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2"/>
              </a:rPr>
              <a:t>Dukes MBC 2011</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3"/>
              </a:rPr>
              <a:t>Zwanziger An NY Acad Sci 2012</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4"/>
              </a:rPr>
              <a:t>Dukes PLOS One 2012</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5"/>
              </a:rPr>
              <a:t>Utech J Biomed Biotech 2009</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6"/>
              </a:rPr>
              <a:t>Karabulut Mol Clin Oncol 2015</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7"/>
              </a:rPr>
              <a:t>Tas Melanoma Res 2016</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8"/>
              </a:rPr>
              <a:t>Mattern Sci Rep 2019</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9"/>
              </a:rPr>
              <a:t>Overgaard Antioxid Redox Signal 2011</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20"/>
              </a:rPr>
              <a:t>Tsumagari Science 2021</a:t>
            </a:r>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37" name="Text 28">
            <a:extLst>
              <a:ext uri="{FF2B5EF4-FFF2-40B4-BE49-F238E27FC236}">
                <a16:creationId xmlns:a16="http://schemas.microsoft.com/office/drawing/2014/main" id="{CCED9FF6-1869-01C3-16D9-0E234FD5D5C8}"/>
              </a:ext>
            </a:extLst>
          </p:cNvPr>
          <p:cNvSpPr/>
          <p:nvPr/>
        </p:nvSpPr>
        <p:spPr>
          <a:xfrm>
            <a:off x="227264" y="711101"/>
            <a:ext cx="11496658"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CLDN1 is surface available, natively internalized &amp; not shed – ideal RLT properties</a:t>
            </a:r>
            <a:endParaRPr kumimoji="0" lang="en-US" sz="2400" b="0" i="0" u="none" strike="dblStrike" kern="0" cap="none" spc="-24" normalizeH="0" baseline="0" noProof="0">
              <a:ln>
                <a:noFill/>
              </a:ln>
              <a:solidFill>
                <a:srgbClr val="000000">
                  <a:alpha val="99000"/>
                </a:srgbClr>
              </a:solidFill>
              <a:effectLst/>
              <a:uLnTx/>
              <a:uFillTx/>
              <a:latin typeface="Funnel Sans"/>
              <a:ea typeface="+mn-ea"/>
              <a:cs typeface="+mn-cs"/>
            </a:endParaRPr>
          </a:p>
        </p:txBody>
      </p:sp>
      <p:sp>
        <p:nvSpPr>
          <p:cNvPr id="38" name="TextBox 37">
            <a:extLst>
              <a:ext uri="{FF2B5EF4-FFF2-40B4-BE49-F238E27FC236}">
                <a16:creationId xmlns:a16="http://schemas.microsoft.com/office/drawing/2014/main" id="{0CD3847D-5773-F74B-EB94-202DE7CA7BCE}"/>
              </a:ext>
            </a:extLst>
          </p:cNvPr>
          <p:cNvSpPr txBox="1"/>
          <p:nvPr/>
        </p:nvSpPr>
        <p:spPr>
          <a:xfrm>
            <a:off x="8121385" y="2192744"/>
            <a:ext cx="3425425"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There is no convincing evidence any significant amount of CLDN1 is shed into the serum.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Funnel Sans"/>
              <a:ea typeface="Funnel Sans"/>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This minimizes the risk of a soluble antigen sink in the serum and reduces off-target exposures.</a:t>
            </a:r>
          </a:p>
        </p:txBody>
      </p:sp>
      <p:grpSp>
        <p:nvGrpSpPr>
          <p:cNvPr id="17" name="Group 16">
            <a:extLst>
              <a:ext uri="{FF2B5EF4-FFF2-40B4-BE49-F238E27FC236}">
                <a16:creationId xmlns:a16="http://schemas.microsoft.com/office/drawing/2014/main" id="{C7B3A47B-5683-137E-B9EE-25D59F0EFFC8}"/>
              </a:ext>
            </a:extLst>
          </p:cNvPr>
          <p:cNvGrpSpPr/>
          <p:nvPr/>
        </p:nvGrpSpPr>
        <p:grpSpPr>
          <a:xfrm>
            <a:off x="4131918" y="2432124"/>
            <a:ext cx="3928164" cy="3045633"/>
            <a:chOff x="1599176" y="4141106"/>
            <a:chExt cx="3189640" cy="2473030"/>
          </a:xfrm>
        </p:grpSpPr>
        <p:pic>
          <p:nvPicPr>
            <p:cNvPr id="20" name="Picture 19" descr="A diagram of a cell line&#10;&#10;AI-generated content may be incorrect.">
              <a:extLst>
                <a:ext uri="{FF2B5EF4-FFF2-40B4-BE49-F238E27FC236}">
                  <a16:creationId xmlns:a16="http://schemas.microsoft.com/office/drawing/2014/main" id="{03E54409-7955-EE20-0ADD-93954CF99B4A}"/>
                </a:ext>
              </a:extLst>
            </p:cNvPr>
            <p:cNvPicPr>
              <a:picLocks noChangeAspect="1"/>
            </p:cNvPicPr>
            <p:nvPr/>
          </p:nvPicPr>
          <p:blipFill>
            <a:blip r:embed="rId21"/>
            <a:srcRect l="34132" t="-1" r="8868" b="11293"/>
            <a:stretch>
              <a:fillRect/>
            </a:stretch>
          </p:blipFill>
          <p:spPr>
            <a:xfrm>
              <a:off x="1599176" y="4141106"/>
              <a:ext cx="3189640" cy="2429768"/>
            </a:xfrm>
            <a:prstGeom prst="rect">
              <a:avLst/>
            </a:prstGeom>
          </p:spPr>
        </p:pic>
        <p:sp>
          <p:nvSpPr>
            <p:cNvPr id="22" name="Rectangle 21">
              <a:extLst>
                <a:ext uri="{FF2B5EF4-FFF2-40B4-BE49-F238E27FC236}">
                  <a16:creationId xmlns:a16="http://schemas.microsoft.com/office/drawing/2014/main" id="{07F3B2D5-7B4A-04E7-C2B2-0FFA01652B47}"/>
                </a:ext>
              </a:extLst>
            </p:cNvPr>
            <p:cNvSpPr/>
            <p:nvPr/>
          </p:nvSpPr>
          <p:spPr>
            <a:xfrm>
              <a:off x="1636099" y="6359612"/>
              <a:ext cx="2366128" cy="2545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grpSp>
      <p:sp>
        <p:nvSpPr>
          <p:cNvPr id="23" name="Shape 1">
            <a:extLst>
              <a:ext uri="{FF2B5EF4-FFF2-40B4-BE49-F238E27FC236}">
                <a16:creationId xmlns:a16="http://schemas.microsoft.com/office/drawing/2014/main" id="{2C9769AE-7284-0944-F8AD-78AAB9B64F23}"/>
              </a:ext>
            </a:extLst>
          </p:cNvPr>
          <p:cNvSpPr/>
          <p:nvPr/>
        </p:nvSpPr>
        <p:spPr>
          <a:xfrm>
            <a:off x="227264" y="1508776"/>
            <a:ext cx="11757078"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1251003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D8CD0-9AC2-878A-2F92-B1DF22344B3F}"/>
            </a:ext>
          </a:extLst>
        </p:cNvPr>
        <p:cNvGrpSpPr/>
        <p:nvPr/>
      </p:nvGrpSpPr>
      <p:grpSpPr>
        <a:xfrm>
          <a:off x="0" y="0"/>
          <a:ext cx="0" cy="0"/>
          <a:chOff x="0" y="0"/>
          <a:chExt cx="0" cy="0"/>
        </a:xfrm>
      </p:grpSpPr>
      <p:sp>
        <p:nvSpPr>
          <p:cNvPr id="32" name="Shape 0">
            <a:extLst>
              <a:ext uri="{FF2B5EF4-FFF2-40B4-BE49-F238E27FC236}">
                <a16:creationId xmlns:a16="http://schemas.microsoft.com/office/drawing/2014/main" id="{764B8B5C-13C6-C2EB-C74D-B8191A945307}"/>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34" name="Image 3" descr="preencoded.png">
            <a:extLst>
              <a:ext uri="{FF2B5EF4-FFF2-40B4-BE49-F238E27FC236}">
                <a16:creationId xmlns:a16="http://schemas.microsoft.com/office/drawing/2014/main" id="{FCA7F872-BFC6-44CF-1673-1D8430F7454D}"/>
              </a:ext>
            </a:extLst>
          </p:cNvPr>
          <p:cNvPicPr>
            <a:picLocks noChangeAspect="1"/>
          </p:cNvPicPr>
          <p:nvPr/>
        </p:nvPicPr>
        <p:blipFill>
          <a:blip r:embed="rId3"/>
          <a:stretch>
            <a:fillRect/>
          </a:stretch>
        </p:blipFill>
        <p:spPr>
          <a:xfrm>
            <a:off x="323503" y="254000"/>
            <a:ext cx="156939" cy="191368"/>
          </a:xfrm>
          <a:prstGeom prst="rect">
            <a:avLst/>
          </a:prstGeom>
        </p:spPr>
      </p:pic>
      <p:pic>
        <p:nvPicPr>
          <p:cNvPr id="35" name="Image 4" descr="preencoded.png">
            <a:extLst>
              <a:ext uri="{FF2B5EF4-FFF2-40B4-BE49-F238E27FC236}">
                <a16:creationId xmlns:a16="http://schemas.microsoft.com/office/drawing/2014/main" id="{D188B5EB-B6ED-22A2-4D62-BF918143FE6E}"/>
              </a:ext>
            </a:extLst>
          </p:cNvPr>
          <p:cNvPicPr>
            <a:picLocks noChangeAspect="1"/>
          </p:cNvPicPr>
          <p:nvPr/>
        </p:nvPicPr>
        <p:blipFill>
          <a:blip r:embed="rId4"/>
          <a:stretch>
            <a:fillRect/>
          </a:stretch>
        </p:blipFill>
        <p:spPr>
          <a:xfrm>
            <a:off x="387028" y="459541"/>
            <a:ext cx="968" cy="4"/>
          </a:xfrm>
          <a:prstGeom prst="rect">
            <a:avLst/>
          </a:prstGeom>
        </p:spPr>
      </p:pic>
      <p:pic>
        <p:nvPicPr>
          <p:cNvPr id="36" name="Image 5" descr="preencoded.png">
            <a:extLst>
              <a:ext uri="{FF2B5EF4-FFF2-40B4-BE49-F238E27FC236}">
                <a16:creationId xmlns:a16="http://schemas.microsoft.com/office/drawing/2014/main" id="{CC015A93-F702-5468-6A0A-20E28069C265}"/>
              </a:ext>
            </a:extLst>
          </p:cNvPr>
          <p:cNvPicPr>
            <a:picLocks noChangeAspect="1"/>
          </p:cNvPicPr>
          <p:nvPr/>
        </p:nvPicPr>
        <p:blipFill>
          <a:blip r:embed="rId4"/>
          <a:stretch>
            <a:fillRect/>
          </a:stretch>
        </p:blipFill>
        <p:spPr>
          <a:xfrm>
            <a:off x="386756" y="459546"/>
            <a:ext cx="297" cy="4"/>
          </a:xfrm>
          <a:prstGeom prst="rect">
            <a:avLst/>
          </a:prstGeom>
        </p:spPr>
      </p:pic>
      <p:pic>
        <p:nvPicPr>
          <p:cNvPr id="37" name="Image 6" descr="preencoded.png">
            <a:extLst>
              <a:ext uri="{FF2B5EF4-FFF2-40B4-BE49-F238E27FC236}">
                <a16:creationId xmlns:a16="http://schemas.microsoft.com/office/drawing/2014/main" id="{29A33BE2-AD11-C4CC-0145-A9CB99792F35}"/>
              </a:ext>
            </a:extLst>
          </p:cNvPr>
          <p:cNvPicPr>
            <a:picLocks noChangeAspect="1"/>
          </p:cNvPicPr>
          <p:nvPr/>
        </p:nvPicPr>
        <p:blipFill>
          <a:blip r:embed="rId4"/>
          <a:stretch>
            <a:fillRect/>
          </a:stretch>
        </p:blipFill>
        <p:spPr>
          <a:xfrm>
            <a:off x="389261" y="473634"/>
            <a:ext cx="471" cy="4"/>
          </a:xfrm>
          <a:prstGeom prst="rect">
            <a:avLst/>
          </a:prstGeom>
        </p:spPr>
      </p:pic>
      <p:pic>
        <p:nvPicPr>
          <p:cNvPr id="38" name="Image 7" descr="preencoded.png">
            <a:extLst>
              <a:ext uri="{FF2B5EF4-FFF2-40B4-BE49-F238E27FC236}">
                <a16:creationId xmlns:a16="http://schemas.microsoft.com/office/drawing/2014/main" id="{0D43E1E4-D414-C60D-F263-969E184DED4E}"/>
              </a:ext>
            </a:extLst>
          </p:cNvPr>
          <p:cNvPicPr>
            <a:picLocks noChangeAspect="1"/>
          </p:cNvPicPr>
          <p:nvPr/>
        </p:nvPicPr>
        <p:blipFill>
          <a:blip r:embed="rId5"/>
          <a:stretch>
            <a:fillRect/>
          </a:stretch>
        </p:blipFill>
        <p:spPr>
          <a:xfrm>
            <a:off x="600300" y="305277"/>
            <a:ext cx="137641" cy="202443"/>
          </a:xfrm>
          <a:prstGeom prst="rect">
            <a:avLst/>
          </a:prstGeom>
        </p:spPr>
      </p:pic>
      <p:pic>
        <p:nvPicPr>
          <p:cNvPr id="39" name="Image 8" descr="preencoded.png">
            <a:extLst>
              <a:ext uri="{FF2B5EF4-FFF2-40B4-BE49-F238E27FC236}">
                <a16:creationId xmlns:a16="http://schemas.microsoft.com/office/drawing/2014/main" id="{332934BA-F23D-B2B5-9B40-722E26CDB890}"/>
              </a:ext>
            </a:extLst>
          </p:cNvPr>
          <p:cNvPicPr>
            <a:picLocks noChangeAspect="1"/>
          </p:cNvPicPr>
          <p:nvPr/>
        </p:nvPicPr>
        <p:blipFill>
          <a:blip r:embed="rId6"/>
          <a:stretch>
            <a:fillRect/>
          </a:stretch>
        </p:blipFill>
        <p:spPr>
          <a:xfrm>
            <a:off x="743372" y="360473"/>
            <a:ext cx="126579" cy="147243"/>
          </a:xfrm>
          <a:prstGeom prst="rect">
            <a:avLst/>
          </a:prstGeom>
        </p:spPr>
      </p:pic>
      <p:pic>
        <p:nvPicPr>
          <p:cNvPr id="40" name="Image 9" descr="preencoded.png">
            <a:extLst>
              <a:ext uri="{FF2B5EF4-FFF2-40B4-BE49-F238E27FC236}">
                <a16:creationId xmlns:a16="http://schemas.microsoft.com/office/drawing/2014/main" id="{48CE27D0-6E9E-18B6-0813-D9792E187A98}"/>
              </a:ext>
            </a:extLst>
          </p:cNvPr>
          <p:cNvPicPr>
            <a:picLocks noChangeAspect="1"/>
          </p:cNvPicPr>
          <p:nvPr/>
        </p:nvPicPr>
        <p:blipFill>
          <a:blip r:embed="rId7"/>
          <a:stretch>
            <a:fillRect/>
          </a:stretch>
        </p:blipFill>
        <p:spPr>
          <a:xfrm>
            <a:off x="872928" y="360456"/>
            <a:ext cx="131737" cy="198345"/>
          </a:xfrm>
          <a:prstGeom prst="rect">
            <a:avLst/>
          </a:prstGeom>
        </p:spPr>
      </p:pic>
      <p:pic>
        <p:nvPicPr>
          <p:cNvPr id="41" name="Image 10" descr="preencoded.png">
            <a:extLst>
              <a:ext uri="{FF2B5EF4-FFF2-40B4-BE49-F238E27FC236}">
                <a16:creationId xmlns:a16="http://schemas.microsoft.com/office/drawing/2014/main" id="{FED5C144-205E-7F91-7DC1-E1BD3AA9E5D6}"/>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42" name="Image 11" descr="preencoded.png">
            <a:extLst>
              <a:ext uri="{FF2B5EF4-FFF2-40B4-BE49-F238E27FC236}">
                <a16:creationId xmlns:a16="http://schemas.microsoft.com/office/drawing/2014/main" id="{0C2FEC5B-75AE-828C-CDE1-69EDC79A39C1}"/>
              </a:ext>
            </a:extLst>
          </p:cNvPr>
          <p:cNvPicPr>
            <a:picLocks noChangeAspect="1"/>
          </p:cNvPicPr>
          <p:nvPr/>
        </p:nvPicPr>
        <p:blipFill>
          <a:blip r:embed="rId9"/>
          <a:stretch>
            <a:fillRect/>
          </a:stretch>
        </p:blipFill>
        <p:spPr>
          <a:xfrm>
            <a:off x="375419" y="376364"/>
            <a:ext cx="174501" cy="157568"/>
          </a:xfrm>
          <a:prstGeom prst="rect">
            <a:avLst/>
          </a:prstGeom>
        </p:spPr>
      </p:pic>
      <p:pic>
        <p:nvPicPr>
          <p:cNvPr id="43" name="Image 12" descr="preencoded.png">
            <a:extLst>
              <a:ext uri="{FF2B5EF4-FFF2-40B4-BE49-F238E27FC236}">
                <a16:creationId xmlns:a16="http://schemas.microsoft.com/office/drawing/2014/main" id="{4F70FEFE-052A-F16F-AC1B-B4BFFC94A9F9}"/>
              </a:ext>
            </a:extLst>
          </p:cNvPr>
          <p:cNvPicPr>
            <a:picLocks noChangeAspect="1"/>
          </p:cNvPicPr>
          <p:nvPr/>
        </p:nvPicPr>
        <p:blipFill>
          <a:blip r:embed="rId10"/>
          <a:stretch>
            <a:fillRect/>
          </a:stretch>
        </p:blipFill>
        <p:spPr>
          <a:xfrm>
            <a:off x="254000" y="376361"/>
            <a:ext cx="174501" cy="157575"/>
          </a:xfrm>
          <a:prstGeom prst="rect">
            <a:avLst/>
          </a:prstGeom>
        </p:spPr>
      </p:pic>
      <p:sp>
        <p:nvSpPr>
          <p:cNvPr id="51" name="Rectangle: Rounded Corners 50">
            <a:extLst>
              <a:ext uri="{FF2B5EF4-FFF2-40B4-BE49-F238E27FC236}">
                <a16:creationId xmlns:a16="http://schemas.microsoft.com/office/drawing/2014/main" id="{BD25602A-2B2B-2990-4043-80C877F9DDFB}"/>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Landscape</a:t>
            </a:r>
          </a:p>
        </p:txBody>
      </p:sp>
      <p:sp>
        <p:nvSpPr>
          <p:cNvPr id="11" name="TextBox 10">
            <a:extLst>
              <a:ext uri="{FF2B5EF4-FFF2-40B4-BE49-F238E27FC236}">
                <a16:creationId xmlns:a16="http://schemas.microsoft.com/office/drawing/2014/main" id="{EAE99EBF-D55A-FD86-F37D-F3CB1D6ABAE3}"/>
              </a:ext>
            </a:extLst>
          </p:cNvPr>
          <p:cNvSpPr txBox="1"/>
          <p:nvPr/>
        </p:nvSpPr>
        <p:spPr>
          <a:xfrm>
            <a:off x="11055350" y="6614136"/>
            <a:ext cx="1136650" cy="246221"/>
          </a:xfrm>
          <a:prstGeom prst="rect">
            <a:avLst/>
          </a:prstGeom>
          <a:noFill/>
        </p:spPr>
        <p:txBody>
          <a:bodyPr wrap="square" lIns="91440" tIns="45720" rIns="91440" bIns="4572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24</a:t>
            </a:r>
          </a:p>
        </p:txBody>
      </p:sp>
      <p:sp>
        <p:nvSpPr>
          <p:cNvPr id="6" name="Rectangle 5">
            <a:extLst>
              <a:ext uri="{FF2B5EF4-FFF2-40B4-BE49-F238E27FC236}">
                <a16:creationId xmlns:a16="http://schemas.microsoft.com/office/drawing/2014/main" id="{A5C04A84-8EDF-32E8-CEB6-57DFC7C308F8}"/>
              </a:ext>
            </a:extLst>
          </p:cNvPr>
          <p:cNvSpPr/>
          <p:nvPr/>
        </p:nvSpPr>
        <p:spPr>
          <a:xfrm>
            <a:off x="3125972" y="2439848"/>
            <a:ext cx="8584244" cy="71561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9" name="Rectangle: Rounded Corners 8">
            <a:extLst>
              <a:ext uri="{FF2B5EF4-FFF2-40B4-BE49-F238E27FC236}">
                <a16:creationId xmlns:a16="http://schemas.microsoft.com/office/drawing/2014/main" id="{089A0447-4AF2-B25E-6759-85323DC9B61B}"/>
              </a:ext>
            </a:extLst>
          </p:cNvPr>
          <p:cNvSpPr/>
          <p:nvPr/>
        </p:nvSpPr>
        <p:spPr>
          <a:xfrm>
            <a:off x="3348787" y="2161861"/>
            <a:ext cx="2424271" cy="804976"/>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Funnel Sans"/>
                <a:ea typeface="+mn-ea"/>
                <a:cs typeface="+mn-cs"/>
              </a:rPr>
              <a:t>Metastatic Lung Squamous Cell</a:t>
            </a:r>
            <a:endParaRPr kumimoji="0" lang="en-US" sz="1100" b="0" i="1" u="none" strike="noStrike" kern="1200" cap="none" spc="0" normalizeH="0" baseline="0" noProof="0">
              <a:ln>
                <a:noFill/>
              </a:ln>
              <a:solidFill>
                <a:prstClr val="white"/>
              </a:solidFill>
              <a:effectLst/>
              <a:uLnTx/>
              <a:uFillTx/>
              <a:latin typeface="Funnel Sans"/>
              <a:ea typeface="+mn-ea"/>
              <a:cs typeface="+mn-cs"/>
            </a:endParaRPr>
          </a:p>
        </p:txBody>
      </p:sp>
      <p:sp>
        <p:nvSpPr>
          <p:cNvPr id="13" name="Rectangle: Rounded Corners 12">
            <a:extLst>
              <a:ext uri="{FF2B5EF4-FFF2-40B4-BE49-F238E27FC236}">
                <a16:creationId xmlns:a16="http://schemas.microsoft.com/office/drawing/2014/main" id="{79BC9AA3-B43C-822F-A050-EE7D05FDDA38}"/>
              </a:ext>
            </a:extLst>
          </p:cNvPr>
          <p:cNvSpPr/>
          <p:nvPr/>
        </p:nvSpPr>
        <p:spPr>
          <a:xfrm>
            <a:off x="6190866" y="2141425"/>
            <a:ext cx="2424271" cy="804976"/>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Funnel Sans"/>
                <a:ea typeface="+mn-ea"/>
                <a:cs typeface="+mn-cs"/>
              </a:rPr>
              <a:t>Metastatic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Funnel Sans"/>
                <a:ea typeface="+mn-ea"/>
                <a:cs typeface="+mn-cs"/>
              </a:rPr>
              <a:t>Head &amp; Neck Squamous Cell</a:t>
            </a:r>
            <a:endParaRPr kumimoji="0" lang="en-US" sz="1100" b="0" i="1" u="none" strike="noStrike" kern="1200" cap="none" spc="0" normalizeH="0" baseline="0" noProof="0">
              <a:ln>
                <a:noFill/>
              </a:ln>
              <a:solidFill>
                <a:prstClr val="white"/>
              </a:solidFill>
              <a:effectLst/>
              <a:uLnTx/>
              <a:uFillTx/>
              <a:latin typeface="Funnel Sans"/>
              <a:ea typeface="+mn-ea"/>
              <a:cs typeface="+mn-cs"/>
            </a:endParaRPr>
          </a:p>
        </p:txBody>
      </p:sp>
      <p:sp>
        <p:nvSpPr>
          <p:cNvPr id="14" name="Rectangle: Rounded Corners 13">
            <a:extLst>
              <a:ext uri="{FF2B5EF4-FFF2-40B4-BE49-F238E27FC236}">
                <a16:creationId xmlns:a16="http://schemas.microsoft.com/office/drawing/2014/main" id="{7BD6C637-A7FB-F9F3-B55B-DDCBE9EDA315}"/>
              </a:ext>
            </a:extLst>
          </p:cNvPr>
          <p:cNvSpPr/>
          <p:nvPr/>
        </p:nvSpPr>
        <p:spPr>
          <a:xfrm>
            <a:off x="9048255" y="2123696"/>
            <a:ext cx="2424271" cy="804976"/>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Funnel Sans"/>
                <a:ea typeface="+mn-ea"/>
                <a:cs typeface="+mn-cs"/>
              </a:rPr>
              <a:t>Metastatic Hepatocellular Carcinoma</a:t>
            </a:r>
            <a:endParaRPr kumimoji="0" lang="en-US" sz="1100" b="0" i="1" u="none" strike="noStrike" kern="1200" cap="none" spc="0" normalizeH="0" baseline="0" noProof="0">
              <a:ln>
                <a:noFill/>
              </a:ln>
              <a:solidFill>
                <a:prstClr val="white"/>
              </a:solidFill>
              <a:effectLst/>
              <a:uLnTx/>
              <a:uFillTx/>
              <a:latin typeface="Funnel Sans"/>
              <a:ea typeface="+mn-ea"/>
              <a:cs typeface="+mn-cs"/>
            </a:endParaRPr>
          </a:p>
        </p:txBody>
      </p:sp>
      <p:graphicFrame>
        <p:nvGraphicFramePr>
          <p:cNvPr id="16" name="Table 15">
            <a:extLst>
              <a:ext uri="{FF2B5EF4-FFF2-40B4-BE49-F238E27FC236}">
                <a16:creationId xmlns:a16="http://schemas.microsoft.com/office/drawing/2014/main" id="{249C3F41-85A8-419E-B59E-E6F90E594173}"/>
              </a:ext>
            </a:extLst>
          </p:cNvPr>
          <p:cNvGraphicFramePr>
            <a:graphicFrameLocks noGrp="1"/>
          </p:cNvGraphicFramePr>
          <p:nvPr/>
        </p:nvGraphicFramePr>
        <p:xfrm>
          <a:off x="379141" y="3147643"/>
          <a:ext cx="11331076" cy="2062480"/>
        </p:xfrm>
        <a:graphic>
          <a:graphicData uri="http://schemas.openxmlformats.org/drawingml/2006/table">
            <a:tbl>
              <a:tblPr firstRow="1" bandRow="1">
                <a:tableStyleId>{D27102A9-8310-4765-A935-A1911B00CA55}</a:tableStyleId>
              </a:tblPr>
              <a:tblGrid>
                <a:gridCol w="2725861">
                  <a:extLst>
                    <a:ext uri="{9D8B030D-6E8A-4147-A177-3AD203B41FA5}">
                      <a16:colId xmlns:a16="http://schemas.microsoft.com/office/drawing/2014/main" val="773938304"/>
                    </a:ext>
                  </a:extLst>
                </a:gridCol>
                <a:gridCol w="2868405">
                  <a:extLst>
                    <a:ext uri="{9D8B030D-6E8A-4147-A177-3AD203B41FA5}">
                      <a16:colId xmlns:a16="http://schemas.microsoft.com/office/drawing/2014/main" val="796710748"/>
                    </a:ext>
                  </a:extLst>
                </a:gridCol>
                <a:gridCol w="2868405">
                  <a:extLst>
                    <a:ext uri="{9D8B030D-6E8A-4147-A177-3AD203B41FA5}">
                      <a16:colId xmlns:a16="http://schemas.microsoft.com/office/drawing/2014/main" val="3110358787"/>
                    </a:ext>
                  </a:extLst>
                </a:gridCol>
                <a:gridCol w="2868405">
                  <a:extLst>
                    <a:ext uri="{9D8B030D-6E8A-4147-A177-3AD203B41FA5}">
                      <a16:colId xmlns:a16="http://schemas.microsoft.com/office/drawing/2014/main" val="3507760086"/>
                    </a:ext>
                  </a:extLst>
                </a:gridCol>
              </a:tblGrid>
              <a:tr h="370840">
                <a:tc>
                  <a:txBody>
                    <a:bodyPr/>
                    <a:lstStyle/>
                    <a:p>
                      <a:r>
                        <a:rPr lang="en-US" sz="1600"/>
                        <a:t>Incident Pts (US)</a:t>
                      </a:r>
                    </a:p>
                  </a:txBody>
                  <a:tcPr>
                    <a:lnL>
                      <a:noFill/>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tc>
                  <a:txBody>
                    <a:bodyPr/>
                    <a:lstStyle/>
                    <a:p>
                      <a:pPr algn="ctr"/>
                      <a:r>
                        <a:rPr lang="en-US" sz="1600"/>
                        <a:t>50,000</a:t>
                      </a:r>
                    </a:p>
                  </a:txBody>
                  <a:tcP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tc>
                  <a:txBody>
                    <a:bodyPr/>
                    <a:lstStyle/>
                    <a:p>
                      <a:pPr algn="ctr"/>
                      <a:r>
                        <a:rPr lang="en-US" sz="1600"/>
                        <a:t>65,000</a:t>
                      </a:r>
                    </a:p>
                  </a:txBody>
                  <a:tcP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tc>
                  <a:txBody>
                    <a:bodyPr/>
                    <a:lstStyle/>
                    <a:p>
                      <a:pPr algn="ctr"/>
                      <a:r>
                        <a:rPr lang="en-US" sz="1600"/>
                        <a:t>40,000</a:t>
                      </a:r>
                    </a:p>
                  </a:txBody>
                  <a:tcP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extLst>
                  <a:ext uri="{0D108BD9-81ED-4DB2-BD59-A6C34878D82A}">
                    <a16:rowId xmlns:a16="http://schemas.microsoft.com/office/drawing/2014/main" val="2325543775"/>
                  </a:ext>
                </a:extLst>
              </a:tr>
              <a:tr h="370840">
                <a:tc>
                  <a:txBody>
                    <a:bodyPr/>
                    <a:lstStyle/>
                    <a:p>
                      <a:pPr algn="ctr"/>
                      <a:r>
                        <a:rPr lang="en-US" sz="1600"/>
                        <a:t>% distant at diagnosis</a:t>
                      </a:r>
                    </a:p>
                  </a:txBody>
                  <a:tcPr anchor="ctr">
                    <a:lnL>
                      <a:noFill/>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50%</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~15%</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~21%</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4911048"/>
                  </a:ext>
                </a:extLst>
              </a:tr>
              <a:tr h="370840">
                <a:tc>
                  <a:txBody>
                    <a:bodyPr/>
                    <a:lstStyle/>
                    <a:p>
                      <a:pPr algn="ctr"/>
                      <a:r>
                        <a:rPr lang="en-US" sz="1600"/>
                        <a:t>Mean survival </a:t>
                      </a:r>
                    </a:p>
                  </a:txBody>
                  <a:tcPr anchor="ctr">
                    <a:lnL>
                      <a:noFill/>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a:t>1 yr</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a:t>1 yr</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1 yr</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4386505"/>
                  </a:ext>
                </a:extLst>
              </a:tr>
              <a:tr h="370840">
                <a:tc>
                  <a:txBody>
                    <a:bodyPr/>
                    <a:lstStyle/>
                    <a:p>
                      <a:pPr algn="ctr"/>
                      <a:r>
                        <a:rPr lang="en-US" sz="1600"/>
                        <a:t>% CLND1 positive</a:t>
                      </a:r>
                    </a:p>
                  </a:txBody>
                  <a:tcPr anchor="ctr">
                    <a:lnL>
                      <a:noFill/>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77%</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49%</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75%</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75089"/>
                  </a:ext>
                </a:extLst>
              </a:tr>
              <a:tr h="370840">
                <a:tc>
                  <a:txBody>
                    <a:bodyPr/>
                    <a:lstStyle/>
                    <a:p>
                      <a:pPr algn="ctr"/>
                      <a:r>
                        <a:rPr lang="en-US" sz="1600" b="1"/>
                        <a:t>Rough estimate*: CLDN1 RLT patients</a:t>
                      </a:r>
                    </a:p>
                  </a:txBody>
                  <a:tcPr anchor="ctr">
                    <a:lnL>
                      <a:noFill/>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600" b="1"/>
                        <a:t>&gt;20,000</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600" b="1"/>
                        <a:t>&gt;4,800</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t>&gt;6,300</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459116405"/>
                  </a:ext>
                </a:extLst>
              </a:tr>
            </a:tbl>
          </a:graphicData>
        </a:graphic>
      </p:graphicFrame>
      <p:sp>
        <p:nvSpPr>
          <p:cNvPr id="54" name="Text 28">
            <a:extLst>
              <a:ext uri="{FF2B5EF4-FFF2-40B4-BE49-F238E27FC236}">
                <a16:creationId xmlns:a16="http://schemas.microsoft.com/office/drawing/2014/main" id="{8B994D57-37D5-AC8B-8DAC-7A140B4CC86F}"/>
              </a:ext>
            </a:extLst>
          </p:cNvPr>
          <p:cNvSpPr/>
          <p:nvPr/>
        </p:nvSpPr>
        <p:spPr>
          <a:xfrm>
            <a:off x="227264" y="711101"/>
            <a:ext cx="11496658"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Significant market opportunity for a CLDN1-RLT across diverse set of indications</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55" name="Shape 1">
            <a:extLst>
              <a:ext uri="{FF2B5EF4-FFF2-40B4-BE49-F238E27FC236}">
                <a16:creationId xmlns:a16="http://schemas.microsoft.com/office/drawing/2014/main" id="{E037235E-BCB0-6458-B4A3-A80EC43D8E8C}"/>
              </a:ext>
            </a:extLst>
          </p:cNvPr>
          <p:cNvSpPr/>
          <p:nvPr/>
        </p:nvSpPr>
        <p:spPr>
          <a:xfrm>
            <a:off x="227264" y="1508776"/>
            <a:ext cx="11757078"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56" name="TextBox 55">
            <a:extLst>
              <a:ext uri="{FF2B5EF4-FFF2-40B4-BE49-F238E27FC236}">
                <a16:creationId xmlns:a16="http://schemas.microsoft.com/office/drawing/2014/main" id="{BBC141FA-B502-7B0F-3677-2E5FDF278753}"/>
              </a:ext>
            </a:extLst>
          </p:cNvPr>
          <p:cNvSpPr txBox="1"/>
          <p:nvPr/>
        </p:nvSpPr>
        <p:spPr>
          <a:xfrm>
            <a:off x="9802" y="6441585"/>
            <a:ext cx="105281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nel Sans"/>
                <a:ea typeface="Funnel Sans"/>
                <a:cs typeface="Funnel Sans"/>
              </a:rPr>
              <a:t>Sources: </a:t>
            </a:r>
            <a:r>
              <a:rPr kumimoji="0" lang="en-US" sz="1000" b="0" i="0" u="none" strike="noStrike" kern="1200" cap="none" spc="0" normalizeH="0" baseline="0" noProof="0">
                <a:ln>
                  <a:noFill/>
                </a:ln>
                <a:solidFill>
                  <a:srgbClr val="7A9F8F"/>
                </a:solidFill>
                <a:effectLst/>
                <a:uLnTx/>
                <a:uFillTx/>
                <a:latin typeface="Funnel Sans"/>
                <a:ea typeface="Funnel Sans"/>
                <a:cs typeface="Funnel Sans"/>
                <a:hlinkClick r:id="rId11">
                  <a:extLst>
                    <a:ext uri="{A12FA001-AC4F-418D-AE19-62706E023703}">
                      <ahyp:hlinkClr xmlns:ahyp="http://schemas.microsoft.com/office/drawing/2018/hyperlinkcolor" val="tx"/>
                    </a:ext>
                  </a:extLst>
                </a:hlinkClick>
              </a:rPr>
              <a:t>Pschoud Modern Path 2007</a:t>
            </a:r>
            <a:r>
              <a:rPr kumimoji="0" lang="en-US" sz="1000" b="0" i="0" u="none" strike="noStrike" kern="1200" cap="none" spc="0" normalizeH="0" baseline="0" noProof="0">
                <a:ln>
                  <a:noFill/>
                </a:ln>
                <a:solidFill>
                  <a:srgbClr val="7A9F8F"/>
                </a:solidFill>
                <a:effectLst/>
                <a:uLnTx/>
                <a:uFillTx/>
                <a:latin typeface="Funnel Sans"/>
                <a:ea typeface="Funnel Sans"/>
                <a:cs typeface="Funnel Sans"/>
              </a:rPr>
              <a:t>, </a:t>
            </a:r>
            <a:r>
              <a:rPr kumimoji="0" lang="en-US" sz="1000" b="0" i="0" u="none" strike="noStrike" kern="1200" cap="none" spc="0" normalizeH="0" baseline="0" noProof="0">
                <a:ln>
                  <a:noFill/>
                </a:ln>
                <a:solidFill>
                  <a:srgbClr val="7A9F8F"/>
                </a:solidFill>
                <a:effectLst/>
                <a:uLnTx/>
                <a:uFillTx/>
                <a:latin typeface="Funnel Sans"/>
                <a:ea typeface="+mn-lt"/>
                <a:cs typeface="+mn-lt"/>
                <a:hlinkClick r:id="rId12">
                  <a:extLst>
                    <a:ext uri="{A12FA001-AC4F-418D-AE19-62706E023703}">
                      <ahyp:hlinkClr xmlns:ahyp="http://schemas.microsoft.com/office/drawing/2018/hyperlinkcolor" val="tx"/>
                    </a:ext>
                  </a:extLst>
                </a:hlinkClick>
              </a:rPr>
              <a:t>Nelhűbel Pathol Oncol Res 2014</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3"/>
              </a:rPr>
              <a:t>Roehlen J of Hepatology 2023</a:t>
            </a:r>
            <a:r>
              <a:rPr kumimoji="0" lang="en-US" sz="1000" b="0" i="0" u="none" strike="noStrike" kern="1200" cap="none" spc="0" normalizeH="0" baseline="0" noProof="0">
                <a:ln>
                  <a:noFill/>
                </a:ln>
                <a:solidFill>
                  <a:prstClr val="black"/>
                </a:solidFill>
                <a:effectLst/>
                <a:uLnTx/>
                <a:uFillTx/>
                <a:latin typeface="Funnel Sans"/>
                <a:ea typeface="+mn-lt"/>
                <a:cs typeface="+mn-lt"/>
              </a:rPr>
              <a:t>, SEER,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4"/>
              </a:rPr>
              <a:t>Carisse Medicine 2019</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5"/>
              </a:rPr>
              <a:t>Daloiso Cancers 2024</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6"/>
              </a:rPr>
              <a:t>Bar J Ocology 2021</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7"/>
              </a:rPr>
              <a:t>Uchino Cancer 2011</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srgbClr val="7A9F8F"/>
                </a:solidFill>
                <a:effectLst/>
                <a:uLnTx/>
                <a:uFillTx/>
                <a:latin typeface="Funnel Sans"/>
                <a:ea typeface="+mn-lt"/>
                <a:cs typeface="+mn-lt"/>
                <a:hlinkClick r:id="rId18">
                  <a:extLst>
                    <a:ext uri="{A12FA001-AC4F-418D-AE19-62706E023703}">
                      <ahyp:hlinkClr xmlns:ahyp="http://schemas.microsoft.com/office/drawing/2018/hyperlinkcolor" val="tx"/>
                    </a:ext>
                  </a:extLst>
                </a:hlinkClick>
              </a:rPr>
              <a:t>Cherradi Journal of Exp &amp; Clinical Cancer Res 2017</a:t>
            </a:r>
            <a:r>
              <a:rPr kumimoji="0" lang="en-US" sz="1000" b="0" i="0" u="none" strike="noStrike" kern="1200" cap="none" spc="0" normalizeH="0" baseline="0" noProof="0">
                <a:ln>
                  <a:noFill/>
                </a:ln>
                <a:solidFill>
                  <a:srgbClr val="7A9F8F"/>
                </a:solidFill>
                <a:effectLst/>
                <a:uLnTx/>
                <a:uFillTx/>
                <a:latin typeface="Funnel Sans"/>
                <a:ea typeface="+mn-lt"/>
                <a:cs typeface="+mn-lt"/>
              </a:rPr>
              <a:t>, </a:t>
            </a:r>
            <a:r>
              <a:rPr kumimoji="0" lang="en-US" sz="1000" b="0" i="0" u="none" strike="noStrike" kern="1200" cap="none" spc="0" normalizeH="0" baseline="0" noProof="0">
                <a:ln>
                  <a:noFill/>
                </a:ln>
                <a:solidFill>
                  <a:srgbClr val="7A9F8F"/>
                </a:solidFill>
                <a:effectLst/>
                <a:uLnTx/>
                <a:uFillTx/>
                <a:latin typeface="Funnel Sans"/>
                <a:ea typeface="+mn-lt"/>
                <a:cs typeface="+mn-lt"/>
                <a:hlinkClick r:id="rId19"/>
              </a:rPr>
              <a:t>ACS Cervical Cancer</a:t>
            </a:r>
            <a:r>
              <a:rPr kumimoji="0" lang="en-US" sz="1000" b="0" i="0" u="none" strike="noStrike" kern="1200" cap="none" spc="0" normalizeH="0" baseline="0" noProof="0">
                <a:ln>
                  <a:noFill/>
                </a:ln>
                <a:solidFill>
                  <a:srgbClr val="7A9F8F"/>
                </a:solidFill>
                <a:effectLst/>
                <a:uLnTx/>
                <a:uFillTx/>
                <a:latin typeface="Funnel Sans"/>
                <a:ea typeface="+mn-lt"/>
                <a:cs typeface="+mn-lt"/>
              </a:rPr>
              <a:t>, </a:t>
            </a:r>
            <a:r>
              <a:rPr kumimoji="0" lang="en-US" sz="1000" b="0" i="0" u="none" strike="noStrike" kern="1200" cap="none" spc="0" normalizeH="0" baseline="0" noProof="0">
                <a:ln>
                  <a:noFill/>
                </a:ln>
                <a:solidFill>
                  <a:srgbClr val="7A9F8F"/>
                </a:solidFill>
                <a:effectLst/>
                <a:uLnTx/>
                <a:uFillTx/>
                <a:latin typeface="Funnel Sans"/>
                <a:ea typeface="+mn-lt"/>
                <a:cs typeface="+mn-lt"/>
                <a:hlinkClick r:id="rId20"/>
              </a:rPr>
              <a:t>Cheng Front Med 2025</a:t>
            </a:r>
            <a:r>
              <a:rPr kumimoji="0" lang="en-US" sz="1000" b="0" i="0" u="none" strike="noStrike" kern="1200" cap="none" spc="0" normalizeH="0" baseline="0" noProof="0">
                <a:ln>
                  <a:noFill/>
                </a:ln>
                <a:solidFill>
                  <a:srgbClr val="7A9F8F"/>
                </a:solidFill>
                <a:effectLst/>
                <a:uLnTx/>
                <a:uFillTx/>
                <a:latin typeface="Funnel Sans"/>
                <a:ea typeface="+mn-lt"/>
                <a:cs typeface="+mn-lt"/>
              </a:rPr>
              <a:t>, </a:t>
            </a:r>
            <a:r>
              <a:rPr kumimoji="0" lang="en-US" sz="1000" b="0" i="0" u="none" strike="noStrike" kern="1200" cap="none" spc="0" normalizeH="0" baseline="0" noProof="0">
                <a:ln>
                  <a:noFill/>
                </a:ln>
                <a:solidFill>
                  <a:srgbClr val="7A9F8F"/>
                </a:solidFill>
                <a:effectLst/>
                <a:uLnTx/>
                <a:uFillTx/>
                <a:latin typeface="Funnel Sans"/>
                <a:ea typeface="+mn-lt"/>
                <a:cs typeface="+mn-lt"/>
                <a:hlinkClick r:id="rId21"/>
              </a:rPr>
              <a:t>Li J Gynecol Oncol 2016</a:t>
            </a:r>
            <a:endParaRPr kumimoji="0" lang="en-US" sz="1000" b="0" i="0" u="none" strike="noStrike" kern="1200" cap="none" spc="0" normalizeH="0" baseline="0" noProof="0">
              <a:ln>
                <a:noFill/>
              </a:ln>
              <a:solidFill>
                <a:srgbClr val="7A9F8F"/>
              </a:solidFill>
              <a:effectLst/>
              <a:uLnTx/>
              <a:uFillTx/>
              <a:latin typeface="Funnel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unnel Sans"/>
              <a:ea typeface="+mn-ea"/>
              <a:cs typeface="+mn-cs"/>
            </a:endParaRPr>
          </a:p>
        </p:txBody>
      </p:sp>
      <p:sp>
        <p:nvSpPr>
          <p:cNvPr id="57" name="TextBox 56">
            <a:extLst>
              <a:ext uri="{FF2B5EF4-FFF2-40B4-BE49-F238E27FC236}">
                <a16:creationId xmlns:a16="http://schemas.microsoft.com/office/drawing/2014/main" id="{818BA27E-22F0-59F6-4657-FE3F3A558097}"/>
              </a:ext>
            </a:extLst>
          </p:cNvPr>
          <p:cNvSpPr txBox="1"/>
          <p:nvPr/>
        </p:nvSpPr>
        <p:spPr>
          <a:xfrm>
            <a:off x="339141" y="5470314"/>
            <a:ext cx="1086783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*Estimates do not factor in patients who may become metastatic over the course of treatment, which may significantly increase potential CLDN1 pts</a:t>
            </a:r>
          </a:p>
        </p:txBody>
      </p:sp>
    </p:spTree>
    <p:extLst>
      <p:ext uri="{BB962C8B-B14F-4D97-AF65-F5344CB8AC3E}">
        <p14:creationId xmlns:p14="http://schemas.microsoft.com/office/powerpoint/2010/main" val="2713151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37A94-1358-D1DD-043F-F0745E1ADA10}"/>
            </a:ext>
          </a:extLst>
        </p:cNvPr>
        <p:cNvGrpSpPr/>
        <p:nvPr/>
      </p:nvGrpSpPr>
      <p:grpSpPr>
        <a:xfrm>
          <a:off x="0" y="0"/>
          <a:ext cx="0" cy="0"/>
          <a:chOff x="0" y="0"/>
          <a:chExt cx="0" cy="0"/>
        </a:xfrm>
      </p:grpSpPr>
      <p:sp>
        <p:nvSpPr>
          <p:cNvPr id="32" name="Shape 0">
            <a:extLst>
              <a:ext uri="{FF2B5EF4-FFF2-40B4-BE49-F238E27FC236}">
                <a16:creationId xmlns:a16="http://schemas.microsoft.com/office/drawing/2014/main" id="{4D7DAC56-3BC9-ECC5-CF5E-49FADA0708C4}"/>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34" name="Image 3" descr="preencoded.png">
            <a:extLst>
              <a:ext uri="{FF2B5EF4-FFF2-40B4-BE49-F238E27FC236}">
                <a16:creationId xmlns:a16="http://schemas.microsoft.com/office/drawing/2014/main" id="{4D49272C-CFBD-2D7D-07F7-76D4D528157E}"/>
              </a:ext>
            </a:extLst>
          </p:cNvPr>
          <p:cNvPicPr>
            <a:picLocks noChangeAspect="1"/>
          </p:cNvPicPr>
          <p:nvPr/>
        </p:nvPicPr>
        <p:blipFill>
          <a:blip r:embed="rId2"/>
          <a:stretch>
            <a:fillRect/>
          </a:stretch>
        </p:blipFill>
        <p:spPr>
          <a:xfrm>
            <a:off x="323503" y="254000"/>
            <a:ext cx="156939" cy="191368"/>
          </a:xfrm>
          <a:prstGeom prst="rect">
            <a:avLst/>
          </a:prstGeom>
        </p:spPr>
      </p:pic>
      <p:pic>
        <p:nvPicPr>
          <p:cNvPr id="35" name="Image 4" descr="preencoded.png">
            <a:extLst>
              <a:ext uri="{FF2B5EF4-FFF2-40B4-BE49-F238E27FC236}">
                <a16:creationId xmlns:a16="http://schemas.microsoft.com/office/drawing/2014/main" id="{F4BDAFAB-D76F-9505-90E4-533FF5F7A808}"/>
              </a:ext>
            </a:extLst>
          </p:cNvPr>
          <p:cNvPicPr>
            <a:picLocks noChangeAspect="1"/>
          </p:cNvPicPr>
          <p:nvPr/>
        </p:nvPicPr>
        <p:blipFill>
          <a:blip r:embed="rId3"/>
          <a:stretch>
            <a:fillRect/>
          </a:stretch>
        </p:blipFill>
        <p:spPr>
          <a:xfrm>
            <a:off x="387028" y="459541"/>
            <a:ext cx="968" cy="4"/>
          </a:xfrm>
          <a:prstGeom prst="rect">
            <a:avLst/>
          </a:prstGeom>
        </p:spPr>
      </p:pic>
      <p:pic>
        <p:nvPicPr>
          <p:cNvPr id="36" name="Image 5" descr="preencoded.png">
            <a:extLst>
              <a:ext uri="{FF2B5EF4-FFF2-40B4-BE49-F238E27FC236}">
                <a16:creationId xmlns:a16="http://schemas.microsoft.com/office/drawing/2014/main" id="{E374BAA2-71B2-110A-D4E2-68F3E6FA3AD9}"/>
              </a:ext>
            </a:extLst>
          </p:cNvPr>
          <p:cNvPicPr>
            <a:picLocks noChangeAspect="1"/>
          </p:cNvPicPr>
          <p:nvPr/>
        </p:nvPicPr>
        <p:blipFill>
          <a:blip r:embed="rId3"/>
          <a:stretch>
            <a:fillRect/>
          </a:stretch>
        </p:blipFill>
        <p:spPr>
          <a:xfrm>
            <a:off x="386756" y="459546"/>
            <a:ext cx="297" cy="4"/>
          </a:xfrm>
          <a:prstGeom prst="rect">
            <a:avLst/>
          </a:prstGeom>
        </p:spPr>
      </p:pic>
      <p:pic>
        <p:nvPicPr>
          <p:cNvPr id="37" name="Image 6" descr="preencoded.png">
            <a:extLst>
              <a:ext uri="{FF2B5EF4-FFF2-40B4-BE49-F238E27FC236}">
                <a16:creationId xmlns:a16="http://schemas.microsoft.com/office/drawing/2014/main" id="{2888264A-A25C-5D9B-4653-C8EBC192DD49}"/>
              </a:ext>
            </a:extLst>
          </p:cNvPr>
          <p:cNvPicPr>
            <a:picLocks noChangeAspect="1"/>
          </p:cNvPicPr>
          <p:nvPr/>
        </p:nvPicPr>
        <p:blipFill>
          <a:blip r:embed="rId3"/>
          <a:stretch>
            <a:fillRect/>
          </a:stretch>
        </p:blipFill>
        <p:spPr>
          <a:xfrm>
            <a:off x="389261" y="473634"/>
            <a:ext cx="471" cy="4"/>
          </a:xfrm>
          <a:prstGeom prst="rect">
            <a:avLst/>
          </a:prstGeom>
        </p:spPr>
      </p:pic>
      <p:pic>
        <p:nvPicPr>
          <p:cNvPr id="38" name="Image 7" descr="preencoded.png">
            <a:extLst>
              <a:ext uri="{FF2B5EF4-FFF2-40B4-BE49-F238E27FC236}">
                <a16:creationId xmlns:a16="http://schemas.microsoft.com/office/drawing/2014/main" id="{ABCF7210-899C-1FB2-102B-89EF8876849C}"/>
              </a:ext>
            </a:extLst>
          </p:cNvPr>
          <p:cNvPicPr>
            <a:picLocks noChangeAspect="1"/>
          </p:cNvPicPr>
          <p:nvPr/>
        </p:nvPicPr>
        <p:blipFill>
          <a:blip r:embed="rId4"/>
          <a:stretch>
            <a:fillRect/>
          </a:stretch>
        </p:blipFill>
        <p:spPr>
          <a:xfrm>
            <a:off x="600300" y="305277"/>
            <a:ext cx="137641" cy="202443"/>
          </a:xfrm>
          <a:prstGeom prst="rect">
            <a:avLst/>
          </a:prstGeom>
        </p:spPr>
      </p:pic>
      <p:pic>
        <p:nvPicPr>
          <p:cNvPr id="39" name="Image 8" descr="preencoded.png">
            <a:extLst>
              <a:ext uri="{FF2B5EF4-FFF2-40B4-BE49-F238E27FC236}">
                <a16:creationId xmlns:a16="http://schemas.microsoft.com/office/drawing/2014/main" id="{7D1FF4DA-BCDB-5B53-6153-7A957BFA2396}"/>
              </a:ext>
            </a:extLst>
          </p:cNvPr>
          <p:cNvPicPr>
            <a:picLocks noChangeAspect="1"/>
          </p:cNvPicPr>
          <p:nvPr/>
        </p:nvPicPr>
        <p:blipFill>
          <a:blip r:embed="rId5"/>
          <a:stretch>
            <a:fillRect/>
          </a:stretch>
        </p:blipFill>
        <p:spPr>
          <a:xfrm>
            <a:off x="743372" y="360473"/>
            <a:ext cx="126579" cy="147243"/>
          </a:xfrm>
          <a:prstGeom prst="rect">
            <a:avLst/>
          </a:prstGeom>
        </p:spPr>
      </p:pic>
      <p:pic>
        <p:nvPicPr>
          <p:cNvPr id="40" name="Image 9" descr="preencoded.png">
            <a:extLst>
              <a:ext uri="{FF2B5EF4-FFF2-40B4-BE49-F238E27FC236}">
                <a16:creationId xmlns:a16="http://schemas.microsoft.com/office/drawing/2014/main" id="{62088191-C811-89DA-4E77-5A6A62B05272}"/>
              </a:ext>
            </a:extLst>
          </p:cNvPr>
          <p:cNvPicPr>
            <a:picLocks noChangeAspect="1"/>
          </p:cNvPicPr>
          <p:nvPr/>
        </p:nvPicPr>
        <p:blipFill>
          <a:blip r:embed="rId6"/>
          <a:stretch>
            <a:fillRect/>
          </a:stretch>
        </p:blipFill>
        <p:spPr>
          <a:xfrm>
            <a:off x="872928" y="360456"/>
            <a:ext cx="131737" cy="198345"/>
          </a:xfrm>
          <a:prstGeom prst="rect">
            <a:avLst/>
          </a:prstGeom>
        </p:spPr>
      </p:pic>
      <p:pic>
        <p:nvPicPr>
          <p:cNvPr id="41" name="Image 10" descr="preencoded.png">
            <a:extLst>
              <a:ext uri="{FF2B5EF4-FFF2-40B4-BE49-F238E27FC236}">
                <a16:creationId xmlns:a16="http://schemas.microsoft.com/office/drawing/2014/main" id="{77559785-26AB-4B8F-6D3B-0C2BEE50CFD4}"/>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42" name="Image 11" descr="preencoded.png">
            <a:extLst>
              <a:ext uri="{FF2B5EF4-FFF2-40B4-BE49-F238E27FC236}">
                <a16:creationId xmlns:a16="http://schemas.microsoft.com/office/drawing/2014/main" id="{8EFC5BE0-A644-8E58-FF27-C33C12435E49}"/>
              </a:ext>
            </a:extLst>
          </p:cNvPr>
          <p:cNvPicPr>
            <a:picLocks noChangeAspect="1"/>
          </p:cNvPicPr>
          <p:nvPr/>
        </p:nvPicPr>
        <p:blipFill>
          <a:blip r:embed="rId8"/>
          <a:stretch>
            <a:fillRect/>
          </a:stretch>
        </p:blipFill>
        <p:spPr>
          <a:xfrm>
            <a:off x="375419" y="376364"/>
            <a:ext cx="174501" cy="157568"/>
          </a:xfrm>
          <a:prstGeom prst="rect">
            <a:avLst/>
          </a:prstGeom>
        </p:spPr>
      </p:pic>
      <p:pic>
        <p:nvPicPr>
          <p:cNvPr id="43" name="Image 12" descr="preencoded.png">
            <a:extLst>
              <a:ext uri="{FF2B5EF4-FFF2-40B4-BE49-F238E27FC236}">
                <a16:creationId xmlns:a16="http://schemas.microsoft.com/office/drawing/2014/main" id="{41779C78-0FB9-62B7-8DFA-E629EA265A72}"/>
              </a:ext>
            </a:extLst>
          </p:cNvPr>
          <p:cNvPicPr>
            <a:picLocks noChangeAspect="1"/>
          </p:cNvPicPr>
          <p:nvPr/>
        </p:nvPicPr>
        <p:blipFill>
          <a:blip r:embed="rId9"/>
          <a:stretch>
            <a:fillRect/>
          </a:stretch>
        </p:blipFill>
        <p:spPr>
          <a:xfrm>
            <a:off x="254000" y="376361"/>
            <a:ext cx="174501" cy="157575"/>
          </a:xfrm>
          <a:prstGeom prst="rect">
            <a:avLst/>
          </a:prstGeom>
        </p:spPr>
      </p:pic>
      <p:sp>
        <p:nvSpPr>
          <p:cNvPr id="44" name="Text 28">
            <a:extLst>
              <a:ext uri="{FF2B5EF4-FFF2-40B4-BE49-F238E27FC236}">
                <a16:creationId xmlns:a16="http://schemas.microsoft.com/office/drawing/2014/main" id="{194594D2-BF98-CA0C-BBCB-BC8A09482356}"/>
              </a:ext>
            </a:extLst>
          </p:cNvPr>
          <p:cNvSpPr/>
          <p:nvPr/>
        </p:nvSpPr>
        <p:spPr>
          <a:xfrm>
            <a:off x="254000" y="635564"/>
            <a:ext cx="11684000"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Example Target Product Profile for CLDN1-RLT in 2L metastatic </a:t>
            </a:r>
            <a:r>
              <a:rPr kumimoji="0" lang="en-US" sz="2400" b="0" i="0" u="none" strike="noStrike" kern="0" cap="none" spc="-24" normalizeH="0" baseline="0" noProof="0" err="1">
                <a:ln>
                  <a:noFill/>
                </a:ln>
                <a:solidFill>
                  <a:srgbClr val="000000">
                    <a:alpha val="99000"/>
                  </a:srgbClr>
                </a:solidFill>
                <a:effectLst/>
                <a:uLnTx/>
                <a:uFillTx/>
                <a:latin typeface="Funnel Sans"/>
                <a:ea typeface="+mn-ea"/>
                <a:cs typeface="+mn-cs"/>
              </a:rPr>
              <a:t>sqNSCLC</a:t>
            </a:r>
            <a:endPar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endParaRPr>
          </a:p>
        </p:txBody>
      </p:sp>
      <p:sp>
        <p:nvSpPr>
          <p:cNvPr id="51" name="Rectangle: Rounded Corners 50">
            <a:extLst>
              <a:ext uri="{FF2B5EF4-FFF2-40B4-BE49-F238E27FC236}">
                <a16:creationId xmlns:a16="http://schemas.microsoft.com/office/drawing/2014/main" id="{000F972D-7B6D-ED5A-5E96-D566A43CEF56}"/>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Landscape</a:t>
            </a:r>
          </a:p>
        </p:txBody>
      </p:sp>
      <p:sp>
        <p:nvSpPr>
          <p:cNvPr id="11" name="TextBox 10">
            <a:extLst>
              <a:ext uri="{FF2B5EF4-FFF2-40B4-BE49-F238E27FC236}">
                <a16:creationId xmlns:a16="http://schemas.microsoft.com/office/drawing/2014/main" id="{9E24DB49-C49A-3DD9-D0A6-EEE240F83F9B}"/>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graphicFrame>
        <p:nvGraphicFramePr>
          <p:cNvPr id="16" name="Table 15">
            <a:extLst>
              <a:ext uri="{FF2B5EF4-FFF2-40B4-BE49-F238E27FC236}">
                <a16:creationId xmlns:a16="http://schemas.microsoft.com/office/drawing/2014/main" id="{24E4F316-ABC1-C788-E09B-B360FEE25BAA}"/>
              </a:ext>
            </a:extLst>
          </p:cNvPr>
          <p:cNvGraphicFramePr>
            <a:graphicFrameLocks noGrp="1"/>
          </p:cNvGraphicFramePr>
          <p:nvPr>
            <p:extLst>
              <p:ext uri="{D42A27DB-BD31-4B8C-83A1-F6EECF244321}">
                <p14:modId xmlns:p14="http://schemas.microsoft.com/office/powerpoint/2010/main" val="3552934473"/>
              </p:ext>
            </p:extLst>
          </p:nvPr>
        </p:nvGraphicFramePr>
        <p:xfrm>
          <a:off x="375419" y="1560674"/>
          <a:ext cx="11269724" cy="4572000"/>
        </p:xfrm>
        <a:graphic>
          <a:graphicData uri="http://schemas.openxmlformats.org/drawingml/2006/table">
            <a:tbl>
              <a:tblPr bandRow="1">
                <a:tableStyleId>{5C22544A-7EE6-4342-B048-85BDC9FD1C3A}</a:tableStyleId>
              </a:tblPr>
              <a:tblGrid>
                <a:gridCol w="2705564">
                  <a:extLst>
                    <a:ext uri="{9D8B030D-6E8A-4147-A177-3AD203B41FA5}">
                      <a16:colId xmlns:a16="http://schemas.microsoft.com/office/drawing/2014/main" val="635467938"/>
                    </a:ext>
                  </a:extLst>
                </a:gridCol>
                <a:gridCol w="3052983">
                  <a:extLst>
                    <a:ext uri="{9D8B030D-6E8A-4147-A177-3AD203B41FA5}">
                      <a16:colId xmlns:a16="http://schemas.microsoft.com/office/drawing/2014/main" val="3845916860"/>
                    </a:ext>
                  </a:extLst>
                </a:gridCol>
                <a:gridCol w="2658082">
                  <a:extLst>
                    <a:ext uri="{9D8B030D-6E8A-4147-A177-3AD203B41FA5}">
                      <a16:colId xmlns:a16="http://schemas.microsoft.com/office/drawing/2014/main" val="159078053"/>
                    </a:ext>
                  </a:extLst>
                </a:gridCol>
                <a:gridCol w="2853095">
                  <a:extLst>
                    <a:ext uri="{9D8B030D-6E8A-4147-A177-3AD203B41FA5}">
                      <a16:colId xmlns:a16="http://schemas.microsoft.com/office/drawing/2014/main" val="2644021605"/>
                    </a:ext>
                  </a:extLst>
                </a:gridCol>
              </a:tblGrid>
              <a:tr h="269923">
                <a:tc>
                  <a:txBody>
                    <a:bodyPr/>
                    <a:lstStyle/>
                    <a:p>
                      <a:pPr algn="l" fontAlgn="base">
                        <a:lnSpc>
                          <a:spcPct val="100000"/>
                        </a:lnSpc>
                        <a:buNone/>
                      </a:pPr>
                      <a:r>
                        <a:rPr lang="en-US" sz="1200" b="1">
                          <a:effectLst/>
                          <a:latin typeface="+mn-lt"/>
                        </a:rPr>
                        <a:t>Mechanism / Mode of Action</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CLDN1-RLT, peptide ligand conjugated to chelated </a:t>
                      </a:r>
                      <a:r>
                        <a:rPr lang="en-US" sz="1200" baseline="30000">
                          <a:latin typeface="+mn-lt"/>
                        </a:rPr>
                        <a:t>225</a:t>
                      </a:r>
                      <a:r>
                        <a:rPr lang="en-US" sz="1200">
                          <a:latin typeface="+mn-lt"/>
                        </a:rPr>
                        <a:t>Ac that is internalized to deliver cytotoxic radiation directly to tumor cells</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a:p>
                  </a:txBody>
                  <a:tcP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tc hMerge="1">
                  <a:txBody>
                    <a:bodyPr/>
                    <a:lstStyle/>
                    <a:p>
                      <a:endParaRPr/>
                    </a:p>
                  </a:txBody>
                  <a:tcP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extLst>
                  <a:ext uri="{0D108BD9-81ED-4DB2-BD59-A6C34878D82A}">
                    <a16:rowId xmlns:a16="http://schemas.microsoft.com/office/drawing/2014/main" val="1734815720"/>
                  </a:ext>
                </a:extLst>
              </a:tr>
              <a:tr h="269923">
                <a:tc>
                  <a:txBody>
                    <a:bodyPr/>
                    <a:lstStyle/>
                    <a:p>
                      <a:pPr algn="l" fontAlgn="base">
                        <a:lnSpc>
                          <a:spcPct val="100000"/>
                        </a:lnSpc>
                        <a:buNone/>
                      </a:pPr>
                      <a:r>
                        <a:rPr lang="en-US" sz="1200" b="1">
                          <a:effectLst/>
                          <a:latin typeface="+mn-lt"/>
                        </a:rPr>
                        <a:t>Clinical Trial Design</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baseline="0">
                          <a:latin typeface="+mn-lt"/>
                        </a:rPr>
                        <a:t>Randomized Phase 3 registration clinical study in locally advanced or metastatic squamous NSCLC that has failed platinum-based chemotherapy and/or anti-PD-1 /PD-L1 immunotherapy </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5960074"/>
                  </a:ext>
                </a:extLst>
              </a:tr>
              <a:tr h="269923">
                <a:tc>
                  <a:txBody>
                    <a:bodyPr/>
                    <a:lstStyle/>
                    <a:p>
                      <a:pPr algn="l" fontAlgn="base">
                        <a:lnSpc>
                          <a:spcPct val="100000"/>
                        </a:lnSpc>
                        <a:buNone/>
                      </a:pPr>
                      <a:r>
                        <a:rPr lang="en-US" sz="1200" b="1">
                          <a:effectLst/>
                          <a:latin typeface="+mn-lt"/>
                        </a:rPr>
                        <a:t>Indication / Target Patients</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Radiologically CLDN1 positive </a:t>
                      </a:r>
                      <a:r>
                        <a:rPr lang="en-US" sz="1200" err="1">
                          <a:latin typeface="+mn-lt"/>
                        </a:rPr>
                        <a:t>sqNSCLC</a:t>
                      </a:r>
                      <a:r>
                        <a:rPr lang="en-US" sz="1200">
                          <a:latin typeface="+mn-lt"/>
                        </a:rPr>
                        <a:t> patients with metastatic disease who have received and progressed after </a:t>
                      </a:r>
                      <a:r>
                        <a:rPr lang="en-US" sz="1200">
                          <a:latin typeface="Times New Roman"/>
                          <a:cs typeface="Times New Roman"/>
                        </a:rPr>
                        <a:t>≥</a:t>
                      </a:r>
                      <a:r>
                        <a:rPr lang="en-US" sz="1200">
                          <a:latin typeface="+mn-lt"/>
                        </a:rPr>
                        <a:t>1 prior systemic therapy specifically post-PD-L1 and/or post-platinum</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lvl="0" algn="ctr">
                        <a:lnSpc>
                          <a:spcPts val="1950"/>
                        </a:lnSpc>
                        <a:buNone/>
                      </a:pPr>
                      <a:endParaRPr lang="en-US" sz="1400" baseline="30000">
                        <a:effectLst/>
                        <a:latin typeface="Funnel Sans"/>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pPr lvl="0" algn="ctr">
                        <a:lnSpc>
                          <a:spcPts val="1950"/>
                        </a:lnSpc>
                        <a:buNone/>
                      </a:pPr>
                      <a:endParaRPr lang="en-US" sz="1400" baseline="3000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8005740"/>
                  </a:ext>
                </a:extLst>
              </a:tr>
              <a:tr h="269923">
                <a:tc>
                  <a:txBody>
                    <a:bodyPr/>
                    <a:lstStyle/>
                    <a:p>
                      <a:pPr algn="l" fontAlgn="base">
                        <a:lnSpc>
                          <a:spcPct val="100000"/>
                        </a:lnSpc>
                        <a:buNone/>
                      </a:pPr>
                      <a:r>
                        <a:rPr lang="en-US" sz="1200" b="1">
                          <a:effectLst/>
                          <a:latin typeface="+mn-lt"/>
                        </a:rPr>
                        <a:t>Dosing Regimen &amp; Administration</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Intravenous infusion of CLDN1-RLT for 4 doses, 4 weeks apart and 2 doses every six months following initial cycle until progression</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lvl="0" algn="ctr">
                        <a:lnSpc>
                          <a:spcPts val="1950"/>
                        </a:lnSpc>
                        <a:buNone/>
                      </a:pPr>
                      <a:endParaRPr lang="en-US" sz="1400" baseline="30000">
                        <a:effectLst/>
                        <a:latin typeface="Funnel Sans"/>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pPr lvl="0" algn="ctr">
                        <a:lnSpc>
                          <a:spcPts val="1950"/>
                        </a:lnSpc>
                        <a:buNone/>
                      </a:pPr>
                      <a:endParaRPr lang="en-US" sz="1400" baseline="3000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0418151"/>
                  </a:ext>
                </a:extLst>
              </a:tr>
              <a:tr h="269923">
                <a:tc>
                  <a:txBody>
                    <a:bodyPr/>
                    <a:lstStyle/>
                    <a:p>
                      <a:pPr algn="l" fontAlgn="base">
                        <a:lnSpc>
                          <a:spcPct val="100000"/>
                        </a:lnSpc>
                        <a:buNone/>
                      </a:pPr>
                      <a:r>
                        <a:rPr lang="en-US" sz="1200" b="1">
                          <a:effectLst/>
                          <a:latin typeface="+mn-lt"/>
                        </a:rPr>
                        <a:t>Clinical Endpoints</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Primary Endpoints: Overall Survival (OS)</a:t>
                      </a:r>
                    </a:p>
                    <a:p>
                      <a:pPr marL="0" lvl="0" indent="0" algn="l">
                        <a:lnSpc>
                          <a:spcPct val="100000"/>
                        </a:lnSpc>
                        <a:buFont typeface="Arial" panose="020B0604020202020204" pitchFamily="34" charset="0"/>
                        <a:buNone/>
                      </a:pPr>
                      <a:r>
                        <a:rPr lang="en-US" sz="1200">
                          <a:latin typeface="+mn-lt"/>
                        </a:rPr>
                        <a:t>Secondary Endpoints: Progression Free Survival (PFS) Overall Response Rate (ORR) Disease Control Rate (DCR)</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lvl="0" algn="ctr">
                        <a:lnSpc>
                          <a:spcPts val="1950"/>
                        </a:lnSpc>
                        <a:buNone/>
                      </a:pPr>
                      <a:endParaRPr lang="en-US" sz="1400" baseline="30000">
                        <a:effectLst/>
                        <a:latin typeface="Funnel Sans"/>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pPr lvl="0" algn="ctr">
                        <a:lnSpc>
                          <a:spcPts val="1950"/>
                        </a:lnSpc>
                        <a:buNone/>
                      </a:pPr>
                      <a:endParaRPr lang="en-US" sz="1400" baseline="3000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9416583"/>
                  </a:ext>
                </a:extLst>
              </a:tr>
              <a:tr h="161954">
                <a:tc rowSpan="6">
                  <a:txBody>
                    <a:bodyPr/>
                    <a:lstStyle/>
                    <a:p>
                      <a:pPr algn="l" fontAlgn="base">
                        <a:lnSpc>
                          <a:spcPct val="100000"/>
                        </a:lnSpc>
                        <a:buNone/>
                      </a:pPr>
                      <a:r>
                        <a:rPr lang="en-US" sz="1200" b="1">
                          <a:effectLst/>
                          <a:latin typeface="+mn-lt"/>
                        </a:rPr>
                        <a:t>Efficacy</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lvl="0" algn="ctr">
                        <a:lnSpc>
                          <a:spcPct val="100000"/>
                        </a:lnSpc>
                        <a:buNone/>
                      </a:pPr>
                      <a:endParaRPr lang="en-US" sz="1200">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1" baseline="0">
                          <a:effectLst/>
                          <a:latin typeface="+mn-lt"/>
                        </a:rPr>
                        <a:t>CLDN1-RLT</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1">
                          <a:effectLst/>
                          <a:latin typeface="+mn-lt"/>
                          <a:hlinkClick r:id="rId10"/>
                        </a:rPr>
                        <a:t>Docetaxel + </a:t>
                      </a:r>
                      <a:r>
                        <a:rPr lang="en-US" sz="1200" b="1" err="1">
                          <a:effectLst/>
                          <a:latin typeface="+mn-lt"/>
                          <a:hlinkClick r:id="rId10"/>
                        </a:rPr>
                        <a:t>Ramcirumab</a:t>
                      </a:r>
                      <a:endParaRPr lang="en-US" sz="1200" b="1">
                        <a:effectLst/>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044083919"/>
                  </a:ext>
                </a:extLst>
              </a:tr>
              <a:tr h="269923">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ct val="100000"/>
                        </a:lnSpc>
                        <a:buNone/>
                      </a:pPr>
                      <a:r>
                        <a:rPr lang="en-US" sz="1200">
                          <a:latin typeface="+mn-lt"/>
                        </a:rPr>
                        <a:t>Dosing Schedule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See above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Ramucirumab 10 mg/kg + docetaxel 75 mg/m² q3w</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6053593"/>
                  </a:ext>
                </a:extLst>
              </a:tr>
              <a:tr h="161954">
                <a:tc vMerge="1">
                  <a:txBody>
                    <a:bodyPr/>
                    <a:lstStyle/>
                    <a:p>
                      <a:endParaRPr lang="en-US"/>
                    </a:p>
                  </a:txBody>
                  <a:tcPr/>
                </a:tc>
                <a:tc>
                  <a:txBody>
                    <a:bodyPr/>
                    <a:lstStyle/>
                    <a:p>
                      <a:pPr lvl="0" algn="ctr">
                        <a:lnSpc>
                          <a:spcPct val="100000"/>
                        </a:lnSpc>
                        <a:buNone/>
                      </a:pPr>
                      <a:r>
                        <a:rPr lang="en-US" sz="1200">
                          <a:latin typeface="+mn-lt"/>
                        </a:rPr>
                        <a:t>ORR</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solidFill>
                            <a:schemeClr val="tx1"/>
                          </a:solidFill>
                          <a:effectLst/>
                          <a:latin typeface="+mn-lt"/>
                        </a:rPr>
                        <a:t>&gt;40%</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solidFill>
                            <a:schemeClr val="tx1"/>
                          </a:solidFill>
                          <a:effectLst/>
                          <a:latin typeface="+mn-lt"/>
                        </a:rPr>
                        <a:t>27%</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3260562"/>
                  </a:ext>
                </a:extLst>
              </a:tr>
              <a:tr h="161954">
                <a:tc vMerge="1">
                  <a:txBody>
                    <a:bodyPr/>
                    <a:lstStyle/>
                    <a:p>
                      <a:endParaRPr lang="en-US"/>
                    </a:p>
                  </a:txBody>
                  <a:tcPr>
                    <a:lnT w="3175" cap="flat" cmpd="sng" algn="ctr">
                      <a:solidFill>
                        <a:schemeClr val="tx1"/>
                      </a:solidFill>
                      <a:prstDash val="solid"/>
                      <a:round/>
                      <a:headEnd type="none" w="med" len="med"/>
                      <a:tailEnd type="none" w="med" len="med"/>
                    </a:lnT>
                  </a:tcPr>
                </a:tc>
                <a:tc>
                  <a:txBody>
                    <a:bodyPr/>
                    <a:lstStyle/>
                    <a:p>
                      <a:pPr lvl="0" algn="ctr">
                        <a:lnSpc>
                          <a:spcPct val="100000"/>
                        </a:lnSpc>
                        <a:buNone/>
                      </a:pPr>
                      <a:r>
                        <a:rPr lang="en-US" sz="1200">
                          <a:latin typeface="+mn-lt"/>
                        </a:rPr>
                        <a:t>DCR</a:t>
                      </a:r>
                    </a:p>
                  </a:txBody>
                  <a:tcPr marL="45720" marR="45720" anchor="ctr">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solidFill>
                            <a:schemeClr val="tx1"/>
                          </a:solidFill>
                          <a:effectLst/>
                          <a:latin typeface="+mn-lt"/>
                        </a:rPr>
                        <a:t>&gt;70%</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solidFill>
                            <a:schemeClr val="tx1"/>
                          </a:solidFill>
                          <a:effectLst/>
                          <a:latin typeface="+mn-lt"/>
                        </a:rPr>
                        <a:t>60%</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0511930"/>
                  </a:ext>
                </a:extLst>
              </a:tr>
              <a:tr h="161954">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ct val="100000"/>
                        </a:lnSpc>
                        <a:buNone/>
                      </a:pPr>
                      <a:r>
                        <a:rPr lang="en-US" sz="1200">
                          <a:latin typeface="+mn-lt"/>
                        </a:rPr>
                        <a:t>OS </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solidFill>
                            <a:schemeClr val="tx1"/>
                          </a:solidFill>
                          <a:effectLst/>
                          <a:latin typeface="+mn-lt"/>
                        </a:rPr>
                        <a:t>11 </a:t>
                      </a:r>
                      <a:r>
                        <a:rPr lang="en-US" sz="1200" baseline="0" err="1">
                          <a:solidFill>
                            <a:schemeClr val="tx1"/>
                          </a:solidFill>
                          <a:effectLst/>
                          <a:latin typeface="+mn-lt"/>
                        </a:rPr>
                        <a:t>mo</a:t>
                      </a:r>
                      <a:r>
                        <a:rPr lang="en-US" sz="1200" baseline="0">
                          <a:solidFill>
                            <a:schemeClr val="tx1"/>
                          </a:solidFill>
                          <a:effectLst/>
                          <a:latin typeface="+mn-lt"/>
                        </a:rPr>
                        <a:t> (HR 0.85)</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solidFill>
                            <a:schemeClr val="tx1"/>
                          </a:solidFill>
                          <a:effectLst/>
                          <a:latin typeface="+mn-lt"/>
                        </a:rPr>
                        <a:t>9.5 </a:t>
                      </a:r>
                      <a:r>
                        <a:rPr lang="en-US" sz="1200" err="1">
                          <a:solidFill>
                            <a:schemeClr val="tx1"/>
                          </a:solidFill>
                          <a:effectLst/>
                          <a:latin typeface="+mn-lt"/>
                        </a:rPr>
                        <a:t>mo</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455538"/>
                  </a:ext>
                </a:extLst>
              </a:tr>
              <a:tr h="161954">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ct val="100000"/>
                        </a:lnSpc>
                        <a:buNone/>
                      </a:pPr>
                      <a:r>
                        <a:rPr lang="en-US" sz="1200" err="1">
                          <a:latin typeface="+mn-lt"/>
                        </a:rPr>
                        <a:t>rPFS</a:t>
                      </a:r>
                      <a:endParaRPr lang="en-US" sz="1200">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mn-lt"/>
                        </a:rPr>
                        <a:t>5 </a:t>
                      </a:r>
                      <a:r>
                        <a:rPr lang="en-US" sz="1200" err="1">
                          <a:solidFill>
                            <a:schemeClr val="tx1"/>
                          </a:solidFill>
                          <a:latin typeface="+mn-lt"/>
                        </a:rPr>
                        <a:t>mo</a:t>
                      </a:r>
                      <a:r>
                        <a:rPr lang="en-US" sz="1200">
                          <a:solidFill>
                            <a:schemeClr val="tx1"/>
                          </a:solidFill>
                          <a:latin typeface="+mn-lt"/>
                        </a:rPr>
                        <a:t> (HR 0.85)</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solidFill>
                            <a:schemeClr val="tx1"/>
                          </a:solidFill>
                          <a:effectLst/>
                          <a:latin typeface="+mn-lt"/>
                        </a:rPr>
                        <a:t>4.2 </a:t>
                      </a:r>
                      <a:r>
                        <a:rPr lang="en-US" sz="1200" err="1">
                          <a:solidFill>
                            <a:schemeClr val="tx1"/>
                          </a:solidFill>
                          <a:effectLst/>
                          <a:latin typeface="+mn-lt"/>
                        </a:rPr>
                        <a:t>mo</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4108569"/>
                  </a:ext>
                </a:extLst>
              </a:tr>
              <a:tr h="680477">
                <a:tc>
                  <a:txBody>
                    <a:bodyPr/>
                    <a:lstStyle/>
                    <a:p>
                      <a:pPr algn="l" fontAlgn="base">
                        <a:lnSpc>
                          <a:spcPct val="100000"/>
                        </a:lnSpc>
                        <a:buNone/>
                      </a:pPr>
                      <a:r>
                        <a:rPr lang="en-US" sz="1200" b="1">
                          <a:effectLst/>
                          <a:latin typeface="+mn-lt"/>
                        </a:rPr>
                        <a:t>Safety / Tolerability</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marL="0" lvl="0" indent="0" algn="ctr">
                        <a:lnSpc>
                          <a:spcPct val="100000"/>
                        </a:lnSpc>
                        <a:buNone/>
                      </a:pPr>
                      <a:r>
                        <a:rPr lang="en-US" sz="1200" b="0" i="0" u="none" strike="noStrike" baseline="0" noProof="0">
                          <a:solidFill>
                            <a:srgbClr val="000000"/>
                          </a:solidFill>
                          <a:latin typeface="Funnel Sans"/>
                        </a:rPr>
                        <a:t>Grade ≥3 TEAEs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baseline="0" noProof="0">
                          <a:solidFill>
                            <a:srgbClr val="000000"/>
                          </a:solidFill>
                          <a:latin typeface="Funnel Sans"/>
                        </a:rPr>
                        <a:t>Fatigue (Grade </a:t>
                      </a:r>
                      <a:r>
                        <a:rPr lang="en-US" sz="1200" b="0" i="0" u="none" strike="noStrike" baseline="0" noProof="0">
                          <a:solidFill>
                            <a:srgbClr val="000000"/>
                          </a:solidFill>
                          <a:latin typeface="+mn-lt"/>
                        </a:rPr>
                        <a:t> ≥3)</a:t>
                      </a:r>
                      <a:endParaRPr lang="en-US" sz="1200" b="0" i="0" u="none" strike="noStrike" baseline="0" noProof="0">
                        <a:solidFill>
                          <a:srgbClr val="000000"/>
                        </a:solidFill>
                        <a:latin typeface="Funnel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baseline="0" noProof="0">
                          <a:solidFill>
                            <a:srgbClr val="000000"/>
                          </a:solidFill>
                          <a:latin typeface="Funnel Sans"/>
                        </a:rPr>
                        <a:t>Neutropenia </a:t>
                      </a:r>
                      <a:r>
                        <a:rPr lang="en-US" sz="1200" b="0" i="0" u="none" strike="noStrike" baseline="0" noProof="0">
                          <a:solidFill>
                            <a:srgbClr val="000000"/>
                          </a:solidFill>
                          <a:latin typeface="+mn-lt"/>
                        </a:rPr>
                        <a:t>(Grade ≥3)</a:t>
                      </a:r>
                      <a:endParaRPr lang="en-US" sz="1200" b="0" i="0" u="none" strike="noStrike" baseline="0" noProof="0">
                        <a:solidFill>
                          <a:srgbClr val="000000"/>
                        </a:solidFill>
                        <a:latin typeface="Funnel Sans"/>
                      </a:endParaRPr>
                    </a:p>
                    <a:p>
                      <a:pPr marL="0" lvl="0" indent="0" algn="ctr">
                        <a:lnSpc>
                          <a:spcPct val="100000"/>
                        </a:lnSpc>
                        <a:buNone/>
                      </a:pPr>
                      <a:r>
                        <a:rPr lang="en-US" sz="1200" b="0" i="0" u="none" strike="noStrike" baseline="0" noProof="0">
                          <a:solidFill>
                            <a:srgbClr val="000000"/>
                          </a:solidFill>
                          <a:latin typeface="+mn-lt"/>
                        </a:rPr>
                        <a:t>Leucopenia (Grade ≥3)</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&lt;35%</a:t>
                      </a:r>
                    </a:p>
                    <a:p>
                      <a:pPr lvl="0" algn="ctr">
                        <a:lnSpc>
                          <a:spcPct val="100000"/>
                        </a:lnSpc>
                        <a:buNone/>
                      </a:pPr>
                      <a:r>
                        <a:rPr lang="en-US" sz="1200" baseline="0">
                          <a:effectLst/>
                          <a:latin typeface="+mn-lt"/>
                        </a:rPr>
                        <a:t>&lt;30%</a:t>
                      </a:r>
                    </a:p>
                    <a:p>
                      <a:pPr lvl="0" algn="ctr">
                        <a:lnSpc>
                          <a:spcPct val="100000"/>
                        </a:lnSpc>
                        <a:buNone/>
                      </a:pPr>
                      <a:r>
                        <a:rPr lang="en-US" sz="1200" baseline="0">
                          <a:effectLst/>
                          <a:latin typeface="+mn-lt"/>
                        </a:rPr>
                        <a:t>&lt;15%</a:t>
                      </a:r>
                    </a:p>
                    <a:p>
                      <a:pPr lvl="0" algn="ctr">
                        <a:lnSpc>
                          <a:spcPct val="100000"/>
                        </a:lnSpc>
                        <a:buNone/>
                      </a:pPr>
                      <a:r>
                        <a:rPr lang="en-US" sz="1200" baseline="0">
                          <a:effectLst/>
                          <a:latin typeface="+mn-lt"/>
                        </a:rPr>
                        <a:t>&lt;25%</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solidFill>
                            <a:schemeClr val="tx1"/>
                          </a:solidFill>
                          <a:effectLst/>
                          <a:latin typeface="+mn-lt"/>
                        </a:rPr>
                        <a:t>79%</a:t>
                      </a:r>
                    </a:p>
                    <a:p>
                      <a:pPr lvl="0" algn="ctr">
                        <a:lnSpc>
                          <a:spcPct val="100000"/>
                        </a:lnSpc>
                        <a:buNone/>
                      </a:pPr>
                      <a:r>
                        <a:rPr lang="en-US" sz="1200">
                          <a:solidFill>
                            <a:schemeClr val="tx1"/>
                          </a:solidFill>
                          <a:effectLst/>
                          <a:latin typeface="+mn-lt"/>
                        </a:rPr>
                        <a:t>55% (14%)</a:t>
                      </a:r>
                    </a:p>
                    <a:p>
                      <a:pPr lvl="0" algn="ctr">
                        <a:lnSpc>
                          <a:spcPct val="100000"/>
                        </a:lnSpc>
                        <a:buNone/>
                      </a:pPr>
                      <a:r>
                        <a:rPr lang="en-US" sz="1200">
                          <a:solidFill>
                            <a:schemeClr val="tx1"/>
                          </a:solidFill>
                          <a:effectLst/>
                          <a:latin typeface="+mn-lt"/>
                        </a:rPr>
                        <a:t>55% (49%)</a:t>
                      </a:r>
                    </a:p>
                    <a:p>
                      <a:pPr lvl="0" algn="ctr">
                        <a:lnSpc>
                          <a:spcPct val="100000"/>
                        </a:lnSpc>
                        <a:buNone/>
                      </a:pPr>
                      <a:r>
                        <a:rPr lang="en-US" sz="1200">
                          <a:solidFill>
                            <a:schemeClr val="tx1"/>
                          </a:solidFill>
                          <a:effectLst/>
                          <a:latin typeface="+mn-lt"/>
                        </a:rPr>
                        <a:t>21% (14%)</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3364161"/>
                  </a:ext>
                </a:extLst>
              </a:tr>
            </a:tbl>
          </a:graphicData>
        </a:graphic>
      </p:graphicFrame>
      <p:sp>
        <p:nvSpPr>
          <p:cNvPr id="3" name="Shape 1">
            <a:extLst>
              <a:ext uri="{FF2B5EF4-FFF2-40B4-BE49-F238E27FC236}">
                <a16:creationId xmlns:a16="http://schemas.microsoft.com/office/drawing/2014/main" id="{AD804EB2-A6BC-85F2-57B3-5C0FF77CC044}"/>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 name="TextBox 3">
            <a:extLst>
              <a:ext uri="{FF2B5EF4-FFF2-40B4-BE49-F238E27FC236}">
                <a16:creationId xmlns:a16="http://schemas.microsoft.com/office/drawing/2014/main" id="{0DB704EA-8960-1C00-4E3F-098C447EF513}"/>
              </a:ext>
            </a:extLst>
          </p:cNvPr>
          <p:cNvSpPr txBox="1"/>
          <p:nvPr/>
        </p:nvSpPr>
        <p:spPr>
          <a:xfrm>
            <a:off x="48239" y="6611779"/>
            <a:ext cx="6077779"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Sources: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1"/>
              </a:rPr>
              <a:t>Paz-Ares Lung Cancer 2017</a:t>
            </a:r>
            <a:r>
              <a:rPr kumimoji="0" lang="en-US" sz="1000" b="0" i="0" u="none" strike="noStrike" kern="1200" cap="none" spc="0" normalizeH="0" baseline="0" noProof="0">
                <a:ln>
                  <a:noFill/>
                </a:ln>
                <a:solidFill>
                  <a:prstClr val="black"/>
                </a:solidFill>
                <a:effectLst/>
                <a:uLnTx/>
                <a:uFillTx/>
                <a:latin typeface="Funnel Sans"/>
                <a:ea typeface="+mn-ea"/>
                <a:cs typeface="+mn-cs"/>
              </a:rPr>
              <a:t>,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0"/>
              </a:rPr>
              <a:t>Garon Lancet 2014</a:t>
            </a:r>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160496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DBB7D-D10E-BD1E-A58F-1408FED9A3A9}"/>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26B0199-A693-1F4A-CF8F-5732ECDB68B3}"/>
              </a:ext>
            </a:extLst>
          </p:cNvPr>
          <p:cNvGraphicFramePr>
            <a:graphicFrameLocks noGrp="1"/>
          </p:cNvGraphicFramePr>
          <p:nvPr>
            <p:extLst>
              <p:ext uri="{D42A27DB-BD31-4B8C-83A1-F6EECF244321}">
                <p14:modId xmlns:p14="http://schemas.microsoft.com/office/powerpoint/2010/main" val="3269753874"/>
              </p:ext>
            </p:extLst>
          </p:nvPr>
        </p:nvGraphicFramePr>
        <p:xfrm>
          <a:off x="1193602" y="1676397"/>
          <a:ext cx="9864831" cy="4564914"/>
        </p:xfrm>
        <a:graphic>
          <a:graphicData uri="http://schemas.openxmlformats.org/drawingml/2006/table">
            <a:tbl>
              <a:tblPr/>
              <a:tblGrid>
                <a:gridCol w="3156882">
                  <a:extLst>
                    <a:ext uri="{9D8B030D-6E8A-4147-A177-3AD203B41FA5}">
                      <a16:colId xmlns:a16="http://schemas.microsoft.com/office/drawing/2014/main" val="4068440047"/>
                    </a:ext>
                  </a:extLst>
                </a:gridCol>
                <a:gridCol w="6707949">
                  <a:extLst>
                    <a:ext uri="{9D8B030D-6E8A-4147-A177-3AD203B41FA5}">
                      <a16:colId xmlns:a16="http://schemas.microsoft.com/office/drawing/2014/main" val="3956450263"/>
                    </a:ext>
                  </a:extLst>
                </a:gridCol>
              </a:tblGrid>
              <a:tr h="563570">
                <a:tc>
                  <a:txBody>
                    <a:bodyPr/>
                    <a:lstStyle/>
                    <a:p>
                      <a:pPr>
                        <a:buNone/>
                      </a:pPr>
                      <a:endParaRPr lang="en-US" sz="1400"/>
                    </a:p>
                  </a:txBody>
                  <a:tcPr anchor="ctr">
                    <a:lnL>
                      <a:noFill/>
                    </a:lnL>
                    <a:lnR>
                      <a:noFill/>
                    </a:lnR>
                    <a:lnT>
                      <a:noFill/>
                    </a:lnT>
                    <a:lnB>
                      <a:noFill/>
                    </a:lnB>
                    <a:noFill/>
                  </a:tcPr>
                </a:tc>
                <a:tc>
                  <a:txBody>
                    <a:bodyPr/>
                    <a:lstStyle/>
                    <a:p>
                      <a:pPr algn="ctr">
                        <a:buNone/>
                      </a:pPr>
                      <a:r>
                        <a:rPr lang="en-US" sz="1400" b="1">
                          <a:solidFill>
                            <a:schemeClr val="bg1"/>
                          </a:solidFill>
                        </a:rPr>
                        <a:t>Sego’s Approach</a:t>
                      </a:r>
                    </a:p>
                  </a:txBody>
                  <a:tcPr anchor="ctr">
                    <a:lnL w="28575" cap="flat" cmpd="sng" algn="ctr">
                      <a:noFill/>
                      <a:prstDash val="solid"/>
                      <a:round/>
                      <a:headEnd type="none" w="med" len="med"/>
                      <a:tailEnd type="none" w="med" len="med"/>
                    </a:lnL>
                    <a:lnR>
                      <a:noFill/>
                    </a:lnR>
                    <a:lnT>
                      <a:noFill/>
                    </a:lnT>
                    <a:lnB w="28575" cap="flat" cmpd="sng" algn="ctr">
                      <a:solidFill>
                        <a:schemeClr val="bg1"/>
                      </a:solidFill>
                      <a:prstDash val="solid"/>
                      <a:round/>
                      <a:headEnd type="none" w="med" len="med"/>
                      <a:tailEnd type="none" w="med" len="med"/>
                    </a:lnB>
                    <a:solidFill>
                      <a:srgbClr val="184141"/>
                    </a:solidFill>
                  </a:tcPr>
                </a:tc>
                <a:extLst>
                  <a:ext uri="{0D108BD9-81ED-4DB2-BD59-A6C34878D82A}">
                    <a16:rowId xmlns:a16="http://schemas.microsoft.com/office/drawing/2014/main" val="1090321364"/>
                  </a:ext>
                </a:extLst>
              </a:tr>
              <a:tr h="563570">
                <a:tc>
                  <a:txBody>
                    <a:bodyPr/>
                    <a:lstStyle/>
                    <a:p>
                      <a:pPr>
                        <a:buNone/>
                      </a:pPr>
                      <a:endParaRPr lang="en-US" sz="1400"/>
                    </a:p>
                  </a:txBody>
                  <a:tcPr anchor="ctr">
                    <a:lnL>
                      <a:noFill/>
                    </a:lnL>
                    <a:lnR>
                      <a:noFill/>
                    </a:lnR>
                    <a:lnT>
                      <a:noFill/>
                    </a:lnT>
                    <a:lnB>
                      <a:noFill/>
                    </a:lnB>
                    <a:noFill/>
                  </a:tcPr>
                </a:tc>
                <a:tc>
                  <a:txBody>
                    <a:bodyPr/>
                    <a:lstStyle/>
                    <a:p>
                      <a:pPr algn="ctr">
                        <a:buNone/>
                      </a:pPr>
                      <a:r>
                        <a:rPr lang="en-US" sz="1400" b="1">
                          <a:solidFill>
                            <a:schemeClr val="tx1"/>
                          </a:solidFill>
                        </a:rPr>
                        <a:t>CLDN1-targeted cyclic peptide RLT</a:t>
                      </a:r>
                    </a:p>
                  </a:txBody>
                  <a:tcPr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a:noFill/>
                    </a:lnB>
                    <a:solidFill>
                      <a:srgbClr val="C6DCCD"/>
                    </a:solidFill>
                  </a:tcPr>
                </a:tc>
                <a:extLst>
                  <a:ext uri="{0D108BD9-81ED-4DB2-BD59-A6C34878D82A}">
                    <a16:rowId xmlns:a16="http://schemas.microsoft.com/office/drawing/2014/main" val="2780418511"/>
                  </a:ext>
                </a:extLst>
              </a:tr>
              <a:tr h="958068">
                <a:tc>
                  <a:txBody>
                    <a:bodyPr/>
                    <a:lstStyle/>
                    <a:p>
                      <a:pPr>
                        <a:buNone/>
                      </a:pPr>
                      <a:r>
                        <a:rPr lang="en-US" sz="1400" b="1"/>
                        <a:t>Modality</a:t>
                      </a:r>
                    </a:p>
                  </a:txBody>
                  <a:tcPr anchor="ctr">
                    <a:lnL>
                      <a:noFill/>
                    </a:lnL>
                    <a:lnR>
                      <a:noFill/>
                    </a:lnR>
                    <a:lnT>
                      <a:noFill/>
                    </a:lnT>
                    <a:lnB w="12700" cap="flat" cmpd="sng" algn="ctr">
                      <a:solidFill>
                        <a:schemeClr val="bg2"/>
                      </a:solidFill>
                      <a:prstDash val="solid"/>
                      <a:round/>
                      <a:headEnd type="none" w="med" len="med"/>
                      <a:tailEnd type="none" w="med" len="med"/>
                    </a:lnB>
                    <a:noFill/>
                  </a:tcPr>
                </a:tc>
                <a:tc>
                  <a:txBody>
                    <a:bodyPr/>
                    <a:lstStyle/>
                    <a:p>
                      <a:pPr algn="ctr">
                        <a:buNone/>
                      </a:pPr>
                      <a:r>
                        <a:rPr lang="en-US" sz="1400" b="0"/>
                        <a:t>Cyclic peptide targeted to the ECL regions of CLDN1</a:t>
                      </a:r>
                    </a:p>
                  </a:txBody>
                  <a:tcPr anchor="ctr">
                    <a:lnL>
                      <a:noFill/>
                    </a:lnL>
                    <a:lnR>
                      <a:noFill/>
                    </a:lnR>
                    <a:lnT w="28575"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511685032"/>
                  </a:ext>
                </a:extLst>
              </a:tr>
              <a:tr h="563570">
                <a:tc>
                  <a:txBody>
                    <a:bodyPr/>
                    <a:lstStyle/>
                    <a:p>
                      <a:pPr>
                        <a:buNone/>
                      </a:pPr>
                      <a:r>
                        <a:rPr lang="en-US" sz="1400" b="1"/>
                        <a:t>Isotope/Payload</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baseline="30000"/>
                        <a:t>225</a:t>
                      </a:r>
                      <a:r>
                        <a:rPr lang="en-US" sz="1400"/>
                        <a:t>Ac or </a:t>
                      </a:r>
                      <a:r>
                        <a:rPr lang="en-US" sz="1400" baseline="30000"/>
                        <a:t>161</a:t>
                      </a:r>
                      <a:r>
                        <a:rPr lang="en-US" sz="1400"/>
                        <a:t>Tb</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972914581"/>
                  </a:ext>
                </a:extLst>
              </a:tr>
              <a:tr h="958068">
                <a:tc>
                  <a:txBody>
                    <a:bodyPr/>
                    <a:lstStyle/>
                    <a:p>
                      <a:pPr>
                        <a:buNone/>
                      </a:pPr>
                      <a:r>
                        <a:rPr lang="en-US" sz="1400" b="1"/>
                        <a:t>Internalization</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Select for internalizing peptides to utilize increased cytotoxicity with internalized alpha and auger emitters</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369339733"/>
                  </a:ext>
                </a:extLst>
              </a:tr>
              <a:tr h="958068">
                <a:tc>
                  <a:txBody>
                    <a:bodyPr/>
                    <a:lstStyle/>
                    <a:p>
                      <a:pPr>
                        <a:buNone/>
                      </a:pPr>
                      <a:r>
                        <a:rPr lang="en-US" sz="1400" b="1"/>
                        <a:t>Advantage</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CLDN1 is selectively available to RLT in tumors, reducing off tumor, on target toxicity risks. Novel target for RLT field, with pan-squamous cancer potential</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703356369"/>
                  </a:ext>
                </a:extLst>
              </a:tr>
            </a:tbl>
          </a:graphicData>
        </a:graphic>
      </p:graphicFrame>
      <p:sp>
        <p:nvSpPr>
          <p:cNvPr id="5" name="Shape 0">
            <a:extLst>
              <a:ext uri="{FF2B5EF4-FFF2-40B4-BE49-F238E27FC236}">
                <a16:creationId xmlns:a16="http://schemas.microsoft.com/office/drawing/2014/main" id="{EB68A6A1-31D5-1F45-94AE-117F9F8A8AAA}"/>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6" name="Shape 19">
            <a:extLst>
              <a:ext uri="{FF2B5EF4-FFF2-40B4-BE49-F238E27FC236}">
                <a16:creationId xmlns:a16="http://schemas.microsoft.com/office/drawing/2014/main" id="{D221FFE9-5252-86BD-492D-F4839D9438F7}"/>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7" name="Image 3" descr="preencoded.png">
            <a:extLst>
              <a:ext uri="{FF2B5EF4-FFF2-40B4-BE49-F238E27FC236}">
                <a16:creationId xmlns:a16="http://schemas.microsoft.com/office/drawing/2014/main" id="{755EF556-1FF3-8BD6-4A1D-7DBB7D68FB23}"/>
              </a:ext>
            </a:extLst>
          </p:cNvPr>
          <p:cNvPicPr>
            <a:picLocks noChangeAspect="1"/>
          </p:cNvPicPr>
          <p:nvPr/>
        </p:nvPicPr>
        <p:blipFill>
          <a:blip r:embed="rId3"/>
          <a:stretch>
            <a:fillRect/>
          </a:stretch>
        </p:blipFill>
        <p:spPr>
          <a:xfrm>
            <a:off x="323503" y="254000"/>
            <a:ext cx="156939" cy="191368"/>
          </a:xfrm>
          <a:prstGeom prst="rect">
            <a:avLst/>
          </a:prstGeom>
        </p:spPr>
      </p:pic>
      <p:pic>
        <p:nvPicPr>
          <p:cNvPr id="8" name="Image 4" descr="preencoded.png">
            <a:extLst>
              <a:ext uri="{FF2B5EF4-FFF2-40B4-BE49-F238E27FC236}">
                <a16:creationId xmlns:a16="http://schemas.microsoft.com/office/drawing/2014/main" id="{54B9DF1B-F0E1-01F6-2E58-1CA671EC9C1A}"/>
              </a:ext>
            </a:extLst>
          </p:cNvPr>
          <p:cNvPicPr>
            <a:picLocks noChangeAspect="1"/>
          </p:cNvPicPr>
          <p:nvPr/>
        </p:nvPicPr>
        <p:blipFill>
          <a:blip r:embed="rId4"/>
          <a:stretch>
            <a:fillRect/>
          </a:stretch>
        </p:blipFill>
        <p:spPr>
          <a:xfrm>
            <a:off x="387028" y="459541"/>
            <a:ext cx="968" cy="4"/>
          </a:xfrm>
          <a:prstGeom prst="rect">
            <a:avLst/>
          </a:prstGeom>
        </p:spPr>
      </p:pic>
      <p:pic>
        <p:nvPicPr>
          <p:cNvPr id="9" name="Image 5" descr="preencoded.png">
            <a:extLst>
              <a:ext uri="{FF2B5EF4-FFF2-40B4-BE49-F238E27FC236}">
                <a16:creationId xmlns:a16="http://schemas.microsoft.com/office/drawing/2014/main" id="{0A72160D-81F1-353F-0E42-4E585A41C467}"/>
              </a:ext>
            </a:extLst>
          </p:cNvPr>
          <p:cNvPicPr>
            <a:picLocks noChangeAspect="1"/>
          </p:cNvPicPr>
          <p:nvPr/>
        </p:nvPicPr>
        <p:blipFill>
          <a:blip r:embed="rId4"/>
          <a:stretch>
            <a:fillRect/>
          </a:stretch>
        </p:blipFill>
        <p:spPr>
          <a:xfrm>
            <a:off x="386756" y="459546"/>
            <a:ext cx="297" cy="4"/>
          </a:xfrm>
          <a:prstGeom prst="rect">
            <a:avLst/>
          </a:prstGeom>
        </p:spPr>
      </p:pic>
      <p:pic>
        <p:nvPicPr>
          <p:cNvPr id="10" name="Image 6" descr="preencoded.png">
            <a:extLst>
              <a:ext uri="{FF2B5EF4-FFF2-40B4-BE49-F238E27FC236}">
                <a16:creationId xmlns:a16="http://schemas.microsoft.com/office/drawing/2014/main" id="{02B210E9-E3D8-CA99-593D-F38B3066964F}"/>
              </a:ext>
            </a:extLst>
          </p:cNvPr>
          <p:cNvPicPr>
            <a:picLocks noChangeAspect="1"/>
          </p:cNvPicPr>
          <p:nvPr/>
        </p:nvPicPr>
        <p:blipFill>
          <a:blip r:embed="rId4"/>
          <a:stretch>
            <a:fillRect/>
          </a:stretch>
        </p:blipFill>
        <p:spPr>
          <a:xfrm>
            <a:off x="389261" y="473634"/>
            <a:ext cx="471" cy="4"/>
          </a:xfrm>
          <a:prstGeom prst="rect">
            <a:avLst/>
          </a:prstGeom>
        </p:spPr>
      </p:pic>
      <p:pic>
        <p:nvPicPr>
          <p:cNvPr id="11" name="Image 7" descr="preencoded.png">
            <a:extLst>
              <a:ext uri="{FF2B5EF4-FFF2-40B4-BE49-F238E27FC236}">
                <a16:creationId xmlns:a16="http://schemas.microsoft.com/office/drawing/2014/main" id="{DCAFF278-178B-8292-6968-F4C119A20393}"/>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2" name="Image 8" descr="preencoded.png">
            <a:extLst>
              <a:ext uri="{FF2B5EF4-FFF2-40B4-BE49-F238E27FC236}">
                <a16:creationId xmlns:a16="http://schemas.microsoft.com/office/drawing/2014/main" id="{B0B9E8AD-8766-F4BF-79D9-5980BE835F3D}"/>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3" name="Image 9" descr="preencoded.png">
            <a:extLst>
              <a:ext uri="{FF2B5EF4-FFF2-40B4-BE49-F238E27FC236}">
                <a16:creationId xmlns:a16="http://schemas.microsoft.com/office/drawing/2014/main" id="{6FD66749-8A51-B202-AE9C-17C54E218078}"/>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4" name="Image 10" descr="preencoded.png">
            <a:extLst>
              <a:ext uri="{FF2B5EF4-FFF2-40B4-BE49-F238E27FC236}">
                <a16:creationId xmlns:a16="http://schemas.microsoft.com/office/drawing/2014/main" id="{0491D03B-3601-22DE-447F-8726171B75FA}"/>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5" name="Image 11" descr="preencoded.png">
            <a:extLst>
              <a:ext uri="{FF2B5EF4-FFF2-40B4-BE49-F238E27FC236}">
                <a16:creationId xmlns:a16="http://schemas.microsoft.com/office/drawing/2014/main" id="{51D8F9C0-AB9C-8C24-8AB0-22F04114B9D6}"/>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6" name="Image 12" descr="preencoded.png">
            <a:extLst>
              <a:ext uri="{FF2B5EF4-FFF2-40B4-BE49-F238E27FC236}">
                <a16:creationId xmlns:a16="http://schemas.microsoft.com/office/drawing/2014/main" id="{BB904ECF-48B0-5659-71F1-ED0E60AAD6D6}"/>
              </a:ext>
            </a:extLst>
          </p:cNvPr>
          <p:cNvPicPr>
            <a:picLocks noChangeAspect="1"/>
          </p:cNvPicPr>
          <p:nvPr/>
        </p:nvPicPr>
        <p:blipFill>
          <a:blip r:embed="rId10"/>
          <a:stretch>
            <a:fillRect/>
          </a:stretch>
        </p:blipFill>
        <p:spPr>
          <a:xfrm>
            <a:off x="254000" y="376361"/>
            <a:ext cx="174501" cy="157575"/>
          </a:xfrm>
          <a:prstGeom prst="rect">
            <a:avLst/>
          </a:prstGeom>
        </p:spPr>
      </p:pic>
      <p:sp>
        <p:nvSpPr>
          <p:cNvPr id="20" name="Rectangle: Rounded Corners 19">
            <a:extLst>
              <a:ext uri="{FF2B5EF4-FFF2-40B4-BE49-F238E27FC236}">
                <a16:creationId xmlns:a16="http://schemas.microsoft.com/office/drawing/2014/main" id="{6746F4A0-FB62-1CAE-5134-0F2DA38EDB68}"/>
              </a:ext>
            </a:extLst>
          </p:cNvPr>
          <p:cNvSpPr/>
          <p:nvPr/>
        </p:nvSpPr>
        <p:spPr>
          <a:xfrm>
            <a:off x="10884311" y="88490"/>
            <a:ext cx="1278192"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Opportunity</a:t>
            </a:r>
          </a:p>
        </p:txBody>
      </p:sp>
      <p:sp>
        <p:nvSpPr>
          <p:cNvPr id="2" name="TextBox 1">
            <a:extLst>
              <a:ext uri="{FF2B5EF4-FFF2-40B4-BE49-F238E27FC236}">
                <a16:creationId xmlns:a16="http://schemas.microsoft.com/office/drawing/2014/main" id="{2DC62CDE-4895-2951-E1D1-BD6D819A6103}"/>
              </a:ext>
            </a:extLst>
          </p:cNvPr>
          <p:cNvSpPr txBox="1"/>
          <p:nvPr/>
        </p:nvSpPr>
        <p:spPr>
          <a:xfrm>
            <a:off x="11055350" y="6614136"/>
            <a:ext cx="1136650" cy="246221"/>
          </a:xfrm>
          <a:prstGeom prst="rect">
            <a:avLst/>
          </a:prstGeom>
          <a:noFill/>
        </p:spPr>
        <p:txBody>
          <a:bodyPr wrap="square" lIns="91440" tIns="45720" rIns="91440" bIns="45720" rtlCol="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26</a:t>
            </a:r>
          </a:p>
        </p:txBody>
      </p:sp>
      <p:sp>
        <p:nvSpPr>
          <p:cNvPr id="4" name="Text 28">
            <a:extLst>
              <a:ext uri="{FF2B5EF4-FFF2-40B4-BE49-F238E27FC236}">
                <a16:creationId xmlns:a16="http://schemas.microsoft.com/office/drawing/2014/main" id="{98D76DC8-724A-E74B-25E4-68B3B359E80F}"/>
              </a:ext>
            </a:extLst>
          </p:cNvPr>
          <p:cNvSpPr/>
          <p:nvPr/>
        </p:nvSpPr>
        <p:spPr>
          <a:xfrm>
            <a:off x="227264" y="711101"/>
            <a:ext cx="11496658"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Sego’s differentiated approach to CLDN1</a:t>
            </a:r>
          </a:p>
        </p:txBody>
      </p:sp>
      <p:sp>
        <p:nvSpPr>
          <p:cNvPr id="18" name="Shape 1">
            <a:extLst>
              <a:ext uri="{FF2B5EF4-FFF2-40B4-BE49-F238E27FC236}">
                <a16:creationId xmlns:a16="http://schemas.microsoft.com/office/drawing/2014/main" id="{99BFD811-9716-9FE3-DD0B-DD3AF607EC48}"/>
              </a:ext>
            </a:extLst>
          </p:cNvPr>
          <p:cNvSpPr/>
          <p:nvPr/>
        </p:nvSpPr>
        <p:spPr>
          <a:xfrm>
            <a:off x="227264" y="1508776"/>
            <a:ext cx="11757078"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1178899444"/>
      </p:ext>
    </p:extLst>
  </p:cSld>
  <p:clrMapOvr>
    <a:masterClrMapping/>
  </p:clrMapOvr>
</p:sld>
</file>

<file path=ppt/theme/theme1.xml><?xml version="1.0" encoding="utf-8"?>
<a:theme xmlns:a="http://schemas.openxmlformats.org/drawingml/2006/main" name="Becca's Sego Temp Theme">
  <a:themeElements>
    <a:clrScheme name="Becca's Sego Temp Theme">
      <a:dk1>
        <a:sysClr val="windowText" lastClr="000000"/>
      </a:dk1>
      <a:lt1>
        <a:sysClr val="window" lastClr="FFFFFF"/>
      </a:lt1>
      <a:dk2>
        <a:srgbClr val="0E2841"/>
      </a:dk2>
      <a:lt2>
        <a:srgbClr val="E8E8E8"/>
      </a:lt2>
      <a:accent1>
        <a:srgbClr val="1A4141"/>
      </a:accent1>
      <a:accent2>
        <a:srgbClr val="456464"/>
      </a:accent2>
      <a:accent3>
        <a:srgbClr val="7A9F8F"/>
      </a:accent3>
      <a:accent4>
        <a:srgbClr val="71B787"/>
      </a:accent4>
      <a:accent5>
        <a:srgbClr val="D5ED99"/>
      </a:accent5>
      <a:accent6>
        <a:srgbClr val="F3F1EF"/>
      </a:accent6>
      <a:hlink>
        <a:srgbClr val="7A9F8F"/>
      </a:hlink>
      <a:folHlink>
        <a:srgbClr val="96607D"/>
      </a:folHlink>
    </a:clrScheme>
    <a:fontScheme name="Sego Font">
      <a:majorFont>
        <a:latin typeface="Funnel Sans"/>
        <a:ea typeface=""/>
        <a:cs typeface=""/>
      </a:majorFont>
      <a:minorFont>
        <a:latin typeface="Funne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ecca's Sego Temp Theme" id="{4A842F55-7C6A-43E5-B4AB-63AC50CBC6DB}" vid="{965FBD5D-36C6-4D68-9EF4-1748213BBE67}"/>
    </a:ext>
  </a:extLst>
</a:theme>
</file>

<file path=ppt/theme/theme2.xml><?xml version="1.0" encoding="utf-8"?>
<a:theme xmlns:a="http://schemas.openxmlformats.org/drawingml/2006/main" name="1_Office Theme">
  <a:themeElements>
    <a:clrScheme name="Office">
      <a:dk1>
        <a:srgbClr val="000000"/>
      </a:dk1>
      <a:lt1>
        <a:sysClr val="window" lastClr="FFFFFF"/>
      </a:lt1>
      <a:dk2>
        <a:srgbClr val="656670"/>
      </a:dk2>
      <a:lt2>
        <a:srgbClr val="F6F3F2"/>
      </a:lt2>
      <a:accent1>
        <a:srgbClr val="002924"/>
      </a:accent1>
      <a:accent2>
        <a:srgbClr val="B1C8B0"/>
      </a:accent2>
      <a:accent3>
        <a:srgbClr val="61896E"/>
      </a:accent3>
      <a:accent4>
        <a:srgbClr val="D5ED99"/>
      </a:accent4>
      <a:accent5>
        <a:srgbClr val="DED6D3"/>
      </a:accent5>
      <a:accent6>
        <a:srgbClr val="8F1A43"/>
      </a:accent6>
      <a:hlink>
        <a:srgbClr val="002924"/>
      </a:hlink>
      <a:folHlink>
        <a:srgbClr val="B1C8B0"/>
      </a:folHlink>
    </a:clrScheme>
    <a:fontScheme name="Sego">
      <a:majorFont>
        <a:latin typeface="Funnel Sans Light"/>
        <a:ea typeface=""/>
        <a:cs typeface=""/>
      </a:majorFont>
      <a:minorFont>
        <a:latin typeface="Funne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dirty="0" smtClean="0">
            <a:solidFill>
              <a:srgbClr val="FF0000"/>
            </a:solidFill>
            <a:latin typeface="+mj-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A77038FD8B0E4290AC2C78A81B96B0" ma:contentTypeVersion="10" ma:contentTypeDescription="Create a new document." ma:contentTypeScope="" ma:versionID="116237f45c3876c638621d484ff54e8e">
  <xsd:schema xmlns:xsd="http://www.w3.org/2001/XMLSchema" xmlns:xs="http://www.w3.org/2001/XMLSchema" xmlns:p="http://schemas.microsoft.com/office/2006/metadata/properties" xmlns:ns2="883290e6-3317-4731-a933-606cdb1c21ba" xmlns:ns3="9b41257d-d9f1-45d2-83fb-79c2dd89ff18" targetNamespace="http://schemas.microsoft.com/office/2006/metadata/properties" ma:root="true" ma:fieldsID="9cd05f4572e11dc9c3dcb5915d0bb547" ns2:_="" ns3:_="">
    <xsd:import namespace="883290e6-3317-4731-a933-606cdb1c21ba"/>
    <xsd:import namespace="9b41257d-d9f1-45d2-83fb-79c2dd89ff1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3290e6-3317-4731-a933-606cdb1c21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d5e21b9-9a91-448a-b7da-1ab90cd0a9b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b41257d-d9f1-45d2-83fb-79c2dd89ff1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b56a1f0-8357-4b64-86fd-fd0a5fd73875}" ma:internalName="TaxCatchAll" ma:showField="CatchAllData" ma:web="9b41257d-d9f1-45d2-83fb-79c2dd89ff1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b41257d-d9f1-45d2-83fb-79c2dd89ff18" xsi:nil="true"/>
    <lcf76f155ced4ddcb4097134ff3c332f xmlns="883290e6-3317-4731-a933-606cdb1c21b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8E9FEE6-2262-4277-B44E-D1464311B2A2}">
  <ds:schemaRefs>
    <ds:schemaRef ds:uri="883290e6-3317-4731-a933-606cdb1c21ba"/>
    <ds:schemaRef ds:uri="9b41257d-d9f1-45d2-83fb-79c2dd89ff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31BFBE9-9B1C-4472-AE42-C15A94A51C7C}">
  <ds:schemaRefs>
    <ds:schemaRef ds:uri="http://schemas.microsoft.com/sharepoint/v3/contenttype/forms"/>
  </ds:schemaRefs>
</ds:datastoreItem>
</file>

<file path=customXml/itemProps3.xml><?xml version="1.0" encoding="utf-8"?>
<ds:datastoreItem xmlns:ds="http://schemas.openxmlformats.org/officeDocument/2006/customXml" ds:itemID="{3475B1DC-5F9B-4B97-ADA5-C75EF05D7C63}">
  <ds:schemaRefs>
    <ds:schemaRef ds:uri="883290e6-3317-4731-a933-606cdb1c21ba"/>
    <ds:schemaRef ds:uri="9b41257d-d9f1-45d2-83fb-79c2dd89ff18"/>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2240</Words>
  <Application>Microsoft Office PowerPoint</Application>
  <PresentationFormat>Widescreen</PresentationFormat>
  <Paragraphs>281</Paragraphs>
  <Slides>12</Slides>
  <Notes>6</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12</vt:i4>
      </vt:variant>
    </vt:vector>
  </HeadingPairs>
  <TitlesOfParts>
    <vt:vector size="23" baseType="lpstr">
      <vt:lpstr>Aptos</vt:lpstr>
      <vt:lpstr>Arial</vt:lpstr>
      <vt:lpstr>Arial,Sans-Serif</vt:lpstr>
      <vt:lpstr>Calibri</vt:lpstr>
      <vt:lpstr>Funnel Sans</vt:lpstr>
      <vt:lpstr>Funnel Sans Light</vt:lpstr>
      <vt:lpstr>Funnel Sans Medium</vt:lpstr>
      <vt:lpstr>Segoe UI</vt:lpstr>
      <vt:lpstr>Times New Roman</vt:lpstr>
      <vt:lpstr>Becca's Sego Temp Theme</vt:lpstr>
      <vt:lpstr>1_Office Theme</vt:lpstr>
      <vt:lpstr>CLDN1 Target Evaluation</vt:lpstr>
      <vt:lpstr>Multi-Cancer: CLDN1 tumor-specific accessibility &amp; high expression create RLT window</vt:lpstr>
      <vt:lpstr>PowerPoint Presentation</vt:lpstr>
      <vt:lpstr>CLDN1 Details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Becca Levin</dc:creator>
  <cp:lastModifiedBy>Becca Levin</cp:lastModifiedBy>
  <cp:revision>1</cp:revision>
  <dcterms:created xsi:type="dcterms:W3CDTF">2026-04-07T17:10:03Z</dcterms:created>
  <dcterms:modified xsi:type="dcterms:W3CDTF">2026-04-08T18:35:47Z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0x0101006CA77038FD8B0E4290AC2C78A81B96B0</vt:lpwstr>
  </property>
  <property fmtid="{D5CDD505-2E9C-101B-9397-08002B2CF9AE}" pid="3" name="MediaServiceImageTags">
    <vt:lpwstr/>
  </property>
</Properties>
</file>