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9"/>
  </p:notesMasterIdLst>
  <p:sldIdLst>
    <p:sldId id="530" r:id="rId6"/>
    <p:sldId id="578" r:id="rId7"/>
    <p:sldId id="531" r:id="rId8"/>
    <p:sldId id="300" r:id="rId9"/>
    <p:sldId id="532" r:id="rId10"/>
    <p:sldId id="533" r:id="rId11"/>
    <p:sldId id="579" r:id="rId12"/>
    <p:sldId id="271" r:id="rId13"/>
    <p:sldId id="260" r:id="rId14"/>
    <p:sldId id="534" r:id="rId15"/>
    <p:sldId id="535" r:id="rId16"/>
    <p:sldId id="536" r:id="rId17"/>
    <p:sldId id="53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E7231E-D65A-7660-884F-A801964A74DA}" name="Becca Levin" initials="BL" userId="S::BLevin@segotx.com::08c76d0b-4d1f-44f5-8508-8653b2f54768" providerId="AD"/>
  <p188:author id="{D0236D2D-D7FE-29B3-E038-5F1CE9EC9265}" name="Edie Mitchell" initials="EM" userId="S::EMitchell@segotx.com::049308e2-fe35-45a7-be98-5d15c4b5be47" providerId="AD"/>
  <p188:author id="{2EC6969D-662B-A44E-D074-D4E7369444A4}" name="Edie Mitchell" initials="EM" userId="S::emitchell@segotx.com::049308e2-fe35-45a7-be98-5d15c4b5be47" providerId="AD"/>
  <p188:author id="{1B2CCED9-E761-A789-87FA-8A8BE5E75A61}" name="Greg Mullen" initials="GM" userId="S::gmullen@segotx.com::15d9f696-28c4-4111-b985-4ee728509f1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DB336-E6D9-166F-2638-EC1B03563E59}" v="2" dt="2026-04-08T11:16:44.375"/>
    <p1510:client id="{192DE59A-91DE-189C-6E59-7D60F1F73C9B}" v="34" dt="2026-04-08T17:02:52.012"/>
    <p1510:client id="{88D0873B-B5D7-4BAC-B62E-1F5EFF4E1C0C}" v="1" dt="2026-04-08T18:00:04.289"/>
    <p1510:client id="{D0F2E41D-A1C0-495F-9210-5936426A3917}" v="214" dt="2026-04-08T15:43:16.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6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cca Levin" userId="08c76d0b-4d1f-44f5-8508-8653b2f54768" providerId="ADAL" clId="{5AA3B8CE-AFEA-44FA-ACCD-448CA31DFD0A}"/>
    <pc:docChg chg="undo custSel addSld delSld modSld sldOrd">
      <pc:chgData name="Becca Levin" userId="08c76d0b-4d1f-44f5-8508-8653b2f54768" providerId="ADAL" clId="{5AA3B8CE-AFEA-44FA-ACCD-448CA31DFD0A}" dt="2026-04-08T18:32:17.965" v="668" actId="20577"/>
      <pc:docMkLst>
        <pc:docMk/>
      </pc:docMkLst>
      <pc:sldChg chg="add ord">
        <pc:chgData name="Becca Levin" userId="08c76d0b-4d1f-44f5-8508-8653b2f54768" providerId="ADAL" clId="{5AA3B8CE-AFEA-44FA-ACCD-448CA31DFD0A}" dt="2026-04-07T17:04:50.129" v="41"/>
        <pc:sldMkLst>
          <pc:docMk/>
          <pc:sldMk cId="4274712899" sldId="260"/>
        </pc:sldMkLst>
      </pc:sldChg>
      <pc:sldChg chg="add ord">
        <pc:chgData name="Becca Levin" userId="08c76d0b-4d1f-44f5-8508-8653b2f54768" providerId="ADAL" clId="{5AA3B8CE-AFEA-44FA-ACCD-448CA31DFD0A}" dt="2026-04-08T15:25:08.380" v="49"/>
        <pc:sldMkLst>
          <pc:docMk/>
          <pc:sldMk cId="1356994039" sldId="271"/>
        </pc:sldMkLst>
      </pc:sldChg>
      <pc:sldChg chg="add del">
        <pc:chgData name="Becca Levin" userId="08c76d0b-4d1f-44f5-8508-8653b2f54768" providerId="ADAL" clId="{5AA3B8CE-AFEA-44FA-ACCD-448CA31DFD0A}" dt="2026-04-07T17:04:57.706" v="42" actId="47"/>
        <pc:sldMkLst>
          <pc:docMk/>
          <pc:sldMk cId="2407046770" sldId="299"/>
        </pc:sldMkLst>
      </pc:sldChg>
      <pc:sldChg chg="add">
        <pc:chgData name="Becca Levin" userId="08c76d0b-4d1f-44f5-8508-8653b2f54768" providerId="ADAL" clId="{5AA3B8CE-AFEA-44FA-ACCD-448CA31DFD0A}" dt="2026-04-07T17:02:42.027" v="38"/>
        <pc:sldMkLst>
          <pc:docMk/>
          <pc:sldMk cId="1094212508" sldId="300"/>
        </pc:sldMkLst>
      </pc:sldChg>
      <pc:sldChg chg="add del">
        <pc:chgData name="Becca Levin" userId="08c76d0b-4d1f-44f5-8508-8653b2f54768" providerId="ADAL" clId="{5AA3B8CE-AFEA-44FA-ACCD-448CA31DFD0A}" dt="2026-04-07T17:01:45.808" v="37" actId="47"/>
        <pc:sldMkLst>
          <pc:docMk/>
          <pc:sldMk cId="3441221382" sldId="300"/>
        </pc:sldMkLst>
      </pc:sldChg>
      <pc:sldChg chg="add del">
        <pc:chgData name="Becca Levin" userId="08c76d0b-4d1f-44f5-8508-8653b2f54768" providerId="ADAL" clId="{5AA3B8CE-AFEA-44FA-ACCD-448CA31DFD0A}" dt="2026-04-07T17:00:44.608" v="4" actId="47"/>
        <pc:sldMkLst>
          <pc:docMk/>
          <pc:sldMk cId="1967431256" sldId="483"/>
        </pc:sldMkLst>
      </pc:sldChg>
      <pc:sldChg chg="add ord">
        <pc:chgData name="Becca Levin" userId="08c76d0b-4d1f-44f5-8508-8653b2f54768" providerId="ADAL" clId="{5AA3B8CE-AFEA-44FA-ACCD-448CA31DFD0A}" dt="2026-04-07T17:00:43.173" v="3"/>
        <pc:sldMkLst>
          <pc:docMk/>
          <pc:sldMk cId="2825928879" sldId="530"/>
        </pc:sldMkLst>
      </pc:sldChg>
      <pc:sldChg chg="modSp add mod modCm">
        <pc:chgData name="Becca Levin" userId="08c76d0b-4d1f-44f5-8508-8653b2f54768" providerId="ADAL" clId="{5AA3B8CE-AFEA-44FA-ACCD-448CA31DFD0A}" dt="2026-04-08T18:32:17.965" v="668" actId="20577"/>
        <pc:sldMkLst>
          <pc:docMk/>
          <pc:sldMk cId="2713296703" sldId="531"/>
        </pc:sldMkLst>
        <pc:spChg chg="mod">
          <ac:chgData name="Becca Levin" userId="08c76d0b-4d1f-44f5-8508-8653b2f54768" providerId="ADAL" clId="{5AA3B8CE-AFEA-44FA-ACCD-448CA31DFD0A}" dt="2026-04-08T18:32:17.965" v="668" actId="20577"/>
          <ac:spMkLst>
            <pc:docMk/>
            <pc:sldMk cId="2713296703" sldId="531"/>
            <ac:spMk id="26" creationId="{ADDC503F-63B0-2DC7-5DC4-4885057A2D09}"/>
          </ac:spMkLst>
        </pc:spChg>
        <pc:extLst>
          <p:ext xmlns:p="http://schemas.openxmlformats.org/presentationml/2006/main" uri="{D6D511B9-2390-475A-947B-AFAB55BFBCF1}">
            <pc226:cmChg xmlns:pc226="http://schemas.microsoft.com/office/powerpoint/2022/06/main/command" chg="mod">
              <pc226:chgData name="Becca Levin" userId="08c76d0b-4d1f-44f5-8508-8653b2f54768" providerId="ADAL" clId="{5AA3B8CE-AFEA-44FA-ACCD-448CA31DFD0A}" dt="2026-04-08T18:32:17.965" v="668" actId="20577"/>
              <pc2:cmMkLst xmlns:pc2="http://schemas.microsoft.com/office/powerpoint/2019/9/main/command">
                <pc:docMk/>
                <pc:sldMk cId="2713296703" sldId="531"/>
                <pc2:cmMk id="{90F56D66-44E3-472D-A385-F36138BDF79A}"/>
              </pc2:cmMkLst>
            </pc226:cmChg>
          </p:ext>
        </pc:extLst>
      </pc:sldChg>
      <pc:sldChg chg="add">
        <pc:chgData name="Becca Levin" userId="08c76d0b-4d1f-44f5-8508-8653b2f54768" providerId="ADAL" clId="{5AA3B8CE-AFEA-44FA-ACCD-448CA31DFD0A}" dt="2026-04-07T17:00:39.724" v="1"/>
        <pc:sldMkLst>
          <pc:docMk/>
          <pc:sldMk cId="2211317781" sldId="532"/>
        </pc:sldMkLst>
      </pc:sldChg>
      <pc:sldChg chg="addSp delSp modSp add mod">
        <pc:chgData name="Becca Levin" userId="08c76d0b-4d1f-44f5-8508-8653b2f54768" providerId="ADAL" clId="{5AA3B8CE-AFEA-44FA-ACCD-448CA31DFD0A}" dt="2026-04-08T15:40:30.972" v="522" actId="1076"/>
        <pc:sldMkLst>
          <pc:docMk/>
          <pc:sldMk cId="3226027670" sldId="533"/>
        </pc:sldMkLst>
        <pc:spChg chg="mod">
          <ac:chgData name="Becca Levin" userId="08c76d0b-4d1f-44f5-8508-8653b2f54768" providerId="ADAL" clId="{5AA3B8CE-AFEA-44FA-ACCD-448CA31DFD0A}" dt="2026-04-08T15:40:16.852" v="515"/>
          <ac:spMkLst>
            <pc:docMk/>
            <pc:sldMk cId="3226027670" sldId="533"/>
            <ac:spMk id="18" creationId="{A17210A9-8D0B-EA62-B629-23BA0E923482}"/>
          </ac:spMkLst>
        </pc:spChg>
        <pc:picChg chg="add mod">
          <ac:chgData name="Becca Levin" userId="08c76d0b-4d1f-44f5-8508-8653b2f54768" providerId="ADAL" clId="{5AA3B8CE-AFEA-44FA-ACCD-448CA31DFD0A}" dt="2026-04-08T15:40:30.972" v="522" actId="1076"/>
          <ac:picMkLst>
            <pc:docMk/>
            <pc:sldMk cId="3226027670" sldId="533"/>
            <ac:picMk id="19" creationId="{1142C368-F798-BBB9-9AC7-9B727A454816}"/>
          </ac:picMkLst>
        </pc:picChg>
        <pc:picChg chg="add mod">
          <ac:chgData name="Becca Levin" userId="08c76d0b-4d1f-44f5-8508-8653b2f54768" providerId="ADAL" clId="{5AA3B8CE-AFEA-44FA-ACCD-448CA31DFD0A}" dt="2026-04-08T15:40:29.237" v="521" actId="1076"/>
          <ac:picMkLst>
            <pc:docMk/>
            <pc:sldMk cId="3226027670" sldId="533"/>
            <ac:picMk id="2050" creationId="{03BD32CD-407C-F455-9A17-F8C9E9CA1F0C}"/>
          </ac:picMkLst>
        </pc:picChg>
        <pc:picChg chg="del">
          <ac:chgData name="Becca Levin" userId="08c76d0b-4d1f-44f5-8508-8653b2f54768" providerId="ADAL" clId="{5AA3B8CE-AFEA-44FA-ACCD-448CA31DFD0A}" dt="2026-04-08T15:39:44.289" v="507" actId="478"/>
          <ac:picMkLst>
            <pc:docMk/>
            <pc:sldMk cId="3226027670" sldId="533"/>
            <ac:picMk id="11268" creationId="{A9875ED0-B005-1D20-7EF1-85931D7F1DC9}"/>
          </ac:picMkLst>
        </pc:picChg>
      </pc:sldChg>
      <pc:sldChg chg="add">
        <pc:chgData name="Becca Levin" userId="08c76d0b-4d1f-44f5-8508-8653b2f54768" providerId="ADAL" clId="{5AA3B8CE-AFEA-44FA-ACCD-448CA31DFD0A}" dt="2026-04-07T17:00:39.724" v="1"/>
        <pc:sldMkLst>
          <pc:docMk/>
          <pc:sldMk cId="394034757" sldId="534"/>
        </pc:sldMkLst>
      </pc:sldChg>
      <pc:sldChg chg="add">
        <pc:chgData name="Becca Levin" userId="08c76d0b-4d1f-44f5-8508-8653b2f54768" providerId="ADAL" clId="{5AA3B8CE-AFEA-44FA-ACCD-448CA31DFD0A}" dt="2026-04-07T17:00:39.724" v="1"/>
        <pc:sldMkLst>
          <pc:docMk/>
          <pc:sldMk cId="4112322013" sldId="535"/>
        </pc:sldMkLst>
      </pc:sldChg>
      <pc:sldChg chg="add">
        <pc:chgData name="Becca Levin" userId="08c76d0b-4d1f-44f5-8508-8653b2f54768" providerId="ADAL" clId="{5AA3B8CE-AFEA-44FA-ACCD-448CA31DFD0A}" dt="2026-04-07T17:00:39.724" v="1"/>
        <pc:sldMkLst>
          <pc:docMk/>
          <pc:sldMk cId="56262192" sldId="536"/>
        </pc:sldMkLst>
      </pc:sldChg>
      <pc:sldChg chg="add">
        <pc:chgData name="Becca Levin" userId="08c76d0b-4d1f-44f5-8508-8653b2f54768" providerId="ADAL" clId="{5AA3B8CE-AFEA-44FA-ACCD-448CA31DFD0A}" dt="2026-04-07T17:00:39.724" v="1"/>
        <pc:sldMkLst>
          <pc:docMk/>
          <pc:sldMk cId="4064160034" sldId="537"/>
        </pc:sldMkLst>
      </pc:sldChg>
      <pc:sldChg chg="addSp delSp modSp add">
        <pc:chgData name="Becca Levin" userId="08c76d0b-4d1f-44f5-8508-8653b2f54768" providerId="ADAL" clId="{5AA3B8CE-AFEA-44FA-ACCD-448CA31DFD0A}" dt="2026-04-08T15:42:53.982" v="529" actId="14100"/>
        <pc:sldMkLst>
          <pc:docMk/>
          <pc:sldMk cId="2027141001" sldId="578"/>
        </pc:sldMkLst>
        <pc:picChg chg="add mod">
          <ac:chgData name="Becca Levin" userId="08c76d0b-4d1f-44f5-8508-8653b2f54768" providerId="ADAL" clId="{5AA3B8CE-AFEA-44FA-ACCD-448CA31DFD0A}" dt="2026-04-08T15:42:53.982" v="529" actId="14100"/>
          <ac:picMkLst>
            <pc:docMk/>
            <pc:sldMk cId="2027141001" sldId="578"/>
            <ac:picMk id="5" creationId="{9673DEF8-E30D-81FA-8C97-D164DFA816D9}"/>
          </ac:picMkLst>
        </pc:picChg>
        <pc:picChg chg="del">
          <ac:chgData name="Becca Levin" userId="08c76d0b-4d1f-44f5-8508-8653b2f54768" providerId="ADAL" clId="{5AA3B8CE-AFEA-44FA-ACCD-448CA31DFD0A}" dt="2026-04-08T15:40:35.296" v="523" actId="478"/>
          <ac:picMkLst>
            <pc:docMk/>
            <pc:sldMk cId="2027141001" sldId="578"/>
            <ac:picMk id="42" creationId="{082DBC8D-D808-398B-A53B-0DBE32341EA4}"/>
          </ac:picMkLst>
        </pc:picChg>
      </pc:sldChg>
      <pc:sldChg chg="addSp modSp new mod ord">
        <pc:chgData name="Becca Levin" userId="08c76d0b-4d1f-44f5-8508-8653b2f54768" providerId="ADAL" clId="{5AA3B8CE-AFEA-44FA-ACCD-448CA31DFD0A}" dt="2026-04-08T15:39:12.108" v="506" actId="20577"/>
        <pc:sldMkLst>
          <pc:docMk/>
          <pc:sldMk cId="964045116" sldId="579"/>
        </pc:sldMkLst>
        <pc:spChg chg="add mod">
          <ac:chgData name="Becca Levin" userId="08c76d0b-4d1f-44f5-8508-8653b2f54768" providerId="ADAL" clId="{5AA3B8CE-AFEA-44FA-ACCD-448CA31DFD0A}" dt="2026-04-08T15:39:12.108" v="506" actId="20577"/>
          <ac:spMkLst>
            <pc:docMk/>
            <pc:sldMk cId="964045116" sldId="579"/>
            <ac:spMk id="2" creationId="{7C61AF9E-F0F5-74D4-4DB2-3458B94FFF5B}"/>
          </ac:spMkLst>
        </pc:spChg>
        <pc:spChg chg="add mod">
          <ac:chgData name="Becca Levin" userId="08c76d0b-4d1f-44f5-8508-8653b2f54768" providerId="ADAL" clId="{5AA3B8CE-AFEA-44FA-ACCD-448CA31DFD0A}" dt="2026-04-08T15:29:02.763" v="231"/>
          <ac:spMkLst>
            <pc:docMk/>
            <pc:sldMk cId="964045116" sldId="579"/>
            <ac:spMk id="3" creationId="{F02ED38D-3CC4-6EAD-5C72-FD16AADE0F57}"/>
          </ac:spMkLst>
        </pc:spChg>
        <pc:spChg chg="add mod">
          <ac:chgData name="Becca Levin" userId="08c76d0b-4d1f-44f5-8508-8653b2f54768" providerId="ADAL" clId="{5AA3B8CE-AFEA-44FA-ACCD-448CA31DFD0A}" dt="2026-04-08T15:29:02.763" v="231"/>
          <ac:spMkLst>
            <pc:docMk/>
            <pc:sldMk cId="964045116" sldId="579"/>
            <ac:spMk id="4" creationId="{54AAD1FB-7EB7-0E9B-DA7E-EE75A1F167B7}"/>
          </ac:spMkLst>
        </pc:spChg>
        <pc:spChg chg="add mod">
          <ac:chgData name="Becca Levin" userId="08c76d0b-4d1f-44f5-8508-8653b2f54768" providerId="ADAL" clId="{5AA3B8CE-AFEA-44FA-ACCD-448CA31DFD0A}" dt="2026-04-08T15:29:02.763" v="231"/>
          <ac:spMkLst>
            <pc:docMk/>
            <pc:sldMk cId="964045116" sldId="579"/>
            <ac:spMk id="15" creationId="{FFF66AE6-23CF-AD7F-6A23-6014C3E25D9F}"/>
          </ac:spMkLst>
        </pc:spChg>
        <pc:spChg chg="add mod">
          <ac:chgData name="Becca Levin" userId="08c76d0b-4d1f-44f5-8508-8653b2f54768" providerId="ADAL" clId="{5AA3B8CE-AFEA-44FA-ACCD-448CA31DFD0A}" dt="2026-04-08T15:29:02.763" v="231"/>
          <ac:spMkLst>
            <pc:docMk/>
            <pc:sldMk cId="964045116" sldId="579"/>
            <ac:spMk id="16" creationId="{405E7E60-9AC8-584F-59CA-34325E0BAEE6}"/>
          </ac:spMkLst>
        </pc:spChg>
        <pc:spChg chg="add mod">
          <ac:chgData name="Becca Levin" userId="08c76d0b-4d1f-44f5-8508-8653b2f54768" providerId="ADAL" clId="{5AA3B8CE-AFEA-44FA-ACCD-448CA31DFD0A}" dt="2026-04-08T15:29:44.408" v="337" actId="20577"/>
          <ac:spMkLst>
            <pc:docMk/>
            <pc:sldMk cId="964045116" sldId="579"/>
            <ac:spMk id="17" creationId="{77DAE04B-14BD-8EDA-5A7E-65A7B11631F4}"/>
          </ac:spMkLst>
        </pc:spChg>
        <pc:spChg chg="add mod">
          <ac:chgData name="Becca Levin" userId="08c76d0b-4d1f-44f5-8508-8653b2f54768" providerId="ADAL" clId="{5AA3B8CE-AFEA-44FA-ACCD-448CA31DFD0A}" dt="2026-04-08T15:29:27.748" v="268"/>
          <ac:spMkLst>
            <pc:docMk/>
            <pc:sldMk cId="964045116" sldId="579"/>
            <ac:spMk id="18" creationId="{268AD0FE-ED8C-1CB8-E2EE-FC9077B20FCE}"/>
          </ac:spMkLst>
        </pc:spChg>
        <pc:spChg chg="add mod">
          <ac:chgData name="Becca Levin" userId="08c76d0b-4d1f-44f5-8508-8653b2f54768" providerId="ADAL" clId="{5AA3B8CE-AFEA-44FA-ACCD-448CA31DFD0A}" dt="2026-04-08T15:36:01.296" v="479" actId="20577"/>
          <ac:spMkLst>
            <pc:docMk/>
            <pc:sldMk cId="964045116" sldId="579"/>
            <ac:spMk id="22" creationId="{0532FD34-6267-EDCD-7AAE-162BCE9C4F75}"/>
          </ac:spMkLst>
        </pc:spChg>
        <pc:spChg chg="add mod">
          <ac:chgData name="Becca Levin" userId="08c76d0b-4d1f-44f5-8508-8653b2f54768" providerId="ADAL" clId="{5AA3B8CE-AFEA-44FA-ACCD-448CA31DFD0A}" dt="2026-04-08T15:36:19.044" v="500" actId="1076"/>
          <ac:spMkLst>
            <pc:docMk/>
            <pc:sldMk cId="964045116" sldId="579"/>
            <ac:spMk id="23" creationId="{C6A45206-D489-07A9-ACF5-F4DFE57C91EA}"/>
          </ac:spMkLst>
        </pc:spChg>
        <pc:grpChg chg="add mod">
          <ac:chgData name="Becca Levin" userId="08c76d0b-4d1f-44f5-8508-8653b2f54768" providerId="ADAL" clId="{5AA3B8CE-AFEA-44FA-ACCD-448CA31DFD0A}" dt="2026-04-08T15:35:19.108" v="362" actId="1076"/>
          <ac:grpSpMkLst>
            <pc:docMk/>
            <pc:sldMk cId="964045116" sldId="579"/>
            <ac:grpSpMk id="21" creationId="{2933235E-52C6-D918-8D7E-56C452035C13}"/>
          </ac:grpSpMkLst>
        </pc:grpChg>
        <pc:picChg chg="add mod">
          <ac:chgData name="Becca Levin" userId="08c76d0b-4d1f-44f5-8508-8653b2f54768" providerId="ADAL" clId="{5AA3B8CE-AFEA-44FA-ACCD-448CA31DFD0A}" dt="2026-04-08T15:29:02.763" v="231"/>
          <ac:picMkLst>
            <pc:docMk/>
            <pc:sldMk cId="964045116" sldId="579"/>
            <ac:picMk id="5" creationId="{70E449D7-9C1D-253E-5BA4-58C44541F9EF}"/>
          </ac:picMkLst>
        </pc:picChg>
        <pc:picChg chg="add mod">
          <ac:chgData name="Becca Levin" userId="08c76d0b-4d1f-44f5-8508-8653b2f54768" providerId="ADAL" clId="{5AA3B8CE-AFEA-44FA-ACCD-448CA31DFD0A}" dt="2026-04-08T15:29:02.763" v="231"/>
          <ac:picMkLst>
            <pc:docMk/>
            <pc:sldMk cId="964045116" sldId="579"/>
            <ac:picMk id="6" creationId="{C60E153F-A533-CB9B-6AEA-172E7E91C0DA}"/>
          </ac:picMkLst>
        </pc:picChg>
        <pc:picChg chg="add mod">
          <ac:chgData name="Becca Levin" userId="08c76d0b-4d1f-44f5-8508-8653b2f54768" providerId="ADAL" clId="{5AA3B8CE-AFEA-44FA-ACCD-448CA31DFD0A}" dt="2026-04-08T15:29:02.763" v="231"/>
          <ac:picMkLst>
            <pc:docMk/>
            <pc:sldMk cId="964045116" sldId="579"/>
            <ac:picMk id="7" creationId="{6C77FE19-E03C-72D0-69A9-7FE4B45EB57A}"/>
          </ac:picMkLst>
        </pc:picChg>
        <pc:picChg chg="add mod">
          <ac:chgData name="Becca Levin" userId="08c76d0b-4d1f-44f5-8508-8653b2f54768" providerId="ADAL" clId="{5AA3B8CE-AFEA-44FA-ACCD-448CA31DFD0A}" dt="2026-04-08T15:29:02.763" v="231"/>
          <ac:picMkLst>
            <pc:docMk/>
            <pc:sldMk cId="964045116" sldId="579"/>
            <ac:picMk id="8" creationId="{031322E6-D6DF-05C6-0110-C0217B66D732}"/>
          </ac:picMkLst>
        </pc:picChg>
        <pc:picChg chg="add mod">
          <ac:chgData name="Becca Levin" userId="08c76d0b-4d1f-44f5-8508-8653b2f54768" providerId="ADAL" clId="{5AA3B8CE-AFEA-44FA-ACCD-448CA31DFD0A}" dt="2026-04-08T15:29:02.763" v="231"/>
          <ac:picMkLst>
            <pc:docMk/>
            <pc:sldMk cId="964045116" sldId="579"/>
            <ac:picMk id="11" creationId="{30CAE7EA-B12A-5FA7-1889-EF34591382AF}"/>
          </ac:picMkLst>
        </pc:picChg>
        <pc:picChg chg="add mod">
          <ac:chgData name="Becca Levin" userId="08c76d0b-4d1f-44f5-8508-8653b2f54768" providerId="ADAL" clId="{5AA3B8CE-AFEA-44FA-ACCD-448CA31DFD0A}" dt="2026-04-08T15:29:02.763" v="231"/>
          <ac:picMkLst>
            <pc:docMk/>
            <pc:sldMk cId="964045116" sldId="579"/>
            <ac:picMk id="13" creationId="{2CE56D86-9BA8-9F4A-B9A1-4B195CA218C4}"/>
          </ac:picMkLst>
        </pc:picChg>
        <pc:picChg chg="add mod">
          <ac:chgData name="Becca Levin" userId="08c76d0b-4d1f-44f5-8508-8653b2f54768" providerId="ADAL" clId="{5AA3B8CE-AFEA-44FA-ACCD-448CA31DFD0A}" dt="2026-04-08T15:35:04.608" v="352" actId="164"/>
          <ac:picMkLst>
            <pc:docMk/>
            <pc:sldMk cId="964045116" sldId="579"/>
            <ac:picMk id="19" creationId="{BAF9BE86-D29B-DD15-07A1-F6A4EFD86D93}"/>
          </ac:picMkLst>
        </pc:picChg>
        <pc:picChg chg="add mod">
          <ac:chgData name="Becca Levin" userId="08c76d0b-4d1f-44f5-8508-8653b2f54768" providerId="ADAL" clId="{5AA3B8CE-AFEA-44FA-ACCD-448CA31DFD0A}" dt="2026-04-08T15:35:04.608" v="352" actId="164"/>
          <ac:picMkLst>
            <pc:docMk/>
            <pc:sldMk cId="964045116" sldId="579"/>
            <ac:picMk id="20" creationId="{F1BA3D25-BEED-F464-9E88-D7547428A4A5}"/>
          </ac:picMkLst>
        </pc:picChg>
        <pc:picChg chg="add mod">
          <ac:chgData name="Becca Levin" userId="08c76d0b-4d1f-44f5-8508-8653b2f54768" providerId="ADAL" clId="{5AA3B8CE-AFEA-44FA-ACCD-448CA31DFD0A}" dt="2026-04-08T15:36:35.972" v="502" actId="1076"/>
          <ac:picMkLst>
            <pc:docMk/>
            <pc:sldMk cId="964045116" sldId="579"/>
            <ac:picMk id="1026" creationId="{3F5FB997-BB11-B08B-3291-3D226DE4EB7B}"/>
          </ac:picMkLst>
        </pc:picChg>
      </pc:sldChg>
      <pc:sldChg chg="modSp add del mod">
        <pc:chgData name="Becca Levin" userId="08c76d0b-4d1f-44f5-8508-8653b2f54768" providerId="ADAL" clId="{5AA3B8CE-AFEA-44FA-ACCD-448CA31DFD0A}" dt="2026-04-07T17:05:31.845" v="47" actId="47"/>
        <pc:sldMkLst>
          <pc:docMk/>
          <pc:sldMk cId="2018140112" sldId="579"/>
        </pc:sldMkLst>
        <pc:spChg chg="mod">
          <ac:chgData name="Becca Levin" userId="08c76d0b-4d1f-44f5-8508-8653b2f54768" providerId="ADAL" clId="{5AA3B8CE-AFEA-44FA-ACCD-448CA31DFD0A}" dt="2026-04-07T17:01:23.148" v="35" actId="20577"/>
          <ac:spMkLst>
            <pc:docMk/>
            <pc:sldMk cId="2018140112" sldId="579"/>
            <ac:spMk id="2" creationId="{7ABDF943-8B74-D9C3-D4A9-C09FBFEC017C}"/>
          </ac:spMkLst>
        </pc:spChg>
      </pc:sldChg>
      <pc:sldChg chg="addSp modSp new add del mod ord">
        <pc:chgData name="Becca Levin" userId="08c76d0b-4d1f-44f5-8508-8653b2f54768" providerId="ADAL" clId="{5AA3B8CE-AFEA-44FA-ACCD-448CA31DFD0A}" dt="2026-04-08T18:30:56.489" v="532" actId="47"/>
        <pc:sldMkLst>
          <pc:docMk/>
          <pc:sldMk cId="1214163207" sldId="580"/>
        </pc:sldMkLst>
        <pc:spChg chg="add mod">
          <ac:chgData name="Becca Levin" userId="08c76d0b-4d1f-44f5-8508-8653b2f54768" providerId="ADAL" clId="{5AA3B8CE-AFEA-44FA-ACCD-448CA31DFD0A}" dt="2026-04-08T15:43:16.713" v="531" actId="20577"/>
          <ac:spMkLst>
            <pc:docMk/>
            <pc:sldMk cId="1214163207" sldId="580"/>
            <ac:spMk id="4" creationId="{4332A508-7C7F-9C82-D647-9C4283E3A4FC}"/>
          </ac:spMkLst>
        </pc:spChg>
        <pc:spChg chg="add mod">
          <ac:chgData name="Becca Levin" userId="08c76d0b-4d1f-44f5-8508-8653b2f54768" providerId="ADAL" clId="{5AA3B8CE-AFEA-44FA-ACCD-448CA31DFD0A}" dt="2026-04-08T15:28:51.528" v="229" actId="20577"/>
          <ac:spMkLst>
            <pc:docMk/>
            <pc:sldMk cId="1214163207" sldId="580"/>
            <ac:spMk id="5" creationId="{E645ED49-BFBD-81BB-D0C8-85F85FAE9125}"/>
          </ac:spMkLst>
        </pc:spChg>
        <pc:spChg chg="add mod">
          <ac:chgData name="Becca Levin" userId="08c76d0b-4d1f-44f5-8508-8653b2f54768" providerId="ADAL" clId="{5AA3B8CE-AFEA-44FA-ACCD-448CA31DFD0A}" dt="2026-04-08T15:28:14.160" v="115"/>
          <ac:spMkLst>
            <pc:docMk/>
            <pc:sldMk cId="1214163207" sldId="580"/>
            <ac:spMk id="6" creationId="{72077ACB-F777-0DE8-214E-C28411778B38}"/>
          </ac:spMkLst>
        </pc:spChg>
        <pc:spChg chg="add mod">
          <ac:chgData name="Becca Levin" userId="08c76d0b-4d1f-44f5-8508-8653b2f54768" providerId="ADAL" clId="{5AA3B8CE-AFEA-44FA-ACCD-448CA31DFD0A}" dt="2026-04-08T15:29:01.794" v="230"/>
          <ac:spMkLst>
            <pc:docMk/>
            <pc:sldMk cId="1214163207" sldId="580"/>
            <ac:spMk id="7" creationId="{515983EB-BA0F-F7FB-AE28-B07CE990195B}"/>
          </ac:spMkLst>
        </pc:spChg>
        <pc:spChg chg="add mod">
          <ac:chgData name="Becca Levin" userId="08c76d0b-4d1f-44f5-8508-8653b2f54768" providerId="ADAL" clId="{5AA3B8CE-AFEA-44FA-ACCD-448CA31DFD0A}" dt="2026-04-08T15:29:01.794" v="230"/>
          <ac:spMkLst>
            <pc:docMk/>
            <pc:sldMk cId="1214163207" sldId="580"/>
            <ac:spMk id="8" creationId="{6666B418-828D-E9F1-2861-430D77E787A5}"/>
          </ac:spMkLst>
        </pc:spChg>
        <pc:spChg chg="add mod">
          <ac:chgData name="Becca Levin" userId="08c76d0b-4d1f-44f5-8508-8653b2f54768" providerId="ADAL" clId="{5AA3B8CE-AFEA-44FA-ACCD-448CA31DFD0A}" dt="2026-04-08T15:29:01.794" v="230"/>
          <ac:spMkLst>
            <pc:docMk/>
            <pc:sldMk cId="1214163207" sldId="580"/>
            <ac:spMk id="19" creationId="{256C6AC9-1A4D-6FD2-B188-F71922B1F628}"/>
          </ac:spMkLst>
        </pc:spChg>
        <pc:spChg chg="add mod">
          <ac:chgData name="Becca Levin" userId="08c76d0b-4d1f-44f5-8508-8653b2f54768" providerId="ADAL" clId="{5AA3B8CE-AFEA-44FA-ACCD-448CA31DFD0A}" dt="2026-04-08T15:29:01.794" v="230"/>
          <ac:spMkLst>
            <pc:docMk/>
            <pc:sldMk cId="1214163207" sldId="580"/>
            <ac:spMk id="20" creationId="{7B0B57BA-C84A-8103-AAEC-BD23734F15A5}"/>
          </ac:spMkLst>
        </pc:spChg>
        <pc:spChg chg="add mod">
          <ac:chgData name="Becca Levin" userId="08c76d0b-4d1f-44f5-8508-8653b2f54768" providerId="ADAL" clId="{5AA3B8CE-AFEA-44FA-ACCD-448CA31DFD0A}" dt="2026-04-08T15:29:18.352" v="267" actId="20577"/>
          <ac:spMkLst>
            <pc:docMk/>
            <pc:sldMk cId="1214163207" sldId="580"/>
            <ac:spMk id="21" creationId="{B6AF96B5-F507-A378-2F2D-8D9FD8A53924}"/>
          </ac:spMkLst>
        </pc:spChg>
        <pc:picChg chg="add mod">
          <ac:chgData name="Becca Levin" userId="08c76d0b-4d1f-44f5-8508-8653b2f54768" providerId="ADAL" clId="{5AA3B8CE-AFEA-44FA-ACCD-448CA31DFD0A}" dt="2026-04-08T15:29:09.358" v="233" actId="1076"/>
          <ac:picMkLst>
            <pc:docMk/>
            <pc:sldMk cId="1214163207" sldId="580"/>
            <ac:picMk id="3" creationId="{3B9A9246-9E3E-918A-8A87-BA7F41373D94}"/>
          </ac:picMkLst>
        </pc:picChg>
        <pc:picChg chg="add mod">
          <ac:chgData name="Becca Levin" userId="08c76d0b-4d1f-44f5-8508-8653b2f54768" providerId="ADAL" clId="{5AA3B8CE-AFEA-44FA-ACCD-448CA31DFD0A}" dt="2026-04-08T15:29:01.794" v="230"/>
          <ac:picMkLst>
            <pc:docMk/>
            <pc:sldMk cId="1214163207" sldId="580"/>
            <ac:picMk id="9" creationId="{BDF5EAF2-83D1-0C81-4436-0C4BEDEE2B11}"/>
          </ac:picMkLst>
        </pc:picChg>
        <pc:picChg chg="add mod">
          <ac:chgData name="Becca Levin" userId="08c76d0b-4d1f-44f5-8508-8653b2f54768" providerId="ADAL" clId="{5AA3B8CE-AFEA-44FA-ACCD-448CA31DFD0A}" dt="2026-04-08T15:29:01.794" v="230"/>
          <ac:picMkLst>
            <pc:docMk/>
            <pc:sldMk cId="1214163207" sldId="580"/>
            <ac:picMk id="11" creationId="{3C832ED8-911D-2F09-A297-B44CB092A97B}"/>
          </ac:picMkLst>
        </pc:picChg>
        <pc:picChg chg="add mod">
          <ac:chgData name="Becca Levin" userId="08c76d0b-4d1f-44f5-8508-8653b2f54768" providerId="ADAL" clId="{5AA3B8CE-AFEA-44FA-ACCD-448CA31DFD0A}" dt="2026-04-08T15:29:01.794" v="230"/>
          <ac:picMkLst>
            <pc:docMk/>
            <pc:sldMk cId="1214163207" sldId="580"/>
            <ac:picMk id="12" creationId="{DF4E8888-ED78-5A32-4D9E-731B5D85C541}"/>
          </ac:picMkLst>
        </pc:picChg>
        <pc:picChg chg="add mod">
          <ac:chgData name="Becca Levin" userId="08c76d0b-4d1f-44f5-8508-8653b2f54768" providerId="ADAL" clId="{5AA3B8CE-AFEA-44FA-ACCD-448CA31DFD0A}" dt="2026-04-08T15:29:01.794" v="230"/>
          <ac:picMkLst>
            <pc:docMk/>
            <pc:sldMk cId="1214163207" sldId="580"/>
            <ac:picMk id="13" creationId="{757F6708-3C0D-702C-5506-14D53BB2875A}"/>
          </ac:picMkLst>
        </pc:picChg>
        <pc:picChg chg="add mod">
          <ac:chgData name="Becca Levin" userId="08c76d0b-4d1f-44f5-8508-8653b2f54768" providerId="ADAL" clId="{5AA3B8CE-AFEA-44FA-ACCD-448CA31DFD0A}" dt="2026-04-08T15:29:01.794" v="230"/>
          <ac:picMkLst>
            <pc:docMk/>
            <pc:sldMk cId="1214163207" sldId="580"/>
            <ac:picMk id="15" creationId="{0F8AA7D2-2F03-65FB-965C-403B9066EB68}"/>
          </ac:picMkLst>
        </pc:picChg>
        <pc:picChg chg="add mod">
          <ac:chgData name="Becca Levin" userId="08c76d0b-4d1f-44f5-8508-8653b2f54768" providerId="ADAL" clId="{5AA3B8CE-AFEA-44FA-ACCD-448CA31DFD0A}" dt="2026-04-08T15:29:01.794" v="230"/>
          <ac:picMkLst>
            <pc:docMk/>
            <pc:sldMk cId="1214163207" sldId="580"/>
            <ac:picMk id="18" creationId="{BBEBFF09-7932-7795-FC99-7602584B4D3D}"/>
          </ac:picMkLst>
        </pc:picChg>
      </pc:sldChg>
      <pc:sldChg chg="addSp delSp modSp new del mod">
        <pc:chgData name="Becca Levin" userId="08c76d0b-4d1f-44f5-8508-8653b2f54768" providerId="ADAL" clId="{5AA3B8CE-AFEA-44FA-ACCD-448CA31DFD0A}" dt="2026-04-08T15:36:20.828" v="501" actId="47"/>
        <pc:sldMkLst>
          <pc:docMk/>
          <pc:sldMk cId="2861173723" sldId="581"/>
        </pc:sldMkLst>
        <pc:picChg chg="add del mod">
          <ac:chgData name="Becca Levin" userId="08c76d0b-4d1f-44f5-8508-8653b2f54768" providerId="ADAL" clId="{5AA3B8CE-AFEA-44FA-ACCD-448CA31DFD0A}" dt="2026-04-08T15:34:27.903" v="344" actId="478"/>
          <ac:picMkLst>
            <pc:docMk/>
            <pc:sldMk cId="2861173723" sldId="581"/>
            <ac:picMk id="3" creationId="{B90FBEAB-D37C-A973-B721-BAC2B08C3242}"/>
          </ac:picMkLst>
        </pc:picChg>
        <pc:picChg chg="add">
          <ac:chgData name="Becca Levin" userId="08c76d0b-4d1f-44f5-8508-8653b2f54768" providerId="ADAL" clId="{5AA3B8CE-AFEA-44FA-ACCD-448CA31DFD0A}" dt="2026-04-08T15:34:28.321" v="345" actId="22"/>
          <ac:picMkLst>
            <pc:docMk/>
            <pc:sldMk cId="2861173723" sldId="581"/>
            <ac:picMk id="5" creationId="{192E844E-8605-42D7-215C-079D8448A70C}"/>
          </ac:picMkLst>
        </pc:picChg>
        <pc:picChg chg="add mod">
          <ac:chgData name="Becca Levin" userId="08c76d0b-4d1f-44f5-8508-8653b2f54768" providerId="ADAL" clId="{5AA3B8CE-AFEA-44FA-ACCD-448CA31DFD0A}" dt="2026-04-08T15:34:52.641" v="348" actId="1037"/>
          <ac:picMkLst>
            <pc:docMk/>
            <pc:sldMk cId="2861173723" sldId="581"/>
            <ac:picMk id="7" creationId="{8154D184-A43C-64E9-21BC-7C9E9ADDC796}"/>
          </ac:picMkLst>
        </pc:picChg>
      </pc:sldChg>
    </pc:docChg>
  </pc:docChgLst>
  <pc:docChgLst>
    <pc:chgData name="Edie Mitchell" userId="S::emitchell@segotx.com::049308e2-fe35-45a7-be98-5d15c4b5be47" providerId="AD" clId="Web-{192DE59A-91DE-189C-6E59-7D60F1F73C9B}"/>
    <pc:docChg chg="mod modSld">
      <pc:chgData name="Edie Mitchell" userId="S::emitchell@segotx.com::049308e2-fe35-45a7-be98-5d15c4b5be47" providerId="AD" clId="Web-{192DE59A-91DE-189C-6E59-7D60F1F73C9B}" dt="2026-04-08T17:02:52.012" v="17"/>
      <pc:docMkLst>
        <pc:docMk/>
      </pc:docMkLst>
      <pc:sldChg chg="modSp">
        <pc:chgData name="Edie Mitchell" userId="S::emitchell@segotx.com::049308e2-fe35-45a7-be98-5d15c4b5be47" providerId="AD" clId="Web-{192DE59A-91DE-189C-6E59-7D60F1F73C9B}" dt="2026-04-08T16:54:56.652" v="16" actId="20577"/>
        <pc:sldMkLst>
          <pc:docMk/>
          <pc:sldMk cId="2713296703" sldId="531"/>
        </pc:sldMkLst>
        <pc:spChg chg="mod">
          <ac:chgData name="Edie Mitchell" userId="S::emitchell@segotx.com::049308e2-fe35-45a7-be98-5d15c4b5be47" providerId="AD" clId="Web-{192DE59A-91DE-189C-6E59-7D60F1F73C9B}" dt="2026-04-08T16:54:56.652" v="16" actId="20577"/>
          <ac:spMkLst>
            <pc:docMk/>
            <pc:sldMk cId="2713296703" sldId="531"/>
            <ac:spMk id="26" creationId="{ADDC503F-63B0-2DC7-5DC4-4885057A2D09}"/>
          </ac:spMkLst>
        </pc:spChg>
      </pc:sldChg>
    </pc:docChg>
  </pc:docChgLst>
  <pc:docChgLst>
    <pc:chgData name="Greg Mullen" userId="S::gmullen@segotx.com::15d9f696-28c4-4111-b985-4ee728509f13" providerId="AD" clId="Web-{065DB336-E6D9-166F-2638-EC1B03563E59}"/>
    <pc:docChg chg="mod">
      <pc:chgData name="Greg Mullen" userId="S::gmullen@segotx.com::15d9f696-28c4-4111-b985-4ee728509f13" providerId="AD" clId="Web-{065DB336-E6D9-166F-2638-EC1B03563E59}" dt="2026-04-08T11:16:44.375"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E62A03-6538-44AA-8315-EA9602296B18}"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7DC930-9561-4722-B212-8292B41814FA}" type="slidenum">
              <a:rPr lang="en-US" smtClean="0"/>
              <a:t>‹#›</a:t>
            </a:fld>
            <a:endParaRPr lang="en-US"/>
          </a:p>
        </p:txBody>
      </p:sp>
    </p:spTree>
    <p:extLst>
      <p:ext uri="{BB962C8B-B14F-4D97-AF65-F5344CB8AC3E}">
        <p14:creationId xmlns:p14="http://schemas.microsoft.com/office/powerpoint/2010/main" val="323135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5662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93EC38-1E33-4A22-8A2A-5A6B4EED2BE8}" type="slidenum">
              <a:rPr lang="en-US" smtClean="0"/>
              <a:t>9</a:t>
            </a:fld>
            <a:endParaRPr lang="en-US"/>
          </a:p>
        </p:txBody>
      </p:sp>
    </p:spTree>
    <p:extLst>
      <p:ext uri="{BB962C8B-B14F-4D97-AF65-F5344CB8AC3E}">
        <p14:creationId xmlns:p14="http://schemas.microsoft.com/office/powerpoint/2010/main" val="1603821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221675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CDB6738-640A-285C-80F7-EBA40DE8F0C0}"/>
              </a:ext>
            </a:extLst>
          </p:cNvPr>
          <p:cNvSpPr/>
          <p:nvPr/>
        </p:nvSpPr>
        <p:spPr>
          <a:xfrm>
            <a:off x="-198582" y="-692727"/>
            <a:ext cx="12589164" cy="69365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51204C1-E901-AD77-DE7C-59D21226D74D}"/>
              </a:ext>
            </a:extLst>
          </p:cNvPr>
          <p:cNvSpPr>
            <a:spLocks noGrp="1"/>
          </p:cNvSpPr>
          <p:nvPr>
            <p:ph type="ctrTitle"/>
          </p:nvPr>
        </p:nvSpPr>
        <p:spPr>
          <a:xfrm>
            <a:off x="629515" y="1122363"/>
            <a:ext cx="10038485" cy="1870219"/>
          </a:xfrm>
        </p:spPr>
        <p:txBody>
          <a:bodyPr anchor="b">
            <a:norm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6926440-34FF-6B8F-F8AA-3CB4F6F9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C9C4D9-2245-6A45-3A6B-9AC657259F5F}"/>
              </a:ext>
            </a:extLst>
          </p:cNvPr>
          <p:cNvSpPr>
            <a:spLocks noGrp="1"/>
          </p:cNvSpPr>
          <p:nvPr>
            <p:ph type="dt" sz="half" idx="10"/>
          </p:nvPr>
        </p:nvSpPr>
        <p:spPr>
          <a:xfrm>
            <a:off x="838200" y="6356350"/>
            <a:ext cx="2743200" cy="365125"/>
          </a:xfrm>
          <a:prstGeom prst="rect">
            <a:avLst/>
          </a:prstGeom>
        </p:spPr>
        <p:txBody>
          <a:bodyPr anchor="ctr"/>
          <a:lstStyle>
            <a:lvl1pPr>
              <a:defRPr sz="1200">
                <a:solidFill>
                  <a:schemeClr val="tx1"/>
                </a:solidFill>
              </a:defRPr>
            </a:lvl1pPr>
          </a:lstStyle>
          <a:p>
            <a:fld id="{6E66945E-E29C-4A10-8917-9BE476573A98}" type="datetimeFigureOut">
              <a:rPr lang="en-US" smtClean="0"/>
              <a:t>4/8/2026</a:t>
            </a:fld>
            <a:endParaRPr lang="en-US"/>
          </a:p>
        </p:txBody>
      </p:sp>
      <p:sp>
        <p:nvSpPr>
          <p:cNvPr id="5" name="Footer Placeholder 4">
            <a:extLst>
              <a:ext uri="{FF2B5EF4-FFF2-40B4-BE49-F238E27FC236}">
                <a16:creationId xmlns:a16="http://schemas.microsoft.com/office/drawing/2014/main" id="{2EE75429-B4D5-78E5-BD9B-CC1E613A41C9}"/>
              </a:ext>
            </a:extLst>
          </p:cNvPr>
          <p:cNvSpPr>
            <a:spLocks noGrp="1"/>
          </p:cNvSpPr>
          <p:nvPr>
            <p:ph type="ftr" sz="quarter" idx="11"/>
          </p:nvPr>
        </p:nvSpPr>
        <p:spPr/>
        <p:txBody>
          <a:bodyPr anchor="ctr"/>
          <a:lstStyle>
            <a:lvl1pP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709ECA2-FE9B-B45C-BC7B-112303A0EFF0}"/>
              </a:ext>
            </a:extLst>
          </p:cNvPr>
          <p:cNvSpPr>
            <a:spLocks noGrp="1"/>
          </p:cNvSpPr>
          <p:nvPr>
            <p:ph type="sldNum" sz="quarter" idx="12"/>
          </p:nvPr>
        </p:nvSpPr>
        <p:spPr/>
        <p:txBody>
          <a:bodyPr anchor="ctr"/>
          <a:lstStyle>
            <a:lvl1pPr>
              <a:defRPr sz="1200">
                <a:solidFill>
                  <a:schemeClr val="tx1"/>
                </a:solidFill>
              </a:defRPr>
            </a:lvl1pPr>
          </a:lstStyle>
          <a:p>
            <a:fld id="{F4CFF174-0C8B-41F2-9A46-1C3276C99A0F}" type="slidenum">
              <a:rPr lang="en-US" smtClean="0"/>
              <a:t>‹#›</a:t>
            </a:fld>
            <a:endParaRPr lang="en-US"/>
          </a:p>
        </p:txBody>
      </p:sp>
      <p:sp>
        <p:nvSpPr>
          <p:cNvPr id="8" name="Shape 1">
            <a:extLst>
              <a:ext uri="{FF2B5EF4-FFF2-40B4-BE49-F238E27FC236}">
                <a16:creationId xmlns:a16="http://schemas.microsoft.com/office/drawing/2014/main" id="{736AE9BE-8563-C614-00B9-06D671AECD41}"/>
              </a:ext>
            </a:extLst>
          </p:cNvPr>
          <p:cNvSpPr/>
          <p:nvPr/>
        </p:nvSpPr>
        <p:spPr>
          <a:xfrm>
            <a:off x="457200" y="457200"/>
            <a:ext cx="871538" cy="300038"/>
          </a:xfrm>
          <a:prstGeom prst="rect">
            <a:avLst/>
          </a:prstGeom>
          <a:noFill/>
          <a:ln/>
        </p:spPr>
        <p:txBody>
          <a:bodyPr/>
          <a:lstStyle/>
          <a:p>
            <a:endParaRPr lang="en-US"/>
          </a:p>
        </p:txBody>
      </p:sp>
      <p:pic>
        <p:nvPicPr>
          <p:cNvPr id="9" name="Image 0" descr="preencoded.png">
            <a:extLst>
              <a:ext uri="{FF2B5EF4-FFF2-40B4-BE49-F238E27FC236}">
                <a16:creationId xmlns:a16="http://schemas.microsoft.com/office/drawing/2014/main" id="{52968D7F-126F-2166-45E4-5006D0BF4F4B}"/>
              </a:ext>
            </a:extLst>
          </p:cNvPr>
          <p:cNvPicPr>
            <a:picLocks noChangeAspect="1"/>
          </p:cNvPicPr>
          <p:nvPr/>
        </p:nvPicPr>
        <p:blipFill>
          <a:blip r:embed="rId2"/>
          <a:stretch>
            <a:fillRect/>
          </a:stretch>
        </p:blipFill>
        <p:spPr>
          <a:xfrm>
            <a:off x="525823" y="457200"/>
            <a:ext cx="154974" cy="188378"/>
          </a:xfrm>
          <a:prstGeom prst="rect">
            <a:avLst/>
          </a:prstGeom>
        </p:spPr>
      </p:pic>
      <p:pic>
        <p:nvPicPr>
          <p:cNvPr id="10" name="Image 1" descr="preencoded.png">
            <a:extLst>
              <a:ext uri="{FF2B5EF4-FFF2-40B4-BE49-F238E27FC236}">
                <a16:creationId xmlns:a16="http://schemas.microsoft.com/office/drawing/2014/main" id="{C4C8A8BD-F576-4C5F-081D-87C0BB3B6AFE}"/>
              </a:ext>
            </a:extLst>
          </p:cNvPr>
          <p:cNvPicPr>
            <a:picLocks noChangeAspect="1"/>
          </p:cNvPicPr>
          <p:nvPr/>
        </p:nvPicPr>
        <p:blipFill>
          <a:blip r:embed="rId3"/>
          <a:stretch>
            <a:fillRect/>
          </a:stretch>
        </p:blipFill>
        <p:spPr>
          <a:xfrm>
            <a:off x="588558" y="659529"/>
            <a:ext cx="959" cy="5"/>
          </a:xfrm>
          <a:prstGeom prst="rect">
            <a:avLst/>
          </a:prstGeom>
        </p:spPr>
      </p:pic>
      <p:pic>
        <p:nvPicPr>
          <p:cNvPr id="11" name="Image 2" descr="preencoded.png">
            <a:extLst>
              <a:ext uri="{FF2B5EF4-FFF2-40B4-BE49-F238E27FC236}">
                <a16:creationId xmlns:a16="http://schemas.microsoft.com/office/drawing/2014/main" id="{1E7B4B12-C9E4-E155-3993-625F6FB1E12B}"/>
              </a:ext>
            </a:extLst>
          </p:cNvPr>
          <p:cNvPicPr>
            <a:picLocks noChangeAspect="1"/>
          </p:cNvPicPr>
          <p:nvPr/>
        </p:nvPicPr>
        <p:blipFill>
          <a:blip r:embed="rId3"/>
          <a:stretch>
            <a:fillRect/>
          </a:stretch>
        </p:blipFill>
        <p:spPr>
          <a:xfrm>
            <a:off x="588274" y="659533"/>
            <a:ext cx="287" cy="5"/>
          </a:xfrm>
          <a:prstGeom prst="rect">
            <a:avLst/>
          </a:prstGeom>
        </p:spPr>
      </p:pic>
      <p:pic>
        <p:nvPicPr>
          <p:cNvPr id="12" name="Image 3" descr="preencoded.png">
            <a:extLst>
              <a:ext uri="{FF2B5EF4-FFF2-40B4-BE49-F238E27FC236}">
                <a16:creationId xmlns:a16="http://schemas.microsoft.com/office/drawing/2014/main" id="{B92E9DCB-F21C-04F7-5F55-34618D4762DB}"/>
              </a:ext>
            </a:extLst>
          </p:cNvPr>
          <p:cNvPicPr>
            <a:picLocks noChangeAspect="1"/>
          </p:cNvPicPr>
          <p:nvPr/>
        </p:nvPicPr>
        <p:blipFill>
          <a:blip r:embed="rId3"/>
          <a:stretch>
            <a:fillRect/>
          </a:stretch>
        </p:blipFill>
        <p:spPr>
          <a:xfrm>
            <a:off x="590747" y="673402"/>
            <a:ext cx="465" cy="5"/>
          </a:xfrm>
          <a:prstGeom prst="rect">
            <a:avLst/>
          </a:prstGeom>
        </p:spPr>
      </p:pic>
      <p:pic>
        <p:nvPicPr>
          <p:cNvPr id="13" name="Image 4" descr="preencoded.png">
            <a:extLst>
              <a:ext uri="{FF2B5EF4-FFF2-40B4-BE49-F238E27FC236}">
                <a16:creationId xmlns:a16="http://schemas.microsoft.com/office/drawing/2014/main" id="{2B422FB9-16AE-8A52-AFD0-F5C0D4C97B71}"/>
              </a:ext>
            </a:extLst>
          </p:cNvPr>
          <p:cNvPicPr>
            <a:picLocks noChangeAspect="1"/>
          </p:cNvPicPr>
          <p:nvPr/>
        </p:nvPicPr>
        <p:blipFill>
          <a:blip r:embed="rId4"/>
          <a:stretch>
            <a:fillRect/>
          </a:stretch>
        </p:blipFill>
        <p:spPr>
          <a:xfrm>
            <a:off x="799143" y="507676"/>
            <a:ext cx="135918" cy="199280"/>
          </a:xfrm>
          <a:prstGeom prst="rect">
            <a:avLst/>
          </a:prstGeom>
        </p:spPr>
      </p:pic>
      <p:pic>
        <p:nvPicPr>
          <p:cNvPr id="14" name="Image 5" descr="preencoded.png">
            <a:extLst>
              <a:ext uri="{FF2B5EF4-FFF2-40B4-BE49-F238E27FC236}">
                <a16:creationId xmlns:a16="http://schemas.microsoft.com/office/drawing/2014/main" id="{0AE362E8-2180-4F33-99E9-3A63658A556C}"/>
              </a:ext>
            </a:extLst>
          </p:cNvPr>
          <p:cNvPicPr>
            <a:picLocks noChangeAspect="1"/>
          </p:cNvPicPr>
          <p:nvPr/>
        </p:nvPicPr>
        <p:blipFill>
          <a:blip r:embed="rId5"/>
          <a:stretch>
            <a:fillRect/>
          </a:stretch>
        </p:blipFill>
        <p:spPr>
          <a:xfrm>
            <a:off x="940416" y="562009"/>
            <a:ext cx="124990" cy="144942"/>
          </a:xfrm>
          <a:prstGeom prst="rect">
            <a:avLst/>
          </a:prstGeom>
        </p:spPr>
      </p:pic>
      <p:pic>
        <p:nvPicPr>
          <p:cNvPr id="15" name="Image 6" descr="preencoded.png">
            <a:extLst>
              <a:ext uri="{FF2B5EF4-FFF2-40B4-BE49-F238E27FC236}">
                <a16:creationId xmlns:a16="http://schemas.microsoft.com/office/drawing/2014/main" id="{05260289-CF13-CF9A-74AC-86175E6B59E7}"/>
              </a:ext>
            </a:extLst>
          </p:cNvPr>
          <p:cNvPicPr>
            <a:picLocks noChangeAspect="1"/>
          </p:cNvPicPr>
          <p:nvPr/>
        </p:nvPicPr>
        <p:blipFill>
          <a:blip r:embed="rId6"/>
          <a:stretch>
            <a:fillRect/>
          </a:stretch>
        </p:blipFill>
        <p:spPr>
          <a:xfrm>
            <a:off x="1068347" y="561991"/>
            <a:ext cx="130069" cy="195247"/>
          </a:xfrm>
          <a:prstGeom prst="rect">
            <a:avLst/>
          </a:prstGeom>
        </p:spPr>
      </p:pic>
      <p:pic>
        <p:nvPicPr>
          <p:cNvPr id="16" name="Image 7" descr="preencoded.png">
            <a:extLst>
              <a:ext uri="{FF2B5EF4-FFF2-40B4-BE49-F238E27FC236}">
                <a16:creationId xmlns:a16="http://schemas.microsoft.com/office/drawing/2014/main" id="{58C28360-A6BE-8081-38E0-A8C32A75C7C3}"/>
              </a:ext>
            </a:extLst>
          </p:cNvPr>
          <p:cNvPicPr>
            <a:picLocks noChangeAspect="1"/>
          </p:cNvPicPr>
          <p:nvPr/>
        </p:nvPicPr>
        <p:blipFill>
          <a:blip r:embed="rId7"/>
          <a:stretch>
            <a:fillRect/>
          </a:stretch>
        </p:blipFill>
        <p:spPr>
          <a:xfrm>
            <a:off x="1194934" y="562005"/>
            <a:ext cx="133799" cy="144942"/>
          </a:xfrm>
          <a:prstGeom prst="rect">
            <a:avLst/>
          </a:prstGeom>
        </p:spPr>
      </p:pic>
      <p:pic>
        <p:nvPicPr>
          <p:cNvPr id="17" name="Image 8" descr="preencoded.png">
            <a:extLst>
              <a:ext uri="{FF2B5EF4-FFF2-40B4-BE49-F238E27FC236}">
                <a16:creationId xmlns:a16="http://schemas.microsoft.com/office/drawing/2014/main" id="{ECBAAB9E-CDC2-0FF4-C755-D815B2BB5F78}"/>
              </a:ext>
            </a:extLst>
          </p:cNvPr>
          <p:cNvPicPr>
            <a:picLocks noChangeAspect="1"/>
          </p:cNvPicPr>
          <p:nvPr/>
        </p:nvPicPr>
        <p:blipFill>
          <a:blip r:embed="rId8"/>
          <a:stretch>
            <a:fillRect/>
          </a:stretch>
        </p:blipFill>
        <p:spPr>
          <a:xfrm>
            <a:off x="577092" y="577653"/>
            <a:ext cx="172315" cy="155106"/>
          </a:xfrm>
          <a:prstGeom prst="rect">
            <a:avLst/>
          </a:prstGeom>
        </p:spPr>
      </p:pic>
      <p:pic>
        <p:nvPicPr>
          <p:cNvPr id="18" name="Image 9" descr="preencoded.png">
            <a:extLst>
              <a:ext uri="{FF2B5EF4-FFF2-40B4-BE49-F238E27FC236}">
                <a16:creationId xmlns:a16="http://schemas.microsoft.com/office/drawing/2014/main" id="{58320A9F-196A-AE77-A484-B6E5D507A6DA}"/>
              </a:ext>
            </a:extLst>
          </p:cNvPr>
          <p:cNvPicPr>
            <a:picLocks noChangeAspect="1"/>
          </p:cNvPicPr>
          <p:nvPr/>
        </p:nvPicPr>
        <p:blipFill>
          <a:blip r:embed="rId9"/>
          <a:stretch>
            <a:fillRect/>
          </a:stretch>
        </p:blipFill>
        <p:spPr>
          <a:xfrm>
            <a:off x="457200" y="577648"/>
            <a:ext cx="172315" cy="155113"/>
          </a:xfrm>
          <a:prstGeom prst="rect">
            <a:avLst/>
          </a:prstGeom>
        </p:spPr>
      </p:pic>
    </p:spTree>
    <p:extLst>
      <p:ext uri="{BB962C8B-B14F-4D97-AF65-F5344CB8AC3E}">
        <p14:creationId xmlns:p14="http://schemas.microsoft.com/office/powerpoint/2010/main" val="227000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91E4-0767-757A-6C26-F8C974F5D36E}"/>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77FBE57-1EB4-8357-C896-4AAAD6BCA147}"/>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8CFE290-1BA8-4866-A227-485B2A536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A9728-BA0F-E899-0CAD-26BC15062FEB}"/>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7" name="Shape 5">
            <a:extLst>
              <a:ext uri="{FF2B5EF4-FFF2-40B4-BE49-F238E27FC236}">
                <a16:creationId xmlns:a16="http://schemas.microsoft.com/office/drawing/2014/main" id="{3309DD90-9BA0-57EA-6D6E-750F1C324FC8}"/>
              </a:ext>
            </a:extLst>
          </p:cNvPr>
          <p:cNvSpPr/>
          <p:nvPr/>
        </p:nvSpPr>
        <p:spPr>
          <a:xfrm>
            <a:off x="190500" y="190500"/>
            <a:ext cx="661988" cy="228600"/>
          </a:xfrm>
          <a:prstGeom prst="rect">
            <a:avLst/>
          </a:prstGeom>
          <a:noFill/>
          <a:ln/>
        </p:spPr>
        <p:txBody>
          <a:bodyPr/>
          <a:lstStyle/>
          <a:p>
            <a:endParaRPr lang="en-US"/>
          </a:p>
        </p:txBody>
      </p:sp>
      <p:pic>
        <p:nvPicPr>
          <p:cNvPr id="8" name="Image 3" descr="preencoded.png">
            <a:extLst>
              <a:ext uri="{FF2B5EF4-FFF2-40B4-BE49-F238E27FC236}">
                <a16:creationId xmlns:a16="http://schemas.microsoft.com/office/drawing/2014/main" id="{B77A0BCF-864C-10EA-E989-AF59B941C2E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9" name="Image 4" descr="preencoded.png">
            <a:extLst>
              <a:ext uri="{FF2B5EF4-FFF2-40B4-BE49-F238E27FC236}">
                <a16:creationId xmlns:a16="http://schemas.microsoft.com/office/drawing/2014/main" id="{21522D1E-FB95-FAF3-8759-A99853816295}"/>
              </a:ext>
            </a:extLst>
          </p:cNvPr>
          <p:cNvPicPr>
            <a:picLocks noChangeAspect="1"/>
          </p:cNvPicPr>
          <p:nvPr/>
        </p:nvPicPr>
        <p:blipFill>
          <a:blip r:embed="rId3"/>
          <a:stretch>
            <a:fillRect/>
          </a:stretch>
        </p:blipFill>
        <p:spPr>
          <a:xfrm>
            <a:off x="290275" y="344655"/>
            <a:ext cx="728" cy="3"/>
          </a:xfrm>
          <a:prstGeom prst="rect">
            <a:avLst/>
          </a:prstGeom>
        </p:spPr>
      </p:pic>
      <p:pic>
        <p:nvPicPr>
          <p:cNvPr id="10" name="Image 5" descr="preencoded.png">
            <a:extLst>
              <a:ext uri="{FF2B5EF4-FFF2-40B4-BE49-F238E27FC236}">
                <a16:creationId xmlns:a16="http://schemas.microsoft.com/office/drawing/2014/main" id="{AA1C6DF3-B2B0-D505-0322-4A74DD286D1E}"/>
              </a:ext>
            </a:extLst>
          </p:cNvPr>
          <p:cNvPicPr>
            <a:picLocks noChangeAspect="1"/>
          </p:cNvPicPr>
          <p:nvPr/>
        </p:nvPicPr>
        <p:blipFill>
          <a:blip r:embed="rId3"/>
          <a:stretch>
            <a:fillRect/>
          </a:stretch>
        </p:blipFill>
        <p:spPr>
          <a:xfrm>
            <a:off x="290059" y="344659"/>
            <a:ext cx="216" cy="3"/>
          </a:xfrm>
          <a:prstGeom prst="rect">
            <a:avLst/>
          </a:prstGeom>
        </p:spPr>
      </p:pic>
      <p:pic>
        <p:nvPicPr>
          <p:cNvPr id="11" name="Image 6" descr="preencoded.png">
            <a:extLst>
              <a:ext uri="{FF2B5EF4-FFF2-40B4-BE49-F238E27FC236}">
                <a16:creationId xmlns:a16="http://schemas.microsoft.com/office/drawing/2014/main" id="{74BB9666-7E16-7635-EFAA-9FE0AADA9DE0}"/>
              </a:ext>
            </a:extLst>
          </p:cNvPr>
          <p:cNvPicPr>
            <a:picLocks noChangeAspect="1"/>
          </p:cNvPicPr>
          <p:nvPr/>
        </p:nvPicPr>
        <p:blipFill>
          <a:blip r:embed="rId3"/>
          <a:stretch>
            <a:fillRect/>
          </a:stretch>
        </p:blipFill>
        <p:spPr>
          <a:xfrm>
            <a:off x="291937" y="355225"/>
            <a:ext cx="352" cy="3"/>
          </a:xfrm>
          <a:prstGeom prst="rect">
            <a:avLst/>
          </a:prstGeom>
        </p:spPr>
      </p:pic>
      <p:pic>
        <p:nvPicPr>
          <p:cNvPr id="12" name="Image 7" descr="preencoded.png">
            <a:extLst>
              <a:ext uri="{FF2B5EF4-FFF2-40B4-BE49-F238E27FC236}">
                <a16:creationId xmlns:a16="http://schemas.microsoft.com/office/drawing/2014/main" id="{7B200AFC-D38E-A7C9-8B60-2AA285B679CB}"/>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3" name="Image 8" descr="preencoded.png">
            <a:extLst>
              <a:ext uri="{FF2B5EF4-FFF2-40B4-BE49-F238E27FC236}">
                <a16:creationId xmlns:a16="http://schemas.microsoft.com/office/drawing/2014/main" id="{B4489371-CEE9-45CF-DAB8-D9E30AE7784E}"/>
              </a:ext>
            </a:extLst>
          </p:cNvPr>
          <p:cNvPicPr>
            <a:picLocks noChangeAspect="1"/>
          </p:cNvPicPr>
          <p:nvPr/>
        </p:nvPicPr>
        <p:blipFill>
          <a:blip r:embed="rId5"/>
          <a:stretch>
            <a:fillRect/>
          </a:stretch>
        </p:blipFill>
        <p:spPr>
          <a:xfrm>
            <a:off x="557532" y="270355"/>
            <a:ext cx="94938" cy="110432"/>
          </a:xfrm>
          <a:prstGeom prst="rect">
            <a:avLst/>
          </a:prstGeom>
        </p:spPr>
      </p:pic>
      <p:pic>
        <p:nvPicPr>
          <p:cNvPr id="14" name="Image 9" descr="preencoded.png">
            <a:extLst>
              <a:ext uri="{FF2B5EF4-FFF2-40B4-BE49-F238E27FC236}">
                <a16:creationId xmlns:a16="http://schemas.microsoft.com/office/drawing/2014/main" id="{073A8A60-1964-06AA-7C7B-D0BF8602401C}"/>
              </a:ext>
            </a:extLst>
          </p:cNvPr>
          <p:cNvPicPr>
            <a:picLocks noChangeAspect="1"/>
          </p:cNvPicPr>
          <p:nvPr/>
        </p:nvPicPr>
        <p:blipFill>
          <a:blip r:embed="rId6"/>
          <a:stretch>
            <a:fillRect/>
          </a:stretch>
        </p:blipFill>
        <p:spPr>
          <a:xfrm>
            <a:off x="654704" y="270341"/>
            <a:ext cx="98795" cy="148759"/>
          </a:xfrm>
          <a:prstGeom prst="rect">
            <a:avLst/>
          </a:prstGeom>
        </p:spPr>
      </p:pic>
      <p:pic>
        <p:nvPicPr>
          <p:cNvPr id="15" name="Image 10" descr="preencoded.png">
            <a:extLst>
              <a:ext uri="{FF2B5EF4-FFF2-40B4-BE49-F238E27FC236}">
                <a16:creationId xmlns:a16="http://schemas.microsoft.com/office/drawing/2014/main" id="{4413C882-A29F-0E1B-F4E6-DE194B649107}"/>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6" name="Image 11" descr="preencoded.png">
            <a:extLst>
              <a:ext uri="{FF2B5EF4-FFF2-40B4-BE49-F238E27FC236}">
                <a16:creationId xmlns:a16="http://schemas.microsoft.com/office/drawing/2014/main" id="{599359B0-BC5A-2798-D3EE-E906C8FE4AA1}"/>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7" name="Image 12" descr="preencoded.png">
            <a:extLst>
              <a:ext uri="{FF2B5EF4-FFF2-40B4-BE49-F238E27FC236}">
                <a16:creationId xmlns:a16="http://schemas.microsoft.com/office/drawing/2014/main" id="{1CAF3264-0793-6CDC-24D3-58AF8DEB3742}"/>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770955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616-8561-6A16-EBE9-6E1A3F96AA6A}"/>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E6BEDDA-A7B8-93FA-FC2B-91CA7DFAF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46D9C-A2DA-90FE-6625-B23D1A90E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A195ACC-39E6-3AC4-3A85-0CF2D69CC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74000-D324-1C4F-B0DE-8390683A3A94}"/>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8" name="Shape 5">
            <a:extLst>
              <a:ext uri="{FF2B5EF4-FFF2-40B4-BE49-F238E27FC236}">
                <a16:creationId xmlns:a16="http://schemas.microsoft.com/office/drawing/2014/main" id="{8ADAABF8-6644-3F36-4FAC-E26B71106E25}"/>
              </a:ext>
            </a:extLst>
          </p:cNvPr>
          <p:cNvSpPr/>
          <p:nvPr/>
        </p:nvSpPr>
        <p:spPr>
          <a:xfrm>
            <a:off x="190500" y="190500"/>
            <a:ext cx="661988" cy="228600"/>
          </a:xfrm>
          <a:prstGeom prst="rect">
            <a:avLst/>
          </a:prstGeom>
          <a:noFill/>
          <a:ln/>
        </p:spPr>
        <p:txBody>
          <a:bodyPr/>
          <a:lstStyle/>
          <a:p>
            <a:endParaRPr lang="en-US"/>
          </a:p>
        </p:txBody>
      </p:sp>
      <p:pic>
        <p:nvPicPr>
          <p:cNvPr id="9" name="Image 3" descr="preencoded.png">
            <a:extLst>
              <a:ext uri="{FF2B5EF4-FFF2-40B4-BE49-F238E27FC236}">
                <a16:creationId xmlns:a16="http://schemas.microsoft.com/office/drawing/2014/main" id="{D6819D18-280A-59B9-5A82-3AA527A0A22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0" name="Image 4" descr="preencoded.png">
            <a:extLst>
              <a:ext uri="{FF2B5EF4-FFF2-40B4-BE49-F238E27FC236}">
                <a16:creationId xmlns:a16="http://schemas.microsoft.com/office/drawing/2014/main" id="{B3DB3EC3-97C7-8E1A-1C58-F2AB502630D7}"/>
              </a:ext>
            </a:extLst>
          </p:cNvPr>
          <p:cNvPicPr>
            <a:picLocks noChangeAspect="1"/>
          </p:cNvPicPr>
          <p:nvPr/>
        </p:nvPicPr>
        <p:blipFill>
          <a:blip r:embed="rId3"/>
          <a:stretch>
            <a:fillRect/>
          </a:stretch>
        </p:blipFill>
        <p:spPr>
          <a:xfrm>
            <a:off x="290275" y="344655"/>
            <a:ext cx="728" cy="3"/>
          </a:xfrm>
          <a:prstGeom prst="rect">
            <a:avLst/>
          </a:prstGeom>
        </p:spPr>
      </p:pic>
      <p:pic>
        <p:nvPicPr>
          <p:cNvPr id="11" name="Image 5" descr="preencoded.png">
            <a:extLst>
              <a:ext uri="{FF2B5EF4-FFF2-40B4-BE49-F238E27FC236}">
                <a16:creationId xmlns:a16="http://schemas.microsoft.com/office/drawing/2014/main" id="{986AD692-BF7B-E30E-AF4B-29E73B37ADA8}"/>
              </a:ext>
            </a:extLst>
          </p:cNvPr>
          <p:cNvPicPr>
            <a:picLocks noChangeAspect="1"/>
          </p:cNvPicPr>
          <p:nvPr/>
        </p:nvPicPr>
        <p:blipFill>
          <a:blip r:embed="rId3"/>
          <a:stretch>
            <a:fillRect/>
          </a:stretch>
        </p:blipFill>
        <p:spPr>
          <a:xfrm>
            <a:off x="290059" y="344659"/>
            <a:ext cx="216" cy="3"/>
          </a:xfrm>
          <a:prstGeom prst="rect">
            <a:avLst/>
          </a:prstGeom>
        </p:spPr>
      </p:pic>
      <p:pic>
        <p:nvPicPr>
          <p:cNvPr id="12" name="Image 6" descr="preencoded.png">
            <a:extLst>
              <a:ext uri="{FF2B5EF4-FFF2-40B4-BE49-F238E27FC236}">
                <a16:creationId xmlns:a16="http://schemas.microsoft.com/office/drawing/2014/main" id="{1E4B8F00-D927-A3D7-DF8B-9621664C91DA}"/>
              </a:ext>
            </a:extLst>
          </p:cNvPr>
          <p:cNvPicPr>
            <a:picLocks noChangeAspect="1"/>
          </p:cNvPicPr>
          <p:nvPr/>
        </p:nvPicPr>
        <p:blipFill>
          <a:blip r:embed="rId3"/>
          <a:stretch>
            <a:fillRect/>
          </a:stretch>
        </p:blipFill>
        <p:spPr>
          <a:xfrm>
            <a:off x="291937" y="355225"/>
            <a:ext cx="352" cy="3"/>
          </a:xfrm>
          <a:prstGeom prst="rect">
            <a:avLst/>
          </a:prstGeom>
        </p:spPr>
      </p:pic>
      <p:pic>
        <p:nvPicPr>
          <p:cNvPr id="13" name="Image 7" descr="preencoded.png">
            <a:extLst>
              <a:ext uri="{FF2B5EF4-FFF2-40B4-BE49-F238E27FC236}">
                <a16:creationId xmlns:a16="http://schemas.microsoft.com/office/drawing/2014/main" id="{8BE371D4-51AA-A4CA-BCA7-C17F586C33EE}"/>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4" name="Image 8" descr="preencoded.png">
            <a:extLst>
              <a:ext uri="{FF2B5EF4-FFF2-40B4-BE49-F238E27FC236}">
                <a16:creationId xmlns:a16="http://schemas.microsoft.com/office/drawing/2014/main" id="{5ECEAA31-DC84-C536-9A68-FCA883D9D77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5" name="Image 9" descr="preencoded.png">
            <a:extLst>
              <a:ext uri="{FF2B5EF4-FFF2-40B4-BE49-F238E27FC236}">
                <a16:creationId xmlns:a16="http://schemas.microsoft.com/office/drawing/2014/main" id="{62428B7B-F60F-2474-60E5-44197091389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6" name="Image 10" descr="preencoded.png">
            <a:extLst>
              <a:ext uri="{FF2B5EF4-FFF2-40B4-BE49-F238E27FC236}">
                <a16:creationId xmlns:a16="http://schemas.microsoft.com/office/drawing/2014/main" id="{CD30214C-33F4-EF4D-4A77-2669C3D85995}"/>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7" name="Image 11" descr="preencoded.png">
            <a:extLst>
              <a:ext uri="{FF2B5EF4-FFF2-40B4-BE49-F238E27FC236}">
                <a16:creationId xmlns:a16="http://schemas.microsoft.com/office/drawing/2014/main" id="{F652379B-9CF4-1AD1-870C-8D3C19ADC62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8" name="Image 12" descr="preencoded.png">
            <a:extLst>
              <a:ext uri="{FF2B5EF4-FFF2-40B4-BE49-F238E27FC236}">
                <a16:creationId xmlns:a16="http://schemas.microsoft.com/office/drawing/2014/main" id="{AAB9CA5D-C147-316E-9EA9-CFAF15793DA1}"/>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46383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E4E-8467-05AB-4B28-24FC65159BC7}"/>
              </a:ext>
            </a:extLst>
          </p:cNvPr>
          <p:cNvSpPr>
            <a:spLocks noGrp="1"/>
          </p:cNvSpPr>
          <p:nvPr>
            <p:ph type="title"/>
          </p:nvPr>
        </p:nvSpPr>
        <p:spPr>
          <a:xfrm>
            <a:off x="839788" y="365125"/>
            <a:ext cx="10515600" cy="1325563"/>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73AF16-3B94-1554-ADEF-F4AB2AADE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5CBF1-893D-CA3B-1E82-E42BA520A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764CD-180A-9677-3337-000001CB5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CCF24-889B-BC14-970F-2418CF0668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B345D6-958F-BEFC-B6F2-D7DC3D403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AE3341-5AE8-5BA8-0437-602286D4EE81}"/>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10" name="Shape 5">
            <a:extLst>
              <a:ext uri="{FF2B5EF4-FFF2-40B4-BE49-F238E27FC236}">
                <a16:creationId xmlns:a16="http://schemas.microsoft.com/office/drawing/2014/main" id="{2280E1E3-FBB0-BB01-80DF-10AE73698015}"/>
              </a:ext>
            </a:extLst>
          </p:cNvPr>
          <p:cNvSpPr/>
          <p:nvPr/>
        </p:nvSpPr>
        <p:spPr>
          <a:xfrm>
            <a:off x="190500" y="190500"/>
            <a:ext cx="661988" cy="228600"/>
          </a:xfrm>
          <a:prstGeom prst="rect">
            <a:avLst/>
          </a:prstGeom>
          <a:noFill/>
          <a:ln/>
        </p:spPr>
        <p:txBody>
          <a:bodyPr/>
          <a:lstStyle/>
          <a:p>
            <a:endParaRPr lang="en-US"/>
          </a:p>
        </p:txBody>
      </p:sp>
      <p:pic>
        <p:nvPicPr>
          <p:cNvPr id="11" name="Image 3" descr="preencoded.png">
            <a:extLst>
              <a:ext uri="{FF2B5EF4-FFF2-40B4-BE49-F238E27FC236}">
                <a16:creationId xmlns:a16="http://schemas.microsoft.com/office/drawing/2014/main" id="{996FDED8-EDA6-9343-D0A1-84BEBDD31D97}"/>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2" name="Image 4" descr="preencoded.png">
            <a:extLst>
              <a:ext uri="{FF2B5EF4-FFF2-40B4-BE49-F238E27FC236}">
                <a16:creationId xmlns:a16="http://schemas.microsoft.com/office/drawing/2014/main" id="{D83BCB30-36D8-4C72-14EE-F3E2E8F57313}"/>
              </a:ext>
            </a:extLst>
          </p:cNvPr>
          <p:cNvPicPr>
            <a:picLocks noChangeAspect="1"/>
          </p:cNvPicPr>
          <p:nvPr/>
        </p:nvPicPr>
        <p:blipFill>
          <a:blip r:embed="rId3"/>
          <a:stretch>
            <a:fillRect/>
          </a:stretch>
        </p:blipFill>
        <p:spPr>
          <a:xfrm>
            <a:off x="290275" y="344655"/>
            <a:ext cx="728" cy="3"/>
          </a:xfrm>
          <a:prstGeom prst="rect">
            <a:avLst/>
          </a:prstGeom>
        </p:spPr>
      </p:pic>
      <p:pic>
        <p:nvPicPr>
          <p:cNvPr id="13" name="Image 5" descr="preencoded.png">
            <a:extLst>
              <a:ext uri="{FF2B5EF4-FFF2-40B4-BE49-F238E27FC236}">
                <a16:creationId xmlns:a16="http://schemas.microsoft.com/office/drawing/2014/main" id="{B1AD6F6F-B20E-8D32-FAAB-369A5465E0C8}"/>
              </a:ext>
            </a:extLst>
          </p:cNvPr>
          <p:cNvPicPr>
            <a:picLocks noChangeAspect="1"/>
          </p:cNvPicPr>
          <p:nvPr/>
        </p:nvPicPr>
        <p:blipFill>
          <a:blip r:embed="rId3"/>
          <a:stretch>
            <a:fillRect/>
          </a:stretch>
        </p:blipFill>
        <p:spPr>
          <a:xfrm>
            <a:off x="290059" y="344659"/>
            <a:ext cx="216" cy="3"/>
          </a:xfrm>
          <a:prstGeom prst="rect">
            <a:avLst/>
          </a:prstGeom>
        </p:spPr>
      </p:pic>
      <p:pic>
        <p:nvPicPr>
          <p:cNvPr id="14" name="Image 6" descr="preencoded.png">
            <a:extLst>
              <a:ext uri="{FF2B5EF4-FFF2-40B4-BE49-F238E27FC236}">
                <a16:creationId xmlns:a16="http://schemas.microsoft.com/office/drawing/2014/main" id="{FBDDC6D6-2BEB-31DC-B298-E66E991D550A}"/>
              </a:ext>
            </a:extLst>
          </p:cNvPr>
          <p:cNvPicPr>
            <a:picLocks noChangeAspect="1"/>
          </p:cNvPicPr>
          <p:nvPr/>
        </p:nvPicPr>
        <p:blipFill>
          <a:blip r:embed="rId3"/>
          <a:stretch>
            <a:fillRect/>
          </a:stretch>
        </p:blipFill>
        <p:spPr>
          <a:xfrm>
            <a:off x="291937" y="355225"/>
            <a:ext cx="352" cy="3"/>
          </a:xfrm>
          <a:prstGeom prst="rect">
            <a:avLst/>
          </a:prstGeom>
        </p:spPr>
      </p:pic>
      <p:pic>
        <p:nvPicPr>
          <p:cNvPr id="15" name="Image 7" descr="preencoded.png">
            <a:extLst>
              <a:ext uri="{FF2B5EF4-FFF2-40B4-BE49-F238E27FC236}">
                <a16:creationId xmlns:a16="http://schemas.microsoft.com/office/drawing/2014/main" id="{59255BD3-C3BE-9A85-5AF2-9BB924428ED0}"/>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6" name="Image 8" descr="preencoded.png">
            <a:extLst>
              <a:ext uri="{FF2B5EF4-FFF2-40B4-BE49-F238E27FC236}">
                <a16:creationId xmlns:a16="http://schemas.microsoft.com/office/drawing/2014/main" id="{05589A3A-6BE4-FDF1-77D1-F2E573CBF877}"/>
              </a:ext>
            </a:extLst>
          </p:cNvPr>
          <p:cNvPicPr>
            <a:picLocks noChangeAspect="1"/>
          </p:cNvPicPr>
          <p:nvPr/>
        </p:nvPicPr>
        <p:blipFill>
          <a:blip r:embed="rId5"/>
          <a:stretch>
            <a:fillRect/>
          </a:stretch>
        </p:blipFill>
        <p:spPr>
          <a:xfrm>
            <a:off x="557532" y="270355"/>
            <a:ext cx="94938" cy="110432"/>
          </a:xfrm>
          <a:prstGeom prst="rect">
            <a:avLst/>
          </a:prstGeom>
        </p:spPr>
      </p:pic>
      <p:pic>
        <p:nvPicPr>
          <p:cNvPr id="17" name="Image 9" descr="preencoded.png">
            <a:extLst>
              <a:ext uri="{FF2B5EF4-FFF2-40B4-BE49-F238E27FC236}">
                <a16:creationId xmlns:a16="http://schemas.microsoft.com/office/drawing/2014/main" id="{BB7959B2-981C-3C8F-4F27-DBABC198833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8" name="Image 10" descr="preencoded.png">
            <a:extLst>
              <a:ext uri="{FF2B5EF4-FFF2-40B4-BE49-F238E27FC236}">
                <a16:creationId xmlns:a16="http://schemas.microsoft.com/office/drawing/2014/main" id="{FC3F9996-F09C-CD6B-EFCB-DA8BC9C28F31}"/>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9" name="Image 11" descr="preencoded.png">
            <a:extLst>
              <a:ext uri="{FF2B5EF4-FFF2-40B4-BE49-F238E27FC236}">
                <a16:creationId xmlns:a16="http://schemas.microsoft.com/office/drawing/2014/main" id="{2ED1A265-4A95-F6BF-055E-6E7DF38089D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20" name="Image 12" descr="preencoded.png">
            <a:extLst>
              <a:ext uri="{FF2B5EF4-FFF2-40B4-BE49-F238E27FC236}">
                <a16:creationId xmlns:a16="http://schemas.microsoft.com/office/drawing/2014/main" id="{8AA81C56-C7C1-8192-BB96-2EAF5E6E65B3}"/>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415962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E9C-AC2F-598A-971D-CB008C399593}"/>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48522642-A407-B802-D9EF-445D10F6B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86E38B-EAD0-FDED-82A1-3CE01F794498}"/>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6" name="Shape 5">
            <a:extLst>
              <a:ext uri="{FF2B5EF4-FFF2-40B4-BE49-F238E27FC236}">
                <a16:creationId xmlns:a16="http://schemas.microsoft.com/office/drawing/2014/main" id="{A16C830E-A360-7AC5-875D-9D5222451EAF}"/>
              </a:ext>
            </a:extLst>
          </p:cNvPr>
          <p:cNvSpPr/>
          <p:nvPr/>
        </p:nvSpPr>
        <p:spPr>
          <a:xfrm>
            <a:off x="190500" y="190500"/>
            <a:ext cx="661988" cy="228600"/>
          </a:xfrm>
          <a:prstGeom prst="rect">
            <a:avLst/>
          </a:prstGeom>
          <a:noFill/>
          <a:ln/>
        </p:spPr>
        <p:txBody>
          <a:bodyPr/>
          <a:lstStyle/>
          <a:p>
            <a:endParaRPr lang="en-US"/>
          </a:p>
        </p:txBody>
      </p:sp>
      <p:pic>
        <p:nvPicPr>
          <p:cNvPr id="7" name="Image 3" descr="preencoded.png">
            <a:extLst>
              <a:ext uri="{FF2B5EF4-FFF2-40B4-BE49-F238E27FC236}">
                <a16:creationId xmlns:a16="http://schemas.microsoft.com/office/drawing/2014/main" id="{6FA7C61D-AC3B-A5A8-802C-38559A5BCCF1}"/>
              </a:ext>
            </a:extLst>
          </p:cNvPr>
          <p:cNvPicPr>
            <a:picLocks noChangeAspect="1"/>
          </p:cNvPicPr>
          <p:nvPr/>
        </p:nvPicPr>
        <p:blipFill>
          <a:blip r:embed="rId2"/>
          <a:stretch>
            <a:fillRect/>
          </a:stretch>
        </p:blipFill>
        <p:spPr>
          <a:xfrm>
            <a:off x="242624" y="190500"/>
            <a:ext cx="117713" cy="143526"/>
          </a:xfrm>
          <a:prstGeom prst="rect">
            <a:avLst/>
          </a:prstGeom>
        </p:spPr>
      </p:pic>
      <p:pic>
        <p:nvPicPr>
          <p:cNvPr id="8" name="Image 4" descr="preencoded.png">
            <a:extLst>
              <a:ext uri="{FF2B5EF4-FFF2-40B4-BE49-F238E27FC236}">
                <a16:creationId xmlns:a16="http://schemas.microsoft.com/office/drawing/2014/main" id="{6211D501-648C-ABA1-7828-3399D967353F}"/>
              </a:ext>
            </a:extLst>
          </p:cNvPr>
          <p:cNvPicPr>
            <a:picLocks noChangeAspect="1"/>
          </p:cNvPicPr>
          <p:nvPr/>
        </p:nvPicPr>
        <p:blipFill>
          <a:blip r:embed="rId3"/>
          <a:stretch>
            <a:fillRect/>
          </a:stretch>
        </p:blipFill>
        <p:spPr>
          <a:xfrm>
            <a:off x="290275" y="344655"/>
            <a:ext cx="728" cy="3"/>
          </a:xfrm>
          <a:prstGeom prst="rect">
            <a:avLst/>
          </a:prstGeom>
        </p:spPr>
      </p:pic>
      <p:pic>
        <p:nvPicPr>
          <p:cNvPr id="9" name="Image 5" descr="preencoded.png">
            <a:extLst>
              <a:ext uri="{FF2B5EF4-FFF2-40B4-BE49-F238E27FC236}">
                <a16:creationId xmlns:a16="http://schemas.microsoft.com/office/drawing/2014/main" id="{453193C3-E143-90F7-FFAF-FAE6FF0F8153}"/>
              </a:ext>
            </a:extLst>
          </p:cNvPr>
          <p:cNvPicPr>
            <a:picLocks noChangeAspect="1"/>
          </p:cNvPicPr>
          <p:nvPr/>
        </p:nvPicPr>
        <p:blipFill>
          <a:blip r:embed="rId3"/>
          <a:stretch>
            <a:fillRect/>
          </a:stretch>
        </p:blipFill>
        <p:spPr>
          <a:xfrm>
            <a:off x="290059" y="344659"/>
            <a:ext cx="216" cy="3"/>
          </a:xfrm>
          <a:prstGeom prst="rect">
            <a:avLst/>
          </a:prstGeom>
        </p:spPr>
      </p:pic>
      <p:pic>
        <p:nvPicPr>
          <p:cNvPr id="10" name="Image 6" descr="preencoded.png">
            <a:extLst>
              <a:ext uri="{FF2B5EF4-FFF2-40B4-BE49-F238E27FC236}">
                <a16:creationId xmlns:a16="http://schemas.microsoft.com/office/drawing/2014/main" id="{CD7967F3-83BC-6097-0C75-DA5DAC583598}"/>
              </a:ext>
            </a:extLst>
          </p:cNvPr>
          <p:cNvPicPr>
            <a:picLocks noChangeAspect="1"/>
          </p:cNvPicPr>
          <p:nvPr/>
        </p:nvPicPr>
        <p:blipFill>
          <a:blip r:embed="rId3"/>
          <a:stretch>
            <a:fillRect/>
          </a:stretch>
        </p:blipFill>
        <p:spPr>
          <a:xfrm>
            <a:off x="291937" y="355225"/>
            <a:ext cx="352" cy="3"/>
          </a:xfrm>
          <a:prstGeom prst="rect">
            <a:avLst/>
          </a:prstGeom>
        </p:spPr>
      </p:pic>
      <p:pic>
        <p:nvPicPr>
          <p:cNvPr id="11" name="Image 7" descr="preencoded.png">
            <a:extLst>
              <a:ext uri="{FF2B5EF4-FFF2-40B4-BE49-F238E27FC236}">
                <a16:creationId xmlns:a16="http://schemas.microsoft.com/office/drawing/2014/main" id="{55401895-E400-1D7F-43FA-D0FB891E30F9}"/>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2" name="Image 8" descr="preencoded.png">
            <a:extLst>
              <a:ext uri="{FF2B5EF4-FFF2-40B4-BE49-F238E27FC236}">
                <a16:creationId xmlns:a16="http://schemas.microsoft.com/office/drawing/2014/main" id="{62A5EDCF-DDE8-6DE0-1CC8-819ABA4DB20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3" name="Image 9" descr="preencoded.png">
            <a:extLst>
              <a:ext uri="{FF2B5EF4-FFF2-40B4-BE49-F238E27FC236}">
                <a16:creationId xmlns:a16="http://schemas.microsoft.com/office/drawing/2014/main" id="{BBD93823-B957-25BB-C99E-9354F16883D4}"/>
              </a:ext>
            </a:extLst>
          </p:cNvPr>
          <p:cNvPicPr>
            <a:picLocks noChangeAspect="1"/>
          </p:cNvPicPr>
          <p:nvPr/>
        </p:nvPicPr>
        <p:blipFill>
          <a:blip r:embed="rId6"/>
          <a:stretch>
            <a:fillRect/>
          </a:stretch>
        </p:blipFill>
        <p:spPr>
          <a:xfrm>
            <a:off x="654704" y="270341"/>
            <a:ext cx="98795" cy="148759"/>
          </a:xfrm>
          <a:prstGeom prst="rect">
            <a:avLst/>
          </a:prstGeom>
        </p:spPr>
      </p:pic>
      <p:pic>
        <p:nvPicPr>
          <p:cNvPr id="14" name="Image 10" descr="preencoded.png">
            <a:extLst>
              <a:ext uri="{FF2B5EF4-FFF2-40B4-BE49-F238E27FC236}">
                <a16:creationId xmlns:a16="http://schemas.microsoft.com/office/drawing/2014/main" id="{EBB4ED86-D056-E708-2D02-AE316C12A110}"/>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5" name="Image 11" descr="preencoded.png">
            <a:extLst>
              <a:ext uri="{FF2B5EF4-FFF2-40B4-BE49-F238E27FC236}">
                <a16:creationId xmlns:a16="http://schemas.microsoft.com/office/drawing/2014/main" id="{BDE3193F-5748-17EB-FB7F-C12EC5E806C3}"/>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6" name="Image 12" descr="preencoded.png">
            <a:extLst>
              <a:ext uri="{FF2B5EF4-FFF2-40B4-BE49-F238E27FC236}">
                <a16:creationId xmlns:a16="http://schemas.microsoft.com/office/drawing/2014/main" id="{32D52360-BAE5-033B-1495-439B02227C38}"/>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41735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April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160285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4048507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533146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1518505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409503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90410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2508564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39536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34926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2869685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6438612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6270080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174920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63428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4729806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34273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699204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5930139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458073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71821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661410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27866497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28023089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33642-E6A3-4C5F-3A36-9FEF361F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BD7D81-BE25-A6F1-3032-60F7A1E49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F26E0BC-72C0-DE90-5A98-38BAC9CA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D36855-D560-7AF2-9CB7-00E82541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CFF174-0C8B-41F2-9A46-1C3276C99A0F}" type="slidenum">
              <a:rPr lang="en-US" smtClean="0"/>
              <a:t>‹#›</a:t>
            </a:fld>
            <a:endParaRPr lang="en-US"/>
          </a:p>
        </p:txBody>
      </p:sp>
    </p:spTree>
    <p:extLst>
      <p:ext uri="{BB962C8B-B14F-4D97-AF65-F5344CB8AC3E}">
        <p14:creationId xmlns:p14="http://schemas.microsoft.com/office/powerpoint/2010/main" val="671915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121806092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urotoday.com/conference-highlights/snmmi-2025/161572-snmmi-2025-a-new-theranostic-target-in-prostate-cancer-first-results-from-prostatic-acid-phosphatase-acp3-imaging-with-68ga-ga-oncoacp3-dota-pet-in-prostate-cancer-patients-and-comparison-to-18f-f-psma-1007.html" TargetMode="External"/><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hyperlink" Target="https://pubmed.ncbi.nlm.nih.gov/40571760/"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journals.plos.org/plosone/article/file?id=10.1371/journal.pone.0073072&amp;type=printable" TargetMode="External"/><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pubmed.ncbi.nlm.nih.gov/40571760/" TargetMode="External"/><Relationship Id="rId7"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image" Target="../media/image2.png"/><Relationship Id="rId10"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7.jpe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www.sciencedirect.com/science/article/pii/S0302283825048481?via%3Dihub#s0010" TargetMode="External"/><Relationship Id="rId5" Type="http://schemas.openxmlformats.org/officeDocument/2006/relationships/image" Target="../media/image11.png"/><Relationship Id="rId10" Type="http://schemas.openxmlformats.org/officeDocument/2006/relationships/hyperlink" Target="https://www.urotoday.com/conference-highlights/snmmi-2025/161572-snmmi-2025-a-new-theranostic-target-in-prostate-cancer-first-results-from-prostatic-acid-phosphatase-acp3-imaging-with-68ga-ga-oncoacp3-dota-pet-in-prostate-cancer-patients-and-comparison-to-18f-f-psma-1007.html" TargetMode="External"/><Relationship Id="rId4" Type="http://schemas.openxmlformats.org/officeDocument/2006/relationships/image" Target="../media/image1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2.png"/><Relationship Id="rId3" Type="http://schemas.openxmlformats.org/officeDocument/2006/relationships/hyperlink" Target="https://pmc.ncbi.nlm.nih.gov/articles/PMC10606209/" TargetMode="External"/><Relationship Id="rId7" Type="http://schemas.openxmlformats.org/officeDocument/2006/relationships/image" Target="../media/image19.png"/><Relationship Id="rId12" Type="http://schemas.openxmlformats.org/officeDocument/2006/relationships/image" Target="../media/image15.pn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png"/><Relationship Id="rId11" Type="http://schemas.openxmlformats.org/officeDocument/2006/relationships/image" Target="../media/image14.png"/><Relationship Id="rId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hyperlink" Target="https://www.sciencedirect.com/science/article/pii/S0302283825048481?via%3Dihub#s0010" TargetMode="External"/><Relationship Id="rId9" Type="http://schemas.openxmlformats.org/officeDocument/2006/relationships/image" Target="../media/image12.png"/><Relationship Id="rId1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www.urotoday.com/conference-highlights/snmmi-2025/161572-snmmi-2025-a-new-theranostic-target-in-prostate-cancer-first-results-from-prostatic-acid-phosphatase-acp3-imaging-with-68ga-ga-oncoacp3-dota-pet-in-prostate-cancer-patients-and-comparison-to-18f-f-psma-1007.html" TargetMode="External"/><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pmc.ncbi.nlm.nih.gov/articles/PMC11699533/" TargetMode="External"/><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www.frontiersin.org/journals/oncology/articles/10.3389/fonc.2018.00623/full" TargetMode="External"/><Relationship Id="rId5" Type="http://schemas.openxmlformats.org/officeDocument/2006/relationships/image" Target="../media/image11.png"/><Relationship Id="rId15" Type="http://schemas.openxmlformats.org/officeDocument/2006/relationships/hyperlink" Target="https://journals.plos.org/plosone/article?id=10.1371/journal.pone.0073072#:~:text=From%20late%20endosomes%2C%20TMPAP%20can,phosphatidylinositol%204%2C5%2Dbisphosphate.&amp;text=According%20to%20this%20model%2C%20the,keep%20the%20cell%20membrane%20homeostasis." TargetMode="External"/><Relationship Id="rId10" Type="http://schemas.openxmlformats.org/officeDocument/2006/relationships/hyperlink" Target="https://pmc.ncbi.nlm.nih.gov/articles/PMC10606209/" TargetMode="External"/><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hyperlink" Target="https://pmc.ncbi.nlm.nih.gov/articles/PMC11396261/#:~:text=Both%20in%20vitro%20studies%20and,the%20internalized%20PSMA%20%5B17%5D."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12" Type="http://schemas.openxmlformats.org/officeDocument/2006/relationships/hyperlink" Target="https://pmc.ncbi.nlm.nih.gov/articles/PMC3071662/"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mc.ncbi.nlm.nih.gov/articles/PMC10606209/" TargetMode="External"/><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pmc.ncbi.nlm.nih.gov/articles/PMC3769315/" TargetMode="External"/><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pubmed.ncbi.nlm.nih.gov/40571760/" TargetMode="External"/><Relationship Id="rId2" Type="http://schemas.openxmlformats.org/officeDocument/2006/relationships/image" Target="../media/image18.png"/><Relationship Id="rId16"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pubmed.ncbi.nlm.nih.gov/4024394/" TargetMode="External"/><Relationship Id="rId5" Type="http://schemas.openxmlformats.org/officeDocument/2006/relationships/image" Target="../media/image11.png"/><Relationship Id="rId15" Type="http://schemas.openxmlformats.org/officeDocument/2006/relationships/hyperlink" Target="https://www.njppp.com/fulltext/28-1679161759.pdf?1761830782" TargetMode="External"/><Relationship Id="rId10" Type="http://schemas.openxmlformats.org/officeDocument/2006/relationships/hyperlink" Target="https://pmc.ncbi.nlm.nih.gov/articles/PMC3676848/" TargetMode="External"/><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hyperlink" Target="https://aacrjournals.org/cancerres/article/67/14/6549/533205/Prostatic-Acid-Phosphatase-Is-Not-a-Prostate"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jnm.snmjournals.org/content/63/10/1484" TargetMode="External"/><Relationship Id="rId13" Type="http://schemas.openxmlformats.org/officeDocument/2006/relationships/image" Target="../media/image19.png"/><Relationship Id="rId18" Type="http://schemas.openxmlformats.org/officeDocument/2006/relationships/image" Target="../media/image15.png"/><Relationship Id="rId3" Type="http://schemas.openxmlformats.org/officeDocument/2006/relationships/hyperlink" Target="https://www.cdc.gov/united-states-cancer-statistics/publications/prostate-cancer.html" TargetMode="External"/><Relationship Id="rId7" Type="http://schemas.openxmlformats.org/officeDocument/2006/relationships/hyperlink" Target="https://pmc.ncbi.nlm.nih.gov/articles/PMC11699533/" TargetMode="External"/><Relationship Id="rId12" Type="http://schemas.openxmlformats.org/officeDocument/2006/relationships/image" Target="../media/image2.png"/><Relationship Id="rId17" Type="http://schemas.openxmlformats.org/officeDocument/2006/relationships/image" Target="../media/image14.png"/><Relationship Id="rId2" Type="http://schemas.openxmlformats.org/officeDocument/2006/relationships/hyperlink" Target="https://pmc.ncbi.nlm.nih.gov/articles/PMC10606209/" TargetMode="External"/><Relationship Id="rId16"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hyperlink" Target="https://pubmed.ncbi.nlm.nih.gov/33349912/" TargetMode="External"/><Relationship Id="rId11" Type="http://schemas.openxmlformats.org/officeDocument/2006/relationships/image" Target="../media/image18.png"/><Relationship Id="rId5" Type="http://schemas.openxmlformats.org/officeDocument/2006/relationships/hyperlink" Target="https://www.cancer.org/cancer/types/prostate-cancer/detection-diagnosis-staging/survival-rates.html" TargetMode="External"/><Relationship Id="rId15" Type="http://schemas.openxmlformats.org/officeDocument/2006/relationships/image" Target="../media/image12.png"/><Relationship Id="rId10" Type="http://schemas.openxmlformats.org/officeDocument/2006/relationships/hyperlink" Target="https://pubmed.ncbi.nlm.nih.gov/36371403/" TargetMode="External"/><Relationship Id="rId4" Type="http://schemas.openxmlformats.org/officeDocument/2006/relationships/hyperlink" Target="https://journals.plos.org/plosone/article?id=10.1371/journal.pone.0139440" TargetMode="External"/><Relationship Id="rId9" Type="http://schemas.openxmlformats.org/officeDocument/2006/relationships/hyperlink" Target="https://jamanetwork.com/journals/jamanetworkopen/fullarticle/2809152" TargetMode="External"/><Relationship Id="rId1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ubmed.ncbi.nlm.nih.gov/40571760/" TargetMode="External"/><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1A93A-40E2-B92A-4E46-31DB6A7AEAE7}"/>
              </a:ext>
            </a:extLst>
          </p:cNvPr>
          <p:cNvSpPr>
            <a:spLocks noGrp="1"/>
          </p:cNvSpPr>
          <p:nvPr>
            <p:ph type="ctrTitle"/>
          </p:nvPr>
        </p:nvSpPr>
        <p:spPr/>
        <p:txBody>
          <a:bodyPr/>
          <a:lstStyle/>
          <a:p>
            <a:r>
              <a:rPr lang="en-US" dirty="0"/>
              <a:t>ACP3 Target Evaluation</a:t>
            </a:r>
          </a:p>
        </p:txBody>
      </p:sp>
      <p:sp>
        <p:nvSpPr>
          <p:cNvPr id="4" name="TextBox 3">
            <a:extLst>
              <a:ext uri="{FF2B5EF4-FFF2-40B4-BE49-F238E27FC236}">
                <a16:creationId xmlns:a16="http://schemas.microsoft.com/office/drawing/2014/main" id="{C8B37B8E-E4ED-3F09-2AF4-8E6581AB79FF}"/>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825928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92C25-2BEC-6EEA-CDA6-824E44812AC6}"/>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E12C3D89-A84C-0829-63D9-86E2E14F96C9}"/>
              </a:ext>
            </a:extLst>
          </p:cNvPr>
          <p:cNvSpPr>
            <a:spLocks noGrp="1"/>
          </p:cNvSpPr>
          <p:nvPr>
            <p:ph type="title"/>
          </p:nvPr>
        </p:nvSpPr>
        <p:spPr>
          <a:xfrm>
            <a:off x="261111" y="1389953"/>
            <a:ext cx="11930889" cy="414463"/>
          </a:xfrm>
        </p:spPr>
        <p:txBody>
          <a:bodyPr/>
          <a:lstStyle/>
          <a:p>
            <a:r>
              <a:rPr lang="en-US"/>
              <a:t>Prostate: ACP3 positivity across stages &amp; risk levels creates broad RLT opportunity</a:t>
            </a:r>
          </a:p>
        </p:txBody>
      </p:sp>
      <p:sp>
        <p:nvSpPr>
          <p:cNvPr id="2" name="Footer Placeholder 1">
            <a:extLst>
              <a:ext uri="{FF2B5EF4-FFF2-40B4-BE49-F238E27FC236}">
                <a16:creationId xmlns:a16="http://schemas.microsoft.com/office/drawing/2014/main" id="{300DE697-93F7-EB42-FBD2-DD485D2A468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56670"/>
                </a:solidFill>
                <a:effectLst/>
                <a:uLnTx/>
                <a:uFillTx/>
                <a:latin typeface="Funnel Sans"/>
                <a:ea typeface="+mn-ea"/>
                <a:cs typeface="+mn-cs"/>
              </a:rPr>
              <a:t>Confidential</a:t>
            </a:r>
            <a:endParaRPr kumimoji="0" lang="en-GB" sz="900" b="0" i="0" u="none" strike="noStrike" kern="1200" cap="none" spc="0" normalizeH="0" baseline="0" noProof="0">
              <a:ln>
                <a:noFill/>
              </a:ln>
              <a:solidFill>
                <a:srgbClr val="656670"/>
              </a:solidFill>
              <a:effectLst/>
              <a:uLnTx/>
              <a:uFillTx/>
              <a:latin typeface="Funnel Sans"/>
              <a:ea typeface="+mn-ea"/>
              <a:cs typeface="+mn-cs"/>
            </a:endParaRPr>
          </a:p>
        </p:txBody>
      </p:sp>
      <p:sp>
        <p:nvSpPr>
          <p:cNvPr id="3" name="Slide Number Placeholder 2">
            <a:extLst>
              <a:ext uri="{FF2B5EF4-FFF2-40B4-BE49-F238E27FC236}">
                <a16:creationId xmlns:a16="http://schemas.microsoft.com/office/drawing/2014/main" id="{DC7CD138-E38F-27B8-5357-C7303573A9F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21" name="Subtitle 20">
            <a:extLst>
              <a:ext uri="{FF2B5EF4-FFF2-40B4-BE49-F238E27FC236}">
                <a16:creationId xmlns:a16="http://schemas.microsoft.com/office/drawing/2014/main" id="{739BE2F8-AC31-FE9C-A5BE-7E4ADC2A37E5}"/>
              </a:ext>
            </a:extLst>
          </p:cNvPr>
          <p:cNvSpPr>
            <a:spLocks noGrp="1"/>
          </p:cNvSpPr>
          <p:nvPr>
            <p:ph type="subTitle" idx="1"/>
          </p:nvPr>
        </p:nvSpPr>
        <p:spPr/>
        <p:txBody>
          <a:bodyPr/>
          <a:lstStyle/>
          <a:p>
            <a:r>
              <a:rPr lang="en-US" b="1"/>
              <a:t>Target Selection</a:t>
            </a:r>
          </a:p>
        </p:txBody>
      </p:sp>
      <p:grpSp>
        <p:nvGrpSpPr>
          <p:cNvPr id="19" name="Group 18">
            <a:extLst>
              <a:ext uri="{FF2B5EF4-FFF2-40B4-BE49-F238E27FC236}">
                <a16:creationId xmlns:a16="http://schemas.microsoft.com/office/drawing/2014/main" id="{83423EA1-29ED-B14C-8255-F936DB228290}"/>
              </a:ext>
            </a:extLst>
          </p:cNvPr>
          <p:cNvGrpSpPr/>
          <p:nvPr/>
        </p:nvGrpSpPr>
        <p:grpSpPr>
          <a:xfrm>
            <a:off x="257178" y="1992420"/>
            <a:ext cx="6523518" cy="4576212"/>
            <a:chOff x="3527298" y="2509627"/>
            <a:chExt cx="3423291" cy="4576212"/>
          </a:xfrm>
        </p:grpSpPr>
        <p:sp>
          <p:nvSpPr>
            <p:cNvPr id="4" name="Shape 2">
              <a:extLst>
                <a:ext uri="{FF2B5EF4-FFF2-40B4-BE49-F238E27FC236}">
                  <a16:creationId xmlns:a16="http://schemas.microsoft.com/office/drawing/2014/main" id="{2D6E6D16-2572-D6CB-3EE5-C82FFC85DA13}"/>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Expression</a:t>
              </a:r>
            </a:p>
          </p:txBody>
        </p:sp>
        <p:sp>
          <p:nvSpPr>
            <p:cNvPr id="7" name="Shape 5">
              <a:extLst>
                <a:ext uri="{FF2B5EF4-FFF2-40B4-BE49-F238E27FC236}">
                  <a16:creationId xmlns:a16="http://schemas.microsoft.com/office/drawing/2014/main" id="{3FA4BE95-822A-D620-C2AB-BEE575F246F6}"/>
                </a:ext>
              </a:extLst>
            </p:cNvPr>
            <p:cNvSpPr/>
            <p:nvPr/>
          </p:nvSpPr>
          <p:spPr>
            <a:xfrm rot="10800000">
              <a:off x="3527298" y="2816654"/>
              <a:ext cx="3423291" cy="4269185"/>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2" name="Group 31">
            <a:extLst>
              <a:ext uri="{FF2B5EF4-FFF2-40B4-BE49-F238E27FC236}">
                <a16:creationId xmlns:a16="http://schemas.microsoft.com/office/drawing/2014/main" id="{5ACA5FAA-9DE5-E96B-EF0A-EBE3C53190D1}"/>
              </a:ext>
            </a:extLst>
          </p:cNvPr>
          <p:cNvGrpSpPr/>
          <p:nvPr/>
        </p:nvGrpSpPr>
        <p:grpSpPr>
          <a:xfrm>
            <a:off x="7112643" y="1992420"/>
            <a:ext cx="4703879" cy="2213796"/>
            <a:chOff x="3527298" y="2509627"/>
            <a:chExt cx="3423291" cy="2080415"/>
          </a:xfrm>
        </p:grpSpPr>
        <p:sp>
          <p:nvSpPr>
            <p:cNvPr id="33" name="Shape 2">
              <a:extLst>
                <a:ext uri="{FF2B5EF4-FFF2-40B4-BE49-F238E27FC236}">
                  <a16:creationId xmlns:a16="http://schemas.microsoft.com/office/drawing/2014/main" id="{189E2413-97A9-9E22-A9C4-AF77F922352B}"/>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Biology &amp; Feasibility</a:t>
              </a:r>
            </a:p>
          </p:txBody>
        </p:sp>
        <p:sp>
          <p:nvSpPr>
            <p:cNvPr id="34" name="Shape 5">
              <a:extLst>
                <a:ext uri="{FF2B5EF4-FFF2-40B4-BE49-F238E27FC236}">
                  <a16:creationId xmlns:a16="http://schemas.microsoft.com/office/drawing/2014/main" id="{EC851003-D7E9-A9BD-38CE-04D5B4476150}"/>
                </a:ext>
              </a:extLst>
            </p:cNvPr>
            <p:cNvSpPr/>
            <p:nvPr/>
          </p:nvSpPr>
          <p:spPr>
            <a:xfrm rot="10800000">
              <a:off x="3527298" y="2816655"/>
              <a:ext cx="3423291" cy="1773387"/>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5" name="Group 34">
            <a:extLst>
              <a:ext uri="{FF2B5EF4-FFF2-40B4-BE49-F238E27FC236}">
                <a16:creationId xmlns:a16="http://schemas.microsoft.com/office/drawing/2014/main" id="{292F10F9-7C63-10CE-73E7-F7823A903473}"/>
              </a:ext>
            </a:extLst>
          </p:cNvPr>
          <p:cNvGrpSpPr/>
          <p:nvPr/>
        </p:nvGrpSpPr>
        <p:grpSpPr>
          <a:xfrm>
            <a:off x="7112643" y="4329220"/>
            <a:ext cx="4703879" cy="912877"/>
            <a:chOff x="3527298" y="2509627"/>
            <a:chExt cx="3423291" cy="912877"/>
          </a:xfrm>
        </p:grpSpPr>
        <p:sp>
          <p:nvSpPr>
            <p:cNvPr id="36" name="Shape 2">
              <a:extLst>
                <a:ext uri="{FF2B5EF4-FFF2-40B4-BE49-F238E27FC236}">
                  <a16:creationId xmlns:a16="http://schemas.microsoft.com/office/drawing/2014/main" id="{E54BF16E-4526-FBDF-595D-E449F3C58D26}"/>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Landscape</a:t>
              </a:r>
            </a:p>
          </p:txBody>
        </p:sp>
        <p:sp>
          <p:nvSpPr>
            <p:cNvPr id="37" name="Shape 5">
              <a:extLst>
                <a:ext uri="{FF2B5EF4-FFF2-40B4-BE49-F238E27FC236}">
                  <a16:creationId xmlns:a16="http://schemas.microsoft.com/office/drawing/2014/main" id="{31516C86-A17E-624D-B05D-5067E1AF66DB}"/>
                </a:ext>
              </a:extLst>
            </p:cNvPr>
            <p:cNvSpPr/>
            <p:nvPr/>
          </p:nvSpPr>
          <p:spPr>
            <a:xfrm rot="10800000">
              <a:off x="3527298" y="2816654"/>
              <a:ext cx="3423291" cy="605850"/>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8" name="Group 37">
            <a:extLst>
              <a:ext uri="{FF2B5EF4-FFF2-40B4-BE49-F238E27FC236}">
                <a16:creationId xmlns:a16="http://schemas.microsoft.com/office/drawing/2014/main" id="{2D4CEC0F-8BFB-DEB4-1AC7-DFD709259D2D}"/>
              </a:ext>
            </a:extLst>
          </p:cNvPr>
          <p:cNvGrpSpPr/>
          <p:nvPr/>
        </p:nvGrpSpPr>
        <p:grpSpPr>
          <a:xfrm>
            <a:off x="7112643" y="5353699"/>
            <a:ext cx="4703879" cy="1214933"/>
            <a:chOff x="3527298" y="2509627"/>
            <a:chExt cx="3423291" cy="1214933"/>
          </a:xfrm>
        </p:grpSpPr>
        <p:sp>
          <p:nvSpPr>
            <p:cNvPr id="39" name="Shape 2">
              <a:extLst>
                <a:ext uri="{FF2B5EF4-FFF2-40B4-BE49-F238E27FC236}">
                  <a16:creationId xmlns:a16="http://schemas.microsoft.com/office/drawing/2014/main" id="{D3ACEA64-25E9-9B6D-BC9C-2F20604EB563}"/>
                </a:ext>
              </a:extLst>
            </p:cNvPr>
            <p:cNvSpPr/>
            <p:nvPr/>
          </p:nvSpPr>
          <p:spPr>
            <a:xfrm>
              <a:off x="3527298" y="2509627"/>
              <a:ext cx="3423291" cy="307028"/>
            </a:xfrm>
            <a:prstGeom prst="round2SameRect">
              <a:avLst>
                <a:gd name="adj1" fmla="val 32721"/>
                <a:gd name="adj2" fmla="val 0"/>
              </a:avLst>
            </a:prstGeom>
            <a:solidFill>
              <a:schemeClr val="accent4"/>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Sego’s Approach</a:t>
              </a:r>
            </a:p>
          </p:txBody>
        </p:sp>
        <p:sp>
          <p:nvSpPr>
            <p:cNvPr id="40" name="Shape 5">
              <a:extLst>
                <a:ext uri="{FF2B5EF4-FFF2-40B4-BE49-F238E27FC236}">
                  <a16:creationId xmlns:a16="http://schemas.microsoft.com/office/drawing/2014/main" id="{C20C81E0-5B8F-BFE3-EBA8-D9B59780E812}"/>
                </a:ext>
              </a:extLst>
            </p:cNvPr>
            <p:cNvSpPr/>
            <p:nvPr/>
          </p:nvSpPr>
          <p:spPr>
            <a:xfrm rot="10800000">
              <a:off x="3527298" y="2816652"/>
              <a:ext cx="3423291" cy="907908"/>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pic>
        <p:nvPicPr>
          <p:cNvPr id="41" name="Picture 40">
            <a:extLst>
              <a:ext uri="{FF2B5EF4-FFF2-40B4-BE49-F238E27FC236}">
                <a16:creationId xmlns:a16="http://schemas.microsoft.com/office/drawing/2014/main" id="{3CA4238B-4F8F-4378-0CF6-669DAC711E98}"/>
              </a:ext>
            </a:extLst>
          </p:cNvPr>
          <p:cNvPicPr>
            <a:picLocks noChangeAspect="1"/>
          </p:cNvPicPr>
          <p:nvPr/>
        </p:nvPicPr>
        <p:blipFill>
          <a:blip r:embed="rId2"/>
          <a:stretch>
            <a:fillRect/>
          </a:stretch>
        </p:blipFill>
        <p:spPr>
          <a:xfrm>
            <a:off x="1879916" y="2306079"/>
            <a:ext cx="4900775" cy="2116312"/>
          </a:xfrm>
          <a:prstGeom prst="rect">
            <a:avLst/>
          </a:prstGeom>
        </p:spPr>
      </p:pic>
      <p:cxnSp>
        <p:nvCxnSpPr>
          <p:cNvPr id="44" name="Straight Connector 43">
            <a:extLst>
              <a:ext uri="{FF2B5EF4-FFF2-40B4-BE49-F238E27FC236}">
                <a16:creationId xmlns:a16="http://schemas.microsoft.com/office/drawing/2014/main" id="{3D83C4A0-E66A-8210-77B1-15150D8A268D}"/>
              </a:ext>
            </a:extLst>
          </p:cNvPr>
          <p:cNvCxnSpPr/>
          <p:nvPr/>
        </p:nvCxnSpPr>
        <p:spPr>
          <a:xfrm>
            <a:off x="487194" y="4422394"/>
            <a:ext cx="6051826"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687D4C9-3AB7-EFE1-4165-E2122D0C7B5A}"/>
              </a:ext>
            </a:extLst>
          </p:cNvPr>
          <p:cNvSpPr txBox="1"/>
          <p:nvPr/>
        </p:nvSpPr>
        <p:spPr>
          <a:xfrm>
            <a:off x="245140" y="2571840"/>
            <a:ext cx="1607073" cy="599300"/>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Expression in healthy  tissue restricted to prostate vs. PSMA</a:t>
            </a:r>
          </a:p>
        </p:txBody>
      </p:sp>
      <p:sp>
        <p:nvSpPr>
          <p:cNvPr id="46" name="TextBox 45">
            <a:extLst>
              <a:ext uri="{FF2B5EF4-FFF2-40B4-BE49-F238E27FC236}">
                <a16:creationId xmlns:a16="http://schemas.microsoft.com/office/drawing/2014/main" id="{A820912F-9CB2-A301-6437-F5251C88B8B1}"/>
              </a:ext>
            </a:extLst>
          </p:cNvPr>
          <p:cNvSpPr txBox="1"/>
          <p:nvPr/>
        </p:nvSpPr>
        <p:spPr>
          <a:xfrm>
            <a:off x="326887" y="3544242"/>
            <a:ext cx="1525326" cy="599300"/>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95% pts are ACP3+ and expression is maintained through stages &amp; metastases</a:t>
            </a:r>
          </a:p>
        </p:txBody>
      </p:sp>
      <p:cxnSp>
        <p:nvCxnSpPr>
          <p:cNvPr id="47" name="Straight Connector 46">
            <a:extLst>
              <a:ext uri="{FF2B5EF4-FFF2-40B4-BE49-F238E27FC236}">
                <a16:creationId xmlns:a16="http://schemas.microsoft.com/office/drawing/2014/main" id="{90189F07-2982-B66E-9065-CFDC58291084}"/>
              </a:ext>
            </a:extLst>
          </p:cNvPr>
          <p:cNvCxnSpPr>
            <a:cxnSpLocks/>
          </p:cNvCxnSpPr>
          <p:nvPr/>
        </p:nvCxnSpPr>
        <p:spPr>
          <a:xfrm>
            <a:off x="1912862" y="2567780"/>
            <a:ext cx="0" cy="66451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14342EA-335F-CB0B-BCA4-1072B81F797B}"/>
              </a:ext>
            </a:extLst>
          </p:cNvPr>
          <p:cNvCxnSpPr>
            <a:cxnSpLocks/>
          </p:cNvCxnSpPr>
          <p:nvPr/>
        </p:nvCxnSpPr>
        <p:spPr>
          <a:xfrm>
            <a:off x="1919487" y="3589829"/>
            <a:ext cx="0" cy="66451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7375942-DD8B-85E3-1355-44192D57A004}"/>
              </a:ext>
            </a:extLst>
          </p:cNvPr>
          <p:cNvSpPr txBox="1"/>
          <p:nvPr/>
        </p:nvSpPr>
        <p:spPr>
          <a:xfrm>
            <a:off x="3172392" y="4701247"/>
            <a:ext cx="3286267" cy="5993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Imaging studies confirm </a:t>
            </a: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ACP3 RLT uptake is higher in tumors and lower in healthy tissues </a:t>
            </a:r>
            <a:r>
              <a:rPr kumimoji="0" lang="en-US" sz="1200" b="0" i="0" u="none" strike="noStrike" kern="1200" cap="none" spc="0" normalizeH="0" baseline="0" noProof="0">
                <a:ln>
                  <a:noFill/>
                </a:ln>
                <a:solidFill>
                  <a:srgbClr val="000000"/>
                </a:solidFill>
                <a:effectLst/>
                <a:uLnTx/>
                <a:uFillTx/>
                <a:latin typeface="Funnel Sans"/>
                <a:ea typeface="+mn-ea"/>
                <a:cs typeface="+mn-cs"/>
              </a:rPr>
              <a:t>compared to PSMA RLT</a:t>
            </a:r>
          </a:p>
        </p:txBody>
      </p:sp>
      <p:sp>
        <p:nvSpPr>
          <p:cNvPr id="57" name="TextBox 56">
            <a:extLst>
              <a:ext uri="{FF2B5EF4-FFF2-40B4-BE49-F238E27FC236}">
                <a16:creationId xmlns:a16="http://schemas.microsoft.com/office/drawing/2014/main" id="{E96F0F20-F8C1-AA4D-CEE7-6275F00C244F}"/>
              </a:ext>
            </a:extLst>
          </p:cNvPr>
          <p:cNvSpPr txBox="1"/>
          <p:nvPr/>
        </p:nvSpPr>
        <p:spPr>
          <a:xfrm>
            <a:off x="3184967" y="5362492"/>
            <a:ext cx="2911033" cy="943336"/>
          </a:xfrm>
          <a:prstGeom prst="rect">
            <a:avLst/>
          </a:prstGeom>
          <a:noFill/>
        </p:spPr>
        <p:txBody>
          <a:bodyPr wrap="square" lIns="0" tIns="0" rIns="0" bIns="0" rtlCol="0">
            <a:no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Funnel Sans Light"/>
                <a:ea typeface="+mn-ea"/>
                <a:cs typeface="+mn-cs"/>
              </a:rPr>
              <a:t>Greater uptake in bone metastasis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Funnel Sans Light"/>
                <a:ea typeface="+mn-ea"/>
                <a:cs typeface="+mn-cs"/>
              </a:rPr>
              <a:t>No salivary gland uptake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Funnel Sans Light"/>
                <a:ea typeface="+mn-ea"/>
                <a:cs typeface="+mn-cs"/>
              </a:rPr>
              <a:t>Less kidney, liver retention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Funnel Sans Light"/>
              <a:ea typeface="+mn-ea"/>
              <a:cs typeface="+mn-cs"/>
            </a:endParaRPr>
          </a:p>
        </p:txBody>
      </p:sp>
      <p:sp>
        <p:nvSpPr>
          <p:cNvPr id="59" name="TextBox 58">
            <a:extLst>
              <a:ext uri="{FF2B5EF4-FFF2-40B4-BE49-F238E27FC236}">
                <a16:creationId xmlns:a16="http://schemas.microsoft.com/office/drawing/2014/main" id="{3B1E4815-328B-4295-8A76-1543A6321D23}"/>
              </a:ext>
            </a:extLst>
          </p:cNvPr>
          <p:cNvSpPr txBox="1"/>
          <p:nvPr/>
        </p:nvSpPr>
        <p:spPr>
          <a:xfrm>
            <a:off x="-3101" y="6666308"/>
            <a:ext cx="963725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Funnel Sans"/>
                <a:ea typeface="+mn-ea"/>
                <a:cs typeface="+mn-cs"/>
              </a:rPr>
              <a:t>Sources: </a:t>
            </a:r>
            <a:r>
              <a:rPr kumimoji="0" lang="en-US" sz="700" b="0" i="0" u="none" strike="noStrike" kern="1200" cap="none" spc="0" normalizeH="0" baseline="0" noProof="0">
                <a:ln>
                  <a:noFill/>
                </a:ln>
                <a:solidFill>
                  <a:srgbClr val="000000"/>
                </a:solidFill>
                <a:effectLst/>
                <a:uLnTx/>
                <a:uFillTx/>
                <a:latin typeface="Funnel Sans"/>
                <a:ea typeface="+mn-ea"/>
                <a:cs typeface="+mn-cs"/>
                <a:hlinkClick r:id="rId3"/>
              </a:rPr>
              <a:t>Backhaus SNMMI Annual Meeting 2025</a:t>
            </a:r>
            <a:r>
              <a:rPr kumimoji="0" lang="en-US" sz="700" b="0" i="0" u="none" strike="noStrike" kern="1200" cap="none" spc="0" normalizeH="0" baseline="0" noProof="0">
                <a:ln>
                  <a:noFill/>
                </a:ln>
                <a:solidFill>
                  <a:srgbClr val="000000"/>
                </a:solidFill>
                <a:effectLst/>
                <a:uLnTx/>
                <a:uFillTx/>
                <a:latin typeface="Funnel Sans"/>
                <a:ea typeface="+mn-ea"/>
                <a:cs typeface="+mn-cs"/>
              </a:rPr>
              <a:t> </a:t>
            </a:r>
            <a:r>
              <a:rPr kumimoji="0" lang="en-US" sz="700" b="0" i="0" u="none" strike="noStrike" kern="1200" cap="none" spc="0" normalizeH="0" baseline="0" noProof="0">
                <a:ln>
                  <a:noFill/>
                </a:ln>
                <a:solidFill>
                  <a:srgbClr val="000000"/>
                </a:solidFill>
                <a:effectLst/>
                <a:uLnTx/>
                <a:uFillTx/>
                <a:latin typeface="Funnel Sans"/>
                <a:ea typeface="+mn-ea"/>
                <a:cs typeface="+mn-cs"/>
                <a:hlinkClick r:id="rId4"/>
              </a:rPr>
              <a:t>Georgiev Nat Biomed Eng 2025</a:t>
            </a:r>
            <a:endParaRPr kumimoji="0" lang="en-US" sz="700" b="0" i="0" u="none" strike="noStrike" kern="1200" cap="none" spc="0" normalizeH="0" baseline="0" noProof="0">
              <a:ln>
                <a:noFill/>
              </a:ln>
              <a:solidFill>
                <a:srgbClr val="000000"/>
              </a:solidFill>
              <a:effectLst/>
              <a:uLnTx/>
              <a:uFillTx/>
              <a:latin typeface="Funnel Sans"/>
              <a:ea typeface="+mn-ea"/>
              <a:cs typeface="+mn-cs"/>
            </a:endParaRPr>
          </a:p>
        </p:txBody>
      </p:sp>
      <p:sp>
        <p:nvSpPr>
          <p:cNvPr id="70" name="TextBox 69">
            <a:extLst>
              <a:ext uri="{FF2B5EF4-FFF2-40B4-BE49-F238E27FC236}">
                <a16:creationId xmlns:a16="http://schemas.microsoft.com/office/drawing/2014/main" id="{5720073B-1BBB-1240-FEE3-19040D3A083E}"/>
              </a:ext>
            </a:extLst>
          </p:cNvPr>
          <p:cNvSpPr txBox="1"/>
          <p:nvPr/>
        </p:nvSpPr>
        <p:spPr>
          <a:xfrm>
            <a:off x="7243010" y="4747849"/>
            <a:ext cx="4524957" cy="52900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One competing ACP3 RLT, OncoACP3. BMS/</a:t>
            </a:r>
            <a:r>
              <a:rPr kumimoji="0" lang="en-US" sz="1200" b="0" i="0" u="none" strike="noStrike" kern="1200" cap="none" spc="0" normalizeH="0" baseline="0" noProof="0" err="1">
                <a:ln>
                  <a:noFill/>
                </a:ln>
                <a:solidFill>
                  <a:srgbClr val="000000"/>
                </a:solidFill>
                <a:effectLst/>
                <a:uLnTx/>
                <a:uFillTx/>
                <a:latin typeface="Funnel Sans"/>
                <a:ea typeface="+mn-ea"/>
                <a:cs typeface="+mn-cs"/>
              </a:rPr>
              <a:t>Rayze</a:t>
            </a:r>
            <a:r>
              <a:rPr kumimoji="0" lang="en-US" sz="1200" b="0" i="0" u="none" strike="noStrike" kern="1200" cap="none" spc="0" normalizeH="0" baseline="0" noProof="0">
                <a:ln>
                  <a:noFill/>
                </a:ln>
                <a:solidFill>
                  <a:srgbClr val="000000"/>
                </a:solidFill>
                <a:effectLst/>
                <a:uLnTx/>
                <a:uFillTx/>
                <a:latin typeface="Funnel Sans"/>
                <a:ea typeface="+mn-ea"/>
                <a:cs typeface="+mn-cs"/>
              </a:rPr>
              <a:t>. Ph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Liability: Does not internalize, reduces efficacy</a:t>
            </a:r>
          </a:p>
        </p:txBody>
      </p:sp>
      <p:graphicFrame>
        <p:nvGraphicFramePr>
          <p:cNvPr id="72" name="Table 71">
            <a:extLst>
              <a:ext uri="{FF2B5EF4-FFF2-40B4-BE49-F238E27FC236}">
                <a16:creationId xmlns:a16="http://schemas.microsoft.com/office/drawing/2014/main" id="{3760E512-6A42-F000-3DBF-754E2AC442E1}"/>
              </a:ext>
            </a:extLst>
          </p:cNvPr>
          <p:cNvGraphicFramePr>
            <a:graphicFrameLocks noGrp="1"/>
          </p:cNvGraphicFramePr>
          <p:nvPr/>
        </p:nvGraphicFramePr>
        <p:xfrm>
          <a:off x="7243010" y="2416807"/>
          <a:ext cx="4449825" cy="1676863"/>
        </p:xfrm>
        <a:graphic>
          <a:graphicData uri="http://schemas.openxmlformats.org/drawingml/2006/table">
            <a:tbl>
              <a:tblPr firstRow="1" bandRow="1">
                <a:tableStyleId>{2D5ABB26-0587-4C30-8999-92F81FD0307C}</a:tableStyleId>
              </a:tblPr>
              <a:tblGrid>
                <a:gridCol w="1288498">
                  <a:extLst>
                    <a:ext uri="{9D8B030D-6E8A-4147-A177-3AD203B41FA5}">
                      <a16:colId xmlns:a16="http://schemas.microsoft.com/office/drawing/2014/main" val="2342644943"/>
                    </a:ext>
                  </a:extLst>
                </a:gridCol>
                <a:gridCol w="398217">
                  <a:extLst>
                    <a:ext uri="{9D8B030D-6E8A-4147-A177-3AD203B41FA5}">
                      <a16:colId xmlns:a16="http://schemas.microsoft.com/office/drawing/2014/main" val="3754668722"/>
                    </a:ext>
                  </a:extLst>
                </a:gridCol>
                <a:gridCol w="2763110">
                  <a:extLst>
                    <a:ext uri="{9D8B030D-6E8A-4147-A177-3AD203B41FA5}">
                      <a16:colId xmlns:a16="http://schemas.microsoft.com/office/drawing/2014/main" val="1461637697"/>
                    </a:ext>
                  </a:extLst>
                </a:gridCol>
              </a:tblGrid>
              <a:tr h="485764">
                <a:tc>
                  <a:txBody>
                    <a:bodyPr/>
                    <a:lstStyle/>
                    <a:p>
                      <a:r>
                        <a:rPr lang="en-US" sz="1200" b="0">
                          <a:latin typeface="Funnel Sans Medium" pitchFamily="2" charset="0"/>
                        </a:rPr>
                        <a:t>Tumor-specific accessibility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Tumor specific expression</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291459">
                <a:tc>
                  <a:txBody>
                    <a:bodyPr/>
                    <a:lstStyle/>
                    <a:p>
                      <a:r>
                        <a:rPr lang="en-US" sz="1200" b="0">
                          <a:latin typeface="Funnel Sans Medium" pitchFamily="2" charset="0"/>
                        </a:rPr>
                        <a:t>Internalization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Lysosomal targeting sequence</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3785566"/>
                  </a:ext>
                </a:extLst>
              </a:tr>
              <a:tr h="413876">
                <a:tc>
                  <a:txBody>
                    <a:bodyPr/>
                    <a:lstStyle/>
                    <a:p>
                      <a:r>
                        <a:rPr lang="en-US" sz="1200" b="0">
                          <a:latin typeface="Funnel Sans Medium" pitchFamily="2" charset="0"/>
                        </a:rPr>
                        <a:t>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Secreted at lower levels than </a:t>
                      </a:r>
                      <a:r>
                        <a:rPr lang="en-US" sz="1200" b="0">
                          <a:solidFill>
                            <a:schemeClr val="tx1"/>
                          </a:solidFill>
                        </a:rPr>
                        <a:t>PSA</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24988676"/>
                  </a:ext>
                </a:extLst>
              </a:tr>
              <a:tr h="485764">
                <a:tc>
                  <a:txBody>
                    <a:bodyPr/>
                    <a:lstStyle/>
                    <a:p>
                      <a:r>
                        <a:rPr lang="en-US" sz="1200" b="0" err="1">
                          <a:latin typeface="Funnel Sans Medium" pitchFamily="2" charset="0"/>
                        </a:rPr>
                        <a:t>Ligandability</a:t>
                      </a:r>
                      <a:endParaRPr lang="en-US" sz="1200" b="0">
                        <a:latin typeface="Funnel Sans Medium" pitchFamily="2" charset="0"/>
                      </a:endParaRP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b="0"/>
                        <a:t>Known active site &amp; small molecule ligands</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2277830281"/>
                  </a:ext>
                </a:extLst>
              </a:tr>
            </a:tbl>
          </a:graphicData>
        </a:graphic>
      </p:graphicFrame>
      <p:graphicFrame>
        <p:nvGraphicFramePr>
          <p:cNvPr id="77" name="Table 76">
            <a:extLst>
              <a:ext uri="{FF2B5EF4-FFF2-40B4-BE49-F238E27FC236}">
                <a16:creationId xmlns:a16="http://schemas.microsoft.com/office/drawing/2014/main" id="{6E92824B-7FE3-6906-B789-26D6FA016503}"/>
              </a:ext>
            </a:extLst>
          </p:cNvPr>
          <p:cNvGraphicFramePr>
            <a:graphicFrameLocks noGrp="1"/>
          </p:cNvGraphicFramePr>
          <p:nvPr/>
        </p:nvGraphicFramePr>
        <p:xfrm>
          <a:off x="7188485" y="5681492"/>
          <a:ext cx="4552190" cy="840458"/>
        </p:xfrm>
        <a:graphic>
          <a:graphicData uri="http://schemas.openxmlformats.org/drawingml/2006/table">
            <a:tbl>
              <a:tblPr firstRow="1" bandRow="1">
                <a:tableStyleId>{2D5ABB26-0587-4C30-8999-92F81FD0307C}</a:tableStyleId>
              </a:tblPr>
              <a:tblGrid>
                <a:gridCol w="931273">
                  <a:extLst>
                    <a:ext uri="{9D8B030D-6E8A-4147-A177-3AD203B41FA5}">
                      <a16:colId xmlns:a16="http://schemas.microsoft.com/office/drawing/2014/main" val="2342644943"/>
                    </a:ext>
                  </a:extLst>
                </a:gridCol>
                <a:gridCol w="3620917">
                  <a:extLst>
                    <a:ext uri="{9D8B030D-6E8A-4147-A177-3AD203B41FA5}">
                      <a16:colId xmlns:a16="http://schemas.microsoft.com/office/drawing/2014/main" val="1461637697"/>
                    </a:ext>
                  </a:extLst>
                </a:gridCol>
              </a:tblGrid>
              <a:tr h="317973">
                <a:tc>
                  <a:txBody>
                    <a:bodyPr/>
                    <a:lstStyle/>
                    <a:p>
                      <a:r>
                        <a:rPr lang="en-US" sz="1200" b="0">
                          <a:latin typeface="Funnel Sans Medium" pitchFamily="2" charset="0"/>
                        </a:rPr>
                        <a:t>Modality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a:t>ACP3 targeted monomeric or bis-peptide RLT</a:t>
                      </a:r>
                      <a:endParaRPr lang="en-US" sz="1200" b="0"/>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522485">
                <a:tc>
                  <a:txBody>
                    <a:bodyPr/>
                    <a:lstStyle/>
                    <a:p>
                      <a:r>
                        <a:rPr lang="en-US" sz="1200" b="0">
                          <a:latin typeface="Funnel Sans Medium" pitchFamily="2" charset="0"/>
                        </a:rPr>
                        <a:t>Positioning</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b="0"/>
                        <a:t>Initial positioning in </a:t>
                      </a:r>
                      <a:r>
                        <a:rPr lang="en-US" sz="1200" b="0" err="1"/>
                        <a:t>mCPRC</a:t>
                      </a:r>
                      <a:r>
                        <a:rPr lang="en-US" sz="1200" b="0"/>
                        <a:t>, with intent to expand beyond late-stage patients</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1663785566"/>
                  </a:ext>
                </a:extLst>
              </a:tr>
            </a:tbl>
          </a:graphicData>
        </a:graphic>
      </p:graphicFrame>
      <p:pic>
        <p:nvPicPr>
          <p:cNvPr id="5" name="Picture 2">
            <a:extLst>
              <a:ext uri="{FF2B5EF4-FFF2-40B4-BE49-F238E27FC236}">
                <a16:creationId xmlns:a16="http://schemas.microsoft.com/office/drawing/2014/main" id="{9673DEF8-E30D-81FA-8C97-D164DFA816D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51111"/>
          <a:stretch>
            <a:fillRect/>
          </a:stretch>
        </p:blipFill>
        <p:spPr bwMode="auto">
          <a:xfrm>
            <a:off x="451325" y="4576179"/>
            <a:ext cx="1456248" cy="1280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141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49D0-FEB8-9D16-EF00-0F5BDCE1602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1BD5C2B-54EF-AA99-1E60-632EC276E04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
            <a:extLst>
              <a:ext uri="{FF2B5EF4-FFF2-40B4-BE49-F238E27FC236}">
                <a16:creationId xmlns:a16="http://schemas.microsoft.com/office/drawing/2014/main" id="{C4AC7AEF-C028-E61F-DFC7-967E4ACE5AE2}"/>
              </a:ext>
            </a:extLst>
          </p:cNvPr>
          <p:cNvSpPr/>
          <p:nvPr/>
        </p:nvSpPr>
        <p:spPr>
          <a:xfrm>
            <a:off x="254001" y="1475863"/>
            <a:ext cx="1133823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ABC62898-88B3-D2E7-3566-0C2319599CC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F697F3AF-4DB2-D89C-E541-CF8B0007D91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BD6824E2-E32C-DE1D-DE1A-E763D8A43F51}"/>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F2ACD1B7-557C-DB84-8279-C293D337BD74}"/>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AA35D88C-1E39-FC89-55FA-7A865D6B613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5703EF6-DA40-84C3-B156-CCA9D40888E5}"/>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26D27C1F-0B0B-CFB2-8EEE-03E89162BE9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CFB2688B-1933-AAF6-242C-4C30378AE94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1D80EF01-6598-4C5C-1D07-FC8DE4E59EDC}"/>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2BF41F1C-1641-CE49-56F3-5335F570ED3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D6F763F6-FE72-A23B-C02A-06859166842A}"/>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E9E7FBA5-3166-12E0-EEE4-32D01F574F0F}"/>
              </a:ext>
            </a:extLst>
          </p:cNvPr>
          <p:cNvSpPr/>
          <p:nvPr/>
        </p:nvSpPr>
        <p:spPr>
          <a:xfrm>
            <a:off x="254000" y="635564"/>
            <a:ext cx="11338231"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ACP3 is an ideal RLT target with strong, consistent tumor expression</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2" name="Straight Connector 1">
            <a:extLst>
              <a:ext uri="{FF2B5EF4-FFF2-40B4-BE49-F238E27FC236}">
                <a16:creationId xmlns:a16="http://schemas.microsoft.com/office/drawing/2014/main" id="{BA666483-317F-C1D3-8796-52E790DC863F}"/>
              </a:ext>
            </a:extLst>
          </p:cNvPr>
          <p:cNvCxnSpPr>
            <a:cxnSpLocks/>
          </p:cNvCxnSpPr>
          <p:nvPr/>
        </p:nvCxnSpPr>
        <p:spPr>
          <a:xfrm>
            <a:off x="1465744" y="1767893"/>
            <a:ext cx="0" cy="556498"/>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B1C0F89-F61F-C412-09C2-127E56B297E8}"/>
              </a:ext>
            </a:extLst>
          </p:cNvPr>
          <p:cNvSpPr txBox="1"/>
          <p:nvPr/>
        </p:nvSpPr>
        <p:spPr>
          <a:xfrm>
            <a:off x="232849" y="1680423"/>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Biology</a:t>
            </a:r>
          </a:p>
        </p:txBody>
      </p:sp>
      <p:sp>
        <p:nvSpPr>
          <p:cNvPr id="26" name="TextBox 25">
            <a:extLst>
              <a:ext uri="{FF2B5EF4-FFF2-40B4-BE49-F238E27FC236}">
                <a16:creationId xmlns:a16="http://schemas.microsoft.com/office/drawing/2014/main" id="{ADDC503F-63B0-2DC7-5DC4-4885057A2D09}"/>
              </a:ext>
            </a:extLst>
          </p:cNvPr>
          <p:cNvSpPr txBox="1"/>
          <p:nvPr/>
        </p:nvSpPr>
        <p:spPr>
          <a:xfrm>
            <a:off x="1610861" y="1680423"/>
            <a:ext cx="10100316" cy="397031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Phosphatase enzyme known as ACP3, PAP,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PAcP</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and PSAP exists in two splice variants: cell surface transmembrane PAP (TM-PAP) and secreted PAP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sPAP</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t>
            </a:r>
            <a:r>
              <a:rPr kumimoji="0" lang="en-US" sz="1400" b="1" i="0" u="none" strike="noStrike" kern="1200" cap="none" spc="0" normalizeH="0" baseline="0" noProof="0" dirty="0">
                <a:ln>
                  <a:noFill/>
                </a:ln>
                <a:solidFill>
                  <a:prstClr val="black"/>
                </a:solidFill>
                <a:effectLst/>
                <a:uLnTx/>
                <a:uFillTx/>
                <a:latin typeface="Funnel Sans"/>
                <a:ea typeface="+mn-ea"/>
                <a:cs typeface="+mn-cs"/>
              </a:rPr>
              <a:t>TM-PAP</a:t>
            </a:r>
            <a:r>
              <a:rPr kumimoji="0" lang="en-US" sz="1400" b="0" i="0" u="none" strike="noStrike" kern="1200" cap="none" spc="0" normalizeH="0" baseline="0" noProof="0" dirty="0">
                <a:ln>
                  <a:noFill/>
                </a:ln>
                <a:solidFill>
                  <a:prstClr val="black"/>
                </a:solidFill>
                <a:effectLst/>
                <a:uLnTx/>
                <a:uFillTx/>
                <a:latin typeface="Funnel Sans"/>
                <a:ea typeface="+mn-ea"/>
                <a:cs typeface="+mn-cs"/>
              </a:rPr>
              <a:t>, contains a lysosomal internalization signal sequence, leading to </a:t>
            </a:r>
            <a:r>
              <a:rPr kumimoji="0" lang="en-US" sz="1400" b="0" i="0" u="none" strike="noStrike" kern="1200" cap="none" spc="0" normalizeH="0" baseline="0" noProof="0" dirty="0">
                <a:ln>
                  <a:noFill/>
                </a:ln>
                <a:solidFill>
                  <a:prstClr val="black"/>
                </a:solidFill>
                <a:effectLst/>
                <a:uLnTx/>
                <a:uFillTx/>
                <a:latin typeface="Funnel Sans"/>
                <a:ea typeface="+mn-lt"/>
                <a:cs typeface="+mn-lt"/>
              </a:rPr>
              <a:t>constitutive </a:t>
            </a:r>
            <a:r>
              <a:rPr kumimoji="0" lang="en-US" sz="1400" b="0" i="0" u="none" strike="noStrike" kern="1200" cap="none" spc="0" normalizeH="0" baseline="0" noProof="0" dirty="0">
                <a:ln>
                  <a:noFill/>
                </a:ln>
                <a:solidFill>
                  <a:prstClr val="black"/>
                </a:solidFill>
                <a:effectLst/>
                <a:uLnTx/>
                <a:uFillTx/>
                <a:latin typeface="Funnel Sans"/>
                <a:ea typeface="+mn-ea"/>
                <a:cs typeface="+mn-cs"/>
              </a:rPr>
              <a:t>internalization and recycling. </a:t>
            </a:r>
            <a:r>
              <a:rPr kumimoji="0" lang="en-US" sz="1400" b="1" i="0" u="none" strike="noStrike" kern="1200" cap="none" spc="0" normalizeH="0" baseline="0" noProof="0" dirty="0" err="1">
                <a:ln>
                  <a:noFill/>
                </a:ln>
                <a:solidFill>
                  <a:prstClr val="black"/>
                </a:solidFill>
                <a:effectLst/>
                <a:uLnTx/>
                <a:uFillTx/>
                <a:latin typeface="Funnel Sans"/>
                <a:ea typeface="+mn-ea"/>
                <a:cs typeface="+mn-cs"/>
              </a:rPr>
              <a:t>sPAP</a:t>
            </a:r>
            <a:r>
              <a:rPr kumimoji="0" lang="en-US" sz="1400" b="0" i="0" u="none" strike="noStrike" kern="1200" cap="none" spc="0" normalizeH="0" baseline="0" noProof="0" dirty="0">
                <a:ln>
                  <a:noFill/>
                </a:ln>
                <a:solidFill>
                  <a:prstClr val="black"/>
                </a:solidFill>
                <a:effectLst/>
                <a:uLnTx/>
                <a:uFillTx/>
                <a:latin typeface="Funnel Sans"/>
                <a:ea typeface="+mn-ea"/>
                <a:cs typeface="+mn-cs"/>
              </a:rPr>
              <a:t> is secreted, with a short biological half-life (relative to PSA), reducing off target toxicities.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Overexpressed in ~</a:t>
            </a:r>
            <a:r>
              <a:rPr kumimoji="0" lang="en-US" sz="1400" b="1" i="0" u="none" strike="noStrike" kern="1200" cap="none" spc="0" normalizeH="0" baseline="0" noProof="0" dirty="0">
                <a:ln>
                  <a:noFill/>
                </a:ln>
                <a:solidFill>
                  <a:prstClr val="black"/>
                </a:solidFill>
                <a:effectLst/>
                <a:uLnTx/>
                <a:uFillTx/>
                <a:latin typeface="Funnel Sans"/>
                <a:ea typeface="+mn-ea"/>
                <a:cs typeface="+mn-cs"/>
              </a:rPr>
              <a:t>95% of prostate cancers, </a:t>
            </a:r>
            <a:r>
              <a:rPr kumimoji="0" lang="en-US" sz="1400" b="0" i="0" u="none" strike="noStrike" kern="1200" cap="none" spc="0" normalizeH="0" baseline="0" noProof="0" dirty="0">
                <a:ln>
                  <a:noFill/>
                </a:ln>
                <a:solidFill>
                  <a:prstClr val="black"/>
                </a:solidFill>
                <a:effectLst/>
                <a:uLnTx/>
                <a:uFillTx/>
                <a:latin typeface="Funnel Sans"/>
                <a:ea typeface="+mn-ea"/>
                <a:cs typeface="+mn-cs"/>
              </a:rPr>
              <a:t>including PSMA-negative lesions. Little to no expression outside prostate; with expression in normal prostate not clinically relevant post radical therapy, with the potential for an excellent safety profile. Homogenously upregulated across primary, BCR and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mCRPC</a:t>
            </a:r>
            <a:r>
              <a:rPr kumimoji="0" lang="en-US" sz="1400" b="0" i="0" u="none" strike="noStrike" kern="1200" cap="none" spc="0" normalizeH="0" baseline="0" noProof="0" dirty="0">
                <a:ln>
                  <a:noFill/>
                </a:ln>
                <a:solidFill>
                  <a:prstClr val="black"/>
                </a:solidFill>
                <a:effectLst/>
                <a:uLnTx/>
                <a:uFillTx/>
                <a:latin typeface="Funnel Sans"/>
                <a:ea typeface="+mn-ea"/>
                <a:cs typeface="+mn-cs"/>
              </a:rPr>
              <a:t>, regardless of hormone sensitivity and Gleason score, while maintaining expression in metastases. </a:t>
            </a:r>
            <a:endParaRPr lang="en-US" sz="1400" b="0" i="0" u="none" strike="noStrike" kern="1200" cap="none" spc="0" normalizeH="0" baseline="0" noProof="0" dirty="0">
              <a:ln>
                <a:noFill/>
              </a:ln>
              <a:solidFill>
                <a:prstClr val="black"/>
              </a:solidFill>
              <a:effectLst/>
              <a:uLnTx/>
              <a:uFillTx/>
              <a:latin typeface="Funnel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Targeted via small molecule inhibitors, e.g. OncoACP3, making it amenable to peptide targeting. There is significant room for improvement in uptake and retention of OncoACP3 as it does not internalize. Uro-oncologists are actively looking for treatments, especially RLT-based, for patients not amenable to PSMA-RLT.</a:t>
            </a:r>
            <a:endParaRPr kumimoji="0" lang="en-US" sz="1400" b="0" i="0" u="none" strike="noStrike" kern="1200" cap="none" spc="0" normalizeH="0" baseline="0" noProof="0" dirty="0">
              <a:ln>
                <a:noFill/>
              </a:ln>
              <a:solidFill>
                <a:prstClr val="black"/>
              </a:solidFill>
              <a:effectLst/>
              <a:highlight>
                <a:srgbClr val="00FFFF"/>
              </a:highlight>
              <a:uLnTx/>
              <a:uFillTx/>
              <a:latin typeface="Funnel Sans"/>
              <a:ea typeface="+mn-ea"/>
              <a:cs typeface="+mn-cs"/>
            </a:endParaRPr>
          </a:p>
          <a:p>
            <a:pPr>
              <a:defRPr/>
            </a:pPr>
            <a:endParaRPr lang="en-US" sz="1400" dirty="0">
              <a:solidFill>
                <a:prstClr val="black"/>
              </a:solidFill>
              <a:latin typeface="Funnel Sans"/>
            </a:endParaRPr>
          </a:p>
          <a:p>
            <a:pPr>
              <a:defRPr/>
            </a:pPr>
            <a:r>
              <a:rPr kumimoji="0" lang="en-US" sz="1400" b="1" i="0" u="none" strike="noStrike" kern="1200" cap="none" spc="0" normalizeH="0" baseline="0" noProof="0" dirty="0">
                <a:ln>
                  <a:noFill/>
                </a:ln>
                <a:solidFill>
                  <a:prstClr val="black"/>
                </a:solidFill>
                <a:effectLst/>
                <a:uLnTx/>
                <a:uFillTx/>
                <a:latin typeface="Funnel Sans"/>
                <a:ea typeface="+mn-ea"/>
                <a:cs typeface="+mn-cs"/>
              </a:rPr>
              <a:t>~40–50% of </a:t>
            </a:r>
            <a:r>
              <a:rPr kumimoji="0" lang="en-US" sz="1400" b="1" i="0" u="none" strike="noStrike" kern="1200" cap="none" spc="0" normalizeH="0" baseline="0" noProof="0" dirty="0" err="1">
                <a:ln>
                  <a:noFill/>
                </a:ln>
                <a:solidFill>
                  <a:prstClr val="black"/>
                </a:solidFill>
                <a:effectLst/>
                <a:uLnTx/>
                <a:uFillTx/>
                <a:latin typeface="Funnel Sans"/>
                <a:ea typeface="+mn-ea"/>
                <a:cs typeface="+mn-cs"/>
              </a:rPr>
              <a:t>mCRPC</a:t>
            </a:r>
            <a:r>
              <a:rPr kumimoji="0" lang="en-US" sz="1400" b="1" i="0" u="none" strike="noStrike" kern="1200" cap="none" spc="0" normalizeH="0" baseline="0" noProof="0" dirty="0">
                <a:ln>
                  <a:noFill/>
                </a:ln>
                <a:solidFill>
                  <a:prstClr val="black"/>
                </a:solidFill>
                <a:effectLst/>
                <a:uLnTx/>
                <a:uFillTx/>
                <a:latin typeface="Funnel Sans"/>
                <a:ea typeface="+mn-ea"/>
                <a:cs typeface="+mn-cs"/>
              </a:rPr>
              <a:t> patients fail or </a:t>
            </a:r>
            <a:r>
              <a:rPr lang="en-US" sz="1400" b="1" dirty="0">
                <a:solidFill>
                  <a:prstClr val="black"/>
                </a:solidFill>
                <a:latin typeface="Funnel Sans"/>
              </a:rPr>
              <a:t>are</a:t>
            </a:r>
            <a:r>
              <a:rPr kumimoji="0" lang="en-US" sz="1400" b="1" i="0" u="none" strike="noStrike" kern="1200" cap="none" spc="0" normalizeH="0" baseline="0" noProof="0" dirty="0">
                <a:ln>
                  <a:noFill/>
                </a:ln>
                <a:solidFill>
                  <a:prstClr val="black"/>
                </a:solidFill>
                <a:effectLst/>
                <a:uLnTx/>
                <a:uFillTx/>
                <a:latin typeface="Funnel Sans"/>
                <a:ea typeface="+mn-ea"/>
                <a:cs typeface="+mn-cs"/>
              </a:rPr>
              <a:t> ineligible for PSMA-RLT</a:t>
            </a:r>
            <a:r>
              <a:rPr lang="en-US" sz="1400" b="1" dirty="0">
                <a:solidFill>
                  <a:prstClr val="black"/>
                </a:solidFill>
                <a:latin typeface="Funnel Sans"/>
              </a:rPr>
              <a:t>. </a:t>
            </a:r>
            <a:r>
              <a:rPr lang="en-US" sz="1400" dirty="0">
                <a:solidFill>
                  <a:prstClr val="black"/>
                </a:solidFill>
                <a:latin typeface="Funnel Sans"/>
              </a:rPr>
              <a:t>In contrast, ACP3 has</a:t>
            </a:r>
            <a:r>
              <a:rPr kumimoji="0" lang="en-US" sz="1400" i="0" u="none" strike="noStrike" kern="1200" cap="none" spc="0" normalizeH="0" baseline="0" noProof="0" dirty="0">
                <a:ln>
                  <a:noFill/>
                </a:ln>
                <a:solidFill>
                  <a:prstClr val="black"/>
                </a:solidFill>
                <a:effectLst/>
                <a:uLnTx/>
                <a:uFillTx/>
                <a:latin typeface="Funnel Sans"/>
                <a:ea typeface="+mn-ea"/>
                <a:cs typeface="+mn-cs"/>
              </a:rPr>
              <a:t> </a:t>
            </a:r>
            <a:r>
              <a:rPr kumimoji="0" lang="en-US" sz="1400" b="0" i="0" u="none" strike="noStrike" kern="1200" cap="none" spc="0" normalizeH="0" baseline="0" noProof="0" dirty="0">
                <a:ln>
                  <a:noFill/>
                </a:ln>
                <a:solidFill>
                  <a:prstClr val="black"/>
                </a:solidFill>
                <a:effectLst/>
                <a:uLnTx/>
                <a:uFillTx/>
                <a:latin typeface="Funnel Sans"/>
                <a:ea typeface="+mn-ea"/>
                <a:cs typeface="+mn-cs"/>
              </a:rPr>
              <a:t>high expression across all stages of prostate cancer. Due to </a:t>
            </a:r>
            <a:r>
              <a:rPr lang="en-US" sz="1400" dirty="0">
                <a:solidFill>
                  <a:prstClr val="black"/>
                </a:solidFill>
                <a:latin typeface="Funnel Sans"/>
              </a:rPr>
              <a:t>very-prostate</a:t>
            </a:r>
            <a:r>
              <a:rPr kumimoji="0" lang="en-US" sz="1400" b="0" i="0" u="none" strike="noStrike" kern="1200" cap="none" spc="0" normalizeH="0" baseline="0" noProof="0" dirty="0">
                <a:ln>
                  <a:noFill/>
                </a:ln>
                <a:solidFill>
                  <a:prstClr val="black"/>
                </a:solidFill>
                <a:effectLst/>
                <a:uLnTx/>
                <a:uFillTx/>
                <a:latin typeface="Funnel Sans"/>
                <a:ea typeface="+mn-ea"/>
                <a:cs typeface="+mn-cs"/>
              </a:rPr>
              <a:t> specific expression profile, there is opportunity for ACP3 based therapies to complete in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mCPRC</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and move </a:t>
            </a:r>
            <a:r>
              <a:rPr kumimoji="0" lang="en-US" sz="1400" b="1" i="0" u="none" strike="noStrike" kern="1200" cap="none" spc="0" normalizeH="0" baseline="0" noProof="0" dirty="0">
                <a:ln>
                  <a:noFill/>
                </a:ln>
                <a:solidFill>
                  <a:prstClr val="black"/>
                </a:solidFill>
                <a:effectLst/>
                <a:uLnTx/>
                <a:uFillTx/>
                <a:latin typeface="Funnel Sans"/>
                <a:ea typeface="+mn-ea"/>
                <a:cs typeface="+mn-cs"/>
              </a:rPr>
              <a:t>into earlier lines of therapy</a:t>
            </a:r>
            <a:r>
              <a:rPr kumimoji="0" lang="en-US" sz="1400" b="0" i="0" u="none" strike="noStrike" kern="1200" cap="none" spc="0" normalizeH="0" baseline="0" noProof="0">
                <a:ln>
                  <a:noFill/>
                </a:ln>
                <a:solidFill>
                  <a:prstClr val="black"/>
                </a:solidFill>
                <a:effectLst/>
                <a:uLnTx/>
                <a:uFillTx/>
                <a:latin typeface="Funnel Sans"/>
                <a:ea typeface="+mn-ea"/>
                <a:cs typeface="+mn-cs"/>
              </a:rPr>
              <a:t>.  Limited </a:t>
            </a:r>
            <a:r>
              <a:rPr kumimoji="0" lang="en-US" sz="1400" b="0" i="0" u="none" strike="noStrike" kern="1200" cap="none" spc="0" normalizeH="0" baseline="0" noProof="0" dirty="0">
                <a:ln>
                  <a:noFill/>
                </a:ln>
                <a:solidFill>
                  <a:prstClr val="black"/>
                </a:solidFill>
                <a:effectLst/>
                <a:uLnTx/>
                <a:uFillTx/>
                <a:latin typeface="Funnel Sans"/>
                <a:ea typeface="+mn-ea"/>
                <a:cs typeface="+mn-cs"/>
              </a:rPr>
              <a:t>competition, only 1 known program: OncoACP3, licensed from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Philochem</a:t>
            </a:r>
            <a:r>
              <a:rPr kumimoji="0" lang="en-US" sz="1400" b="0" i="0" u="none" strike="noStrike" kern="1200" cap="none" spc="0" normalizeH="0" baseline="0" noProof="0" dirty="0">
                <a:ln>
                  <a:noFill/>
                </a:ln>
                <a:solidFill>
                  <a:prstClr val="black"/>
                </a:solidFill>
                <a:effectLst/>
                <a:uLnTx/>
                <a:uFillTx/>
                <a:latin typeface="Funnel Sans"/>
                <a:ea typeface="+mn-ea"/>
                <a:cs typeface="+mn-cs"/>
              </a:rPr>
              <a:t> to BMS/</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RayzeBio</a:t>
            </a:r>
            <a:r>
              <a:rPr kumimoji="0" lang="en-US" sz="1400" b="0" i="0" u="none" strike="noStrike" kern="1200" cap="none" spc="0" normalizeH="0" baseline="0" noProof="0" dirty="0">
                <a:ln>
                  <a:noFill/>
                </a:ln>
                <a:solidFill>
                  <a:prstClr val="black"/>
                </a:solidFill>
                <a:effectLst/>
                <a:uLnTx/>
                <a:uFillTx/>
                <a:latin typeface="Funnel Sans"/>
                <a:ea typeface="+mn-ea"/>
                <a:cs typeface="+mn-cs"/>
              </a:rPr>
              <a:t> in 2025 for $350M+. PSMA-RLT revenues ~$2B, TAM predicted to be $4B; ACP3-RLT TAM could be &gt;2x PSMA-RLT.</a:t>
            </a:r>
            <a:endParaRPr lang="en-US" sz="1400" b="0" i="0" u="none" strike="noStrike" kern="1200" cap="none" spc="0" normalizeH="0" baseline="0" noProof="0" dirty="0">
              <a:ln>
                <a:noFill/>
              </a:ln>
              <a:solidFill>
                <a:prstClr val="black"/>
              </a:solidFill>
              <a:effectLst/>
              <a:uLnTx/>
              <a:uFillTx/>
              <a:latin typeface="Funnel Sans"/>
            </a:endParaRPr>
          </a:p>
        </p:txBody>
      </p:sp>
      <p:cxnSp>
        <p:nvCxnSpPr>
          <p:cNvPr id="33" name="Straight Connector 32">
            <a:extLst>
              <a:ext uri="{FF2B5EF4-FFF2-40B4-BE49-F238E27FC236}">
                <a16:creationId xmlns:a16="http://schemas.microsoft.com/office/drawing/2014/main" id="{5CEB9ACA-A0B1-F3EA-B47D-23B5827C0CDB}"/>
              </a:ext>
            </a:extLst>
          </p:cNvPr>
          <p:cNvCxnSpPr>
            <a:cxnSpLocks/>
          </p:cNvCxnSpPr>
          <p:nvPr/>
        </p:nvCxnSpPr>
        <p:spPr>
          <a:xfrm>
            <a:off x="1472636" y="2594594"/>
            <a:ext cx="0" cy="70225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27E96B7E-EE56-942A-0CB4-349283A95976}"/>
              </a:ext>
            </a:extLst>
          </p:cNvPr>
          <p:cNvSpPr txBox="1"/>
          <p:nvPr/>
        </p:nvSpPr>
        <p:spPr>
          <a:xfrm>
            <a:off x="294447" y="2489886"/>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Expression</a:t>
            </a:r>
          </a:p>
        </p:txBody>
      </p:sp>
      <p:cxnSp>
        <p:nvCxnSpPr>
          <p:cNvPr id="35" name="Straight Connector 34">
            <a:extLst>
              <a:ext uri="{FF2B5EF4-FFF2-40B4-BE49-F238E27FC236}">
                <a16:creationId xmlns:a16="http://schemas.microsoft.com/office/drawing/2014/main" id="{FA7B38C1-95C3-25B5-4C14-0CF7E4BC4C6C}"/>
              </a:ext>
            </a:extLst>
          </p:cNvPr>
          <p:cNvCxnSpPr>
            <a:cxnSpLocks/>
          </p:cNvCxnSpPr>
          <p:nvPr/>
        </p:nvCxnSpPr>
        <p:spPr>
          <a:xfrm>
            <a:off x="1453529" y="3669174"/>
            <a:ext cx="0" cy="545017"/>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8CD3010E-21FD-3342-1B7E-9EE88642B18A}"/>
              </a:ext>
            </a:extLst>
          </p:cNvPr>
          <p:cNvSpPr txBox="1"/>
          <p:nvPr/>
        </p:nvSpPr>
        <p:spPr>
          <a:xfrm>
            <a:off x="269232" y="4454997"/>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Landscape</a:t>
            </a:r>
          </a:p>
        </p:txBody>
      </p:sp>
      <p:cxnSp>
        <p:nvCxnSpPr>
          <p:cNvPr id="37" name="Straight Connector 36">
            <a:extLst>
              <a:ext uri="{FF2B5EF4-FFF2-40B4-BE49-F238E27FC236}">
                <a16:creationId xmlns:a16="http://schemas.microsoft.com/office/drawing/2014/main" id="{9A30251D-60C1-85E3-5B82-1824A73CA7E1}"/>
              </a:ext>
            </a:extLst>
          </p:cNvPr>
          <p:cNvCxnSpPr>
            <a:cxnSpLocks/>
          </p:cNvCxnSpPr>
          <p:nvPr/>
        </p:nvCxnSpPr>
        <p:spPr>
          <a:xfrm>
            <a:off x="1453529" y="4510839"/>
            <a:ext cx="0" cy="1037404"/>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6526224-4834-DCC7-E388-DC8CE4F2B867}"/>
              </a:ext>
            </a:extLst>
          </p:cNvPr>
          <p:cNvSpPr txBox="1"/>
          <p:nvPr/>
        </p:nvSpPr>
        <p:spPr>
          <a:xfrm>
            <a:off x="228781" y="3626811"/>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Feasibility</a:t>
            </a:r>
          </a:p>
        </p:txBody>
      </p:sp>
      <p:sp>
        <p:nvSpPr>
          <p:cNvPr id="40" name="Rectangle: Rounded Corners 39">
            <a:extLst>
              <a:ext uri="{FF2B5EF4-FFF2-40B4-BE49-F238E27FC236}">
                <a16:creationId xmlns:a16="http://schemas.microsoft.com/office/drawing/2014/main" id="{5C579F39-5994-50D7-869A-09576E9A0B8D}"/>
              </a:ext>
            </a:extLst>
          </p:cNvPr>
          <p:cNvSpPr/>
          <p:nvPr/>
        </p:nvSpPr>
        <p:spPr>
          <a:xfrm>
            <a:off x="637272" y="5883682"/>
            <a:ext cx="11124093" cy="665313"/>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1" name="Rectangle: Rounded Corners 40">
            <a:extLst>
              <a:ext uri="{FF2B5EF4-FFF2-40B4-BE49-F238E27FC236}">
                <a16:creationId xmlns:a16="http://schemas.microsoft.com/office/drawing/2014/main" id="{203B7584-6BE0-B49F-98FC-4992B8DB1AC5}"/>
              </a:ext>
            </a:extLst>
          </p:cNvPr>
          <p:cNvSpPr/>
          <p:nvPr/>
        </p:nvSpPr>
        <p:spPr>
          <a:xfrm>
            <a:off x="399316" y="5875496"/>
            <a:ext cx="1945303" cy="665313"/>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Funnel Sans"/>
                <a:ea typeface="+mn-ea"/>
                <a:cs typeface="+mn-cs"/>
              </a:rPr>
              <a:t>Sego’s Opportunity</a:t>
            </a:r>
          </a:p>
        </p:txBody>
      </p:sp>
      <p:sp>
        <p:nvSpPr>
          <p:cNvPr id="42" name="TextBox 41">
            <a:extLst>
              <a:ext uri="{FF2B5EF4-FFF2-40B4-BE49-F238E27FC236}">
                <a16:creationId xmlns:a16="http://schemas.microsoft.com/office/drawing/2014/main" id="{0D3D3D40-1B52-DEB6-6AF9-CDF8A6736DE7}"/>
              </a:ext>
            </a:extLst>
          </p:cNvPr>
          <p:cNvSpPr txBox="1"/>
          <p:nvPr/>
        </p:nvSpPr>
        <p:spPr>
          <a:xfrm>
            <a:off x="2347424" y="5954728"/>
            <a:ext cx="948137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Design a Best-in-Class, peptide-based RLT that is internalized and released into the cell, driving higher uptake, longer retention &amp; stronger efficacy against target that is consistently &amp; selectively overexpressed in majority of </a:t>
            </a:r>
            <a:r>
              <a:rPr kumimoji="0" lang="en-US" sz="1400" b="0" i="0" u="none" strike="noStrike" kern="1200" cap="none" spc="0" normalizeH="0" baseline="0" noProof="0" err="1">
                <a:ln>
                  <a:noFill/>
                </a:ln>
                <a:solidFill>
                  <a:prstClr val="black"/>
                </a:solidFill>
                <a:effectLst/>
                <a:uLnTx/>
                <a:uFillTx/>
                <a:latin typeface="Funnel Sans"/>
                <a:ea typeface="+mn-ea"/>
                <a:cs typeface="+mn-cs"/>
              </a:rPr>
              <a:t>PCa</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857CAF0C-722B-731D-FCE4-DCA723E74559}"/>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713296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E77C2D-125A-81CF-6BE3-9CA4B453A5F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4E66F9-9917-7862-1EE3-38D36CF18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2801" y="755059"/>
            <a:ext cx="8553845" cy="5635597"/>
          </a:xfrm>
          <a:prstGeom prst="rect">
            <a:avLst/>
          </a:prstGeom>
          <a:noFill/>
          <a:extLst>
            <a:ext uri="{909E8E84-426E-40DD-AFC4-6F175D3DCCD1}">
              <a14:hiddenFill xmlns:a14="http://schemas.microsoft.com/office/drawing/2010/main">
                <a:solidFill>
                  <a:srgbClr val="FFFFFF"/>
                </a:solidFill>
              </a14:hiddenFill>
            </a:ext>
          </a:extLst>
        </p:spPr>
      </p:pic>
      <p:sp>
        <p:nvSpPr>
          <p:cNvPr id="4" name="Text 28">
            <a:extLst>
              <a:ext uri="{FF2B5EF4-FFF2-40B4-BE49-F238E27FC236}">
                <a16:creationId xmlns:a16="http://schemas.microsoft.com/office/drawing/2014/main" id="{EDF15360-410C-5B4C-D88A-B4FE19F21859}"/>
              </a:ext>
            </a:extLst>
          </p:cNvPr>
          <p:cNvSpPr/>
          <p:nvPr/>
        </p:nvSpPr>
        <p:spPr>
          <a:xfrm>
            <a:off x="254000" y="635564"/>
            <a:ext cx="9855199" cy="762000"/>
          </a:xfrm>
          <a:prstGeom prst="rect">
            <a:avLst/>
          </a:prstGeom>
          <a:noFill/>
          <a:ln/>
        </p:spPr>
        <p:txBody>
          <a:bodyPr wrap="square" rtlCol="0" anchor="ctr"/>
          <a:lstStyle/>
          <a:p>
            <a:pPr>
              <a:lnSpc>
                <a:spcPts val="3000"/>
              </a:lnSpc>
            </a:pPr>
            <a:r>
              <a:rPr lang="en-US" sz="2400" kern="0" spc="-24" dirty="0">
                <a:solidFill>
                  <a:srgbClr val="000000">
                    <a:alpha val="99000"/>
                  </a:srgbClr>
                </a:solidFill>
                <a:latin typeface="+mj-lt"/>
              </a:rPr>
              <a:t>ACP3 (TM-PAP) is a cell surface protein phosphatase that is </a:t>
            </a:r>
            <a:r>
              <a:rPr lang="en-GB" sz="2400" b="0" i="0" dirty="0">
                <a:solidFill>
                  <a:srgbClr val="111111"/>
                </a:solidFill>
                <a:effectLst/>
                <a:latin typeface="+mj-lt"/>
              </a:rPr>
              <a:t>constitutively </a:t>
            </a:r>
            <a:r>
              <a:rPr lang="en-US" sz="2400" kern="0" spc="-24" dirty="0">
                <a:solidFill>
                  <a:srgbClr val="000000">
                    <a:alpha val="99000"/>
                  </a:srgbClr>
                </a:solidFill>
                <a:latin typeface="+mj-lt"/>
              </a:rPr>
              <a:t>internalized into the cell</a:t>
            </a:r>
            <a:endParaRPr lang="en-US" sz="2400" dirty="0">
              <a:latin typeface="+mj-lt"/>
            </a:endParaRPr>
          </a:p>
        </p:txBody>
      </p:sp>
      <p:sp>
        <p:nvSpPr>
          <p:cNvPr id="6" name="Shape 0">
            <a:extLst>
              <a:ext uri="{FF2B5EF4-FFF2-40B4-BE49-F238E27FC236}">
                <a16:creationId xmlns:a16="http://schemas.microsoft.com/office/drawing/2014/main" id="{56A38F9B-66A0-4731-52C0-62CA992A81BE}"/>
              </a:ext>
            </a:extLst>
          </p:cNvPr>
          <p:cNvSpPr/>
          <p:nvPr/>
        </p:nvSpPr>
        <p:spPr>
          <a:xfrm>
            <a:off x="254000" y="254000"/>
            <a:ext cx="882651" cy="304800"/>
          </a:xfrm>
          <a:prstGeom prst="rect">
            <a:avLst/>
          </a:prstGeom>
          <a:noFill/>
          <a:ln/>
        </p:spPr>
        <p:txBody>
          <a:bodyPr/>
          <a:lstStyle/>
          <a:p>
            <a:endParaRPr lang="en-US" sz="2400"/>
          </a:p>
        </p:txBody>
      </p:sp>
      <p:sp>
        <p:nvSpPr>
          <p:cNvPr id="7" name="Shape 19">
            <a:extLst>
              <a:ext uri="{FF2B5EF4-FFF2-40B4-BE49-F238E27FC236}">
                <a16:creationId xmlns:a16="http://schemas.microsoft.com/office/drawing/2014/main" id="{075A8409-F843-BD3A-4044-02473C5169D7}"/>
              </a:ext>
            </a:extLst>
          </p:cNvPr>
          <p:cNvSpPr/>
          <p:nvPr/>
        </p:nvSpPr>
        <p:spPr>
          <a:xfrm>
            <a:off x="2082801" y="330201"/>
            <a:ext cx="139700" cy="114300"/>
          </a:xfrm>
          <a:prstGeom prst="rect">
            <a:avLst/>
          </a:prstGeom>
          <a:noFill/>
          <a:ln/>
        </p:spPr>
        <p:txBody>
          <a:bodyPr/>
          <a:lstStyle/>
          <a:p>
            <a:endParaRPr lang="en-US" sz="2400"/>
          </a:p>
        </p:txBody>
      </p:sp>
      <p:pic>
        <p:nvPicPr>
          <p:cNvPr id="8" name="Image 3" descr="preencoded.png">
            <a:extLst>
              <a:ext uri="{FF2B5EF4-FFF2-40B4-BE49-F238E27FC236}">
                <a16:creationId xmlns:a16="http://schemas.microsoft.com/office/drawing/2014/main" id="{7BD0B007-79F4-338C-C595-4857FABE88E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9" name="Image 4" descr="preencoded.png">
            <a:extLst>
              <a:ext uri="{FF2B5EF4-FFF2-40B4-BE49-F238E27FC236}">
                <a16:creationId xmlns:a16="http://schemas.microsoft.com/office/drawing/2014/main" id="{1EE138EF-D8B7-D5B8-DCA9-E34BF5BAEC2B}"/>
              </a:ext>
            </a:extLst>
          </p:cNvPr>
          <p:cNvPicPr>
            <a:picLocks noChangeAspect="1"/>
          </p:cNvPicPr>
          <p:nvPr/>
        </p:nvPicPr>
        <p:blipFill>
          <a:blip r:embed="rId4"/>
          <a:stretch>
            <a:fillRect/>
          </a:stretch>
        </p:blipFill>
        <p:spPr>
          <a:xfrm>
            <a:off x="387028" y="459541"/>
            <a:ext cx="968" cy="4"/>
          </a:xfrm>
          <a:prstGeom prst="rect">
            <a:avLst/>
          </a:prstGeom>
        </p:spPr>
      </p:pic>
      <p:pic>
        <p:nvPicPr>
          <p:cNvPr id="10" name="Image 5" descr="preencoded.png">
            <a:extLst>
              <a:ext uri="{FF2B5EF4-FFF2-40B4-BE49-F238E27FC236}">
                <a16:creationId xmlns:a16="http://schemas.microsoft.com/office/drawing/2014/main" id="{96F7A0D4-FF37-7560-F4D3-48337CD19095}"/>
              </a:ext>
            </a:extLst>
          </p:cNvPr>
          <p:cNvPicPr>
            <a:picLocks noChangeAspect="1"/>
          </p:cNvPicPr>
          <p:nvPr/>
        </p:nvPicPr>
        <p:blipFill>
          <a:blip r:embed="rId4"/>
          <a:stretch>
            <a:fillRect/>
          </a:stretch>
        </p:blipFill>
        <p:spPr>
          <a:xfrm>
            <a:off x="386756" y="459546"/>
            <a:ext cx="297" cy="4"/>
          </a:xfrm>
          <a:prstGeom prst="rect">
            <a:avLst/>
          </a:prstGeom>
        </p:spPr>
      </p:pic>
      <p:pic>
        <p:nvPicPr>
          <p:cNvPr id="11" name="Image 6" descr="preencoded.png">
            <a:extLst>
              <a:ext uri="{FF2B5EF4-FFF2-40B4-BE49-F238E27FC236}">
                <a16:creationId xmlns:a16="http://schemas.microsoft.com/office/drawing/2014/main" id="{07DD9D16-08D1-2899-E612-06783756053F}"/>
              </a:ext>
            </a:extLst>
          </p:cNvPr>
          <p:cNvPicPr>
            <a:picLocks noChangeAspect="1"/>
          </p:cNvPicPr>
          <p:nvPr/>
        </p:nvPicPr>
        <p:blipFill>
          <a:blip r:embed="rId4"/>
          <a:stretch>
            <a:fillRect/>
          </a:stretch>
        </p:blipFill>
        <p:spPr>
          <a:xfrm>
            <a:off x="389261" y="473634"/>
            <a:ext cx="471" cy="4"/>
          </a:xfrm>
          <a:prstGeom prst="rect">
            <a:avLst/>
          </a:prstGeom>
        </p:spPr>
      </p:pic>
      <p:pic>
        <p:nvPicPr>
          <p:cNvPr id="12" name="Image 7" descr="preencoded.png">
            <a:extLst>
              <a:ext uri="{FF2B5EF4-FFF2-40B4-BE49-F238E27FC236}">
                <a16:creationId xmlns:a16="http://schemas.microsoft.com/office/drawing/2014/main" id="{CDFCBBB4-EFD8-3F43-7A90-3FCE28007ACE}"/>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3" name="Image 8" descr="preencoded.png">
            <a:extLst>
              <a:ext uri="{FF2B5EF4-FFF2-40B4-BE49-F238E27FC236}">
                <a16:creationId xmlns:a16="http://schemas.microsoft.com/office/drawing/2014/main" id="{A4A4BA81-7983-2579-7A8F-DC6297E355E7}"/>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4" name="Image 9" descr="preencoded.png">
            <a:extLst>
              <a:ext uri="{FF2B5EF4-FFF2-40B4-BE49-F238E27FC236}">
                <a16:creationId xmlns:a16="http://schemas.microsoft.com/office/drawing/2014/main" id="{6FF05CA6-563A-F32A-2EDD-75118D773EDB}"/>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5" name="Image 10" descr="preencoded.png">
            <a:extLst>
              <a:ext uri="{FF2B5EF4-FFF2-40B4-BE49-F238E27FC236}">
                <a16:creationId xmlns:a16="http://schemas.microsoft.com/office/drawing/2014/main" id="{B165B9E1-982C-6EEF-05B3-EE2E59898939}"/>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6" name="Image 11" descr="preencoded.png">
            <a:extLst>
              <a:ext uri="{FF2B5EF4-FFF2-40B4-BE49-F238E27FC236}">
                <a16:creationId xmlns:a16="http://schemas.microsoft.com/office/drawing/2014/main" id="{8AEBF188-2BA2-60D4-4DEF-0DAEE730B1F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7" name="Image 12" descr="preencoded.png">
            <a:extLst>
              <a:ext uri="{FF2B5EF4-FFF2-40B4-BE49-F238E27FC236}">
                <a16:creationId xmlns:a16="http://schemas.microsoft.com/office/drawing/2014/main" id="{54285E7A-CDEC-6F6E-ED34-BBD57AAF820C}"/>
              </a:ext>
            </a:extLst>
          </p:cNvPr>
          <p:cNvPicPr>
            <a:picLocks noChangeAspect="1"/>
          </p:cNvPicPr>
          <p:nvPr/>
        </p:nvPicPr>
        <p:blipFill>
          <a:blip r:embed="rId10"/>
          <a:stretch>
            <a:fillRect/>
          </a:stretch>
        </p:blipFill>
        <p:spPr>
          <a:xfrm>
            <a:off x="254000" y="376361"/>
            <a:ext cx="174501" cy="157575"/>
          </a:xfrm>
          <a:prstGeom prst="rect">
            <a:avLst/>
          </a:prstGeom>
        </p:spPr>
      </p:pic>
      <p:sp>
        <p:nvSpPr>
          <p:cNvPr id="19" name="TextBox 18">
            <a:extLst>
              <a:ext uri="{FF2B5EF4-FFF2-40B4-BE49-F238E27FC236}">
                <a16:creationId xmlns:a16="http://schemas.microsoft.com/office/drawing/2014/main" id="{C2C06807-49C3-38A0-8686-27D95D07222E}"/>
              </a:ext>
            </a:extLst>
          </p:cNvPr>
          <p:cNvSpPr txBox="1"/>
          <p:nvPr/>
        </p:nvSpPr>
        <p:spPr>
          <a:xfrm>
            <a:off x="0" y="6611779"/>
            <a:ext cx="5674852" cy="246221"/>
          </a:xfrm>
          <a:prstGeom prst="rect">
            <a:avLst/>
          </a:prstGeom>
          <a:noFill/>
        </p:spPr>
        <p:txBody>
          <a:bodyPr wrap="square" rtlCol="0">
            <a:spAutoFit/>
          </a:bodyPr>
          <a:lstStyle/>
          <a:p>
            <a:r>
              <a:rPr lang="en-US" sz="1000"/>
              <a:t>Sources: </a:t>
            </a:r>
            <a:r>
              <a:rPr lang="en-US" sz="1000">
                <a:hlinkClick r:id="rId11"/>
              </a:rPr>
              <a:t>Quintero et al </a:t>
            </a:r>
            <a:r>
              <a:rPr lang="en-US" sz="1000" err="1">
                <a:hlinkClick r:id="rId11"/>
              </a:rPr>
              <a:t>Plos</a:t>
            </a:r>
            <a:r>
              <a:rPr lang="en-US" sz="1000">
                <a:hlinkClick r:id="rId11"/>
              </a:rPr>
              <a:t> One 2013</a:t>
            </a:r>
            <a:endParaRPr lang="en-US" sz="1000"/>
          </a:p>
        </p:txBody>
      </p:sp>
      <p:sp>
        <p:nvSpPr>
          <p:cNvPr id="27" name="Rectangle: Rounded Corners 26">
            <a:extLst>
              <a:ext uri="{FF2B5EF4-FFF2-40B4-BE49-F238E27FC236}">
                <a16:creationId xmlns:a16="http://schemas.microsoft.com/office/drawing/2014/main" id="{ED5A783D-6C69-2EED-CF01-883F222E3DDF}"/>
              </a:ext>
            </a:extLst>
          </p:cNvPr>
          <p:cNvSpPr/>
          <p:nvPr/>
        </p:nvSpPr>
        <p:spPr>
          <a:xfrm>
            <a:off x="5674852" y="1618687"/>
            <a:ext cx="994370" cy="345780"/>
          </a:xfrm>
          <a:prstGeom prst="roundRect">
            <a:avLst/>
          </a:prstGeom>
          <a:solidFill>
            <a:srgbClr val="C6DCC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ACP3</a:t>
            </a:r>
          </a:p>
        </p:txBody>
      </p:sp>
      <p:cxnSp>
        <p:nvCxnSpPr>
          <p:cNvPr id="28" name="Straight Arrow Connector 27">
            <a:extLst>
              <a:ext uri="{FF2B5EF4-FFF2-40B4-BE49-F238E27FC236}">
                <a16:creationId xmlns:a16="http://schemas.microsoft.com/office/drawing/2014/main" id="{8399BF1F-2EFD-9A8C-7FEF-01E0DA389B11}"/>
              </a:ext>
            </a:extLst>
          </p:cNvPr>
          <p:cNvCxnSpPr>
            <a:cxnSpLocks/>
            <a:stCxn id="27" idx="1"/>
          </p:cNvCxnSpPr>
          <p:nvPr/>
        </p:nvCxnSpPr>
        <p:spPr>
          <a:xfrm flipH="1">
            <a:off x="4694665" y="1791577"/>
            <a:ext cx="980187" cy="3474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385AFB3E-44C0-AFDE-AF66-2AFE1D47AB90}"/>
              </a:ext>
            </a:extLst>
          </p:cNvPr>
          <p:cNvSpPr/>
          <p:nvPr/>
        </p:nvSpPr>
        <p:spPr>
          <a:xfrm>
            <a:off x="4278543" y="2198016"/>
            <a:ext cx="573778" cy="10073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7C751C8-FA34-FB09-E0EC-9D6DAB69F99D}"/>
              </a:ext>
            </a:extLst>
          </p:cNvPr>
          <p:cNvSpPr txBox="1"/>
          <p:nvPr/>
        </p:nvSpPr>
        <p:spPr>
          <a:xfrm>
            <a:off x="11055350" y="6614136"/>
            <a:ext cx="1136650" cy="246221"/>
          </a:xfrm>
          <a:prstGeom prst="rect">
            <a:avLst/>
          </a:prstGeom>
          <a:noFill/>
        </p:spPr>
        <p:txBody>
          <a:bodyPr wrap="square" rtlCol="0">
            <a:spAutoFit/>
          </a:bodyPr>
          <a:lstStyle/>
          <a:p>
            <a:pPr algn="r"/>
            <a:r>
              <a:rPr lang="en-US" sz="1000"/>
              <a:t>Confidential </a:t>
            </a:r>
            <a:fld id="{F55465F9-4A58-45DB-8234-396342B5FF6F}" type="slidenum">
              <a:rPr lang="en-US" sz="1000" smtClean="0"/>
              <a:pPr algn="r"/>
              <a:t>4</a:t>
            </a:fld>
            <a:endParaRPr lang="en-US" sz="1000"/>
          </a:p>
        </p:txBody>
      </p:sp>
      <p:sp>
        <p:nvSpPr>
          <p:cNvPr id="25" name="Rectangle: Rounded Corners 24">
            <a:extLst>
              <a:ext uri="{FF2B5EF4-FFF2-40B4-BE49-F238E27FC236}">
                <a16:creationId xmlns:a16="http://schemas.microsoft.com/office/drawing/2014/main" id="{AA58B41B-4096-0D53-F957-2462C8B482CD}"/>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Biology</a:t>
            </a:r>
          </a:p>
        </p:txBody>
      </p:sp>
      <p:grpSp>
        <p:nvGrpSpPr>
          <p:cNvPr id="20" name="Group 19">
            <a:extLst>
              <a:ext uri="{FF2B5EF4-FFF2-40B4-BE49-F238E27FC236}">
                <a16:creationId xmlns:a16="http://schemas.microsoft.com/office/drawing/2014/main" id="{2306B54C-5CC3-22B5-94CD-811F6C88F3AE}"/>
              </a:ext>
            </a:extLst>
          </p:cNvPr>
          <p:cNvGrpSpPr/>
          <p:nvPr/>
        </p:nvGrpSpPr>
        <p:grpSpPr>
          <a:xfrm>
            <a:off x="1932390" y="1618687"/>
            <a:ext cx="2404941" cy="1007300"/>
            <a:chOff x="1940482" y="1618687"/>
            <a:chExt cx="2404941" cy="1007300"/>
          </a:xfrm>
        </p:grpSpPr>
        <p:sp>
          <p:nvSpPr>
            <p:cNvPr id="2" name="Rectangle 1">
              <a:extLst>
                <a:ext uri="{FF2B5EF4-FFF2-40B4-BE49-F238E27FC236}">
                  <a16:creationId xmlns:a16="http://schemas.microsoft.com/office/drawing/2014/main" id="{C7FC365D-193D-0784-1D85-CD1274BDE3AF}"/>
                </a:ext>
              </a:extLst>
            </p:cNvPr>
            <p:cNvSpPr/>
            <p:nvPr/>
          </p:nvSpPr>
          <p:spPr>
            <a:xfrm>
              <a:off x="1940482" y="1618687"/>
              <a:ext cx="2338061" cy="1007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015AE7E5-1E27-BEB9-437E-E99643881D52}"/>
                </a:ext>
              </a:extLst>
            </p:cNvPr>
            <p:cNvSpPr txBox="1"/>
            <p:nvPr/>
          </p:nvSpPr>
          <p:spPr>
            <a:xfrm>
              <a:off x="3997465" y="1618687"/>
              <a:ext cx="347958" cy="369332"/>
            </a:xfrm>
            <a:prstGeom prst="rect">
              <a:avLst/>
            </a:prstGeom>
            <a:solidFill>
              <a:schemeClr val="bg1"/>
            </a:solidFill>
          </p:spPr>
          <p:txBody>
            <a:bodyPr wrap="square" rtlCol="0">
              <a:spAutoFit/>
            </a:bodyPr>
            <a:lstStyle/>
            <a:p>
              <a:endParaRPr lang="en-GB"/>
            </a:p>
          </p:txBody>
        </p:sp>
      </p:grpSp>
      <p:sp>
        <p:nvSpPr>
          <p:cNvPr id="21" name="Rectangle 20">
            <a:extLst>
              <a:ext uri="{FF2B5EF4-FFF2-40B4-BE49-F238E27FC236}">
                <a16:creationId xmlns:a16="http://schemas.microsoft.com/office/drawing/2014/main" id="{1060FED6-051D-5FC8-54F0-66155FCCF9DC}"/>
              </a:ext>
            </a:extLst>
          </p:cNvPr>
          <p:cNvSpPr/>
          <p:nvPr/>
        </p:nvSpPr>
        <p:spPr>
          <a:xfrm>
            <a:off x="4248151" y="3221639"/>
            <a:ext cx="2128374" cy="1343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09E654D7-D25C-CF73-2ED7-DF7462DA122A}"/>
              </a:ext>
            </a:extLst>
          </p:cNvPr>
          <p:cNvSpPr/>
          <p:nvPr/>
        </p:nvSpPr>
        <p:spPr>
          <a:xfrm>
            <a:off x="4016375" y="4197350"/>
            <a:ext cx="262168" cy="314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856E9CFC-94AB-2758-4B36-7A9FB4BEADE9}"/>
              </a:ext>
            </a:extLst>
          </p:cNvPr>
          <p:cNvSpPr/>
          <p:nvPr/>
        </p:nvSpPr>
        <p:spPr>
          <a:xfrm rot="5400000">
            <a:off x="5597973" y="2982683"/>
            <a:ext cx="262168" cy="4989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6817E32E-B628-7BFF-79AB-4937AAACFF22}"/>
              </a:ext>
            </a:extLst>
          </p:cNvPr>
          <p:cNvSpPr/>
          <p:nvPr/>
        </p:nvSpPr>
        <p:spPr>
          <a:xfrm>
            <a:off x="6350448" y="3232150"/>
            <a:ext cx="318774" cy="12096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3A60100C-6349-1893-2F7D-2212C9AED940}"/>
              </a:ext>
            </a:extLst>
          </p:cNvPr>
          <p:cNvSpPr/>
          <p:nvPr/>
        </p:nvSpPr>
        <p:spPr>
          <a:xfrm>
            <a:off x="6617364" y="4029075"/>
            <a:ext cx="318774" cy="532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EF36E811-2C6C-E41B-EA38-CCEA7845C314}"/>
              </a:ext>
            </a:extLst>
          </p:cNvPr>
          <p:cNvSpPr/>
          <p:nvPr/>
        </p:nvSpPr>
        <p:spPr>
          <a:xfrm>
            <a:off x="7947025" y="3917951"/>
            <a:ext cx="6731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156ADF90-8F90-8132-A75A-ACA4EEA636D3}"/>
              </a:ext>
            </a:extLst>
          </p:cNvPr>
          <p:cNvSpPr/>
          <p:nvPr/>
        </p:nvSpPr>
        <p:spPr>
          <a:xfrm>
            <a:off x="8239722" y="3588878"/>
            <a:ext cx="603466" cy="858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403B4CC1-2C14-EA53-012D-4D4E5CAF152B}"/>
              </a:ext>
            </a:extLst>
          </p:cNvPr>
          <p:cNvSpPr/>
          <p:nvPr/>
        </p:nvSpPr>
        <p:spPr>
          <a:xfrm>
            <a:off x="8068027" y="3803647"/>
            <a:ext cx="673100" cy="3937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64DC3A6B-6672-83BD-D232-C66B669ADE1F}"/>
              </a:ext>
            </a:extLst>
          </p:cNvPr>
          <p:cNvSpPr/>
          <p:nvPr/>
        </p:nvSpPr>
        <p:spPr>
          <a:xfrm>
            <a:off x="8239722" y="4094162"/>
            <a:ext cx="421089" cy="5206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BE340784-D0F6-507C-0CB1-19DC85F1FD58}"/>
              </a:ext>
            </a:extLst>
          </p:cNvPr>
          <p:cNvSpPr/>
          <p:nvPr/>
        </p:nvSpPr>
        <p:spPr>
          <a:xfrm rot="19147754">
            <a:off x="8558282" y="4719980"/>
            <a:ext cx="270948" cy="618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418163B8-03B0-5A52-898F-D18D2D584936}"/>
              </a:ext>
            </a:extLst>
          </p:cNvPr>
          <p:cNvSpPr/>
          <p:nvPr/>
        </p:nvSpPr>
        <p:spPr>
          <a:xfrm>
            <a:off x="8324850" y="4832351"/>
            <a:ext cx="295275" cy="2905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97057703-A530-050C-6B1F-00F33251185C}"/>
              </a:ext>
            </a:extLst>
          </p:cNvPr>
          <p:cNvSpPr/>
          <p:nvPr/>
        </p:nvSpPr>
        <p:spPr>
          <a:xfrm>
            <a:off x="9180466" y="755059"/>
            <a:ext cx="1647825" cy="18709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11A0E910-9B8D-3BD8-BCAF-73953D35DDA7}"/>
              </a:ext>
            </a:extLst>
          </p:cNvPr>
          <p:cNvSpPr/>
          <p:nvPr/>
        </p:nvSpPr>
        <p:spPr>
          <a:xfrm>
            <a:off x="4956175" y="2124125"/>
            <a:ext cx="1238250" cy="5304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0568D669-125D-3221-0404-66A4A3BD4040}"/>
              </a:ext>
            </a:extLst>
          </p:cNvPr>
          <p:cNvSpPr/>
          <p:nvPr/>
        </p:nvSpPr>
        <p:spPr>
          <a:xfrm rot="20403260">
            <a:off x="4953212" y="1654762"/>
            <a:ext cx="594852" cy="2500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B6370849-1859-AA8E-AAC7-A74AD468D7ED}"/>
              </a:ext>
            </a:extLst>
          </p:cNvPr>
          <p:cNvSpPr/>
          <p:nvPr/>
        </p:nvSpPr>
        <p:spPr>
          <a:xfrm rot="20403260">
            <a:off x="5093700" y="1955560"/>
            <a:ext cx="594852" cy="2500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B43F9465-1879-1A18-3979-2753FD52EC08}"/>
              </a:ext>
            </a:extLst>
          </p:cNvPr>
          <p:cNvSpPr/>
          <p:nvPr/>
        </p:nvSpPr>
        <p:spPr>
          <a:xfrm>
            <a:off x="4866814" y="2591150"/>
            <a:ext cx="1238250" cy="577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183C8F8A-5769-20C4-F28B-8913DD68FD93}"/>
              </a:ext>
            </a:extLst>
          </p:cNvPr>
          <p:cNvSpPr/>
          <p:nvPr/>
        </p:nvSpPr>
        <p:spPr>
          <a:xfrm>
            <a:off x="2383286" y="2558360"/>
            <a:ext cx="908280" cy="870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5" name="Picture 44">
            <a:extLst>
              <a:ext uri="{FF2B5EF4-FFF2-40B4-BE49-F238E27FC236}">
                <a16:creationId xmlns:a16="http://schemas.microsoft.com/office/drawing/2014/main" id="{1198598C-F310-B19C-AE14-78607918F2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341" t="34305" r="21860" b="60810"/>
          <a:stretch>
            <a:fillRect/>
          </a:stretch>
        </p:blipFill>
        <p:spPr bwMode="auto">
          <a:xfrm>
            <a:off x="5352910" y="2686760"/>
            <a:ext cx="752616" cy="27528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DD1D8CAD-EC4E-89D4-0DA7-4F5B751419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425" t="34305" r="21860" b="60810"/>
          <a:stretch>
            <a:fillRect/>
          </a:stretch>
        </p:blipFill>
        <p:spPr bwMode="auto">
          <a:xfrm>
            <a:off x="4866813" y="2685851"/>
            <a:ext cx="488809" cy="27528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02BD68BF-C750-984A-148A-4451EED355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341" t="34305" r="21860" b="60810"/>
          <a:stretch>
            <a:fillRect/>
          </a:stretch>
        </p:blipFill>
        <p:spPr bwMode="auto">
          <a:xfrm>
            <a:off x="2540538" y="2685851"/>
            <a:ext cx="752616" cy="27528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76441BA5-DA5F-E61B-751C-0EA03AA146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341" t="34305" r="21860" b="60810"/>
          <a:stretch>
            <a:fillRect/>
          </a:stretch>
        </p:blipFill>
        <p:spPr bwMode="auto">
          <a:xfrm>
            <a:off x="1790226" y="2688117"/>
            <a:ext cx="752616" cy="275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21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34BF74-4637-2345-2F39-13BB89FC700B}"/>
              </a:ext>
            </a:extLst>
          </p:cNvPr>
          <p:cNvPicPr>
            <a:picLocks noChangeAspect="1"/>
          </p:cNvPicPr>
          <p:nvPr/>
        </p:nvPicPr>
        <p:blipFill>
          <a:blip r:embed="rId2"/>
          <a:stretch>
            <a:fillRect/>
          </a:stretch>
        </p:blipFill>
        <p:spPr>
          <a:xfrm>
            <a:off x="1838739" y="1726101"/>
            <a:ext cx="10099263" cy="4361187"/>
          </a:xfrm>
          <a:prstGeom prst="rect">
            <a:avLst/>
          </a:prstGeom>
        </p:spPr>
      </p:pic>
      <p:sp>
        <p:nvSpPr>
          <p:cNvPr id="5" name="TextBox 4">
            <a:extLst>
              <a:ext uri="{FF2B5EF4-FFF2-40B4-BE49-F238E27FC236}">
                <a16:creationId xmlns:a16="http://schemas.microsoft.com/office/drawing/2014/main" id="{8CD264E6-6E37-CA03-68D1-3AF7168E4FCC}"/>
              </a:ext>
            </a:extLst>
          </p:cNvPr>
          <p:cNvSpPr txBox="1"/>
          <p:nvPr/>
        </p:nvSpPr>
        <p:spPr>
          <a:xfrm>
            <a:off x="0" y="6604000"/>
            <a:ext cx="567485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3"/>
              </a:rPr>
              <a:t>Georgiev Nat Biomed Eng 2025</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8" name="Shape 0">
            <a:extLst>
              <a:ext uri="{FF2B5EF4-FFF2-40B4-BE49-F238E27FC236}">
                <a16:creationId xmlns:a16="http://schemas.microsoft.com/office/drawing/2014/main" id="{DED46EDE-3A27-9F1C-1701-1DDC35C24D6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0" name="Shape 19">
            <a:extLst>
              <a:ext uri="{FF2B5EF4-FFF2-40B4-BE49-F238E27FC236}">
                <a16:creationId xmlns:a16="http://schemas.microsoft.com/office/drawing/2014/main" id="{63641AA0-12DD-3109-E92F-DF28AE0BF9A2}"/>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12" name="Image 3" descr="preencoded.png">
            <a:extLst>
              <a:ext uri="{FF2B5EF4-FFF2-40B4-BE49-F238E27FC236}">
                <a16:creationId xmlns:a16="http://schemas.microsoft.com/office/drawing/2014/main" id="{5AEA8991-4DEC-0FD7-752F-B3C549165E1B}"/>
              </a:ext>
            </a:extLst>
          </p:cNvPr>
          <p:cNvPicPr>
            <a:picLocks noChangeAspect="1"/>
          </p:cNvPicPr>
          <p:nvPr/>
        </p:nvPicPr>
        <p:blipFill>
          <a:blip r:embed="rId4"/>
          <a:stretch>
            <a:fillRect/>
          </a:stretch>
        </p:blipFill>
        <p:spPr>
          <a:xfrm>
            <a:off x="323503" y="254000"/>
            <a:ext cx="156939" cy="191368"/>
          </a:xfrm>
          <a:prstGeom prst="rect">
            <a:avLst/>
          </a:prstGeom>
        </p:spPr>
      </p:pic>
      <p:pic>
        <p:nvPicPr>
          <p:cNvPr id="14" name="Image 4" descr="preencoded.png">
            <a:extLst>
              <a:ext uri="{FF2B5EF4-FFF2-40B4-BE49-F238E27FC236}">
                <a16:creationId xmlns:a16="http://schemas.microsoft.com/office/drawing/2014/main" id="{112BB22D-01C3-70ED-7E67-A81ED1C846FD}"/>
              </a:ext>
            </a:extLst>
          </p:cNvPr>
          <p:cNvPicPr>
            <a:picLocks noChangeAspect="1"/>
          </p:cNvPicPr>
          <p:nvPr/>
        </p:nvPicPr>
        <p:blipFill>
          <a:blip r:embed="rId5"/>
          <a:stretch>
            <a:fillRect/>
          </a:stretch>
        </p:blipFill>
        <p:spPr>
          <a:xfrm>
            <a:off x="387028" y="459541"/>
            <a:ext cx="968" cy="4"/>
          </a:xfrm>
          <a:prstGeom prst="rect">
            <a:avLst/>
          </a:prstGeom>
        </p:spPr>
      </p:pic>
      <p:pic>
        <p:nvPicPr>
          <p:cNvPr id="15" name="Image 5" descr="preencoded.png">
            <a:extLst>
              <a:ext uri="{FF2B5EF4-FFF2-40B4-BE49-F238E27FC236}">
                <a16:creationId xmlns:a16="http://schemas.microsoft.com/office/drawing/2014/main" id="{18BEE2D7-E548-52A1-E156-91BEA9D77193}"/>
              </a:ext>
            </a:extLst>
          </p:cNvPr>
          <p:cNvPicPr>
            <a:picLocks noChangeAspect="1"/>
          </p:cNvPicPr>
          <p:nvPr/>
        </p:nvPicPr>
        <p:blipFill>
          <a:blip r:embed="rId5"/>
          <a:stretch>
            <a:fillRect/>
          </a:stretch>
        </p:blipFill>
        <p:spPr>
          <a:xfrm>
            <a:off x="386756" y="459546"/>
            <a:ext cx="297" cy="4"/>
          </a:xfrm>
          <a:prstGeom prst="rect">
            <a:avLst/>
          </a:prstGeom>
        </p:spPr>
      </p:pic>
      <p:pic>
        <p:nvPicPr>
          <p:cNvPr id="16" name="Image 6" descr="preencoded.png">
            <a:extLst>
              <a:ext uri="{FF2B5EF4-FFF2-40B4-BE49-F238E27FC236}">
                <a16:creationId xmlns:a16="http://schemas.microsoft.com/office/drawing/2014/main" id="{0CED0E84-99E7-1DD9-DB5F-42F2983449DD}"/>
              </a:ext>
            </a:extLst>
          </p:cNvPr>
          <p:cNvPicPr>
            <a:picLocks noChangeAspect="1"/>
          </p:cNvPicPr>
          <p:nvPr/>
        </p:nvPicPr>
        <p:blipFill>
          <a:blip r:embed="rId5"/>
          <a:stretch>
            <a:fillRect/>
          </a:stretch>
        </p:blipFill>
        <p:spPr>
          <a:xfrm>
            <a:off x="389261" y="473634"/>
            <a:ext cx="471" cy="4"/>
          </a:xfrm>
          <a:prstGeom prst="rect">
            <a:avLst/>
          </a:prstGeom>
        </p:spPr>
      </p:pic>
      <p:pic>
        <p:nvPicPr>
          <p:cNvPr id="17" name="Image 7" descr="preencoded.png">
            <a:extLst>
              <a:ext uri="{FF2B5EF4-FFF2-40B4-BE49-F238E27FC236}">
                <a16:creationId xmlns:a16="http://schemas.microsoft.com/office/drawing/2014/main" id="{5DCADD5C-9CA7-48A2-CCBA-21642D0ED264}"/>
              </a:ext>
            </a:extLst>
          </p:cNvPr>
          <p:cNvPicPr>
            <a:picLocks noChangeAspect="1"/>
          </p:cNvPicPr>
          <p:nvPr/>
        </p:nvPicPr>
        <p:blipFill>
          <a:blip r:embed="rId6"/>
          <a:stretch>
            <a:fillRect/>
          </a:stretch>
        </p:blipFill>
        <p:spPr>
          <a:xfrm>
            <a:off x="600300" y="305277"/>
            <a:ext cx="137641" cy="202443"/>
          </a:xfrm>
          <a:prstGeom prst="rect">
            <a:avLst/>
          </a:prstGeom>
        </p:spPr>
      </p:pic>
      <p:pic>
        <p:nvPicPr>
          <p:cNvPr id="18" name="Image 8" descr="preencoded.png">
            <a:extLst>
              <a:ext uri="{FF2B5EF4-FFF2-40B4-BE49-F238E27FC236}">
                <a16:creationId xmlns:a16="http://schemas.microsoft.com/office/drawing/2014/main" id="{7A7B9780-3781-5EFA-8201-16DA4C8A1019}"/>
              </a:ext>
            </a:extLst>
          </p:cNvPr>
          <p:cNvPicPr>
            <a:picLocks noChangeAspect="1"/>
          </p:cNvPicPr>
          <p:nvPr/>
        </p:nvPicPr>
        <p:blipFill>
          <a:blip r:embed="rId7"/>
          <a:stretch>
            <a:fillRect/>
          </a:stretch>
        </p:blipFill>
        <p:spPr>
          <a:xfrm>
            <a:off x="743372" y="360473"/>
            <a:ext cx="126579" cy="147243"/>
          </a:xfrm>
          <a:prstGeom prst="rect">
            <a:avLst/>
          </a:prstGeom>
        </p:spPr>
      </p:pic>
      <p:pic>
        <p:nvPicPr>
          <p:cNvPr id="19" name="Image 9" descr="preencoded.png">
            <a:extLst>
              <a:ext uri="{FF2B5EF4-FFF2-40B4-BE49-F238E27FC236}">
                <a16:creationId xmlns:a16="http://schemas.microsoft.com/office/drawing/2014/main" id="{0A1591CA-61B6-96C9-0365-6ECAC62F9133}"/>
              </a:ext>
            </a:extLst>
          </p:cNvPr>
          <p:cNvPicPr>
            <a:picLocks noChangeAspect="1"/>
          </p:cNvPicPr>
          <p:nvPr/>
        </p:nvPicPr>
        <p:blipFill>
          <a:blip r:embed="rId8"/>
          <a:stretch>
            <a:fillRect/>
          </a:stretch>
        </p:blipFill>
        <p:spPr>
          <a:xfrm>
            <a:off x="872928" y="360456"/>
            <a:ext cx="131737" cy="198345"/>
          </a:xfrm>
          <a:prstGeom prst="rect">
            <a:avLst/>
          </a:prstGeom>
        </p:spPr>
      </p:pic>
      <p:pic>
        <p:nvPicPr>
          <p:cNvPr id="20" name="Image 10" descr="preencoded.png">
            <a:extLst>
              <a:ext uri="{FF2B5EF4-FFF2-40B4-BE49-F238E27FC236}">
                <a16:creationId xmlns:a16="http://schemas.microsoft.com/office/drawing/2014/main" id="{50B7DCEC-B9C9-371C-AE81-CEA014E16DCC}"/>
              </a:ext>
            </a:extLst>
          </p:cNvPr>
          <p:cNvPicPr>
            <a:picLocks noChangeAspect="1"/>
          </p:cNvPicPr>
          <p:nvPr/>
        </p:nvPicPr>
        <p:blipFill>
          <a:blip r:embed="rId9"/>
          <a:stretch>
            <a:fillRect/>
          </a:stretch>
        </p:blipFill>
        <p:spPr>
          <a:xfrm>
            <a:off x="1001142" y="360468"/>
            <a:ext cx="135508" cy="147243"/>
          </a:xfrm>
          <a:prstGeom prst="rect">
            <a:avLst/>
          </a:prstGeom>
        </p:spPr>
      </p:pic>
      <p:pic>
        <p:nvPicPr>
          <p:cNvPr id="21" name="Image 11" descr="preencoded.png">
            <a:extLst>
              <a:ext uri="{FF2B5EF4-FFF2-40B4-BE49-F238E27FC236}">
                <a16:creationId xmlns:a16="http://schemas.microsoft.com/office/drawing/2014/main" id="{32149857-4521-D225-2118-0E4F322179ED}"/>
              </a:ext>
            </a:extLst>
          </p:cNvPr>
          <p:cNvPicPr>
            <a:picLocks noChangeAspect="1"/>
          </p:cNvPicPr>
          <p:nvPr/>
        </p:nvPicPr>
        <p:blipFill>
          <a:blip r:embed="rId10"/>
          <a:stretch>
            <a:fillRect/>
          </a:stretch>
        </p:blipFill>
        <p:spPr>
          <a:xfrm>
            <a:off x="375419" y="376364"/>
            <a:ext cx="174501" cy="157568"/>
          </a:xfrm>
          <a:prstGeom prst="rect">
            <a:avLst/>
          </a:prstGeom>
        </p:spPr>
      </p:pic>
      <p:pic>
        <p:nvPicPr>
          <p:cNvPr id="22" name="Image 12" descr="preencoded.png">
            <a:extLst>
              <a:ext uri="{FF2B5EF4-FFF2-40B4-BE49-F238E27FC236}">
                <a16:creationId xmlns:a16="http://schemas.microsoft.com/office/drawing/2014/main" id="{C3EECA12-EF17-0D53-615B-BA489C0EF325}"/>
              </a:ext>
            </a:extLst>
          </p:cNvPr>
          <p:cNvPicPr>
            <a:picLocks noChangeAspect="1"/>
          </p:cNvPicPr>
          <p:nvPr/>
        </p:nvPicPr>
        <p:blipFill>
          <a:blip r:embed="rId11"/>
          <a:stretch>
            <a:fillRect/>
          </a:stretch>
        </p:blipFill>
        <p:spPr>
          <a:xfrm>
            <a:off x="254000" y="376361"/>
            <a:ext cx="174501" cy="157575"/>
          </a:xfrm>
          <a:prstGeom prst="rect">
            <a:avLst/>
          </a:prstGeom>
        </p:spPr>
      </p:pic>
      <p:sp>
        <p:nvSpPr>
          <p:cNvPr id="23" name="Text 28">
            <a:extLst>
              <a:ext uri="{FF2B5EF4-FFF2-40B4-BE49-F238E27FC236}">
                <a16:creationId xmlns:a16="http://schemas.microsoft.com/office/drawing/2014/main" id="{A9207CC2-3AAB-E3B0-E8CF-8B8A4052DFC9}"/>
              </a:ext>
            </a:extLst>
          </p:cNvPr>
          <p:cNvSpPr/>
          <p:nvPr/>
        </p:nvSpPr>
        <p:spPr>
          <a:xfrm>
            <a:off x="254000" y="635564"/>
            <a:ext cx="11466052"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ACP3 expression is more homogenous than PSMA expression in </a:t>
            </a:r>
            <a:r>
              <a:rPr kumimoji="0" lang="en-US" sz="2400" b="0" i="0" u="none" strike="noStrike" kern="0" cap="none" spc="-24" normalizeH="0" baseline="0" noProof="0" err="1">
                <a:ln>
                  <a:noFill/>
                </a:ln>
                <a:solidFill>
                  <a:srgbClr val="000000">
                    <a:alpha val="99000"/>
                  </a:srgbClr>
                </a:solidFill>
                <a:effectLst/>
                <a:uLnTx/>
                <a:uFillTx/>
                <a:latin typeface="Funnel Sans" pitchFamily="34" charset="0"/>
                <a:ea typeface="+mn-ea"/>
                <a:cs typeface="+mn-cs"/>
              </a:rPr>
              <a:t>PCa</a:t>
            </a: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 metastases</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4" name="Shape 1">
            <a:extLst>
              <a:ext uri="{FF2B5EF4-FFF2-40B4-BE49-F238E27FC236}">
                <a16:creationId xmlns:a16="http://schemas.microsoft.com/office/drawing/2014/main" id="{C88225EB-C2A5-FCD8-576A-C50A5B61F03E}"/>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5" name="Rectangle 24">
            <a:extLst>
              <a:ext uri="{FF2B5EF4-FFF2-40B4-BE49-F238E27FC236}">
                <a16:creationId xmlns:a16="http://schemas.microsoft.com/office/drawing/2014/main" id="{F5946AF4-B325-DB51-B32A-18F475DD6EEA}"/>
              </a:ext>
            </a:extLst>
          </p:cNvPr>
          <p:cNvSpPr/>
          <p:nvPr/>
        </p:nvSpPr>
        <p:spPr>
          <a:xfrm>
            <a:off x="169334" y="2182761"/>
            <a:ext cx="1787285" cy="1548555"/>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ACP3 healthy cell expression is restricted to prostate</a:t>
            </a:r>
          </a:p>
        </p:txBody>
      </p:sp>
      <p:sp>
        <p:nvSpPr>
          <p:cNvPr id="26" name="Rectangle 25">
            <a:extLst>
              <a:ext uri="{FF2B5EF4-FFF2-40B4-BE49-F238E27FC236}">
                <a16:creationId xmlns:a16="http://schemas.microsoft.com/office/drawing/2014/main" id="{4F565344-31F2-85E2-3C75-66254024015E}"/>
              </a:ext>
            </a:extLst>
          </p:cNvPr>
          <p:cNvSpPr/>
          <p:nvPr/>
        </p:nvSpPr>
        <p:spPr>
          <a:xfrm>
            <a:off x="169334" y="4305989"/>
            <a:ext cx="1787285" cy="1548555"/>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ACP3 expression is maintained through prostate cancer progression and metastases</a:t>
            </a:r>
          </a:p>
        </p:txBody>
      </p:sp>
      <p:cxnSp>
        <p:nvCxnSpPr>
          <p:cNvPr id="28" name="Straight Connector 27">
            <a:extLst>
              <a:ext uri="{FF2B5EF4-FFF2-40B4-BE49-F238E27FC236}">
                <a16:creationId xmlns:a16="http://schemas.microsoft.com/office/drawing/2014/main" id="{48FE0F99-8E97-3EB5-3039-1947FA9F052B}"/>
              </a:ext>
            </a:extLst>
          </p:cNvPr>
          <p:cNvCxnSpPr>
            <a:cxnSpLocks/>
          </p:cNvCxnSpPr>
          <p:nvPr/>
        </p:nvCxnSpPr>
        <p:spPr>
          <a:xfrm>
            <a:off x="1945149" y="2104103"/>
            <a:ext cx="0" cy="16813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FA141A8-915B-B919-B951-370AB8A31F0E}"/>
              </a:ext>
            </a:extLst>
          </p:cNvPr>
          <p:cNvCxnSpPr>
            <a:cxnSpLocks/>
          </p:cNvCxnSpPr>
          <p:nvPr/>
        </p:nvCxnSpPr>
        <p:spPr>
          <a:xfrm>
            <a:off x="1945149" y="4239608"/>
            <a:ext cx="0" cy="1681316"/>
          </a:xfrm>
          <a:prstGeom prst="line">
            <a:avLst/>
          </a:prstGeom>
        </p:spPr>
        <p:style>
          <a:lnRef idx="2">
            <a:schemeClr val="accent1"/>
          </a:lnRef>
          <a:fillRef idx="0">
            <a:schemeClr val="accent1"/>
          </a:fillRef>
          <a:effectRef idx="1">
            <a:schemeClr val="accent1"/>
          </a:effectRef>
          <a:fontRef idx="minor">
            <a:schemeClr val="tx1"/>
          </a:fontRef>
        </p:style>
      </p:cxnSp>
      <p:sp>
        <p:nvSpPr>
          <p:cNvPr id="3" name="Rectangle: Rounded Corners 2">
            <a:extLst>
              <a:ext uri="{FF2B5EF4-FFF2-40B4-BE49-F238E27FC236}">
                <a16:creationId xmlns:a16="http://schemas.microsoft.com/office/drawing/2014/main" id="{D8799C0B-E9FF-6DB0-7E43-CA3FE5B752E1}"/>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 name="TextBox 1">
            <a:extLst>
              <a:ext uri="{FF2B5EF4-FFF2-40B4-BE49-F238E27FC236}">
                <a16:creationId xmlns:a16="http://schemas.microsoft.com/office/drawing/2014/main" id="{2E49EAC5-4153-76A6-B449-50364AFB2005}"/>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21131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8502E31-2478-B7D7-E4B4-2EEFEDD4B5F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19">
            <a:extLst>
              <a:ext uri="{FF2B5EF4-FFF2-40B4-BE49-F238E27FC236}">
                <a16:creationId xmlns:a16="http://schemas.microsoft.com/office/drawing/2014/main" id="{BE90DE5D-BC81-7E1D-7891-8765903D488A}"/>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Image 3" descr="preencoded.png">
            <a:extLst>
              <a:ext uri="{FF2B5EF4-FFF2-40B4-BE49-F238E27FC236}">
                <a16:creationId xmlns:a16="http://schemas.microsoft.com/office/drawing/2014/main" id="{53894669-2E74-7160-D294-353148B67C63}"/>
              </a:ext>
            </a:extLst>
          </p:cNvPr>
          <p:cNvPicPr>
            <a:picLocks noChangeAspect="1"/>
          </p:cNvPicPr>
          <p:nvPr/>
        </p:nvPicPr>
        <p:blipFill>
          <a:blip r:embed="rId2"/>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3963BE0E-8D33-C03A-8E45-EBC5F27ADF82}"/>
              </a:ext>
            </a:extLst>
          </p:cNvPr>
          <p:cNvPicPr>
            <a:picLocks noChangeAspect="1"/>
          </p:cNvPicPr>
          <p:nvPr/>
        </p:nvPicPr>
        <p:blipFill>
          <a:blip r:embed="rId3"/>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3355450F-B8B1-0E27-6AB2-B4339BB3317C}"/>
              </a:ext>
            </a:extLst>
          </p:cNvPr>
          <p:cNvPicPr>
            <a:picLocks noChangeAspect="1"/>
          </p:cNvPicPr>
          <p:nvPr/>
        </p:nvPicPr>
        <p:blipFill>
          <a:blip r:embed="rId3"/>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FB975D88-8164-7E6B-6192-11D75C67CF35}"/>
              </a:ext>
            </a:extLst>
          </p:cNvPr>
          <p:cNvPicPr>
            <a:picLocks noChangeAspect="1"/>
          </p:cNvPicPr>
          <p:nvPr/>
        </p:nvPicPr>
        <p:blipFill>
          <a:blip r:embed="rId3"/>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F1849A45-00E7-FD82-8AE4-3D4483E172B2}"/>
              </a:ext>
            </a:extLst>
          </p:cNvPr>
          <p:cNvPicPr>
            <a:picLocks noChangeAspect="1"/>
          </p:cNvPicPr>
          <p:nvPr/>
        </p:nvPicPr>
        <p:blipFill>
          <a:blip r:embed="rId4"/>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B8183CE5-3276-C5B7-1929-EF10833EA00B}"/>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3F3620D7-0101-DF39-F3BE-62DB95041C79}"/>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4C49B61F-3F09-5BAE-A8D1-86E45DEAC2F9}"/>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53C4E819-4B16-2606-54A8-ED938925FC07}"/>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F1E3D674-EF94-FC45-E9C0-A4553D60D67F}"/>
              </a:ext>
            </a:extLst>
          </p:cNvPr>
          <p:cNvPicPr>
            <a:picLocks noChangeAspect="1"/>
          </p:cNvPicPr>
          <p:nvPr/>
        </p:nvPicPr>
        <p:blipFill>
          <a:blip r:embed="rId9"/>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D5056328-9EF6-4EC1-DCA9-6908F0F3616C}"/>
              </a:ext>
            </a:extLst>
          </p:cNvPr>
          <p:cNvSpPr/>
          <p:nvPr/>
        </p:nvSpPr>
        <p:spPr>
          <a:xfrm>
            <a:off x="254000" y="635564"/>
            <a:ext cx="10571840"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Imaging studies confirm ACP3 uptake is higher in tumors and lower in healthy tissues compared to PSMA</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A17210A9-8D0B-EA62-B629-23BA0E923482}"/>
              </a:ext>
            </a:extLst>
          </p:cNvPr>
          <p:cNvSpPr txBox="1"/>
          <p:nvPr/>
        </p:nvSpPr>
        <p:spPr>
          <a:xfrm>
            <a:off x="0" y="6611779"/>
            <a:ext cx="9637251" cy="246221"/>
          </a:xfrm>
          <a:prstGeom prst="rect">
            <a:avLst/>
          </a:prstGeom>
          <a:noFill/>
        </p:spPr>
        <p:txBody>
          <a:bodyPr wrap="square" rtlCol="0">
            <a:spAutoFit/>
          </a:bodyPr>
          <a:lstStyle/>
          <a:p>
            <a:pPr lvl="0">
              <a:defRPr/>
            </a:pPr>
            <a:r>
              <a:rPr kumimoji="0" lang="en-US" sz="1000" b="0" i="0" u="none" strike="noStrike" kern="1200" cap="none" spc="0" normalizeH="0" baseline="0" noProof="0" dirty="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dirty="0">
                <a:ln>
                  <a:noFill/>
                </a:ln>
                <a:solidFill>
                  <a:prstClr val="black"/>
                </a:solidFill>
                <a:effectLst/>
                <a:uLnTx/>
                <a:uFillTx/>
                <a:latin typeface="Funnel Sans"/>
                <a:ea typeface="+mn-ea"/>
                <a:cs typeface="+mn-cs"/>
                <a:hlinkClick r:id="rId10"/>
              </a:rPr>
              <a:t>Backhaus SNMMI Annual Meeting 2025</a:t>
            </a:r>
            <a:r>
              <a:rPr kumimoji="0" lang="en-US" sz="1000" b="0" i="0" u="none" strike="noStrike" kern="1200" cap="none" spc="0" normalizeH="0" baseline="0" noProof="0" dirty="0">
                <a:ln>
                  <a:noFill/>
                </a:ln>
                <a:solidFill>
                  <a:prstClr val="black"/>
                </a:solidFill>
                <a:effectLst/>
                <a:uLnTx/>
                <a:uFillTx/>
                <a:latin typeface="Funnel Sans"/>
                <a:ea typeface="+mn-ea"/>
                <a:cs typeface="+mn-cs"/>
              </a:rPr>
              <a:t>, </a:t>
            </a:r>
            <a:r>
              <a:rPr lang="en-US" sz="1000" dirty="0">
                <a:solidFill>
                  <a:srgbClr val="7A9F8F"/>
                </a:solidFill>
                <a:hlinkClick r:id="rId11"/>
              </a:rPr>
              <a:t>Backhaus 2026</a:t>
            </a:r>
            <a:endParaRPr kumimoji="0" lang="en-US" sz="1000" b="0" i="0" u="none" strike="noStrike" kern="1200" cap="none" spc="0" normalizeH="0" baseline="0" noProof="0" dirty="0">
              <a:ln>
                <a:noFill/>
              </a:ln>
              <a:solidFill>
                <a:prstClr val="black"/>
              </a:solidFill>
              <a:effectLst/>
              <a:uLnTx/>
              <a:uFillTx/>
              <a:latin typeface="Funnel Sans"/>
              <a:ea typeface="+mn-ea"/>
              <a:cs typeface="+mn-cs"/>
            </a:endParaRPr>
          </a:p>
        </p:txBody>
      </p:sp>
      <p:sp>
        <p:nvSpPr>
          <p:cNvPr id="15" name="Shape 1">
            <a:extLst>
              <a:ext uri="{FF2B5EF4-FFF2-40B4-BE49-F238E27FC236}">
                <a16:creationId xmlns:a16="http://schemas.microsoft.com/office/drawing/2014/main" id="{9487B7A5-0BB1-D118-2AA3-906BA5070EC3}"/>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Rectangle: Rounded Corners 16">
            <a:extLst>
              <a:ext uri="{FF2B5EF4-FFF2-40B4-BE49-F238E27FC236}">
                <a16:creationId xmlns:a16="http://schemas.microsoft.com/office/drawing/2014/main" id="{185CBECB-3962-5054-994D-90DE5DEA6F91}"/>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16" name="TextBox 15">
            <a:extLst>
              <a:ext uri="{FF2B5EF4-FFF2-40B4-BE49-F238E27FC236}">
                <a16:creationId xmlns:a16="http://schemas.microsoft.com/office/drawing/2014/main" id="{AA3A61E5-21FD-FF05-C065-E38282F7D083}"/>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pic>
        <p:nvPicPr>
          <p:cNvPr id="2050" name="Picture 2">
            <a:extLst>
              <a:ext uri="{FF2B5EF4-FFF2-40B4-BE49-F238E27FC236}">
                <a16:creationId xmlns:a16="http://schemas.microsoft.com/office/drawing/2014/main" id="{03BD32CD-407C-F455-9A17-F8C9E9CA1F0C}"/>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b="51111"/>
          <a:stretch>
            <a:fillRect/>
          </a:stretch>
        </p:blipFill>
        <p:spPr bwMode="auto">
          <a:xfrm>
            <a:off x="1136650" y="1987195"/>
            <a:ext cx="4787439" cy="421119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1142C368-F798-BBB9-9AC7-9B727A45481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48963"/>
          <a:stretch>
            <a:fillRect/>
          </a:stretch>
        </p:blipFill>
        <p:spPr bwMode="auto">
          <a:xfrm>
            <a:off x="6502626" y="1894703"/>
            <a:ext cx="4787439" cy="4396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027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F5FB997-BB11-B08B-3291-3D226DE4EB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03" y="2142987"/>
            <a:ext cx="7570947" cy="37233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C61AF9E-F0F5-74D4-4DB2-3458B94FFF5B}"/>
              </a:ext>
            </a:extLst>
          </p:cNvPr>
          <p:cNvSpPr txBox="1"/>
          <p:nvPr/>
        </p:nvSpPr>
        <p:spPr>
          <a:xfrm>
            <a:off x="0" y="6611779"/>
            <a:ext cx="8959753" cy="246221"/>
          </a:xfrm>
          <a:prstGeom prst="rect">
            <a:avLst/>
          </a:prstGeom>
          <a:noFill/>
        </p:spPr>
        <p:txBody>
          <a:bodyPr wrap="square">
            <a:spAutoFit/>
          </a:bodyPr>
          <a:lstStyle/>
          <a:p>
            <a:r>
              <a:rPr lang="en-GB" sz="1000" dirty="0">
                <a:hlinkClick r:id="rId3">
                  <a:extLst>
                    <a:ext uri="{A12FA001-AC4F-418D-AE19-62706E023703}">
                      <ahyp:hlinkClr xmlns:ahyp="http://schemas.microsoft.com/office/drawing/2018/hyperlinkcolor" val="tx"/>
                    </a:ext>
                  </a:extLst>
                </a:hlinkClick>
              </a:rPr>
              <a:t>Sources: </a:t>
            </a:r>
            <a:r>
              <a:rPr lang="en-US" sz="1000" dirty="0">
                <a:solidFill>
                  <a:srgbClr val="7A9F8F"/>
                </a:solidFill>
                <a:hlinkClick r:id="rId4"/>
              </a:rPr>
              <a:t>Backhaus 2026</a:t>
            </a:r>
            <a:endParaRPr lang="en-US" sz="1000" dirty="0">
              <a:solidFill>
                <a:srgbClr val="C00000"/>
              </a:solidFill>
            </a:endParaRPr>
          </a:p>
        </p:txBody>
      </p:sp>
      <p:sp>
        <p:nvSpPr>
          <p:cNvPr id="3" name="Shape 0">
            <a:extLst>
              <a:ext uri="{FF2B5EF4-FFF2-40B4-BE49-F238E27FC236}">
                <a16:creationId xmlns:a16="http://schemas.microsoft.com/office/drawing/2014/main" id="{F02ED38D-3CC4-6EAD-5C72-FD16AADE0F5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54AAD1FB-7EB7-0E9B-DA7E-EE75A1F167B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70E449D7-9C1D-253E-5BA4-58C44541F9EF}"/>
              </a:ext>
            </a:extLst>
          </p:cNvPr>
          <p:cNvPicPr>
            <a:picLocks noChangeAspect="1"/>
          </p:cNvPicPr>
          <p:nvPr/>
        </p:nvPicPr>
        <p:blipFill>
          <a:blip r:embed="rId5"/>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C60E153F-A533-CB9B-6AEA-172E7E91C0DA}"/>
              </a:ext>
            </a:extLst>
          </p:cNvPr>
          <p:cNvPicPr>
            <a:picLocks noChangeAspect="1"/>
          </p:cNvPicPr>
          <p:nvPr/>
        </p:nvPicPr>
        <p:blipFill>
          <a:blip r:embed="rId6"/>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6C77FE19-E03C-72D0-69A9-7FE4B45EB57A}"/>
              </a:ext>
            </a:extLst>
          </p:cNvPr>
          <p:cNvPicPr>
            <a:picLocks noChangeAspect="1"/>
          </p:cNvPicPr>
          <p:nvPr/>
        </p:nvPicPr>
        <p:blipFill>
          <a:blip r:embed="rId6"/>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031322E6-D6DF-05C6-0110-C0217B66D732}"/>
              </a:ext>
            </a:extLst>
          </p:cNvPr>
          <p:cNvPicPr>
            <a:picLocks noChangeAspect="1"/>
          </p:cNvPicPr>
          <p:nvPr/>
        </p:nvPicPr>
        <p:blipFill>
          <a:blip r:embed="rId6"/>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F99D2AD6-BCC7-F2DD-F132-DC94F06786A7}"/>
              </a:ext>
            </a:extLst>
          </p:cNvPr>
          <p:cNvPicPr>
            <a:picLocks noChangeAspect="1"/>
          </p:cNvPicPr>
          <p:nvPr/>
        </p:nvPicPr>
        <p:blipFill>
          <a:blip r:embed="rId7"/>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1A81D607-FBE8-630F-A166-98983D3A85D3}"/>
              </a:ext>
            </a:extLst>
          </p:cNvPr>
          <p:cNvPicPr>
            <a:picLocks noChangeAspect="1"/>
          </p:cNvPicPr>
          <p:nvPr/>
        </p:nvPicPr>
        <p:blipFill>
          <a:blip r:embed="rId8"/>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30CAE7EA-B12A-5FA7-1889-EF34591382AF}"/>
              </a:ext>
            </a:extLst>
          </p:cNvPr>
          <p:cNvPicPr>
            <a:picLocks noChangeAspect="1"/>
          </p:cNvPicPr>
          <p:nvPr/>
        </p:nvPicPr>
        <p:blipFill>
          <a:blip r:embed="rId9"/>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8ADF0246-3AB5-02F5-9194-CE8800F12962}"/>
              </a:ext>
            </a:extLst>
          </p:cNvPr>
          <p:cNvPicPr>
            <a:picLocks noChangeAspect="1"/>
          </p:cNvPicPr>
          <p:nvPr/>
        </p:nvPicPr>
        <p:blipFill>
          <a:blip r:embed="rId10"/>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2CE56D86-9BA8-9F4A-B9A1-4B195CA218C4}"/>
              </a:ext>
            </a:extLst>
          </p:cNvPr>
          <p:cNvPicPr>
            <a:picLocks noChangeAspect="1"/>
          </p:cNvPicPr>
          <p:nvPr/>
        </p:nvPicPr>
        <p:blipFill>
          <a:blip r:embed="rId11"/>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C0862E5B-D995-EA75-6018-E349E14BAB44}"/>
              </a:ext>
            </a:extLst>
          </p:cNvPr>
          <p:cNvPicPr>
            <a:picLocks noChangeAspect="1"/>
          </p:cNvPicPr>
          <p:nvPr/>
        </p:nvPicPr>
        <p:blipFill>
          <a:blip r:embed="rId12"/>
          <a:stretch>
            <a:fillRect/>
          </a:stretch>
        </p:blipFill>
        <p:spPr>
          <a:xfrm>
            <a:off x="254000" y="376361"/>
            <a:ext cx="174501" cy="157575"/>
          </a:xfrm>
          <a:prstGeom prst="rect">
            <a:avLst/>
          </a:prstGeom>
        </p:spPr>
      </p:pic>
      <p:sp>
        <p:nvSpPr>
          <p:cNvPr id="15" name="Rectangle: Rounded Corners 14">
            <a:extLst>
              <a:ext uri="{FF2B5EF4-FFF2-40B4-BE49-F238E27FC236}">
                <a16:creationId xmlns:a16="http://schemas.microsoft.com/office/drawing/2014/main" id="{FFF66AE6-23CF-AD7F-6A23-6014C3E25D9F}"/>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16" name="TextBox 15">
            <a:extLst>
              <a:ext uri="{FF2B5EF4-FFF2-40B4-BE49-F238E27FC236}">
                <a16:creationId xmlns:a16="http://schemas.microsoft.com/office/drawing/2014/main" id="{405E7E60-9AC8-584F-59CA-34325E0BAEE6}"/>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Text 28">
            <a:extLst>
              <a:ext uri="{FF2B5EF4-FFF2-40B4-BE49-F238E27FC236}">
                <a16:creationId xmlns:a16="http://schemas.microsoft.com/office/drawing/2014/main" id="{77DAE04B-14BD-8EDA-5A7E-65A7B11631F4}"/>
              </a:ext>
            </a:extLst>
          </p:cNvPr>
          <p:cNvSpPr/>
          <p:nvPr/>
        </p:nvSpPr>
        <p:spPr>
          <a:xfrm>
            <a:off x="254000" y="635564"/>
            <a:ext cx="11466052"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pitchFamily="34" charset="0"/>
                <a:ea typeface="+mn-ea"/>
                <a:cs typeface="+mn-cs"/>
              </a:rPr>
              <a:t>Emerging data suggest ACP3 can image &amp; treat a distinct set of patients from PSMA, especially in earlier stages of disease</a:t>
            </a:r>
            <a:endParaRPr kumimoji="0" lang="en-US" sz="2400" b="0" i="0" u="none" strike="noStrike" kern="1200" cap="none" spc="0" normalizeH="0" baseline="0" noProof="0" dirty="0">
              <a:ln>
                <a:noFill/>
              </a:ln>
              <a:solidFill>
                <a:prstClr val="black"/>
              </a:solidFill>
              <a:effectLst/>
              <a:uLnTx/>
              <a:uFillTx/>
              <a:latin typeface="Funnel Sans"/>
              <a:ea typeface="+mn-ea"/>
              <a:cs typeface="+mn-cs"/>
            </a:endParaRPr>
          </a:p>
        </p:txBody>
      </p:sp>
      <p:sp>
        <p:nvSpPr>
          <p:cNvPr id="18" name="Shape 1">
            <a:extLst>
              <a:ext uri="{FF2B5EF4-FFF2-40B4-BE49-F238E27FC236}">
                <a16:creationId xmlns:a16="http://schemas.microsoft.com/office/drawing/2014/main" id="{268AD0FE-ED8C-1CB8-E2EE-FC9077B20FCE}"/>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grpSp>
        <p:nvGrpSpPr>
          <p:cNvPr id="21" name="Group 20">
            <a:extLst>
              <a:ext uri="{FF2B5EF4-FFF2-40B4-BE49-F238E27FC236}">
                <a16:creationId xmlns:a16="http://schemas.microsoft.com/office/drawing/2014/main" id="{2933235E-52C6-D918-8D7E-56C452035C13}"/>
              </a:ext>
            </a:extLst>
          </p:cNvPr>
          <p:cNvGrpSpPr/>
          <p:nvPr/>
        </p:nvGrpSpPr>
        <p:grpSpPr>
          <a:xfrm>
            <a:off x="8030461" y="3338339"/>
            <a:ext cx="4043552" cy="1438105"/>
            <a:chOff x="1520590" y="1022226"/>
            <a:chExt cx="9150820" cy="3168813"/>
          </a:xfrm>
        </p:grpSpPr>
        <p:pic>
          <p:nvPicPr>
            <p:cNvPr id="19" name="Picture 18">
              <a:extLst>
                <a:ext uri="{FF2B5EF4-FFF2-40B4-BE49-F238E27FC236}">
                  <a16:creationId xmlns:a16="http://schemas.microsoft.com/office/drawing/2014/main" id="{BAF9BE86-D29B-DD15-07A1-F6A4EFD86D93}"/>
                </a:ext>
              </a:extLst>
            </p:cNvPr>
            <p:cNvPicPr>
              <a:picLocks noChangeAspect="1"/>
            </p:cNvPicPr>
            <p:nvPr/>
          </p:nvPicPr>
          <p:blipFill>
            <a:blip r:embed="rId13"/>
            <a:stretch>
              <a:fillRect/>
            </a:stretch>
          </p:blipFill>
          <p:spPr>
            <a:xfrm>
              <a:off x="1520590" y="2666961"/>
              <a:ext cx="9150820" cy="1524078"/>
            </a:xfrm>
            <a:prstGeom prst="rect">
              <a:avLst/>
            </a:prstGeom>
          </p:spPr>
        </p:pic>
        <p:pic>
          <p:nvPicPr>
            <p:cNvPr id="20" name="Picture 19">
              <a:extLst>
                <a:ext uri="{FF2B5EF4-FFF2-40B4-BE49-F238E27FC236}">
                  <a16:creationId xmlns:a16="http://schemas.microsoft.com/office/drawing/2014/main" id="{F1BA3D25-BEED-F464-9E88-D7547428A4A5}"/>
                </a:ext>
              </a:extLst>
            </p:cNvPr>
            <p:cNvPicPr>
              <a:picLocks noChangeAspect="1"/>
            </p:cNvPicPr>
            <p:nvPr/>
          </p:nvPicPr>
          <p:blipFill>
            <a:blip r:embed="rId14"/>
            <a:stretch>
              <a:fillRect/>
            </a:stretch>
          </p:blipFill>
          <p:spPr>
            <a:xfrm>
              <a:off x="1548860" y="1022226"/>
              <a:ext cx="9112718" cy="1644735"/>
            </a:xfrm>
            <a:prstGeom prst="rect">
              <a:avLst/>
            </a:prstGeom>
          </p:spPr>
        </p:pic>
      </p:grpSp>
      <p:sp>
        <p:nvSpPr>
          <p:cNvPr id="22" name="TextBox 21">
            <a:extLst>
              <a:ext uri="{FF2B5EF4-FFF2-40B4-BE49-F238E27FC236}">
                <a16:creationId xmlns:a16="http://schemas.microsoft.com/office/drawing/2014/main" id="{0532FD34-6267-EDCD-7AAE-162BCE9C4F75}"/>
              </a:ext>
            </a:extLst>
          </p:cNvPr>
          <p:cNvSpPr txBox="1"/>
          <p:nvPr/>
        </p:nvSpPr>
        <p:spPr>
          <a:xfrm>
            <a:off x="8038609" y="2692008"/>
            <a:ext cx="4026716" cy="646331"/>
          </a:xfrm>
          <a:prstGeom prst="rect">
            <a:avLst/>
          </a:prstGeom>
          <a:noFill/>
        </p:spPr>
        <p:txBody>
          <a:bodyPr wrap="square" rtlCol="0">
            <a:spAutoFit/>
          </a:bodyPr>
          <a:lstStyle/>
          <a:p>
            <a:r>
              <a:rPr lang="en-US" dirty="0"/>
              <a:t>Imaging agent performance quantified by tumor location</a:t>
            </a:r>
          </a:p>
        </p:txBody>
      </p:sp>
      <p:sp>
        <p:nvSpPr>
          <p:cNvPr id="23" name="TextBox 22">
            <a:extLst>
              <a:ext uri="{FF2B5EF4-FFF2-40B4-BE49-F238E27FC236}">
                <a16:creationId xmlns:a16="http://schemas.microsoft.com/office/drawing/2014/main" id="{C6A45206-D489-07A9-ACF5-F4DFE57C91EA}"/>
              </a:ext>
            </a:extLst>
          </p:cNvPr>
          <p:cNvSpPr txBox="1"/>
          <p:nvPr/>
        </p:nvSpPr>
        <p:spPr>
          <a:xfrm>
            <a:off x="8038609" y="4776444"/>
            <a:ext cx="1877961" cy="276999"/>
          </a:xfrm>
          <a:prstGeom prst="rect">
            <a:avLst/>
          </a:prstGeom>
          <a:noFill/>
        </p:spPr>
        <p:txBody>
          <a:bodyPr wrap="square" rtlCol="0">
            <a:spAutoFit/>
          </a:bodyPr>
          <a:lstStyle/>
          <a:p>
            <a:r>
              <a:rPr lang="en-US" sz="1200" dirty="0"/>
              <a:t>~ = equivalent</a:t>
            </a:r>
          </a:p>
        </p:txBody>
      </p:sp>
    </p:spTree>
    <p:extLst>
      <p:ext uri="{BB962C8B-B14F-4D97-AF65-F5344CB8AC3E}">
        <p14:creationId xmlns:p14="http://schemas.microsoft.com/office/powerpoint/2010/main" val="964045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4E01021-B28F-8F5D-A9CC-B828FD68B6CA}"/>
              </a:ext>
            </a:extLst>
          </p:cNvPr>
          <p:cNvSpPr/>
          <p:nvPr/>
        </p:nvSpPr>
        <p:spPr>
          <a:xfrm>
            <a:off x="254000" y="254000"/>
            <a:ext cx="882651" cy="304800"/>
          </a:xfrm>
          <a:prstGeom prst="rect">
            <a:avLst/>
          </a:prstGeom>
          <a:noFill/>
          <a:ln/>
        </p:spPr>
        <p:txBody>
          <a:bodyPr/>
          <a:lstStyle/>
          <a:p>
            <a:endParaRPr lang="en-US" sz="2400"/>
          </a:p>
        </p:txBody>
      </p:sp>
      <p:sp>
        <p:nvSpPr>
          <p:cNvPr id="3" name="Shape 19">
            <a:extLst>
              <a:ext uri="{FF2B5EF4-FFF2-40B4-BE49-F238E27FC236}">
                <a16:creationId xmlns:a16="http://schemas.microsoft.com/office/drawing/2014/main" id="{9983FF22-F4F6-D99D-F10B-68F373B855E7}"/>
              </a:ext>
            </a:extLst>
          </p:cNvPr>
          <p:cNvSpPr/>
          <p:nvPr/>
        </p:nvSpPr>
        <p:spPr>
          <a:xfrm>
            <a:off x="2082801" y="330201"/>
            <a:ext cx="139700" cy="114300"/>
          </a:xfrm>
          <a:prstGeom prst="rect">
            <a:avLst/>
          </a:prstGeom>
          <a:noFill/>
          <a:ln/>
        </p:spPr>
        <p:txBody>
          <a:bodyPr/>
          <a:lstStyle/>
          <a:p>
            <a:endParaRPr lang="en-US" sz="2400"/>
          </a:p>
        </p:txBody>
      </p:sp>
      <p:pic>
        <p:nvPicPr>
          <p:cNvPr id="4" name="Image 3" descr="preencoded.png">
            <a:extLst>
              <a:ext uri="{FF2B5EF4-FFF2-40B4-BE49-F238E27FC236}">
                <a16:creationId xmlns:a16="http://schemas.microsoft.com/office/drawing/2014/main" id="{E5C56BCE-BAB8-C929-B3DC-1218432C056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F986655C-AE98-8792-1091-EF1FDDDD1CCB}"/>
              </a:ext>
            </a:extLst>
          </p:cNvPr>
          <p:cNvPicPr>
            <a:picLocks noChangeAspect="1"/>
          </p:cNvPicPr>
          <p:nvPr/>
        </p:nvPicPr>
        <p:blipFill>
          <a:blip r:embed="rId3"/>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E25916D5-DC30-A574-6025-EF37DC14F445}"/>
              </a:ext>
            </a:extLst>
          </p:cNvPr>
          <p:cNvPicPr>
            <a:picLocks noChangeAspect="1"/>
          </p:cNvPicPr>
          <p:nvPr/>
        </p:nvPicPr>
        <p:blipFill>
          <a:blip r:embed="rId3"/>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E8937084-D7DE-433A-8CB4-D2B35B9AEADA}"/>
              </a:ext>
            </a:extLst>
          </p:cNvPr>
          <p:cNvPicPr>
            <a:picLocks noChangeAspect="1"/>
          </p:cNvPicPr>
          <p:nvPr/>
        </p:nvPicPr>
        <p:blipFill>
          <a:blip r:embed="rId3"/>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B3D8FF73-A5EC-09A4-8D23-D8DDC4B2D973}"/>
              </a:ext>
            </a:extLst>
          </p:cNvPr>
          <p:cNvPicPr>
            <a:picLocks noChangeAspect="1"/>
          </p:cNvPicPr>
          <p:nvPr/>
        </p:nvPicPr>
        <p:blipFill>
          <a:blip r:embed="rId4"/>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2F2E39B3-8EDB-A18D-973D-DFAA064A16A5}"/>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6872C2FE-F67E-7EF8-A56F-76720243D2E1}"/>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8BEE91B9-6D44-0AE3-0D8B-3229B817F8A1}"/>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51C0DC93-B328-78E0-8F3F-930562A8E942}"/>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C6100221-BAC0-4F28-BB37-5600A7DC7B43}"/>
              </a:ext>
            </a:extLst>
          </p:cNvPr>
          <p:cNvPicPr>
            <a:picLocks noChangeAspect="1"/>
          </p:cNvPicPr>
          <p:nvPr/>
        </p:nvPicPr>
        <p:blipFill>
          <a:blip r:embed="rId9"/>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F4E27831-EC21-B13B-8E06-0B90E32A11D0}"/>
              </a:ext>
            </a:extLst>
          </p:cNvPr>
          <p:cNvSpPr/>
          <p:nvPr/>
        </p:nvSpPr>
        <p:spPr>
          <a:xfrm>
            <a:off x="254000" y="635564"/>
            <a:ext cx="10718800" cy="762000"/>
          </a:xfrm>
          <a:prstGeom prst="rect">
            <a:avLst/>
          </a:prstGeom>
          <a:noFill/>
          <a:ln/>
        </p:spPr>
        <p:txBody>
          <a:bodyPr wrap="square" rtlCol="0" anchor="ctr"/>
          <a:lstStyle/>
          <a:p>
            <a:pPr>
              <a:lnSpc>
                <a:spcPts val="3000"/>
              </a:lnSpc>
            </a:pPr>
            <a:r>
              <a:rPr lang="en-US" sz="2400" kern="0" spc="-24">
                <a:solidFill>
                  <a:srgbClr val="000000">
                    <a:alpha val="99000"/>
                  </a:srgbClr>
                </a:solidFill>
                <a:latin typeface="Funnel Sans" pitchFamily="34" charset="0"/>
              </a:rPr>
              <a:t>ACP3 offers broader patient coverage &amp; potential improved safety profile compared to PSMA</a:t>
            </a:r>
            <a:endParaRPr lang="en-US" sz="2400"/>
          </a:p>
        </p:txBody>
      </p:sp>
      <p:graphicFrame>
        <p:nvGraphicFramePr>
          <p:cNvPr id="17" name="Table 16">
            <a:extLst>
              <a:ext uri="{FF2B5EF4-FFF2-40B4-BE49-F238E27FC236}">
                <a16:creationId xmlns:a16="http://schemas.microsoft.com/office/drawing/2014/main" id="{094D6B7C-4F91-A4F5-EF05-E5D8C382579E}"/>
              </a:ext>
            </a:extLst>
          </p:cNvPr>
          <p:cNvGraphicFramePr>
            <a:graphicFrameLocks noGrp="1"/>
          </p:cNvGraphicFramePr>
          <p:nvPr/>
        </p:nvGraphicFramePr>
        <p:xfrm>
          <a:off x="695325" y="1889916"/>
          <a:ext cx="11025694" cy="4054043"/>
        </p:xfrm>
        <a:graphic>
          <a:graphicData uri="http://schemas.openxmlformats.org/drawingml/2006/table">
            <a:tbl>
              <a:tblPr/>
              <a:tblGrid>
                <a:gridCol w="2765630">
                  <a:extLst>
                    <a:ext uri="{9D8B030D-6E8A-4147-A177-3AD203B41FA5}">
                      <a16:colId xmlns:a16="http://schemas.microsoft.com/office/drawing/2014/main" val="2998219799"/>
                    </a:ext>
                  </a:extLst>
                </a:gridCol>
                <a:gridCol w="4130032">
                  <a:extLst>
                    <a:ext uri="{9D8B030D-6E8A-4147-A177-3AD203B41FA5}">
                      <a16:colId xmlns:a16="http://schemas.microsoft.com/office/drawing/2014/main" val="2789617749"/>
                    </a:ext>
                  </a:extLst>
                </a:gridCol>
                <a:gridCol w="4130032">
                  <a:extLst>
                    <a:ext uri="{9D8B030D-6E8A-4147-A177-3AD203B41FA5}">
                      <a16:colId xmlns:a16="http://schemas.microsoft.com/office/drawing/2014/main" val="3334192769"/>
                    </a:ext>
                  </a:extLst>
                </a:gridCol>
              </a:tblGrid>
              <a:tr h="450549">
                <a:tc>
                  <a:txBody>
                    <a:bodyPr/>
                    <a:lstStyle/>
                    <a:p>
                      <a:pPr>
                        <a:buNone/>
                      </a:pPr>
                      <a:r>
                        <a:rPr lang="en-US" sz="1400" b="1"/>
                        <a:t>Feature</a:t>
                      </a:r>
                    </a:p>
                  </a:txBody>
                  <a:tcPr anchor="ctr">
                    <a:lnL>
                      <a:noFill/>
                    </a:lnL>
                    <a:lnR>
                      <a:noFill/>
                    </a:lnR>
                    <a:lnT>
                      <a:noFill/>
                    </a:lnT>
                    <a:lnB>
                      <a:noFill/>
                    </a:lnB>
                    <a:solidFill>
                      <a:srgbClr val="C6DCCD"/>
                    </a:solidFill>
                  </a:tcPr>
                </a:tc>
                <a:tc>
                  <a:txBody>
                    <a:bodyPr/>
                    <a:lstStyle/>
                    <a:p>
                      <a:pPr>
                        <a:buNone/>
                      </a:pPr>
                      <a:r>
                        <a:rPr lang="en-US" sz="1400" b="1"/>
                        <a:t>ACP3</a:t>
                      </a:r>
                      <a:endParaRPr lang="en-US" sz="1400"/>
                    </a:p>
                  </a:txBody>
                  <a:tcPr anchor="ctr">
                    <a:lnL>
                      <a:noFill/>
                    </a:lnL>
                    <a:lnR>
                      <a:noFill/>
                    </a:lnR>
                    <a:lnT>
                      <a:noFill/>
                    </a:lnT>
                    <a:lnB>
                      <a:noFill/>
                    </a:lnB>
                    <a:solidFill>
                      <a:srgbClr val="C6DCCD"/>
                    </a:solidFill>
                  </a:tcPr>
                </a:tc>
                <a:tc>
                  <a:txBody>
                    <a:bodyPr/>
                    <a:lstStyle/>
                    <a:p>
                      <a:pPr>
                        <a:buNone/>
                      </a:pPr>
                      <a:r>
                        <a:rPr lang="en-US" sz="1400" b="1"/>
                        <a:t>PSMA</a:t>
                      </a:r>
                      <a:endParaRPr lang="en-US" sz="1400"/>
                    </a:p>
                  </a:txBody>
                  <a:tcPr anchor="ctr">
                    <a:lnL>
                      <a:noFill/>
                    </a:lnL>
                    <a:lnR>
                      <a:noFill/>
                    </a:lnR>
                    <a:lnT>
                      <a:noFill/>
                    </a:lnT>
                    <a:lnB>
                      <a:noFill/>
                    </a:lnB>
                    <a:solidFill>
                      <a:srgbClr val="C6DCCD"/>
                    </a:solidFill>
                  </a:tcPr>
                </a:tc>
                <a:extLst>
                  <a:ext uri="{0D108BD9-81ED-4DB2-BD59-A6C34878D82A}">
                    <a16:rowId xmlns:a16="http://schemas.microsoft.com/office/drawing/2014/main" val="1712563356"/>
                  </a:ext>
                </a:extLst>
              </a:tr>
              <a:tr h="450549">
                <a:tc>
                  <a:txBody>
                    <a:bodyPr/>
                    <a:lstStyle/>
                    <a:p>
                      <a:pPr>
                        <a:buNone/>
                      </a:pPr>
                      <a:r>
                        <a:rPr lang="en-US" sz="1400"/>
                        <a:t>Tumor positivity</a:t>
                      </a:r>
                    </a:p>
                  </a:txBody>
                  <a:tcPr anchor="ctr">
                    <a:lnL>
                      <a:noFill/>
                    </a:lnL>
                    <a:lnR>
                      <a:noFill/>
                    </a:lnR>
                    <a:lnT>
                      <a:noFill/>
                    </a:lnT>
                    <a:lnB w="9525" cap="flat" cmpd="sng" algn="ctr">
                      <a:solidFill>
                        <a:schemeClr val="bg2"/>
                      </a:solidFill>
                      <a:prstDash val="solid"/>
                      <a:round/>
                      <a:headEnd type="none" w="med" len="med"/>
                      <a:tailEnd type="none" w="med" len="med"/>
                    </a:lnB>
                    <a:noFill/>
                  </a:tcPr>
                </a:tc>
                <a:tc>
                  <a:txBody>
                    <a:bodyPr/>
                    <a:lstStyle/>
                    <a:p>
                      <a:pPr>
                        <a:buNone/>
                      </a:pPr>
                      <a:r>
                        <a:rPr lang="en-US" sz="1400"/>
                        <a:t>~95% (IHC)</a:t>
                      </a:r>
                    </a:p>
                  </a:txBody>
                  <a:tcPr anchor="ctr">
                    <a:lnL>
                      <a:noFill/>
                    </a:lnL>
                    <a:lnR>
                      <a:noFill/>
                    </a:lnR>
                    <a:lnT>
                      <a:noFill/>
                    </a:lnT>
                    <a:lnB w="9525" cap="flat" cmpd="sng" algn="ctr">
                      <a:solidFill>
                        <a:schemeClr val="bg2"/>
                      </a:solidFill>
                      <a:prstDash val="solid"/>
                      <a:round/>
                      <a:headEnd type="none" w="med" len="med"/>
                      <a:tailEnd type="none" w="med" len="med"/>
                    </a:lnB>
                    <a:noFill/>
                  </a:tcPr>
                </a:tc>
                <a:tc>
                  <a:txBody>
                    <a:bodyPr/>
                    <a:lstStyle/>
                    <a:p>
                      <a:pPr>
                        <a:buNone/>
                      </a:pPr>
                      <a:r>
                        <a:rPr lang="en-US" sz="1400"/>
                        <a:t>~85% (PET)</a:t>
                      </a:r>
                    </a:p>
                  </a:txBody>
                  <a:tcPr anchor="ctr">
                    <a:lnL>
                      <a:noFill/>
                    </a:lnL>
                    <a:lnR>
                      <a:noFill/>
                    </a:lnR>
                    <a:lnT>
                      <a:noFill/>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68253303"/>
                  </a:ext>
                </a:extLst>
              </a:tr>
              <a:tr h="788459">
                <a:tc>
                  <a:txBody>
                    <a:bodyPr/>
                    <a:lstStyle/>
                    <a:p>
                      <a:pPr>
                        <a:buNone/>
                      </a:pPr>
                      <a:r>
                        <a:rPr lang="en-US" sz="1400"/>
                        <a:t>Expression in healthy tissue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Prostate, minimal expression elsewhere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Prostate, salivary glands, kidney, duodenum</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506716022"/>
                  </a:ext>
                </a:extLst>
              </a:tr>
              <a:tr h="562739">
                <a:tc>
                  <a:txBody>
                    <a:bodyPr/>
                    <a:lstStyle/>
                    <a:p>
                      <a:pPr>
                        <a:buNone/>
                      </a:pPr>
                      <a:r>
                        <a:rPr lang="en-US" sz="1400"/>
                        <a:t>Internalization</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Yes (TM-PAP isoform), constitutive via intracellular lysosomal targeting domain</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Yes, constitutively recycled and increased upon ligand binding</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772646139"/>
                  </a:ext>
                </a:extLst>
              </a:tr>
              <a:tr h="562739">
                <a:tc>
                  <a:txBody>
                    <a:bodyPr/>
                    <a:lstStyle/>
                    <a:p>
                      <a:pPr>
                        <a:buNone/>
                      </a:pPr>
                      <a:r>
                        <a:rPr lang="en-US" sz="1400"/>
                        <a:t>Shed / Secreted</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Secreted (sPAP isoform) with short serum half-life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Detected in blood of cancer patients on circulating tumor cells and extracellular vesicles</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847618944"/>
                  </a:ext>
                </a:extLst>
              </a:tr>
              <a:tr h="450549">
                <a:tc>
                  <a:txBody>
                    <a:bodyPr/>
                    <a:lstStyle/>
                    <a:p>
                      <a:pPr>
                        <a:buNone/>
                      </a:pPr>
                      <a:r>
                        <a:rPr lang="en-US" sz="1400"/>
                        <a:t>Ligandability</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Phosphatase active-site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Metallopeptidase active-site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04165378"/>
                  </a:ext>
                </a:extLst>
              </a:tr>
              <a:tr h="788459">
                <a:tc>
                  <a:txBody>
                    <a:bodyPr/>
                    <a:lstStyle/>
                    <a:p>
                      <a:pPr>
                        <a:buNone/>
                      </a:pPr>
                      <a:r>
                        <a:rPr lang="en-US" sz="1400"/>
                        <a:t>Imaging data</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a:buNone/>
                      </a:pPr>
                      <a:r>
                        <a:rPr lang="en-US" sz="1400"/>
                        <a:t>High tumor contrast, minimal healthy tissue uptake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High tumor contrast, specific salivary gland, kidney, duodenum uptake</a:t>
                      </a:r>
                    </a:p>
                  </a:txBody>
                  <a:tcPr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968119868"/>
                  </a:ext>
                </a:extLst>
              </a:tr>
            </a:tbl>
          </a:graphicData>
        </a:graphic>
      </p:graphicFrame>
      <p:sp>
        <p:nvSpPr>
          <p:cNvPr id="19" name="Shape 1">
            <a:extLst>
              <a:ext uri="{FF2B5EF4-FFF2-40B4-BE49-F238E27FC236}">
                <a16:creationId xmlns:a16="http://schemas.microsoft.com/office/drawing/2014/main" id="{F30A838E-3995-2354-6029-391946EBC776}"/>
              </a:ext>
            </a:extLst>
          </p:cNvPr>
          <p:cNvSpPr/>
          <p:nvPr/>
        </p:nvSpPr>
        <p:spPr>
          <a:xfrm>
            <a:off x="254001" y="1505360"/>
            <a:ext cx="11684001" cy="0"/>
          </a:xfrm>
          <a:prstGeom prst="line">
            <a:avLst/>
          </a:prstGeom>
          <a:noFill/>
          <a:ln w="12700">
            <a:solidFill>
              <a:srgbClr val="CFCFCF"/>
            </a:solidFill>
            <a:prstDash val="solid"/>
          </a:ln>
        </p:spPr>
        <p:txBody>
          <a:bodyPr/>
          <a:lstStyle/>
          <a:p>
            <a:endParaRPr lang="en-US" sz="2400"/>
          </a:p>
        </p:txBody>
      </p:sp>
      <p:sp>
        <p:nvSpPr>
          <p:cNvPr id="21" name="TextBox 20">
            <a:extLst>
              <a:ext uri="{FF2B5EF4-FFF2-40B4-BE49-F238E27FC236}">
                <a16:creationId xmlns:a16="http://schemas.microsoft.com/office/drawing/2014/main" id="{50699FA5-1126-BBE9-6073-D1A5A8C18D64}"/>
              </a:ext>
            </a:extLst>
          </p:cNvPr>
          <p:cNvSpPr txBox="1"/>
          <p:nvPr/>
        </p:nvSpPr>
        <p:spPr>
          <a:xfrm>
            <a:off x="0" y="6457890"/>
            <a:ext cx="8959753" cy="400110"/>
          </a:xfrm>
          <a:prstGeom prst="rect">
            <a:avLst/>
          </a:prstGeom>
          <a:noFill/>
        </p:spPr>
        <p:txBody>
          <a:bodyPr wrap="square">
            <a:spAutoFit/>
          </a:bodyPr>
          <a:lstStyle/>
          <a:p>
            <a:r>
              <a:rPr lang="en-GB" sz="1000">
                <a:hlinkClick r:id="rId10">
                  <a:extLst>
                    <a:ext uri="{A12FA001-AC4F-418D-AE19-62706E023703}">
                      <ahyp:hlinkClr xmlns:ahyp="http://schemas.microsoft.com/office/drawing/2018/hyperlinkcolor" val="tx"/>
                    </a:ext>
                  </a:extLst>
                </a:hlinkClick>
              </a:rPr>
              <a:t>Sources: </a:t>
            </a:r>
            <a:r>
              <a:rPr lang="en-GB" sz="1000" err="1">
                <a:solidFill>
                  <a:srgbClr val="7A9F8F"/>
                </a:solidFill>
                <a:hlinkClick r:id="rId10">
                  <a:extLst>
                    <a:ext uri="{A12FA001-AC4F-418D-AE19-62706E023703}">
                      <ahyp:hlinkClr xmlns:ahyp="http://schemas.microsoft.com/office/drawing/2018/hyperlinkcolor" val="tx"/>
                    </a:ext>
                  </a:extLst>
                </a:hlinkClick>
              </a:rPr>
              <a:t>Tribian</a:t>
            </a:r>
            <a:r>
              <a:rPr lang="en-GB" sz="1000">
                <a:solidFill>
                  <a:srgbClr val="7A9F8F"/>
                </a:solidFill>
                <a:hlinkClick r:id="rId10">
                  <a:extLst>
                    <a:ext uri="{A12FA001-AC4F-418D-AE19-62706E023703}">
                      <ahyp:hlinkClr xmlns:ahyp="http://schemas.microsoft.com/office/drawing/2018/hyperlinkcolor" val="tx"/>
                    </a:ext>
                  </a:extLst>
                </a:hlinkClick>
              </a:rPr>
              <a:t> et al, Diagnostics 2023</a:t>
            </a:r>
            <a:r>
              <a:rPr lang="en-GB" sz="1000"/>
              <a:t>, </a:t>
            </a:r>
            <a:r>
              <a:rPr lang="en-GB" sz="1000">
                <a:hlinkClick r:id="rId11"/>
              </a:rPr>
              <a:t>Hupe et al Front Oncol 2018</a:t>
            </a:r>
            <a:r>
              <a:rPr lang="en-GB" sz="1000"/>
              <a:t>, </a:t>
            </a:r>
            <a:r>
              <a:rPr lang="en-GB" sz="1000" err="1">
                <a:hlinkClick r:id="rId12"/>
              </a:rPr>
              <a:t>Holzgreve</a:t>
            </a:r>
            <a:r>
              <a:rPr lang="en-GB" sz="1000">
                <a:hlinkClick r:id="rId12"/>
              </a:rPr>
              <a:t> et al JAMA </a:t>
            </a:r>
            <a:r>
              <a:rPr lang="en-GB" sz="1000" err="1">
                <a:hlinkClick r:id="rId12"/>
              </a:rPr>
              <a:t>Netw</a:t>
            </a:r>
            <a:r>
              <a:rPr lang="en-GB" sz="1000">
                <a:hlinkClick r:id="rId12"/>
              </a:rPr>
              <a:t> Open 2025</a:t>
            </a:r>
            <a:r>
              <a:rPr lang="en-GB" sz="1000"/>
              <a:t>, </a:t>
            </a:r>
            <a:r>
              <a:rPr lang="en-US" sz="1000">
                <a:hlinkClick r:id="rId13"/>
              </a:rPr>
              <a:t>Backhaus et al SNMMI Annual Meeting 2025</a:t>
            </a:r>
            <a:r>
              <a:rPr lang="en-US" sz="1000"/>
              <a:t>, </a:t>
            </a:r>
            <a:r>
              <a:rPr lang="en-US" sz="1000">
                <a:hlinkClick r:id="rId14"/>
              </a:rPr>
              <a:t>Maes et al Int J Mol Sci 2024</a:t>
            </a:r>
            <a:r>
              <a:rPr lang="en-US" sz="1000"/>
              <a:t>, </a:t>
            </a:r>
            <a:r>
              <a:rPr lang="en-US" sz="1000">
                <a:hlinkClick r:id="rId15"/>
              </a:rPr>
              <a:t>Quintero et al </a:t>
            </a:r>
            <a:r>
              <a:rPr lang="en-US" sz="1000" err="1">
                <a:hlinkClick r:id="rId15"/>
              </a:rPr>
              <a:t>PLoS</a:t>
            </a:r>
            <a:r>
              <a:rPr lang="en-US" sz="1000">
                <a:hlinkClick r:id="rId15"/>
              </a:rPr>
              <a:t> One 2013</a:t>
            </a:r>
            <a:endParaRPr lang="en-US" sz="1000">
              <a:solidFill>
                <a:srgbClr val="C00000"/>
              </a:solidFill>
            </a:endParaRPr>
          </a:p>
        </p:txBody>
      </p:sp>
      <p:sp>
        <p:nvSpPr>
          <p:cNvPr id="37" name="Rectangle: Rounded Corners 36">
            <a:extLst>
              <a:ext uri="{FF2B5EF4-FFF2-40B4-BE49-F238E27FC236}">
                <a16:creationId xmlns:a16="http://schemas.microsoft.com/office/drawing/2014/main" id="{C6A7ED17-C9B4-5586-139B-EBDF5B9A2FB7}"/>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Expression</a:t>
            </a:r>
          </a:p>
        </p:txBody>
      </p:sp>
      <p:sp>
        <p:nvSpPr>
          <p:cNvPr id="38" name="Rectangle: Rounded Corners 37">
            <a:extLst>
              <a:ext uri="{FF2B5EF4-FFF2-40B4-BE49-F238E27FC236}">
                <a16:creationId xmlns:a16="http://schemas.microsoft.com/office/drawing/2014/main" id="{4AE8FEEE-4D0C-184C-249D-072B91724223}"/>
              </a:ext>
            </a:extLst>
          </p:cNvPr>
          <p:cNvSpPr/>
          <p:nvPr/>
        </p:nvSpPr>
        <p:spPr>
          <a:xfrm>
            <a:off x="10972800" y="424494"/>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Biology</a:t>
            </a:r>
          </a:p>
        </p:txBody>
      </p:sp>
      <p:sp>
        <p:nvSpPr>
          <p:cNvPr id="15" name="TextBox 14">
            <a:extLst>
              <a:ext uri="{FF2B5EF4-FFF2-40B4-BE49-F238E27FC236}">
                <a16:creationId xmlns:a16="http://schemas.microsoft.com/office/drawing/2014/main" id="{9B196447-365F-DF0D-8793-B693C5D2B28C}"/>
              </a:ext>
            </a:extLst>
          </p:cNvPr>
          <p:cNvSpPr txBox="1"/>
          <p:nvPr/>
        </p:nvSpPr>
        <p:spPr>
          <a:xfrm>
            <a:off x="11055350" y="6614136"/>
            <a:ext cx="1136650" cy="246221"/>
          </a:xfrm>
          <a:prstGeom prst="rect">
            <a:avLst/>
          </a:prstGeom>
          <a:noFill/>
        </p:spPr>
        <p:txBody>
          <a:bodyPr wrap="square" rtlCol="0">
            <a:spAutoFit/>
          </a:bodyPr>
          <a:lstStyle/>
          <a:p>
            <a:pPr algn="r"/>
            <a:r>
              <a:rPr lang="en-US" sz="1000"/>
              <a:t>Confidential </a:t>
            </a:r>
            <a:fld id="{F55465F9-4A58-45DB-8234-396342B5FF6F}" type="slidenum">
              <a:rPr lang="en-US" sz="1000" smtClean="0"/>
              <a:pPr algn="r"/>
              <a:t>8</a:t>
            </a:fld>
            <a:endParaRPr lang="en-US" sz="1000"/>
          </a:p>
        </p:txBody>
      </p:sp>
    </p:spTree>
    <p:extLst>
      <p:ext uri="{BB962C8B-B14F-4D97-AF65-F5344CB8AC3E}">
        <p14:creationId xmlns:p14="http://schemas.microsoft.com/office/powerpoint/2010/main" val="135699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FE8EF1-7E30-BA13-F91E-5442CB6F6E56}"/>
              </a:ext>
            </a:extLst>
          </p:cNvPr>
          <p:cNvSpPr/>
          <p:nvPr/>
        </p:nvSpPr>
        <p:spPr>
          <a:xfrm>
            <a:off x="254000" y="254000"/>
            <a:ext cx="882651" cy="304800"/>
          </a:xfrm>
          <a:prstGeom prst="rect">
            <a:avLst/>
          </a:prstGeom>
          <a:noFill/>
          <a:ln/>
        </p:spPr>
        <p:txBody>
          <a:bodyPr/>
          <a:lstStyle/>
          <a:p>
            <a:endParaRPr lang="en-US" sz="2400"/>
          </a:p>
        </p:txBody>
      </p:sp>
      <p:sp>
        <p:nvSpPr>
          <p:cNvPr id="4" name="Shape 19">
            <a:extLst>
              <a:ext uri="{FF2B5EF4-FFF2-40B4-BE49-F238E27FC236}">
                <a16:creationId xmlns:a16="http://schemas.microsoft.com/office/drawing/2014/main" id="{F5539DB8-A878-E4BE-2A73-E0B47FF84B40}"/>
              </a:ext>
            </a:extLst>
          </p:cNvPr>
          <p:cNvSpPr/>
          <p:nvPr/>
        </p:nvSpPr>
        <p:spPr>
          <a:xfrm>
            <a:off x="2082801" y="330201"/>
            <a:ext cx="139700" cy="114300"/>
          </a:xfrm>
          <a:prstGeom prst="rect">
            <a:avLst/>
          </a:prstGeom>
          <a:noFill/>
          <a:ln/>
        </p:spPr>
        <p:txBody>
          <a:bodyPr/>
          <a:lstStyle/>
          <a:p>
            <a:endParaRPr lang="en-US" sz="2400"/>
          </a:p>
        </p:txBody>
      </p:sp>
      <p:pic>
        <p:nvPicPr>
          <p:cNvPr id="5" name="Image 3" descr="preencoded.png">
            <a:extLst>
              <a:ext uri="{FF2B5EF4-FFF2-40B4-BE49-F238E27FC236}">
                <a16:creationId xmlns:a16="http://schemas.microsoft.com/office/drawing/2014/main" id="{541923C9-390B-EB57-73AE-D3097BC48A4A}"/>
              </a:ext>
            </a:extLst>
          </p:cNvPr>
          <p:cNvPicPr>
            <a:picLocks noChangeAspect="1"/>
          </p:cNvPicPr>
          <p:nvPr/>
        </p:nvPicPr>
        <p:blipFill>
          <a:blip r:embed="rId3"/>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43FA9F35-7EB7-048F-B129-6BFAC889CD00}"/>
              </a:ext>
            </a:extLst>
          </p:cNvPr>
          <p:cNvPicPr>
            <a:picLocks noChangeAspect="1"/>
          </p:cNvPicPr>
          <p:nvPr/>
        </p:nvPicPr>
        <p:blipFill>
          <a:blip r:embed="rId4"/>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3904C137-570A-8DA1-4DB4-B7757317AD2E}"/>
              </a:ext>
            </a:extLst>
          </p:cNvPr>
          <p:cNvPicPr>
            <a:picLocks noChangeAspect="1"/>
          </p:cNvPicPr>
          <p:nvPr/>
        </p:nvPicPr>
        <p:blipFill>
          <a:blip r:embed="rId4"/>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AC123491-4B34-9C72-F7DE-D01A6AB9AE8B}"/>
              </a:ext>
            </a:extLst>
          </p:cNvPr>
          <p:cNvPicPr>
            <a:picLocks noChangeAspect="1"/>
          </p:cNvPicPr>
          <p:nvPr/>
        </p:nvPicPr>
        <p:blipFill>
          <a:blip r:embed="rId4"/>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08BE2842-BDEE-33A0-B3FB-4A0E0B64A947}"/>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9FF9656D-FF36-5420-89EA-78FF22DF41A0}"/>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6AE9F711-49FB-6E03-42F3-5A937AD007F3}"/>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2222B85A-D098-D2F3-883F-C5EBD916DBA1}"/>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6C341813-4EC3-1669-9C6A-122DCA7ABCA9}"/>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735AEDAB-8D89-07A9-E119-14A9385C43EB}"/>
              </a:ext>
            </a:extLst>
          </p:cNvPr>
          <p:cNvPicPr>
            <a:picLocks noChangeAspect="1"/>
          </p:cNvPicPr>
          <p:nvPr/>
        </p:nvPicPr>
        <p:blipFill>
          <a:blip r:embed="rId10"/>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909A9466-63F6-2318-6DD7-2E68B6042050}"/>
              </a:ext>
            </a:extLst>
          </p:cNvPr>
          <p:cNvSpPr/>
          <p:nvPr/>
        </p:nvSpPr>
        <p:spPr>
          <a:xfrm>
            <a:off x="253999" y="635564"/>
            <a:ext cx="11390243" cy="762000"/>
          </a:xfrm>
          <a:prstGeom prst="rect">
            <a:avLst/>
          </a:prstGeom>
          <a:noFill/>
          <a:ln/>
        </p:spPr>
        <p:txBody>
          <a:bodyPr wrap="square" rtlCol="0" anchor="ctr"/>
          <a:lstStyle/>
          <a:p>
            <a:pPr>
              <a:lnSpc>
                <a:spcPts val="3000"/>
              </a:lnSpc>
            </a:pPr>
            <a:r>
              <a:rPr lang="en-US" sz="2400" kern="0" spc="-24">
                <a:solidFill>
                  <a:srgbClr val="000000">
                    <a:alpha val="99000"/>
                  </a:srgbClr>
                </a:solidFill>
                <a:latin typeface="Funnel Sans" pitchFamily="34" charset="0"/>
              </a:rPr>
              <a:t>ACP3 is a phosphatase that is expressed in prostate epithelial cells, overexpressed in prostate cancer cells, and negligibly expressed in other healthy tissues</a:t>
            </a:r>
            <a:endParaRPr lang="en-US" sz="2400"/>
          </a:p>
        </p:txBody>
      </p:sp>
      <p:sp>
        <p:nvSpPr>
          <p:cNvPr id="16" name="Shape 1">
            <a:extLst>
              <a:ext uri="{FF2B5EF4-FFF2-40B4-BE49-F238E27FC236}">
                <a16:creationId xmlns:a16="http://schemas.microsoft.com/office/drawing/2014/main" id="{55C492D1-7739-FA86-1F7E-4B9B27293167}"/>
              </a:ext>
            </a:extLst>
          </p:cNvPr>
          <p:cNvSpPr/>
          <p:nvPr/>
        </p:nvSpPr>
        <p:spPr>
          <a:xfrm>
            <a:off x="254001" y="1505360"/>
            <a:ext cx="11684001" cy="0"/>
          </a:xfrm>
          <a:prstGeom prst="line">
            <a:avLst/>
          </a:prstGeom>
          <a:noFill/>
          <a:ln w="12700">
            <a:solidFill>
              <a:srgbClr val="CFCFCF"/>
            </a:solidFill>
            <a:prstDash val="solid"/>
          </a:ln>
        </p:spPr>
        <p:txBody>
          <a:bodyPr/>
          <a:lstStyle/>
          <a:p>
            <a:endParaRPr lang="en-US" sz="2400"/>
          </a:p>
        </p:txBody>
      </p:sp>
      <p:graphicFrame>
        <p:nvGraphicFramePr>
          <p:cNvPr id="17" name="Table 16">
            <a:extLst>
              <a:ext uri="{FF2B5EF4-FFF2-40B4-BE49-F238E27FC236}">
                <a16:creationId xmlns:a16="http://schemas.microsoft.com/office/drawing/2014/main" id="{781C066A-C181-F149-F5AF-5C9656E98473}"/>
              </a:ext>
            </a:extLst>
          </p:cNvPr>
          <p:cNvGraphicFramePr>
            <a:graphicFrameLocks noGrp="1"/>
          </p:cNvGraphicFramePr>
          <p:nvPr/>
        </p:nvGraphicFramePr>
        <p:xfrm>
          <a:off x="323503" y="2055544"/>
          <a:ext cx="11614495" cy="1833880"/>
        </p:xfrm>
        <a:graphic>
          <a:graphicData uri="http://schemas.openxmlformats.org/drawingml/2006/table">
            <a:tbl>
              <a:tblPr firstRow="1" bandRow="1">
                <a:tableStyleId>{5C22544A-7EE6-4342-B048-85BDC9FD1C3A}</a:tableStyleId>
              </a:tblPr>
              <a:tblGrid>
                <a:gridCol w="1092342">
                  <a:extLst>
                    <a:ext uri="{9D8B030D-6E8A-4147-A177-3AD203B41FA5}">
                      <a16:colId xmlns:a16="http://schemas.microsoft.com/office/drawing/2014/main" val="544434787"/>
                    </a:ext>
                  </a:extLst>
                </a:gridCol>
                <a:gridCol w="1386349">
                  <a:extLst>
                    <a:ext uri="{9D8B030D-6E8A-4147-A177-3AD203B41FA5}">
                      <a16:colId xmlns:a16="http://schemas.microsoft.com/office/drawing/2014/main" val="3701184376"/>
                    </a:ext>
                  </a:extLst>
                </a:gridCol>
                <a:gridCol w="2979174">
                  <a:extLst>
                    <a:ext uri="{9D8B030D-6E8A-4147-A177-3AD203B41FA5}">
                      <a16:colId xmlns:a16="http://schemas.microsoft.com/office/drawing/2014/main" val="3241637152"/>
                    </a:ext>
                  </a:extLst>
                </a:gridCol>
                <a:gridCol w="3833731">
                  <a:extLst>
                    <a:ext uri="{9D8B030D-6E8A-4147-A177-3AD203B41FA5}">
                      <a16:colId xmlns:a16="http://schemas.microsoft.com/office/drawing/2014/main" val="2413661414"/>
                    </a:ext>
                  </a:extLst>
                </a:gridCol>
                <a:gridCol w="2322899">
                  <a:extLst>
                    <a:ext uri="{9D8B030D-6E8A-4147-A177-3AD203B41FA5}">
                      <a16:colId xmlns:a16="http://schemas.microsoft.com/office/drawing/2014/main" val="2720780949"/>
                    </a:ext>
                  </a:extLst>
                </a:gridCol>
              </a:tblGrid>
              <a:tr h="370840">
                <a:tc>
                  <a:txBody>
                    <a:bodyPr/>
                    <a:lstStyle/>
                    <a:p>
                      <a:r>
                        <a:rPr lang="en-US" sz="1400" b="0">
                          <a:solidFill>
                            <a:schemeClr val="tx1"/>
                          </a:solidFill>
                        </a:rPr>
                        <a:t>Type</a:t>
                      </a:r>
                    </a:p>
                  </a:txBody>
                  <a:tcPr>
                    <a:solidFill>
                      <a:srgbClr val="C6DCCD"/>
                    </a:solidFill>
                  </a:tcPr>
                </a:tc>
                <a:tc>
                  <a:txBody>
                    <a:bodyPr/>
                    <a:lstStyle/>
                    <a:p>
                      <a:r>
                        <a:rPr lang="en-US" sz="1400" b="0">
                          <a:solidFill>
                            <a:schemeClr val="tx1"/>
                          </a:solidFill>
                        </a:rPr>
                        <a:t>Method</a:t>
                      </a:r>
                    </a:p>
                  </a:txBody>
                  <a:tcPr>
                    <a:solidFill>
                      <a:srgbClr val="C6DCCD"/>
                    </a:solidFill>
                  </a:tcPr>
                </a:tc>
                <a:tc>
                  <a:txBody>
                    <a:bodyPr/>
                    <a:lstStyle/>
                    <a:p>
                      <a:r>
                        <a:rPr lang="en-US" sz="1400" b="0">
                          <a:solidFill>
                            <a:schemeClr val="tx1"/>
                          </a:solidFill>
                        </a:rPr>
                        <a:t>Criteria</a:t>
                      </a:r>
                    </a:p>
                  </a:txBody>
                  <a:tcPr>
                    <a:solidFill>
                      <a:srgbClr val="C6DCCD"/>
                    </a:solidFill>
                  </a:tcPr>
                </a:tc>
                <a:tc>
                  <a:txBody>
                    <a:bodyPr/>
                    <a:lstStyle/>
                    <a:p>
                      <a:r>
                        <a:rPr lang="en-US" sz="1400" b="0">
                          <a:solidFill>
                            <a:schemeClr val="tx1"/>
                          </a:solidFill>
                        </a:rPr>
                        <a:t>Value</a:t>
                      </a:r>
                    </a:p>
                  </a:txBody>
                  <a:tcPr>
                    <a:solidFill>
                      <a:srgbClr val="C6DCCD"/>
                    </a:solidFill>
                  </a:tcPr>
                </a:tc>
                <a:tc>
                  <a:txBody>
                    <a:bodyPr/>
                    <a:lstStyle/>
                    <a:p>
                      <a:r>
                        <a:rPr lang="en-US" sz="1400" b="0">
                          <a:solidFill>
                            <a:schemeClr val="tx1"/>
                          </a:solidFill>
                        </a:rPr>
                        <a:t>Source</a:t>
                      </a:r>
                    </a:p>
                  </a:txBody>
                  <a:tcPr>
                    <a:solidFill>
                      <a:srgbClr val="C6DCCD"/>
                    </a:solidFill>
                  </a:tcPr>
                </a:tc>
                <a:extLst>
                  <a:ext uri="{0D108BD9-81ED-4DB2-BD59-A6C34878D82A}">
                    <a16:rowId xmlns:a16="http://schemas.microsoft.com/office/drawing/2014/main" val="3281024351"/>
                  </a:ext>
                </a:extLst>
              </a:tr>
              <a:tr h="370840">
                <a:tc>
                  <a:txBody>
                    <a:bodyPr/>
                    <a:lstStyle/>
                    <a:p>
                      <a:r>
                        <a:rPr lang="en-US" sz="1400"/>
                        <a:t>Protein</a:t>
                      </a:r>
                    </a:p>
                  </a:txBody>
                  <a:tcPr>
                    <a:lnB w="12700" cap="flat" cmpd="sng" algn="ctr">
                      <a:solidFill>
                        <a:schemeClr val="bg2"/>
                      </a:solidFill>
                      <a:prstDash val="solid"/>
                      <a:round/>
                      <a:headEnd type="none" w="med" len="med"/>
                      <a:tailEnd type="none" w="med" len="med"/>
                    </a:lnB>
                    <a:noFill/>
                  </a:tcPr>
                </a:tc>
                <a:tc>
                  <a:txBody>
                    <a:bodyPr/>
                    <a:lstStyle/>
                    <a:p>
                      <a:r>
                        <a:rPr lang="en-US" sz="1400"/>
                        <a:t>IHC</a:t>
                      </a:r>
                    </a:p>
                  </a:txBody>
                  <a:tcPr>
                    <a:lnB w="12700" cap="flat" cmpd="sng" algn="ctr">
                      <a:solidFill>
                        <a:schemeClr val="bg2"/>
                      </a:solidFill>
                      <a:prstDash val="solid"/>
                      <a:round/>
                      <a:headEnd type="none" w="med" len="med"/>
                      <a:tailEnd type="none" w="med" len="med"/>
                    </a:lnB>
                    <a:noFill/>
                  </a:tcPr>
                </a:tc>
                <a:tc>
                  <a:txBody>
                    <a:bodyPr/>
                    <a:lstStyle/>
                    <a:p>
                      <a:r>
                        <a:rPr lang="en-GB" sz="1400"/>
                        <a:t>High percentage of strong staining (e.g., &gt;10–30% of cancer cells showing moderate to strong positivity for target marker)​</a:t>
                      </a:r>
                      <a:endParaRPr lang="en-US" sz="1400"/>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90 to 97% of prostate cancer is positive with &gt;70% moderate to strong staining.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Staining intensity is high across grades</a:t>
                      </a:r>
                    </a:p>
                  </a:txBody>
                  <a:tcPr>
                    <a:lnB w="12700" cap="flat" cmpd="sng" algn="ctr">
                      <a:solidFill>
                        <a:schemeClr val="bg2"/>
                      </a:solidFill>
                      <a:prstDash val="solid"/>
                      <a:round/>
                      <a:headEnd type="none" w="med" len="med"/>
                      <a:tailEnd type="none" w="med" len="med"/>
                    </a:lnB>
                    <a:noFill/>
                  </a:tcPr>
                </a:tc>
                <a:tc>
                  <a:txBody>
                    <a:bodyPr/>
                    <a:lstStyle/>
                    <a:p>
                      <a:r>
                        <a:rPr lang="en-GB" sz="1400">
                          <a:hlinkClick r:id="rId11"/>
                        </a:rPr>
                        <a:t>Tribian et al, Diagnostics 2023</a:t>
                      </a:r>
                      <a:endParaRPr lang="en-US" sz="1400"/>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370840">
                <a:tc>
                  <a:txBody>
                    <a:bodyPr/>
                    <a:lstStyle/>
                    <a:p>
                      <a:r>
                        <a:rPr lang="en-US" sz="1400"/>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400"/>
                        <a:t>qPCR</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GB" sz="1400"/>
                        <a:t>Significant fold increase of  ≥10 (0.05)</a:t>
                      </a:r>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400"/>
                        <a:t>&gt;100 to 1000-fold higher then normal tissue (excluding normal prostate)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fr-FR" sz="1400" err="1">
                          <a:hlinkClick r:id="rId12"/>
                        </a:rPr>
                        <a:t>Graddis</a:t>
                      </a:r>
                      <a:r>
                        <a:rPr lang="fr-FR" sz="1400">
                          <a:hlinkClick r:id="rId12"/>
                        </a:rPr>
                        <a:t> et al, Int J Clin </a:t>
                      </a:r>
                      <a:r>
                        <a:rPr lang="fr-FR" sz="1400" err="1">
                          <a:hlinkClick r:id="rId12"/>
                        </a:rPr>
                        <a:t>Exp</a:t>
                      </a:r>
                      <a:r>
                        <a:rPr lang="fr-FR" sz="1400">
                          <a:hlinkClick r:id="rId12"/>
                        </a:rPr>
                        <a:t> </a:t>
                      </a:r>
                      <a:r>
                        <a:rPr lang="fr-FR" sz="1400" err="1">
                          <a:hlinkClick r:id="rId12"/>
                        </a:rPr>
                        <a:t>Pathol</a:t>
                      </a:r>
                      <a:r>
                        <a:rPr lang="fr-FR" sz="1400">
                          <a:hlinkClick r:id="rId12"/>
                        </a:rPr>
                        <a:t> 2011</a:t>
                      </a:r>
                      <a:r>
                        <a:rPr lang="en-US" sz="1400">
                          <a:hlinkClick r:id="rId12"/>
                        </a:rPr>
                        <a:t> </a:t>
                      </a:r>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53894309"/>
                  </a:ext>
                </a:extLst>
              </a:tr>
            </a:tbl>
          </a:graphicData>
        </a:graphic>
      </p:graphicFrame>
      <p:sp>
        <p:nvSpPr>
          <p:cNvPr id="18" name="Text 33">
            <a:extLst>
              <a:ext uri="{FF2B5EF4-FFF2-40B4-BE49-F238E27FC236}">
                <a16:creationId xmlns:a16="http://schemas.microsoft.com/office/drawing/2014/main" id="{D68CD21F-2B7D-5A9A-22B9-694B2F6EC333}"/>
              </a:ext>
            </a:extLst>
          </p:cNvPr>
          <p:cNvSpPr/>
          <p:nvPr/>
        </p:nvSpPr>
        <p:spPr>
          <a:xfrm>
            <a:off x="254001" y="1805238"/>
            <a:ext cx="4170515" cy="199507"/>
          </a:xfrm>
          <a:prstGeom prst="rect">
            <a:avLst/>
          </a:prstGeom>
          <a:noFill/>
          <a:ln/>
        </p:spPr>
        <p:txBody>
          <a:bodyPr wrap="square" rtlCol="0" anchor="ctr"/>
          <a:lstStyle/>
          <a:p>
            <a:pPr>
              <a:lnSpc>
                <a:spcPts val="1500"/>
              </a:lnSpc>
            </a:pPr>
            <a:r>
              <a:rPr lang="en-US" sz="1600" b="1" kern="0" spc="-12">
                <a:solidFill>
                  <a:srgbClr val="000000">
                    <a:alpha val="99000"/>
                  </a:srgbClr>
                </a:solidFill>
                <a:latin typeface="Funnel Sans" pitchFamily="34" charset="0"/>
              </a:rPr>
              <a:t>Prostate Cancer </a:t>
            </a:r>
            <a:r>
              <a:rPr lang="en-US" sz="1600" kern="0" spc="-12">
                <a:solidFill>
                  <a:srgbClr val="000000">
                    <a:alpha val="99000"/>
                  </a:srgbClr>
                </a:solidFill>
                <a:latin typeface="Funnel Sans" pitchFamily="34" charset="0"/>
              </a:rPr>
              <a:t>Expression</a:t>
            </a:r>
            <a:endParaRPr lang="en-US" sz="1600"/>
          </a:p>
        </p:txBody>
      </p:sp>
      <p:graphicFrame>
        <p:nvGraphicFramePr>
          <p:cNvPr id="3" name="Table 2">
            <a:extLst>
              <a:ext uri="{FF2B5EF4-FFF2-40B4-BE49-F238E27FC236}">
                <a16:creationId xmlns:a16="http://schemas.microsoft.com/office/drawing/2014/main" id="{000667A5-0938-1EAB-8E45-5090A8BA4CB1}"/>
              </a:ext>
            </a:extLst>
          </p:cNvPr>
          <p:cNvGraphicFramePr>
            <a:graphicFrameLocks noGrp="1"/>
          </p:cNvGraphicFramePr>
          <p:nvPr/>
        </p:nvGraphicFramePr>
        <p:xfrm>
          <a:off x="323502" y="4728021"/>
          <a:ext cx="11614495" cy="1140595"/>
        </p:xfrm>
        <a:graphic>
          <a:graphicData uri="http://schemas.openxmlformats.org/drawingml/2006/table">
            <a:tbl>
              <a:tblPr firstRow="1" bandRow="1">
                <a:tableStyleId>{5C22544A-7EE6-4342-B048-85BDC9FD1C3A}</a:tableStyleId>
              </a:tblPr>
              <a:tblGrid>
                <a:gridCol w="1136925">
                  <a:extLst>
                    <a:ext uri="{9D8B030D-6E8A-4147-A177-3AD203B41FA5}">
                      <a16:colId xmlns:a16="http://schemas.microsoft.com/office/drawing/2014/main" val="544434787"/>
                    </a:ext>
                  </a:extLst>
                </a:gridCol>
                <a:gridCol w="1307691">
                  <a:extLst>
                    <a:ext uri="{9D8B030D-6E8A-4147-A177-3AD203B41FA5}">
                      <a16:colId xmlns:a16="http://schemas.microsoft.com/office/drawing/2014/main" val="3701184376"/>
                    </a:ext>
                  </a:extLst>
                </a:gridCol>
                <a:gridCol w="3097161">
                  <a:extLst>
                    <a:ext uri="{9D8B030D-6E8A-4147-A177-3AD203B41FA5}">
                      <a16:colId xmlns:a16="http://schemas.microsoft.com/office/drawing/2014/main" val="3241637152"/>
                    </a:ext>
                  </a:extLst>
                </a:gridCol>
                <a:gridCol w="3749819">
                  <a:extLst>
                    <a:ext uri="{9D8B030D-6E8A-4147-A177-3AD203B41FA5}">
                      <a16:colId xmlns:a16="http://schemas.microsoft.com/office/drawing/2014/main" val="2413661414"/>
                    </a:ext>
                  </a:extLst>
                </a:gridCol>
                <a:gridCol w="2322899">
                  <a:extLst>
                    <a:ext uri="{9D8B030D-6E8A-4147-A177-3AD203B41FA5}">
                      <a16:colId xmlns:a16="http://schemas.microsoft.com/office/drawing/2014/main" val="2720780949"/>
                    </a:ext>
                  </a:extLst>
                </a:gridCol>
              </a:tblGrid>
              <a:tr h="370840">
                <a:tc>
                  <a:txBody>
                    <a:bodyPr/>
                    <a:lstStyle/>
                    <a:p>
                      <a:r>
                        <a:rPr lang="en-US" sz="1400" b="0">
                          <a:solidFill>
                            <a:schemeClr val="tx1"/>
                          </a:solidFill>
                        </a:rPr>
                        <a:t>Type</a:t>
                      </a:r>
                    </a:p>
                  </a:txBody>
                  <a:tcPr>
                    <a:solidFill>
                      <a:schemeClr val="bg2"/>
                    </a:solidFill>
                  </a:tcPr>
                </a:tc>
                <a:tc>
                  <a:txBody>
                    <a:bodyPr/>
                    <a:lstStyle/>
                    <a:p>
                      <a:r>
                        <a:rPr lang="en-US" sz="1400" b="0">
                          <a:solidFill>
                            <a:schemeClr val="tx1"/>
                          </a:solidFill>
                        </a:rPr>
                        <a:t>Method</a:t>
                      </a:r>
                    </a:p>
                  </a:txBody>
                  <a:tcPr>
                    <a:solidFill>
                      <a:schemeClr val="bg2"/>
                    </a:solidFill>
                  </a:tcPr>
                </a:tc>
                <a:tc>
                  <a:txBody>
                    <a:bodyPr/>
                    <a:lstStyle/>
                    <a:p>
                      <a:r>
                        <a:rPr lang="en-US" sz="1400" b="0">
                          <a:solidFill>
                            <a:schemeClr val="tx1"/>
                          </a:solidFill>
                        </a:rPr>
                        <a:t>Criteria</a:t>
                      </a:r>
                    </a:p>
                  </a:txBody>
                  <a:tcPr>
                    <a:solidFill>
                      <a:schemeClr val="bg2"/>
                    </a:solidFill>
                  </a:tcPr>
                </a:tc>
                <a:tc>
                  <a:txBody>
                    <a:bodyPr/>
                    <a:lstStyle/>
                    <a:p>
                      <a:r>
                        <a:rPr lang="en-US" sz="1400" b="0">
                          <a:solidFill>
                            <a:schemeClr val="tx1"/>
                          </a:solidFill>
                        </a:rPr>
                        <a:t>Value</a:t>
                      </a:r>
                    </a:p>
                  </a:txBody>
                  <a:tcPr>
                    <a:solidFill>
                      <a:schemeClr val="bg2"/>
                    </a:solidFill>
                  </a:tcPr>
                </a:tc>
                <a:tc>
                  <a:txBody>
                    <a:bodyPr/>
                    <a:lstStyle/>
                    <a:p>
                      <a:r>
                        <a:rPr lang="en-US" sz="1400" b="0">
                          <a:solidFill>
                            <a:schemeClr val="tx1"/>
                          </a:solidFill>
                        </a:rPr>
                        <a:t>Source</a:t>
                      </a:r>
                    </a:p>
                  </a:txBody>
                  <a:tcPr>
                    <a:solidFill>
                      <a:schemeClr val="bg2"/>
                    </a:solidFill>
                  </a:tcPr>
                </a:tc>
                <a:extLst>
                  <a:ext uri="{0D108BD9-81ED-4DB2-BD59-A6C34878D82A}">
                    <a16:rowId xmlns:a16="http://schemas.microsoft.com/office/drawing/2014/main" val="3281024351"/>
                  </a:ext>
                </a:extLst>
              </a:tr>
              <a:tr h="769755">
                <a:tc>
                  <a:txBody>
                    <a:bodyPr/>
                    <a:lstStyle/>
                    <a:p>
                      <a:r>
                        <a:rPr lang="en-US" sz="1400"/>
                        <a:t>Protein</a:t>
                      </a:r>
                    </a:p>
                  </a:txBody>
                  <a:tcPr>
                    <a:lnB w="12700" cap="flat" cmpd="sng" algn="ctr">
                      <a:solidFill>
                        <a:schemeClr val="bg2"/>
                      </a:solidFill>
                      <a:prstDash val="solid"/>
                      <a:round/>
                      <a:headEnd type="none" w="med" len="med"/>
                      <a:tailEnd type="none" w="med" len="med"/>
                    </a:lnB>
                    <a:noFill/>
                  </a:tcPr>
                </a:tc>
                <a:tc>
                  <a:txBody>
                    <a:bodyPr/>
                    <a:lstStyle/>
                    <a:p>
                      <a:r>
                        <a:rPr lang="en-US" sz="1400"/>
                        <a:t>IHC</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Minimal or absent staining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(ideally &lt;1–10%; 0% preferred)​</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&gt;95% of normal prostate is positive but &lt;2–5% of cells or undetectable in other normal tissue</a:t>
                      </a:r>
                      <a:endParaRPr lang="en-US" sz="1400"/>
                    </a:p>
                  </a:txBody>
                  <a:tcPr>
                    <a:lnB w="12700" cap="flat" cmpd="sng" algn="ctr">
                      <a:solidFill>
                        <a:schemeClr val="bg2"/>
                      </a:solidFill>
                      <a:prstDash val="solid"/>
                      <a:round/>
                      <a:headEnd type="none" w="med" len="med"/>
                      <a:tailEnd type="none" w="med" len="med"/>
                    </a:lnB>
                    <a:noFill/>
                  </a:tcPr>
                </a:tc>
                <a:tc>
                  <a:txBody>
                    <a:bodyPr/>
                    <a:lstStyle/>
                    <a:p>
                      <a:r>
                        <a:rPr lang="fr-FR" sz="1400">
                          <a:hlinkClick r:id="rId12"/>
                        </a:rPr>
                        <a:t>Graddis et al, Int J Clin Exp Pathol 2011</a:t>
                      </a:r>
                      <a:r>
                        <a:rPr lang="en-US" sz="1400">
                          <a:hlinkClick r:id="rId12"/>
                        </a:rPr>
                        <a:t> </a:t>
                      </a:r>
                      <a:endParaRPr lang="en-US" sz="1400"/>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bl>
          </a:graphicData>
        </a:graphic>
      </p:graphicFrame>
      <p:sp>
        <p:nvSpPr>
          <p:cNvPr id="19" name="Text 33">
            <a:extLst>
              <a:ext uri="{FF2B5EF4-FFF2-40B4-BE49-F238E27FC236}">
                <a16:creationId xmlns:a16="http://schemas.microsoft.com/office/drawing/2014/main" id="{8D261986-201A-FB21-B14C-6FF8F5509091}"/>
              </a:ext>
            </a:extLst>
          </p:cNvPr>
          <p:cNvSpPr/>
          <p:nvPr/>
        </p:nvSpPr>
        <p:spPr>
          <a:xfrm>
            <a:off x="254000" y="4505487"/>
            <a:ext cx="4170515" cy="199507"/>
          </a:xfrm>
          <a:prstGeom prst="rect">
            <a:avLst/>
          </a:prstGeom>
          <a:noFill/>
          <a:ln/>
        </p:spPr>
        <p:txBody>
          <a:bodyPr wrap="square" rtlCol="0" anchor="ctr"/>
          <a:lstStyle/>
          <a:p>
            <a:pPr>
              <a:lnSpc>
                <a:spcPts val="1500"/>
              </a:lnSpc>
            </a:pPr>
            <a:r>
              <a:rPr lang="en-US" sz="1600" b="1" kern="0" spc="-12">
                <a:solidFill>
                  <a:srgbClr val="000000">
                    <a:alpha val="99000"/>
                  </a:srgbClr>
                </a:solidFill>
                <a:latin typeface="Funnel Sans" pitchFamily="34" charset="0"/>
              </a:rPr>
              <a:t>Healthy</a:t>
            </a:r>
            <a:r>
              <a:rPr lang="en-US" sz="1600" kern="0" spc="-12">
                <a:solidFill>
                  <a:srgbClr val="000000">
                    <a:alpha val="99000"/>
                  </a:srgbClr>
                </a:solidFill>
                <a:latin typeface="Funnel Sans" pitchFamily="34" charset="0"/>
              </a:rPr>
              <a:t> Cell Expression</a:t>
            </a:r>
            <a:endParaRPr lang="en-US" sz="1600"/>
          </a:p>
        </p:txBody>
      </p:sp>
      <p:sp>
        <p:nvSpPr>
          <p:cNvPr id="21" name="Rectangle: Rounded Corners 20">
            <a:extLst>
              <a:ext uri="{FF2B5EF4-FFF2-40B4-BE49-F238E27FC236}">
                <a16:creationId xmlns:a16="http://schemas.microsoft.com/office/drawing/2014/main" id="{9935BD4E-3AB1-0E27-D8CD-3A4E754E360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Expression</a:t>
            </a:r>
          </a:p>
        </p:txBody>
      </p:sp>
      <p:sp>
        <p:nvSpPr>
          <p:cNvPr id="20" name="TextBox 19">
            <a:extLst>
              <a:ext uri="{FF2B5EF4-FFF2-40B4-BE49-F238E27FC236}">
                <a16:creationId xmlns:a16="http://schemas.microsoft.com/office/drawing/2014/main" id="{7A791C61-7603-0A79-6FBB-AAD1B3C1B6B8}"/>
              </a:ext>
            </a:extLst>
          </p:cNvPr>
          <p:cNvSpPr txBox="1"/>
          <p:nvPr/>
        </p:nvSpPr>
        <p:spPr>
          <a:xfrm>
            <a:off x="11075917" y="6611779"/>
            <a:ext cx="1136650" cy="246221"/>
          </a:xfrm>
          <a:prstGeom prst="rect">
            <a:avLst/>
          </a:prstGeom>
          <a:noFill/>
        </p:spPr>
        <p:txBody>
          <a:bodyPr wrap="square" rtlCol="0">
            <a:spAutoFit/>
          </a:bodyPr>
          <a:lstStyle/>
          <a:p>
            <a:pPr algn="r"/>
            <a:r>
              <a:rPr lang="en-US" sz="1000"/>
              <a:t>Confidential </a:t>
            </a:r>
            <a:fld id="{F55465F9-4A58-45DB-8234-396342B5FF6F}" type="slidenum">
              <a:rPr lang="en-US" sz="1000" smtClean="0"/>
              <a:pPr algn="r"/>
              <a:t>9</a:t>
            </a:fld>
            <a:endParaRPr lang="en-US" sz="1000"/>
          </a:p>
        </p:txBody>
      </p:sp>
    </p:spTree>
    <p:extLst>
      <p:ext uri="{BB962C8B-B14F-4D97-AF65-F5344CB8AC3E}">
        <p14:creationId xmlns:p14="http://schemas.microsoft.com/office/powerpoint/2010/main" val="4274712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6591-6516-EBFC-3491-F98562A1190A}"/>
            </a:ext>
          </a:extLst>
        </p:cNvPr>
        <p:cNvGrpSpPr/>
        <p:nvPr/>
      </p:nvGrpSpPr>
      <p:grpSpPr>
        <a:xfrm>
          <a:off x="0" y="0"/>
          <a:ext cx="0" cy="0"/>
          <a:chOff x="0" y="0"/>
          <a:chExt cx="0" cy="0"/>
        </a:xfrm>
      </p:grpSpPr>
      <p:sp>
        <p:nvSpPr>
          <p:cNvPr id="34" name="Shape 5">
            <a:extLst>
              <a:ext uri="{FF2B5EF4-FFF2-40B4-BE49-F238E27FC236}">
                <a16:creationId xmlns:a16="http://schemas.microsoft.com/office/drawing/2014/main" id="{36FB8ED5-1F56-35CA-D010-C8C94F3AF081}"/>
              </a:ext>
            </a:extLst>
          </p:cNvPr>
          <p:cNvSpPr/>
          <p:nvPr/>
        </p:nvSpPr>
        <p:spPr>
          <a:xfrm rot="5400000">
            <a:off x="4415478" y="4048904"/>
            <a:ext cx="1819350" cy="2367603"/>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0">
            <a:extLst>
              <a:ext uri="{FF2B5EF4-FFF2-40B4-BE49-F238E27FC236}">
                <a16:creationId xmlns:a16="http://schemas.microsoft.com/office/drawing/2014/main" id="{2CD36A44-6201-74E6-7F91-091B2AEDDA02}"/>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C402F995-1CF3-8DAF-606A-1C1725D98924}"/>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1CF786BB-ACCD-E0F7-E1B8-8B201A5C9360}"/>
              </a:ext>
            </a:extLst>
          </p:cNvPr>
          <p:cNvPicPr>
            <a:picLocks noChangeAspect="1"/>
          </p:cNvPicPr>
          <p:nvPr/>
        </p:nvPicPr>
        <p:blipFill>
          <a:blip r:embed="rId2"/>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6D60BC55-E74F-5568-AC57-5419E261F1C1}"/>
              </a:ext>
            </a:extLst>
          </p:cNvPr>
          <p:cNvPicPr>
            <a:picLocks noChangeAspect="1"/>
          </p:cNvPicPr>
          <p:nvPr/>
        </p:nvPicPr>
        <p:blipFill>
          <a:blip r:embed="rId3"/>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FEB83129-6195-BCD3-737E-A22E54D13AA4}"/>
              </a:ext>
            </a:extLst>
          </p:cNvPr>
          <p:cNvPicPr>
            <a:picLocks noChangeAspect="1"/>
          </p:cNvPicPr>
          <p:nvPr/>
        </p:nvPicPr>
        <p:blipFill>
          <a:blip r:embed="rId3"/>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017FCD0F-D8F3-802B-7F55-8EB27264A41B}"/>
              </a:ext>
            </a:extLst>
          </p:cNvPr>
          <p:cNvPicPr>
            <a:picLocks noChangeAspect="1"/>
          </p:cNvPicPr>
          <p:nvPr/>
        </p:nvPicPr>
        <p:blipFill>
          <a:blip r:embed="rId3"/>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307B98E1-3712-9CAC-443A-34D44B59F48B}"/>
              </a:ext>
            </a:extLst>
          </p:cNvPr>
          <p:cNvPicPr>
            <a:picLocks noChangeAspect="1"/>
          </p:cNvPicPr>
          <p:nvPr/>
        </p:nvPicPr>
        <p:blipFill>
          <a:blip r:embed="rId4"/>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512EABEA-D0E2-0D9E-E5BC-AAEF5AA13B94}"/>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730FA1E0-CC54-8711-7870-BDCC8A376DDE}"/>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FF45BDB8-54AE-7E38-AC6D-FCC53FC5D2FD}"/>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C49DD3F1-F70C-DA0D-A476-7AF883C208E5}"/>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35A3BDDE-B94F-6FE6-CD38-585EBB257968}"/>
              </a:ext>
            </a:extLst>
          </p:cNvPr>
          <p:cNvPicPr>
            <a:picLocks noChangeAspect="1"/>
          </p:cNvPicPr>
          <p:nvPr/>
        </p:nvPicPr>
        <p:blipFill>
          <a:blip r:embed="rId9"/>
          <a:stretch>
            <a:fillRect/>
          </a:stretch>
        </p:blipFill>
        <p:spPr>
          <a:xfrm>
            <a:off x="254000" y="376361"/>
            <a:ext cx="174501" cy="157575"/>
          </a:xfrm>
          <a:prstGeom prst="rect">
            <a:avLst/>
          </a:prstGeom>
        </p:spPr>
      </p:pic>
      <p:sp>
        <p:nvSpPr>
          <p:cNvPr id="17" name="Text 28">
            <a:extLst>
              <a:ext uri="{FF2B5EF4-FFF2-40B4-BE49-F238E27FC236}">
                <a16:creationId xmlns:a16="http://schemas.microsoft.com/office/drawing/2014/main" id="{A2AB97F0-6B69-CF62-818D-6A334BB20DF4}"/>
              </a:ext>
            </a:extLst>
          </p:cNvPr>
          <p:cNvSpPr/>
          <p:nvPr/>
        </p:nvSpPr>
        <p:spPr>
          <a:xfrm>
            <a:off x="254000" y="635564"/>
            <a:ext cx="9057147"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ACP3 (PAP) biology is ideal for radioligand targeting</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Rectangle: Rounded Corners 17">
            <a:extLst>
              <a:ext uri="{FF2B5EF4-FFF2-40B4-BE49-F238E27FC236}">
                <a16:creationId xmlns:a16="http://schemas.microsoft.com/office/drawing/2014/main" id="{8B1104D5-AE3D-F693-06E0-2C33D822F43C}"/>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
        <p:nvSpPr>
          <p:cNvPr id="22" name="Shape 1">
            <a:extLst>
              <a:ext uri="{FF2B5EF4-FFF2-40B4-BE49-F238E27FC236}">
                <a16:creationId xmlns:a16="http://schemas.microsoft.com/office/drawing/2014/main" id="{007747D5-BE92-034B-A7A1-AAB131B9B16A}"/>
              </a:ext>
            </a:extLst>
          </p:cNvPr>
          <p:cNvSpPr/>
          <p:nvPr/>
        </p:nvSpPr>
        <p:spPr>
          <a:xfrm>
            <a:off x="323502" y="150536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TextBox 22">
            <a:extLst>
              <a:ext uri="{FF2B5EF4-FFF2-40B4-BE49-F238E27FC236}">
                <a16:creationId xmlns:a16="http://schemas.microsoft.com/office/drawing/2014/main" id="{15D7A11E-4840-5FB0-22D7-DE59F4ACEBE1}"/>
              </a:ext>
            </a:extLst>
          </p:cNvPr>
          <p:cNvSpPr txBox="1"/>
          <p:nvPr/>
        </p:nvSpPr>
        <p:spPr>
          <a:xfrm>
            <a:off x="0" y="6611779"/>
            <a:ext cx="1206552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0"/>
              </a:rPr>
              <a:t>Muniyan Int J Mol Sci 2013</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Wadstrom Urol Res 1985</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Georgiev Nat Biomed Eng 2025</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3"/>
              </a:rPr>
              <a:t>Quintero PloS One 2013</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4"/>
              </a:rPr>
              <a:t>Quintero Cancer Research 2007</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5"/>
              </a:rPr>
              <a:t>Sing NJPPP 2023</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Shape 2">
            <a:extLst>
              <a:ext uri="{FF2B5EF4-FFF2-40B4-BE49-F238E27FC236}">
                <a16:creationId xmlns:a16="http://schemas.microsoft.com/office/drawing/2014/main" id="{65120DA8-47FF-5D4D-B78B-B9E6ADC605AA}"/>
              </a:ext>
            </a:extLst>
          </p:cNvPr>
          <p:cNvSpPr/>
          <p:nvPr/>
        </p:nvSpPr>
        <p:spPr>
          <a:xfrm>
            <a:off x="4518716" y="1908540"/>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Shape 3">
            <a:extLst>
              <a:ext uri="{FF2B5EF4-FFF2-40B4-BE49-F238E27FC236}">
                <a16:creationId xmlns:a16="http://schemas.microsoft.com/office/drawing/2014/main" id="{76A72BB1-AAF2-C192-A452-A72B65C6FE55}"/>
              </a:ext>
            </a:extLst>
          </p:cNvPr>
          <p:cNvSpPr/>
          <p:nvPr/>
        </p:nvSpPr>
        <p:spPr>
          <a:xfrm>
            <a:off x="8303987" y="1908540"/>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4" name="Shape 5">
            <a:extLst>
              <a:ext uri="{FF2B5EF4-FFF2-40B4-BE49-F238E27FC236}">
                <a16:creationId xmlns:a16="http://schemas.microsoft.com/office/drawing/2014/main" id="{0C341DC8-CD6A-D095-C8ED-C8F964E02AF1}"/>
              </a:ext>
            </a:extLst>
          </p:cNvPr>
          <p:cNvSpPr/>
          <p:nvPr/>
        </p:nvSpPr>
        <p:spPr>
          <a:xfrm rot="10800000">
            <a:off x="718061" y="2387351"/>
            <a:ext cx="3423291" cy="3755031"/>
          </a:xfrm>
          <a:prstGeom prst="round2SameRect">
            <a:avLst>
              <a:gd name="adj1" fmla="val 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5" name="Shape 17">
            <a:extLst>
              <a:ext uri="{FF2B5EF4-FFF2-40B4-BE49-F238E27FC236}">
                <a16:creationId xmlns:a16="http://schemas.microsoft.com/office/drawing/2014/main" id="{418E7623-0A80-7D73-7DE9-04EC0A695C84}"/>
              </a:ext>
            </a:extLst>
          </p:cNvPr>
          <p:cNvSpPr/>
          <p:nvPr/>
        </p:nvSpPr>
        <p:spPr>
          <a:xfrm>
            <a:off x="718063" y="1908540"/>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6" name="Text 35">
            <a:extLst>
              <a:ext uri="{FF2B5EF4-FFF2-40B4-BE49-F238E27FC236}">
                <a16:creationId xmlns:a16="http://schemas.microsoft.com/office/drawing/2014/main" id="{0E8E36BD-29A4-F91B-B692-2E842924DB73}"/>
              </a:ext>
            </a:extLst>
          </p:cNvPr>
          <p:cNvSpPr/>
          <p:nvPr/>
        </p:nvSpPr>
        <p:spPr>
          <a:xfrm>
            <a:off x="8327007" y="2040390"/>
            <a:ext cx="1369316"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Secreted PAP </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7" name="Text 36">
            <a:extLst>
              <a:ext uri="{FF2B5EF4-FFF2-40B4-BE49-F238E27FC236}">
                <a16:creationId xmlns:a16="http://schemas.microsoft.com/office/drawing/2014/main" id="{1CA93B6C-54FA-3445-E5DC-B5D3D971D905}"/>
              </a:ext>
            </a:extLst>
          </p:cNvPr>
          <p:cNvSpPr/>
          <p:nvPr/>
        </p:nvSpPr>
        <p:spPr>
          <a:xfrm>
            <a:off x="4544901" y="2040390"/>
            <a:ext cx="3302554" cy="275836"/>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Transmembrane PAP Internalization </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8" name="Text 42">
            <a:extLst>
              <a:ext uri="{FF2B5EF4-FFF2-40B4-BE49-F238E27FC236}">
                <a16:creationId xmlns:a16="http://schemas.microsoft.com/office/drawing/2014/main" id="{4DFF55D1-3BE2-5AA3-92A4-C90D07DC8529}"/>
              </a:ext>
            </a:extLst>
          </p:cNvPr>
          <p:cNvSpPr/>
          <p:nvPr/>
        </p:nvSpPr>
        <p:spPr>
          <a:xfrm>
            <a:off x="739010" y="2040390"/>
            <a:ext cx="2384093"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Structure &amp; Function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9" name="Shape 5">
            <a:extLst>
              <a:ext uri="{FF2B5EF4-FFF2-40B4-BE49-F238E27FC236}">
                <a16:creationId xmlns:a16="http://schemas.microsoft.com/office/drawing/2014/main" id="{633F0725-4364-D94D-55AE-3BDEDBE747CB}"/>
              </a:ext>
            </a:extLst>
          </p:cNvPr>
          <p:cNvSpPr/>
          <p:nvPr/>
        </p:nvSpPr>
        <p:spPr>
          <a:xfrm rot="10800000">
            <a:off x="4515236" y="2387350"/>
            <a:ext cx="3423291" cy="1791355"/>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0" name="Shape 5">
            <a:extLst>
              <a:ext uri="{FF2B5EF4-FFF2-40B4-BE49-F238E27FC236}">
                <a16:creationId xmlns:a16="http://schemas.microsoft.com/office/drawing/2014/main" id="{FCD0E30A-155C-813E-2254-B61A893519FB}"/>
              </a:ext>
            </a:extLst>
          </p:cNvPr>
          <p:cNvSpPr/>
          <p:nvPr/>
        </p:nvSpPr>
        <p:spPr>
          <a:xfrm rot="10800000">
            <a:off x="8303985" y="2387351"/>
            <a:ext cx="3423291" cy="3755031"/>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1" name="TextBox 30">
            <a:extLst>
              <a:ext uri="{FF2B5EF4-FFF2-40B4-BE49-F238E27FC236}">
                <a16:creationId xmlns:a16="http://schemas.microsoft.com/office/drawing/2014/main" id="{DD6B4640-C84C-83E1-6BC7-FC2D41E0FA29}"/>
              </a:ext>
            </a:extLst>
          </p:cNvPr>
          <p:cNvSpPr txBox="1"/>
          <p:nvPr/>
        </p:nvSpPr>
        <p:spPr>
          <a:xfrm>
            <a:off x="718062" y="2484782"/>
            <a:ext cx="3414866" cy="3657599"/>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Two splice variants of ACP3: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Transmembrane PAP (TM-PAP)</a:t>
            </a:r>
            <a:r>
              <a:rPr kumimoji="0" lang="en-US" sz="1200" b="0" i="0" u="none" strike="noStrike" kern="1200" cap="none" spc="0" normalizeH="0" baseline="0" noProof="0">
                <a:ln>
                  <a:noFill/>
                </a:ln>
                <a:solidFill>
                  <a:prstClr val="black"/>
                </a:solidFill>
                <a:effectLst/>
                <a:uLnTx/>
                <a:uFillTx/>
                <a:latin typeface="Funnel Sans"/>
                <a:ea typeface="+mn-ea"/>
                <a:cs typeface="+mn-cs"/>
              </a:rPr>
              <a:t>: Type 1 transmembrane protein containing extracellular N-term phosphatase domain and C-terminal lysosomal targeting signal domain.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Secreted PAP (</a:t>
            </a:r>
            <a:r>
              <a:rPr kumimoji="0" lang="en-US" sz="1200" b="1" i="0" u="none" strike="noStrike" kern="1200" cap="none" spc="0" normalizeH="0" baseline="0" noProof="0" err="1">
                <a:ln>
                  <a:noFill/>
                </a:ln>
                <a:solidFill>
                  <a:prstClr val="black"/>
                </a:solidFill>
                <a:effectLst/>
                <a:uLnTx/>
                <a:uFillTx/>
                <a:latin typeface="Funnel Sans"/>
                <a:ea typeface="+mn-ea"/>
                <a:cs typeface="+mn-cs"/>
              </a:rPr>
              <a:t>sPAP</a:t>
            </a:r>
            <a:r>
              <a:rPr kumimoji="0" lang="en-US" sz="1200" b="1" i="0" u="none" strike="noStrike" kern="1200" cap="none" spc="0" normalizeH="0" baseline="0" noProof="0">
                <a:ln>
                  <a:noFill/>
                </a:ln>
                <a:solidFill>
                  <a:prstClr val="black"/>
                </a:solidFill>
                <a:effectLst/>
                <a:uLnTx/>
                <a:uFillTx/>
                <a:latin typeface="Funnel Sans"/>
                <a:ea typeface="+mn-ea"/>
                <a:cs typeface="+mn-cs"/>
              </a:rPr>
              <a:t>)</a:t>
            </a:r>
            <a:r>
              <a:rPr kumimoji="0" lang="en-US" sz="1200" b="0" i="0" u="none" strike="noStrike" kern="1200" cap="none" spc="0" normalizeH="0" baseline="0" noProof="0">
                <a:ln>
                  <a:noFill/>
                </a:ln>
                <a:solidFill>
                  <a:prstClr val="black"/>
                </a:solidFill>
                <a:effectLst/>
                <a:uLnTx/>
                <a:uFillTx/>
                <a:latin typeface="Funnel Sans"/>
                <a:ea typeface="+mn-ea"/>
                <a:cs typeface="+mn-cs"/>
              </a:rPr>
              <a:t>: Found in seminal fluid, involved in sperm motility via choline generation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Catalytically active form is a homodimer and functions as a protein phosphatase when active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sp>
        <p:nvSpPr>
          <p:cNvPr id="32" name="TextBox 31">
            <a:extLst>
              <a:ext uri="{FF2B5EF4-FFF2-40B4-BE49-F238E27FC236}">
                <a16:creationId xmlns:a16="http://schemas.microsoft.com/office/drawing/2014/main" id="{7602D0C0-8B37-7A38-C566-E5D22EC7164D}"/>
              </a:ext>
            </a:extLst>
          </p:cNvPr>
          <p:cNvSpPr txBox="1"/>
          <p:nvPr/>
        </p:nvSpPr>
        <p:spPr>
          <a:xfrm>
            <a:off x="8319369" y="2484783"/>
            <a:ext cx="3414866" cy="302758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Quantities</a:t>
            </a:r>
            <a:r>
              <a:rPr kumimoji="0" lang="en-US" sz="1200" b="0" i="0" u="none" strike="noStrike" kern="1200" cap="none" spc="0" normalizeH="0" baseline="0" noProof="0">
                <a:ln>
                  <a:noFill/>
                </a:ln>
                <a:solidFill>
                  <a:prstClr val="black"/>
                </a:solidFill>
                <a:effectLst/>
                <a:uLnTx/>
                <a:uFillTx/>
                <a:latin typeface="Funnel Sans"/>
                <a:ea typeface="+mn-ea"/>
                <a:cs typeface="+mn-cs"/>
              </a:rPr>
              <a:t>: Baseline 1ng/ml, early prostate cancer 1-5ng/ml, more advanced stages of PC range from 10-100ng/ml in blood.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Serum half-life: </a:t>
            </a:r>
            <a:r>
              <a:rPr kumimoji="0" lang="en-US" sz="1200" b="0" i="0" u="none" strike="noStrike" kern="1200" cap="none" spc="0" normalizeH="0" baseline="0" noProof="0">
                <a:ln>
                  <a:noFill/>
                </a:ln>
                <a:solidFill>
                  <a:prstClr val="black"/>
                </a:solidFill>
                <a:effectLst/>
                <a:uLnTx/>
                <a:uFillTx/>
                <a:latin typeface="Funnel Sans"/>
                <a:ea typeface="+mn-ea"/>
                <a:cs typeface="+mn-cs"/>
              </a:rPr>
              <a:t>1.1-2.6 hours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(Determined from patients undergoing transurethral resection (TUR-P)). Both renal filtration and liver metabolism are clearance routes based on the size of circulating ACP3.</a:t>
            </a:r>
            <a:endParaRPr kumimoji="0" lang="en-US" sz="1200" b="1"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While ACP3/PAP is shed into the blood, the short half life is beneficial and significantly reduces off target risks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ACP3 half-life is short in comparison to PSA, which has a 2-3 day half-life. </a:t>
            </a:r>
          </a:p>
        </p:txBody>
      </p:sp>
      <p:sp>
        <p:nvSpPr>
          <p:cNvPr id="33" name="TextBox 32">
            <a:extLst>
              <a:ext uri="{FF2B5EF4-FFF2-40B4-BE49-F238E27FC236}">
                <a16:creationId xmlns:a16="http://schemas.microsoft.com/office/drawing/2014/main" id="{77356C7E-937D-CE96-10F9-8B0B4278A1DF}"/>
              </a:ext>
            </a:extLst>
          </p:cNvPr>
          <p:cNvSpPr txBox="1"/>
          <p:nvPr/>
        </p:nvSpPr>
        <p:spPr>
          <a:xfrm>
            <a:off x="4580071" y="2484783"/>
            <a:ext cx="3414866" cy="302758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TM-PAP is constitutively internalized (ligand independent) and has a specific c-terminal (intracellular facing) lysosomal targeting sequence.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The relationship between binding epitope and internalization is worth further exploration, as is the rate of internalization &amp; recirculation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TextBox 2">
            <a:extLst>
              <a:ext uri="{FF2B5EF4-FFF2-40B4-BE49-F238E27FC236}">
                <a16:creationId xmlns:a16="http://schemas.microsoft.com/office/drawing/2014/main" id="{035F194F-DF17-B7E7-3525-DF0806E084C8}"/>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Picture 3">
            <a:extLst>
              <a:ext uri="{FF2B5EF4-FFF2-40B4-BE49-F238E27FC236}">
                <a16:creationId xmlns:a16="http://schemas.microsoft.com/office/drawing/2014/main" id="{BB94FBBD-2F16-4F4D-986E-BB76A94DC050}"/>
              </a:ext>
            </a:extLst>
          </p:cNvPr>
          <p:cNvPicPr>
            <a:picLocks noChangeAspect="1"/>
          </p:cNvPicPr>
          <p:nvPr/>
        </p:nvPicPr>
        <p:blipFill>
          <a:blip r:embed="rId16"/>
          <a:srcRect t="11897"/>
          <a:stretch>
            <a:fillRect/>
          </a:stretch>
        </p:blipFill>
        <p:spPr>
          <a:xfrm>
            <a:off x="4331641" y="4436097"/>
            <a:ext cx="2012019" cy="1545668"/>
          </a:xfrm>
          <a:prstGeom prst="rect">
            <a:avLst/>
          </a:prstGeom>
        </p:spPr>
      </p:pic>
      <p:sp>
        <p:nvSpPr>
          <p:cNvPr id="19" name="Rectangle: Rounded Corners 18">
            <a:extLst>
              <a:ext uri="{FF2B5EF4-FFF2-40B4-BE49-F238E27FC236}">
                <a16:creationId xmlns:a16="http://schemas.microsoft.com/office/drawing/2014/main" id="{97945E4D-BC9A-3FE9-7C32-CAECD214B22C}"/>
              </a:ext>
            </a:extLst>
          </p:cNvPr>
          <p:cNvSpPr/>
          <p:nvPr/>
        </p:nvSpPr>
        <p:spPr>
          <a:xfrm>
            <a:off x="3317352" y="5526194"/>
            <a:ext cx="1180076" cy="566979"/>
          </a:xfrm>
          <a:prstGeom prst="roundRect">
            <a:avLst/>
          </a:prstGeom>
          <a:solidFill>
            <a:srgbClr val="C6DCC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Funnel Sans"/>
                <a:ea typeface="+mn-ea"/>
                <a:cs typeface="+mn-cs"/>
              </a:rPr>
              <a:t>Known small molecule binding sites</a:t>
            </a:r>
          </a:p>
        </p:txBody>
      </p:sp>
      <p:sp>
        <p:nvSpPr>
          <p:cNvPr id="35" name="Moon 34">
            <a:extLst>
              <a:ext uri="{FF2B5EF4-FFF2-40B4-BE49-F238E27FC236}">
                <a16:creationId xmlns:a16="http://schemas.microsoft.com/office/drawing/2014/main" id="{0B6D9AFD-1C13-7DC1-C018-743DF84A933E}"/>
              </a:ext>
            </a:extLst>
          </p:cNvPr>
          <p:cNvSpPr/>
          <p:nvPr/>
        </p:nvSpPr>
        <p:spPr>
          <a:xfrm rot="19137931">
            <a:off x="688902" y="5899627"/>
            <a:ext cx="172364" cy="334423"/>
          </a:xfrm>
          <a:prstGeom prst="moon">
            <a:avLst>
              <a:gd name="adj" fmla="val 4522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36" name="TextBox 35">
            <a:extLst>
              <a:ext uri="{FF2B5EF4-FFF2-40B4-BE49-F238E27FC236}">
                <a16:creationId xmlns:a16="http://schemas.microsoft.com/office/drawing/2014/main" id="{A6C0F66B-5840-DEBD-6B4D-E66B84DE9AF9}"/>
              </a:ext>
            </a:extLst>
          </p:cNvPr>
          <p:cNvSpPr txBox="1"/>
          <p:nvPr/>
        </p:nvSpPr>
        <p:spPr>
          <a:xfrm>
            <a:off x="3105716" y="5259974"/>
            <a:ext cx="170879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ACP3 Structure</a:t>
            </a:r>
          </a:p>
        </p:txBody>
      </p:sp>
      <p:cxnSp>
        <p:nvCxnSpPr>
          <p:cNvPr id="37" name="Straight Arrow Connector 36">
            <a:extLst>
              <a:ext uri="{FF2B5EF4-FFF2-40B4-BE49-F238E27FC236}">
                <a16:creationId xmlns:a16="http://schemas.microsoft.com/office/drawing/2014/main" id="{EF7EEE0F-2E25-4C29-1A02-CAF6C4A7F2CB}"/>
              </a:ext>
            </a:extLst>
          </p:cNvPr>
          <p:cNvCxnSpPr>
            <a:cxnSpLocks/>
            <a:stCxn id="19" idx="3"/>
          </p:cNvCxnSpPr>
          <p:nvPr/>
        </p:nvCxnSpPr>
        <p:spPr>
          <a:xfrm flipV="1">
            <a:off x="4497428" y="5525360"/>
            <a:ext cx="860089" cy="2843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034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CA7545F-9147-3B11-0083-6B6697DD9AC8}"/>
              </a:ext>
            </a:extLst>
          </p:cNvPr>
          <p:cNvSpPr/>
          <p:nvPr/>
        </p:nvSpPr>
        <p:spPr>
          <a:xfrm>
            <a:off x="2281083" y="2965523"/>
            <a:ext cx="9429134" cy="7156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 name="Rectangle: Rounded Corners 1">
            <a:extLst>
              <a:ext uri="{FF2B5EF4-FFF2-40B4-BE49-F238E27FC236}">
                <a16:creationId xmlns:a16="http://schemas.microsoft.com/office/drawing/2014/main" id="{8073B9EC-C28D-2BD8-22B0-FB7B6F04168E}"/>
              </a:ext>
            </a:extLst>
          </p:cNvPr>
          <p:cNvSpPr/>
          <p:nvPr/>
        </p:nvSpPr>
        <p:spPr>
          <a:xfrm>
            <a:off x="2525757"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Localized </a:t>
            </a:r>
            <a:r>
              <a:rPr kumimoji="0" lang="en-US" sz="1600" b="0" i="0" u="none" strike="noStrike" kern="1200" cap="none" spc="0" normalizeH="0" baseline="0" noProof="0" err="1">
                <a:ln>
                  <a:noFill/>
                </a:ln>
                <a:solidFill>
                  <a:prstClr val="white"/>
                </a:solidFill>
                <a:effectLst/>
                <a:uLnTx/>
                <a:uFillTx/>
                <a:latin typeface="Funnel Sans"/>
                <a:ea typeface="+mn-ea"/>
                <a:cs typeface="+mn-cs"/>
              </a:rPr>
              <a:t>PCa</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p:txBody>
      </p:sp>
      <p:sp>
        <p:nvSpPr>
          <p:cNvPr id="3" name="Rectangle: Rounded Corners 2">
            <a:extLst>
              <a:ext uri="{FF2B5EF4-FFF2-40B4-BE49-F238E27FC236}">
                <a16:creationId xmlns:a16="http://schemas.microsoft.com/office/drawing/2014/main" id="{F243E1AB-ECDF-ACB7-ED61-9C120E2DDF60}"/>
              </a:ext>
            </a:extLst>
          </p:cNvPr>
          <p:cNvSpPr/>
          <p:nvPr/>
        </p:nvSpPr>
        <p:spPr>
          <a:xfrm>
            <a:off x="4443532"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Systemic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Biochemical recurrence (BCR)</a:t>
            </a:r>
          </a:p>
        </p:txBody>
      </p:sp>
      <p:sp>
        <p:nvSpPr>
          <p:cNvPr id="4" name="Rectangle: Rounded Corners 3">
            <a:extLst>
              <a:ext uri="{FF2B5EF4-FFF2-40B4-BE49-F238E27FC236}">
                <a16:creationId xmlns:a16="http://schemas.microsoft.com/office/drawing/2014/main" id="{E5A17C44-8D1F-4089-01C4-409C30F474B0}"/>
              </a:ext>
            </a:extLst>
          </p:cNvPr>
          <p:cNvSpPr/>
          <p:nvPr/>
        </p:nvSpPr>
        <p:spPr>
          <a:xfrm>
            <a:off x="6301220"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nmHSPC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Non-metastatic hormone sensitive</a:t>
            </a:r>
          </a:p>
        </p:txBody>
      </p:sp>
      <p:sp>
        <p:nvSpPr>
          <p:cNvPr id="5" name="Rectangle: Rounded Corners 4">
            <a:extLst>
              <a:ext uri="{FF2B5EF4-FFF2-40B4-BE49-F238E27FC236}">
                <a16:creationId xmlns:a16="http://schemas.microsoft.com/office/drawing/2014/main" id="{7ADE355A-0173-FD49-5EB8-F76917AEB5CB}"/>
              </a:ext>
            </a:extLst>
          </p:cNvPr>
          <p:cNvSpPr/>
          <p:nvPr/>
        </p:nvSpPr>
        <p:spPr>
          <a:xfrm>
            <a:off x="8158908"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nmCRPC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Non-metastatic castration resistant</a:t>
            </a:r>
          </a:p>
        </p:txBody>
      </p:sp>
      <p:sp>
        <p:nvSpPr>
          <p:cNvPr id="6" name="Rectangle: Rounded Corners 5">
            <a:extLst>
              <a:ext uri="{FF2B5EF4-FFF2-40B4-BE49-F238E27FC236}">
                <a16:creationId xmlns:a16="http://schemas.microsoft.com/office/drawing/2014/main" id="{3464CEAF-B7BC-8BF5-D376-4D1AC2BAEB8C}"/>
              </a:ext>
            </a:extLst>
          </p:cNvPr>
          <p:cNvSpPr/>
          <p:nvPr/>
        </p:nvSpPr>
        <p:spPr>
          <a:xfrm>
            <a:off x="10076683"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mCRPC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Metastatic castration resistant</a:t>
            </a:r>
          </a:p>
        </p:txBody>
      </p:sp>
      <p:graphicFrame>
        <p:nvGraphicFramePr>
          <p:cNvPr id="7" name="Table 6">
            <a:extLst>
              <a:ext uri="{FF2B5EF4-FFF2-40B4-BE49-F238E27FC236}">
                <a16:creationId xmlns:a16="http://schemas.microsoft.com/office/drawing/2014/main" id="{275BE6DC-8FC9-F2E8-B9C5-37B06289346D}"/>
              </a:ext>
            </a:extLst>
          </p:cNvPr>
          <p:cNvGraphicFramePr>
            <a:graphicFrameLocks noGrp="1"/>
          </p:cNvGraphicFramePr>
          <p:nvPr/>
        </p:nvGraphicFramePr>
        <p:xfrm>
          <a:off x="648929" y="3673318"/>
          <a:ext cx="11061288" cy="1529080"/>
        </p:xfrm>
        <a:graphic>
          <a:graphicData uri="http://schemas.openxmlformats.org/drawingml/2006/table">
            <a:tbl>
              <a:tblPr firstRow="1" bandRow="1">
                <a:tableStyleId>{D27102A9-8310-4765-A935-A1911B00CA55}</a:tableStyleId>
              </a:tblPr>
              <a:tblGrid>
                <a:gridCol w="1632154">
                  <a:extLst>
                    <a:ext uri="{9D8B030D-6E8A-4147-A177-3AD203B41FA5}">
                      <a16:colId xmlns:a16="http://schemas.microsoft.com/office/drawing/2014/main" val="773938304"/>
                    </a:ext>
                  </a:extLst>
                </a:gridCol>
                <a:gridCol w="2054942">
                  <a:extLst>
                    <a:ext uri="{9D8B030D-6E8A-4147-A177-3AD203B41FA5}">
                      <a16:colId xmlns:a16="http://schemas.microsoft.com/office/drawing/2014/main" val="796710748"/>
                    </a:ext>
                  </a:extLst>
                </a:gridCol>
                <a:gridCol w="1843548">
                  <a:extLst>
                    <a:ext uri="{9D8B030D-6E8A-4147-A177-3AD203B41FA5}">
                      <a16:colId xmlns:a16="http://schemas.microsoft.com/office/drawing/2014/main" val="3110358787"/>
                    </a:ext>
                  </a:extLst>
                </a:gridCol>
                <a:gridCol w="1843548">
                  <a:extLst>
                    <a:ext uri="{9D8B030D-6E8A-4147-A177-3AD203B41FA5}">
                      <a16:colId xmlns:a16="http://schemas.microsoft.com/office/drawing/2014/main" val="3507760086"/>
                    </a:ext>
                  </a:extLst>
                </a:gridCol>
                <a:gridCol w="1843548">
                  <a:extLst>
                    <a:ext uri="{9D8B030D-6E8A-4147-A177-3AD203B41FA5}">
                      <a16:colId xmlns:a16="http://schemas.microsoft.com/office/drawing/2014/main" val="1036757963"/>
                    </a:ext>
                  </a:extLst>
                </a:gridCol>
                <a:gridCol w="1843548">
                  <a:extLst>
                    <a:ext uri="{9D8B030D-6E8A-4147-A177-3AD203B41FA5}">
                      <a16:colId xmlns:a16="http://schemas.microsoft.com/office/drawing/2014/main" val="1780501928"/>
                    </a:ext>
                  </a:extLst>
                </a:gridCol>
              </a:tblGrid>
              <a:tr h="370840">
                <a:tc>
                  <a:txBody>
                    <a:bodyPr/>
                    <a:lstStyle/>
                    <a:p>
                      <a:r>
                        <a:rPr lang="en-US" sz="1600"/>
                        <a:t>Prevalent pts</a:t>
                      </a:r>
                    </a:p>
                  </a:txBody>
                  <a:tcPr>
                    <a:lnL>
                      <a:noFill/>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2.5-3M</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300-600K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100K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60-80K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45-60K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extLst>
                  <a:ext uri="{0D108BD9-81ED-4DB2-BD59-A6C34878D82A}">
                    <a16:rowId xmlns:a16="http://schemas.microsoft.com/office/drawing/2014/main" val="2325543775"/>
                  </a:ext>
                </a:extLst>
              </a:tr>
              <a:tr h="370840">
                <a:tc>
                  <a:txBody>
                    <a:bodyPr/>
                    <a:lstStyle/>
                    <a:p>
                      <a:pPr algn="ctr"/>
                      <a:r>
                        <a:rPr lang="en-US" sz="1600"/>
                        <a:t>PSMA Positive</a:t>
                      </a:r>
                    </a:p>
                    <a:p>
                      <a:pPr algn="ctr"/>
                      <a:r>
                        <a:rPr lang="en-US" sz="1600"/>
                        <a:t>(PET)</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~50%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~70-80%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85-90% </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4911048"/>
                  </a:ext>
                </a:extLst>
              </a:tr>
              <a:tr h="370840">
                <a:tc>
                  <a:txBody>
                    <a:bodyPr/>
                    <a:lstStyle/>
                    <a:p>
                      <a:pPr algn="ctr"/>
                      <a:r>
                        <a:rPr lang="en-US" sz="1600"/>
                        <a:t>ACP3 Positive</a:t>
                      </a:r>
                    </a:p>
                    <a:p>
                      <a:pPr algn="ctr"/>
                      <a:r>
                        <a:rPr lang="en-US" sz="1600"/>
                        <a:t>(IHC)</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&gt;95%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~95%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~95%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089"/>
                  </a:ext>
                </a:extLst>
              </a:tr>
            </a:tbl>
          </a:graphicData>
        </a:graphic>
      </p:graphicFrame>
      <p:sp>
        <p:nvSpPr>
          <p:cNvPr id="10" name="TextBox 9">
            <a:extLst>
              <a:ext uri="{FF2B5EF4-FFF2-40B4-BE49-F238E27FC236}">
                <a16:creationId xmlns:a16="http://schemas.microsoft.com/office/drawing/2014/main" id="{44A0313F-1281-0D9C-0F6A-89BAB9AA18C6}"/>
              </a:ext>
            </a:extLst>
          </p:cNvPr>
          <p:cNvSpPr txBox="1"/>
          <p:nvPr/>
        </p:nvSpPr>
        <p:spPr>
          <a:xfrm>
            <a:off x="2525757" y="3268269"/>
            <a:ext cx="151074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99% 5yr survival</a:t>
            </a:r>
          </a:p>
        </p:txBody>
      </p:sp>
      <p:cxnSp>
        <p:nvCxnSpPr>
          <p:cNvPr id="12" name="Straight Arrow Connector 11">
            <a:extLst>
              <a:ext uri="{FF2B5EF4-FFF2-40B4-BE49-F238E27FC236}">
                <a16:creationId xmlns:a16="http://schemas.microsoft.com/office/drawing/2014/main" id="{188EF52C-8032-55B8-9E1E-88271BEE6C74}"/>
              </a:ext>
            </a:extLst>
          </p:cNvPr>
          <p:cNvCxnSpPr>
            <a:cxnSpLocks/>
          </p:cNvCxnSpPr>
          <p:nvPr/>
        </p:nvCxnSpPr>
        <p:spPr>
          <a:xfrm>
            <a:off x="4036505" y="2805368"/>
            <a:ext cx="4070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F790F8A2-FF6D-BC25-CF70-D4C19D6B37E9}"/>
              </a:ext>
            </a:extLst>
          </p:cNvPr>
          <p:cNvCxnSpPr>
            <a:stCxn id="3" idx="0"/>
            <a:endCxn id="4" idx="0"/>
          </p:cNvCxnSpPr>
          <p:nvPr/>
        </p:nvCxnSpPr>
        <p:spPr>
          <a:xfrm rot="5400000" flipH="1" flipV="1">
            <a:off x="6127750" y="1518716"/>
            <a:ext cx="12700" cy="1857688"/>
          </a:xfrm>
          <a:prstGeom prst="bentConnector3">
            <a:avLst>
              <a:gd name="adj1" fmla="val 1800000"/>
            </a:avLst>
          </a:prstGeom>
          <a:ln w="6350">
            <a:tailEnd type="triangle"/>
          </a:ln>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1637E81B-47CC-01F4-DEE9-27169247FC3E}"/>
              </a:ext>
            </a:extLst>
          </p:cNvPr>
          <p:cNvCxnSpPr>
            <a:cxnSpLocks/>
            <a:stCxn id="3" idx="0"/>
            <a:endCxn id="5" idx="0"/>
          </p:cNvCxnSpPr>
          <p:nvPr/>
        </p:nvCxnSpPr>
        <p:spPr>
          <a:xfrm rot="5400000" flipH="1" flipV="1">
            <a:off x="7056594" y="589872"/>
            <a:ext cx="12700" cy="3715376"/>
          </a:xfrm>
          <a:prstGeom prst="bentConnector3">
            <a:avLst>
              <a:gd name="adj1" fmla="val 1800000"/>
            </a:avLst>
          </a:prstGeom>
          <a:ln w="6350">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B15A6DD0-D1E5-3FBC-4C64-277111857AEB}"/>
              </a:ext>
            </a:extLst>
          </p:cNvPr>
          <p:cNvCxnSpPr>
            <a:cxnSpLocks/>
          </p:cNvCxnSpPr>
          <p:nvPr/>
        </p:nvCxnSpPr>
        <p:spPr>
          <a:xfrm>
            <a:off x="9669656" y="2805368"/>
            <a:ext cx="4070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04A2357-FF63-76DD-A3D1-4A0FCFB88703}"/>
              </a:ext>
            </a:extLst>
          </p:cNvPr>
          <p:cNvSpPr txBox="1"/>
          <p:nvPr/>
        </p:nvSpPr>
        <p:spPr>
          <a:xfrm>
            <a:off x="4265447" y="3268269"/>
            <a:ext cx="18576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30% recurrence rate</a:t>
            </a:r>
          </a:p>
        </p:txBody>
      </p:sp>
      <p:sp>
        <p:nvSpPr>
          <p:cNvPr id="26" name="TextBox 25">
            <a:extLst>
              <a:ext uri="{FF2B5EF4-FFF2-40B4-BE49-F238E27FC236}">
                <a16:creationId xmlns:a16="http://schemas.microsoft.com/office/drawing/2014/main" id="{29F660CD-F02B-9755-EFF3-1FFA04AA38CD}"/>
              </a:ext>
            </a:extLst>
          </p:cNvPr>
          <p:cNvSpPr txBox="1"/>
          <p:nvPr/>
        </p:nvSpPr>
        <p:spPr>
          <a:xfrm>
            <a:off x="9903213" y="3305096"/>
            <a:ext cx="18576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~30% 5yr survival </a:t>
            </a:r>
          </a:p>
        </p:txBody>
      </p:sp>
      <p:sp>
        <p:nvSpPr>
          <p:cNvPr id="27" name="TextBox 26">
            <a:extLst>
              <a:ext uri="{FF2B5EF4-FFF2-40B4-BE49-F238E27FC236}">
                <a16:creationId xmlns:a16="http://schemas.microsoft.com/office/drawing/2014/main" id="{EBBF910C-F844-0879-D039-14A405E0C715}"/>
              </a:ext>
            </a:extLst>
          </p:cNvPr>
          <p:cNvSpPr txBox="1"/>
          <p:nvPr/>
        </p:nvSpPr>
        <p:spPr>
          <a:xfrm>
            <a:off x="0" y="6453234"/>
            <a:ext cx="1053600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Funnel Sans"/>
                <a:ea typeface="+mn-ea"/>
                <a:cs typeface="+mn-cs"/>
                <a:hlinkClick r:id="rId2">
                  <a:extLst>
                    <a:ext uri="{A12FA001-AC4F-418D-AE19-62706E023703}">
                      <ahyp:hlinkClr xmlns:ahyp="http://schemas.microsoft.com/office/drawing/2018/hyperlinkcolor" val="tx"/>
                    </a:ext>
                  </a:extLst>
                </a:hlinkClick>
              </a:rPr>
              <a:t>Sources: </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3"/>
              </a:rPr>
              <a:t>Seer PC statistics, 2025</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4"/>
              </a:rPr>
              <a:t>Scher </a:t>
            </a:r>
            <a:r>
              <a:rPr kumimoji="0" lang="en-US" sz="1000" b="0" i="0" u="none" strike="noStrike" kern="1200" cap="none" spc="0" normalizeH="0" baseline="0" noProof="0" err="1">
                <a:ln>
                  <a:noFill/>
                </a:ln>
                <a:solidFill>
                  <a:srgbClr val="7A9F8F"/>
                </a:solidFill>
                <a:effectLst/>
                <a:uLnTx/>
                <a:uFillTx/>
                <a:latin typeface="Funnel Sans"/>
                <a:ea typeface="+mn-ea"/>
                <a:cs typeface="+mn-cs"/>
                <a:hlinkClick r:id="rId4"/>
              </a:rPr>
              <a:t>Plos</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4"/>
              </a:rPr>
              <a:t> One 2015</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5"/>
              </a:rPr>
              <a:t>ACS Prostate Cancer Statistics</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6"/>
              </a:rPr>
              <a:t>Gultekin et al </a:t>
            </a:r>
            <a:r>
              <a:rPr kumimoji="0" lang="en-US" sz="1000" b="0" i="0" u="none" strike="noStrike" kern="1200" cap="none" spc="0" normalizeH="0" baseline="0" noProof="0" err="1">
                <a:ln>
                  <a:noFill/>
                </a:ln>
                <a:solidFill>
                  <a:srgbClr val="7A9F8F"/>
                </a:solidFill>
                <a:effectLst/>
                <a:uLnTx/>
                <a:uFillTx/>
                <a:latin typeface="Funnel Sans"/>
                <a:ea typeface="+mn-ea"/>
                <a:cs typeface="+mn-cs"/>
                <a:hlinkClick r:id="rId6"/>
              </a:rPr>
              <a:t>Urol</a:t>
            </a:r>
            <a:r>
              <a:rPr kumimoji="0" lang="en-US" sz="1000" b="0" i="0" u="none" strike="noStrike" kern="1200" cap="none" spc="0" normalizeH="0" baseline="0" noProof="0">
                <a:ln>
                  <a:noFill/>
                </a:ln>
                <a:solidFill>
                  <a:srgbClr val="7A9F8F"/>
                </a:solidFill>
                <a:effectLst/>
                <a:uLnTx/>
                <a:uFillTx/>
                <a:latin typeface="Funnel Sans"/>
                <a:ea typeface="+mn-ea"/>
                <a:cs typeface="+mn-cs"/>
                <a:hlinkClick r:id="rId6"/>
              </a:rPr>
              <a:t> J</a:t>
            </a:r>
            <a:r>
              <a:rPr kumimoji="0" lang="en-US" sz="1000" b="0" i="0" u="none" strike="noStrike" kern="1200" cap="none" spc="0" normalizeH="0" baseline="0" noProof="0">
                <a:ln>
                  <a:noFill/>
                </a:ln>
                <a:solidFill>
                  <a:srgbClr val="7A9F8F"/>
                </a:solidFill>
                <a:effectLst/>
                <a:uLnTx/>
                <a:uFillTx/>
                <a:latin typeface="Funnel Sans"/>
                <a:ea typeface="+mn-ea"/>
                <a:cs typeface="+mn-cs"/>
              </a:rPr>
              <a:t> 2020,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7"/>
              </a:rPr>
              <a:t>Holzgreve</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7"/>
              </a:rPr>
              <a:t> et al JAMA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7"/>
              </a:rPr>
              <a:t>Netw</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7"/>
              </a:rPr>
              <a:t> Open 2025</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8"/>
              </a:rPr>
              <a:t>Hotta et al JNM 2022</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2"/>
              </a:rPr>
              <a:t>Tribian</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2"/>
              </a:rPr>
              <a:t> et al, Diagnostics 2023</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9"/>
              </a:rPr>
              <a:t>Falagario</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9"/>
              </a:rPr>
              <a:t> Jama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9"/>
              </a:rPr>
              <a:t>Netw</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9"/>
              </a:rPr>
              <a:t> Open 2023</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10"/>
              </a:rPr>
              <a:t>Hird et al Clin </a:t>
            </a:r>
            <a:r>
              <a:rPr kumimoji="0" lang="en-GB" sz="1000" b="0" i="0" u="none" strike="noStrike" kern="1200" cap="none" spc="0" normalizeH="0" baseline="0" noProof="0" err="1">
                <a:ln>
                  <a:noFill/>
                </a:ln>
                <a:solidFill>
                  <a:prstClr val="black"/>
                </a:solidFill>
                <a:effectLst/>
                <a:uLnTx/>
                <a:uFillTx/>
                <a:latin typeface="Funnel Sans"/>
                <a:ea typeface="+mn-ea"/>
                <a:cs typeface="+mn-cs"/>
                <a:hlinkClick r:id="rId10"/>
              </a:rPr>
              <a:t>Genitourin</a:t>
            </a:r>
            <a:r>
              <a:rPr kumimoji="0" lang="en-GB" sz="1000" b="0" i="0" u="none" strike="noStrike" kern="1200" cap="none" spc="0" normalizeH="0" baseline="0" noProof="0">
                <a:ln>
                  <a:noFill/>
                </a:ln>
                <a:solidFill>
                  <a:prstClr val="black"/>
                </a:solidFill>
                <a:effectLst/>
                <a:uLnTx/>
                <a:uFillTx/>
                <a:latin typeface="Funnel Sans"/>
                <a:ea typeface="+mn-ea"/>
                <a:cs typeface="+mn-cs"/>
                <a:hlinkClick r:id="rId10"/>
              </a:rPr>
              <a:t> Cancer 2023</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0000"/>
              </a:solidFill>
              <a:effectLst/>
              <a:uLnTx/>
              <a:uFillTx/>
              <a:latin typeface="Funnel Sans"/>
              <a:ea typeface="+mn-ea"/>
              <a:cs typeface="+mn-cs"/>
            </a:endParaRPr>
          </a:p>
        </p:txBody>
      </p:sp>
      <p:sp>
        <p:nvSpPr>
          <p:cNvPr id="28" name="TextBox 27">
            <a:extLst>
              <a:ext uri="{FF2B5EF4-FFF2-40B4-BE49-F238E27FC236}">
                <a16:creationId xmlns:a16="http://schemas.microsoft.com/office/drawing/2014/main" id="{6C220AC2-7B31-E312-9AC9-15D78DBCA79D}"/>
              </a:ext>
            </a:extLst>
          </p:cNvPr>
          <p:cNvSpPr txBox="1"/>
          <p:nvPr/>
        </p:nvSpPr>
        <p:spPr>
          <a:xfrm>
            <a:off x="253999" y="1545322"/>
            <a:ext cx="116129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Funnel Sans"/>
                <a:ea typeface="+mn-ea"/>
                <a:cs typeface="+mn-cs"/>
              </a:rPr>
              <a:t>There are 313K new cases, 35K deaths from prostate cancer per year in the US</a:t>
            </a:r>
          </a:p>
        </p:txBody>
      </p:sp>
      <p:cxnSp>
        <p:nvCxnSpPr>
          <p:cNvPr id="30" name="Straight Arrow Connector 29">
            <a:extLst>
              <a:ext uri="{FF2B5EF4-FFF2-40B4-BE49-F238E27FC236}">
                <a16:creationId xmlns:a16="http://schemas.microsoft.com/office/drawing/2014/main" id="{96A9D1F6-EEB0-7BBD-ADA2-4557E44AAD26}"/>
              </a:ext>
            </a:extLst>
          </p:cNvPr>
          <p:cNvCxnSpPr/>
          <p:nvPr/>
        </p:nvCxnSpPr>
        <p:spPr>
          <a:xfrm>
            <a:off x="6123135" y="4931975"/>
            <a:ext cx="39535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Shape 0">
            <a:extLst>
              <a:ext uri="{FF2B5EF4-FFF2-40B4-BE49-F238E27FC236}">
                <a16:creationId xmlns:a16="http://schemas.microsoft.com/office/drawing/2014/main" id="{72C1BEBE-0709-1A38-EDCA-66E5A18FE08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11E68039-7856-22C8-FEC6-25B56824BFC0}"/>
              </a:ext>
            </a:extLst>
          </p:cNvPr>
          <p:cNvPicPr>
            <a:picLocks noChangeAspect="1"/>
          </p:cNvPicPr>
          <p:nvPr/>
        </p:nvPicPr>
        <p:blipFill>
          <a:blip r:embed="rId11"/>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C06B126B-A057-6CBF-F67F-D5E741FED090}"/>
              </a:ext>
            </a:extLst>
          </p:cNvPr>
          <p:cNvPicPr>
            <a:picLocks noChangeAspect="1"/>
          </p:cNvPicPr>
          <p:nvPr/>
        </p:nvPicPr>
        <p:blipFill>
          <a:blip r:embed="rId12"/>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3FCB76E0-5974-DE55-BE7D-2E33EA73DB68}"/>
              </a:ext>
            </a:extLst>
          </p:cNvPr>
          <p:cNvPicPr>
            <a:picLocks noChangeAspect="1"/>
          </p:cNvPicPr>
          <p:nvPr/>
        </p:nvPicPr>
        <p:blipFill>
          <a:blip r:embed="rId12"/>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3B347A32-C80D-1F11-4D7F-87EC306A4E6D}"/>
              </a:ext>
            </a:extLst>
          </p:cNvPr>
          <p:cNvPicPr>
            <a:picLocks noChangeAspect="1"/>
          </p:cNvPicPr>
          <p:nvPr/>
        </p:nvPicPr>
        <p:blipFill>
          <a:blip r:embed="rId12"/>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6FA4ABD2-886B-4730-781E-017BB27C3278}"/>
              </a:ext>
            </a:extLst>
          </p:cNvPr>
          <p:cNvPicPr>
            <a:picLocks noChangeAspect="1"/>
          </p:cNvPicPr>
          <p:nvPr/>
        </p:nvPicPr>
        <p:blipFill>
          <a:blip r:embed="rId13"/>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D87CAC8B-A2FF-9726-D5EB-0EC9F474A944}"/>
              </a:ext>
            </a:extLst>
          </p:cNvPr>
          <p:cNvPicPr>
            <a:picLocks noChangeAspect="1"/>
          </p:cNvPicPr>
          <p:nvPr/>
        </p:nvPicPr>
        <p:blipFill>
          <a:blip r:embed="rId14"/>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1215B377-56F6-4025-492E-3043A52954CC}"/>
              </a:ext>
            </a:extLst>
          </p:cNvPr>
          <p:cNvPicPr>
            <a:picLocks noChangeAspect="1"/>
          </p:cNvPicPr>
          <p:nvPr/>
        </p:nvPicPr>
        <p:blipFill>
          <a:blip r:embed="rId15"/>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1EEB2756-AC48-1207-C741-812B711EAFA7}"/>
              </a:ext>
            </a:extLst>
          </p:cNvPr>
          <p:cNvPicPr>
            <a:picLocks noChangeAspect="1"/>
          </p:cNvPicPr>
          <p:nvPr/>
        </p:nvPicPr>
        <p:blipFill>
          <a:blip r:embed="rId16"/>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41426BC8-F7FD-FC75-3370-88FF9455ED80}"/>
              </a:ext>
            </a:extLst>
          </p:cNvPr>
          <p:cNvPicPr>
            <a:picLocks noChangeAspect="1"/>
          </p:cNvPicPr>
          <p:nvPr/>
        </p:nvPicPr>
        <p:blipFill>
          <a:blip r:embed="rId17"/>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306A3E0F-EACE-2306-9234-81F072E941DC}"/>
              </a:ext>
            </a:extLst>
          </p:cNvPr>
          <p:cNvPicPr>
            <a:picLocks noChangeAspect="1"/>
          </p:cNvPicPr>
          <p:nvPr/>
        </p:nvPicPr>
        <p:blipFill>
          <a:blip r:embed="rId18"/>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487D468-9F7B-48FE-E411-2124660242A4}"/>
              </a:ext>
            </a:extLst>
          </p:cNvPr>
          <p:cNvSpPr/>
          <p:nvPr/>
        </p:nvSpPr>
        <p:spPr>
          <a:xfrm>
            <a:off x="254000" y="635564"/>
            <a:ext cx="11684000"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ACP3 positivity across stages &amp; risk levels in </a:t>
            </a:r>
            <a:r>
              <a:rPr kumimoji="0" lang="en-US" sz="2400" b="0" i="0" u="none" strike="noStrike" kern="0" cap="none" spc="-24" normalizeH="0" baseline="0" noProof="0" err="1">
                <a:ln>
                  <a:noFill/>
                </a:ln>
                <a:solidFill>
                  <a:srgbClr val="000000">
                    <a:alpha val="99000"/>
                  </a:srgbClr>
                </a:solidFill>
                <a:effectLst/>
                <a:uLnTx/>
                <a:uFillTx/>
                <a:latin typeface="Funnel Sans" pitchFamily="34" charset="0"/>
                <a:ea typeface="+mn-ea"/>
                <a:cs typeface="+mn-cs"/>
              </a:rPr>
              <a:t>PCa</a:t>
            </a: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 translates to multiple clinical opportunities, from </a:t>
            </a:r>
            <a:r>
              <a:rPr kumimoji="0" lang="en-US" sz="2400" b="0" i="0" u="none" strike="noStrike" kern="0" cap="none" spc="-24" normalizeH="0" baseline="0" noProof="0" err="1">
                <a:ln>
                  <a:noFill/>
                </a:ln>
                <a:solidFill>
                  <a:srgbClr val="000000">
                    <a:alpha val="99000"/>
                  </a:srgbClr>
                </a:solidFill>
                <a:effectLst/>
                <a:uLnTx/>
                <a:uFillTx/>
                <a:latin typeface="Funnel Sans" pitchFamily="34" charset="0"/>
                <a:ea typeface="+mn-ea"/>
                <a:cs typeface="+mn-cs"/>
              </a:rPr>
              <a:t>mCRPC</a:t>
            </a: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 to earlier lines</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7" name="Shape 1">
            <a:extLst>
              <a:ext uri="{FF2B5EF4-FFF2-40B4-BE49-F238E27FC236}">
                <a16:creationId xmlns:a16="http://schemas.microsoft.com/office/drawing/2014/main" id="{6CEE5E8A-BABF-CC88-D9F7-67D141249308}"/>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9" name="Rectangle: Rounded Corners 48">
            <a:extLst>
              <a:ext uri="{FF2B5EF4-FFF2-40B4-BE49-F238E27FC236}">
                <a16:creationId xmlns:a16="http://schemas.microsoft.com/office/drawing/2014/main" id="{565D985B-863F-3646-F406-DFC9A598B337}"/>
              </a:ext>
            </a:extLst>
          </p:cNvPr>
          <p:cNvSpPr/>
          <p:nvPr/>
        </p:nvSpPr>
        <p:spPr>
          <a:xfrm>
            <a:off x="9797154" y="5270091"/>
            <a:ext cx="2069805" cy="510179"/>
          </a:xfrm>
          <a:prstGeom prst="roundRect">
            <a:avLst/>
          </a:prstGeom>
          <a:solidFill>
            <a:srgbClr val="D3ED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PSMA-RLT $2B+ sales in </a:t>
            </a:r>
            <a:r>
              <a:rPr kumimoji="0" lang="en-US" sz="1400" b="0" i="0" u="none" strike="noStrike" kern="1200" cap="none" spc="0" normalizeH="0" baseline="0" noProof="0" err="1">
                <a:ln>
                  <a:noFill/>
                </a:ln>
                <a:solidFill>
                  <a:sysClr val="windowText" lastClr="000000"/>
                </a:solidFill>
                <a:effectLst/>
                <a:uLnTx/>
                <a:uFillTx/>
                <a:latin typeface="Funnel Sans"/>
                <a:ea typeface="+mn-ea"/>
                <a:cs typeface="+mn-cs"/>
              </a:rPr>
              <a:t>mCRPC</a:t>
            </a: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 alone</a:t>
            </a:r>
          </a:p>
        </p:txBody>
      </p:sp>
      <p:sp>
        <p:nvSpPr>
          <p:cNvPr id="50" name="Rectangle: Rounded Corners 49">
            <a:extLst>
              <a:ext uri="{FF2B5EF4-FFF2-40B4-BE49-F238E27FC236}">
                <a16:creationId xmlns:a16="http://schemas.microsoft.com/office/drawing/2014/main" id="{13480F22-A39F-37BE-978E-A29FB6BE6DA9}"/>
              </a:ext>
            </a:extLst>
          </p:cNvPr>
          <p:cNvSpPr/>
          <p:nvPr/>
        </p:nvSpPr>
        <p:spPr>
          <a:xfrm>
            <a:off x="4265448" y="5270091"/>
            <a:ext cx="5394374" cy="510179"/>
          </a:xfrm>
          <a:prstGeom prst="roundRect">
            <a:avLst/>
          </a:prstGeom>
          <a:solidFill>
            <a:srgbClr val="D3ED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ACP3-RLT could capture </a:t>
            </a:r>
            <a:r>
              <a:rPr kumimoji="0" lang="en-US" sz="1400" b="0" i="0" u="none" strike="noStrike" kern="1200" cap="none" spc="0" normalizeH="0" baseline="0" noProof="0" err="1">
                <a:ln>
                  <a:noFill/>
                </a:ln>
                <a:solidFill>
                  <a:sysClr val="windowText" lastClr="000000"/>
                </a:solidFill>
                <a:effectLst/>
                <a:uLnTx/>
                <a:uFillTx/>
                <a:latin typeface="Funnel Sans"/>
                <a:ea typeface="+mn-ea"/>
                <a:cs typeface="+mn-cs"/>
              </a:rPr>
              <a:t>mCRPC</a:t>
            </a: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 and earlier stages of disease, based on high tumor and low off-tumor expression profile</a:t>
            </a:r>
          </a:p>
        </p:txBody>
      </p:sp>
      <p:sp>
        <p:nvSpPr>
          <p:cNvPr id="51" name="Rectangle: Rounded Corners 50">
            <a:extLst>
              <a:ext uri="{FF2B5EF4-FFF2-40B4-BE49-F238E27FC236}">
                <a16:creationId xmlns:a16="http://schemas.microsoft.com/office/drawing/2014/main" id="{9748AC4C-8738-589F-C004-C2C9A2756398}"/>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23CFA20E-19EA-FE41-30C7-8126EA177DED}"/>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411232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A94-1358-D1DD-043F-F0745E1ADA10}"/>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4D7DAC56-3BC9-ECC5-CF5E-49FADA0708C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4D49272C-CFBD-2D7D-07F7-76D4D528157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F4BDAFAB-D76F-9505-90E4-533FF5F7A808}"/>
              </a:ext>
            </a:extLst>
          </p:cNvPr>
          <p:cNvPicPr>
            <a:picLocks noChangeAspect="1"/>
          </p:cNvPicPr>
          <p:nvPr/>
        </p:nvPicPr>
        <p:blipFill>
          <a:blip r:embed="rId3"/>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E374BAA2-71B2-110A-D4E2-68F3E6FA3AD9}"/>
              </a:ext>
            </a:extLst>
          </p:cNvPr>
          <p:cNvPicPr>
            <a:picLocks noChangeAspect="1"/>
          </p:cNvPicPr>
          <p:nvPr/>
        </p:nvPicPr>
        <p:blipFill>
          <a:blip r:embed="rId3"/>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888264A-A25C-5D9B-4653-C8EBC192DD49}"/>
              </a:ext>
            </a:extLst>
          </p:cNvPr>
          <p:cNvPicPr>
            <a:picLocks noChangeAspect="1"/>
          </p:cNvPicPr>
          <p:nvPr/>
        </p:nvPicPr>
        <p:blipFill>
          <a:blip r:embed="rId3"/>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ABCF7210-899C-1FB2-102B-89EF8876849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7D1FF4DA-BCDB-5B53-6153-7A957BFA2396}"/>
              </a:ext>
            </a:extLst>
          </p:cNvPr>
          <p:cNvPicPr>
            <a:picLocks noChangeAspect="1"/>
          </p:cNvPicPr>
          <p:nvPr/>
        </p:nvPicPr>
        <p:blipFill>
          <a:blip r:embed="rId5"/>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62088191-C811-89DA-4E77-5A6A62B05272}"/>
              </a:ext>
            </a:extLst>
          </p:cNvPr>
          <p:cNvPicPr>
            <a:picLocks noChangeAspect="1"/>
          </p:cNvPicPr>
          <p:nvPr/>
        </p:nvPicPr>
        <p:blipFill>
          <a:blip r:embed="rId6"/>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77559785-26AB-4B8F-6D3B-0C2BEE50CFD4}"/>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8EFC5BE0-A644-8E58-FF27-C33C12435E4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1779C78-0FB9-62B7-8DFA-E629EA265A72}"/>
              </a:ext>
            </a:extLst>
          </p:cNvPr>
          <p:cNvPicPr>
            <a:picLocks noChangeAspect="1"/>
          </p:cNvPicPr>
          <p:nvPr/>
        </p:nvPicPr>
        <p:blipFill>
          <a:blip r:embed="rId9"/>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94594D2-BF98-CA0C-BBCB-BC8A09482356}"/>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Example Target Product Profile for ACP3 RLT in </a:t>
            </a:r>
            <a:r>
              <a:rPr kumimoji="0" lang="en-US" sz="2400" b="0" i="0" u="none" strike="noStrike" kern="0" cap="none" spc="-24" normalizeH="0" baseline="0" noProof="0" err="1">
                <a:ln>
                  <a:noFill/>
                </a:ln>
                <a:solidFill>
                  <a:srgbClr val="000000">
                    <a:alpha val="99000"/>
                  </a:srgbClr>
                </a:solidFill>
                <a:effectLst/>
                <a:uLnTx/>
                <a:uFillTx/>
                <a:latin typeface="Funnel Sans"/>
                <a:ea typeface="+mn-ea"/>
                <a:cs typeface="+mn-cs"/>
              </a:rPr>
              <a:t>mCRPC</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51" name="Rectangle: Rounded Corners 50">
            <a:extLst>
              <a:ext uri="{FF2B5EF4-FFF2-40B4-BE49-F238E27FC236}">
                <a16:creationId xmlns:a16="http://schemas.microsoft.com/office/drawing/2014/main" id="{000F972D-7B6D-ED5A-5E96-D566A43CEF56}"/>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9E24DB49-C49A-3DD9-D0A6-EEE240F83F9B}"/>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E4F316-ABC1-C788-E09B-B360FEE25BAA}"/>
              </a:ext>
            </a:extLst>
          </p:cNvPr>
          <p:cNvGraphicFramePr>
            <a:graphicFrameLocks noGrp="1"/>
          </p:cNvGraphicFramePr>
          <p:nvPr/>
        </p:nvGraphicFramePr>
        <p:xfrm>
          <a:off x="324678" y="1749286"/>
          <a:ext cx="11325295" cy="4297680"/>
        </p:xfrm>
        <a:graphic>
          <a:graphicData uri="http://schemas.openxmlformats.org/drawingml/2006/table">
            <a:tbl>
              <a:tblPr bandRow="1">
                <a:tableStyleId>{5C22544A-7EE6-4342-B048-85BDC9FD1C3A}</a:tableStyleId>
              </a:tblPr>
              <a:tblGrid>
                <a:gridCol w="2497180">
                  <a:extLst>
                    <a:ext uri="{9D8B030D-6E8A-4147-A177-3AD203B41FA5}">
                      <a16:colId xmlns:a16="http://schemas.microsoft.com/office/drawing/2014/main" val="635467938"/>
                    </a:ext>
                  </a:extLst>
                </a:gridCol>
                <a:gridCol w="3093787">
                  <a:extLst>
                    <a:ext uri="{9D8B030D-6E8A-4147-A177-3AD203B41FA5}">
                      <a16:colId xmlns:a16="http://schemas.microsoft.com/office/drawing/2014/main" val="3845916860"/>
                    </a:ext>
                  </a:extLst>
                </a:gridCol>
                <a:gridCol w="2867164">
                  <a:extLst>
                    <a:ext uri="{9D8B030D-6E8A-4147-A177-3AD203B41FA5}">
                      <a16:colId xmlns:a16="http://schemas.microsoft.com/office/drawing/2014/main" val="159078053"/>
                    </a:ext>
                  </a:extLst>
                </a:gridCol>
                <a:gridCol w="2867164">
                  <a:extLst>
                    <a:ext uri="{9D8B030D-6E8A-4147-A177-3AD203B41FA5}">
                      <a16:colId xmlns:a16="http://schemas.microsoft.com/office/drawing/2014/main" val="2644021605"/>
                    </a:ext>
                  </a:extLst>
                </a:gridCol>
              </a:tblGrid>
              <a:tr h="258698">
                <a:tc>
                  <a:txBody>
                    <a:bodyPr/>
                    <a:lstStyle/>
                    <a:p>
                      <a:pPr algn="l" fontAlgn="base">
                        <a:lnSpc>
                          <a:spcPct val="100000"/>
                        </a:lnSpc>
                        <a:buNone/>
                      </a:pPr>
                      <a:r>
                        <a:rPr lang="en-US" sz="1200" b="1">
                          <a:effectLst/>
                          <a:latin typeface="+mn-lt"/>
                        </a:rPr>
                        <a:t>Mechanism / Mode of Action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ACP3-targeted, peptide ligand conjugated to chelated </a:t>
                      </a:r>
                      <a:r>
                        <a:rPr lang="en-US" sz="1200" baseline="30000">
                          <a:latin typeface="+mn-lt"/>
                        </a:rPr>
                        <a:t>225</a:t>
                      </a:r>
                      <a:r>
                        <a:rPr lang="en-US" sz="1200">
                          <a:latin typeface="+mn-lt"/>
                        </a:rPr>
                        <a:t>Ac</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246378">
                <a:tc>
                  <a:txBody>
                    <a:bodyPr/>
                    <a:lstStyle/>
                    <a:p>
                      <a:pPr algn="l" fontAlgn="base">
                        <a:lnSpc>
                          <a:spcPct val="100000"/>
                        </a:lnSpc>
                        <a:buNone/>
                      </a:pPr>
                      <a:r>
                        <a:rPr lang="en-US" sz="1200" b="1">
                          <a:effectLst/>
                          <a:latin typeface="+mn-lt"/>
                        </a:rPr>
                        <a:t>Clinical Trial Design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Randomized, Phase 3, open-label study of ACP3-RLT to improve survival in </a:t>
                      </a:r>
                      <a:r>
                        <a:rPr lang="en-US" sz="1200" baseline="0" err="1">
                          <a:latin typeface="+mn-lt"/>
                        </a:rPr>
                        <a:t>mCPRC</a:t>
                      </a:r>
                      <a:r>
                        <a:rPr lang="en-US" sz="1200" baseline="0">
                          <a:latin typeface="+mn-lt"/>
                        </a:rPr>
                        <a:t> vs. standard of care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246378">
                <a:tc>
                  <a:txBody>
                    <a:bodyPr/>
                    <a:lstStyle/>
                    <a:p>
                      <a:pPr algn="l" fontAlgn="base">
                        <a:lnSpc>
                          <a:spcPct val="100000"/>
                        </a:lnSpc>
                        <a:buNone/>
                      </a:pPr>
                      <a:r>
                        <a:rPr lang="en-US" sz="1200" b="1">
                          <a:effectLst/>
                          <a:latin typeface="+mn-lt"/>
                        </a:rPr>
                        <a:t>Indication / Target Patients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ACP3 positive, post-proctectomy patients with metastatic, castration resistant disease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8005740"/>
                  </a:ext>
                </a:extLst>
              </a:tr>
              <a:tr h="246378">
                <a:tc>
                  <a:txBody>
                    <a:bodyPr/>
                    <a:lstStyle/>
                    <a:p>
                      <a:pPr algn="l" fontAlgn="base">
                        <a:lnSpc>
                          <a:spcPct val="100000"/>
                        </a:lnSpc>
                        <a:buNone/>
                      </a:pPr>
                      <a:r>
                        <a:rPr lang="en-US" sz="1200" b="1">
                          <a:effectLst/>
                          <a:latin typeface="+mn-lt"/>
                        </a:rPr>
                        <a:t>Dosing Regimen &amp; Administration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Intravenous infusion of ACP3-RLT for 4 doses, 4 weeks apart and 2 doses every six months following initial cycle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418151"/>
                  </a:ext>
                </a:extLst>
              </a:tr>
              <a:tr h="542034">
                <a:tc>
                  <a:txBody>
                    <a:bodyPr/>
                    <a:lstStyle/>
                    <a:p>
                      <a:pPr algn="l" fontAlgn="base">
                        <a:lnSpc>
                          <a:spcPct val="100000"/>
                        </a:lnSpc>
                        <a:buNone/>
                      </a:pPr>
                      <a:r>
                        <a:rPr lang="en-US" sz="1200" b="1">
                          <a:effectLst/>
                          <a:latin typeface="+mn-lt"/>
                        </a:rPr>
                        <a:t>Clinical Endpoints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Primary Endpoints</a:t>
                      </a:r>
                    </a:p>
                    <a:p>
                      <a:pPr marL="285750" lvl="0" indent="-285750" algn="l">
                        <a:lnSpc>
                          <a:spcPct val="100000"/>
                        </a:lnSpc>
                        <a:buFont typeface="Arial" panose="020B0604020202020204" pitchFamily="34" charset="0"/>
                        <a:buChar char="•"/>
                      </a:pPr>
                      <a:r>
                        <a:rPr lang="en-US" sz="1200">
                          <a:latin typeface="+mn-lt"/>
                        </a:rPr>
                        <a:t>Radiographic progression free survival (</a:t>
                      </a:r>
                      <a:r>
                        <a:rPr lang="en-US" sz="1200" err="1">
                          <a:latin typeface="+mn-lt"/>
                        </a:rPr>
                        <a:t>rPFS</a:t>
                      </a:r>
                      <a:r>
                        <a:rPr lang="en-US" sz="1200">
                          <a:latin typeface="+mn-lt"/>
                        </a:rPr>
                        <a:t>)</a:t>
                      </a:r>
                    </a:p>
                    <a:p>
                      <a:pPr marL="285750" lvl="0" indent="-285750" algn="l">
                        <a:lnSpc>
                          <a:spcPct val="100000"/>
                        </a:lnSpc>
                        <a:buFont typeface="Arial" panose="020B0604020202020204" pitchFamily="34" charset="0"/>
                        <a:buChar char="•"/>
                      </a:pPr>
                      <a:r>
                        <a:rPr lang="en-US" sz="1200">
                          <a:latin typeface="+mn-lt"/>
                        </a:rPr>
                        <a:t>Overall survival (OS)</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416583"/>
                  </a:ext>
                </a:extLst>
              </a:tr>
              <a:tr h="246378">
                <a:tc rowSpan="5">
                  <a:txBody>
                    <a:bodyPr/>
                    <a:lstStyle/>
                    <a:p>
                      <a:pPr algn="l" fontAlgn="base">
                        <a:lnSpc>
                          <a:spcPct val="100000"/>
                        </a:lnSpc>
                        <a:buNone/>
                      </a:pPr>
                      <a:r>
                        <a:rPr lang="en-US" sz="1200" b="1">
                          <a:effectLst/>
                          <a:latin typeface="+mn-lt"/>
                        </a:rPr>
                        <a:t>Efficacy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lvl="0" algn="ctr">
                        <a:lnSpc>
                          <a:spcPct val="100000"/>
                        </a:lnSpc>
                        <a:buNone/>
                      </a:pP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baseline="0">
                          <a:effectLst/>
                          <a:latin typeface="+mn-lt"/>
                        </a:rPr>
                        <a:t>ACP3 RLT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err="1">
                          <a:effectLst/>
                          <a:latin typeface="+mn-lt"/>
                        </a:rPr>
                        <a:t>Pluvicto</a:t>
                      </a:r>
                      <a:endParaRPr lang="en-US" sz="1200" b="1">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44083919"/>
                  </a:ext>
                </a:extLst>
              </a:tr>
              <a:tr h="394205">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Dosing Schedule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4 doses. 4 weeks apart and 2 doses every 6 months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6 doses, every 6 weeks</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053593"/>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OS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25.8mo (HR 0.95)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24.5mo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55538"/>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err="1">
                          <a:latin typeface="+mn-lt"/>
                        </a:rPr>
                        <a:t>rPFS</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aseline="0">
                          <a:effectLst/>
                          <a:latin typeface="+mn-lt"/>
                        </a:rPr>
                        <a:t>14.1mo </a:t>
                      </a:r>
                      <a:r>
                        <a:rPr lang="en-US" sz="1200">
                          <a:latin typeface="+mn-lt"/>
                        </a:rPr>
                        <a:t>(HR 0.85)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12mo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108569"/>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QOL (FACT-P)</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&gt;8mo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7.5mo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674925"/>
                  </a:ext>
                </a:extLst>
              </a:tr>
              <a:tr h="689861">
                <a:tc>
                  <a:txBody>
                    <a:bodyPr/>
                    <a:lstStyle/>
                    <a:p>
                      <a:pPr algn="l" fontAlgn="base">
                        <a:lnSpc>
                          <a:spcPct val="100000"/>
                        </a:lnSpc>
                        <a:buNone/>
                      </a:pPr>
                      <a:r>
                        <a:rPr lang="en-US" sz="1200" b="1">
                          <a:effectLst/>
                          <a:latin typeface="+mn-lt"/>
                        </a:rPr>
                        <a:t>Safety / Tolerability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lvl="0" indent="0" algn="ctr">
                        <a:lnSpc>
                          <a:spcPct val="100000"/>
                        </a:lnSpc>
                        <a:buNone/>
                      </a:pPr>
                      <a:r>
                        <a:rPr lang="en-US" sz="1200" b="0" i="0" u="none" strike="noStrike" baseline="0" noProof="0">
                          <a:solidFill>
                            <a:srgbClr val="000000"/>
                          </a:solidFill>
                          <a:latin typeface="Funnel Sans"/>
                        </a:rPr>
                        <a:t>Grade ≥3 TEAEs</a:t>
                      </a:r>
                    </a:p>
                    <a:p>
                      <a:pPr marL="0" lvl="0" indent="0" algn="ctr">
                        <a:lnSpc>
                          <a:spcPct val="100000"/>
                        </a:lnSpc>
                        <a:buNone/>
                      </a:pPr>
                      <a:r>
                        <a:rPr lang="en-US" sz="1200" b="0" i="0" u="none" strike="noStrike" baseline="0" noProof="0">
                          <a:solidFill>
                            <a:srgbClr val="000000"/>
                          </a:solidFill>
                          <a:latin typeface="Funnel Sans"/>
                        </a:rPr>
                        <a:t>All grades dry mouth</a:t>
                      </a:r>
                    </a:p>
                    <a:p>
                      <a:pPr marL="0" lvl="0" indent="0" algn="ctr">
                        <a:lnSpc>
                          <a:spcPct val="100000"/>
                        </a:lnSpc>
                        <a:buNone/>
                      </a:pPr>
                      <a:r>
                        <a:rPr lang="en-US" sz="1200" b="0" i="0" u="none" strike="noStrike" baseline="0" noProof="0">
                          <a:solidFill>
                            <a:srgbClr val="000000"/>
                          </a:solidFill>
                          <a:latin typeface="+mn-lt"/>
                        </a:rPr>
                        <a:t>All grades anemia (Grade ≥3)</a:t>
                      </a:r>
                      <a:endParaRPr lang="en-US" sz="1200" b="0" i="0" u="none" strike="noStrike" baseline="0" noProof="0">
                        <a:solidFill>
                          <a:srgbClr val="000000"/>
                        </a:solidFill>
                        <a:latin typeface="Funnel Sans"/>
                      </a:endParaRPr>
                    </a:p>
                    <a:p>
                      <a:pPr marL="0" lvl="0" indent="0" algn="ctr">
                        <a:lnSpc>
                          <a:spcPct val="100000"/>
                        </a:lnSpc>
                        <a:buNone/>
                      </a:pPr>
                      <a:r>
                        <a:rPr lang="en-US" sz="1200" b="0" i="0" u="none" strike="noStrike" baseline="0" noProof="0">
                          <a:solidFill>
                            <a:srgbClr val="000000"/>
                          </a:solidFill>
                          <a:latin typeface="+mn-lt"/>
                        </a:rPr>
                        <a:t>All grades thrombocytopenia (Grade ≥3)</a:t>
                      </a:r>
                      <a:endParaRPr lang="en-US" sz="1200" b="0" i="0" u="none" strike="noStrike" baseline="0" noProof="0">
                        <a:solidFill>
                          <a:srgbClr val="000000"/>
                        </a:solidFill>
                        <a:latin typeface="Funnel Sans"/>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36%</a:t>
                      </a:r>
                    </a:p>
                    <a:p>
                      <a:pPr lvl="0" algn="ctr">
                        <a:lnSpc>
                          <a:spcPct val="100000"/>
                        </a:lnSpc>
                        <a:buNone/>
                      </a:pPr>
                      <a:r>
                        <a:rPr lang="en-US" sz="1200" baseline="0">
                          <a:effectLst/>
                          <a:latin typeface="+mn-lt"/>
                        </a:rPr>
                        <a:t>&lt;5%</a:t>
                      </a:r>
                    </a:p>
                    <a:p>
                      <a:pPr lvl="0" algn="ctr">
                        <a:lnSpc>
                          <a:spcPct val="100000"/>
                        </a:lnSpc>
                        <a:buNone/>
                      </a:pPr>
                      <a:r>
                        <a:rPr lang="en-US" sz="1200" baseline="0">
                          <a:effectLst/>
                          <a:latin typeface="+mn-lt"/>
                        </a:rPr>
                        <a:t>&lt;27.3%</a:t>
                      </a:r>
                    </a:p>
                    <a:p>
                      <a:pPr lvl="0" algn="ctr">
                        <a:lnSpc>
                          <a:spcPct val="100000"/>
                        </a:lnSpc>
                        <a:buNone/>
                      </a:pPr>
                      <a:r>
                        <a:rPr lang="en-US" sz="1200" baseline="0">
                          <a:effectLst/>
                          <a:latin typeface="+mn-lt"/>
                        </a:rPr>
                        <a:t>&lt;10%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36%</a:t>
                      </a:r>
                    </a:p>
                    <a:p>
                      <a:pPr lvl="0" algn="ctr">
                        <a:lnSpc>
                          <a:spcPct val="100000"/>
                        </a:lnSpc>
                        <a:buNone/>
                      </a:pPr>
                      <a:r>
                        <a:rPr lang="en-US" sz="1200">
                          <a:effectLst/>
                          <a:latin typeface="+mn-lt"/>
                        </a:rPr>
                        <a:t>59.5%</a:t>
                      </a:r>
                    </a:p>
                    <a:p>
                      <a:pPr lvl="0" algn="ctr">
                        <a:lnSpc>
                          <a:spcPct val="100000"/>
                        </a:lnSpc>
                        <a:buNone/>
                      </a:pPr>
                      <a:r>
                        <a:rPr lang="en-US" sz="1200">
                          <a:effectLst/>
                          <a:latin typeface="+mn-lt"/>
                        </a:rPr>
                        <a:t>27.3% (6.2%)</a:t>
                      </a:r>
                    </a:p>
                    <a:p>
                      <a:pPr lvl="0" algn="ctr">
                        <a:lnSpc>
                          <a:spcPct val="100000"/>
                        </a:lnSpc>
                        <a:buNone/>
                      </a:pPr>
                      <a:r>
                        <a:rPr lang="en-US" sz="1200">
                          <a:effectLst/>
                          <a:latin typeface="+mn-lt"/>
                        </a:rPr>
                        <a:t>10% (2%)</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364161"/>
                  </a:ext>
                </a:extLst>
              </a:tr>
            </a:tbl>
          </a:graphicData>
        </a:graphic>
      </p:graphicFrame>
      <p:sp>
        <p:nvSpPr>
          <p:cNvPr id="3" name="Shape 1">
            <a:extLst>
              <a:ext uri="{FF2B5EF4-FFF2-40B4-BE49-F238E27FC236}">
                <a16:creationId xmlns:a16="http://schemas.microsoft.com/office/drawing/2014/main" id="{AD804EB2-A6BC-85F2-57B3-5C0FF77CC044}"/>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56262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BB7D-D10E-BD1E-A58F-1408FED9A3A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26B0199-A693-1F4A-CF8F-5732ECDB68B3}"/>
              </a:ext>
            </a:extLst>
          </p:cNvPr>
          <p:cNvGraphicFramePr>
            <a:graphicFrameLocks noGrp="1"/>
          </p:cNvGraphicFramePr>
          <p:nvPr/>
        </p:nvGraphicFramePr>
        <p:xfrm>
          <a:off x="428500" y="1277557"/>
          <a:ext cx="11228997" cy="5306266"/>
        </p:xfrm>
        <a:graphic>
          <a:graphicData uri="http://schemas.openxmlformats.org/drawingml/2006/table">
            <a:tbl>
              <a:tblPr/>
              <a:tblGrid>
                <a:gridCol w="1413552">
                  <a:extLst>
                    <a:ext uri="{9D8B030D-6E8A-4147-A177-3AD203B41FA5}">
                      <a16:colId xmlns:a16="http://schemas.microsoft.com/office/drawing/2014/main" val="4068440047"/>
                    </a:ext>
                  </a:extLst>
                </a:gridCol>
                <a:gridCol w="3271815">
                  <a:extLst>
                    <a:ext uri="{9D8B030D-6E8A-4147-A177-3AD203B41FA5}">
                      <a16:colId xmlns:a16="http://schemas.microsoft.com/office/drawing/2014/main" val="4223431227"/>
                    </a:ext>
                  </a:extLst>
                </a:gridCol>
                <a:gridCol w="3271815">
                  <a:extLst>
                    <a:ext uri="{9D8B030D-6E8A-4147-A177-3AD203B41FA5}">
                      <a16:colId xmlns:a16="http://schemas.microsoft.com/office/drawing/2014/main" val="3956450263"/>
                    </a:ext>
                  </a:extLst>
                </a:gridCol>
                <a:gridCol w="3271815">
                  <a:extLst>
                    <a:ext uri="{9D8B030D-6E8A-4147-A177-3AD203B41FA5}">
                      <a16:colId xmlns:a16="http://schemas.microsoft.com/office/drawing/2014/main" val="1661182243"/>
                    </a:ext>
                  </a:extLst>
                </a:gridCol>
              </a:tblGrid>
              <a:tr h="319663">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bg1"/>
                          </a:solidFill>
                        </a:rPr>
                        <a:t>BMS/</a:t>
                      </a:r>
                      <a:r>
                        <a:rPr lang="en-US" sz="1400" b="1" err="1">
                          <a:solidFill>
                            <a:schemeClr val="bg1"/>
                          </a:solidFill>
                        </a:rPr>
                        <a:t>Rayze</a:t>
                      </a:r>
                      <a:r>
                        <a:rPr lang="en-US" sz="1400" b="1">
                          <a:solidFill>
                            <a:schemeClr val="bg1"/>
                          </a:solidFill>
                        </a:rPr>
                        <a:t>/</a:t>
                      </a:r>
                      <a:r>
                        <a:rPr lang="en-US" sz="1400" b="1" err="1">
                          <a:solidFill>
                            <a:schemeClr val="bg1"/>
                          </a:solidFill>
                        </a:rPr>
                        <a:t>Philochem</a:t>
                      </a:r>
                      <a:endParaRPr lang="en-US" sz="1400" b="1">
                        <a:solidFill>
                          <a:schemeClr val="bg1"/>
                        </a:solidFill>
                      </a:endParaRPr>
                    </a:p>
                  </a:txBody>
                  <a:tcPr anchor="ctr">
                    <a:lnL>
                      <a:noFill/>
                    </a:lnL>
                    <a:lnR w="28575" cap="flat" cmpd="sng" algn="ctr">
                      <a:solidFill>
                        <a:schemeClr val="bg1"/>
                      </a:solidFill>
                      <a:prstDash val="solid"/>
                      <a:round/>
                      <a:headEnd type="none" w="med" len="med"/>
                      <a:tailEnd type="none" w="med" len="med"/>
                    </a:lnR>
                    <a:lnT>
                      <a:noFill/>
                    </a:lnT>
                    <a:lnB w="28575" cap="flat" cmpd="sng" algn="ctr">
                      <a:solidFill>
                        <a:schemeClr val="bg1"/>
                      </a:solidFill>
                      <a:prstDash val="solid"/>
                      <a:round/>
                      <a:headEnd type="none" w="med" len="med"/>
                      <a:tailEnd type="none" w="med" len="med"/>
                    </a:lnB>
                    <a:solidFill>
                      <a:schemeClr val="bg1">
                        <a:lumMod val="50000"/>
                      </a:schemeClr>
                    </a:solidFill>
                  </a:tcPr>
                </a:tc>
                <a:tc gridSpan="2">
                  <a:txBody>
                    <a:bodyPr/>
                    <a:lstStyle/>
                    <a:p>
                      <a:pPr algn="ctr">
                        <a:buNone/>
                      </a:pPr>
                      <a:r>
                        <a:rPr lang="en-US" sz="1400" b="1">
                          <a:solidFill>
                            <a:schemeClr val="bg1"/>
                          </a:solidFill>
                        </a:rPr>
                        <a:t>Sego’s Approaches</a:t>
                      </a:r>
                    </a:p>
                  </a:txBody>
                  <a:tcPr anchor="ctr">
                    <a:lnL w="28575" cap="flat" cmpd="sng" algn="ctr">
                      <a:solidFill>
                        <a:schemeClr val="bg1"/>
                      </a:solid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tc hMerge="1">
                  <a:txBody>
                    <a:bodyPr/>
                    <a:lstStyle/>
                    <a:p>
                      <a:pPr>
                        <a:buNone/>
                      </a:pPr>
                      <a:endParaRPr lang="en-US" sz="1400" b="1"/>
                    </a:p>
                  </a:txBody>
                  <a:tcPr anchor="ctr">
                    <a:lnL>
                      <a:noFill/>
                    </a:lnL>
                    <a:lnR>
                      <a:noFill/>
                    </a:lnR>
                    <a:lnT>
                      <a:noFill/>
                    </a:lnT>
                    <a:lnB>
                      <a:noFill/>
                    </a:lnB>
                    <a:solidFill>
                      <a:schemeClr val="accent5"/>
                    </a:solidFill>
                  </a:tcPr>
                </a:tc>
                <a:extLst>
                  <a:ext uri="{0D108BD9-81ED-4DB2-BD59-A6C34878D82A}">
                    <a16:rowId xmlns:a16="http://schemas.microsoft.com/office/drawing/2014/main" val="1090321364"/>
                  </a:ext>
                </a:extLst>
              </a:tr>
              <a:tr h="375701">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t>OncoACP3</a:t>
                      </a:r>
                    </a:p>
                  </a:txBody>
                  <a:tcPr anchor="ctr">
                    <a:lnL>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chemeClr val="bg1">
                        <a:lumMod val="85000"/>
                      </a:schemeClr>
                    </a:solidFill>
                  </a:tcPr>
                </a:tc>
                <a:tc>
                  <a:txBody>
                    <a:bodyPr/>
                    <a:lstStyle/>
                    <a:p>
                      <a:pPr algn="ctr">
                        <a:buNone/>
                      </a:pPr>
                      <a:r>
                        <a:rPr lang="en-US" sz="1400" b="1">
                          <a:solidFill>
                            <a:schemeClr val="tx1"/>
                          </a:solidFill>
                        </a:rPr>
                        <a:t>Internalized cyclic peptide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tc>
                  <a:txBody>
                    <a:bodyPr/>
                    <a:lstStyle/>
                    <a:p>
                      <a:pPr algn="ctr">
                        <a:buNone/>
                      </a:pPr>
                      <a:r>
                        <a:rPr lang="en-US" sz="1400" b="1">
                          <a:solidFill>
                            <a:schemeClr val="tx1"/>
                          </a:solidFill>
                        </a:rPr>
                        <a:t>Bis-ACP3 Approach</a:t>
                      </a:r>
                    </a:p>
                  </a:txBody>
                  <a:tcPr anchor="ctr">
                    <a:lnL w="28575" cap="flat" cmpd="sng" algn="ctr">
                      <a:solidFill>
                        <a:schemeClr val="bg1"/>
                      </a:solidFill>
                      <a:prstDash val="solid"/>
                      <a:round/>
                      <a:headEnd type="none" w="med" len="med"/>
                      <a:tailEnd type="none" w="med" len="med"/>
                    </a:lnL>
                    <a:lnR>
                      <a:noFill/>
                    </a:lnR>
                    <a:lnT w="28575" cap="flat" cmpd="sng" algn="ctr">
                      <a:solidFill>
                        <a:schemeClr val="bg1"/>
                      </a:solidFill>
                      <a:prstDash val="solid"/>
                      <a:round/>
                      <a:headEnd type="none" w="med" len="med"/>
                      <a:tailEnd type="none" w="med" len="med"/>
                    </a:lnT>
                    <a:lnB>
                      <a:noFill/>
                    </a:lnB>
                    <a:solidFill>
                      <a:srgbClr val="C6DCCD"/>
                    </a:solidFill>
                  </a:tcPr>
                </a:tc>
                <a:extLst>
                  <a:ext uri="{0D108BD9-81ED-4DB2-BD59-A6C34878D82A}">
                    <a16:rowId xmlns:a16="http://schemas.microsoft.com/office/drawing/2014/main" val="2780418511"/>
                  </a:ext>
                </a:extLst>
              </a:tr>
              <a:tr h="620757">
                <a:tc>
                  <a:txBody>
                    <a:bodyPr/>
                    <a:lstStyle/>
                    <a:p>
                      <a:pPr>
                        <a:buNone/>
                      </a:pPr>
                      <a:r>
                        <a:rPr lang="en-US" sz="1400" b="1"/>
                        <a:t>Modality</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b="0"/>
                        <a:t>Small-Molecule</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b="0"/>
                        <a:t>Cyclic Peptide</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a:t>Peptide dimer (2x peptides for ACP3)</a:t>
                      </a:r>
                    </a:p>
                  </a:txBody>
                  <a:tcPr anchor="ctr">
                    <a:lnL>
                      <a:noFill/>
                    </a:lnL>
                    <a:lnR>
                      <a:noFill/>
                    </a:lnR>
                    <a:lnT>
                      <a:noFill/>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11685032"/>
                  </a:ext>
                </a:extLst>
              </a:tr>
              <a:tr h="620757">
                <a:tc>
                  <a:txBody>
                    <a:bodyPr/>
                    <a:lstStyle/>
                    <a:p>
                      <a:pPr>
                        <a:buNone/>
                      </a:pPr>
                      <a:r>
                        <a:rPr lang="en-US" sz="1400" b="1"/>
                        <a:t>Isotope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177</a:t>
                      </a:r>
                      <a:r>
                        <a:rPr lang="en-US" sz="1400"/>
                        <a:t>Lu</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72914581"/>
                  </a:ext>
                </a:extLst>
              </a:tr>
              <a:tr h="897557">
                <a:tc>
                  <a:txBody>
                    <a:bodyPr/>
                    <a:lstStyle/>
                    <a:p>
                      <a:pPr>
                        <a:buNone/>
                      </a:pPr>
                      <a:r>
                        <a:rPr lang="en-US" sz="1400" b="1"/>
                        <a:t>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“Not observed”</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Select for internalizing peptides to utilize increased cytotoxicity with internalized alpha and auger emitters</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Both internalizing and non internalizing peptides would be explored</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69339733"/>
                  </a:ext>
                </a:extLst>
              </a:tr>
              <a:tr h="1100231">
                <a:tc>
                  <a:txBody>
                    <a:bodyPr/>
                    <a:lstStyle/>
                    <a:p>
                      <a:pPr>
                        <a:buNone/>
                      </a:pPr>
                      <a:r>
                        <a:rPr lang="en-US" sz="1400" b="1"/>
                        <a:t>Disadvantage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dirty="0"/>
                        <a:t>Not delivered into cell, not suitable for emerging, more potent alpha or auger emitter isotopes. Risk of off target effects without 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Risk of not identifying a high affinity, internalizing peptide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Larger molecule size, potential kidney metabolite retention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089596322"/>
                  </a:ext>
                </a:extLst>
              </a:tr>
              <a:tr h="1100231">
                <a:tc>
                  <a:txBody>
                    <a:bodyPr/>
                    <a:lstStyle/>
                    <a:p>
                      <a:pPr>
                        <a:buNone/>
                      </a:pPr>
                      <a:r>
                        <a:rPr lang="en-US" sz="1400" b="1"/>
                        <a:t>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First-in-class</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Improved tumor retention &amp; ability to localize isotope intracellularly. Ability to leverage more cytotoxic isotopes with 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dirty="0"/>
                        <a:t>Improved K</a:t>
                      </a:r>
                      <a:r>
                        <a:rPr lang="en-US" sz="1400" baseline="-25000" dirty="0"/>
                        <a:t>D</a:t>
                      </a:r>
                      <a:r>
                        <a:rPr lang="en-US" sz="1400" dirty="0"/>
                        <a:t> and tumor uptake/retention due to bis-peptide design, hypothetical better efficacy and potential lower doses required. May allow for use of lower affinity monomeric peptide.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03356369"/>
                  </a:ext>
                </a:extLst>
              </a:tr>
            </a:tbl>
          </a:graphicData>
        </a:graphic>
      </p:graphicFrame>
      <p:sp>
        <p:nvSpPr>
          <p:cNvPr id="5" name="Shape 0">
            <a:extLst>
              <a:ext uri="{FF2B5EF4-FFF2-40B4-BE49-F238E27FC236}">
                <a16:creationId xmlns:a16="http://schemas.microsoft.com/office/drawing/2014/main" id="{EB68A6A1-31D5-1F45-94AE-117F9F8A8AAA}"/>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D221FFE9-5252-86BD-492D-F4839D9438F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755EF556-1FF3-8BD6-4A1D-7DBB7D68FB23}"/>
              </a:ext>
            </a:extLst>
          </p:cNvPr>
          <p:cNvPicPr>
            <a:picLocks noChangeAspect="1"/>
          </p:cNvPicPr>
          <p:nvPr/>
        </p:nvPicPr>
        <p:blipFill>
          <a:blip r:embed="rId3"/>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54B9DF1B-F0E1-01F6-2E58-1CA671EC9C1A}"/>
              </a:ext>
            </a:extLst>
          </p:cNvPr>
          <p:cNvPicPr>
            <a:picLocks noChangeAspect="1"/>
          </p:cNvPicPr>
          <p:nvPr/>
        </p:nvPicPr>
        <p:blipFill>
          <a:blip r:embed="rId4"/>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0A72160D-81F1-353F-0E42-4E585A41C467}"/>
              </a:ext>
            </a:extLst>
          </p:cNvPr>
          <p:cNvPicPr>
            <a:picLocks noChangeAspect="1"/>
          </p:cNvPicPr>
          <p:nvPr/>
        </p:nvPicPr>
        <p:blipFill>
          <a:blip r:embed="rId4"/>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02B210E9-E3D8-CA99-593D-F38B3066964F}"/>
              </a:ext>
            </a:extLst>
          </p:cNvPr>
          <p:cNvPicPr>
            <a:picLocks noChangeAspect="1"/>
          </p:cNvPicPr>
          <p:nvPr/>
        </p:nvPicPr>
        <p:blipFill>
          <a:blip r:embed="rId4"/>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DCAFF278-178B-8292-6968-F4C119A20393}"/>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B0B9E8AD-8766-F4BF-79D9-5980BE835F3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6FD66749-8A51-B202-AE9C-17C54E218078}"/>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0491D03B-3601-22DE-447F-8726171B75FA}"/>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51D8F9C0-AB9C-8C24-8AB0-22F04114B9D6}"/>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BB904ECF-48B0-5659-71F1-ED0E60AAD6D6}"/>
              </a:ext>
            </a:extLst>
          </p:cNvPr>
          <p:cNvPicPr>
            <a:picLocks noChangeAspect="1"/>
          </p:cNvPicPr>
          <p:nvPr/>
        </p:nvPicPr>
        <p:blipFill>
          <a:blip r:embed="rId10"/>
          <a:stretch>
            <a:fillRect/>
          </a:stretch>
        </p:blipFill>
        <p:spPr>
          <a:xfrm>
            <a:off x="254000" y="376361"/>
            <a:ext cx="174501" cy="157575"/>
          </a:xfrm>
          <a:prstGeom prst="rect">
            <a:avLst/>
          </a:prstGeom>
        </p:spPr>
      </p:pic>
      <p:sp>
        <p:nvSpPr>
          <p:cNvPr id="17" name="Text 28">
            <a:extLst>
              <a:ext uri="{FF2B5EF4-FFF2-40B4-BE49-F238E27FC236}">
                <a16:creationId xmlns:a16="http://schemas.microsoft.com/office/drawing/2014/main" id="{0F493750-1C67-0198-A1FD-F1D3A440280A}"/>
              </a:ext>
            </a:extLst>
          </p:cNvPr>
          <p:cNvSpPr/>
          <p:nvPr/>
        </p:nvSpPr>
        <p:spPr>
          <a:xfrm>
            <a:off x="254000" y="635564"/>
            <a:ext cx="9057147"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Sego’s differentiated approach to ACP3 vs OncoACP3</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TextBox 18">
            <a:extLst>
              <a:ext uri="{FF2B5EF4-FFF2-40B4-BE49-F238E27FC236}">
                <a16:creationId xmlns:a16="http://schemas.microsoft.com/office/drawing/2014/main" id="{34A75D85-AEA8-5166-54D6-98CD3A8FDB19}"/>
              </a:ext>
            </a:extLst>
          </p:cNvPr>
          <p:cNvSpPr txBox="1"/>
          <p:nvPr/>
        </p:nvSpPr>
        <p:spPr>
          <a:xfrm>
            <a:off x="48239" y="6611779"/>
            <a:ext cx="607777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Georgiev Nat Biomed Eng 2025</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0" name="Rectangle: Rounded Corners 19">
            <a:extLst>
              <a:ext uri="{FF2B5EF4-FFF2-40B4-BE49-F238E27FC236}">
                <a16:creationId xmlns:a16="http://schemas.microsoft.com/office/drawing/2014/main" id="{6746F4A0-FB62-1CAE-5134-0F2DA38EDB68}"/>
              </a:ext>
            </a:extLst>
          </p:cNvPr>
          <p:cNvSpPr/>
          <p:nvPr/>
        </p:nvSpPr>
        <p:spPr>
          <a:xfrm>
            <a:off x="10884311" y="88490"/>
            <a:ext cx="1278192"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Opportunity</a:t>
            </a:r>
          </a:p>
        </p:txBody>
      </p:sp>
      <p:sp>
        <p:nvSpPr>
          <p:cNvPr id="2" name="TextBox 1">
            <a:extLst>
              <a:ext uri="{FF2B5EF4-FFF2-40B4-BE49-F238E27FC236}">
                <a16:creationId xmlns:a16="http://schemas.microsoft.com/office/drawing/2014/main" id="{2DC62CDE-4895-2951-E1D1-BD6D819A6103}"/>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4064160034"/>
      </p:ext>
    </p:extLst>
  </p:cSld>
  <p:clrMapOvr>
    <a:masterClrMapping/>
  </p:clrMapOvr>
</p:sld>
</file>

<file path=ppt/theme/theme1.xml><?xml version="1.0" encoding="utf-8"?>
<a:theme xmlns:a="http://schemas.openxmlformats.org/drawingml/2006/main" name="Becca's Sego Temp Theme">
  <a:themeElements>
    <a:clrScheme name="Becca's Sego Temp Theme">
      <a:dk1>
        <a:sysClr val="windowText" lastClr="000000"/>
      </a:dk1>
      <a:lt1>
        <a:sysClr val="window" lastClr="FFFFFF"/>
      </a:lt1>
      <a:dk2>
        <a:srgbClr val="0E2841"/>
      </a:dk2>
      <a:lt2>
        <a:srgbClr val="E8E8E8"/>
      </a:lt2>
      <a:accent1>
        <a:srgbClr val="1A4141"/>
      </a:accent1>
      <a:accent2>
        <a:srgbClr val="456464"/>
      </a:accent2>
      <a:accent3>
        <a:srgbClr val="7A9F8F"/>
      </a:accent3>
      <a:accent4>
        <a:srgbClr val="71B787"/>
      </a:accent4>
      <a:accent5>
        <a:srgbClr val="D5ED99"/>
      </a:accent5>
      <a:accent6>
        <a:srgbClr val="F3F1EF"/>
      </a:accent6>
      <a:hlink>
        <a:srgbClr val="7A9F8F"/>
      </a:hlink>
      <a:folHlink>
        <a:srgbClr val="96607D"/>
      </a:folHlink>
    </a:clrScheme>
    <a:fontScheme name="Sego Font">
      <a:majorFont>
        <a:latin typeface="Funnel Sans"/>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cca's Sego Temp Theme" id="{4A842F55-7C6A-43E5-B4AB-63AC50CBC6DB}" vid="{965FBD5D-36C6-4D68-9EF4-1748213BBE67}"/>
    </a:ext>
  </a:extLst>
</a:theme>
</file>

<file path=ppt/theme/theme2.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883290e6-3317-4731-a933-606cdb1c21b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A77038FD8B0E4290AC2C78A81B96B0" ma:contentTypeVersion="10" ma:contentTypeDescription="Create a new document." ma:contentTypeScope="" ma:versionID="116237f45c3876c638621d484ff54e8e">
  <xsd:schema xmlns:xsd="http://www.w3.org/2001/XMLSchema" xmlns:xs="http://www.w3.org/2001/XMLSchema" xmlns:p="http://schemas.microsoft.com/office/2006/metadata/properties" xmlns:ns2="883290e6-3317-4731-a933-606cdb1c21ba" xmlns:ns3="9b41257d-d9f1-45d2-83fb-79c2dd89ff18" targetNamespace="http://schemas.microsoft.com/office/2006/metadata/properties" ma:root="true" ma:fieldsID="9cd05f4572e11dc9c3dcb5915d0bb547" ns2:_="" ns3:_="">
    <xsd:import namespace="883290e6-3317-4731-a933-606cdb1c21ba"/>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3290e6-3317-4731-a933-606cdb1c21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DB99EC-51D9-43C6-A3CD-88FB5E4A322D}">
  <ds:schemaRefs>
    <ds:schemaRef ds:uri="http://schemas.microsoft.com/sharepoint/v3/contenttype/forms"/>
  </ds:schemaRefs>
</ds:datastoreItem>
</file>

<file path=customXml/itemProps2.xml><?xml version="1.0" encoding="utf-8"?>
<ds:datastoreItem xmlns:ds="http://schemas.openxmlformats.org/officeDocument/2006/customXml" ds:itemID="{E445FB7F-EFC5-43B4-B708-1F8E89126501}">
  <ds:schemaRefs>
    <ds:schemaRef ds:uri="http://schemas.microsoft.com/office/2006/metadata/properties"/>
    <ds:schemaRef ds:uri="http://schemas.microsoft.com/office/infopath/2007/PartnerControls"/>
    <ds:schemaRef ds:uri="9b41257d-d9f1-45d2-83fb-79c2dd89ff18"/>
    <ds:schemaRef ds:uri="883290e6-3317-4731-a933-606cdb1c21ba"/>
  </ds:schemaRefs>
</ds:datastoreItem>
</file>

<file path=customXml/itemProps3.xml><?xml version="1.0" encoding="utf-8"?>
<ds:datastoreItem xmlns:ds="http://schemas.openxmlformats.org/officeDocument/2006/customXml" ds:itemID="{7F08BE30-DD9D-416E-B6EA-2DB10109EF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3290e6-3317-4731-a933-606cdb1c21ba"/>
    <ds:schemaRef ds:uri="9b41257d-d9f1-45d2-83fb-79c2dd89ff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199</TotalTime>
  <Words>1828</Words>
  <Application>Microsoft Office PowerPoint</Application>
  <PresentationFormat>Widescreen</PresentationFormat>
  <Paragraphs>269</Paragraphs>
  <Slides>13</Slides>
  <Notes>3</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Funnel Sans</vt:lpstr>
      <vt:lpstr>Funnel Sans Light</vt:lpstr>
      <vt:lpstr>Funnel Sans Medium</vt:lpstr>
      <vt:lpstr>Becca's Sego Temp Theme</vt:lpstr>
      <vt:lpstr>1_Office Theme</vt:lpstr>
      <vt:lpstr>ACP3 Target Evaluation</vt:lpstr>
      <vt:lpstr>Prostate: ACP3 positivity across stages &amp; risk levels creates broad RLT 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Becca Levin</cp:lastModifiedBy>
  <cp:revision>2</cp:revision>
  <dcterms:created xsi:type="dcterms:W3CDTF">2026-04-07T17:00:11Z</dcterms:created>
  <dcterms:modified xsi:type="dcterms:W3CDTF">2026-04-08T18:32:20Z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0x0101006CA77038FD8B0E4290AC2C78A81B96B0</vt:lpwstr>
  </property>
  <property fmtid="{D5CDD505-2E9C-101B-9397-08002B2CF9AE}" pid="3" name="MediaServiceImageTags">
    <vt:lpwstr/>
  </property>
</Properties>
</file>