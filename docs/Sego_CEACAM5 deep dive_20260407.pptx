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8"/>
  </p:notesMasterIdLst>
  <p:sldIdLst>
    <p:sldId id="478" r:id="rId6"/>
    <p:sldId id="597" r:id="rId7"/>
    <p:sldId id="604" r:id="rId8"/>
    <p:sldId id="605" r:id="rId9"/>
    <p:sldId id="509" r:id="rId10"/>
    <p:sldId id="350" r:id="rId11"/>
    <p:sldId id="351" r:id="rId12"/>
    <p:sldId id="514" r:id="rId13"/>
    <p:sldId id="510" r:id="rId14"/>
    <p:sldId id="529" r:id="rId15"/>
    <p:sldId id="512" r:id="rId16"/>
    <p:sldId id="51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E7231E-D65A-7660-884F-A801964A74DA}" name="Becca Levin" initials="BL" userId="S::BLevin@segotx.com::08c76d0b-4d1f-44f5-8508-8653b2f54768" providerId="AD"/>
  <p188:author id="{1B2CCED9-E761-A789-87FA-8A8BE5E75A61}" name="Greg Mullen" initials="GM" userId="S::gmullen@segotx.com::15d9f696-28c4-4111-b985-4ee728509f1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9AC89F-7719-AC4C-FAE1-A2AF2049643C}" v="4" dt="2026-04-08T11:06:17.584"/>
    <p1510:client id="{F4761B7D-B0DD-46A2-B42F-800042251B40}" v="8" dt="2026-04-07T21:34:44.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689"/>
  </p:normalViewPr>
  <p:slideViewPr>
    <p:cSldViewPr snapToGrid="0">
      <p:cViewPr varScale="1">
        <p:scale>
          <a:sx n="133" d="100"/>
          <a:sy n="133" d="100"/>
        </p:scale>
        <p:origin x="39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cca Levin" userId="08c76d0b-4d1f-44f5-8508-8653b2f54768" providerId="ADAL" clId="{5AA3B8CE-AFEA-44FA-ACCD-448CA31DFD0A}"/>
    <pc:docChg chg="custSel addSld delSld modSld sldOrd">
      <pc:chgData name="Becca Levin" userId="08c76d0b-4d1f-44f5-8508-8653b2f54768" providerId="ADAL" clId="{5AA3B8CE-AFEA-44FA-ACCD-448CA31DFD0A}" dt="2026-04-08T15:49:13.444" v="667" actId="20577"/>
      <pc:docMkLst>
        <pc:docMk/>
      </pc:docMkLst>
      <pc:sldChg chg="addSp modSp add del mod">
        <pc:chgData name="Becca Levin" userId="08c76d0b-4d1f-44f5-8508-8653b2f54768" providerId="ADAL" clId="{5AA3B8CE-AFEA-44FA-ACCD-448CA31DFD0A}" dt="2026-04-07T21:34:39.941" v="415" actId="47"/>
        <pc:sldMkLst>
          <pc:docMk/>
          <pc:sldMk cId="2007887972" sldId="330"/>
        </pc:sldMkLst>
        <pc:spChg chg="add mod">
          <ac:chgData name="Becca Levin" userId="08c76d0b-4d1f-44f5-8508-8653b2f54768" providerId="ADAL" clId="{5AA3B8CE-AFEA-44FA-ACCD-448CA31DFD0A}" dt="2026-04-07T21:32:29.799" v="172" actId="1076"/>
          <ac:spMkLst>
            <pc:docMk/>
            <pc:sldMk cId="2007887972" sldId="330"/>
            <ac:spMk id="16" creationId="{89397E0C-4B37-C919-69E5-7F64312FD2F7}"/>
          </ac:spMkLst>
        </pc:spChg>
      </pc:sldChg>
      <pc:sldChg chg="add">
        <pc:chgData name="Becca Levin" userId="08c76d0b-4d1f-44f5-8508-8653b2f54768" providerId="ADAL" clId="{5AA3B8CE-AFEA-44FA-ACCD-448CA31DFD0A}" dt="2026-04-07T18:03:45.208" v="0"/>
        <pc:sldMkLst>
          <pc:docMk/>
          <pc:sldMk cId="808013063" sldId="350"/>
        </pc:sldMkLst>
      </pc:sldChg>
      <pc:sldChg chg="add">
        <pc:chgData name="Becca Levin" userId="08c76d0b-4d1f-44f5-8508-8653b2f54768" providerId="ADAL" clId="{5AA3B8CE-AFEA-44FA-ACCD-448CA31DFD0A}" dt="2026-04-07T18:03:45.208" v="0"/>
        <pc:sldMkLst>
          <pc:docMk/>
          <pc:sldMk cId="1837717213" sldId="351"/>
        </pc:sldMkLst>
      </pc:sldChg>
      <pc:sldChg chg="add">
        <pc:chgData name="Becca Levin" userId="08c76d0b-4d1f-44f5-8508-8653b2f54768" providerId="ADAL" clId="{5AA3B8CE-AFEA-44FA-ACCD-448CA31DFD0A}" dt="2026-04-07T18:03:45.208" v="0"/>
        <pc:sldMkLst>
          <pc:docMk/>
          <pc:sldMk cId="955020319" sldId="478"/>
        </pc:sldMkLst>
      </pc:sldChg>
      <pc:sldChg chg="add">
        <pc:chgData name="Becca Levin" userId="08c76d0b-4d1f-44f5-8508-8653b2f54768" providerId="ADAL" clId="{5AA3B8CE-AFEA-44FA-ACCD-448CA31DFD0A}" dt="2026-04-07T18:03:45.208" v="0"/>
        <pc:sldMkLst>
          <pc:docMk/>
          <pc:sldMk cId="2759453684" sldId="509"/>
        </pc:sldMkLst>
      </pc:sldChg>
      <pc:sldChg chg="add">
        <pc:chgData name="Becca Levin" userId="08c76d0b-4d1f-44f5-8508-8653b2f54768" providerId="ADAL" clId="{5AA3B8CE-AFEA-44FA-ACCD-448CA31DFD0A}" dt="2026-04-07T18:03:45.208" v="0"/>
        <pc:sldMkLst>
          <pc:docMk/>
          <pc:sldMk cId="3052582729" sldId="510"/>
        </pc:sldMkLst>
      </pc:sldChg>
      <pc:sldChg chg="add">
        <pc:chgData name="Becca Levin" userId="08c76d0b-4d1f-44f5-8508-8653b2f54768" providerId="ADAL" clId="{5AA3B8CE-AFEA-44FA-ACCD-448CA31DFD0A}" dt="2026-04-07T18:03:45.208" v="0"/>
        <pc:sldMkLst>
          <pc:docMk/>
          <pc:sldMk cId="2874473043" sldId="512"/>
        </pc:sldMkLst>
      </pc:sldChg>
      <pc:sldChg chg="add">
        <pc:chgData name="Becca Levin" userId="08c76d0b-4d1f-44f5-8508-8653b2f54768" providerId="ADAL" clId="{5AA3B8CE-AFEA-44FA-ACCD-448CA31DFD0A}" dt="2026-04-07T18:03:45.208" v="0"/>
        <pc:sldMkLst>
          <pc:docMk/>
          <pc:sldMk cId="2454213451" sldId="513"/>
        </pc:sldMkLst>
      </pc:sldChg>
      <pc:sldChg chg="add">
        <pc:chgData name="Becca Levin" userId="08c76d0b-4d1f-44f5-8508-8653b2f54768" providerId="ADAL" clId="{5AA3B8CE-AFEA-44FA-ACCD-448CA31DFD0A}" dt="2026-04-07T18:03:45.208" v="0"/>
        <pc:sldMkLst>
          <pc:docMk/>
          <pc:sldMk cId="2903041387" sldId="514"/>
        </pc:sldMkLst>
      </pc:sldChg>
      <pc:sldChg chg="add">
        <pc:chgData name="Becca Levin" userId="08c76d0b-4d1f-44f5-8508-8653b2f54768" providerId="ADAL" clId="{5AA3B8CE-AFEA-44FA-ACCD-448CA31DFD0A}" dt="2026-04-07T18:03:45.208" v="0"/>
        <pc:sldMkLst>
          <pc:docMk/>
          <pc:sldMk cId="1817007333" sldId="529"/>
        </pc:sldMkLst>
      </pc:sldChg>
      <pc:sldChg chg="add">
        <pc:chgData name="Becca Levin" userId="08c76d0b-4d1f-44f5-8508-8653b2f54768" providerId="ADAL" clId="{5AA3B8CE-AFEA-44FA-ACCD-448CA31DFD0A}" dt="2026-04-07T18:04:04.488" v="1"/>
        <pc:sldMkLst>
          <pc:docMk/>
          <pc:sldMk cId="1073498004" sldId="597"/>
        </pc:sldMkLst>
      </pc:sldChg>
      <pc:sldChg chg="add del">
        <pc:chgData name="Becca Levin" userId="08c76d0b-4d1f-44f5-8508-8653b2f54768" providerId="ADAL" clId="{5AA3B8CE-AFEA-44FA-ACCD-448CA31DFD0A}" dt="2026-04-07T18:25:10.578" v="16"/>
        <pc:sldMkLst>
          <pc:docMk/>
          <pc:sldMk cId="1604698358" sldId="600"/>
        </pc:sldMkLst>
      </pc:sldChg>
      <pc:sldChg chg="add del">
        <pc:chgData name="Becca Levin" userId="08c76d0b-4d1f-44f5-8508-8653b2f54768" providerId="ADAL" clId="{5AA3B8CE-AFEA-44FA-ACCD-448CA31DFD0A}" dt="2026-04-07T18:26:06.947" v="18"/>
        <pc:sldMkLst>
          <pc:docMk/>
          <pc:sldMk cId="3604157269" sldId="601"/>
        </pc:sldMkLst>
      </pc:sldChg>
      <pc:sldChg chg="add del">
        <pc:chgData name="Becca Levin" userId="08c76d0b-4d1f-44f5-8508-8653b2f54768" providerId="ADAL" clId="{5AA3B8CE-AFEA-44FA-ACCD-448CA31DFD0A}" dt="2026-04-07T18:26:25.832" v="20"/>
        <pc:sldMkLst>
          <pc:docMk/>
          <pc:sldMk cId="1879909311" sldId="602"/>
        </pc:sldMkLst>
      </pc:sldChg>
      <pc:sldChg chg="add del">
        <pc:chgData name="Becca Levin" userId="08c76d0b-4d1f-44f5-8508-8653b2f54768" providerId="ADAL" clId="{5AA3B8CE-AFEA-44FA-ACCD-448CA31DFD0A}" dt="2026-04-07T21:02:29.312" v="24"/>
        <pc:sldMkLst>
          <pc:docMk/>
          <pc:sldMk cId="535690489" sldId="603"/>
        </pc:sldMkLst>
      </pc:sldChg>
      <pc:sldChg chg="delSp modSp add mod ord">
        <pc:chgData name="Becca Levin" userId="08c76d0b-4d1f-44f5-8508-8653b2f54768" providerId="ADAL" clId="{5AA3B8CE-AFEA-44FA-ACCD-448CA31DFD0A}" dt="2026-04-08T15:49:13.444" v="667" actId="20577"/>
        <pc:sldMkLst>
          <pc:docMk/>
          <pc:sldMk cId="4249675555" sldId="604"/>
        </pc:sldMkLst>
        <pc:spChg chg="mod">
          <ac:chgData name="Becca Levin" userId="08c76d0b-4d1f-44f5-8508-8653b2f54768" providerId="ADAL" clId="{5AA3B8CE-AFEA-44FA-ACCD-448CA31DFD0A}" dt="2026-04-07T22:20:24.171" v="426"/>
          <ac:spMkLst>
            <pc:docMk/>
            <pc:sldMk cId="4249675555" sldId="604"/>
            <ac:spMk id="14" creationId="{DDD0CAB0-FD76-B052-FF47-146C6618ABF3}"/>
          </ac:spMkLst>
        </pc:spChg>
        <pc:spChg chg="del">
          <ac:chgData name="Becca Levin" userId="08c76d0b-4d1f-44f5-8508-8653b2f54768" providerId="ADAL" clId="{5AA3B8CE-AFEA-44FA-ACCD-448CA31DFD0A}" dt="2026-04-07T22:22:40.281" v="529" actId="478"/>
          <ac:spMkLst>
            <pc:docMk/>
            <pc:sldMk cId="4249675555" sldId="604"/>
            <ac:spMk id="15" creationId="{D31F5FDD-EB16-6230-F808-1E53ACDB3C91}"/>
          </ac:spMkLst>
        </pc:spChg>
        <pc:spChg chg="mod">
          <ac:chgData name="Becca Levin" userId="08c76d0b-4d1f-44f5-8508-8653b2f54768" providerId="ADAL" clId="{5AA3B8CE-AFEA-44FA-ACCD-448CA31DFD0A}" dt="2026-04-08T15:49:13.444" v="667" actId="20577"/>
          <ac:spMkLst>
            <pc:docMk/>
            <pc:sldMk cId="4249675555" sldId="604"/>
            <ac:spMk id="202" creationId="{00000000-0000-0000-0000-000000000000}"/>
          </ac:spMkLst>
        </pc:spChg>
        <pc:spChg chg="mod">
          <ac:chgData name="Becca Levin" userId="08c76d0b-4d1f-44f5-8508-8653b2f54768" providerId="ADAL" clId="{5AA3B8CE-AFEA-44FA-ACCD-448CA31DFD0A}" dt="2026-04-07T22:21:59.022" v="528" actId="20577"/>
          <ac:spMkLst>
            <pc:docMk/>
            <pc:sldMk cId="4249675555" sldId="604"/>
            <ac:spMk id="212" creationId="{00000000-0000-0000-0000-000000000000}"/>
          </ac:spMkLst>
        </pc:spChg>
        <pc:spChg chg="mod">
          <ac:chgData name="Becca Levin" userId="08c76d0b-4d1f-44f5-8508-8653b2f54768" providerId="ADAL" clId="{5AA3B8CE-AFEA-44FA-ACCD-448CA31DFD0A}" dt="2026-04-07T21:32:19.970" v="171" actId="207"/>
          <ac:spMkLst>
            <pc:docMk/>
            <pc:sldMk cId="4249675555" sldId="604"/>
            <ac:spMk id="221" creationId="{00000000-0000-0000-0000-000000000000}"/>
          </ac:spMkLst>
        </pc:spChg>
        <pc:spChg chg="mod">
          <ac:chgData name="Becca Levin" userId="08c76d0b-4d1f-44f5-8508-8653b2f54768" providerId="ADAL" clId="{5AA3B8CE-AFEA-44FA-ACCD-448CA31DFD0A}" dt="2026-04-07T21:34:33.694" v="414" actId="20577"/>
          <ac:spMkLst>
            <pc:docMk/>
            <pc:sldMk cId="4249675555" sldId="604"/>
            <ac:spMk id="222" creationId="{00000000-0000-0000-0000-000000000000}"/>
          </ac:spMkLst>
        </pc:spChg>
      </pc:sldChg>
      <pc:sldChg chg="modSp add mod">
        <pc:chgData name="Becca Levin" userId="08c76d0b-4d1f-44f5-8508-8653b2f54768" providerId="ADAL" clId="{5AA3B8CE-AFEA-44FA-ACCD-448CA31DFD0A}" dt="2026-04-07T21:34:47.511" v="425" actId="20577"/>
        <pc:sldMkLst>
          <pc:docMk/>
          <pc:sldMk cId="609235217" sldId="605"/>
        </pc:sldMkLst>
        <pc:spChg chg="mod">
          <ac:chgData name="Becca Levin" userId="08c76d0b-4d1f-44f5-8508-8653b2f54768" providerId="ADAL" clId="{5AA3B8CE-AFEA-44FA-ACCD-448CA31DFD0A}" dt="2026-04-07T21:34:47.511" v="425" actId="20577"/>
          <ac:spMkLst>
            <pc:docMk/>
            <pc:sldMk cId="609235217" sldId="605"/>
            <ac:spMk id="2" creationId="{9D0ECDAB-37F7-E167-70E8-63FB2D215966}"/>
          </ac:spMkLst>
        </pc:spChg>
      </pc:sldChg>
    </pc:docChg>
  </pc:docChgLst>
  <pc:docChgLst>
    <pc:chgData name="Kirstin Zettlitz" userId="ed94187f-4964-42f1-b936-14a5f47aff4a" providerId="ADAL" clId="{1058E6FE-068C-51C5-8910-E308FEC7BF85}"/>
    <pc:docChg chg="modSld">
      <pc:chgData name="Kirstin Zettlitz" userId="ed94187f-4964-42f1-b936-14a5f47aff4a" providerId="ADAL" clId="{1058E6FE-068C-51C5-8910-E308FEC7BF85}" dt="2026-04-08T16:22:40.694" v="25" actId="113"/>
      <pc:docMkLst>
        <pc:docMk/>
      </pc:docMkLst>
      <pc:sldChg chg="modSp mod">
        <pc:chgData name="Kirstin Zettlitz" userId="ed94187f-4964-42f1-b936-14a5f47aff4a" providerId="ADAL" clId="{1058E6FE-068C-51C5-8910-E308FEC7BF85}" dt="2026-04-08T16:22:40.694" v="25" actId="113"/>
        <pc:sldMkLst>
          <pc:docMk/>
          <pc:sldMk cId="808013063" sldId="350"/>
        </pc:sldMkLst>
        <pc:spChg chg="mod">
          <ac:chgData name="Kirstin Zettlitz" userId="ed94187f-4964-42f1-b936-14a5f47aff4a" providerId="ADAL" clId="{1058E6FE-068C-51C5-8910-E308FEC7BF85}" dt="2026-04-08T16:22:40.694" v="25" actId="113"/>
          <ac:spMkLst>
            <pc:docMk/>
            <pc:sldMk cId="808013063" sldId="350"/>
            <ac:spMk id="18" creationId="{E2165798-A0F7-A461-88FB-7BAFDEE44499}"/>
          </ac:spMkLst>
        </pc:spChg>
      </pc:sldChg>
      <pc:sldChg chg="modSp mod">
        <pc:chgData name="Kirstin Zettlitz" userId="ed94187f-4964-42f1-b936-14a5f47aff4a" providerId="ADAL" clId="{1058E6FE-068C-51C5-8910-E308FEC7BF85}" dt="2026-04-08T16:21:58.225" v="24" actId="20577"/>
        <pc:sldMkLst>
          <pc:docMk/>
          <pc:sldMk cId="2759453684" sldId="509"/>
        </pc:sldMkLst>
        <pc:spChg chg="mod">
          <ac:chgData name="Kirstin Zettlitz" userId="ed94187f-4964-42f1-b936-14a5f47aff4a" providerId="ADAL" clId="{1058E6FE-068C-51C5-8910-E308FEC7BF85}" dt="2026-04-08T16:21:58.225" v="24" actId="20577"/>
          <ac:spMkLst>
            <pc:docMk/>
            <pc:sldMk cId="2759453684" sldId="509"/>
            <ac:spMk id="26" creationId="{ADDC503F-63B0-2DC7-5DC4-4885057A2D09}"/>
          </ac:spMkLst>
        </pc:spChg>
      </pc:sldChg>
      <pc:sldChg chg="modSp mod">
        <pc:chgData name="Kirstin Zettlitz" userId="ed94187f-4964-42f1-b936-14a5f47aff4a" providerId="ADAL" clId="{1058E6FE-068C-51C5-8910-E308FEC7BF85}" dt="2026-04-08T16:20:19.509" v="15" actId="20577"/>
        <pc:sldMkLst>
          <pc:docMk/>
          <pc:sldMk cId="4249675555" sldId="604"/>
        </pc:sldMkLst>
        <pc:spChg chg="mod">
          <ac:chgData name="Kirstin Zettlitz" userId="ed94187f-4964-42f1-b936-14a5f47aff4a" providerId="ADAL" clId="{1058E6FE-068C-51C5-8910-E308FEC7BF85}" dt="2026-04-08T16:18:38.238" v="1" actId="20577"/>
          <ac:spMkLst>
            <pc:docMk/>
            <pc:sldMk cId="4249675555" sldId="604"/>
            <ac:spMk id="202" creationId="{00000000-0000-0000-0000-000000000000}"/>
          </ac:spMkLst>
        </pc:spChg>
        <pc:spChg chg="mod">
          <ac:chgData name="Kirstin Zettlitz" userId="ed94187f-4964-42f1-b936-14a5f47aff4a" providerId="ADAL" clId="{1058E6FE-068C-51C5-8910-E308FEC7BF85}" dt="2026-04-08T16:19:33.803" v="14" actId="20577"/>
          <ac:spMkLst>
            <pc:docMk/>
            <pc:sldMk cId="4249675555" sldId="604"/>
            <ac:spMk id="212" creationId="{00000000-0000-0000-0000-000000000000}"/>
          </ac:spMkLst>
        </pc:spChg>
        <pc:spChg chg="mod">
          <ac:chgData name="Kirstin Zettlitz" userId="ed94187f-4964-42f1-b936-14a5f47aff4a" providerId="ADAL" clId="{1058E6FE-068C-51C5-8910-E308FEC7BF85}" dt="2026-04-08T16:20:19.509" v="15" actId="20577"/>
          <ac:spMkLst>
            <pc:docMk/>
            <pc:sldMk cId="4249675555" sldId="604"/>
            <ac:spMk id="222" creationId="{00000000-0000-0000-0000-000000000000}"/>
          </ac:spMkLst>
        </pc:spChg>
      </pc:sldChg>
    </pc:docChg>
  </pc:docChgLst>
  <pc:docChgLst>
    <pc:chgData name="Greg Mullen" userId="S::gmullen@segotx.com::15d9f696-28c4-4111-b985-4ee728509f13" providerId="AD" clId="Web-{189AC89F-7719-AC4C-FAE1-A2AF2049643C}"/>
    <pc:docChg chg="mod">
      <pc:chgData name="Greg Mullen" userId="S::gmullen@segotx.com::15d9f696-28c4-4111-b985-4ee728509f13" providerId="AD" clId="Web-{189AC89F-7719-AC4C-FAE1-A2AF2049643C}" dt="2026-04-08T11:04:16.218"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A0ECFA-14A1-443A-9555-4C85B7374E2E}" type="datetimeFigureOut">
              <a:rPr lang="en-US" smtClean="0"/>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D390D4-8D0D-4905-9379-099FA53A5D40}" type="slidenum">
              <a:rPr lang="en-US" smtClean="0"/>
              <a:t>‹#›</a:t>
            </a:fld>
            <a:endParaRPr lang="en-US"/>
          </a:p>
        </p:txBody>
      </p:sp>
    </p:spTree>
    <p:extLst>
      <p:ext uri="{BB962C8B-B14F-4D97-AF65-F5344CB8AC3E}">
        <p14:creationId xmlns:p14="http://schemas.microsoft.com/office/powerpoint/2010/main" val="2043871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45662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E927-A836-5939-91DE-8CEA6C5C2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B9967-1B14-D890-070A-625E69DC23D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13B4F1B9-430F-FBEB-8A7D-0F626DFF271E}"/>
              </a:ext>
            </a:extLst>
          </p:cNvPr>
          <p:cNvSpPr>
            <a:spLocks noGrp="1"/>
          </p:cNvSpPr>
          <p:nvPr>
            <p:ph type="body" idx="1"/>
          </p:nvPr>
        </p:nvSpPr>
        <p:spPr/>
        <p:txBody>
          <a:bodyPr/>
          <a:lstStyle/>
          <a:p>
            <a:r>
              <a:rPr lang="en-US"/>
              <a:t>Selective: high levels in tumors  but minimal in most healthy tissues</a:t>
            </a:r>
          </a:p>
          <a:p>
            <a:r>
              <a:rPr lang="en-US"/>
              <a:t>Tumor-specific distribution: in tumors all over the cell, making it easily accessible, but not accessible in healthy colon, it's at the top surface/apical</a:t>
            </a:r>
          </a:p>
        </p:txBody>
      </p:sp>
      <p:sp>
        <p:nvSpPr>
          <p:cNvPr id="4" name="Slide Number Placeholder 3">
            <a:extLst>
              <a:ext uri="{FF2B5EF4-FFF2-40B4-BE49-F238E27FC236}">
                <a16:creationId xmlns:a16="http://schemas.microsoft.com/office/drawing/2014/main" id="{07D958D6-3433-6319-5D83-4363FB8742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2331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FC4E8-A1EF-A7C4-96F7-E1C90811E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230C11-6B4F-D383-AC37-180E40EA8FF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FA1D8A-AF8C-C995-4E29-F7A49932D3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A5F9D1-56CE-36D0-7594-EDAF8A68ADF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3126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03821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0A335-B43C-C0E2-35A7-BADCADABA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FA689A-3AEC-7069-0FD5-084AF832CD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390BA0-C8DA-0779-36FD-F0FAB40729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40B3EF-DAC7-497A-5139-D901B3681EE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48504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051454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CDB6738-640A-285C-80F7-EBA40DE8F0C0}"/>
              </a:ext>
            </a:extLst>
          </p:cNvPr>
          <p:cNvSpPr/>
          <p:nvPr/>
        </p:nvSpPr>
        <p:spPr>
          <a:xfrm>
            <a:off x="-198582" y="-692727"/>
            <a:ext cx="12589164" cy="69365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51204C1-E901-AD77-DE7C-59D21226D74D}"/>
              </a:ext>
            </a:extLst>
          </p:cNvPr>
          <p:cNvSpPr>
            <a:spLocks noGrp="1"/>
          </p:cNvSpPr>
          <p:nvPr>
            <p:ph type="ctrTitle"/>
          </p:nvPr>
        </p:nvSpPr>
        <p:spPr>
          <a:xfrm>
            <a:off x="629515" y="1122363"/>
            <a:ext cx="10038485" cy="1870219"/>
          </a:xfrm>
        </p:spPr>
        <p:txBody>
          <a:bodyPr anchor="b">
            <a:norm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6926440-34FF-6B8F-F8AA-3CB4F6F9D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C9C4D9-2245-6A45-3A6B-9AC657259F5F}"/>
              </a:ext>
            </a:extLst>
          </p:cNvPr>
          <p:cNvSpPr>
            <a:spLocks noGrp="1"/>
          </p:cNvSpPr>
          <p:nvPr>
            <p:ph type="dt" sz="half" idx="10"/>
          </p:nvPr>
        </p:nvSpPr>
        <p:spPr>
          <a:xfrm>
            <a:off x="838200" y="6356350"/>
            <a:ext cx="2743200" cy="365125"/>
          </a:xfrm>
          <a:prstGeom prst="rect">
            <a:avLst/>
          </a:prstGeom>
        </p:spPr>
        <p:txBody>
          <a:bodyPr anchor="ctr"/>
          <a:lstStyle>
            <a:lvl1pPr>
              <a:defRPr sz="1200">
                <a:solidFill>
                  <a:schemeClr val="tx1"/>
                </a:solidFill>
              </a:defRPr>
            </a:lvl1pPr>
          </a:lstStyle>
          <a:p>
            <a:fld id="{6E66945E-E29C-4A10-8917-9BE476573A98}" type="datetimeFigureOut">
              <a:rPr lang="en-US" smtClean="0"/>
              <a:t>4/8/26</a:t>
            </a:fld>
            <a:endParaRPr lang="en-US"/>
          </a:p>
        </p:txBody>
      </p:sp>
      <p:sp>
        <p:nvSpPr>
          <p:cNvPr id="5" name="Footer Placeholder 4">
            <a:extLst>
              <a:ext uri="{FF2B5EF4-FFF2-40B4-BE49-F238E27FC236}">
                <a16:creationId xmlns:a16="http://schemas.microsoft.com/office/drawing/2014/main" id="{2EE75429-B4D5-78E5-BD9B-CC1E613A41C9}"/>
              </a:ext>
            </a:extLst>
          </p:cNvPr>
          <p:cNvSpPr>
            <a:spLocks noGrp="1"/>
          </p:cNvSpPr>
          <p:nvPr>
            <p:ph type="ftr" sz="quarter" idx="11"/>
          </p:nvPr>
        </p:nvSpPr>
        <p:spPr/>
        <p:txBody>
          <a:bodyPr anchor="ctr"/>
          <a:lstStyle>
            <a:lvl1pP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5709ECA2-FE9B-B45C-BC7B-112303A0EFF0}"/>
              </a:ext>
            </a:extLst>
          </p:cNvPr>
          <p:cNvSpPr>
            <a:spLocks noGrp="1"/>
          </p:cNvSpPr>
          <p:nvPr>
            <p:ph type="sldNum" sz="quarter" idx="12"/>
          </p:nvPr>
        </p:nvSpPr>
        <p:spPr/>
        <p:txBody>
          <a:bodyPr anchor="ctr"/>
          <a:lstStyle>
            <a:lvl1pPr>
              <a:defRPr sz="1200">
                <a:solidFill>
                  <a:schemeClr val="tx1"/>
                </a:solidFill>
              </a:defRPr>
            </a:lvl1pPr>
          </a:lstStyle>
          <a:p>
            <a:fld id="{F4CFF174-0C8B-41F2-9A46-1C3276C99A0F}" type="slidenum">
              <a:rPr lang="en-US" smtClean="0"/>
              <a:t>‹#›</a:t>
            </a:fld>
            <a:endParaRPr lang="en-US"/>
          </a:p>
        </p:txBody>
      </p:sp>
      <p:sp>
        <p:nvSpPr>
          <p:cNvPr id="8" name="Shape 1">
            <a:extLst>
              <a:ext uri="{FF2B5EF4-FFF2-40B4-BE49-F238E27FC236}">
                <a16:creationId xmlns:a16="http://schemas.microsoft.com/office/drawing/2014/main" id="{736AE9BE-8563-C614-00B9-06D671AECD41}"/>
              </a:ext>
            </a:extLst>
          </p:cNvPr>
          <p:cNvSpPr/>
          <p:nvPr/>
        </p:nvSpPr>
        <p:spPr>
          <a:xfrm>
            <a:off x="457200" y="457200"/>
            <a:ext cx="871538" cy="300038"/>
          </a:xfrm>
          <a:prstGeom prst="rect">
            <a:avLst/>
          </a:prstGeom>
          <a:noFill/>
          <a:ln/>
        </p:spPr>
        <p:txBody>
          <a:bodyPr/>
          <a:lstStyle/>
          <a:p>
            <a:endParaRPr lang="en-US"/>
          </a:p>
        </p:txBody>
      </p:sp>
      <p:pic>
        <p:nvPicPr>
          <p:cNvPr id="9" name="Image 0" descr="preencoded.png">
            <a:extLst>
              <a:ext uri="{FF2B5EF4-FFF2-40B4-BE49-F238E27FC236}">
                <a16:creationId xmlns:a16="http://schemas.microsoft.com/office/drawing/2014/main" id="{52968D7F-126F-2166-45E4-5006D0BF4F4B}"/>
              </a:ext>
            </a:extLst>
          </p:cNvPr>
          <p:cNvPicPr>
            <a:picLocks noChangeAspect="1"/>
          </p:cNvPicPr>
          <p:nvPr/>
        </p:nvPicPr>
        <p:blipFill>
          <a:blip r:embed="rId2"/>
          <a:stretch>
            <a:fillRect/>
          </a:stretch>
        </p:blipFill>
        <p:spPr>
          <a:xfrm>
            <a:off x="525823" y="457200"/>
            <a:ext cx="154974" cy="188378"/>
          </a:xfrm>
          <a:prstGeom prst="rect">
            <a:avLst/>
          </a:prstGeom>
        </p:spPr>
      </p:pic>
      <p:pic>
        <p:nvPicPr>
          <p:cNvPr id="10" name="Image 1" descr="preencoded.png">
            <a:extLst>
              <a:ext uri="{FF2B5EF4-FFF2-40B4-BE49-F238E27FC236}">
                <a16:creationId xmlns:a16="http://schemas.microsoft.com/office/drawing/2014/main" id="{C4C8A8BD-F576-4C5F-081D-87C0BB3B6AFE}"/>
              </a:ext>
            </a:extLst>
          </p:cNvPr>
          <p:cNvPicPr>
            <a:picLocks noChangeAspect="1"/>
          </p:cNvPicPr>
          <p:nvPr/>
        </p:nvPicPr>
        <p:blipFill>
          <a:blip r:embed="rId3"/>
          <a:stretch>
            <a:fillRect/>
          </a:stretch>
        </p:blipFill>
        <p:spPr>
          <a:xfrm>
            <a:off x="588558" y="659529"/>
            <a:ext cx="959" cy="5"/>
          </a:xfrm>
          <a:prstGeom prst="rect">
            <a:avLst/>
          </a:prstGeom>
        </p:spPr>
      </p:pic>
      <p:pic>
        <p:nvPicPr>
          <p:cNvPr id="11" name="Image 2" descr="preencoded.png">
            <a:extLst>
              <a:ext uri="{FF2B5EF4-FFF2-40B4-BE49-F238E27FC236}">
                <a16:creationId xmlns:a16="http://schemas.microsoft.com/office/drawing/2014/main" id="{1E7B4B12-C9E4-E155-3993-625F6FB1E12B}"/>
              </a:ext>
            </a:extLst>
          </p:cNvPr>
          <p:cNvPicPr>
            <a:picLocks noChangeAspect="1"/>
          </p:cNvPicPr>
          <p:nvPr/>
        </p:nvPicPr>
        <p:blipFill>
          <a:blip r:embed="rId3"/>
          <a:stretch>
            <a:fillRect/>
          </a:stretch>
        </p:blipFill>
        <p:spPr>
          <a:xfrm>
            <a:off x="588274" y="659533"/>
            <a:ext cx="287" cy="5"/>
          </a:xfrm>
          <a:prstGeom prst="rect">
            <a:avLst/>
          </a:prstGeom>
        </p:spPr>
      </p:pic>
      <p:pic>
        <p:nvPicPr>
          <p:cNvPr id="12" name="Image 3" descr="preencoded.png">
            <a:extLst>
              <a:ext uri="{FF2B5EF4-FFF2-40B4-BE49-F238E27FC236}">
                <a16:creationId xmlns:a16="http://schemas.microsoft.com/office/drawing/2014/main" id="{B92E9DCB-F21C-04F7-5F55-34618D4762DB}"/>
              </a:ext>
            </a:extLst>
          </p:cNvPr>
          <p:cNvPicPr>
            <a:picLocks noChangeAspect="1"/>
          </p:cNvPicPr>
          <p:nvPr/>
        </p:nvPicPr>
        <p:blipFill>
          <a:blip r:embed="rId3"/>
          <a:stretch>
            <a:fillRect/>
          </a:stretch>
        </p:blipFill>
        <p:spPr>
          <a:xfrm>
            <a:off x="590747" y="673402"/>
            <a:ext cx="465" cy="5"/>
          </a:xfrm>
          <a:prstGeom prst="rect">
            <a:avLst/>
          </a:prstGeom>
        </p:spPr>
      </p:pic>
      <p:pic>
        <p:nvPicPr>
          <p:cNvPr id="13" name="Image 4" descr="preencoded.png">
            <a:extLst>
              <a:ext uri="{FF2B5EF4-FFF2-40B4-BE49-F238E27FC236}">
                <a16:creationId xmlns:a16="http://schemas.microsoft.com/office/drawing/2014/main" id="{2B422FB9-16AE-8A52-AFD0-F5C0D4C97B71}"/>
              </a:ext>
            </a:extLst>
          </p:cNvPr>
          <p:cNvPicPr>
            <a:picLocks noChangeAspect="1"/>
          </p:cNvPicPr>
          <p:nvPr/>
        </p:nvPicPr>
        <p:blipFill>
          <a:blip r:embed="rId4"/>
          <a:stretch>
            <a:fillRect/>
          </a:stretch>
        </p:blipFill>
        <p:spPr>
          <a:xfrm>
            <a:off x="799143" y="507676"/>
            <a:ext cx="135918" cy="199280"/>
          </a:xfrm>
          <a:prstGeom prst="rect">
            <a:avLst/>
          </a:prstGeom>
        </p:spPr>
      </p:pic>
      <p:pic>
        <p:nvPicPr>
          <p:cNvPr id="14" name="Image 5" descr="preencoded.png">
            <a:extLst>
              <a:ext uri="{FF2B5EF4-FFF2-40B4-BE49-F238E27FC236}">
                <a16:creationId xmlns:a16="http://schemas.microsoft.com/office/drawing/2014/main" id="{0AE362E8-2180-4F33-99E9-3A63658A556C}"/>
              </a:ext>
            </a:extLst>
          </p:cNvPr>
          <p:cNvPicPr>
            <a:picLocks noChangeAspect="1"/>
          </p:cNvPicPr>
          <p:nvPr/>
        </p:nvPicPr>
        <p:blipFill>
          <a:blip r:embed="rId5"/>
          <a:stretch>
            <a:fillRect/>
          </a:stretch>
        </p:blipFill>
        <p:spPr>
          <a:xfrm>
            <a:off x="940416" y="562009"/>
            <a:ext cx="124990" cy="144942"/>
          </a:xfrm>
          <a:prstGeom prst="rect">
            <a:avLst/>
          </a:prstGeom>
        </p:spPr>
      </p:pic>
      <p:pic>
        <p:nvPicPr>
          <p:cNvPr id="15" name="Image 6" descr="preencoded.png">
            <a:extLst>
              <a:ext uri="{FF2B5EF4-FFF2-40B4-BE49-F238E27FC236}">
                <a16:creationId xmlns:a16="http://schemas.microsoft.com/office/drawing/2014/main" id="{05260289-CF13-CF9A-74AC-86175E6B59E7}"/>
              </a:ext>
            </a:extLst>
          </p:cNvPr>
          <p:cNvPicPr>
            <a:picLocks noChangeAspect="1"/>
          </p:cNvPicPr>
          <p:nvPr/>
        </p:nvPicPr>
        <p:blipFill>
          <a:blip r:embed="rId6"/>
          <a:stretch>
            <a:fillRect/>
          </a:stretch>
        </p:blipFill>
        <p:spPr>
          <a:xfrm>
            <a:off x="1068347" y="561991"/>
            <a:ext cx="130069" cy="195247"/>
          </a:xfrm>
          <a:prstGeom prst="rect">
            <a:avLst/>
          </a:prstGeom>
        </p:spPr>
      </p:pic>
      <p:pic>
        <p:nvPicPr>
          <p:cNvPr id="16" name="Image 7" descr="preencoded.png">
            <a:extLst>
              <a:ext uri="{FF2B5EF4-FFF2-40B4-BE49-F238E27FC236}">
                <a16:creationId xmlns:a16="http://schemas.microsoft.com/office/drawing/2014/main" id="{58C28360-A6BE-8081-38E0-A8C32A75C7C3}"/>
              </a:ext>
            </a:extLst>
          </p:cNvPr>
          <p:cNvPicPr>
            <a:picLocks noChangeAspect="1"/>
          </p:cNvPicPr>
          <p:nvPr/>
        </p:nvPicPr>
        <p:blipFill>
          <a:blip r:embed="rId7"/>
          <a:stretch>
            <a:fillRect/>
          </a:stretch>
        </p:blipFill>
        <p:spPr>
          <a:xfrm>
            <a:off x="1194934" y="562005"/>
            <a:ext cx="133799" cy="144942"/>
          </a:xfrm>
          <a:prstGeom prst="rect">
            <a:avLst/>
          </a:prstGeom>
        </p:spPr>
      </p:pic>
      <p:pic>
        <p:nvPicPr>
          <p:cNvPr id="17" name="Image 8" descr="preencoded.png">
            <a:extLst>
              <a:ext uri="{FF2B5EF4-FFF2-40B4-BE49-F238E27FC236}">
                <a16:creationId xmlns:a16="http://schemas.microsoft.com/office/drawing/2014/main" id="{ECBAAB9E-CDC2-0FF4-C755-D815B2BB5F78}"/>
              </a:ext>
            </a:extLst>
          </p:cNvPr>
          <p:cNvPicPr>
            <a:picLocks noChangeAspect="1"/>
          </p:cNvPicPr>
          <p:nvPr/>
        </p:nvPicPr>
        <p:blipFill>
          <a:blip r:embed="rId8"/>
          <a:stretch>
            <a:fillRect/>
          </a:stretch>
        </p:blipFill>
        <p:spPr>
          <a:xfrm>
            <a:off x="577092" y="577653"/>
            <a:ext cx="172315" cy="155106"/>
          </a:xfrm>
          <a:prstGeom prst="rect">
            <a:avLst/>
          </a:prstGeom>
        </p:spPr>
      </p:pic>
      <p:pic>
        <p:nvPicPr>
          <p:cNvPr id="18" name="Image 9" descr="preencoded.png">
            <a:extLst>
              <a:ext uri="{FF2B5EF4-FFF2-40B4-BE49-F238E27FC236}">
                <a16:creationId xmlns:a16="http://schemas.microsoft.com/office/drawing/2014/main" id="{58320A9F-196A-AE77-A484-B6E5D507A6DA}"/>
              </a:ext>
            </a:extLst>
          </p:cNvPr>
          <p:cNvPicPr>
            <a:picLocks noChangeAspect="1"/>
          </p:cNvPicPr>
          <p:nvPr/>
        </p:nvPicPr>
        <p:blipFill>
          <a:blip r:embed="rId9"/>
          <a:stretch>
            <a:fillRect/>
          </a:stretch>
        </p:blipFill>
        <p:spPr>
          <a:xfrm>
            <a:off x="457200" y="577648"/>
            <a:ext cx="172315" cy="155113"/>
          </a:xfrm>
          <a:prstGeom prst="rect">
            <a:avLst/>
          </a:prstGeom>
        </p:spPr>
      </p:pic>
    </p:spTree>
    <p:extLst>
      <p:ext uri="{BB962C8B-B14F-4D97-AF65-F5344CB8AC3E}">
        <p14:creationId xmlns:p14="http://schemas.microsoft.com/office/powerpoint/2010/main" val="899089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91E4-0767-757A-6C26-F8C974F5D36E}"/>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77FBE57-1EB4-8357-C896-4AAAD6BCA147}"/>
              </a:ext>
            </a:extLst>
          </p:cNvPr>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8CFE290-1BA8-4866-A227-485B2A536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A9728-BA0F-E899-0CAD-26BC15062FEB}"/>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7" name="Shape 5">
            <a:extLst>
              <a:ext uri="{FF2B5EF4-FFF2-40B4-BE49-F238E27FC236}">
                <a16:creationId xmlns:a16="http://schemas.microsoft.com/office/drawing/2014/main" id="{3309DD90-9BA0-57EA-6D6E-750F1C324FC8}"/>
              </a:ext>
            </a:extLst>
          </p:cNvPr>
          <p:cNvSpPr/>
          <p:nvPr/>
        </p:nvSpPr>
        <p:spPr>
          <a:xfrm>
            <a:off x="190500" y="190500"/>
            <a:ext cx="661988" cy="228600"/>
          </a:xfrm>
          <a:prstGeom prst="rect">
            <a:avLst/>
          </a:prstGeom>
          <a:noFill/>
          <a:ln/>
        </p:spPr>
        <p:txBody>
          <a:bodyPr/>
          <a:lstStyle/>
          <a:p>
            <a:endParaRPr lang="en-US"/>
          </a:p>
        </p:txBody>
      </p:sp>
      <p:pic>
        <p:nvPicPr>
          <p:cNvPr id="8" name="Image 3" descr="preencoded.png">
            <a:extLst>
              <a:ext uri="{FF2B5EF4-FFF2-40B4-BE49-F238E27FC236}">
                <a16:creationId xmlns:a16="http://schemas.microsoft.com/office/drawing/2014/main" id="{B77A0BCF-864C-10EA-E989-AF59B941C2E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9" name="Image 4" descr="preencoded.png">
            <a:extLst>
              <a:ext uri="{FF2B5EF4-FFF2-40B4-BE49-F238E27FC236}">
                <a16:creationId xmlns:a16="http://schemas.microsoft.com/office/drawing/2014/main" id="{21522D1E-FB95-FAF3-8759-A99853816295}"/>
              </a:ext>
            </a:extLst>
          </p:cNvPr>
          <p:cNvPicPr>
            <a:picLocks noChangeAspect="1"/>
          </p:cNvPicPr>
          <p:nvPr/>
        </p:nvPicPr>
        <p:blipFill>
          <a:blip r:embed="rId3"/>
          <a:stretch>
            <a:fillRect/>
          </a:stretch>
        </p:blipFill>
        <p:spPr>
          <a:xfrm>
            <a:off x="290275" y="344655"/>
            <a:ext cx="728" cy="3"/>
          </a:xfrm>
          <a:prstGeom prst="rect">
            <a:avLst/>
          </a:prstGeom>
        </p:spPr>
      </p:pic>
      <p:pic>
        <p:nvPicPr>
          <p:cNvPr id="10" name="Image 5" descr="preencoded.png">
            <a:extLst>
              <a:ext uri="{FF2B5EF4-FFF2-40B4-BE49-F238E27FC236}">
                <a16:creationId xmlns:a16="http://schemas.microsoft.com/office/drawing/2014/main" id="{AA1C6DF3-B2B0-D505-0322-4A74DD286D1E}"/>
              </a:ext>
            </a:extLst>
          </p:cNvPr>
          <p:cNvPicPr>
            <a:picLocks noChangeAspect="1"/>
          </p:cNvPicPr>
          <p:nvPr/>
        </p:nvPicPr>
        <p:blipFill>
          <a:blip r:embed="rId3"/>
          <a:stretch>
            <a:fillRect/>
          </a:stretch>
        </p:blipFill>
        <p:spPr>
          <a:xfrm>
            <a:off x="290059" y="344659"/>
            <a:ext cx="216" cy="3"/>
          </a:xfrm>
          <a:prstGeom prst="rect">
            <a:avLst/>
          </a:prstGeom>
        </p:spPr>
      </p:pic>
      <p:pic>
        <p:nvPicPr>
          <p:cNvPr id="11" name="Image 6" descr="preencoded.png">
            <a:extLst>
              <a:ext uri="{FF2B5EF4-FFF2-40B4-BE49-F238E27FC236}">
                <a16:creationId xmlns:a16="http://schemas.microsoft.com/office/drawing/2014/main" id="{74BB9666-7E16-7635-EFAA-9FE0AADA9DE0}"/>
              </a:ext>
            </a:extLst>
          </p:cNvPr>
          <p:cNvPicPr>
            <a:picLocks noChangeAspect="1"/>
          </p:cNvPicPr>
          <p:nvPr/>
        </p:nvPicPr>
        <p:blipFill>
          <a:blip r:embed="rId3"/>
          <a:stretch>
            <a:fillRect/>
          </a:stretch>
        </p:blipFill>
        <p:spPr>
          <a:xfrm>
            <a:off x="291937" y="355225"/>
            <a:ext cx="352" cy="3"/>
          </a:xfrm>
          <a:prstGeom prst="rect">
            <a:avLst/>
          </a:prstGeom>
        </p:spPr>
      </p:pic>
      <p:pic>
        <p:nvPicPr>
          <p:cNvPr id="12" name="Image 7" descr="preencoded.png">
            <a:extLst>
              <a:ext uri="{FF2B5EF4-FFF2-40B4-BE49-F238E27FC236}">
                <a16:creationId xmlns:a16="http://schemas.microsoft.com/office/drawing/2014/main" id="{7B200AFC-D38E-A7C9-8B60-2AA285B679CB}"/>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3" name="Image 8" descr="preencoded.png">
            <a:extLst>
              <a:ext uri="{FF2B5EF4-FFF2-40B4-BE49-F238E27FC236}">
                <a16:creationId xmlns:a16="http://schemas.microsoft.com/office/drawing/2014/main" id="{B4489371-CEE9-45CF-DAB8-D9E30AE7784E}"/>
              </a:ext>
            </a:extLst>
          </p:cNvPr>
          <p:cNvPicPr>
            <a:picLocks noChangeAspect="1"/>
          </p:cNvPicPr>
          <p:nvPr/>
        </p:nvPicPr>
        <p:blipFill>
          <a:blip r:embed="rId5"/>
          <a:stretch>
            <a:fillRect/>
          </a:stretch>
        </p:blipFill>
        <p:spPr>
          <a:xfrm>
            <a:off x="557532" y="270355"/>
            <a:ext cx="94938" cy="110432"/>
          </a:xfrm>
          <a:prstGeom prst="rect">
            <a:avLst/>
          </a:prstGeom>
        </p:spPr>
      </p:pic>
      <p:pic>
        <p:nvPicPr>
          <p:cNvPr id="14" name="Image 9" descr="preencoded.png">
            <a:extLst>
              <a:ext uri="{FF2B5EF4-FFF2-40B4-BE49-F238E27FC236}">
                <a16:creationId xmlns:a16="http://schemas.microsoft.com/office/drawing/2014/main" id="{073A8A60-1964-06AA-7C7B-D0BF8602401C}"/>
              </a:ext>
            </a:extLst>
          </p:cNvPr>
          <p:cNvPicPr>
            <a:picLocks noChangeAspect="1"/>
          </p:cNvPicPr>
          <p:nvPr/>
        </p:nvPicPr>
        <p:blipFill>
          <a:blip r:embed="rId6"/>
          <a:stretch>
            <a:fillRect/>
          </a:stretch>
        </p:blipFill>
        <p:spPr>
          <a:xfrm>
            <a:off x="654704" y="270341"/>
            <a:ext cx="98795" cy="148759"/>
          </a:xfrm>
          <a:prstGeom prst="rect">
            <a:avLst/>
          </a:prstGeom>
        </p:spPr>
      </p:pic>
      <p:pic>
        <p:nvPicPr>
          <p:cNvPr id="15" name="Image 10" descr="preencoded.png">
            <a:extLst>
              <a:ext uri="{FF2B5EF4-FFF2-40B4-BE49-F238E27FC236}">
                <a16:creationId xmlns:a16="http://schemas.microsoft.com/office/drawing/2014/main" id="{4413C882-A29F-0E1B-F4E6-DE194B649107}"/>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6" name="Image 11" descr="preencoded.png">
            <a:extLst>
              <a:ext uri="{FF2B5EF4-FFF2-40B4-BE49-F238E27FC236}">
                <a16:creationId xmlns:a16="http://schemas.microsoft.com/office/drawing/2014/main" id="{599359B0-BC5A-2798-D3EE-E906C8FE4AA1}"/>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7" name="Image 12" descr="preencoded.png">
            <a:extLst>
              <a:ext uri="{FF2B5EF4-FFF2-40B4-BE49-F238E27FC236}">
                <a16:creationId xmlns:a16="http://schemas.microsoft.com/office/drawing/2014/main" id="{1CAF3264-0793-6CDC-24D3-58AF8DEB3742}"/>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2529021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4616-8561-6A16-EBE9-6E1A3F96AA6A}"/>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E6BEDDA-A7B8-93FA-FC2B-91CA7DFAFB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B46D9C-A2DA-90FE-6625-B23D1A90E9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A195ACC-39E6-3AC4-3A85-0CF2D69CC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74000-D324-1C4F-B0DE-8390683A3A94}"/>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8" name="Shape 5">
            <a:extLst>
              <a:ext uri="{FF2B5EF4-FFF2-40B4-BE49-F238E27FC236}">
                <a16:creationId xmlns:a16="http://schemas.microsoft.com/office/drawing/2014/main" id="{8ADAABF8-6644-3F36-4FAC-E26B71106E25}"/>
              </a:ext>
            </a:extLst>
          </p:cNvPr>
          <p:cNvSpPr/>
          <p:nvPr/>
        </p:nvSpPr>
        <p:spPr>
          <a:xfrm>
            <a:off x="190500" y="190500"/>
            <a:ext cx="661988" cy="228600"/>
          </a:xfrm>
          <a:prstGeom prst="rect">
            <a:avLst/>
          </a:prstGeom>
          <a:noFill/>
          <a:ln/>
        </p:spPr>
        <p:txBody>
          <a:bodyPr/>
          <a:lstStyle/>
          <a:p>
            <a:endParaRPr lang="en-US"/>
          </a:p>
        </p:txBody>
      </p:sp>
      <p:pic>
        <p:nvPicPr>
          <p:cNvPr id="9" name="Image 3" descr="preencoded.png">
            <a:extLst>
              <a:ext uri="{FF2B5EF4-FFF2-40B4-BE49-F238E27FC236}">
                <a16:creationId xmlns:a16="http://schemas.microsoft.com/office/drawing/2014/main" id="{D6819D18-280A-59B9-5A82-3AA527A0A22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0" name="Image 4" descr="preencoded.png">
            <a:extLst>
              <a:ext uri="{FF2B5EF4-FFF2-40B4-BE49-F238E27FC236}">
                <a16:creationId xmlns:a16="http://schemas.microsoft.com/office/drawing/2014/main" id="{B3DB3EC3-97C7-8E1A-1C58-F2AB502630D7}"/>
              </a:ext>
            </a:extLst>
          </p:cNvPr>
          <p:cNvPicPr>
            <a:picLocks noChangeAspect="1"/>
          </p:cNvPicPr>
          <p:nvPr/>
        </p:nvPicPr>
        <p:blipFill>
          <a:blip r:embed="rId3"/>
          <a:stretch>
            <a:fillRect/>
          </a:stretch>
        </p:blipFill>
        <p:spPr>
          <a:xfrm>
            <a:off x="290275" y="344655"/>
            <a:ext cx="728" cy="3"/>
          </a:xfrm>
          <a:prstGeom prst="rect">
            <a:avLst/>
          </a:prstGeom>
        </p:spPr>
      </p:pic>
      <p:pic>
        <p:nvPicPr>
          <p:cNvPr id="11" name="Image 5" descr="preencoded.png">
            <a:extLst>
              <a:ext uri="{FF2B5EF4-FFF2-40B4-BE49-F238E27FC236}">
                <a16:creationId xmlns:a16="http://schemas.microsoft.com/office/drawing/2014/main" id="{986AD692-BF7B-E30E-AF4B-29E73B37ADA8}"/>
              </a:ext>
            </a:extLst>
          </p:cNvPr>
          <p:cNvPicPr>
            <a:picLocks noChangeAspect="1"/>
          </p:cNvPicPr>
          <p:nvPr/>
        </p:nvPicPr>
        <p:blipFill>
          <a:blip r:embed="rId3"/>
          <a:stretch>
            <a:fillRect/>
          </a:stretch>
        </p:blipFill>
        <p:spPr>
          <a:xfrm>
            <a:off x="290059" y="344659"/>
            <a:ext cx="216" cy="3"/>
          </a:xfrm>
          <a:prstGeom prst="rect">
            <a:avLst/>
          </a:prstGeom>
        </p:spPr>
      </p:pic>
      <p:pic>
        <p:nvPicPr>
          <p:cNvPr id="12" name="Image 6" descr="preencoded.png">
            <a:extLst>
              <a:ext uri="{FF2B5EF4-FFF2-40B4-BE49-F238E27FC236}">
                <a16:creationId xmlns:a16="http://schemas.microsoft.com/office/drawing/2014/main" id="{1E4B8F00-D927-A3D7-DF8B-9621664C91DA}"/>
              </a:ext>
            </a:extLst>
          </p:cNvPr>
          <p:cNvPicPr>
            <a:picLocks noChangeAspect="1"/>
          </p:cNvPicPr>
          <p:nvPr/>
        </p:nvPicPr>
        <p:blipFill>
          <a:blip r:embed="rId3"/>
          <a:stretch>
            <a:fillRect/>
          </a:stretch>
        </p:blipFill>
        <p:spPr>
          <a:xfrm>
            <a:off x="291937" y="355225"/>
            <a:ext cx="352" cy="3"/>
          </a:xfrm>
          <a:prstGeom prst="rect">
            <a:avLst/>
          </a:prstGeom>
        </p:spPr>
      </p:pic>
      <p:pic>
        <p:nvPicPr>
          <p:cNvPr id="13" name="Image 7" descr="preencoded.png">
            <a:extLst>
              <a:ext uri="{FF2B5EF4-FFF2-40B4-BE49-F238E27FC236}">
                <a16:creationId xmlns:a16="http://schemas.microsoft.com/office/drawing/2014/main" id="{8BE371D4-51AA-A4CA-BCA7-C17F586C33EE}"/>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4" name="Image 8" descr="preencoded.png">
            <a:extLst>
              <a:ext uri="{FF2B5EF4-FFF2-40B4-BE49-F238E27FC236}">
                <a16:creationId xmlns:a16="http://schemas.microsoft.com/office/drawing/2014/main" id="{5ECEAA31-DC84-C536-9A68-FCA883D9D77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5" name="Image 9" descr="preencoded.png">
            <a:extLst>
              <a:ext uri="{FF2B5EF4-FFF2-40B4-BE49-F238E27FC236}">
                <a16:creationId xmlns:a16="http://schemas.microsoft.com/office/drawing/2014/main" id="{62428B7B-F60F-2474-60E5-44197091389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6" name="Image 10" descr="preencoded.png">
            <a:extLst>
              <a:ext uri="{FF2B5EF4-FFF2-40B4-BE49-F238E27FC236}">
                <a16:creationId xmlns:a16="http://schemas.microsoft.com/office/drawing/2014/main" id="{CD30214C-33F4-EF4D-4A77-2669C3D85995}"/>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7" name="Image 11" descr="preencoded.png">
            <a:extLst>
              <a:ext uri="{FF2B5EF4-FFF2-40B4-BE49-F238E27FC236}">
                <a16:creationId xmlns:a16="http://schemas.microsoft.com/office/drawing/2014/main" id="{F652379B-9CF4-1AD1-870C-8D3C19ADC62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8" name="Image 12" descr="preencoded.png">
            <a:extLst>
              <a:ext uri="{FF2B5EF4-FFF2-40B4-BE49-F238E27FC236}">
                <a16:creationId xmlns:a16="http://schemas.microsoft.com/office/drawing/2014/main" id="{AAB9CA5D-C147-316E-9EA9-CFAF15793DA1}"/>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844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1E4E-8467-05AB-4B28-24FC65159BC7}"/>
              </a:ext>
            </a:extLst>
          </p:cNvPr>
          <p:cNvSpPr>
            <a:spLocks noGrp="1"/>
          </p:cNvSpPr>
          <p:nvPr>
            <p:ph type="title"/>
          </p:nvPr>
        </p:nvSpPr>
        <p:spPr>
          <a:xfrm>
            <a:off x="839788" y="365125"/>
            <a:ext cx="10515600" cy="1325563"/>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73AF16-3B94-1554-ADEF-F4AB2AADE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5CBF1-893D-CA3B-1E82-E42BA520A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764CD-180A-9677-3337-000001CB5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ECCF24-889B-BC14-970F-2418CF0668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8B345D6-958F-BEFC-B6F2-D7DC3D4031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AE3341-5AE8-5BA8-0437-602286D4EE81}"/>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10" name="Shape 5">
            <a:extLst>
              <a:ext uri="{FF2B5EF4-FFF2-40B4-BE49-F238E27FC236}">
                <a16:creationId xmlns:a16="http://schemas.microsoft.com/office/drawing/2014/main" id="{2280E1E3-FBB0-BB01-80DF-10AE73698015}"/>
              </a:ext>
            </a:extLst>
          </p:cNvPr>
          <p:cNvSpPr/>
          <p:nvPr/>
        </p:nvSpPr>
        <p:spPr>
          <a:xfrm>
            <a:off x="190500" y="190500"/>
            <a:ext cx="661988" cy="228600"/>
          </a:xfrm>
          <a:prstGeom prst="rect">
            <a:avLst/>
          </a:prstGeom>
          <a:noFill/>
          <a:ln/>
        </p:spPr>
        <p:txBody>
          <a:bodyPr/>
          <a:lstStyle/>
          <a:p>
            <a:endParaRPr lang="en-US"/>
          </a:p>
        </p:txBody>
      </p:sp>
      <p:pic>
        <p:nvPicPr>
          <p:cNvPr id="11" name="Image 3" descr="preencoded.png">
            <a:extLst>
              <a:ext uri="{FF2B5EF4-FFF2-40B4-BE49-F238E27FC236}">
                <a16:creationId xmlns:a16="http://schemas.microsoft.com/office/drawing/2014/main" id="{996FDED8-EDA6-9343-D0A1-84BEBDD31D97}"/>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2" name="Image 4" descr="preencoded.png">
            <a:extLst>
              <a:ext uri="{FF2B5EF4-FFF2-40B4-BE49-F238E27FC236}">
                <a16:creationId xmlns:a16="http://schemas.microsoft.com/office/drawing/2014/main" id="{D83BCB30-36D8-4C72-14EE-F3E2E8F57313}"/>
              </a:ext>
            </a:extLst>
          </p:cNvPr>
          <p:cNvPicPr>
            <a:picLocks noChangeAspect="1"/>
          </p:cNvPicPr>
          <p:nvPr/>
        </p:nvPicPr>
        <p:blipFill>
          <a:blip r:embed="rId3"/>
          <a:stretch>
            <a:fillRect/>
          </a:stretch>
        </p:blipFill>
        <p:spPr>
          <a:xfrm>
            <a:off x="290275" y="344655"/>
            <a:ext cx="728" cy="3"/>
          </a:xfrm>
          <a:prstGeom prst="rect">
            <a:avLst/>
          </a:prstGeom>
        </p:spPr>
      </p:pic>
      <p:pic>
        <p:nvPicPr>
          <p:cNvPr id="13" name="Image 5" descr="preencoded.png">
            <a:extLst>
              <a:ext uri="{FF2B5EF4-FFF2-40B4-BE49-F238E27FC236}">
                <a16:creationId xmlns:a16="http://schemas.microsoft.com/office/drawing/2014/main" id="{B1AD6F6F-B20E-8D32-FAAB-369A5465E0C8}"/>
              </a:ext>
            </a:extLst>
          </p:cNvPr>
          <p:cNvPicPr>
            <a:picLocks noChangeAspect="1"/>
          </p:cNvPicPr>
          <p:nvPr/>
        </p:nvPicPr>
        <p:blipFill>
          <a:blip r:embed="rId3"/>
          <a:stretch>
            <a:fillRect/>
          </a:stretch>
        </p:blipFill>
        <p:spPr>
          <a:xfrm>
            <a:off x="290059" y="344659"/>
            <a:ext cx="216" cy="3"/>
          </a:xfrm>
          <a:prstGeom prst="rect">
            <a:avLst/>
          </a:prstGeom>
        </p:spPr>
      </p:pic>
      <p:pic>
        <p:nvPicPr>
          <p:cNvPr id="14" name="Image 6" descr="preencoded.png">
            <a:extLst>
              <a:ext uri="{FF2B5EF4-FFF2-40B4-BE49-F238E27FC236}">
                <a16:creationId xmlns:a16="http://schemas.microsoft.com/office/drawing/2014/main" id="{FBDDC6D6-2BEB-31DC-B298-E66E991D550A}"/>
              </a:ext>
            </a:extLst>
          </p:cNvPr>
          <p:cNvPicPr>
            <a:picLocks noChangeAspect="1"/>
          </p:cNvPicPr>
          <p:nvPr/>
        </p:nvPicPr>
        <p:blipFill>
          <a:blip r:embed="rId3"/>
          <a:stretch>
            <a:fillRect/>
          </a:stretch>
        </p:blipFill>
        <p:spPr>
          <a:xfrm>
            <a:off x="291937" y="355225"/>
            <a:ext cx="352" cy="3"/>
          </a:xfrm>
          <a:prstGeom prst="rect">
            <a:avLst/>
          </a:prstGeom>
        </p:spPr>
      </p:pic>
      <p:pic>
        <p:nvPicPr>
          <p:cNvPr id="15" name="Image 7" descr="preencoded.png">
            <a:extLst>
              <a:ext uri="{FF2B5EF4-FFF2-40B4-BE49-F238E27FC236}">
                <a16:creationId xmlns:a16="http://schemas.microsoft.com/office/drawing/2014/main" id="{59255BD3-C3BE-9A85-5AF2-9BB924428ED0}"/>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6" name="Image 8" descr="preencoded.png">
            <a:extLst>
              <a:ext uri="{FF2B5EF4-FFF2-40B4-BE49-F238E27FC236}">
                <a16:creationId xmlns:a16="http://schemas.microsoft.com/office/drawing/2014/main" id="{05589A3A-6BE4-FDF1-77D1-F2E573CBF877}"/>
              </a:ext>
            </a:extLst>
          </p:cNvPr>
          <p:cNvPicPr>
            <a:picLocks noChangeAspect="1"/>
          </p:cNvPicPr>
          <p:nvPr/>
        </p:nvPicPr>
        <p:blipFill>
          <a:blip r:embed="rId5"/>
          <a:stretch>
            <a:fillRect/>
          </a:stretch>
        </p:blipFill>
        <p:spPr>
          <a:xfrm>
            <a:off x="557532" y="270355"/>
            <a:ext cx="94938" cy="110432"/>
          </a:xfrm>
          <a:prstGeom prst="rect">
            <a:avLst/>
          </a:prstGeom>
        </p:spPr>
      </p:pic>
      <p:pic>
        <p:nvPicPr>
          <p:cNvPr id="17" name="Image 9" descr="preencoded.png">
            <a:extLst>
              <a:ext uri="{FF2B5EF4-FFF2-40B4-BE49-F238E27FC236}">
                <a16:creationId xmlns:a16="http://schemas.microsoft.com/office/drawing/2014/main" id="{BB7959B2-981C-3C8F-4F27-DBABC198833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8" name="Image 10" descr="preencoded.png">
            <a:extLst>
              <a:ext uri="{FF2B5EF4-FFF2-40B4-BE49-F238E27FC236}">
                <a16:creationId xmlns:a16="http://schemas.microsoft.com/office/drawing/2014/main" id="{FC3F9996-F09C-CD6B-EFCB-DA8BC9C28F31}"/>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9" name="Image 11" descr="preencoded.png">
            <a:extLst>
              <a:ext uri="{FF2B5EF4-FFF2-40B4-BE49-F238E27FC236}">
                <a16:creationId xmlns:a16="http://schemas.microsoft.com/office/drawing/2014/main" id="{2ED1A265-4A95-F6BF-055E-6E7DF38089D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20" name="Image 12" descr="preencoded.png">
            <a:extLst>
              <a:ext uri="{FF2B5EF4-FFF2-40B4-BE49-F238E27FC236}">
                <a16:creationId xmlns:a16="http://schemas.microsoft.com/office/drawing/2014/main" id="{8AA81C56-C7C1-8192-BB96-2EAF5E6E65B3}"/>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3977966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32E9C-AC2F-598A-971D-CB008C399593}"/>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48522642-A407-B802-D9EF-445D10F6B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86E38B-EAD0-FDED-82A1-3CE01F794498}"/>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6" name="Shape 5">
            <a:extLst>
              <a:ext uri="{FF2B5EF4-FFF2-40B4-BE49-F238E27FC236}">
                <a16:creationId xmlns:a16="http://schemas.microsoft.com/office/drawing/2014/main" id="{A16C830E-A360-7AC5-875D-9D5222451EAF}"/>
              </a:ext>
            </a:extLst>
          </p:cNvPr>
          <p:cNvSpPr/>
          <p:nvPr/>
        </p:nvSpPr>
        <p:spPr>
          <a:xfrm>
            <a:off x="190500" y="190500"/>
            <a:ext cx="661988" cy="228600"/>
          </a:xfrm>
          <a:prstGeom prst="rect">
            <a:avLst/>
          </a:prstGeom>
          <a:noFill/>
          <a:ln/>
        </p:spPr>
        <p:txBody>
          <a:bodyPr/>
          <a:lstStyle/>
          <a:p>
            <a:endParaRPr lang="en-US"/>
          </a:p>
        </p:txBody>
      </p:sp>
      <p:pic>
        <p:nvPicPr>
          <p:cNvPr id="7" name="Image 3" descr="preencoded.png">
            <a:extLst>
              <a:ext uri="{FF2B5EF4-FFF2-40B4-BE49-F238E27FC236}">
                <a16:creationId xmlns:a16="http://schemas.microsoft.com/office/drawing/2014/main" id="{6FA7C61D-AC3B-A5A8-802C-38559A5BCCF1}"/>
              </a:ext>
            </a:extLst>
          </p:cNvPr>
          <p:cNvPicPr>
            <a:picLocks noChangeAspect="1"/>
          </p:cNvPicPr>
          <p:nvPr/>
        </p:nvPicPr>
        <p:blipFill>
          <a:blip r:embed="rId2"/>
          <a:stretch>
            <a:fillRect/>
          </a:stretch>
        </p:blipFill>
        <p:spPr>
          <a:xfrm>
            <a:off x="242624" y="190500"/>
            <a:ext cx="117713" cy="143526"/>
          </a:xfrm>
          <a:prstGeom prst="rect">
            <a:avLst/>
          </a:prstGeom>
        </p:spPr>
      </p:pic>
      <p:pic>
        <p:nvPicPr>
          <p:cNvPr id="8" name="Image 4" descr="preencoded.png">
            <a:extLst>
              <a:ext uri="{FF2B5EF4-FFF2-40B4-BE49-F238E27FC236}">
                <a16:creationId xmlns:a16="http://schemas.microsoft.com/office/drawing/2014/main" id="{6211D501-648C-ABA1-7828-3399D967353F}"/>
              </a:ext>
            </a:extLst>
          </p:cNvPr>
          <p:cNvPicPr>
            <a:picLocks noChangeAspect="1"/>
          </p:cNvPicPr>
          <p:nvPr/>
        </p:nvPicPr>
        <p:blipFill>
          <a:blip r:embed="rId3"/>
          <a:stretch>
            <a:fillRect/>
          </a:stretch>
        </p:blipFill>
        <p:spPr>
          <a:xfrm>
            <a:off x="290275" y="344655"/>
            <a:ext cx="728" cy="3"/>
          </a:xfrm>
          <a:prstGeom prst="rect">
            <a:avLst/>
          </a:prstGeom>
        </p:spPr>
      </p:pic>
      <p:pic>
        <p:nvPicPr>
          <p:cNvPr id="9" name="Image 5" descr="preencoded.png">
            <a:extLst>
              <a:ext uri="{FF2B5EF4-FFF2-40B4-BE49-F238E27FC236}">
                <a16:creationId xmlns:a16="http://schemas.microsoft.com/office/drawing/2014/main" id="{453193C3-E143-90F7-FFAF-FAE6FF0F8153}"/>
              </a:ext>
            </a:extLst>
          </p:cNvPr>
          <p:cNvPicPr>
            <a:picLocks noChangeAspect="1"/>
          </p:cNvPicPr>
          <p:nvPr/>
        </p:nvPicPr>
        <p:blipFill>
          <a:blip r:embed="rId3"/>
          <a:stretch>
            <a:fillRect/>
          </a:stretch>
        </p:blipFill>
        <p:spPr>
          <a:xfrm>
            <a:off x="290059" y="344659"/>
            <a:ext cx="216" cy="3"/>
          </a:xfrm>
          <a:prstGeom prst="rect">
            <a:avLst/>
          </a:prstGeom>
        </p:spPr>
      </p:pic>
      <p:pic>
        <p:nvPicPr>
          <p:cNvPr id="10" name="Image 6" descr="preencoded.png">
            <a:extLst>
              <a:ext uri="{FF2B5EF4-FFF2-40B4-BE49-F238E27FC236}">
                <a16:creationId xmlns:a16="http://schemas.microsoft.com/office/drawing/2014/main" id="{CD7967F3-83BC-6097-0C75-DA5DAC583598}"/>
              </a:ext>
            </a:extLst>
          </p:cNvPr>
          <p:cNvPicPr>
            <a:picLocks noChangeAspect="1"/>
          </p:cNvPicPr>
          <p:nvPr/>
        </p:nvPicPr>
        <p:blipFill>
          <a:blip r:embed="rId3"/>
          <a:stretch>
            <a:fillRect/>
          </a:stretch>
        </p:blipFill>
        <p:spPr>
          <a:xfrm>
            <a:off x="291937" y="355225"/>
            <a:ext cx="352" cy="3"/>
          </a:xfrm>
          <a:prstGeom prst="rect">
            <a:avLst/>
          </a:prstGeom>
        </p:spPr>
      </p:pic>
      <p:pic>
        <p:nvPicPr>
          <p:cNvPr id="11" name="Image 7" descr="preencoded.png">
            <a:extLst>
              <a:ext uri="{FF2B5EF4-FFF2-40B4-BE49-F238E27FC236}">
                <a16:creationId xmlns:a16="http://schemas.microsoft.com/office/drawing/2014/main" id="{55401895-E400-1D7F-43FA-D0FB891E30F9}"/>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2" name="Image 8" descr="preencoded.png">
            <a:extLst>
              <a:ext uri="{FF2B5EF4-FFF2-40B4-BE49-F238E27FC236}">
                <a16:creationId xmlns:a16="http://schemas.microsoft.com/office/drawing/2014/main" id="{62A5EDCF-DDE8-6DE0-1CC8-819ABA4DB20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3" name="Image 9" descr="preencoded.png">
            <a:extLst>
              <a:ext uri="{FF2B5EF4-FFF2-40B4-BE49-F238E27FC236}">
                <a16:creationId xmlns:a16="http://schemas.microsoft.com/office/drawing/2014/main" id="{BBD93823-B957-25BB-C99E-9354F16883D4}"/>
              </a:ext>
            </a:extLst>
          </p:cNvPr>
          <p:cNvPicPr>
            <a:picLocks noChangeAspect="1"/>
          </p:cNvPicPr>
          <p:nvPr/>
        </p:nvPicPr>
        <p:blipFill>
          <a:blip r:embed="rId6"/>
          <a:stretch>
            <a:fillRect/>
          </a:stretch>
        </p:blipFill>
        <p:spPr>
          <a:xfrm>
            <a:off x="654704" y="270341"/>
            <a:ext cx="98795" cy="148759"/>
          </a:xfrm>
          <a:prstGeom prst="rect">
            <a:avLst/>
          </a:prstGeom>
        </p:spPr>
      </p:pic>
      <p:pic>
        <p:nvPicPr>
          <p:cNvPr id="14" name="Image 10" descr="preencoded.png">
            <a:extLst>
              <a:ext uri="{FF2B5EF4-FFF2-40B4-BE49-F238E27FC236}">
                <a16:creationId xmlns:a16="http://schemas.microsoft.com/office/drawing/2014/main" id="{EBB4ED86-D056-E708-2D02-AE316C12A110}"/>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5" name="Image 11" descr="preencoded.png">
            <a:extLst>
              <a:ext uri="{FF2B5EF4-FFF2-40B4-BE49-F238E27FC236}">
                <a16:creationId xmlns:a16="http://schemas.microsoft.com/office/drawing/2014/main" id="{BDE3193F-5748-17EB-FB7F-C12EC5E806C3}"/>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6" name="Image 12" descr="preencoded.png">
            <a:extLst>
              <a:ext uri="{FF2B5EF4-FFF2-40B4-BE49-F238E27FC236}">
                <a16:creationId xmlns:a16="http://schemas.microsoft.com/office/drawing/2014/main" id="{32D52360-BAE5-033B-1495-439B02227C38}"/>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4131998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1933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0910-A0C0-68BB-7B53-15FDAD26F043}"/>
              </a:ext>
            </a:extLst>
          </p:cNvPr>
          <p:cNvSpPr>
            <a:spLocks noGrp="1"/>
          </p:cNvSpPr>
          <p:nvPr>
            <p:ph type="title" hasCustomPrompt="1"/>
          </p:nvPr>
        </p:nvSpPr>
        <p:spPr>
          <a:xfrm>
            <a:off x="262258" y="3225776"/>
            <a:ext cx="5070017" cy="82806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3" name="Footer Placeholder 2">
            <a:extLst>
              <a:ext uri="{FF2B5EF4-FFF2-40B4-BE49-F238E27FC236}">
                <a16:creationId xmlns:a16="http://schemas.microsoft.com/office/drawing/2014/main" id="{CC34FF15-ACE1-BC40-45CB-34D1B57152A0}"/>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314EC72E-7D93-4BA5-9C9F-9730CC1FCBBF}"/>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23" name="Date Placeholder 21" hidden="1">
            <a:extLst>
              <a:ext uri="{FF2B5EF4-FFF2-40B4-BE49-F238E27FC236}">
                <a16:creationId xmlns:a16="http://schemas.microsoft.com/office/drawing/2014/main" id="{538CCEA6-28D6-432F-620A-5FA841D9A67A}"/>
              </a:ext>
            </a:extLst>
          </p:cNvPr>
          <p:cNvSpPr>
            <a:spLocks noGrp="1"/>
          </p:cNvSpPr>
          <p:nvPr>
            <p:ph type="dt" sz="half" idx="2"/>
          </p:nvPr>
        </p:nvSpPr>
        <p:spPr>
          <a:xfrm>
            <a:off x="11028045" y="6492240"/>
            <a:ext cx="906780" cy="109776"/>
          </a:xfrm>
          <a:prstGeom prst="rect">
            <a:avLst/>
          </a:prstGeom>
        </p:spPr>
        <p:txBody>
          <a:bodyPr vert="horz" lIns="0" tIns="0" rIns="0" bIns="0" rtlCol="0" anchor="ctr">
            <a:noAutofit/>
          </a:bodyPr>
          <a:lstStyle>
            <a:lvl1pPr algn="r">
              <a:defRPr lang="en-GB" sz="800" spc="-39" smtClean="0">
                <a:solidFill>
                  <a:schemeClr val="tx1"/>
                </a:solidFill>
              </a:defRPr>
            </a:lvl1pPr>
          </a:lstStyle>
          <a:p>
            <a:fld id="{BC01B09E-BD2E-4777-B4D4-F6B540230C58}" type="datetime6">
              <a:rPr lang="en-GB" smtClean="0"/>
              <a:pPr/>
              <a:t>April 26</a:t>
            </a:fld>
            <a:endParaRPr lang="en-GB" sz="800"/>
          </a:p>
        </p:txBody>
      </p:sp>
      <p:grpSp>
        <p:nvGrpSpPr>
          <p:cNvPr id="7" name="Graphic 8">
            <a:extLst>
              <a:ext uri="{FF2B5EF4-FFF2-40B4-BE49-F238E27FC236}">
                <a16:creationId xmlns:a16="http://schemas.microsoft.com/office/drawing/2014/main" id="{CB562FDC-03F1-5521-89C7-C4C12E07C6DB}"/>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2791912A-744B-425D-F110-EFB13F6FAEE4}"/>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9270859-3F16-2104-574D-74236AD8FD59}"/>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3165A3-2236-5DED-D823-B998BA612380}"/>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F43ADFC-C7F7-447E-7528-B2D251DE959F}"/>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E1AB878-C85A-B38C-3580-5EE82627FBF3}"/>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1061D67-2C92-6676-B691-D0C3162E6895}"/>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C5BED9F-A69D-4C82-E00C-5A9A9FD9EC99}"/>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E26B4A-0E89-9545-CF71-72B0B21E751A}"/>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DA25754-0125-9425-59B1-7FEC7D4AAAF3}"/>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B2E4AC9-D18F-9818-11E5-9FAF5E9141FF}"/>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Subtitle 2">
            <a:extLst>
              <a:ext uri="{FF2B5EF4-FFF2-40B4-BE49-F238E27FC236}">
                <a16:creationId xmlns:a16="http://schemas.microsoft.com/office/drawing/2014/main" id="{620E3FC0-F13B-4AA1-8445-8E35E2CF1931}"/>
              </a:ext>
            </a:extLst>
          </p:cNvPr>
          <p:cNvSpPr>
            <a:spLocks noGrp="1"/>
          </p:cNvSpPr>
          <p:nvPr>
            <p:ph type="subTitle" idx="1" hasCustomPrompt="1"/>
          </p:nvPr>
        </p:nvSpPr>
        <p:spPr>
          <a:xfrm>
            <a:off x="257178" y="2926186"/>
            <a:ext cx="5070017" cy="158693"/>
          </a:xfrm>
        </p:spPr>
        <p:txBody>
          <a:bodyPr/>
          <a:lstStyle>
            <a:lvl1pPr marL="0" indent="0" algn="l">
              <a:buNone/>
              <a:defRPr sz="120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Section Title</a:t>
            </a:r>
          </a:p>
        </p:txBody>
      </p:sp>
    </p:spTree>
    <p:extLst>
      <p:ext uri="{BB962C8B-B14F-4D97-AF65-F5344CB8AC3E}">
        <p14:creationId xmlns:p14="http://schemas.microsoft.com/office/powerpoint/2010/main" val="3598486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age-2">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042BA4-469A-ACDB-3C72-111476EA424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A19ED306-214C-DFDE-1E4C-3120B3984D77}"/>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grpSp>
        <p:nvGrpSpPr>
          <p:cNvPr id="7" name="Graphic 8">
            <a:extLst>
              <a:ext uri="{FF2B5EF4-FFF2-40B4-BE49-F238E27FC236}">
                <a16:creationId xmlns:a16="http://schemas.microsoft.com/office/drawing/2014/main" id="{42F3CB05-B71F-2304-36F3-1D328DDB162C}"/>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30B7A793-96DD-718F-6C53-3ED56F3EC0D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E4A4D229-A539-9666-C803-E715831FCB80}"/>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649BA90A-AFC7-6552-715F-EB24799740AA}"/>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FDB49AB-05C6-830A-79E4-659B4384A3D7}"/>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A1B60CB-DCD7-8B10-E27A-06BFF887A080}"/>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9E0B493-3501-EF31-42E0-75A5F876ED0D}"/>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3DE3EBE-2D35-17A6-7194-22B9C028797B}"/>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5A8686-D0E9-5DE2-D5AF-9469D8DFC27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E79BEBE-4F28-1B64-3229-278A2A0FCA0C}"/>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6D91C27-5113-D6F8-DD50-545A13EBBEA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Title 1">
            <a:extLst>
              <a:ext uri="{FF2B5EF4-FFF2-40B4-BE49-F238E27FC236}">
                <a16:creationId xmlns:a16="http://schemas.microsoft.com/office/drawing/2014/main" id="{55FB519E-F037-3DA4-A1C7-8F1520479F9D}"/>
              </a:ext>
            </a:extLst>
          </p:cNvPr>
          <p:cNvSpPr>
            <a:spLocks noGrp="1"/>
          </p:cNvSpPr>
          <p:nvPr>
            <p:ph type="title" hasCustomPrompt="1"/>
          </p:nvPr>
        </p:nvSpPr>
        <p:spPr>
          <a:xfrm>
            <a:off x="2225501" y="3268448"/>
            <a:ext cx="8945261" cy="40134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25" name="Text Placeholder 24">
            <a:extLst>
              <a:ext uri="{FF2B5EF4-FFF2-40B4-BE49-F238E27FC236}">
                <a16:creationId xmlns:a16="http://schemas.microsoft.com/office/drawing/2014/main" id="{9A1371C9-0DD0-D675-51AF-9B5EDD28DB46}"/>
              </a:ext>
            </a:extLst>
          </p:cNvPr>
          <p:cNvSpPr>
            <a:spLocks noGrp="1"/>
          </p:cNvSpPr>
          <p:nvPr>
            <p:ph type="body" sz="quarter" idx="12" hasCustomPrompt="1"/>
          </p:nvPr>
        </p:nvSpPr>
        <p:spPr>
          <a:xfrm>
            <a:off x="257178" y="3067617"/>
            <a:ext cx="1144588" cy="158693"/>
          </a:xfrm>
        </p:spPr>
        <p:txBody>
          <a:bodyPr vert="horz" lIns="0" tIns="0" rIns="0" bIns="0" rtlCol="0">
            <a:noAutofit/>
          </a:bodyPr>
          <a:lstStyle>
            <a:lvl1pPr>
              <a:buNone/>
              <a:defRPr lang="en-GB" sz="1200" spc="-9" dirty="0">
                <a:solidFill>
                  <a:schemeClr val="bg1"/>
                </a:solidFill>
                <a:latin typeface="Funnel Sans Medium" pitchFamily="2" charset="0"/>
              </a:defRPr>
            </a:lvl1pPr>
          </a:lstStyle>
          <a:p>
            <a:pPr marL="0" lvl="0" indent="0">
              <a:buNone/>
            </a:pPr>
            <a:r>
              <a:rPr lang="en-US"/>
              <a:t>Section One</a:t>
            </a:r>
            <a:endParaRPr lang="en-GB"/>
          </a:p>
        </p:txBody>
      </p:sp>
      <p:sp>
        <p:nvSpPr>
          <p:cNvPr id="27" name="Text Placeholder 24">
            <a:extLst>
              <a:ext uri="{FF2B5EF4-FFF2-40B4-BE49-F238E27FC236}">
                <a16:creationId xmlns:a16="http://schemas.microsoft.com/office/drawing/2014/main" id="{13899FB2-FBD1-4075-123F-B4536AB49CE9}"/>
              </a:ext>
            </a:extLst>
          </p:cNvPr>
          <p:cNvSpPr>
            <a:spLocks noGrp="1"/>
          </p:cNvSpPr>
          <p:nvPr>
            <p:ph type="body" sz="quarter" idx="13" hasCustomPrompt="1"/>
          </p:nvPr>
        </p:nvSpPr>
        <p:spPr>
          <a:xfrm>
            <a:off x="257178" y="336095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Two</a:t>
            </a:r>
            <a:endParaRPr lang="en-GB"/>
          </a:p>
        </p:txBody>
      </p:sp>
      <p:sp>
        <p:nvSpPr>
          <p:cNvPr id="28" name="Text Placeholder 24">
            <a:extLst>
              <a:ext uri="{FF2B5EF4-FFF2-40B4-BE49-F238E27FC236}">
                <a16:creationId xmlns:a16="http://schemas.microsoft.com/office/drawing/2014/main" id="{D2431CCB-56DE-6E4B-FFA1-297FA4232DEE}"/>
              </a:ext>
            </a:extLst>
          </p:cNvPr>
          <p:cNvSpPr>
            <a:spLocks noGrp="1"/>
          </p:cNvSpPr>
          <p:nvPr>
            <p:ph type="body" sz="quarter" idx="14" hasCustomPrompt="1"/>
          </p:nvPr>
        </p:nvSpPr>
        <p:spPr>
          <a:xfrm>
            <a:off x="257178" y="365429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Three</a:t>
            </a:r>
            <a:endParaRPr lang="en-GB"/>
          </a:p>
        </p:txBody>
      </p:sp>
    </p:spTree>
    <p:extLst>
      <p:ext uri="{BB962C8B-B14F-4D97-AF65-F5344CB8AC3E}">
        <p14:creationId xmlns:p14="http://schemas.microsoft.com/office/powerpoint/2010/main" val="4038904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Page-3">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03D0F0-7052-5160-A771-5119F33D0FA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8DEDDD5D-8453-021D-0AFE-5BD4B5D976D5}"/>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0E650826-C49B-4E4D-633C-3F0654915E1A}"/>
              </a:ext>
            </a:extLst>
          </p:cNvPr>
          <p:cNvSpPr>
            <a:spLocks noGrp="1"/>
          </p:cNvSpPr>
          <p:nvPr>
            <p:ph type="subTitle" idx="1" hasCustomPrompt="1"/>
          </p:nvPr>
        </p:nvSpPr>
        <p:spPr>
          <a:xfrm>
            <a:off x="257179" y="1091036"/>
            <a:ext cx="10131425" cy="158693"/>
          </a:xfrm>
        </p:spPr>
        <p:txBody>
          <a:bodyPr/>
          <a:lstStyle>
            <a:lvl1pPr marL="0" indent="0" algn="l">
              <a:buNone/>
              <a:defRPr sz="1200" spc="-1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Agenda or Date</a:t>
            </a:r>
          </a:p>
        </p:txBody>
      </p:sp>
      <p:sp>
        <p:nvSpPr>
          <p:cNvPr id="9" name="Table Placeholder 8">
            <a:extLst>
              <a:ext uri="{FF2B5EF4-FFF2-40B4-BE49-F238E27FC236}">
                <a16:creationId xmlns:a16="http://schemas.microsoft.com/office/drawing/2014/main" id="{45FB2E71-CF98-96CB-FAEB-10749E7CDB00}"/>
              </a:ext>
            </a:extLst>
          </p:cNvPr>
          <p:cNvSpPr>
            <a:spLocks noGrp="1"/>
          </p:cNvSpPr>
          <p:nvPr>
            <p:ph type="tbl" sz="quarter" idx="12"/>
          </p:nvPr>
        </p:nvSpPr>
        <p:spPr>
          <a:xfrm>
            <a:off x="257179" y="1396445"/>
            <a:ext cx="10131425" cy="3835400"/>
          </a:xfrm>
        </p:spPr>
        <p:txBody>
          <a:bodyPr/>
          <a:lstStyle/>
          <a:p>
            <a:endParaRPr lang="en-GB"/>
          </a:p>
        </p:txBody>
      </p:sp>
      <p:grpSp>
        <p:nvGrpSpPr>
          <p:cNvPr id="2" name="Graphic 8">
            <a:extLst>
              <a:ext uri="{FF2B5EF4-FFF2-40B4-BE49-F238E27FC236}">
                <a16:creationId xmlns:a16="http://schemas.microsoft.com/office/drawing/2014/main" id="{90A17A9B-0C48-1515-ED38-C14C78957454}"/>
              </a:ext>
            </a:extLst>
          </p:cNvPr>
          <p:cNvGrpSpPr/>
          <p:nvPr userDrawn="1"/>
        </p:nvGrpSpPr>
        <p:grpSpPr>
          <a:xfrm>
            <a:off x="257178" y="255588"/>
            <a:ext cx="895347" cy="306976"/>
            <a:chOff x="257178" y="255588"/>
            <a:chExt cx="895347" cy="306976"/>
          </a:xfrm>
          <a:solidFill>
            <a:schemeClr val="bg1"/>
          </a:solidFill>
        </p:grpSpPr>
        <p:sp>
          <p:nvSpPr>
            <p:cNvPr id="5" name="Free-form: Shape 4">
              <a:extLst>
                <a:ext uri="{FF2B5EF4-FFF2-40B4-BE49-F238E27FC236}">
                  <a16:creationId xmlns:a16="http://schemas.microsoft.com/office/drawing/2014/main" id="{B92FA4EC-976C-DA82-9504-58AF70C402D3}"/>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D4B48300-E7E6-EC2C-F589-F5BBD059681E}"/>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EA2FCC75-9BAA-C54B-469C-5E1CD96B6EF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C1D0F2D6-F69A-C4D1-35DD-13FBD7B25F12}"/>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1FE0DA3-BFBB-5A05-D3B9-D06A9C5F5B8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4C3D3FD-92BD-87C8-7BEF-78648536719E}"/>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914ED9B-9040-1DAC-207F-44855782ED81}"/>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A545CE9-1F2E-C4DF-A288-6E0D73E2ABC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3B2B45-E164-0EA4-0C09-6DCA12389939}"/>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24F9729-F8E5-AF5F-4B62-28C93CE603C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1949081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with Left Im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4025712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Quote with Left Imag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42363201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with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3569477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line with Two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3648650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amp; Body with Im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33788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Headline &amp; Body with Image-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055132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mp; Body with Im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9" name="Text Placeholder 18">
            <a:extLst>
              <a:ext uri="{FF2B5EF4-FFF2-40B4-BE49-F238E27FC236}">
                <a16:creationId xmlns:a16="http://schemas.microsoft.com/office/drawing/2014/main" id="{CA6B0C59-8056-303C-E693-D8259BDDE613}"/>
              </a:ext>
            </a:extLst>
          </p:cNvPr>
          <p:cNvSpPr>
            <a:spLocks noGrp="1"/>
          </p:cNvSpPr>
          <p:nvPr>
            <p:ph type="body" sz="quarter" idx="16"/>
          </p:nvPr>
        </p:nvSpPr>
        <p:spPr>
          <a:xfrm>
            <a:off x="257175" y="3299031"/>
            <a:ext cx="3753993" cy="3301794"/>
          </a:xfrm>
        </p:spPr>
        <p:txBody>
          <a:bodyPr/>
          <a:lstStyle>
            <a:lvl1pPr marL="237744">
              <a:lnSpc>
                <a:spcPct val="93000"/>
              </a:lnSpc>
              <a:spcBef>
                <a:spcPts val="1000"/>
              </a:spcBef>
              <a:defRPr sz="1200" spc="-17">
                <a:solidFill>
                  <a:schemeClr val="tx2"/>
                </a:solidFill>
              </a:defRPr>
            </a:lvl1pPr>
            <a:lvl2pPr marL="402336">
              <a:lnSpc>
                <a:spcPct val="93000"/>
              </a:lnSpc>
              <a:spcBef>
                <a:spcPts val="1000"/>
              </a:spcBef>
              <a:defRPr sz="1200" spc="-17">
                <a:solidFill>
                  <a:schemeClr val="tx2"/>
                </a:solidFill>
              </a:defRPr>
            </a:lvl2pPr>
            <a:lvl3pPr marL="585216">
              <a:lnSpc>
                <a:spcPct val="93000"/>
              </a:lnSpc>
              <a:spcBef>
                <a:spcPts val="1000"/>
              </a:spcBef>
              <a:defRPr sz="1200" spc="-17">
                <a:solidFill>
                  <a:schemeClr val="tx2"/>
                </a:solidFill>
              </a:defRPr>
            </a:lvl3pPr>
            <a:lvl4pPr marL="768096">
              <a:lnSpc>
                <a:spcPct val="93000"/>
              </a:lnSpc>
              <a:spcBef>
                <a:spcPts val="1000"/>
              </a:spcBef>
              <a:defRPr sz="1200" spc="-17">
                <a:solidFill>
                  <a:schemeClr val="tx2"/>
                </a:solidFill>
              </a:defRPr>
            </a:lvl4pPr>
            <a:lvl5pPr marL="950976">
              <a:lnSpc>
                <a:spcPct val="93000"/>
              </a:lnSpc>
              <a:spcBef>
                <a:spcPts val="1000"/>
              </a:spcBef>
              <a:defRPr sz="12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24">
            <a:extLst>
              <a:ext uri="{FF2B5EF4-FFF2-40B4-BE49-F238E27FC236}">
                <a16:creationId xmlns:a16="http://schemas.microsoft.com/office/drawing/2014/main" id="{6E77B6E7-D661-181A-C34B-26EF05233EBA}"/>
              </a:ext>
            </a:extLst>
          </p:cNvPr>
          <p:cNvSpPr>
            <a:spLocks noGrp="1"/>
          </p:cNvSpPr>
          <p:nvPr>
            <p:ph type="body" sz="quarter" idx="13" hasCustomPrompt="1"/>
          </p:nvPr>
        </p:nvSpPr>
        <p:spPr>
          <a:xfrm>
            <a:off x="257180" y="2938535"/>
            <a:ext cx="3753871"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Tree>
    <p:extLst>
      <p:ext uri="{BB962C8B-B14F-4D97-AF65-F5344CB8AC3E}">
        <p14:creationId xmlns:p14="http://schemas.microsoft.com/office/powerpoint/2010/main" val="2121751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with Image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3865648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hree Column with Images-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33502151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with Images-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D087A9-08E7-6C44-BF3A-F150866106EC}"/>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71689407-E72F-B7C0-5F24-2EB64881AF1B}"/>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DEC308B-3AA4-6AD2-F3B3-058F2A28654F}"/>
              </a:ext>
            </a:extLst>
          </p:cNvPr>
          <p:cNvSpPr>
            <a:spLocks noGrp="1"/>
          </p:cNvSpPr>
          <p:nvPr>
            <p:ph type="subTitle" idx="1" hasCustomPrompt="1"/>
          </p:nvPr>
        </p:nvSpPr>
        <p:spPr>
          <a:xfrm>
            <a:off x="257178" y="1088496"/>
            <a:ext cx="3803647"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Our Values</a:t>
            </a:r>
            <a:endParaRPr lang="en-GB"/>
          </a:p>
        </p:txBody>
      </p:sp>
      <p:sp>
        <p:nvSpPr>
          <p:cNvPr id="8" name="Text Placeholder 18">
            <a:extLst>
              <a:ext uri="{FF2B5EF4-FFF2-40B4-BE49-F238E27FC236}">
                <a16:creationId xmlns:a16="http://schemas.microsoft.com/office/drawing/2014/main" id="{E0117899-3E76-D3F5-0D23-B952DA57678D}"/>
              </a:ext>
            </a:extLst>
          </p:cNvPr>
          <p:cNvSpPr>
            <a:spLocks noGrp="1"/>
          </p:cNvSpPr>
          <p:nvPr>
            <p:ph type="body" sz="quarter" idx="16"/>
          </p:nvPr>
        </p:nvSpPr>
        <p:spPr>
          <a:xfrm>
            <a:off x="257175"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33">
            <a:extLst>
              <a:ext uri="{FF2B5EF4-FFF2-40B4-BE49-F238E27FC236}">
                <a16:creationId xmlns:a16="http://schemas.microsoft.com/office/drawing/2014/main" id="{47E5F4DB-7207-C400-8FC3-3AF767281D2D}"/>
              </a:ext>
            </a:extLst>
          </p:cNvPr>
          <p:cNvSpPr>
            <a:spLocks noGrp="1"/>
          </p:cNvSpPr>
          <p:nvPr>
            <p:ph type="pic" sz="quarter" idx="21"/>
          </p:nvPr>
        </p:nvSpPr>
        <p:spPr>
          <a:xfrm>
            <a:off x="257175" y="1879599"/>
            <a:ext cx="3803650" cy="2908300"/>
          </a:xfrm>
          <a:prstGeom prst="roundRect">
            <a:avLst>
              <a:gd name="adj" fmla="val 3567"/>
            </a:avLst>
          </a:prstGeom>
        </p:spPr>
        <p:txBody>
          <a:bodyPr/>
          <a:lstStyle/>
          <a:p>
            <a:endParaRPr lang="en-GB"/>
          </a:p>
        </p:txBody>
      </p:sp>
      <p:sp>
        <p:nvSpPr>
          <p:cNvPr id="10" name="Picture Placeholder 33">
            <a:extLst>
              <a:ext uri="{FF2B5EF4-FFF2-40B4-BE49-F238E27FC236}">
                <a16:creationId xmlns:a16="http://schemas.microsoft.com/office/drawing/2014/main" id="{AC2F4AC6-1718-66CC-B3E7-9C6D2CFE59D9}"/>
              </a:ext>
            </a:extLst>
          </p:cNvPr>
          <p:cNvSpPr>
            <a:spLocks noGrp="1"/>
          </p:cNvSpPr>
          <p:nvPr>
            <p:ph type="pic" sz="quarter" idx="22"/>
          </p:nvPr>
        </p:nvSpPr>
        <p:spPr>
          <a:xfrm>
            <a:off x="4194141" y="1879599"/>
            <a:ext cx="3803650" cy="2908300"/>
          </a:xfrm>
          <a:prstGeom prst="roundRect">
            <a:avLst>
              <a:gd name="adj" fmla="val 3567"/>
            </a:avLst>
          </a:prstGeom>
        </p:spPr>
        <p:txBody>
          <a:bodyPr/>
          <a:lstStyle/>
          <a:p>
            <a:endParaRPr lang="en-GB"/>
          </a:p>
        </p:txBody>
      </p:sp>
      <p:sp>
        <p:nvSpPr>
          <p:cNvPr id="11" name="Picture Placeholder 33">
            <a:extLst>
              <a:ext uri="{FF2B5EF4-FFF2-40B4-BE49-F238E27FC236}">
                <a16:creationId xmlns:a16="http://schemas.microsoft.com/office/drawing/2014/main" id="{836F6D11-A1CF-A88C-B5A0-6A0A4E3FAE7C}"/>
              </a:ext>
            </a:extLst>
          </p:cNvPr>
          <p:cNvSpPr>
            <a:spLocks noGrp="1"/>
          </p:cNvSpPr>
          <p:nvPr>
            <p:ph type="pic" sz="quarter" idx="23"/>
          </p:nvPr>
        </p:nvSpPr>
        <p:spPr>
          <a:xfrm>
            <a:off x="8131171" y="1879599"/>
            <a:ext cx="3803650" cy="2908300"/>
          </a:xfrm>
          <a:prstGeom prst="roundRect">
            <a:avLst>
              <a:gd name="adj" fmla="val 3567"/>
            </a:avLst>
          </a:prstGeom>
        </p:spPr>
        <p:txBody>
          <a:bodyPr/>
          <a:lstStyle/>
          <a:p>
            <a:endParaRPr lang="en-GB"/>
          </a:p>
        </p:txBody>
      </p:sp>
      <p:sp>
        <p:nvSpPr>
          <p:cNvPr id="12" name="Text Placeholder 18">
            <a:extLst>
              <a:ext uri="{FF2B5EF4-FFF2-40B4-BE49-F238E27FC236}">
                <a16:creationId xmlns:a16="http://schemas.microsoft.com/office/drawing/2014/main" id="{B23F71E5-5599-C507-0217-57BC661E72F1}"/>
              </a:ext>
            </a:extLst>
          </p:cNvPr>
          <p:cNvSpPr>
            <a:spLocks noGrp="1"/>
          </p:cNvSpPr>
          <p:nvPr>
            <p:ph type="body" sz="quarter" idx="24"/>
          </p:nvPr>
        </p:nvSpPr>
        <p:spPr>
          <a:xfrm>
            <a:off x="4194141"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18">
            <a:extLst>
              <a:ext uri="{FF2B5EF4-FFF2-40B4-BE49-F238E27FC236}">
                <a16:creationId xmlns:a16="http://schemas.microsoft.com/office/drawing/2014/main" id="{62143D84-C449-472E-13E7-11DD5B739482}"/>
              </a:ext>
            </a:extLst>
          </p:cNvPr>
          <p:cNvSpPr>
            <a:spLocks noGrp="1"/>
          </p:cNvSpPr>
          <p:nvPr>
            <p:ph type="body" sz="quarter" idx="25"/>
          </p:nvPr>
        </p:nvSpPr>
        <p:spPr>
          <a:xfrm>
            <a:off x="8131107"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4220813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217052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our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8201566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114341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hree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3259600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7475575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20766641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560194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our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3963697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eces of Data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a:t>
            </a:r>
            <a:br>
              <a:rPr lang="en-US"/>
            </a:br>
            <a:r>
              <a:rPr lang="en-US"/>
              <a:t>pieces of data</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8127809" y="1355663"/>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8" name="Text Placeholder 18">
            <a:extLst>
              <a:ext uri="{FF2B5EF4-FFF2-40B4-BE49-F238E27FC236}">
                <a16:creationId xmlns:a16="http://schemas.microsoft.com/office/drawing/2014/main" id="{732AC2A8-0CD2-B276-6ECA-49CF1F7D958F}"/>
              </a:ext>
            </a:extLst>
          </p:cNvPr>
          <p:cNvSpPr>
            <a:spLocks noGrp="1"/>
          </p:cNvSpPr>
          <p:nvPr>
            <p:ph type="body" sz="quarter" idx="21"/>
          </p:nvPr>
        </p:nvSpPr>
        <p:spPr>
          <a:xfrm>
            <a:off x="257181" y="2395728"/>
            <a:ext cx="4028947" cy="3239654"/>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9" name="Text Placeholder 24">
            <a:extLst>
              <a:ext uri="{FF2B5EF4-FFF2-40B4-BE49-F238E27FC236}">
                <a16:creationId xmlns:a16="http://schemas.microsoft.com/office/drawing/2014/main" id="{EAA277A7-7321-7A88-5F93-190B60652EE1}"/>
              </a:ext>
            </a:extLst>
          </p:cNvPr>
          <p:cNvSpPr>
            <a:spLocks noGrp="1"/>
          </p:cNvSpPr>
          <p:nvPr>
            <p:ph type="body" sz="quarter" idx="22" hasCustomPrompt="1"/>
          </p:nvPr>
        </p:nvSpPr>
        <p:spPr>
          <a:xfrm>
            <a:off x="8127809" y="2149184"/>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0" name="Text Placeholder 24">
            <a:extLst>
              <a:ext uri="{FF2B5EF4-FFF2-40B4-BE49-F238E27FC236}">
                <a16:creationId xmlns:a16="http://schemas.microsoft.com/office/drawing/2014/main" id="{13238D00-3EAE-DC62-E521-5E63FD0B9BE9}"/>
              </a:ext>
            </a:extLst>
          </p:cNvPr>
          <p:cNvSpPr>
            <a:spLocks noGrp="1"/>
          </p:cNvSpPr>
          <p:nvPr>
            <p:ph type="body" sz="quarter" idx="23" hasCustomPrompt="1"/>
          </p:nvPr>
        </p:nvSpPr>
        <p:spPr>
          <a:xfrm>
            <a:off x="8127809" y="2992341"/>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1" name="Text Placeholder 24">
            <a:extLst>
              <a:ext uri="{FF2B5EF4-FFF2-40B4-BE49-F238E27FC236}">
                <a16:creationId xmlns:a16="http://schemas.microsoft.com/office/drawing/2014/main" id="{8CF5F73C-4783-7687-CD38-BDAE75533690}"/>
              </a:ext>
            </a:extLst>
          </p:cNvPr>
          <p:cNvSpPr>
            <a:spLocks noGrp="1"/>
          </p:cNvSpPr>
          <p:nvPr>
            <p:ph type="body" sz="quarter" idx="24" hasCustomPrompt="1"/>
          </p:nvPr>
        </p:nvSpPr>
        <p:spPr>
          <a:xfrm>
            <a:off x="8127809" y="3785862"/>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2" name="Text Placeholder 24">
            <a:extLst>
              <a:ext uri="{FF2B5EF4-FFF2-40B4-BE49-F238E27FC236}">
                <a16:creationId xmlns:a16="http://schemas.microsoft.com/office/drawing/2014/main" id="{5D47E480-92FD-B068-A30D-AB1FCD626A96}"/>
              </a:ext>
            </a:extLst>
          </p:cNvPr>
          <p:cNvSpPr>
            <a:spLocks noGrp="1"/>
          </p:cNvSpPr>
          <p:nvPr>
            <p:ph type="body" sz="quarter" idx="25" hasCustomPrompt="1"/>
          </p:nvPr>
        </p:nvSpPr>
        <p:spPr>
          <a:xfrm>
            <a:off x="8127809" y="4623196"/>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3" name="Text Placeholder 24">
            <a:extLst>
              <a:ext uri="{FF2B5EF4-FFF2-40B4-BE49-F238E27FC236}">
                <a16:creationId xmlns:a16="http://schemas.microsoft.com/office/drawing/2014/main" id="{331C8AFE-CB23-661B-7C14-586A53BBD679}"/>
              </a:ext>
            </a:extLst>
          </p:cNvPr>
          <p:cNvSpPr>
            <a:spLocks noGrp="1"/>
          </p:cNvSpPr>
          <p:nvPr>
            <p:ph type="body" sz="quarter" idx="26" hasCustomPrompt="1"/>
          </p:nvPr>
        </p:nvSpPr>
        <p:spPr>
          <a:xfrm>
            <a:off x="8127809" y="5416717"/>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Tree>
    <p:extLst>
      <p:ext uri="{BB962C8B-B14F-4D97-AF65-F5344CB8AC3E}">
        <p14:creationId xmlns:p14="http://schemas.microsoft.com/office/powerpoint/2010/main" val="4794359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FC1-1303-072F-1268-89AE9D9D646C}"/>
              </a:ext>
            </a:extLst>
          </p:cNvPr>
          <p:cNvSpPr>
            <a:spLocks noGrp="1"/>
          </p:cNvSpPr>
          <p:nvPr>
            <p:ph type="title"/>
          </p:nvPr>
        </p:nvSpPr>
        <p:spPr/>
        <p:txBody>
          <a:bodyPr/>
          <a:lstStyle/>
          <a:p>
            <a:r>
              <a:rPr lang="en-GB"/>
              <a:t>Click to edit Master title style</a:t>
            </a:r>
          </a:p>
        </p:txBody>
      </p:sp>
      <p:sp>
        <p:nvSpPr>
          <p:cNvPr id="3" name="Footer Placeholder 2">
            <a:extLst>
              <a:ext uri="{FF2B5EF4-FFF2-40B4-BE49-F238E27FC236}">
                <a16:creationId xmlns:a16="http://schemas.microsoft.com/office/drawing/2014/main" id="{58ADFD45-BBA2-0FD1-6247-2B24FE11A9A3}"/>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ACA83A8C-033D-5957-3864-393DC98EAFF4}"/>
              </a:ext>
            </a:extLst>
          </p:cNvPr>
          <p:cNvSpPr>
            <a:spLocks noGrp="1"/>
          </p:cNvSpPr>
          <p:nvPr>
            <p:ph type="sldNum" sz="quarter" idx="11"/>
          </p:nvPr>
        </p:nvSpPr>
        <p:spPr/>
        <p:txBody>
          <a:bodyPr/>
          <a:lstStyle/>
          <a:p>
            <a:fld id="{F41E5F93-45D3-472F-9EA1-BCB47A04FF6B}" type="slidenum">
              <a:rPr lang="en-GB" smtClean="0"/>
              <a:pPr/>
              <a:t>‹#›</a:t>
            </a:fld>
            <a:endParaRPr lang="en-GB"/>
          </a:p>
        </p:txBody>
      </p:sp>
    </p:spTree>
    <p:extLst>
      <p:ext uri="{BB962C8B-B14F-4D97-AF65-F5344CB8AC3E}">
        <p14:creationId xmlns:p14="http://schemas.microsoft.com/office/powerpoint/2010/main" val="19101767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33642-E6A3-4C5F-3A36-9FEF361F5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BD7D81-BE25-A6F1-3032-60F7A1E49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F26E0BC-72C0-DE90-5A98-38BAC9CA3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D36855-D560-7AF2-9CB7-00E82541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CFF174-0C8B-41F2-9A46-1C3276C99A0F}" type="slidenum">
              <a:rPr lang="en-US" smtClean="0"/>
              <a:t>‹#›</a:t>
            </a:fld>
            <a:endParaRPr lang="en-US"/>
          </a:p>
        </p:txBody>
      </p:sp>
    </p:spTree>
    <p:extLst>
      <p:ext uri="{BB962C8B-B14F-4D97-AF65-F5344CB8AC3E}">
        <p14:creationId xmlns:p14="http://schemas.microsoft.com/office/powerpoint/2010/main" val="15724616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17050-C30C-E74C-C1F5-1B4FC8F3DACC}"/>
              </a:ext>
            </a:extLst>
          </p:cNvPr>
          <p:cNvSpPr>
            <a:spLocks noGrp="1"/>
          </p:cNvSpPr>
          <p:nvPr>
            <p:ph type="title"/>
          </p:nvPr>
        </p:nvSpPr>
        <p:spPr>
          <a:xfrm>
            <a:off x="261111" y="1389953"/>
            <a:ext cx="11673713" cy="774128"/>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B769E737-7895-43E7-91EE-24C987662CD7}"/>
              </a:ext>
            </a:extLst>
          </p:cNvPr>
          <p:cNvSpPr>
            <a:spLocks noGrp="1"/>
          </p:cNvSpPr>
          <p:nvPr>
            <p:ph type="body" idx="1"/>
          </p:nvPr>
        </p:nvSpPr>
        <p:spPr>
          <a:xfrm>
            <a:off x="261111" y="2335371"/>
            <a:ext cx="11673712" cy="370982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ACFCE6EB-5441-53CA-2FEE-EBCF971E1B92}"/>
              </a:ext>
            </a:extLst>
          </p:cNvPr>
          <p:cNvSpPr>
            <a:spLocks noGrp="1"/>
          </p:cNvSpPr>
          <p:nvPr>
            <p:ph type="ftr" sz="quarter" idx="3"/>
          </p:nvPr>
        </p:nvSpPr>
        <p:spPr>
          <a:xfrm>
            <a:off x="10108812" y="255984"/>
            <a:ext cx="871608" cy="133985"/>
          </a:xfrm>
          <a:prstGeom prst="rect">
            <a:avLst/>
          </a:prstGeom>
        </p:spPr>
        <p:txBody>
          <a:bodyPr vert="horz" lIns="0" tIns="0" rIns="0" bIns="0" rtlCol="0" anchor="ctr">
            <a:noAutofit/>
          </a:bodyPr>
          <a:lstStyle>
            <a:lvl1pPr algn="l">
              <a:defRPr sz="900" spc="-39">
                <a:solidFill>
                  <a:schemeClr val="tx2"/>
                </a:solidFill>
              </a:defRPr>
            </a:lvl1pPr>
          </a:lstStyle>
          <a:p>
            <a:r>
              <a:rPr lang="en-US"/>
              <a:t>Confidential</a:t>
            </a:r>
            <a:endParaRPr lang="en-GB"/>
          </a:p>
        </p:txBody>
      </p:sp>
      <p:sp>
        <p:nvSpPr>
          <p:cNvPr id="6" name="Slide Number Placeholder 5">
            <a:extLst>
              <a:ext uri="{FF2B5EF4-FFF2-40B4-BE49-F238E27FC236}">
                <a16:creationId xmlns:a16="http://schemas.microsoft.com/office/drawing/2014/main" id="{8686E8A7-6991-B8DA-83B1-EBCD0C2AD733}"/>
              </a:ext>
            </a:extLst>
          </p:cNvPr>
          <p:cNvSpPr>
            <a:spLocks noGrp="1"/>
          </p:cNvSpPr>
          <p:nvPr>
            <p:ph type="sldNum" sz="quarter" idx="4"/>
          </p:nvPr>
        </p:nvSpPr>
        <p:spPr>
          <a:xfrm>
            <a:off x="11628119" y="255984"/>
            <a:ext cx="306703" cy="133985"/>
          </a:xfrm>
          <a:prstGeom prst="rect">
            <a:avLst/>
          </a:prstGeom>
        </p:spPr>
        <p:txBody>
          <a:bodyPr vert="horz" lIns="0" tIns="0" rIns="0" bIns="0" rtlCol="0" anchor="ctr">
            <a:noAutofit/>
          </a:bodyPr>
          <a:lstStyle>
            <a:lvl1pPr algn="r">
              <a:defRPr lang="en-GB" sz="900" spc="-39" smtClean="0">
                <a:solidFill>
                  <a:schemeClr val="tx2"/>
                </a:solidFill>
              </a:defRPr>
            </a:lvl1pPr>
          </a:lstStyle>
          <a:p>
            <a:fld id="{F41E5F93-45D3-472F-9EA1-BCB47A04FF6B}" type="slidenum">
              <a:rPr lang="en-GB" smtClean="0"/>
              <a:pPr/>
              <a:t>‹#›</a:t>
            </a:fld>
            <a:endParaRPr lang="en-GB"/>
          </a:p>
        </p:txBody>
      </p:sp>
      <p:grpSp>
        <p:nvGrpSpPr>
          <p:cNvPr id="10" name="Graphic 8">
            <a:extLst>
              <a:ext uri="{FF2B5EF4-FFF2-40B4-BE49-F238E27FC236}">
                <a16:creationId xmlns:a16="http://schemas.microsoft.com/office/drawing/2014/main" id="{D8A8E73E-4DB6-FA58-001E-2368A417CCAB}"/>
              </a:ext>
            </a:extLst>
          </p:cNvPr>
          <p:cNvGrpSpPr/>
          <p:nvPr/>
        </p:nvGrpSpPr>
        <p:grpSpPr>
          <a:xfrm>
            <a:off x="257178" y="255588"/>
            <a:ext cx="895347" cy="306976"/>
            <a:chOff x="257178" y="255588"/>
            <a:chExt cx="895347" cy="306976"/>
          </a:xfrm>
          <a:solidFill>
            <a:srgbClr val="000000"/>
          </a:solidFill>
        </p:grpSpPr>
        <p:sp>
          <p:nvSpPr>
            <p:cNvPr id="11" name="Free-form: Shape 10">
              <a:extLst>
                <a:ext uri="{FF2B5EF4-FFF2-40B4-BE49-F238E27FC236}">
                  <a16:creationId xmlns:a16="http://schemas.microsoft.com/office/drawing/2014/main" id="{3EB496F3-A661-4DBF-0232-FCB4C123B86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solidFill>
              <a:srgbClr val="000000"/>
            </a:solid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5404865-E213-33CC-D712-771E46F7FD66}"/>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solidFill>
              <a:srgbClr val="000000"/>
            </a:solid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6CFE573-0387-CB48-F17A-213B6C9CA16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solidFill>
              <a:srgbClr val="000000"/>
            </a:solid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B9D01A-1C1B-7B67-291A-A8524BBF96BB}"/>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solidFill>
              <a:srgbClr val="000000"/>
            </a:solid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403EE07-5ED7-8C84-947B-7AE4F4EF6F5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solidFill>
              <a:srgbClr val="000000"/>
            </a:solid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2F9F18C-FA01-2F12-DDEF-7C2431B88C17}"/>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solidFill>
              <a:srgbClr val="000000"/>
            </a:solidFill>
            <a:ln w="6327"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A5A8A2-DE91-8B1C-6FF3-41BEF31A4D88}"/>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solidFill>
              <a:srgbClr val="000000"/>
            </a:solidFill>
            <a:ln w="6327"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BDD56E3-1929-5137-04FF-F77B9406C158}"/>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solidFill>
              <a:srgbClr val="000000"/>
            </a:solidFill>
            <a:ln w="6327"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5D71F2B-6D4E-D00D-1133-C56670C78B58}"/>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solidFill>
              <a:srgbClr val="000000"/>
            </a:solidFill>
            <a:ln w="6327"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93D9C17-8D66-0E81-4046-4F54E2BC65A0}"/>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solidFill>
              <a:srgbClr val="000000"/>
            </a:solid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235705294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Lst>
  <p:hf hdr="0"/>
  <p:txStyles>
    <p:titleStyle>
      <a:lvl1pPr algn="l" defTabSz="914400" rtl="0" eaLnBrk="1" latinLnBrk="0" hangingPunct="1">
        <a:lnSpc>
          <a:spcPct val="96000"/>
        </a:lnSpc>
        <a:spcBef>
          <a:spcPts val="1000"/>
        </a:spcBef>
        <a:buNone/>
        <a:defRPr sz="2400" kern="1200">
          <a:solidFill>
            <a:schemeClr val="tx1"/>
          </a:solidFill>
          <a:latin typeface="+mj-lt"/>
          <a:ea typeface="+mj-ea"/>
          <a:cs typeface="+mj-cs"/>
        </a:defRPr>
      </a:lvl1pPr>
    </p:titleStyle>
    <p:bodyStyle>
      <a:lvl1pPr marL="0" indent="-146304" algn="l" defTabSz="914400" rtl="0" eaLnBrk="1" latinLnBrk="0" hangingPunct="1">
        <a:lnSpc>
          <a:spcPct val="90000"/>
        </a:lnSpc>
        <a:spcBef>
          <a:spcPts val="1000"/>
        </a:spcBef>
        <a:buFont typeface="Arial" panose="020B0604020202020204" pitchFamily="34" charset="0"/>
        <a:buChar char="•"/>
        <a:defRPr sz="1050" kern="1200">
          <a:solidFill>
            <a:schemeClr val="tx2"/>
          </a:solidFill>
          <a:latin typeface="+mn-lt"/>
          <a:ea typeface="+mn-ea"/>
          <a:cs typeface="+mn-cs"/>
        </a:defRPr>
      </a:lvl1pPr>
      <a:lvl2pPr marL="32004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2pPr>
      <a:lvl3pPr marL="50292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3pPr>
      <a:lvl4pPr marL="68580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4pPr>
      <a:lvl5pPr marL="86868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462901"/>
          </p15:clr>
        </p15:guide>
        <p15:guide id="2" pos="7680">
          <p15:clr>
            <a:srgbClr val="462901"/>
          </p15:clr>
        </p15:guide>
        <p15:guide id="3" pos="161">
          <p15:clr>
            <a:srgbClr val="462901"/>
          </p15:clr>
        </p15:guide>
        <p15:guide id="4" pos="1935">
          <p15:clr>
            <a:srgbClr val="462901"/>
          </p15:clr>
        </p15:guide>
        <p15:guide id="5" pos="2022">
          <p15:clr>
            <a:srgbClr val="462901"/>
          </p15:clr>
        </p15:guide>
        <p15:guide id="6" pos="3796">
          <p15:clr>
            <a:srgbClr val="462901"/>
          </p15:clr>
        </p15:guide>
        <p15:guide id="7" pos="3883">
          <p15:clr>
            <a:srgbClr val="462901"/>
          </p15:clr>
        </p15:guide>
        <p15:guide id="8" pos="5657">
          <p15:clr>
            <a:srgbClr val="462901"/>
          </p15:clr>
        </p15:guide>
        <p15:guide id="9" pos="5744">
          <p15:clr>
            <a:srgbClr val="462901"/>
          </p15:clr>
        </p15:guide>
        <p15:guide id="10" pos="7518">
          <p15:clr>
            <a:srgbClr val="462901"/>
          </p15:clr>
        </p15:guide>
        <p15:guide id="11" orient="horz">
          <p15:clr>
            <a:srgbClr val="462901"/>
          </p15:clr>
        </p15:guide>
        <p15:guide id="12" orient="horz" pos="4320">
          <p15:clr>
            <a:srgbClr val="462901"/>
          </p15:clr>
        </p15:guide>
        <p15:guide id="13" orient="horz" pos="161">
          <p15:clr>
            <a:srgbClr val="462901"/>
          </p15:clr>
        </p15:guide>
        <p15:guide id="14" orient="horz" pos="755">
          <p15:clr>
            <a:srgbClr val="462901"/>
          </p15:clr>
        </p15:guide>
        <p15:guide id="15" orient="horz" pos="841">
          <p15:clr>
            <a:srgbClr val="462901"/>
          </p15:clr>
        </p15:guide>
        <p15:guide id="16" orient="horz" pos="1436">
          <p15:clr>
            <a:srgbClr val="462901"/>
          </p15:clr>
        </p15:guide>
        <p15:guide id="17" orient="horz" pos="1522">
          <p15:clr>
            <a:srgbClr val="462901"/>
          </p15:clr>
        </p15:guide>
        <p15:guide id="18" orient="horz" pos="2116">
          <p15:clr>
            <a:srgbClr val="462901"/>
          </p15:clr>
        </p15:guide>
        <p15:guide id="19" orient="horz" pos="2203">
          <p15:clr>
            <a:srgbClr val="462901"/>
          </p15:clr>
        </p15:guide>
        <p15:guide id="20" orient="horz" pos="2797">
          <p15:clr>
            <a:srgbClr val="462901"/>
          </p15:clr>
        </p15:guide>
        <p15:guide id="21" orient="horz" pos="2883">
          <p15:clr>
            <a:srgbClr val="462901"/>
          </p15:clr>
        </p15:guide>
        <p15:guide id="22" orient="horz" pos="3478">
          <p15:clr>
            <a:srgbClr val="462901"/>
          </p15:clr>
        </p15:guide>
        <p15:guide id="23" orient="horz" pos="3564">
          <p15:clr>
            <a:srgbClr val="462901"/>
          </p15:clr>
        </p15:guide>
        <p15:guide id="24" orient="horz" pos="4158">
          <p15:clr>
            <a:srgbClr val="46290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pubmed.ncbi.nlm.nih.gov/36154291/" TargetMode="External"/><Relationship Id="rId7" Type="http://schemas.openxmlformats.org/officeDocument/2006/relationships/hyperlink" Target="https://aacrjournals.org/clincancerres/article/26/9/2188/83190/A-Novel-GUCY2C-CD3-T-Cell-Engaging-Bispecific" TargetMode="External"/><Relationship Id="rId2" Type="http://schemas.openxmlformats.org/officeDocument/2006/relationships/hyperlink" Target="https://doi.org/10.3390/cancers16234052" TargetMode="External"/><Relationship Id="rId1" Type="http://schemas.openxmlformats.org/officeDocument/2006/relationships/slideLayout" Target="../slideLayouts/slideLayout12.xml"/><Relationship Id="rId6" Type="http://schemas.openxmlformats.org/officeDocument/2006/relationships/hyperlink" Target="https://pmc.ncbi.nlm.nih.gov/articles/PMC11525548/" TargetMode="External"/><Relationship Id="rId11" Type="http://schemas.openxmlformats.org/officeDocument/2006/relationships/image" Target="../media/image19.png"/><Relationship Id="rId5" Type="http://schemas.openxmlformats.org/officeDocument/2006/relationships/hyperlink" Target="https://www.ncbi.nlm.nih.gov/pubmed/9867150" TargetMode="External"/><Relationship Id="rId10" Type="http://schemas.openxmlformats.org/officeDocument/2006/relationships/image" Target="../media/image18.png"/><Relationship Id="rId4" Type="http://schemas.openxmlformats.org/officeDocument/2006/relationships/hyperlink" Target="https://pubmed.ncbi.nlm.nih.gov/9867150/" TargetMode="External"/><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1.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0.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21.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2.jpeg"/><Relationship Id="rId7" Type="http://schemas.openxmlformats.org/officeDocument/2006/relationships/image" Target="../media/image11.png"/><Relationship Id="rId12" Type="http://schemas.openxmlformats.org/officeDocument/2006/relationships/hyperlink" Target="https://pmc.ncbi.nlm.nih.gov/articles/PMC5742255/"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15.png"/><Relationship Id="rId5" Type="http://schemas.openxmlformats.org/officeDocument/2006/relationships/image" Target="../media/image2.png"/><Relationship Id="rId10" Type="http://schemas.openxmlformats.org/officeDocument/2006/relationships/image" Target="../media/image14.png"/><Relationship Id="rId4" Type="http://schemas.openxmlformats.org/officeDocument/2006/relationships/image" Target="../media/image20.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pubmed.ncbi.nlm.nih.gov/9867150/" TargetMode="External"/><Relationship Id="rId1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12.png"/><Relationship Id="rId12" Type="http://schemas.openxmlformats.org/officeDocument/2006/relationships/hyperlink" Target="https://pubmed.ncbi.nlm.nih.gov/36154291/" TargetMode="External"/><Relationship Id="rId17" Type="http://schemas.openxmlformats.org/officeDocument/2006/relationships/image" Target="../media/image16.png"/><Relationship Id="rId2" Type="http://schemas.openxmlformats.org/officeDocument/2006/relationships/notesSlide" Target="../notesSlides/notesSlide3.xml"/><Relationship Id="rId16"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doi.org/10.3390/cancers16234052" TargetMode="External"/><Relationship Id="rId5" Type="http://schemas.openxmlformats.org/officeDocument/2006/relationships/image" Target="../media/image21.png"/><Relationship Id="rId15" Type="http://schemas.openxmlformats.org/officeDocument/2006/relationships/hyperlink" Target="https://aacrjournals.org/clincancerres/article/26/9/2188/83190/A-Novel-GUCY2C-CD3-T-Cell-Engaging-Bispecific" TargetMode="External"/><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www.ncbi.nlm.nih.gov/pubmed/9867150"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www.proteinatlas.org/ENSG00000105388-CEACAM5" TargetMode="External"/><Relationship Id="rId3" Type="http://schemas.openxmlformats.org/officeDocument/2006/relationships/image" Target="../media/image20.png"/><Relationship Id="rId7" Type="http://schemas.openxmlformats.org/officeDocument/2006/relationships/image" Target="../media/image12.png"/><Relationship Id="rId12" Type="http://schemas.openxmlformats.org/officeDocument/2006/relationships/hyperlink" Target="https://doi.org/10.3390/cancers16234052" TargetMode="External"/><Relationship Id="rId2" Type="http://schemas.openxmlformats.org/officeDocument/2006/relationships/notesSlide" Target="../notesSlides/notesSlide4.xml"/><Relationship Id="rId16" Type="http://schemas.openxmlformats.org/officeDocument/2006/relationships/hyperlink" Target="https://pubmed.ncbi.nlm.nih.gov/33199493/" TargetMode="Externa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doi.org/10.1038/s41598-023-34855-9" TargetMode="External"/><Relationship Id="rId5" Type="http://schemas.openxmlformats.org/officeDocument/2006/relationships/image" Target="../media/image21.png"/><Relationship Id="rId15" Type="http://schemas.openxmlformats.org/officeDocument/2006/relationships/hyperlink" Target="https://doi.org/10.1038/s41698-024-00599-6" TargetMode="External"/><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aacrjournals.org/clincancerres/article/26/9/2188/83190/A-Novel-GUCY2C-CD3-T-Cell-Engaging-Bispecific"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pubmed.ncbi.nlm.nih.gov/37913500/" TargetMode="External"/><Relationship Id="rId3" Type="http://schemas.openxmlformats.org/officeDocument/2006/relationships/image" Target="../media/image20.png"/><Relationship Id="rId7" Type="http://schemas.openxmlformats.org/officeDocument/2006/relationships/image" Target="../media/image12.png"/><Relationship Id="rId12" Type="http://schemas.openxmlformats.org/officeDocument/2006/relationships/hyperlink" Target="https://doi.org/10.1007/s00259-025-07321-z" TargetMode="External"/><Relationship Id="rId17" Type="http://schemas.openxmlformats.org/officeDocument/2006/relationships/image" Target="../media/image23.png"/><Relationship Id="rId2" Type="http://schemas.openxmlformats.org/officeDocument/2006/relationships/notesSlide" Target="../notesSlides/notesSlide5.xml"/><Relationship Id="rId16"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pubmed.ncbi.nlm.nih.gov/18855156/" TargetMode="External"/><Relationship Id="rId5" Type="http://schemas.openxmlformats.org/officeDocument/2006/relationships/image" Target="../media/image21.png"/><Relationship Id="rId15" Type="http://schemas.openxmlformats.org/officeDocument/2006/relationships/hyperlink" Target="https://pubmed.ncbi.nlm.nih.gov/36154291/" TargetMode="External"/><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pubmed.ncbi.nlm.nih.gov/18408925/"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pmc.ncbi.nlm.nih.gov/articles/PMC4543852" TargetMode="External"/><Relationship Id="rId13" Type="http://schemas.openxmlformats.org/officeDocument/2006/relationships/image" Target="../media/image11.png"/><Relationship Id="rId3" Type="http://schemas.openxmlformats.org/officeDocument/2006/relationships/hyperlink" Target="https://seer.cancer.gov/statfacts/html/colorect.html" TargetMode="External"/><Relationship Id="rId7" Type="http://schemas.openxmlformats.org/officeDocument/2006/relationships/hyperlink" Target="https://www.nature.com/articles/s41591-024-03254-6" TargetMode="External"/><Relationship Id="rId12" Type="http://schemas.openxmlformats.org/officeDocument/2006/relationships/image" Target="../media/image21.png"/><Relationship Id="rId17" Type="http://schemas.openxmlformats.org/officeDocument/2006/relationships/image" Target="../media/image15.png"/><Relationship Id="rId2" Type="http://schemas.openxmlformats.org/officeDocument/2006/relationships/hyperlink" Target="https://pmc.ncbi.nlm.nih.gov/articles/PMC10606209/" TargetMode="External"/><Relationship Id="rId16"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hyperlink" Target="https://www.mdpi.com/2073-4409/14/3/161" TargetMode="External"/><Relationship Id="rId11" Type="http://schemas.openxmlformats.org/officeDocument/2006/relationships/image" Target="../media/image2.png"/><Relationship Id="rId5" Type="http://schemas.openxmlformats.org/officeDocument/2006/relationships/hyperlink" Target="https://pmc.ncbi.nlm.nih.gov/articles/PMC10777930" TargetMode="External"/><Relationship Id="rId15" Type="http://schemas.openxmlformats.org/officeDocument/2006/relationships/image" Target="../media/image13.png"/><Relationship Id="rId10" Type="http://schemas.openxmlformats.org/officeDocument/2006/relationships/image" Target="../media/image20.png"/><Relationship Id="rId4" Type="http://schemas.openxmlformats.org/officeDocument/2006/relationships/hyperlink" Target="https://acsjournals.onlinelibrary.wiley.com/doi/10.3322/caac.21772" TargetMode="External"/><Relationship Id="rId9" Type="http://schemas.openxmlformats.org/officeDocument/2006/relationships/hyperlink" Target="https://journals.sagepub.com/doi/full/10.1177/17562848221137758?utm_source=chatgpt.com" TargetMode="External"/><Relationship Id="rId1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hyperlink" Target="https://www.nature.com/articles/s41591-022-02115-4" TargetMode="External"/><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hyperlink" Target="https://www.nature.com/articles/s41591-024-03254-6" TargetMode="External"/><Relationship Id="rId2"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pmc.ncbi.nlm.nih.gov/articles/PMC10606209/" TargetMode="External"/><Relationship Id="rId5" Type="http://schemas.openxmlformats.org/officeDocument/2006/relationships/image" Target="../media/image11.png"/><Relationship Id="rId10" Type="http://schemas.openxmlformats.org/officeDocument/2006/relationships/hyperlink" Target="https://www.nature.com/articles/s41591-024-03254-6#Sec11" TargetMode="External"/><Relationship Id="rId4" Type="http://schemas.openxmlformats.org/officeDocument/2006/relationships/image" Target="../media/image21.png"/><Relationship Id="rId9" Type="http://schemas.openxmlformats.org/officeDocument/2006/relationships/image" Target="../media/image15.png"/><Relationship Id="rId14" Type="http://schemas.openxmlformats.org/officeDocument/2006/relationships/hyperlink" Target="https://www.nejm.org/doi/full/10.1056/NEJMoa1713709"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0.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21.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8714-006B-AB57-E5EF-2AF5C163A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E2AEB-8CF8-01CF-CE93-1245F61EDE4C}"/>
              </a:ext>
            </a:extLst>
          </p:cNvPr>
          <p:cNvSpPr>
            <a:spLocks noGrp="1"/>
          </p:cNvSpPr>
          <p:nvPr>
            <p:ph type="ctrTitle"/>
          </p:nvPr>
        </p:nvSpPr>
        <p:spPr/>
        <p:txBody>
          <a:bodyPr/>
          <a:lstStyle/>
          <a:p>
            <a:r>
              <a:rPr lang="en-US"/>
              <a:t>CEACAM5 Target Evaluation</a:t>
            </a:r>
          </a:p>
        </p:txBody>
      </p:sp>
      <p:sp>
        <p:nvSpPr>
          <p:cNvPr id="4" name="TextBox 3">
            <a:extLst>
              <a:ext uri="{FF2B5EF4-FFF2-40B4-BE49-F238E27FC236}">
                <a16:creationId xmlns:a16="http://schemas.microsoft.com/office/drawing/2014/main" id="{27CBA9A3-BBB7-DA27-A3B4-EED18EAA4BD7}"/>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95502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FA8BE-A766-9FFE-2A18-0284C76FFF00}"/>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7BABFBDF-7CE8-F70B-6232-4BB081552E68}"/>
              </a:ext>
            </a:extLst>
          </p:cNvPr>
          <p:cNvSpPr>
            <a:spLocks noGrp="1"/>
          </p:cNvSpPr>
          <p:nvPr>
            <p:ph type="title"/>
          </p:nvPr>
        </p:nvSpPr>
        <p:spPr>
          <a:xfrm>
            <a:off x="261111" y="1389953"/>
            <a:ext cx="11608727" cy="414463"/>
          </a:xfrm>
        </p:spPr>
        <p:txBody>
          <a:bodyPr/>
          <a:lstStyle/>
          <a:p>
            <a:r>
              <a:rPr lang="en-US"/>
              <a:t>CRC: CEACAM5 accessibility is tumor-selective and validated by human imaging</a:t>
            </a:r>
          </a:p>
        </p:txBody>
      </p:sp>
      <p:sp>
        <p:nvSpPr>
          <p:cNvPr id="2" name="Footer Placeholder 1">
            <a:extLst>
              <a:ext uri="{FF2B5EF4-FFF2-40B4-BE49-F238E27FC236}">
                <a16:creationId xmlns:a16="http://schemas.microsoft.com/office/drawing/2014/main" id="{497517FE-8AB6-67B3-6700-D3D51595C4DC}"/>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56670"/>
                </a:solidFill>
                <a:effectLst/>
                <a:uLnTx/>
                <a:uFillTx/>
                <a:latin typeface="Funnel Sans"/>
                <a:ea typeface="+mn-ea"/>
                <a:cs typeface="+mn-cs"/>
              </a:rPr>
              <a:t>Confidential</a:t>
            </a:r>
            <a:endParaRPr kumimoji="0" lang="en-GB" sz="900" b="0" i="0" u="none" strike="noStrike" kern="1200" cap="none" spc="0" normalizeH="0" baseline="0" noProof="0">
              <a:ln>
                <a:noFill/>
              </a:ln>
              <a:solidFill>
                <a:srgbClr val="656670"/>
              </a:solidFill>
              <a:effectLst/>
              <a:uLnTx/>
              <a:uFillTx/>
              <a:latin typeface="Funnel Sans"/>
              <a:ea typeface="+mn-ea"/>
              <a:cs typeface="+mn-cs"/>
            </a:endParaRPr>
          </a:p>
        </p:txBody>
      </p:sp>
      <p:sp>
        <p:nvSpPr>
          <p:cNvPr id="3" name="Slide Number Placeholder 2">
            <a:extLst>
              <a:ext uri="{FF2B5EF4-FFF2-40B4-BE49-F238E27FC236}">
                <a16:creationId xmlns:a16="http://schemas.microsoft.com/office/drawing/2014/main" id="{B14EBF7B-63FB-B159-5C24-3672677235DC}"/>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E5F93-45D3-472F-9EA1-BCB47A04FF6B}"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21" name="Subtitle 20">
            <a:extLst>
              <a:ext uri="{FF2B5EF4-FFF2-40B4-BE49-F238E27FC236}">
                <a16:creationId xmlns:a16="http://schemas.microsoft.com/office/drawing/2014/main" id="{443F27FE-D6CD-9F67-D615-AF35655F380B}"/>
              </a:ext>
            </a:extLst>
          </p:cNvPr>
          <p:cNvSpPr>
            <a:spLocks noGrp="1"/>
          </p:cNvSpPr>
          <p:nvPr>
            <p:ph type="subTitle" idx="1"/>
          </p:nvPr>
        </p:nvSpPr>
        <p:spPr/>
        <p:txBody>
          <a:bodyPr/>
          <a:lstStyle/>
          <a:p>
            <a:r>
              <a:rPr lang="en-US" b="1"/>
              <a:t>Target Selection</a:t>
            </a:r>
          </a:p>
        </p:txBody>
      </p:sp>
      <p:grpSp>
        <p:nvGrpSpPr>
          <p:cNvPr id="19" name="Group 18">
            <a:extLst>
              <a:ext uri="{FF2B5EF4-FFF2-40B4-BE49-F238E27FC236}">
                <a16:creationId xmlns:a16="http://schemas.microsoft.com/office/drawing/2014/main" id="{6FDCDC63-4194-9285-7977-CBD1EC9F702E}"/>
              </a:ext>
            </a:extLst>
          </p:cNvPr>
          <p:cNvGrpSpPr/>
          <p:nvPr/>
        </p:nvGrpSpPr>
        <p:grpSpPr>
          <a:xfrm>
            <a:off x="257178" y="1992420"/>
            <a:ext cx="6523518" cy="4576212"/>
            <a:chOff x="3527298" y="2509627"/>
            <a:chExt cx="3423291" cy="4576212"/>
          </a:xfrm>
        </p:grpSpPr>
        <p:sp>
          <p:nvSpPr>
            <p:cNvPr id="4" name="Shape 2">
              <a:extLst>
                <a:ext uri="{FF2B5EF4-FFF2-40B4-BE49-F238E27FC236}">
                  <a16:creationId xmlns:a16="http://schemas.microsoft.com/office/drawing/2014/main" id="{FD8FD67D-9D29-9A76-F29D-D219F8A21360}"/>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Expression</a:t>
              </a:r>
            </a:p>
          </p:txBody>
        </p:sp>
        <p:sp>
          <p:nvSpPr>
            <p:cNvPr id="7" name="Shape 5">
              <a:extLst>
                <a:ext uri="{FF2B5EF4-FFF2-40B4-BE49-F238E27FC236}">
                  <a16:creationId xmlns:a16="http://schemas.microsoft.com/office/drawing/2014/main" id="{4FACAB9E-0A77-42DD-FB91-DEE6FE2FF369}"/>
                </a:ext>
              </a:extLst>
            </p:cNvPr>
            <p:cNvSpPr/>
            <p:nvPr/>
          </p:nvSpPr>
          <p:spPr>
            <a:xfrm rot="10800000">
              <a:off x="3527298" y="2816654"/>
              <a:ext cx="3423291" cy="4269185"/>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2" name="Group 31">
            <a:extLst>
              <a:ext uri="{FF2B5EF4-FFF2-40B4-BE49-F238E27FC236}">
                <a16:creationId xmlns:a16="http://schemas.microsoft.com/office/drawing/2014/main" id="{48FC0CDF-BDF7-8248-317F-15297DC04F62}"/>
              </a:ext>
            </a:extLst>
          </p:cNvPr>
          <p:cNvGrpSpPr/>
          <p:nvPr/>
        </p:nvGrpSpPr>
        <p:grpSpPr>
          <a:xfrm>
            <a:off x="7112641" y="1992420"/>
            <a:ext cx="4703880" cy="2442064"/>
            <a:chOff x="3527297" y="2509627"/>
            <a:chExt cx="3423292" cy="2294930"/>
          </a:xfrm>
        </p:grpSpPr>
        <p:sp>
          <p:nvSpPr>
            <p:cNvPr id="33" name="Shape 2">
              <a:extLst>
                <a:ext uri="{FF2B5EF4-FFF2-40B4-BE49-F238E27FC236}">
                  <a16:creationId xmlns:a16="http://schemas.microsoft.com/office/drawing/2014/main" id="{EFA4AAE5-C6BC-FBCE-FCC5-8F62DB8DCC3F}"/>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Biology &amp; Feasibility</a:t>
              </a:r>
            </a:p>
          </p:txBody>
        </p:sp>
        <p:sp>
          <p:nvSpPr>
            <p:cNvPr id="34" name="Shape 5">
              <a:extLst>
                <a:ext uri="{FF2B5EF4-FFF2-40B4-BE49-F238E27FC236}">
                  <a16:creationId xmlns:a16="http://schemas.microsoft.com/office/drawing/2014/main" id="{29666BB0-87CB-D6BE-7D29-6E96FF7FF8CC}"/>
                </a:ext>
              </a:extLst>
            </p:cNvPr>
            <p:cNvSpPr/>
            <p:nvPr/>
          </p:nvSpPr>
          <p:spPr>
            <a:xfrm rot="10800000">
              <a:off x="3527297" y="2816654"/>
              <a:ext cx="3423291" cy="1987903"/>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5" name="Group 34">
            <a:extLst>
              <a:ext uri="{FF2B5EF4-FFF2-40B4-BE49-F238E27FC236}">
                <a16:creationId xmlns:a16="http://schemas.microsoft.com/office/drawing/2014/main" id="{1E3CAE50-897A-2CCC-9614-0FE12C14BEB2}"/>
              </a:ext>
            </a:extLst>
          </p:cNvPr>
          <p:cNvGrpSpPr/>
          <p:nvPr/>
        </p:nvGrpSpPr>
        <p:grpSpPr>
          <a:xfrm>
            <a:off x="7112641" y="4513241"/>
            <a:ext cx="4703880" cy="715080"/>
            <a:chOff x="3527297" y="2509627"/>
            <a:chExt cx="3423292" cy="715080"/>
          </a:xfrm>
        </p:grpSpPr>
        <p:sp>
          <p:nvSpPr>
            <p:cNvPr id="36" name="Shape 2">
              <a:extLst>
                <a:ext uri="{FF2B5EF4-FFF2-40B4-BE49-F238E27FC236}">
                  <a16:creationId xmlns:a16="http://schemas.microsoft.com/office/drawing/2014/main" id="{52E0F3A6-871B-6350-9832-A2603B90ED66}"/>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Landscape</a:t>
              </a:r>
            </a:p>
          </p:txBody>
        </p:sp>
        <p:sp>
          <p:nvSpPr>
            <p:cNvPr id="37" name="Shape 5">
              <a:extLst>
                <a:ext uri="{FF2B5EF4-FFF2-40B4-BE49-F238E27FC236}">
                  <a16:creationId xmlns:a16="http://schemas.microsoft.com/office/drawing/2014/main" id="{F087254E-685B-9BB2-114C-4FD84E7376D6}"/>
                </a:ext>
              </a:extLst>
            </p:cNvPr>
            <p:cNvSpPr/>
            <p:nvPr/>
          </p:nvSpPr>
          <p:spPr>
            <a:xfrm rot="10800000">
              <a:off x="3527297" y="2816654"/>
              <a:ext cx="3423291" cy="408053"/>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8" name="Group 37">
            <a:extLst>
              <a:ext uri="{FF2B5EF4-FFF2-40B4-BE49-F238E27FC236}">
                <a16:creationId xmlns:a16="http://schemas.microsoft.com/office/drawing/2014/main" id="{B1BBFB59-B5EB-35CF-6403-7011CFA636DC}"/>
              </a:ext>
            </a:extLst>
          </p:cNvPr>
          <p:cNvGrpSpPr/>
          <p:nvPr/>
        </p:nvGrpSpPr>
        <p:grpSpPr>
          <a:xfrm>
            <a:off x="7112643" y="5353699"/>
            <a:ext cx="4703879" cy="1214933"/>
            <a:chOff x="3527298" y="2509627"/>
            <a:chExt cx="3423291" cy="1214933"/>
          </a:xfrm>
        </p:grpSpPr>
        <p:sp>
          <p:nvSpPr>
            <p:cNvPr id="39" name="Shape 2">
              <a:extLst>
                <a:ext uri="{FF2B5EF4-FFF2-40B4-BE49-F238E27FC236}">
                  <a16:creationId xmlns:a16="http://schemas.microsoft.com/office/drawing/2014/main" id="{247D22C2-89A9-C311-DC0B-35B8371F851F}"/>
                </a:ext>
              </a:extLst>
            </p:cNvPr>
            <p:cNvSpPr/>
            <p:nvPr/>
          </p:nvSpPr>
          <p:spPr>
            <a:xfrm>
              <a:off x="3527298" y="2509627"/>
              <a:ext cx="3423291" cy="307028"/>
            </a:xfrm>
            <a:prstGeom prst="round2SameRect">
              <a:avLst>
                <a:gd name="adj1" fmla="val 32721"/>
                <a:gd name="adj2" fmla="val 0"/>
              </a:avLst>
            </a:prstGeom>
            <a:solidFill>
              <a:schemeClr val="accent4"/>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Sego’s Approach</a:t>
              </a:r>
            </a:p>
          </p:txBody>
        </p:sp>
        <p:sp>
          <p:nvSpPr>
            <p:cNvPr id="40" name="Shape 5">
              <a:extLst>
                <a:ext uri="{FF2B5EF4-FFF2-40B4-BE49-F238E27FC236}">
                  <a16:creationId xmlns:a16="http://schemas.microsoft.com/office/drawing/2014/main" id="{41CFE881-EE22-0AFD-510C-9BCE646F5C79}"/>
                </a:ext>
              </a:extLst>
            </p:cNvPr>
            <p:cNvSpPr/>
            <p:nvPr/>
          </p:nvSpPr>
          <p:spPr>
            <a:xfrm rot="10800000">
              <a:off x="3527298" y="2816652"/>
              <a:ext cx="3423291" cy="907908"/>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cxnSp>
        <p:nvCxnSpPr>
          <p:cNvPr id="44" name="Straight Connector 43">
            <a:extLst>
              <a:ext uri="{FF2B5EF4-FFF2-40B4-BE49-F238E27FC236}">
                <a16:creationId xmlns:a16="http://schemas.microsoft.com/office/drawing/2014/main" id="{F5239BAE-5A36-894E-1F12-5C1701BBA956}"/>
              </a:ext>
            </a:extLst>
          </p:cNvPr>
          <p:cNvCxnSpPr>
            <a:cxnSpLocks/>
          </p:cNvCxnSpPr>
          <p:nvPr/>
        </p:nvCxnSpPr>
        <p:spPr>
          <a:xfrm flipV="1">
            <a:off x="4038812" y="2501570"/>
            <a:ext cx="0" cy="392115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3FE9614-8072-4193-71FD-3ED4BE077C0F}"/>
              </a:ext>
            </a:extLst>
          </p:cNvPr>
          <p:cNvSpPr txBox="1"/>
          <p:nvPr/>
        </p:nvSpPr>
        <p:spPr>
          <a:xfrm>
            <a:off x="4096104" y="2420178"/>
            <a:ext cx="1678188" cy="436496"/>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CEACAM5 Immuno-PET</a:t>
            </a: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30000" noProof="0">
                <a:ln>
                  <a:noFill/>
                </a:ln>
                <a:solidFill>
                  <a:srgbClr val="000000"/>
                </a:solidFill>
                <a:effectLst/>
                <a:uLnTx/>
                <a:uFillTx/>
                <a:latin typeface="Funnel Sans"/>
                <a:ea typeface="+mn-ea"/>
                <a:cs typeface="+mn-cs"/>
              </a:rPr>
              <a:t>64</a:t>
            </a:r>
            <a:r>
              <a:rPr kumimoji="0" lang="en-US" sz="1200" b="0" i="0" u="none" strike="noStrike" kern="1200" cap="none" spc="0" normalizeH="0" baseline="0" noProof="0">
                <a:ln>
                  <a:noFill/>
                </a:ln>
                <a:solidFill>
                  <a:srgbClr val="000000"/>
                </a:solidFill>
                <a:effectLst/>
                <a:uLnTx/>
                <a:uFillTx/>
                <a:latin typeface="Funnel Sans"/>
                <a:ea typeface="+mn-ea"/>
                <a:cs typeface="+mn-cs"/>
              </a:rPr>
              <a:t>Cu-hT84.66-M5A</a:t>
            </a:r>
          </a:p>
        </p:txBody>
      </p:sp>
      <p:sp>
        <p:nvSpPr>
          <p:cNvPr id="59" name="TextBox 58">
            <a:extLst>
              <a:ext uri="{FF2B5EF4-FFF2-40B4-BE49-F238E27FC236}">
                <a16:creationId xmlns:a16="http://schemas.microsoft.com/office/drawing/2014/main" id="{1F6D9519-3129-C62F-8463-E489079D61DC}"/>
              </a:ext>
            </a:extLst>
          </p:cNvPr>
          <p:cNvSpPr txBox="1"/>
          <p:nvPr/>
        </p:nvSpPr>
        <p:spPr>
          <a:xfrm>
            <a:off x="0" y="6647389"/>
            <a:ext cx="96372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Funnel Sans"/>
                <a:ea typeface="+mn-ea"/>
                <a:cs typeface="+mn-cs"/>
              </a:rPr>
              <a:t>Sources: </a:t>
            </a:r>
            <a:r>
              <a:rPr kumimoji="0" lang="en-US" sz="800" b="0" i="0" u="sng" strike="noStrike" kern="1200" cap="none" spc="0" normalizeH="0" baseline="0" noProof="0">
                <a:ln>
                  <a:noFill/>
                </a:ln>
                <a:solidFill>
                  <a:srgbClr val="000000"/>
                </a:solidFill>
                <a:effectLst/>
                <a:uLnTx/>
                <a:uFillTx/>
                <a:latin typeface="Funnel Sans"/>
                <a:ea typeface="+mn-ea"/>
                <a:cs typeface="+mn-cs"/>
                <a:hlinkClick r:id="rId2"/>
              </a:rPr>
              <a:t>Jansen 2024 Cancers</a:t>
            </a:r>
            <a:r>
              <a:rPr kumimoji="0" lang="en-US" sz="800" b="0" i="0" u="sng" strike="noStrike" kern="1200" cap="none" spc="0" normalizeH="0" baseline="0" noProof="0">
                <a:ln>
                  <a:noFill/>
                </a:ln>
                <a:solidFill>
                  <a:srgbClr val="61896E"/>
                </a:solidFill>
                <a:effectLst/>
                <a:uLnTx/>
                <a:uFillTx/>
                <a:latin typeface="Funnel Sans"/>
                <a:ea typeface="+mn-ea"/>
                <a:cs typeface="+mn-cs"/>
              </a:rPr>
              <a:t>; </a:t>
            </a:r>
            <a:r>
              <a:rPr kumimoji="0" lang="en-US" sz="800" b="0" i="0" u="sng" strike="noStrike" kern="1200" cap="none" spc="0" normalizeH="0" baseline="0" noProof="0">
                <a:ln>
                  <a:noFill/>
                </a:ln>
                <a:solidFill>
                  <a:srgbClr val="61896E"/>
                </a:solidFill>
                <a:effectLst/>
                <a:uLnTx/>
                <a:uFillTx/>
                <a:latin typeface="Funnel Sans"/>
                <a:ea typeface="+mn-ea"/>
                <a:cs typeface="+mn-cs"/>
                <a:hlinkClick r:id="rId3"/>
              </a:rPr>
              <a:t>Wong 2022 Cancer </a:t>
            </a:r>
            <a:r>
              <a:rPr kumimoji="0" lang="en-US" sz="800" b="0" i="0" u="sng" strike="noStrike" kern="1200" cap="none" spc="0" normalizeH="0" baseline="0" noProof="0" err="1">
                <a:ln>
                  <a:noFill/>
                </a:ln>
                <a:solidFill>
                  <a:srgbClr val="61896E"/>
                </a:solidFill>
                <a:effectLst/>
                <a:uLnTx/>
                <a:uFillTx/>
                <a:latin typeface="Funnel Sans"/>
                <a:ea typeface="+mn-ea"/>
                <a:cs typeface="+mn-cs"/>
                <a:hlinkClick r:id="rId3"/>
              </a:rPr>
              <a:t>Biother</a:t>
            </a:r>
            <a:r>
              <a:rPr kumimoji="0" lang="en-US" sz="800" b="0" i="0" u="sng" strike="noStrike" kern="1200" cap="none" spc="0" normalizeH="0" baseline="0" noProof="0">
                <a:ln>
                  <a:noFill/>
                </a:ln>
                <a:solidFill>
                  <a:srgbClr val="61896E"/>
                </a:solidFill>
                <a:effectLst/>
                <a:uLnTx/>
                <a:uFillTx/>
                <a:latin typeface="Funnel Sans"/>
                <a:ea typeface="+mn-ea"/>
                <a:cs typeface="+mn-cs"/>
                <a:hlinkClick r:id="rId3"/>
              </a:rPr>
              <a:t> </a:t>
            </a:r>
            <a:r>
              <a:rPr kumimoji="0" lang="en-US" sz="800" b="0" i="0" u="sng" strike="noStrike" kern="1200" cap="none" spc="0" normalizeH="0" baseline="0" noProof="0" err="1">
                <a:ln>
                  <a:noFill/>
                </a:ln>
                <a:solidFill>
                  <a:srgbClr val="61896E"/>
                </a:solidFill>
                <a:effectLst/>
                <a:uLnTx/>
                <a:uFillTx/>
                <a:latin typeface="Funnel Sans"/>
                <a:ea typeface="+mn-ea"/>
                <a:cs typeface="+mn-cs"/>
                <a:hlinkClick r:id="rId3"/>
              </a:rPr>
              <a:t>Radiopharm</a:t>
            </a:r>
            <a:r>
              <a:rPr kumimoji="0" lang="en-US" sz="800" b="0" i="0" u="sng" strike="noStrike" kern="1200" cap="none" spc="0" normalizeH="0" baseline="0" noProof="0">
                <a:ln>
                  <a:noFill/>
                </a:ln>
                <a:solidFill>
                  <a:srgbClr val="61896E"/>
                </a:solidFill>
                <a:effectLst/>
                <a:uLnTx/>
                <a:uFillTx/>
                <a:latin typeface="Funnel Sans"/>
                <a:ea typeface="+mn-ea"/>
                <a:cs typeface="+mn-cs"/>
              </a:rPr>
              <a:t>; </a:t>
            </a:r>
            <a:r>
              <a:rPr kumimoji="0" lang="en-US" sz="800" b="0" i="0" u="sng" strike="noStrike" kern="1200" cap="none" spc="0" normalizeH="0" baseline="0" noProof="0">
                <a:ln>
                  <a:noFill/>
                </a:ln>
                <a:solidFill>
                  <a:srgbClr val="002924"/>
                </a:solidFill>
                <a:effectLst/>
                <a:uLnTx/>
                <a:uFillTx/>
                <a:latin typeface="Funnel Sans"/>
                <a:ea typeface="+mn-ea"/>
                <a:cs typeface="+mn-cs"/>
                <a:hlinkClick r:id="rId4">
                  <a:extLst>
                    <a:ext uri="{A12FA001-AC4F-418D-AE19-62706E023703}">
                      <ahyp:hlinkClr xmlns:ahyp="http://schemas.microsoft.com/office/drawing/2018/hyperlinkcolor" val="tx"/>
                    </a:ext>
                  </a:extLst>
                </a:hlinkClick>
              </a:rPr>
              <a:t>Wong 1997 JNM</a:t>
            </a:r>
            <a:r>
              <a:rPr kumimoji="0" lang="en-US" sz="800" b="0" i="0" u="sng" strike="noStrike" kern="1200" cap="none" spc="0" normalizeH="0" baseline="0" noProof="0">
                <a:ln>
                  <a:noFill/>
                </a:ln>
                <a:solidFill>
                  <a:srgbClr val="002924"/>
                </a:solidFill>
                <a:effectLst/>
                <a:uLnTx/>
                <a:uFillTx/>
                <a:latin typeface="Funnel Sans"/>
                <a:ea typeface="+mn-ea"/>
                <a:cs typeface="+mn-cs"/>
              </a:rPr>
              <a:t>; </a:t>
            </a:r>
            <a:r>
              <a:rPr kumimoji="0" lang="en-US" sz="800" b="0" i="0" u="sng" strike="noStrike" kern="1200" cap="none" spc="0" normalizeH="0" baseline="0" noProof="0">
                <a:ln>
                  <a:noFill/>
                </a:ln>
                <a:solidFill>
                  <a:srgbClr val="002924"/>
                </a:solidFill>
                <a:effectLst/>
                <a:uLnTx/>
                <a:uFillTx/>
                <a:latin typeface="Funnel Sans"/>
                <a:ea typeface="+mn-ea"/>
                <a:cs typeface="+mn-cs"/>
                <a:hlinkClick r:id="rId5">
                  <a:extLst>
                    <a:ext uri="{A12FA001-AC4F-418D-AE19-62706E023703}">
                      <ahyp:hlinkClr xmlns:ahyp="http://schemas.microsoft.com/office/drawing/2018/hyperlinkcolor" val="tx"/>
                    </a:ext>
                  </a:extLst>
                </a:hlinkClick>
              </a:rPr>
              <a:t>Wong 1998 JNM</a:t>
            </a:r>
            <a:r>
              <a:rPr kumimoji="0" lang="en-US" sz="800" b="0" i="0" u="sng" strike="noStrike" kern="1200" cap="none" spc="0" normalizeH="0" baseline="0" noProof="0">
                <a:ln>
                  <a:noFill/>
                </a:ln>
                <a:solidFill>
                  <a:srgbClr val="002924"/>
                </a:solidFill>
                <a:effectLst/>
                <a:uLnTx/>
                <a:uFillTx/>
                <a:latin typeface="Funnel Sans"/>
                <a:ea typeface="+mn-ea"/>
                <a:cs typeface="+mn-cs"/>
              </a:rPr>
              <a:t>; </a:t>
            </a:r>
            <a:r>
              <a:rPr kumimoji="0" lang="en-US" sz="800" b="0" i="0" u="sng" strike="noStrike" kern="1200" cap="none" spc="0" normalizeH="0" baseline="0" noProof="0">
                <a:ln>
                  <a:noFill/>
                </a:ln>
                <a:solidFill>
                  <a:srgbClr val="002924"/>
                </a:solidFill>
                <a:effectLst/>
                <a:uLnTx/>
                <a:uFillTx/>
                <a:latin typeface="Funnel Sans"/>
                <a:ea typeface="+mn-ea"/>
                <a:cs typeface="+mn-cs"/>
                <a:hlinkClick r:id="rId6">
                  <a:extLst>
                    <a:ext uri="{A12FA001-AC4F-418D-AE19-62706E023703}">
                      <ahyp:hlinkClr xmlns:ahyp="http://schemas.microsoft.com/office/drawing/2018/hyperlinkcolor" val="tx"/>
                    </a:ext>
                  </a:extLst>
                </a:hlinkClick>
              </a:rPr>
              <a:t>Kumar 2024 Nature Comm.</a:t>
            </a:r>
            <a:endParaRPr kumimoji="0" lang="en-US" sz="800" b="0" i="0" u="sng" strike="noStrike" kern="1200" cap="none" spc="0" normalizeH="0" baseline="0" noProof="0">
              <a:ln>
                <a:noFill/>
              </a:ln>
              <a:solidFill>
                <a:srgbClr val="002924"/>
              </a:solidFill>
              <a:effectLst/>
              <a:uLnTx/>
              <a:uFillTx/>
              <a:latin typeface="Funnel Sans"/>
              <a:ea typeface="+mn-ea"/>
              <a:cs typeface="+mn-cs"/>
              <a:hlinkClick r:id="rId7"/>
            </a:endParaRPr>
          </a:p>
        </p:txBody>
      </p:sp>
      <p:sp>
        <p:nvSpPr>
          <p:cNvPr id="66" name="TextBox 65">
            <a:extLst>
              <a:ext uri="{FF2B5EF4-FFF2-40B4-BE49-F238E27FC236}">
                <a16:creationId xmlns:a16="http://schemas.microsoft.com/office/drawing/2014/main" id="{00C866F1-1084-6FD1-E564-13DD751AD29B}"/>
              </a:ext>
            </a:extLst>
          </p:cNvPr>
          <p:cNvSpPr txBox="1"/>
          <p:nvPr/>
        </p:nvSpPr>
        <p:spPr>
          <a:xfrm>
            <a:off x="8737047" y="3622716"/>
            <a:ext cx="1035845" cy="5993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Funnel Sans"/>
              <a:ea typeface="+mn-ea"/>
              <a:cs typeface="+mn-cs"/>
            </a:endParaRPr>
          </a:p>
        </p:txBody>
      </p:sp>
      <p:sp>
        <p:nvSpPr>
          <p:cNvPr id="70" name="TextBox 69">
            <a:extLst>
              <a:ext uri="{FF2B5EF4-FFF2-40B4-BE49-F238E27FC236}">
                <a16:creationId xmlns:a16="http://schemas.microsoft.com/office/drawing/2014/main" id="{DDAB9D55-89AB-7A15-F73D-2DA07572FE03}"/>
              </a:ext>
            </a:extLst>
          </p:cNvPr>
          <p:cNvSpPr txBox="1"/>
          <p:nvPr/>
        </p:nvSpPr>
        <p:spPr>
          <a:xfrm>
            <a:off x="7243010" y="4915521"/>
            <a:ext cx="4524957" cy="529002"/>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No CEACAM5 RLT in development by industry, to our knowledge</a:t>
            </a:r>
          </a:p>
        </p:txBody>
      </p:sp>
      <p:pic>
        <p:nvPicPr>
          <p:cNvPr id="5" name="Picture 4">
            <a:extLst>
              <a:ext uri="{FF2B5EF4-FFF2-40B4-BE49-F238E27FC236}">
                <a16:creationId xmlns:a16="http://schemas.microsoft.com/office/drawing/2014/main" id="{31484713-8E3B-1E93-AAF2-6D8EB257D864}"/>
              </a:ext>
            </a:extLst>
          </p:cNvPr>
          <p:cNvPicPr>
            <a:picLocks noChangeAspect="1"/>
          </p:cNvPicPr>
          <p:nvPr/>
        </p:nvPicPr>
        <p:blipFill>
          <a:blip r:embed="rId8"/>
          <a:stretch>
            <a:fillRect/>
          </a:stretch>
        </p:blipFill>
        <p:spPr>
          <a:xfrm>
            <a:off x="387721" y="3012743"/>
            <a:ext cx="3543218" cy="932622"/>
          </a:xfrm>
          <a:prstGeom prst="rect">
            <a:avLst/>
          </a:prstGeom>
        </p:spPr>
      </p:pic>
      <p:sp>
        <p:nvSpPr>
          <p:cNvPr id="6" name="TextBox 5">
            <a:extLst>
              <a:ext uri="{FF2B5EF4-FFF2-40B4-BE49-F238E27FC236}">
                <a16:creationId xmlns:a16="http://schemas.microsoft.com/office/drawing/2014/main" id="{ADE6A2BA-5365-1F19-B79C-A9E8EB29D68D}"/>
              </a:ext>
            </a:extLst>
          </p:cNvPr>
          <p:cNvSpPr txBox="1"/>
          <p:nvPr/>
        </p:nvSpPr>
        <p:spPr>
          <a:xfrm>
            <a:off x="246500" y="3883550"/>
            <a:ext cx="985405"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Stomach</a:t>
            </a:r>
          </a:p>
        </p:txBody>
      </p:sp>
      <p:sp>
        <p:nvSpPr>
          <p:cNvPr id="8" name="TextBox 7">
            <a:extLst>
              <a:ext uri="{FF2B5EF4-FFF2-40B4-BE49-F238E27FC236}">
                <a16:creationId xmlns:a16="http://schemas.microsoft.com/office/drawing/2014/main" id="{1A495FC3-48D3-D85C-73A5-6DE0810989FB}"/>
              </a:ext>
            </a:extLst>
          </p:cNvPr>
          <p:cNvSpPr txBox="1"/>
          <p:nvPr/>
        </p:nvSpPr>
        <p:spPr>
          <a:xfrm>
            <a:off x="1244558" y="3883550"/>
            <a:ext cx="762903"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Colon</a:t>
            </a:r>
          </a:p>
        </p:txBody>
      </p:sp>
      <p:sp>
        <p:nvSpPr>
          <p:cNvPr id="9" name="TextBox 8">
            <a:extLst>
              <a:ext uri="{FF2B5EF4-FFF2-40B4-BE49-F238E27FC236}">
                <a16:creationId xmlns:a16="http://schemas.microsoft.com/office/drawing/2014/main" id="{CDC9BBB5-97DF-A285-C76B-EE57A5D8ABFD}"/>
              </a:ext>
            </a:extLst>
          </p:cNvPr>
          <p:cNvSpPr txBox="1"/>
          <p:nvPr/>
        </p:nvSpPr>
        <p:spPr>
          <a:xfrm>
            <a:off x="1852841" y="3883550"/>
            <a:ext cx="1387223"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Small intestine</a:t>
            </a:r>
          </a:p>
        </p:txBody>
      </p:sp>
      <p:sp>
        <p:nvSpPr>
          <p:cNvPr id="10" name="TextBox 9">
            <a:extLst>
              <a:ext uri="{FF2B5EF4-FFF2-40B4-BE49-F238E27FC236}">
                <a16:creationId xmlns:a16="http://schemas.microsoft.com/office/drawing/2014/main" id="{909A7FDA-6839-7C50-CEA4-0B9EED8DE285}"/>
              </a:ext>
            </a:extLst>
          </p:cNvPr>
          <p:cNvSpPr txBox="1"/>
          <p:nvPr/>
        </p:nvSpPr>
        <p:spPr>
          <a:xfrm>
            <a:off x="2956211" y="3883550"/>
            <a:ext cx="115801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Respiratory</a:t>
            </a:r>
          </a:p>
        </p:txBody>
      </p:sp>
      <p:pic>
        <p:nvPicPr>
          <p:cNvPr id="11" name="Picture 10">
            <a:extLst>
              <a:ext uri="{FF2B5EF4-FFF2-40B4-BE49-F238E27FC236}">
                <a16:creationId xmlns:a16="http://schemas.microsoft.com/office/drawing/2014/main" id="{3A6F42B9-B496-CB5A-AA52-90FD014B39BA}"/>
              </a:ext>
            </a:extLst>
          </p:cNvPr>
          <p:cNvPicPr>
            <a:picLocks noChangeAspect="1"/>
          </p:cNvPicPr>
          <p:nvPr/>
        </p:nvPicPr>
        <p:blipFill>
          <a:blip r:embed="rId9"/>
          <a:srcRect b="53097"/>
          <a:stretch>
            <a:fillRect/>
          </a:stretch>
        </p:blipFill>
        <p:spPr>
          <a:xfrm>
            <a:off x="357784" y="4914811"/>
            <a:ext cx="3566447" cy="846900"/>
          </a:xfrm>
          <a:prstGeom prst="rect">
            <a:avLst/>
          </a:prstGeom>
        </p:spPr>
      </p:pic>
      <p:pic>
        <p:nvPicPr>
          <p:cNvPr id="12" name="pasted-movie.png" descr="pasted-movie.png">
            <a:extLst>
              <a:ext uri="{FF2B5EF4-FFF2-40B4-BE49-F238E27FC236}">
                <a16:creationId xmlns:a16="http://schemas.microsoft.com/office/drawing/2014/main" id="{34070326-8422-EBEA-9E14-A512D02C755F}"/>
              </a:ext>
            </a:extLst>
          </p:cNvPr>
          <p:cNvPicPr>
            <a:picLocks noChangeAspect="1"/>
          </p:cNvPicPr>
          <p:nvPr/>
        </p:nvPicPr>
        <p:blipFill>
          <a:blip r:embed="rId10"/>
          <a:srcRect l="12604" r="13718" b="12719"/>
          <a:stretch>
            <a:fillRect/>
          </a:stretch>
        </p:blipFill>
        <p:spPr>
          <a:xfrm>
            <a:off x="4146685" y="2926680"/>
            <a:ext cx="1600172" cy="2803552"/>
          </a:xfrm>
          <a:prstGeom prst="rect">
            <a:avLst/>
          </a:prstGeom>
          <a:ln w="12700">
            <a:miter lim="400000"/>
          </a:ln>
        </p:spPr>
      </p:pic>
      <p:sp>
        <p:nvSpPr>
          <p:cNvPr id="14" name="TextBox 13">
            <a:extLst>
              <a:ext uri="{FF2B5EF4-FFF2-40B4-BE49-F238E27FC236}">
                <a16:creationId xmlns:a16="http://schemas.microsoft.com/office/drawing/2014/main" id="{4334EF4A-EA12-261C-ED72-F9BD63D687BB}"/>
              </a:ext>
            </a:extLst>
          </p:cNvPr>
          <p:cNvSpPr txBox="1"/>
          <p:nvPr/>
        </p:nvSpPr>
        <p:spPr>
          <a:xfrm>
            <a:off x="314251" y="2529520"/>
            <a:ext cx="356465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Funnel Sans Medium" pitchFamily="2" charset="0"/>
                <a:ea typeface="+mn-ea"/>
                <a:cs typeface="+mn-cs"/>
              </a:rPr>
              <a:t>Normal Tissues</a:t>
            </a: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 </a:t>
            </a:r>
            <a:r>
              <a:rPr kumimoji="0" lang="en-US" sz="1200" b="0" i="0" u="none" strike="noStrike" kern="1200" cap="none" spc="0" normalizeH="0" baseline="0" noProof="0">
                <a:ln>
                  <a:noFill/>
                </a:ln>
                <a:solidFill>
                  <a:srgbClr val="000000"/>
                </a:solidFill>
                <a:effectLst/>
                <a:uLnTx/>
                <a:uFillTx/>
                <a:latin typeface="Funnel Sans"/>
                <a:ea typeface="+mn-ea"/>
                <a:cs typeface="+mn-cs"/>
              </a:rPr>
              <a:t>Apical-restricted expression</a:t>
            </a:r>
          </a:p>
        </p:txBody>
      </p:sp>
      <p:sp>
        <p:nvSpPr>
          <p:cNvPr id="15" name="TextBox 14">
            <a:extLst>
              <a:ext uri="{FF2B5EF4-FFF2-40B4-BE49-F238E27FC236}">
                <a16:creationId xmlns:a16="http://schemas.microsoft.com/office/drawing/2014/main" id="{50795321-393A-57D3-21A0-8BF515915687}"/>
              </a:ext>
            </a:extLst>
          </p:cNvPr>
          <p:cNvSpPr txBox="1"/>
          <p:nvPr/>
        </p:nvSpPr>
        <p:spPr>
          <a:xfrm>
            <a:off x="310913" y="4393100"/>
            <a:ext cx="375644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Funnel Sans Medium" pitchFamily="2" charset="0"/>
                <a:ea typeface="+mn-ea"/>
                <a:cs typeface="+mn-cs"/>
              </a:rPr>
              <a:t>Tumors</a:t>
            </a:r>
            <a:r>
              <a:rPr kumimoji="0" lang="en-US" sz="1200" b="0" i="0" u="none" strike="noStrike" kern="1200" cap="none" spc="0" normalizeH="0" baseline="0" noProof="0">
                <a:ln>
                  <a:noFill/>
                </a:ln>
                <a:solidFill>
                  <a:srgbClr val="000000"/>
                </a:solidFill>
                <a:effectLst/>
                <a:uLnTx/>
                <a:uFillTx/>
                <a:latin typeface="Funnel Sans Medium" pitchFamily="2" charset="0"/>
                <a:ea typeface="+mn-ea"/>
                <a:cs typeface="+mn-cs"/>
              </a:rPr>
              <a:t>: </a:t>
            </a:r>
            <a:r>
              <a:rPr kumimoji="0" lang="en-US" sz="1200" b="0" i="0" u="none" strike="noStrike" kern="1200" cap="none" spc="0" normalizeH="0" baseline="0" noProof="0">
                <a:ln>
                  <a:noFill/>
                </a:ln>
                <a:solidFill>
                  <a:srgbClr val="000000"/>
                </a:solidFill>
                <a:effectLst/>
                <a:uLnTx/>
                <a:uFillTx/>
                <a:latin typeface="Funnel Sans"/>
                <a:ea typeface="+mn-ea"/>
                <a:cs typeface="+mn-cs"/>
              </a:rPr>
              <a:t>Diffuse upregulated expression</a:t>
            </a:r>
          </a:p>
        </p:txBody>
      </p:sp>
      <p:pic>
        <p:nvPicPr>
          <p:cNvPr id="23" name="Picture 22">
            <a:extLst>
              <a:ext uri="{FF2B5EF4-FFF2-40B4-BE49-F238E27FC236}">
                <a16:creationId xmlns:a16="http://schemas.microsoft.com/office/drawing/2014/main" id="{9ACC52E6-FE2E-2538-5C1B-3E33CD2DC228}"/>
              </a:ext>
            </a:extLst>
          </p:cNvPr>
          <p:cNvPicPr>
            <a:picLocks noChangeAspect="1"/>
          </p:cNvPicPr>
          <p:nvPr/>
        </p:nvPicPr>
        <p:blipFill>
          <a:blip r:embed="rId11"/>
          <a:srcRect t="10767" r="5707"/>
          <a:stretch>
            <a:fillRect/>
          </a:stretch>
        </p:blipFill>
        <p:spPr>
          <a:xfrm>
            <a:off x="10544616" y="2617797"/>
            <a:ext cx="1272251" cy="1432896"/>
          </a:xfrm>
          <a:prstGeom prst="rect">
            <a:avLst/>
          </a:prstGeom>
        </p:spPr>
      </p:pic>
      <p:cxnSp>
        <p:nvCxnSpPr>
          <p:cNvPr id="22" name="Straight Connector 21">
            <a:extLst>
              <a:ext uri="{FF2B5EF4-FFF2-40B4-BE49-F238E27FC236}">
                <a16:creationId xmlns:a16="http://schemas.microsoft.com/office/drawing/2014/main" id="{58C981D4-6421-5193-1F81-91691C9D189A}"/>
              </a:ext>
            </a:extLst>
          </p:cNvPr>
          <p:cNvCxnSpPr>
            <a:cxnSpLocks/>
          </p:cNvCxnSpPr>
          <p:nvPr/>
        </p:nvCxnSpPr>
        <p:spPr>
          <a:xfrm>
            <a:off x="387721" y="2831738"/>
            <a:ext cx="3358779" cy="0"/>
          </a:xfrm>
          <a:prstGeom prst="line">
            <a:avLst/>
          </a:prstGeom>
          <a:ln w="317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8772E84-7CC4-18FF-0577-9C6021E2871C}"/>
              </a:ext>
            </a:extLst>
          </p:cNvPr>
          <p:cNvCxnSpPr>
            <a:cxnSpLocks/>
          </p:cNvCxnSpPr>
          <p:nvPr/>
        </p:nvCxnSpPr>
        <p:spPr>
          <a:xfrm>
            <a:off x="387721" y="4687086"/>
            <a:ext cx="3358779" cy="0"/>
          </a:xfrm>
          <a:prstGeom prst="line">
            <a:avLst/>
          </a:prstGeom>
          <a:ln w="3175">
            <a:solidFill>
              <a:schemeClr val="tx2"/>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840DB-61A2-0C48-1D16-703EE7B45A21}"/>
              </a:ext>
            </a:extLst>
          </p:cNvPr>
          <p:cNvSpPr txBox="1"/>
          <p:nvPr/>
        </p:nvSpPr>
        <p:spPr>
          <a:xfrm>
            <a:off x="234210" y="5891491"/>
            <a:ext cx="103100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Colon AC</a:t>
            </a:r>
          </a:p>
        </p:txBody>
      </p:sp>
      <p:sp>
        <p:nvSpPr>
          <p:cNvPr id="27" name="TextBox 26">
            <a:extLst>
              <a:ext uri="{FF2B5EF4-FFF2-40B4-BE49-F238E27FC236}">
                <a16:creationId xmlns:a16="http://schemas.microsoft.com/office/drawing/2014/main" id="{76B8F046-27A6-F56A-41EC-A0B3E03E80AD}"/>
              </a:ext>
            </a:extLst>
          </p:cNvPr>
          <p:cNvSpPr txBox="1"/>
          <p:nvPr/>
        </p:nvSpPr>
        <p:spPr>
          <a:xfrm>
            <a:off x="964406" y="5891491"/>
            <a:ext cx="13830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Esophagus AC</a:t>
            </a:r>
          </a:p>
        </p:txBody>
      </p:sp>
      <p:sp>
        <p:nvSpPr>
          <p:cNvPr id="28" name="TextBox 27">
            <a:extLst>
              <a:ext uri="{FF2B5EF4-FFF2-40B4-BE49-F238E27FC236}">
                <a16:creationId xmlns:a16="http://schemas.microsoft.com/office/drawing/2014/main" id="{257F218E-F00D-FA41-1F6F-3D998A1FDD64}"/>
              </a:ext>
            </a:extLst>
          </p:cNvPr>
          <p:cNvSpPr txBox="1"/>
          <p:nvPr/>
        </p:nvSpPr>
        <p:spPr>
          <a:xfrm>
            <a:off x="2147350" y="5891491"/>
            <a:ext cx="798203"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PDAC</a:t>
            </a:r>
          </a:p>
        </p:txBody>
      </p:sp>
      <p:sp>
        <p:nvSpPr>
          <p:cNvPr id="29" name="TextBox 28">
            <a:extLst>
              <a:ext uri="{FF2B5EF4-FFF2-40B4-BE49-F238E27FC236}">
                <a16:creationId xmlns:a16="http://schemas.microsoft.com/office/drawing/2014/main" id="{953D9869-C6DA-DB7A-6F08-AE0DB230CF73}"/>
              </a:ext>
            </a:extLst>
          </p:cNvPr>
          <p:cNvSpPr txBox="1"/>
          <p:nvPr/>
        </p:nvSpPr>
        <p:spPr>
          <a:xfrm>
            <a:off x="2769922" y="5891491"/>
            <a:ext cx="1211599"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mn-ea"/>
                <a:cs typeface="+mn-cs"/>
              </a:rPr>
              <a:t>ICC</a:t>
            </a:r>
          </a:p>
        </p:txBody>
      </p:sp>
      <p:sp>
        <p:nvSpPr>
          <p:cNvPr id="31" name="TextBox 30">
            <a:extLst>
              <a:ext uri="{FF2B5EF4-FFF2-40B4-BE49-F238E27FC236}">
                <a16:creationId xmlns:a16="http://schemas.microsoft.com/office/drawing/2014/main" id="{5962916F-7372-E793-A9A8-29B675A62427}"/>
              </a:ext>
            </a:extLst>
          </p:cNvPr>
          <p:cNvSpPr txBox="1"/>
          <p:nvPr/>
        </p:nvSpPr>
        <p:spPr>
          <a:xfrm>
            <a:off x="5302622" y="5366144"/>
            <a:ext cx="164465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Rectal primary </a:t>
            </a:r>
          </a:p>
        </p:txBody>
      </p:sp>
      <p:sp>
        <p:nvSpPr>
          <p:cNvPr id="41" name="TextBox 40">
            <a:extLst>
              <a:ext uri="{FF2B5EF4-FFF2-40B4-BE49-F238E27FC236}">
                <a16:creationId xmlns:a16="http://schemas.microsoft.com/office/drawing/2014/main" id="{D3EF641F-68F2-4A43-B752-37A4F965A32C}"/>
              </a:ext>
            </a:extLst>
          </p:cNvPr>
          <p:cNvSpPr txBox="1"/>
          <p:nvPr/>
        </p:nvSpPr>
        <p:spPr>
          <a:xfrm>
            <a:off x="5367203" y="4589163"/>
            <a:ext cx="1003334" cy="27808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Metastases</a:t>
            </a:r>
          </a:p>
        </p:txBody>
      </p:sp>
      <p:sp>
        <p:nvSpPr>
          <p:cNvPr id="47" name="TextBox 46">
            <a:extLst>
              <a:ext uri="{FF2B5EF4-FFF2-40B4-BE49-F238E27FC236}">
                <a16:creationId xmlns:a16="http://schemas.microsoft.com/office/drawing/2014/main" id="{468E5584-FC9D-3CD3-A7FA-2B311B3449B1}"/>
              </a:ext>
            </a:extLst>
          </p:cNvPr>
          <p:cNvSpPr txBox="1"/>
          <p:nvPr/>
        </p:nvSpPr>
        <p:spPr>
          <a:xfrm>
            <a:off x="4122522" y="5805952"/>
            <a:ext cx="262098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No evidence of on-target, off-tumor healthy tissue uptake. Liver uptake is due to </a:t>
            </a:r>
            <a:r>
              <a:rPr kumimoji="0" lang="en-US" sz="1200" b="0" i="0" u="none" strike="noStrike" kern="1200" cap="none" spc="0" normalizeH="0" baseline="0" noProof="0" err="1">
                <a:ln>
                  <a:noFill/>
                </a:ln>
                <a:solidFill>
                  <a:srgbClr val="000000"/>
                </a:solidFill>
                <a:effectLst/>
                <a:uLnTx/>
                <a:uFillTx/>
                <a:latin typeface="Funnel Sans"/>
                <a:ea typeface="+mn-ea"/>
                <a:cs typeface="+mn-cs"/>
              </a:rPr>
              <a:t>mAb</a:t>
            </a:r>
            <a:r>
              <a:rPr kumimoji="0" lang="en-US" sz="1200" b="0" i="0" u="none" strike="noStrike" kern="1200" cap="none" spc="0" normalizeH="0" baseline="0" noProof="0">
                <a:ln>
                  <a:noFill/>
                </a:ln>
                <a:solidFill>
                  <a:srgbClr val="000000"/>
                </a:solidFill>
                <a:effectLst/>
                <a:uLnTx/>
                <a:uFillTx/>
                <a:latin typeface="Funnel Sans"/>
                <a:ea typeface="+mn-ea"/>
                <a:cs typeface="+mn-cs"/>
              </a:rPr>
              <a:t> catabolism.</a:t>
            </a:r>
          </a:p>
        </p:txBody>
      </p:sp>
      <p:sp>
        <p:nvSpPr>
          <p:cNvPr id="48" name="TextBox 47">
            <a:extLst>
              <a:ext uri="{FF2B5EF4-FFF2-40B4-BE49-F238E27FC236}">
                <a16:creationId xmlns:a16="http://schemas.microsoft.com/office/drawing/2014/main" id="{07483F5F-7706-E342-A4C0-7EEB64DCE646}"/>
              </a:ext>
            </a:extLst>
          </p:cNvPr>
          <p:cNvSpPr txBox="1"/>
          <p:nvPr/>
        </p:nvSpPr>
        <p:spPr>
          <a:xfrm>
            <a:off x="5745992" y="3363487"/>
            <a:ext cx="100333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Clear tumor uptake of </a:t>
            </a:r>
            <a:r>
              <a:rPr kumimoji="0" lang="en-US" sz="1200" b="0" i="0" u="none" strike="noStrike" kern="1200" cap="none" spc="0" normalizeH="0" baseline="0" noProof="0" err="1">
                <a:ln>
                  <a:noFill/>
                </a:ln>
                <a:solidFill>
                  <a:srgbClr val="000000"/>
                </a:solidFill>
                <a:effectLst/>
                <a:uLnTx/>
                <a:uFillTx/>
                <a:latin typeface="Funnel Sans"/>
                <a:ea typeface="+mn-ea"/>
                <a:cs typeface="+mn-cs"/>
              </a:rPr>
              <a:t>mAb</a:t>
            </a:r>
            <a:r>
              <a:rPr kumimoji="0" lang="en-US" sz="1200" b="0" i="0" u="none" strike="noStrike" kern="1200" cap="none" spc="0" normalizeH="0" baseline="0" noProof="0">
                <a:ln>
                  <a:noFill/>
                </a:ln>
                <a:solidFill>
                  <a:srgbClr val="000000"/>
                </a:solidFill>
                <a:effectLst/>
                <a:uLnTx/>
                <a:uFillTx/>
                <a:latin typeface="Funnel Sans"/>
                <a:ea typeface="+mn-ea"/>
                <a:cs typeface="+mn-cs"/>
              </a:rPr>
              <a:t> RLT</a:t>
            </a:r>
          </a:p>
        </p:txBody>
      </p:sp>
      <p:graphicFrame>
        <p:nvGraphicFramePr>
          <p:cNvPr id="16" name="Table 15">
            <a:extLst>
              <a:ext uri="{FF2B5EF4-FFF2-40B4-BE49-F238E27FC236}">
                <a16:creationId xmlns:a16="http://schemas.microsoft.com/office/drawing/2014/main" id="{AA9EE9FD-2F1E-3E0D-1B00-A92BD1790113}"/>
              </a:ext>
            </a:extLst>
          </p:cNvPr>
          <p:cNvGraphicFramePr>
            <a:graphicFrameLocks noGrp="1"/>
          </p:cNvGraphicFramePr>
          <p:nvPr/>
        </p:nvGraphicFramePr>
        <p:xfrm>
          <a:off x="7218813" y="2309182"/>
          <a:ext cx="3180051" cy="2220748"/>
        </p:xfrm>
        <a:graphic>
          <a:graphicData uri="http://schemas.openxmlformats.org/drawingml/2006/table">
            <a:tbl>
              <a:tblPr firstRow="1" bandRow="1">
                <a:tableStyleId>{2D5ABB26-0587-4C30-8999-92F81FD0307C}</a:tableStyleId>
              </a:tblPr>
              <a:tblGrid>
                <a:gridCol w="1168371">
                  <a:extLst>
                    <a:ext uri="{9D8B030D-6E8A-4147-A177-3AD203B41FA5}">
                      <a16:colId xmlns:a16="http://schemas.microsoft.com/office/drawing/2014/main" val="2342644943"/>
                    </a:ext>
                  </a:extLst>
                </a:gridCol>
                <a:gridCol w="182880">
                  <a:extLst>
                    <a:ext uri="{9D8B030D-6E8A-4147-A177-3AD203B41FA5}">
                      <a16:colId xmlns:a16="http://schemas.microsoft.com/office/drawing/2014/main" val="3754668722"/>
                    </a:ext>
                  </a:extLst>
                </a:gridCol>
                <a:gridCol w="1828800">
                  <a:extLst>
                    <a:ext uri="{9D8B030D-6E8A-4147-A177-3AD203B41FA5}">
                      <a16:colId xmlns:a16="http://schemas.microsoft.com/office/drawing/2014/main" val="1461637697"/>
                    </a:ext>
                  </a:extLst>
                </a:gridCol>
              </a:tblGrid>
              <a:tr h="521488">
                <a:tc>
                  <a:txBody>
                    <a:bodyPr/>
                    <a:lstStyle/>
                    <a:p>
                      <a:r>
                        <a:rPr lang="en-US" sz="1200" b="0">
                          <a:latin typeface="Funnel Sans Medium" pitchFamily="2" charset="0"/>
                        </a:rPr>
                        <a:t>Tumor-specific accessibility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150" b="0"/>
                        <a:t>Apical in normal gut, </a:t>
                      </a:r>
                    </a:p>
                    <a:p>
                      <a:r>
                        <a:rPr lang="en-US" sz="1150" b="0"/>
                        <a:t>No polarization in tumors</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312893">
                <a:tc>
                  <a:txBody>
                    <a:bodyPr/>
                    <a:lstStyle/>
                    <a:p>
                      <a:r>
                        <a:rPr lang="en-US" sz="1200" b="0">
                          <a:latin typeface="Funnel Sans Medium" pitchFamily="2" charset="0"/>
                        </a:rPr>
                        <a:t>Internalization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150" b="0"/>
                        <a:t>Slowly, inducible with mAbs, sdAbs</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63785566"/>
                  </a:ext>
                </a:extLst>
              </a:tr>
              <a:tr h="616621">
                <a:tc>
                  <a:txBody>
                    <a:bodyPr/>
                    <a:lstStyle/>
                    <a:p>
                      <a:r>
                        <a:rPr lang="en-US" sz="1200" b="0">
                          <a:latin typeface="Funnel Sans Medium" pitchFamily="2" charset="0"/>
                        </a:rPr>
                        <a:t>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150" b="0"/>
                        <a:t>Highly abundant, no serum sink with mAb RLT observed in humans</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24988676"/>
                  </a:ext>
                </a:extLst>
              </a:tr>
              <a:tr h="521488">
                <a:tc>
                  <a:txBody>
                    <a:bodyPr/>
                    <a:lstStyle/>
                    <a:p>
                      <a:r>
                        <a:rPr lang="en-US" sz="1200" b="0" err="1">
                          <a:latin typeface="Funnel Sans Medium" pitchFamily="2" charset="0"/>
                        </a:rPr>
                        <a:t>Ligandability</a:t>
                      </a:r>
                      <a:endParaRPr lang="en-US" sz="1200" b="0">
                        <a:latin typeface="Funnel Sans Medium" pitchFamily="2" charset="0"/>
                      </a:endParaRP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150" b="0"/>
                        <a:t>Target known A3-B3 epitope from Ab</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2277830281"/>
                  </a:ext>
                </a:extLst>
              </a:tr>
            </a:tbl>
          </a:graphicData>
        </a:graphic>
      </p:graphicFrame>
      <p:graphicFrame>
        <p:nvGraphicFramePr>
          <p:cNvPr id="17" name="Table 16">
            <a:extLst>
              <a:ext uri="{FF2B5EF4-FFF2-40B4-BE49-F238E27FC236}">
                <a16:creationId xmlns:a16="http://schemas.microsoft.com/office/drawing/2014/main" id="{06792AC9-FF95-C66D-2A0D-679ADD33AE5D}"/>
              </a:ext>
            </a:extLst>
          </p:cNvPr>
          <p:cNvGraphicFramePr>
            <a:graphicFrameLocks noGrp="1"/>
          </p:cNvGraphicFramePr>
          <p:nvPr/>
        </p:nvGraphicFramePr>
        <p:xfrm>
          <a:off x="7188485" y="5681492"/>
          <a:ext cx="4552190" cy="840458"/>
        </p:xfrm>
        <a:graphic>
          <a:graphicData uri="http://schemas.openxmlformats.org/drawingml/2006/table">
            <a:tbl>
              <a:tblPr firstRow="1" bandRow="1">
                <a:tableStyleId>{2D5ABB26-0587-4C30-8999-92F81FD0307C}</a:tableStyleId>
              </a:tblPr>
              <a:tblGrid>
                <a:gridCol w="931273">
                  <a:extLst>
                    <a:ext uri="{9D8B030D-6E8A-4147-A177-3AD203B41FA5}">
                      <a16:colId xmlns:a16="http://schemas.microsoft.com/office/drawing/2014/main" val="2342644943"/>
                    </a:ext>
                  </a:extLst>
                </a:gridCol>
                <a:gridCol w="3620917">
                  <a:extLst>
                    <a:ext uri="{9D8B030D-6E8A-4147-A177-3AD203B41FA5}">
                      <a16:colId xmlns:a16="http://schemas.microsoft.com/office/drawing/2014/main" val="1461637697"/>
                    </a:ext>
                  </a:extLst>
                </a:gridCol>
              </a:tblGrid>
              <a:tr h="317973">
                <a:tc>
                  <a:txBody>
                    <a:bodyPr/>
                    <a:lstStyle/>
                    <a:p>
                      <a:r>
                        <a:rPr lang="en-US" sz="1200" b="0">
                          <a:latin typeface="Funnel Sans Medium" pitchFamily="2" charset="0"/>
                        </a:rPr>
                        <a:t>Modality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a:t>CEACAM5-targeted monomeric or bis-peptide RLT</a:t>
                      </a:r>
                      <a:endParaRPr lang="en-US" sz="1200" b="0"/>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522485">
                <a:tc>
                  <a:txBody>
                    <a:bodyPr/>
                    <a:lstStyle/>
                    <a:p>
                      <a:r>
                        <a:rPr lang="en-US" sz="1200" b="0">
                          <a:latin typeface="Funnel Sans Medium" pitchFamily="2" charset="0"/>
                        </a:rPr>
                        <a:t>Positioning</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a:t>Stage II/III CRC, post surgery MRD+ patients replacing current chemo adjuvant therapy</a:t>
                      </a:r>
                      <a:endParaRPr lang="en-US" sz="1200" b="0"/>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1663785566"/>
                  </a:ext>
                </a:extLst>
              </a:tr>
            </a:tbl>
          </a:graphicData>
        </a:graphic>
      </p:graphicFrame>
      <p:sp>
        <p:nvSpPr>
          <p:cNvPr id="13" name="TextBox 12">
            <a:extLst>
              <a:ext uri="{FF2B5EF4-FFF2-40B4-BE49-F238E27FC236}">
                <a16:creationId xmlns:a16="http://schemas.microsoft.com/office/drawing/2014/main" id="{EC81BEE8-F7CF-D57F-8805-6D638F9748F4}"/>
              </a:ext>
            </a:extLst>
          </p:cNvPr>
          <p:cNvSpPr txBox="1"/>
          <p:nvPr/>
        </p:nvSpPr>
        <p:spPr>
          <a:xfrm>
            <a:off x="2716758" y="2859253"/>
            <a:ext cx="1207473" cy="28875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F1A43"/>
                </a:solidFill>
                <a:effectLst/>
                <a:uLnTx/>
                <a:uFillTx/>
                <a:latin typeface="Funnel Sans Medium" pitchFamily="2" charset="0"/>
                <a:ea typeface="+mn-ea"/>
                <a:cs typeface="+mn-cs"/>
              </a:rPr>
              <a:t>Inaccessible</a:t>
            </a:r>
          </a:p>
        </p:txBody>
      </p:sp>
      <p:sp>
        <p:nvSpPr>
          <p:cNvPr id="18" name="TextBox 17">
            <a:extLst>
              <a:ext uri="{FF2B5EF4-FFF2-40B4-BE49-F238E27FC236}">
                <a16:creationId xmlns:a16="http://schemas.microsoft.com/office/drawing/2014/main" id="{8BA51FDA-8483-5F97-0D84-6CA120C77B87}"/>
              </a:ext>
            </a:extLst>
          </p:cNvPr>
          <p:cNvSpPr txBox="1"/>
          <p:nvPr/>
        </p:nvSpPr>
        <p:spPr>
          <a:xfrm>
            <a:off x="2766154" y="4728207"/>
            <a:ext cx="1207473" cy="288759"/>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61896E">
                    <a:lumMod val="75000"/>
                  </a:srgbClr>
                </a:solidFill>
                <a:effectLst/>
                <a:uLnTx/>
                <a:uFillTx/>
                <a:latin typeface="Funnel Sans Medium" pitchFamily="2" charset="0"/>
                <a:ea typeface="+mn-ea"/>
                <a:cs typeface="+mn-cs"/>
              </a:rPr>
              <a:t>Accessible</a:t>
            </a:r>
          </a:p>
        </p:txBody>
      </p:sp>
      <p:sp>
        <p:nvSpPr>
          <p:cNvPr id="24" name="Rectangle 23">
            <a:extLst>
              <a:ext uri="{FF2B5EF4-FFF2-40B4-BE49-F238E27FC236}">
                <a16:creationId xmlns:a16="http://schemas.microsoft.com/office/drawing/2014/main" id="{4AAE0E1E-770B-92F1-E72E-B84201B0488A}"/>
              </a:ext>
            </a:extLst>
          </p:cNvPr>
          <p:cNvSpPr/>
          <p:nvPr/>
        </p:nvSpPr>
        <p:spPr>
          <a:xfrm>
            <a:off x="10458657" y="2477276"/>
            <a:ext cx="432690" cy="260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30" name="Rectangle 29">
            <a:extLst>
              <a:ext uri="{FF2B5EF4-FFF2-40B4-BE49-F238E27FC236}">
                <a16:creationId xmlns:a16="http://schemas.microsoft.com/office/drawing/2014/main" id="{4C30D6FC-0ADE-E0B7-85F3-17EC54680F85}"/>
              </a:ext>
            </a:extLst>
          </p:cNvPr>
          <p:cNvSpPr/>
          <p:nvPr/>
        </p:nvSpPr>
        <p:spPr>
          <a:xfrm>
            <a:off x="10398864" y="3479054"/>
            <a:ext cx="246497" cy="2602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Tree>
    <p:extLst>
      <p:ext uri="{BB962C8B-B14F-4D97-AF65-F5344CB8AC3E}">
        <p14:creationId xmlns:p14="http://schemas.microsoft.com/office/powerpoint/2010/main" val="1073498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41688-8895-54A4-E57E-DDBAADFC7FEF}"/>
            </a:ext>
          </a:extLst>
        </p:cNvPr>
        <p:cNvGrpSpPr/>
        <p:nvPr/>
      </p:nvGrpSpPr>
      <p:grpSpPr>
        <a:xfrm>
          <a:off x="0" y="0"/>
          <a:ext cx="0" cy="0"/>
          <a:chOff x="0" y="0"/>
          <a:chExt cx="0" cy="0"/>
        </a:xfrm>
      </p:grpSpPr>
      <p:sp>
        <p:nvSpPr>
          <p:cNvPr id="14" name="Text 28">
            <a:extLst>
              <a:ext uri="{FF2B5EF4-FFF2-40B4-BE49-F238E27FC236}">
                <a16:creationId xmlns:a16="http://schemas.microsoft.com/office/drawing/2014/main" id="{DDD0CAB0-FD76-B052-FF47-146C6618ABF3}"/>
              </a:ext>
            </a:extLst>
          </p:cNvPr>
          <p:cNvSpPr/>
          <p:nvPr/>
        </p:nvSpPr>
        <p:spPr>
          <a:xfrm>
            <a:off x="254000" y="635564"/>
            <a:ext cx="11684000" cy="762000"/>
          </a:xfrm>
          <a:prstGeom prst="rect">
            <a:avLst/>
          </a:prstGeom>
          <a:noFill/>
          <a:ln/>
        </p:spPr>
        <p:txBody>
          <a:bodyPr wrap="square" lIns="91440" tIns="45720" rIns="91440" bIns="45720" rtlCol="0" anchor="ctr"/>
          <a:lstStyle/>
          <a:p>
            <a:pPr>
              <a:lnSpc>
                <a:spcPts val="3000"/>
              </a:lnSpc>
            </a:pPr>
            <a:r>
              <a:rPr lang="en-US" sz="2400" kern="0" spc="-24" dirty="0">
                <a:solidFill>
                  <a:srgbClr val="000000">
                    <a:alpha val="99000"/>
                  </a:srgbClr>
                </a:solidFill>
              </a:rPr>
              <a:t>CEACAM5-directed programs support targetability and provide early read-throughs for RLT development</a:t>
            </a:r>
          </a:p>
        </p:txBody>
      </p:sp>
      <p:sp>
        <p:nvSpPr>
          <p:cNvPr id="17" name="Rectangle: Rounded Corners 16">
            <a:extLst>
              <a:ext uri="{FF2B5EF4-FFF2-40B4-BE49-F238E27FC236}">
                <a16:creationId xmlns:a16="http://schemas.microsoft.com/office/drawing/2014/main" id="{BDBF3473-107F-D704-F1E5-92E248D02FEC}"/>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ysClr val="windowText" lastClr="000000"/>
                </a:solidFill>
              </a:rPr>
              <a:t>Landscape</a:t>
            </a:r>
          </a:p>
        </p:txBody>
      </p:sp>
      <p:sp>
        <p:nvSpPr>
          <p:cNvPr id="16" name="TextBox 15">
            <a:extLst>
              <a:ext uri="{FF2B5EF4-FFF2-40B4-BE49-F238E27FC236}">
                <a16:creationId xmlns:a16="http://schemas.microsoft.com/office/drawing/2014/main" id="{0B3ADCA0-8F9A-AA6D-E70E-EAB505293F5A}"/>
              </a:ext>
            </a:extLst>
          </p:cNvPr>
          <p:cNvSpPr txBox="1"/>
          <p:nvPr/>
        </p:nvSpPr>
        <p:spPr>
          <a:xfrm>
            <a:off x="11055350" y="6540500"/>
            <a:ext cx="1136650" cy="246221"/>
          </a:xfrm>
          <a:prstGeom prst="rect">
            <a:avLst/>
          </a:prstGeom>
          <a:noFill/>
        </p:spPr>
        <p:txBody>
          <a:bodyPr wrap="square" rtlCol="0">
            <a:spAutoFit/>
          </a:bodyPr>
          <a:lstStyle/>
          <a:p>
            <a:pPr algn="r"/>
            <a:r>
              <a:rPr lang="en-US" sz="1000"/>
              <a:t>Confidential </a:t>
            </a:r>
            <a:fld id="{F55465F9-4A58-45DB-8234-396342B5FF6F}" type="slidenum">
              <a:rPr lang="en-US" sz="1000" smtClean="0"/>
              <a:pPr algn="r"/>
              <a:t>3</a:t>
            </a:fld>
            <a:endParaRPr lang="en-US" sz="1000"/>
          </a:p>
        </p:txBody>
      </p:sp>
      <p:cxnSp>
        <p:nvCxnSpPr>
          <p:cNvPr id="100" name="Line 99"/>
          <p:cNvCxnSpPr/>
          <p:nvPr/>
        </p:nvCxnSpPr>
        <p:spPr>
          <a:xfrm>
            <a:off x="254000" y="1422400"/>
            <a:ext cx="11684000" cy="0"/>
          </a:xfrm>
          <a:prstGeom prst="line">
            <a:avLst/>
          </a:prstGeom>
          <a:ln w="9525">
            <a:solidFill>
              <a:srgbClr val="E8E8E8"/>
            </a:solidFill>
          </a:ln>
        </p:spPr>
      </p:cxnSp>
      <p:sp>
        <p:nvSpPr>
          <p:cNvPr id="200" name="Card 200"/>
          <p:cNvSpPr/>
          <p:nvPr/>
        </p:nvSpPr>
        <p:spPr>
          <a:xfrm>
            <a:off x="254000" y="1651000"/>
            <a:ext cx="3810000" cy="4889500"/>
          </a:xfrm>
          <a:prstGeom prst="roundRect">
            <a:avLst>
              <a:gd name="adj" fmla="val 4802"/>
            </a:avLst>
          </a:prstGeom>
          <a:solidFill>
            <a:srgbClr val="F7F6F4"/>
          </a:solidFill>
          <a:ln w="6350">
            <a:noFill/>
          </a:ln>
        </p:spPr>
        <p:txBody>
          <a:bodyPr wrap="square" lIns="0" tIns="0" rIns="0" bIns="0" anchor="t"/>
          <a:lstStyle/>
          <a:p>
            <a:endParaRPr lang="en-US" sz="1400"/>
          </a:p>
        </p:txBody>
      </p:sp>
      <p:sp>
        <p:nvSpPr>
          <p:cNvPr id="201" name="Header 201"/>
          <p:cNvSpPr/>
          <p:nvPr/>
        </p:nvSpPr>
        <p:spPr>
          <a:xfrm>
            <a:off x="254000" y="1651000"/>
            <a:ext cx="3810000" cy="508000"/>
          </a:xfrm>
          <a:prstGeom prst="roundRect">
            <a:avLst>
              <a:gd name="adj" fmla="val 16667"/>
            </a:avLst>
          </a:prstGeom>
          <a:solidFill>
            <a:srgbClr val="1A4141"/>
          </a:solidFill>
          <a:ln>
            <a:noFill/>
          </a:ln>
        </p:spPr>
        <p:txBody>
          <a:bodyPr wrap="square" lIns="108000" tIns="54000" rIns="108000" bIns="54000" anchor="ctr"/>
          <a:lstStyle/>
          <a:p>
            <a:pPr algn="ctr"/>
            <a:r>
              <a:rPr lang="en-US" sz="1400" b="1">
                <a:solidFill>
                  <a:srgbClr val="FFFFFF"/>
                </a:solidFill>
                <a:latin typeface="Funnel Sans"/>
                <a:ea typeface="Funnel Sans"/>
              </a:rPr>
              <a:t>Lead clinical ADC programs</a:t>
            </a:r>
          </a:p>
        </p:txBody>
      </p:sp>
      <p:sp>
        <p:nvSpPr>
          <p:cNvPr id="202" name="Body 202"/>
          <p:cNvSpPr/>
          <p:nvPr/>
        </p:nvSpPr>
        <p:spPr>
          <a:xfrm>
            <a:off x="381000" y="2286000"/>
            <a:ext cx="3556000" cy="4127500"/>
          </a:xfrm>
          <a:prstGeom prst="rect">
            <a:avLst/>
          </a:prstGeom>
          <a:noFill/>
          <a:ln>
            <a:noFill/>
          </a:ln>
        </p:spPr>
        <p:txBody>
          <a:bodyPr wrap="square" lIns="72000" tIns="72000" rIns="72000" bIns="36000" anchor="t"/>
          <a:lstStyle/>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Tusamitamab ravtansine (Sanofi)</a:t>
            </a:r>
            <a:r>
              <a:rPr lang="en-US" sz="1200" dirty="0">
                <a:solidFill>
                  <a:srgbClr val="000000"/>
                </a:solidFill>
                <a:latin typeface="Funnel Sans"/>
                <a:ea typeface="Funnel Sans"/>
              </a:rPr>
              <a:t> — </a:t>
            </a:r>
            <a:r>
              <a:rPr lang="en-US" sz="1200" i="1" dirty="0">
                <a:solidFill>
                  <a:srgbClr val="555555"/>
                </a:solidFill>
                <a:latin typeface="Funnel Sans"/>
                <a:ea typeface="Funnel Sans"/>
              </a:rPr>
              <a:t>Ph3 terminated.</a:t>
            </a:r>
            <a:r>
              <a:rPr lang="en-US" sz="1200" dirty="0">
                <a:solidFill>
                  <a:srgbClr val="000000"/>
                </a:solidFill>
                <a:latin typeface="Funnel Sans"/>
                <a:ea typeface="Funnel Sans"/>
              </a:rPr>
              <a:t> 2L NSCLC; ORR ~20% in CEACAM5-high; Correlation of response to  </a:t>
            </a:r>
            <a:r>
              <a:rPr lang="en-US" sz="1200" dirty="0" err="1">
                <a:solidFill>
                  <a:srgbClr val="000000"/>
                </a:solidFill>
                <a:latin typeface="Funnel Sans"/>
                <a:ea typeface="Funnel Sans"/>
              </a:rPr>
              <a:t>cCEA</a:t>
            </a:r>
            <a:r>
              <a:rPr lang="en-US" sz="1200" dirty="0">
                <a:solidFill>
                  <a:srgbClr val="000000"/>
                </a:solidFill>
                <a:latin typeface="Funnel Sans"/>
                <a:ea typeface="Funnel Sans"/>
              </a:rPr>
              <a:t> - ~42% ORR in high </a:t>
            </a:r>
            <a:r>
              <a:rPr lang="en-US" sz="1200" dirty="0" err="1">
                <a:solidFill>
                  <a:srgbClr val="000000"/>
                </a:solidFill>
                <a:latin typeface="Funnel Sans"/>
                <a:ea typeface="Funnel Sans"/>
              </a:rPr>
              <a:t>cCEA</a:t>
            </a:r>
            <a:r>
              <a:rPr lang="en-US" sz="1200" dirty="0">
                <a:solidFill>
                  <a:srgbClr val="000000"/>
                </a:solidFill>
                <a:latin typeface="Funnel Sans"/>
                <a:ea typeface="Funnel Sans"/>
              </a:rPr>
              <a:t> patients; mPFS ~5.5 mo. Used PET scan to select patients. Terminated after Ph 3 readout.</a:t>
            </a:r>
          </a:p>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Precemtabart tocentecan (Merck KGaA)</a:t>
            </a:r>
            <a:r>
              <a:rPr lang="en-US" sz="1200" dirty="0">
                <a:solidFill>
                  <a:srgbClr val="000000"/>
                </a:solidFill>
                <a:latin typeface="Funnel Sans"/>
                <a:ea typeface="Funnel Sans"/>
              </a:rPr>
              <a:t> — </a:t>
            </a:r>
            <a:r>
              <a:rPr lang="en-US" sz="1200" i="1" dirty="0">
                <a:solidFill>
                  <a:srgbClr val="555555"/>
                </a:solidFill>
                <a:latin typeface="Funnel Sans"/>
                <a:ea typeface="Funnel Sans"/>
              </a:rPr>
              <a:t>Ph3 planned H1 2026.</a:t>
            </a:r>
            <a:r>
              <a:rPr lang="en-US" sz="1200" dirty="0">
                <a:solidFill>
                  <a:srgbClr val="000000"/>
                </a:solidFill>
                <a:latin typeface="Funnel Sans"/>
                <a:ea typeface="Funnel Sans"/>
              </a:rPr>
              <a:t> 2L+ CRC; 31% ORR; </a:t>
            </a:r>
            <a:r>
              <a:rPr lang="en-US" sz="1200" dirty="0" err="1">
                <a:solidFill>
                  <a:srgbClr val="000000"/>
                </a:solidFill>
                <a:latin typeface="Funnel Sans"/>
                <a:ea typeface="Funnel Sans"/>
              </a:rPr>
              <a:t>mPFS</a:t>
            </a:r>
            <a:r>
              <a:rPr lang="en-US" sz="1200" dirty="0">
                <a:solidFill>
                  <a:srgbClr val="000000"/>
                </a:solidFill>
                <a:latin typeface="Funnel Sans"/>
                <a:ea typeface="Funnel Sans"/>
              </a:rPr>
              <a:t> 6.9 </a:t>
            </a:r>
            <a:r>
              <a:rPr lang="en-US" sz="1200" dirty="0" err="1">
                <a:solidFill>
                  <a:srgbClr val="000000"/>
                </a:solidFill>
                <a:latin typeface="Funnel Sans"/>
                <a:ea typeface="Funnel Sans"/>
              </a:rPr>
              <a:t>mo</a:t>
            </a:r>
            <a:r>
              <a:rPr lang="en-US" sz="1200" dirty="0">
                <a:solidFill>
                  <a:srgbClr val="000000"/>
                </a:solidFill>
                <a:latin typeface="Funnel Sans"/>
                <a:ea typeface="Funnel Sans"/>
              </a:rPr>
              <a:t>; 66% Grade 3 TEAEs, largely neutropenia and anemia (possibly payload associated) and 76% Grade 1-2 GI AEs</a:t>
            </a:r>
          </a:p>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SG-CEACAM5C (Seagen/Pfizer)</a:t>
            </a:r>
            <a:r>
              <a:rPr lang="en-US" sz="1200" dirty="0">
                <a:solidFill>
                  <a:srgbClr val="000000"/>
                </a:solidFill>
                <a:latin typeface="Funnel Sans"/>
                <a:ea typeface="Funnel Sans"/>
              </a:rPr>
              <a:t> — </a:t>
            </a:r>
            <a:r>
              <a:rPr lang="en-US" sz="1200" i="1" dirty="0">
                <a:solidFill>
                  <a:srgbClr val="555555"/>
                </a:solidFill>
                <a:latin typeface="Funnel Sans"/>
                <a:ea typeface="Funnel Sans"/>
              </a:rPr>
              <a:t>Status uncertain.</a:t>
            </a:r>
            <a:r>
              <a:rPr lang="en-US" sz="1200" dirty="0">
                <a:solidFill>
                  <a:srgbClr val="000000"/>
                </a:solidFill>
                <a:latin typeface="Funnel Sans"/>
                <a:ea typeface="Funnel Sans"/>
              </a:rPr>
              <a:t> Topo payload; multi-tumor; no results posted</a:t>
            </a:r>
          </a:p>
        </p:txBody>
      </p:sp>
      <p:sp>
        <p:nvSpPr>
          <p:cNvPr id="210" name="Card 210"/>
          <p:cNvSpPr/>
          <p:nvPr/>
        </p:nvSpPr>
        <p:spPr>
          <a:xfrm>
            <a:off x="4216400" y="1651000"/>
            <a:ext cx="3810000" cy="4889500"/>
          </a:xfrm>
          <a:prstGeom prst="roundRect">
            <a:avLst>
              <a:gd name="adj" fmla="val 5341"/>
            </a:avLst>
          </a:prstGeom>
          <a:solidFill>
            <a:srgbClr val="F7F6F4"/>
          </a:solidFill>
          <a:ln w="6350">
            <a:noFill/>
          </a:ln>
        </p:spPr>
        <p:txBody>
          <a:bodyPr wrap="square" lIns="0" tIns="0" rIns="0" bIns="0" anchor="t"/>
          <a:lstStyle/>
          <a:p>
            <a:endParaRPr lang="en-US" sz="1400"/>
          </a:p>
        </p:txBody>
      </p:sp>
      <p:sp>
        <p:nvSpPr>
          <p:cNvPr id="211" name="Header 211"/>
          <p:cNvSpPr/>
          <p:nvPr/>
        </p:nvSpPr>
        <p:spPr>
          <a:xfrm>
            <a:off x="4216400" y="1651000"/>
            <a:ext cx="3810000" cy="508000"/>
          </a:xfrm>
          <a:prstGeom prst="roundRect">
            <a:avLst>
              <a:gd name="adj" fmla="val 16667"/>
            </a:avLst>
          </a:prstGeom>
          <a:solidFill>
            <a:srgbClr val="256765"/>
          </a:solidFill>
          <a:ln>
            <a:noFill/>
          </a:ln>
        </p:spPr>
        <p:txBody>
          <a:bodyPr wrap="square" lIns="108000" tIns="54000" rIns="108000" bIns="54000" anchor="ctr"/>
          <a:lstStyle/>
          <a:p>
            <a:pPr algn="ctr"/>
            <a:r>
              <a:rPr lang="en-US" sz="1400" b="1">
                <a:solidFill>
                  <a:srgbClr val="FFFFFF"/>
                </a:solidFill>
                <a:latin typeface="Funnel Sans"/>
                <a:ea typeface="Funnel Sans"/>
              </a:rPr>
              <a:t>Earlier-stage &amp; other modalities</a:t>
            </a:r>
          </a:p>
        </p:txBody>
      </p:sp>
      <p:sp>
        <p:nvSpPr>
          <p:cNvPr id="212" name="Body 212"/>
          <p:cNvSpPr/>
          <p:nvPr/>
        </p:nvSpPr>
        <p:spPr>
          <a:xfrm>
            <a:off x="4343400" y="2286000"/>
            <a:ext cx="3556000" cy="4127500"/>
          </a:xfrm>
          <a:prstGeom prst="rect">
            <a:avLst/>
          </a:prstGeom>
          <a:noFill/>
          <a:ln>
            <a:noFill/>
          </a:ln>
        </p:spPr>
        <p:txBody>
          <a:bodyPr wrap="square" lIns="72000" tIns="72000" rIns="72000" bIns="36000" anchor="t"/>
          <a:lstStyle/>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EBC-129 (A*STAR)</a:t>
            </a:r>
            <a:r>
              <a:rPr lang="en-US" sz="1200" dirty="0">
                <a:solidFill>
                  <a:srgbClr val="000000"/>
                </a:solidFill>
                <a:latin typeface="Funnel Sans"/>
                <a:ea typeface="Funnel Sans"/>
              </a:rPr>
              <a:t> — Ph 1 in 2L+ PDAC, gastro, solid tumors</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IBI3020 (Innovent)</a:t>
            </a:r>
            <a:r>
              <a:rPr lang="en-US" sz="1200" dirty="0">
                <a:solidFill>
                  <a:srgbClr val="000000"/>
                </a:solidFill>
                <a:latin typeface="Funnel Sans"/>
                <a:ea typeface="Funnel Sans"/>
              </a:rPr>
              <a:t> — Ph 1 ongoing; advanced solid tumors; FPI April 2025</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SMP-190 (Chengdu XZiling)</a:t>
            </a:r>
            <a:r>
              <a:rPr lang="en-US" sz="1200" dirty="0">
                <a:solidFill>
                  <a:srgbClr val="000000"/>
                </a:solidFill>
                <a:latin typeface="Funnel Sans"/>
                <a:ea typeface="Funnel Sans"/>
              </a:rPr>
              <a:t> — IND enablement; DXd analog payload</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CAR-T (academic)</a:t>
            </a:r>
            <a:r>
              <a:rPr lang="en-US" sz="1200" dirty="0">
                <a:solidFill>
                  <a:srgbClr val="000000"/>
                </a:solidFill>
                <a:latin typeface="Funnel Sans"/>
                <a:ea typeface="Funnel Sans"/>
              </a:rPr>
              <a:t> — IP delivery produced on-target colitis in some reports</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Bispecific (Roche)</a:t>
            </a:r>
            <a:r>
              <a:rPr lang="en-US" sz="1200" dirty="0">
                <a:solidFill>
                  <a:srgbClr val="000000"/>
                </a:solidFill>
                <a:latin typeface="Funnel Sans"/>
                <a:ea typeface="Funnel Sans"/>
              </a:rPr>
              <a:t> — Stopped Ph 2 for lack of efficacy</a:t>
            </a:r>
          </a:p>
          <a:p>
            <a:pPr marL="171450" indent="-171450">
              <a:spcBef>
                <a:spcPts val="800"/>
              </a:spcBef>
              <a:buFont typeface="Arial" panose="020B0604020202020204" pitchFamily="34" charset="0"/>
              <a:buChar char="•"/>
            </a:pPr>
            <a:r>
              <a:rPr lang="en-US" sz="1200" b="1" dirty="0">
                <a:solidFill>
                  <a:srgbClr val="000000"/>
                </a:solidFill>
                <a:latin typeface="Funnel Sans"/>
                <a:ea typeface="Funnel Sans"/>
              </a:rPr>
              <a:t>M5A RIT (academic)</a:t>
            </a:r>
            <a:r>
              <a:rPr lang="en-US" sz="1200" dirty="0">
                <a:solidFill>
                  <a:srgbClr val="000000"/>
                </a:solidFill>
                <a:latin typeface="Funnel Sans"/>
                <a:ea typeface="Funnel Sans"/>
              </a:rPr>
              <a:t> — </a:t>
            </a:r>
            <a:r>
              <a:rPr lang="en-US" sz="1200" dirty="0"/>
              <a:t>Ac-225, Phase I (recruiting), treatment of advanced and metastatic cancer</a:t>
            </a:r>
          </a:p>
          <a:p>
            <a:pPr marL="171450" indent="-171450">
              <a:spcBef>
                <a:spcPts val="800"/>
              </a:spcBef>
              <a:buFont typeface="Arial" panose="020B0604020202020204" pitchFamily="34" charset="0"/>
              <a:buChar char="•"/>
            </a:pPr>
            <a:r>
              <a:rPr lang="en-US" sz="1200" b="1" dirty="0"/>
              <a:t>M5A diagnostic (Academic) </a:t>
            </a:r>
            <a:r>
              <a:rPr lang="en-US" sz="1200" dirty="0">
                <a:solidFill>
                  <a:srgbClr val="000000"/>
                </a:solidFill>
                <a:ea typeface="Funnel Sans"/>
              </a:rPr>
              <a:t>— </a:t>
            </a:r>
            <a:r>
              <a:rPr lang="en-US" sz="1200" dirty="0"/>
              <a:t>Cu-64, </a:t>
            </a:r>
            <a:r>
              <a:rPr lang="en-US" sz="1200" dirty="0" err="1"/>
              <a:t>ImmunoPET</a:t>
            </a:r>
            <a:r>
              <a:rPr lang="en-US" sz="1200" dirty="0"/>
              <a:t> imaging; tumor detection in locally advanced rectal cancer and medullary thyroid cancer, no major on target, off tumor signal detected</a:t>
            </a:r>
          </a:p>
          <a:p>
            <a:pPr marL="171450" indent="-171450">
              <a:spcBef>
                <a:spcPts val="800"/>
              </a:spcBef>
              <a:buFont typeface="Arial" panose="020B0604020202020204" pitchFamily="34" charset="0"/>
              <a:buChar char="•"/>
            </a:pPr>
            <a:endParaRPr lang="en-US" sz="1200" dirty="0">
              <a:solidFill>
                <a:srgbClr val="000000"/>
              </a:solidFill>
              <a:latin typeface="Funnel Sans"/>
              <a:ea typeface="Funnel Sans"/>
            </a:endParaRPr>
          </a:p>
        </p:txBody>
      </p:sp>
      <p:sp>
        <p:nvSpPr>
          <p:cNvPr id="220" name="Card 220"/>
          <p:cNvSpPr/>
          <p:nvPr/>
        </p:nvSpPr>
        <p:spPr>
          <a:xfrm>
            <a:off x="8178800" y="1651000"/>
            <a:ext cx="3810000" cy="4889500"/>
          </a:xfrm>
          <a:prstGeom prst="roundRect">
            <a:avLst>
              <a:gd name="adj" fmla="val 6959"/>
            </a:avLst>
          </a:prstGeom>
          <a:solidFill>
            <a:srgbClr val="F7F6F4"/>
          </a:solidFill>
          <a:ln w="6350">
            <a:noFill/>
          </a:ln>
        </p:spPr>
        <p:txBody>
          <a:bodyPr wrap="square" lIns="0" tIns="0" rIns="0" bIns="0" anchor="t"/>
          <a:lstStyle/>
          <a:p>
            <a:endParaRPr lang="en-US" sz="1400"/>
          </a:p>
        </p:txBody>
      </p:sp>
      <p:sp>
        <p:nvSpPr>
          <p:cNvPr id="221" name="Header 221"/>
          <p:cNvSpPr/>
          <p:nvPr/>
        </p:nvSpPr>
        <p:spPr>
          <a:xfrm>
            <a:off x="8178800" y="1651000"/>
            <a:ext cx="3810000" cy="508000"/>
          </a:xfrm>
          <a:prstGeom prst="roundRect">
            <a:avLst>
              <a:gd name="adj" fmla="val 16667"/>
            </a:avLst>
          </a:prstGeom>
          <a:solidFill>
            <a:srgbClr val="C6DCCD"/>
          </a:solidFill>
          <a:ln>
            <a:noFill/>
          </a:ln>
        </p:spPr>
        <p:txBody>
          <a:bodyPr wrap="square" lIns="108000" tIns="54000" rIns="108000" bIns="54000" anchor="ctr"/>
          <a:lstStyle/>
          <a:p>
            <a:pPr algn="ctr"/>
            <a:r>
              <a:rPr lang="en-US" sz="1400" b="1">
                <a:latin typeface="Funnel Sans"/>
                <a:ea typeface="Funnel Sans"/>
              </a:rPr>
              <a:t>Key read-throughs for RLT</a:t>
            </a:r>
          </a:p>
        </p:txBody>
      </p:sp>
      <p:sp>
        <p:nvSpPr>
          <p:cNvPr id="222" name="Body 222"/>
          <p:cNvSpPr/>
          <p:nvPr/>
        </p:nvSpPr>
        <p:spPr>
          <a:xfrm>
            <a:off x="8305800" y="2286000"/>
            <a:ext cx="3556000" cy="4127500"/>
          </a:xfrm>
          <a:prstGeom prst="rect">
            <a:avLst/>
          </a:prstGeom>
          <a:noFill/>
          <a:ln>
            <a:noFill/>
          </a:ln>
        </p:spPr>
        <p:txBody>
          <a:bodyPr wrap="square" lIns="72000" tIns="72000" rIns="72000" bIns="36000" anchor="t"/>
          <a:lstStyle/>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Biomarker selection works</a:t>
            </a:r>
            <a:r>
              <a:rPr lang="en-US" sz="1200" dirty="0">
                <a:solidFill>
                  <a:srgbClr val="000000"/>
                </a:solidFill>
                <a:latin typeface="Funnel Sans"/>
                <a:ea typeface="Funnel Sans"/>
              </a:rPr>
              <a:t> — IHC and cCEA correlate with response; RLT can use PET for patient stratification</a:t>
            </a:r>
          </a:p>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ADC toxicity is payload-driven</a:t>
            </a:r>
            <a:r>
              <a:rPr lang="en-US" sz="1200" dirty="0">
                <a:solidFill>
                  <a:srgbClr val="000000"/>
                </a:solidFill>
                <a:latin typeface="Funnel Sans"/>
                <a:ea typeface="Funnel Sans"/>
              </a:rPr>
              <a:t> — radiation payload avoids ILD, ocular tox, and chemo-driven hematotoxicity</a:t>
            </a:r>
          </a:p>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No on-target epithelial toxicity</a:t>
            </a:r>
            <a:r>
              <a:rPr lang="en-US" sz="1200" dirty="0">
                <a:solidFill>
                  <a:srgbClr val="000000"/>
                </a:solidFill>
                <a:latin typeface="Funnel Sans"/>
                <a:ea typeface="Funnel Sans"/>
              </a:rPr>
              <a:t> — consistent across ADCs, CAR-T, and bispecifics; apical polarity protects normal tissue</a:t>
            </a:r>
          </a:p>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Pan-tumor potential validated</a:t>
            </a:r>
            <a:r>
              <a:rPr lang="en-US" sz="1200" dirty="0">
                <a:solidFill>
                  <a:srgbClr val="000000"/>
                </a:solidFill>
                <a:latin typeface="Funnel Sans"/>
                <a:ea typeface="Funnel Sans"/>
              </a:rPr>
              <a:t> — programs span CRC, NSCLC, PDAC, gastric, SCLC; mirrors RLT opportunity</a:t>
            </a:r>
          </a:p>
          <a:p>
            <a:pPr marL="171450" indent="-171450">
              <a:spcBef>
                <a:spcPts val="600"/>
              </a:spcBef>
              <a:buFont typeface="Arial" panose="020B0604020202020204" pitchFamily="34" charset="0"/>
              <a:buChar char="•"/>
            </a:pPr>
            <a:r>
              <a:rPr lang="en-US" sz="1200" b="1" dirty="0">
                <a:solidFill>
                  <a:srgbClr val="000000"/>
                </a:solidFill>
                <a:latin typeface="Funnel Sans"/>
                <a:ea typeface="Funnel Sans"/>
              </a:rPr>
              <a:t>No industry-led CEACAM5-directed RLT exists</a:t>
            </a:r>
            <a:r>
              <a:rPr lang="en-US" sz="1200" dirty="0">
                <a:solidFill>
                  <a:srgbClr val="000000"/>
                </a:solidFill>
                <a:latin typeface="Funnel Sans"/>
                <a:ea typeface="Funnel Sans"/>
              </a:rPr>
              <a:t> — Academic efforts have shown promise on target and tumor-specific labeling</a:t>
            </a:r>
          </a:p>
        </p:txBody>
      </p:sp>
      <p:sp>
        <p:nvSpPr>
          <p:cNvPr id="2" name="Shape 0">
            <a:extLst>
              <a:ext uri="{FF2B5EF4-FFF2-40B4-BE49-F238E27FC236}">
                <a16:creationId xmlns:a16="http://schemas.microsoft.com/office/drawing/2014/main" id="{425E4CA7-DEEE-4223-D207-6ED06D476A8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 name="Image 3" descr="preencoded.png">
            <a:extLst>
              <a:ext uri="{FF2B5EF4-FFF2-40B4-BE49-F238E27FC236}">
                <a16:creationId xmlns:a16="http://schemas.microsoft.com/office/drawing/2014/main" id="{49649FD3-B1D8-A911-9F0E-5896636F9213}"/>
              </a:ext>
            </a:extLst>
          </p:cNvPr>
          <p:cNvPicPr>
            <a:picLocks noChangeAspect="1"/>
          </p:cNvPicPr>
          <p:nvPr/>
        </p:nvPicPr>
        <p:blipFill>
          <a:blip r:embed="rId2"/>
          <a:stretch>
            <a:fillRect/>
          </a:stretch>
        </p:blipFill>
        <p:spPr>
          <a:xfrm>
            <a:off x="323503" y="254000"/>
            <a:ext cx="156939" cy="191368"/>
          </a:xfrm>
          <a:prstGeom prst="rect">
            <a:avLst/>
          </a:prstGeom>
        </p:spPr>
      </p:pic>
      <p:pic>
        <p:nvPicPr>
          <p:cNvPr id="4" name="Image 4" descr="preencoded.png">
            <a:extLst>
              <a:ext uri="{FF2B5EF4-FFF2-40B4-BE49-F238E27FC236}">
                <a16:creationId xmlns:a16="http://schemas.microsoft.com/office/drawing/2014/main" id="{CFD3B800-138E-C539-55E0-ACACE732008F}"/>
              </a:ext>
            </a:extLst>
          </p:cNvPr>
          <p:cNvPicPr>
            <a:picLocks noChangeAspect="1"/>
          </p:cNvPicPr>
          <p:nvPr/>
        </p:nvPicPr>
        <p:blipFill>
          <a:blip r:embed="rId3"/>
          <a:stretch>
            <a:fillRect/>
          </a:stretch>
        </p:blipFill>
        <p:spPr>
          <a:xfrm>
            <a:off x="387028" y="459541"/>
            <a:ext cx="968" cy="4"/>
          </a:xfrm>
          <a:prstGeom prst="rect">
            <a:avLst/>
          </a:prstGeom>
        </p:spPr>
      </p:pic>
      <p:pic>
        <p:nvPicPr>
          <p:cNvPr id="5" name="Image 5" descr="preencoded.png">
            <a:extLst>
              <a:ext uri="{FF2B5EF4-FFF2-40B4-BE49-F238E27FC236}">
                <a16:creationId xmlns:a16="http://schemas.microsoft.com/office/drawing/2014/main" id="{1F289C7C-1360-E9A9-7CCD-42F673B83656}"/>
              </a:ext>
            </a:extLst>
          </p:cNvPr>
          <p:cNvPicPr>
            <a:picLocks noChangeAspect="1"/>
          </p:cNvPicPr>
          <p:nvPr/>
        </p:nvPicPr>
        <p:blipFill>
          <a:blip r:embed="rId3"/>
          <a:stretch>
            <a:fillRect/>
          </a:stretch>
        </p:blipFill>
        <p:spPr>
          <a:xfrm>
            <a:off x="386756" y="459546"/>
            <a:ext cx="297" cy="4"/>
          </a:xfrm>
          <a:prstGeom prst="rect">
            <a:avLst/>
          </a:prstGeom>
        </p:spPr>
      </p:pic>
      <p:pic>
        <p:nvPicPr>
          <p:cNvPr id="6" name="Image 6" descr="preencoded.png">
            <a:extLst>
              <a:ext uri="{FF2B5EF4-FFF2-40B4-BE49-F238E27FC236}">
                <a16:creationId xmlns:a16="http://schemas.microsoft.com/office/drawing/2014/main" id="{DEA06EC8-F0DA-0F7E-EA5F-DC152C1BA242}"/>
              </a:ext>
            </a:extLst>
          </p:cNvPr>
          <p:cNvPicPr>
            <a:picLocks noChangeAspect="1"/>
          </p:cNvPicPr>
          <p:nvPr/>
        </p:nvPicPr>
        <p:blipFill>
          <a:blip r:embed="rId3"/>
          <a:stretch>
            <a:fillRect/>
          </a:stretch>
        </p:blipFill>
        <p:spPr>
          <a:xfrm>
            <a:off x="389261" y="473634"/>
            <a:ext cx="471" cy="4"/>
          </a:xfrm>
          <a:prstGeom prst="rect">
            <a:avLst/>
          </a:prstGeom>
        </p:spPr>
      </p:pic>
      <p:pic>
        <p:nvPicPr>
          <p:cNvPr id="7" name="Image 7" descr="preencoded.png">
            <a:extLst>
              <a:ext uri="{FF2B5EF4-FFF2-40B4-BE49-F238E27FC236}">
                <a16:creationId xmlns:a16="http://schemas.microsoft.com/office/drawing/2014/main" id="{4D00C4F4-8BD6-1CC6-408B-7E476A2EC44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8" name="Image 8" descr="preencoded.png">
            <a:extLst>
              <a:ext uri="{FF2B5EF4-FFF2-40B4-BE49-F238E27FC236}">
                <a16:creationId xmlns:a16="http://schemas.microsoft.com/office/drawing/2014/main" id="{524ABCAD-E301-CC0B-B054-BE69E6FD6D04}"/>
              </a:ext>
            </a:extLst>
          </p:cNvPr>
          <p:cNvPicPr>
            <a:picLocks noChangeAspect="1"/>
          </p:cNvPicPr>
          <p:nvPr/>
        </p:nvPicPr>
        <p:blipFill>
          <a:blip r:embed="rId5"/>
          <a:stretch>
            <a:fillRect/>
          </a:stretch>
        </p:blipFill>
        <p:spPr>
          <a:xfrm>
            <a:off x="743372" y="360473"/>
            <a:ext cx="126579" cy="147243"/>
          </a:xfrm>
          <a:prstGeom prst="rect">
            <a:avLst/>
          </a:prstGeom>
        </p:spPr>
      </p:pic>
      <p:pic>
        <p:nvPicPr>
          <p:cNvPr id="9" name="Image 9" descr="preencoded.png">
            <a:extLst>
              <a:ext uri="{FF2B5EF4-FFF2-40B4-BE49-F238E27FC236}">
                <a16:creationId xmlns:a16="http://schemas.microsoft.com/office/drawing/2014/main" id="{2C3563F8-1964-4C1B-DDEB-145A0C057A44}"/>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0" name="Image 10" descr="preencoded.png">
            <a:extLst>
              <a:ext uri="{FF2B5EF4-FFF2-40B4-BE49-F238E27FC236}">
                <a16:creationId xmlns:a16="http://schemas.microsoft.com/office/drawing/2014/main" id="{5E927C9F-2CC4-C141-15AA-B79691BC41E8}"/>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1" name="Image 11" descr="preencoded.png">
            <a:extLst>
              <a:ext uri="{FF2B5EF4-FFF2-40B4-BE49-F238E27FC236}">
                <a16:creationId xmlns:a16="http://schemas.microsoft.com/office/drawing/2014/main" id="{A9EB8F65-CAB6-FA27-215C-910C6C3A1F1C}"/>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2" name="Image 12" descr="preencoded.png">
            <a:extLst>
              <a:ext uri="{FF2B5EF4-FFF2-40B4-BE49-F238E27FC236}">
                <a16:creationId xmlns:a16="http://schemas.microsoft.com/office/drawing/2014/main" id="{4D40502A-2843-8E0B-6F67-F2CE37CA79B0}"/>
              </a:ext>
            </a:extLst>
          </p:cNvPr>
          <p:cNvPicPr>
            <a:picLocks noChangeAspect="1"/>
          </p:cNvPicPr>
          <p:nvPr/>
        </p:nvPicPr>
        <p:blipFill>
          <a:blip r:embed="rId9"/>
          <a:stretch>
            <a:fillRect/>
          </a:stretch>
        </p:blipFill>
        <p:spPr>
          <a:xfrm>
            <a:off x="254000" y="376361"/>
            <a:ext cx="174501" cy="157575"/>
          </a:xfrm>
          <a:prstGeom prst="rect">
            <a:avLst/>
          </a:prstGeom>
        </p:spPr>
      </p:pic>
    </p:spTree>
    <p:extLst>
      <p:ext uri="{BB962C8B-B14F-4D97-AF65-F5344CB8AC3E}">
        <p14:creationId xmlns:p14="http://schemas.microsoft.com/office/powerpoint/2010/main" val="4249675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1A23-8D02-7272-5BC2-748D7C1AF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ECDAB-37F7-E167-70E8-63FB2D215966}"/>
              </a:ext>
            </a:extLst>
          </p:cNvPr>
          <p:cNvSpPr>
            <a:spLocks noGrp="1"/>
          </p:cNvSpPr>
          <p:nvPr>
            <p:ph type="ctrTitle"/>
          </p:nvPr>
        </p:nvSpPr>
        <p:spPr/>
        <p:txBody>
          <a:bodyPr/>
          <a:lstStyle/>
          <a:p>
            <a:r>
              <a:rPr lang="en-US" dirty="0"/>
              <a:t>CEACAM5 Details</a:t>
            </a:r>
          </a:p>
        </p:txBody>
      </p:sp>
      <p:sp>
        <p:nvSpPr>
          <p:cNvPr id="4" name="TextBox 3">
            <a:extLst>
              <a:ext uri="{FF2B5EF4-FFF2-40B4-BE49-F238E27FC236}">
                <a16:creationId xmlns:a16="http://schemas.microsoft.com/office/drawing/2014/main" id="{DA30B27D-C3E4-D7F5-EA44-642472CB68EA}"/>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60923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849D0-FEB8-9D16-EF00-0F5BDCE16026}"/>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1BD5C2B-54EF-AA99-1E60-632EC276E04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ABC62898-88B3-D2E7-3566-0C2319599CCF}"/>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F697F3AF-4DB2-D89C-E541-CF8B0007D91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BD6824E2-E32C-DE1D-DE1A-E763D8A43F51}"/>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F2ACD1B7-557C-DB84-8279-C293D337BD74}"/>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AA35D88C-1E39-FC89-55FA-7A865D6B613C}"/>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15703EF6-DA40-84C3-B156-CCA9D40888E5}"/>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26D27C1F-0B0B-CFB2-8EEE-03E89162BE9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CFB2688B-1933-AAF6-242C-4C30378AE947}"/>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1D80EF01-6598-4C5C-1D07-FC8DE4E59EDC}"/>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2BF41F1C-1641-CE49-56F3-5335F570ED37}"/>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D6F763F6-FE72-A23B-C02A-06859166842A}"/>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E9E7FBA5-3166-12E0-EEE4-32D01F574F0F}"/>
              </a:ext>
            </a:extLst>
          </p:cNvPr>
          <p:cNvSpPr/>
          <p:nvPr/>
        </p:nvSpPr>
        <p:spPr>
          <a:xfrm>
            <a:off x="254000" y="635564"/>
            <a:ext cx="8477251"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CEACAM5 is an ideal target for RLT</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cxnSp>
        <p:nvCxnSpPr>
          <p:cNvPr id="2" name="Straight Connector 1">
            <a:extLst>
              <a:ext uri="{FF2B5EF4-FFF2-40B4-BE49-F238E27FC236}">
                <a16:creationId xmlns:a16="http://schemas.microsoft.com/office/drawing/2014/main" id="{BA666483-317F-C1D3-8796-52E790DC863F}"/>
              </a:ext>
            </a:extLst>
          </p:cNvPr>
          <p:cNvCxnSpPr>
            <a:cxnSpLocks/>
          </p:cNvCxnSpPr>
          <p:nvPr/>
        </p:nvCxnSpPr>
        <p:spPr>
          <a:xfrm>
            <a:off x="1462430" y="1820433"/>
            <a:ext cx="0" cy="64008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B1C0F89-F61F-C412-09C2-127E56B297E8}"/>
              </a:ext>
            </a:extLst>
          </p:cNvPr>
          <p:cNvSpPr txBox="1"/>
          <p:nvPr/>
        </p:nvSpPr>
        <p:spPr>
          <a:xfrm>
            <a:off x="294447" y="1820901"/>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Biology</a:t>
            </a:r>
          </a:p>
        </p:txBody>
      </p:sp>
      <p:sp>
        <p:nvSpPr>
          <p:cNvPr id="26" name="TextBox 25">
            <a:extLst>
              <a:ext uri="{FF2B5EF4-FFF2-40B4-BE49-F238E27FC236}">
                <a16:creationId xmlns:a16="http://schemas.microsoft.com/office/drawing/2014/main" id="{ADDC503F-63B0-2DC7-5DC4-4885057A2D09}"/>
              </a:ext>
            </a:extLst>
          </p:cNvPr>
          <p:cNvSpPr txBox="1"/>
          <p:nvPr/>
        </p:nvSpPr>
        <p:spPr>
          <a:xfrm>
            <a:off x="1593009" y="1758854"/>
            <a:ext cx="10100316" cy="375487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1B"/>
                </a:solidFill>
                <a:effectLst/>
                <a:uLnTx/>
                <a:uFillTx/>
                <a:latin typeface="Funnel Sans"/>
                <a:ea typeface="+mn-lt"/>
                <a:cs typeface="+mn-lt"/>
              </a:rPr>
              <a:t>Carcinoembryonic antigen-related cell adhesion molecule 5 (CEACAM5, CD66e, CEA) is a GPI-anchored cell-surface glycoprotein (180 </a:t>
            </a:r>
            <a:r>
              <a:rPr kumimoji="0" lang="en-US" sz="1400" b="0" i="0" u="none" strike="noStrike" kern="1200" cap="none" spc="0" normalizeH="0" baseline="0" noProof="0" dirty="0" err="1">
                <a:ln>
                  <a:noFill/>
                </a:ln>
                <a:solidFill>
                  <a:srgbClr val="1B1B1B"/>
                </a:solidFill>
                <a:effectLst/>
                <a:uLnTx/>
                <a:uFillTx/>
                <a:latin typeface="Funnel Sans"/>
                <a:ea typeface="+mn-lt"/>
                <a:cs typeface="+mn-lt"/>
              </a:rPr>
              <a:t>kDa</a:t>
            </a:r>
            <a:r>
              <a:rPr kumimoji="0" lang="en-US" sz="1400" b="0" i="0" u="none" strike="noStrike" kern="1200" cap="none" spc="0" normalizeH="0" baseline="0" noProof="0" dirty="0">
                <a:ln>
                  <a:noFill/>
                </a:ln>
                <a:solidFill>
                  <a:srgbClr val="1B1B1B"/>
                </a:solidFill>
                <a:effectLst/>
                <a:uLnTx/>
                <a:uFillTx/>
                <a:latin typeface="Funnel Sans"/>
                <a:ea typeface="+mn-lt"/>
                <a:cs typeface="+mn-lt"/>
              </a:rPr>
              <a:t>). It plays complex roles in cellular adhesion, signaling, and tumor progression. Slow constitutive turnover (~14.5 h). Tumors release soluble CEA into the serum (</a:t>
            </a:r>
            <a:r>
              <a:rPr kumimoji="0" lang="en-US" sz="1400" b="0" i="0" u="none" strike="noStrike" kern="1200" cap="none" spc="0" normalizeH="0" baseline="0" noProof="0" dirty="0" err="1">
                <a:ln>
                  <a:noFill/>
                </a:ln>
                <a:solidFill>
                  <a:srgbClr val="1B1B1B"/>
                </a:solidFill>
                <a:effectLst/>
                <a:uLnTx/>
                <a:uFillTx/>
                <a:latin typeface="Funnel Sans"/>
                <a:ea typeface="+mn-lt"/>
                <a:cs typeface="+mn-lt"/>
              </a:rPr>
              <a:t>sCEA</a:t>
            </a:r>
            <a:r>
              <a:rPr kumimoji="0" lang="en-US" sz="1400" b="0" i="0" u="none" strike="noStrike" kern="1200" cap="none" spc="0" normalizeH="0" baseline="0" noProof="0" dirty="0">
                <a:ln>
                  <a:noFill/>
                </a:ln>
                <a:solidFill>
                  <a:srgbClr val="1B1B1B"/>
                </a:solidFill>
                <a:effectLst/>
                <a:uLnTx/>
                <a:uFillTx/>
                <a:latin typeface="Funnel Sans"/>
                <a:ea typeface="+mn-lt"/>
                <a:cs typeface="+mn-lt"/>
              </a:rPr>
              <a:t> &gt;10 ng/mL high, &gt;20 ng/mL very high).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CEACAM5 expression in normal epithelium is restricted to the apical/luminal surfaces; apical CEACAM5 is not accessible from the blood. In tumors, apical polarity is lost and CEACAM5 is expressed across the entire cell surface making it accessible to circulating radioligands in the blood. Highly overexpressed in colorectal cancer (90-100%), other GI tumors (60-80%), medullary thyroid (&gt;95%), lung (65-75%), and neuroendocrine prostate cancer (~58%).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CEACAM5’s targetability is shown by existing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mAbs</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t>
            </a:r>
            <a:r>
              <a:rPr kumimoji="0" lang="en-US" sz="1400" b="0" i="0" u="none" strike="noStrike" kern="1200" cap="none" spc="0" normalizeH="0" baseline="0" noProof="0" dirty="0" err="1">
                <a:ln>
                  <a:noFill/>
                </a:ln>
                <a:solidFill>
                  <a:prstClr val="black"/>
                </a:solidFill>
                <a:effectLst/>
                <a:uLnTx/>
                <a:uFillTx/>
                <a:latin typeface="Funnel Sans"/>
                <a:ea typeface="+mn-ea"/>
                <a:cs typeface="+mn-cs"/>
              </a:rPr>
              <a:t>sdAbs</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and peptides, that bind a variety of epitopes in the N1 or A3-B3 domains. A crystal structure of CEACAM5 A3-B3 is available (membrane-proximal, internalization). Successful peptide selection will exclude cross-reactivity to other CEACAMs and select for internalizing binders.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sz="1800"/>
            </a:pPr>
            <a:r>
              <a:rPr kumimoji="0" lang="en-US" sz="1400" b="0" i="0" u="none" strike="noStrike" kern="1200" cap="none" spc="0" normalizeH="0" baseline="0" noProof="0" dirty="0">
                <a:ln>
                  <a:noFill/>
                </a:ln>
                <a:solidFill>
                  <a:prstClr val="black"/>
                </a:solidFill>
                <a:effectLst/>
                <a:uLnTx/>
                <a:uFillTx/>
                <a:latin typeface="Funnel Sans"/>
                <a:ea typeface="+mn-ea"/>
                <a:cs typeface="+mn-cs"/>
              </a:rPr>
              <a:t>CRC is the 3</a:t>
            </a:r>
            <a:r>
              <a:rPr kumimoji="0" lang="en-US" sz="1400" b="0" i="0" u="none" strike="noStrike" kern="1200" cap="none" spc="0" normalizeH="0" baseline="30000" noProof="0" dirty="0">
                <a:ln>
                  <a:noFill/>
                </a:ln>
                <a:solidFill>
                  <a:prstClr val="black"/>
                </a:solidFill>
                <a:effectLst/>
                <a:uLnTx/>
                <a:uFillTx/>
                <a:latin typeface="Funnel Sans"/>
                <a:ea typeface="+mn-ea"/>
                <a:cs typeface="+mn-cs"/>
              </a:rPr>
              <a:t>rd</a:t>
            </a:r>
            <a:r>
              <a:rPr kumimoji="0" lang="en-US" sz="1400" b="0" i="0" u="none" strike="noStrike" kern="1200" cap="none" spc="0" normalizeH="0" baseline="0" noProof="0" dirty="0">
                <a:ln>
                  <a:noFill/>
                </a:ln>
                <a:solidFill>
                  <a:prstClr val="black"/>
                </a:solidFill>
                <a:effectLst/>
                <a:uLnTx/>
                <a:uFillTx/>
                <a:latin typeface="Funnel Sans"/>
                <a:ea typeface="+mn-ea"/>
                <a:cs typeface="+mn-cs"/>
              </a:rPr>
              <a:t> most diagnosed &amp; 2</a:t>
            </a:r>
            <a:r>
              <a:rPr kumimoji="0" lang="en-US" sz="1400" b="0" i="0" u="none" strike="noStrike" kern="1200" cap="none" spc="0" normalizeH="0" baseline="30000" noProof="0" dirty="0">
                <a:ln>
                  <a:noFill/>
                </a:ln>
                <a:solidFill>
                  <a:prstClr val="black"/>
                </a:solidFill>
                <a:effectLst/>
                <a:uLnTx/>
                <a:uFillTx/>
                <a:latin typeface="Funnel Sans"/>
                <a:ea typeface="+mn-ea"/>
                <a:cs typeface="+mn-cs"/>
              </a:rPr>
              <a:t>nd</a:t>
            </a:r>
            <a:r>
              <a:rPr kumimoji="0" lang="en-US" sz="1400" b="0" i="0" u="none" strike="noStrike" kern="1200" cap="none" spc="0" normalizeH="0" baseline="0" noProof="0" dirty="0">
                <a:ln>
                  <a:noFill/>
                </a:ln>
                <a:solidFill>
                  <a:prstClr val="black"/>
                </a:solidFill>
                <a:effectLst/>
                <a:uLnTx/>
                <a:uFillTx/>
                <a:latin typeface="Funnel Sans"/>
                <a:ea typeface="+mn-ea"/>
                <a:cs typeface="+mn-cs"/>
              </a:rPr>
              <a:t> leading cause of cancer-related mortality worldwide. ~25% of newly diagnosed CRC patients present with or go on to (~40%) develop metastatic disease (mCRC), of which ~85% is unresectable and incurable. There is a profound unmet need for more effective therapies. No known CEACAM5-directed RLT in industry-lead development. </a:t>
            </a:r>
          </a:p>
        </p:txBody>
      </p:sp>
      <p:cxnSp>
        <p:nvCxnSpPr>
          <p:cNvPr id="33" name="Straight Connector 32">
            <a:extLst>
              <a:ext uri="{FF2B5EF4-FFF2-40B4-BE49-F238E27FC236}">
                <a16:creationId xmlns:a16="http://schemas.microsoft.com/office/drawing/2014/main" id="{5CEB9ACA-A0B1-F3EA-B47D-23B5827C0CDB}"/>
              </a:ext>
            </a:extLst>
          </p:cNvPr>
          <p:cNvCxnSpPr>
            <a:cxnSpLocks/>
          </p:cNvCxnSpPr>
          <p:nvPr/>
        </p:nvCxnSpPr>
        <p:spPr>
          <a:xfrm>
            <a:off x="1462430" y="2714737"/>
            <a:ext cx="0" cy="786924"/>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27E96B7E-EE56-942A-0CB4-349283A95976}"/>
              </a:ext>
            </a:extLst>
          </p:cNvPr>
          <p:cNvSpPr txBox="1"/>
          <p:nvPr/>
        </p:nvSpPr>
        <p:spPr>
          <a:xfrm>
            <a:off x="281041" y="2714737"/>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Expression</a:t>
            </a:r>
          </a:p>
        </p:txBody>
      </p:sp>
      <p:cxnSp>
        <p:nvCxnSpPr>
          <p:cNvPr id="35" name="Straight Connector 34">
            <a:extLst>
              <a:ext uri="{FF2B5EF4-FFF2-40B4-BE49-F238E27FC236}">
                <a16:creationId xmlns:a16="http://schemas.microsoft.com/office/drawing/2014/main" id="{FA7B38C1-95C3-25B5-4C14-0CF7E4BC4C6C}"/>
              </a:ext>
            </a:extLst>
          </p:cNvPr>
          <p:cNvCxnSpPr>
            <a:cxnSpLocks/>
          </p:cNvCxnSpPr>
          <p:nvPr/>
        </p:nvCxnSpPr>
        <p:spPr>
          <a:xfrm>
            <a:off x="1462430" y="3766019"/>
            <a:ext cx="0" cy="569148"/>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8CD3010E-21FD-3342-1B7E-9EE88642B18A}"/>
              </a:ext>
            </a:extLst>
          </p:cNvPr>
          <p:cNvSpPr txBox="1"/>
          <p:nvPr/>
        </p:nvSpPr>
        <p:spPr>
          <a:xfrm>
            <a:off x="294447" y="4633030"/>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Landscape</a:t>
            </a:r>
          </a:p>
        </p:txBody>
      </p:sp>
      <p:cxnSp>
        <p:nvCxnSpPr>
          <p:cNvPr id="37" name="Straight Connector 36">
            <a:extLst>
              <a:ext uri="{FF2B5EF4-FFF2-40B4-BE49-F238E27FC236}">
                <a16:creationId xmlns:a16="http://schemas.microsoft.com/office/drawing/2014/main" id="{9A30251D-60C1-85E3-5B82-1824A73CA7E1}"/>
              </a:ext>
            </a:extLst>
          </p:cNvPr>
          <p:cNvCxnSpPr>
            <a:cxnSpLocks/>
          </p:cNvCxnSpPr>
          <p:nvPr/>
        </p:nvCxnSpPr>
        <p:spPr>
          <a:xfrm>
            <a:off x="1462430" y="4633030"/>
            <a:ext cx="0" cy="640080"/>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6526224-4834-DCC7-E388-DC8CE4F2B867}"/>
              </a:ext>
            </a:extLst>
          </p:cNvPr>
          <p:cNvSpPr txBox="1"/>
          <p:nvPr/>
        </p:nvSpPr>
        <p:spPr>
          <a:xfrm>
            <a:off x="279036" y="3766019"/>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Feasibility</a:t>
            </a:r>
          </a:p>
        </p:txBody>
      </p:sp>
      <p:sp>
        <p:nvSpPr>
          <p:cNvPr id="40" name="Rectangle: Rounded Corners 39">
            <a:extLst>
              <a:ext uri="{FF2B5EF4-FFF2-40B4-BE49-F238E27FC236}">
                <a16:creationId xmlns:a16="http://schemas.microsoft.com/office/drawing/2014/main" id="{5C579F39-5994-50D7-869A-09576E9A0B8D}"/>
              </a:ext>
            </a:extLst>
          </p:cNvPr>
          <p:cNvSpPr/>
          <p:nvPr/>
        </p:nvSpPr>
        <p:spPr>
          <a:xfrm>
            <a:off x="637272" y="5692532"/>
            <a:ext cx="11124093" cy="856463"/>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1" name="Rectangle: Rounded Corners 40">
            <a:extLst>
              <a:ext uri="{FF2B5EF4-FFF2-40B4-BE49-F238E27FC236}">
                <a16:creationId xmlns:a16="http://schemas.microsoft.com/office/drawing/2014/main" id="{203B7584-6BE0-B49F-98FC-4992B8DB1AC5}"/>
              </a:ext>
            </a:extLst>
          </p:cNvPr>
          <p:cNvSpPr/>
          <p:nvPr/>
        </p:nvSpPr>
        <p:spPr>
          <a:xfrm>
            <a:off x="399316" y="5684346"/>
            <a:ext cx="1945303" cy="856463"/>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Funnel Sans"/>
                <a:ea typeface="+mn-ea"/>
                <a:cs typeface="+mn-cs"/>
              </a:rPr>
              <a:t>Sego’s Opportunity</a:t>
            </a:r>
          </a:p>
        </p:txBody>
      </p:sp>
      <p:sp>
        <p:nvSpPr>
          <p:cNvPr id="42" name="TextBox 41">
            <a:extLst>
              <a:ext uri="{FF2B5EF4-FFF2-40B4-BE49-F238E27FC236}">
                <a16:creationId xmlns:a16="http://schemas.microsoft.com/office/drawing/2014/main" id="{0D3D3D40-1B52-DEB6-6AF9-CDF8A6736DE7}"/>
              </a:ext>
            </a:extLst>
          </p:cNvPr>
          <p:cNvSpPr txBox="1"/>
          <p:nvPr/>
        </p:nvSpPr>
        <p:spPr>
          <a:xfrm>
            <a:off x="2350323" y="5757804"/>
            <a:ext cx="9376952" cy="73866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Goal</a:t>
            </a:r>
            <a:r>
              <a:rPr kumimoji="0" lang="en-US" sz="1400" b="0" i="0" u="none" strike="noStrike" kern="1200" cap="none" spc="0" normalizeH="0" baseline="0" noProof="0">
                <a:ln>
                  <a:noFill/>
                </a:ln>
                <a:solidFill>
                  <a:prstClr val="black"/>
                </a:solidFill>
                <a:effectLst/>
                <a:uLnTx/>
                <a:uFillTx/>
                <a:latin typeface="Funnel Sans"/>
                <a:ea typeface="+mn-ea"/>
                <a:cs typeface="+mn-cs"/>
              </a:rPr>
              <a:t>: Best-in-class peptide RLT for CRC.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Design</a:t>
            </a:r>
            <a:r>
              <a:rPr kumimoji="0" lang="en-US" sz="1400" b="0" i="0" u="none" strike="noStrike" kern="1200" cap="none" spc="0" normalizeH="0" baseline="0" noProof="0">
                <a:ln>
                  <a:noFill/>
                </a:ln>
                <a:solidFill>
                  <a:prstClr val="black"/>
                </a:solidFill>
                <a:effectLst/>
                <a:uLnTx/>
                <a:uFillTx/>
                <a:latin typeface="Funnel Sans"/>
                <a:ea typeface="+mn-ea"/>
                <a:cs typeface="+mn-cs"/>
              </a:rPr>
              <a:t>:  Achieve efficient internalization and intracellular accumulation to drive higher tumor uptake and retention, resulting in superior antitumor efficacy against a consistently, selectively, and highly overexpressed target.</a:t>
            </a:r>
          </a:p>
        </p:txBody>
      </p:sp>
      <p:sp>
        <p:nvSpPr>
          <p:cNvPr id="18" name="TextBox 17">
            <a:extLst>
              <a:ext uri="{FF2B5EF4-FFF2-40B4-BE49-F238E27FC236}">
                <a16:creationId xmlns:a16="http://schemas.microsoft.com/office/drawing/2014/main" id="{857CAF0C-722B-731D-FCE4-DCA723E74559}"/>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Shape 1">
            <a:extLst>
              <a:ext uri="{FF2B5EF4-FFF2-40B4-BE49-F238E27FC236}">
                <a16:creationId xmlns:a16="http://schemas.microsoft.com/office/drawing/2014/main" id="{F693E0EB-7EE8-6C23-A348-EDDD66B7BB4F}"/>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759453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30163-93D5-31F3-C5B0-9F3BF40C961A}"/>
            </a:ext>
          </a:extLst>
        </p:cNvPr>
        <p:cNvGrpSpPr/>
        <p:nvPr/>
      </p:nvGrpSpPr>
      <p:grpSpPr>
        <a:xfrm>
          <a:off x="0" y="0"/>
          <a:ext cx="0" cy="0"/>
          <a:chOff x="0" y="0"/>
          <a:chExt cx="0" cy="0"/>
        </a:xfrm>
      </p:grpSpPr>
      <p:grpSp>
        <p:nvGrpSpPr>
          <p:cNvPr id="51" name="Group 50">
            <a:extLst>
              <a:ext uri="{FF2B5EF4-FFF2-40B4-BE49-F238E27FC236}">
                <a16:creationId xmlns:a16="http://schemas.microsoft.com/office/drawing/2014/main" id="{4960ED83-6866-9A3A-5668-1DA36A04E640}"/>
              </a:ext>
            </a:extLst>
          </p:cNvPr>
          <p:cNvGrpSpPr/>
          <p:nvPr/>
        </p:nvGrpSpPr>
        <p:grpSpPr>
          <a:xfrm>
            <a:off x="473976" y="1613265"/>
            <a:ext cx="7620000" cy="3091025"/>
            <a:chOff x="473976" y="1613265"/>
            <a:chExt cx="7620000" cy="3091025"/>
          </a:xfrm>
        </p:grpSpPr>
        <p:pic>
          <p:nvPicPr>
            <p:cNvPr id="48" name="Picture 2" descr="Figure 1">
              <a:extLst>
                <a:ext uri="{FF2B5EF4-FFF2-40B4-BE49-F238E27FC236}">
                  <a16:creationId xmlns:a16="http://schemas.microsoft.com/office/drawing/2014/main" id="{D04953B8-C846-832F-BDB4-075CBC1E80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687"/>
            <a:stretch>
              <a:fillRect/>
            </a:stretch>
          </p:blipFill>
          <p:spPr bwMode="auto">
            <a:xfrm>
              <a:off x="473976" y="2332067"/>
              <a:ext cx="7620000" cy="2372223"/>
            </a:xfrm>
            <a:prstGeom prst="rect">
              <a:avLst/>
            </a:prstGeom>
            <a:noFill/>
            <a:extLst>
              <a:ext uri="{909E8E84-426E-40DD-AFC4-6F175D3DCCD1}">
                <a14:hiddenFill xmlns:a14="http://schemas.microsoft.com/office/drawing/2010/main">
                  <a:solidFill>
                    <a:srgbClr val="FFFFFF"/>
                  </a:solidFill>
                </a14:hiddenFill>
              </a:ext>
            </a:extLst>
          </p:spPr>
        </p:pic>
        <p:sp>
          <p:nvSpPr>
            <p:cNvPr id="49" name="Rectangle 48">
              <a:extLst>
                <a:ext uri="{FF2B5EF4-FFF2-40B4-BE49-F238E27FC236}">
                  <a16:creationId xmlns:a16="http://schemas.microsoft.com/office/drawing/2014/main" id="{4AAD4F39-B448-DA01-8312-C581A1B93D98}"/>
                </a:ext>
              </a:extLst>
            </p:cNvPr>
            <p:cNvSpPr/>
            <p:nvPr/>
          </p:nvSpPr>
          <p:spPr>
            <a:xfrm>
              <a:off x="669120" y="1613265"/>
              <a:ext cx="5115651" cy="12252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50" name="Rectangle 49">
              <a:extLst>
                <a:ext uri="{FF2B5EF4-FFF2-40B4-BE49-F238E27FC236}">
                  <a16:creationId xmlns:a16="http://schemas.microsoft.com/office/drawing/2014/main" id="{9A225532-9735-940C-2A76-8693380FBC17}"/>
                </a:ext>
              </a:extLst>
            </p:cNvPr>
            <p:cNvSpPr/>
            <p:nvPr/>
          </p:nvSpPr>
          <p:spPr>
            <a:xfrm>
              <a:off x="1952567" y="2281880"/>
              <a:ext cx="1301905" cy="16844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Funnel Sans"/>
                <a:ea typeface="+mn-ea"/>
                <a:cs typeface="+mn-cs"/>
              </a:endParaRPr>
            </a:p>
          </p:txBody>
        </p:sp>
      </p:grpSp>
      <p:sp>
        <p:nvSpPr>
          <p:cNvPr id="38" name="Rectangle 37">
            <a:extLst>
              <a:ext uri="{FF2B5EF4-FFF2-40B4-BE49-F238E27FC236}">
                <a16:creationId xmlns:a16="http://schemas.microsoft.com/office/drawing/2014/main" id="{02BCAC81-F63C-3DAA-D44C-2625A2C61904}"/>
              </a:ext>
            </a:extLst>
          </p:cNvPr>
          <p:cNvSpPr/>
          <p:nvPr/>
        </p:nvSpPr>
        <p:spPr>
          <a:xfrm>
            <a:off x="412541" y="1580953"/>
            <a:ext cx="7794533" cy="2820272"/>
          </a:xfrm>
          <a:prstGeom prst="rect">
            <a:avLst/>
          </a:prstGeom>
          <a:solidFill>
            <a:srgbClr val="303428">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0" name="Rectangle 39">
            <a:extLst>
              <a:ext uri="{FF2B5EF4-FFF2-40B4-BE49-F238E27FC236}">
                <a16:creationId xmlns:a16="http://schemas.microsoft.com/office/drawing/2014/main" id="{552B19DE-A880-AFA0-9866-0A8A95E7AA87}"/>
              </a:ext>
            </a:extLst>
          </p:cNvPr>
          <p:cNvSpPr/>
          <p:nvPr/>
        </p:nvSpPr>
        <p:spPr>
          <a:xfrm>
            <a:off x="412541" y="4395084"/>
            <a:ext cx="7794533" cy="1875175"/>
          </a:xfrm>
          <a:prstGeom prst="rect">
            <a:avLst/>
          </a:prstGeom>
          <a:solidFill>
            <a:srgbClr val="FF9999">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2" name="Shape 0">
            <a:extLst>
              <a:ext uri="{FF2B5EF4-FFF2-40B4-BE49-F238E27FC236}">
                <a16:creationId xmlns:a16="http://schemas.microsoft.com/office/drawing/2014/main" id="{2E3D6A57-901E-EE8B-8553-2A91E3DD7528}"/>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 name="Image 3" descr="preencoded.png">
            <a:extLst>
              <a:ext uri="{FF2B5EF4-FFF2-40B4-BE49-F238E27FC236}">
                <a16:creationId xmlns:a16="http://schemas.microsoft.com/office/drawing/2014/main" id="{1B96E06F-9EAD-0755-57AE-5ADC8199409B}"/>
              </a:ext>
            </a:extLst>
          </p:cNvPr>
          <p:cNvPicPr>
            <a:picLocks noChangeAspect="1"/>
          </p:cNvPicPr>
          <p:nvPr/>
        </p:nvPicPr>
        <p:blipFill>
          <a:blip r:embed="rId4"/>
          <a:stretch>
            <a:fillRect/>
          </a:stretch>
        </p:blipFill>
        <p:spPr>
          <a:xfrm>
            <a:off x="323503" y="254000"/>
            <a:ext cx="156939" cy="191368"/>
          </a:xfrm>
          <a:prstGeom prst="rect">
            <a:avLst/>
          </a:prstGeom>
        </p:spPr>
      </p:pic>
      <p:pic>
        <p:nvPicPr>
          <p:cNvPr id="4" name="Image 4" descr="preencoded.png">
            <a:extLst>
              <a:ext uri="{FF2B5EF4-FFF2-40B4-BE49-F238E27FC236}">
                <a16:creationId xmlns:a16="http://schemas.microsoft.com/office/drawing/2014/main" id="{D5F1CB2B-640D-BE08-1602-5577B132D53F}"/>
              </a:ext>
            </a:extLst>
          </p:cNvPr>
          <p:cNvPicPr>
            <a:picLocks noChangeAspect="1"/>
          </p:cNvPicPr>
          <p:nvPr/>
        </p:nvPicPr>
        <p:blipFill>
          <a:blip r:embed="rId5"/>
          <a:stretch>
            <a:fillRect/>
          </a:stretch>
        </p:blipFill>
        <p:spPr>
          <a:xfrm>
            <a:off x="387028" y="459541"/>
            <a:ext cx="968" cy="4"/>
          </a:xfrm>
          <a:prstGeom prst="rect">
            <a:avLst/>
          </a:prstGeom>
        </p:spPr>
      </p:pic>
      <p:pic>
        <p:nvPicPr>
          <p:cNvPr id="5" name="Image 5" descr="preencoded.png">
            <a:extLst>
              <a:ext uri="{FF2B5EF4-FFF2-40B4-BE49-F238E27FC236}">
                <a16:creationId xmlns:a16="http://schemas.microsoft.com/office/drawing/2014/main" id="{0F069B26-5AFC-5949-D666-F2FC4F720078}"/>
              </a:ext>
            </a:extLst>
          </p:cNvPr>
          <p:cNvPicPr>
            <a:picLocks noChangeAspect="1"/>
          </p:cNvPicPr>
          <p:nvPr/>
        </p:nvPicPr>
        <p:blipFill>
          <a:blip r:embed="rId5"/>
          <a:stretch>
            <a:fillRect/>
          </a:stretch>
        </p:blipFill>
        <p:spPr>
          <a:xfrm>
            <a:off x="386756" y="459546"/>
            <a:ext cx="297" cy="4"/>
          </a:xfrm>
          <a:prstGeom prst="rect">
            <a:avLst/>
          </a:prstGeom>
        </p:spPr>
      </p:pic>
      <p:pic>
        <p:nvPicPr>
          <p:cNvPr id="6" name="Image 6" descr="preencoded.png">
            <a:extLst>
              <a:ext uri="{FF2B5EF4-FFF2-40B4-BE49-F238E27FC236}">
                <a16:creationId xmlns:a16="http://schemas.microsoft.com/office/drawing/2014/main" id="{154E4FB3-57DF-0F61-62A6-EB668668B427}"/>
              </a:ext>
            </a:extLst>
          </p:cNvPr>
          <p:cNvPicPr>
            <a:picLocks noChangeAspect="1"/>
          </p:cNvPicPr>
          <p:nvPr/>
        </p:nvPicPr>
        <p:blipFill>
          <a:blip r:embed="rId5"/>
          <a:stretch>
            <a:fillRect/>
          </a:stretch>
        </p:blipFill>
        <p:spPr>
          <a:xfrm>
            <a:off x="389261" y="473634"/>
            <a:ext cx="471" cy="4"/>
          </a:xfrm>
          <a:prstGeom prst="rect">
            <a:avLst/>
          </a:prstGeom>
        </p:spPr>
      </p:pic>
      <p:pic>
        <p:nvPicPr>
          <p:cNvPr id="7" name="Image 7" descr="preencoded.png">
            <a:extLst>
              <a:ext uri="{FF2B5EF4-FFF2-40B4-BE49-F238E27FC236}">
                <a16:creationId xmlns:a16="http://schemas.microsoft.com/office/drawing/2014/main" id="{93AD01AA-4323-10C0-28C4-6934A21CDD14}"/>
              </a:ext>
            </a:extLst>
          </p:cNvPr>
          <p:cNvPicPr>
            <a:picLocks noChangeAspect="1"/>
          </p:cNvPicPr>
          <p:nvPr/>
        </p:nvPicPr>
        <p:blipFill>
          <a:blip r:embed="rId6"/>
          <a:stretch>
            <a:fillRect/>
          </a:stretch>
        </p:blipFill>
        <p:spPr>
          <a:xfrm>
            <a:off x="600300" y="305277"/>
            <a:ext cx="137641" cy="202443"/>
          </a:xfrm>
          <a:prstGeom prst="rect">
            <a:avLst/>
          </a:prstGeom>
        </p:spPr>
      </p:pic>
      <p:pic>
        <p:nvPicPr>
          <p:cNvPr id="8" name="Image 8" descr="preencoded.png">
            <a:extLst>
              <a:ext uri="{FF2B5EF4-FFF2-40B4-BE49-F238E27FC236}">
                <a16:creationId xmlns:a16="http://schemas.microsoft.com/office/drawing/2014/main" id="{FADFB99A-304F-BB6A-E288-62FE770111CB}"/>
              </a:ext>
            </a:extLst>
          </p:cNvPr>
          <p:cNvPicPr>
            <a:picLocks noChangeAspect="1"/>
          </p:cNvPicPr>
          <p:nvPr/>
        </p:nvPicPr>
        <p:blipFill>
          <a:blip r:embed="rId7"/>
          <a:stretch>
            <a:fillRect/>
          </a:stretch>
        </p:blipFill>
        <p:spPr>
          <a:xfrm>
            <a:off x="743372" y="360473"/>
            <a:ext cx="126579" cy="147243"/>
          </a:xfrm>
          <a:prstGeom prst="rect">
            <a:avLst/>
          </a:prstGeom>
        </p:spPr>
      </p:pic>
      <p:pic>
        <p:nvPicPr>
          <p:cNvPr id="9" name="Image 9" descr="preencoded.png">
            <a:extLst>
              <a:ext uri="{FF2B5EF4-FFF2-40B4-BE49-F238E27FC236}">
                <a16:creationId xmlns:a16="http://schemas.microsoft.com/office/drawing/2014/main" id="{8D5C77FF-036D-222E-A7B3-85B44827FE3D}"/>
              </a:ext>
            </a:extLst>
          </p:cNvPr>
          <p:cNvPicPr>
            <a:picLocks noChangeAspect="1"/>
          </p:cNvPicPr>
          <p:nvPr/>
        </p:nvPicPr>
        <p:blipFill>
          <a:blip r:embed="rId8"/>
          <a:stretch>
            <a:fillRect/>
          </a:stretch>
        </p:blipFill>
        <p:spPr>
          <a:xfrm>
            <a:off x="872928" y="360456"/>
            <a:ext cx="131737" cy="198345"/>
          </a:xfrm>
          <a:prstGeom prst="rect">
            <a:avLst/>
          </a:prstGeom>
        </p:spPr>
      </p:pic>
      <p:pic>
        <p:nvPicPr>
          <p:cNvPr id="10" name="Image 10" descr="preencoded.png">
            <a:extLst>
              <a:ext uri="{FF2B5EF4-FFF2-40B4-BE49-F238E27FC236}">
                <a16:creationId xmlns:a16="http://schemas.microsoft.com/office/drawing/2014/main" id="{BA9F1FF2-75D8-CAC2-5CDE-05842BEA3DF8}"/>
              </a:ext>
            </a:extLst>
          </p:cNvPr>
          <p:cNvPicPr>
            <a:picLocks noChangeAspect="1"/>
          </p:cNvPicPr>
          <p:nvPr/>
        </p:nvPicPr>
        <p:blipFill>
          <a:blip r:embed="rId9"/>
          <a:stretch>
            <a:fillRect/>
          </a:stretch>
        </p:blipFill>
        <p:spPr>
          <a:xfrm>
            <a:off x="1001142" y="360468"/>
            <a:ext cx="135508" cy="147243"/>
          </a:xfrm>
          <a:prstGeom prst="rect">
            <a:avLst/>
          </a:prstGeom>
        </p:spPr>
      </p:pic>
      <p:pic>
        <p:nvPicPr>
          <p:cNvPr id="11" name="Image 11" descr="preencoded.png">
            <a:extLst>
              <a:ext uri="{FF2B5EF4-FFF2-40B4-BE49-F238E27FC236}">
                <a16:creationId xmlns:a16="http://schemas.microsoft.com/office/drawing/2014/main" id="{8698E78F-A10C-EA5C-6C3F-142ECC452AF2}"/>
              </a:ext>
            </a:extLst>
          </p:cNvPr>
          <p:cNvPicPr>
            <a:picLocks noChangeAspect="1"/>
          </p:cNvPicPr>
          <p:nvPr/>
        </p:nvPicPr>
        <p:blipFill>
          <a:blip r:embed="rId10"/>
          <a:stretch>
            <a:fillRect/>
          </a:stretch>
        </p:blipFill>
        <p:spPr>
          <a:xfrm>
            <a:off x="375419" y="376364"/>
            <a:ext cx="174501" cy="157568"/>
          </a:xfrm>
          <a:prstGeom prst="rect">
            <a:avLst/>
          </a:prstGeom>
        </p:spPr>
      </p:pic>
      <p:pic>
        <p:nvPicPr>
          <p:cNvPr id="12" name="Image 12" descr="preencoded.png">
            <a:extLst>
              <a:ext uri="{FF2B5EF4-FFF2-40B4-BE49-F238E27FC236}">
                <a16:creationId xmlns:a16="http://schemas.microsoft.com/office/drawing/2014/main" id="{DBD16FA4-88A3-2333-53C6-507CFCAC7927}"/>
              </a:ext>
            </a:extLst>
          </p:cNvPr>
          <p:cNvPicPr>
            <a:picLocks noChangeAspect="1"/>
          </p:cNvPicPr>
          <p:nvPr/>
        </p:nvPicPr>
        <p:blipFill>
          <a:blip r:embed="rId11"/>
          <a:stretch>
            <a:fillRect/>
          </a:stretch>
        </p:blipFill>
        <p:spPr>
          <a:xfrm>
            <a:off x="254000" y="376361"/>
            <a:ext cx="174501" cy="157575"/>
          </a:xfrm>
          <a:prstGeom prst="rect">
            <a:avLst/>
          </a:prstGeom>
        </p:spPr>
      </p:pic>
      <p:sp>
        <p:nvSpPr>
          <p:cNvPr id="13" name="Rectangle: Rounded Corners 12">
            <a:extLst>
              <a:ext uri="{FF2B5EF4-FFF2-40B4-BE49-F238E27FC236}">
                <a16:creationId xmlns:a16="http://schemas.microsoft.com/office/drawing/2014/main" id="{E47EFE4A-BC1F-CC79-399A-5A168BB19123}"/>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
        <p:nvSpPr>
          <p:cNvPr id="14" name="TextBox 13">
            <a:extLst>
              <a:ext uri="{FF2B5EF4-FFF2-40B4-BE49-F238E27FC236}">
                <a16:creationId xmlns:a16="http://schemas.microsoft.com/office/drawing/2014/main" id="{F97C0BC2-FB3F-5620-EE7A-586BAA4D86C9}"/>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5" name="Text 28">
            <a:extLst>
              <a:ext uri="{FF2B5EF4-FFF2-40B4-BE49-F238E27FC236}">
                <a16:creationId xmlns:a16="http://schemas.microsoft.com/office/drawing/2014/main" id="{49718741-3663-EFF3-9DD5-78321B3D9331}"/>
              </a:ext>
            </a:extLst>
          </p:cNvPr>
          <p:cNvSpPr/>
          <p:nvPr/>
        </p:nvSpPr>
        <p:spPr>
          <a:xfrm>
            <a:off x="254001" y="635564"/>
            <a:ext cx="1057955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CEACAM5: Tumor-selective expression and tumor-specific accessibility  </a:t>
            </a:r>
          </a:p>
        </p:txBody>
      </p:sp>
      <p:sp>
        <p:nvSpPr>
          <p:cNvPr id="16" name="Shape 1">
            <a:extLst>
              <a:ext uri="{FF2B5EF4-FFF2-40B4-BE49-F238E27FC236}">
                <a16:creationId xmlns:a16="http://schemas.microsoft.com/office/drawing/2014/main" id="{D47281BF-8662-C8BB-5004-1FC9DD24F55F}"/>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E2165798-A0F7-A461-88FB-7BAFDEE44499}"/>
              </a:ext>
            </a:extLst>
          </p:cNvPr>
          <p:cNvSpPr txBox="1"/>
          <p:nvPr/>
        </p:nvSpPr>
        <p:spPr>
          <a:xfrm>
            <a:off x="8402218" y="1852626"/>
            <a:ext cx="3428905" cy="418576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When expressed in healthy colon, CEACAM5 is located on the apical side of the epithelial brush border facing the lumen (toward the inside of the colon) throughout the </a:t>
            </a:r>
            <a:r>
              <a:rPr kumimoji="0" lang="en-US" sz="1400" b="0" i="0" u="none" strike="noStrike" kern="1200" cap="none" spc="0" normalizeH="0" baseline="0" noProof="0" dirty="0">
                <a:ln>
                  <a:noFill/>
                </a:ln>
                <a:solidFill>
                  <a:srgbClr val="1B1B1B"/>
                </a:solidFill>
                <a:effectLst/>
                <a:uLnTx/>
                <a:uFillTx/>
                <a:latin typeface="Funnel Sans"/>
                <a:ea typeface="Cambria"/>
                <a:cs typeface="+mn-lt"/>
              </a:rPr>
              <a:t>entire gastrointestinal tract, from duodenum to rectum, but it is </a:t>
            </a:r>
            <a:r>
              <a:rPr kumimoji="0" lang="en-US" sz="1400" b="1" i="0" u="none" strike="noStrike" kern="1200" cap="none" spc="0" normalizeH="0" baseline="0" noProof="0" dirty="0">
                <a:ln>
                  <a:noFill/>
                </a:ln>
                <a:solidFill>
                  <a:srgbClr val="1B1B1B"/>
                </a:solidFill>
                <a:effectLst/>
                <a:uLnTx/>
                <a:uFillTx/>
                <a:latin typeface="Funnel Sans"/>
                <a:ea typeface="Cambria"/>
                <a:cs typeface="+mn-lt"/>
              </a:rPr>
              <a:t>not directly accessible from the blood</a:t>
            </a:r>
            <a:r>
              <a:rPr kumimoji="0" lang="en-US" sz="1400" b="0" i="0" u="none" strike="noStrike" kern="1200" cap="none" spc="0" normalizeH="0" baseline="0" noProof="0" dirty="0">
                <a:ln>
                  <a:noFill/>
                </a:ln>
                <a:solidFill>
                  <a:srgbClr val="1B1B1B"/>
                </a:solidFill>
                <a:effectLst/>
                <a:uLnTx/>
                <a:uFillTx/>
                <a:latin typeface="Funnel Sans"/>
                <a:ea typeface="Cambria"/>
                <a:cs typeface="+mn-lt"/>
              </a:rPr>
              <a:t>. This separation</a:t>
            </a:r>
            <a:r>
              <a:rPr kumimoji="0" lang="en-US" sz="1400" b="0" i="0" u="none" strike="noStrike" kern="1200" cap="none" spc="0" normalizeH="0" baseline="0" noProof="0" dirty="0">
                <a:ln>
                  <a:noFill/>
                </a:ln>
                <a:solidFill>
                  <a:prstClr val="black"/>
                </a:solidFill>
                <a:effectLst/>
                <a:uLnTx/>
                <a:uFillTx/>
                <a:latin typeface="Funnel Sans"/>
                <a:ea typeface="+mn-ea"/>
                <a:cs typeface="+mn-cs"/>
              </a:rPr>
              <a:t> from blood circulation </a:t>
            </a:r>
            <a:r>
              <a:rPr kumimoji="0" lang="en-US" sz="1400" b="1" i="0" u="none" strike="noStrike" kern="1200" cap="none" spc="0" normalizeH="0" baseline="0" noProof="0" dirty="0">
                <a:ln>
                  <a:noFill/>
                </a:ln>
                <a:solidFill>
                  <a:prstClr val="black"/>
                </a:solidFill>
                <a:effectLst/>
                <a:uLnTx/>
                <a:uFillTx/>
                <a:latin typeface="Funnel Sans"/>
                <a:ea typeface="+mn-ea"/>
                <a:cs typeface="+mn-cs"/>
              </a:rPr>
              <a:t>minimizes the risk of on-target, off-tumor effects in healthy tissue</a:t>
            </a:r>
            <a:r>
              <a:rPr kumimoji="0" lang="en-US" sz="1400" b="0" i="0" u="none" strike="noStrike" kern="1200" cap="none" spc="0" normalizeH="0" baseline="0" noProof="0" dirty="0">
                <a:ln>
                  <a:noFill/>
                </a:ln>
                <a:solidFill>
                  <a:prstClr val="black"/>
                </a:solidFill>
                <a:effectLst/>
                <a:uLnTx/>
                <a:uFillTx/>
                <a:latin typeface="Funnel Sans"/>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ea"/>
                <a:cs typeface="+mn-cs"/>
              </a:rPr>
              <a:t>During tumorigenesis, cells lose apical-basolateral polarization (i.e., it is no longer restricted to the inside of the colon), leading to CEACAM5 expression across the entire cancer cell surface. CEACAM5 on tumor cells is </a:t>
            </a:r>
            <a:r>
              <a:rPr kumimoji="0" lang="en-US" sz="1400" b="1" i="0" u="none" strike="noStrike" kern="1200" cap="none" spc="0" normalizeH="0" baseline="0" noProof="0" dirty="0">
                <a:ln>
                  <a:noFill/>
                </a:ln>
                <a:solidFill>
                  <a:prstClr val="black"/>
                </a:solidFill>
                <a:effectLst/>
                <a:uLnTx/>
                <a:uFillTx/>
                <a:latin typeface="Funnel Sans"/>
                <a:ea typeface="+mn-ea"/>
                <a:cs typeface="+mn-cs"/>
              </a:rPr>
              <a:t>accessible for binding by RLT</a:t>
            </a:r>
            <a:r>
              <a:rPr kumimoji="0" lang="en-US" sz="1400" b="0" i="0" u="none" strike="noStrike" kern="1200" cap="none" spc="0" normalizeH="0" baseline="0" noProof="0" dirty="0">
                <a:ln>
                  <a:noFill/>
                </a:ln>
                <a:solidFill>
                  <a:prstClr val="black"/>
                </a:solidFill>
                <a:effectLst/>
                <a:uLnTx/>
                <a:uFillTx/>
                <a:latin typeface="Funnel Sans"/>
                <a:ea typeface="+mn-ea"/>
                <a:cs typeface="+mn-cs"/>
              </a:rPr>
              <a:t>.</a:t>
            </a:r>
            <a:endParaRPr kumimoji="0" lang="en-US" sz="1400" b="1" i="0" u="none" strike="noStrike" kern="1200" cap="none" spc="0" normalizeH="0" baseline="0" noProof="0" dirty="0">
              <a:ln>
                <a:noFill/>
              </a:ln>
              <a:solidFill>
                <a:srgbClr val="000000"/>
              </a:solidFill>
              <a:effectLst/>
              <a:uLnTx/>
              <a:uFillTx/>
              <a:latin typeface="Funnel Sans"/>
              <a:ea typeface="Cambria"/>
              <a:cs typeface="+mn-cs"/>
            </a:endParaRPr>
          </a:p>
        </p:txBody>
      </p:sp>
      <p:sp>
        <p:nvSpPr>
          <p:cNvPr id="19" name="TextBox 18">
            <a:extLst>
              <a:ext uri="{FF2B5EF4-FFF2-40B4-BE49-F238E27FC236}">
                <a16:creationId xmlns:a16="http://schemas.microsoft.com/office/drawing/2014/main" id="{87197B08-05B2-1865-29C5-73EDCF652D66}"/>
              </a:ext>
            </a:extLst>
          </p:cNvPr>
          <p:cNvSpPr txBox="1"/>
          <p:nvPr/>
        </p:nvSpPr>
        <p:spPr>
          <a:xfrm>
            <a:off x="0" y="6611779"/>
            <a:ext cx="12065520"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Adapted from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2"/>
              </a:rPr>
              <a:t>Aka Exp Rev Clin </a:t>
            </a:r>
            <a:r>
              <a:rPr kumimoji="0" lang="en-US" sz="1000" b="0" i="0" u="none" strike="noStrike" kern="1200" cap="none" spc="0" normalizeH="0" baseline="0" noProof="0" err="1">
                <a:ln>
                  <a:noFill/>
                </a:ln>
                <a:solidFill>
                  <a:prstClr val="black"/>
                </a:solidFill>
                <a:effectLst/>
                <a:uLnTx/>
                <a:uFillTx/>
                <a:latin typeface="Funnel Sans"/>
                <a:ea typeface="+mn-ea"/>
                <a:cs typeface="+mn-cs"/>
                <a:hlinkClick r:id="rId12"/>
              </a:rPr>
              <a:t>Pharmacol</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2"/>
              </a:rPr>
              <a:t> 2017</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33" name="TextBox 32">
            <a:extLst>
              <a:ext uri="{FF2B5EF4-FFF2-40B4-BE49-F238E27FC236}">
                <a16:creationId xmlns:a16="http://schemas.microsoft.com/office/drawing/2014/main" id="{FD172EAB-0775-66A0-D488-B679CDF2E2B6}"/>
              </a:ext>
            </a:extLst>
          </p:cNvPr>
          <p:cNvSpPr txBox="1"/>
          <p:nvPr/>
        </p:nvSpPr>
        <p:spPr>
          <a:xfrm>
            <a:off x="549920" y="2422321"/>
            <a:ext cx="232684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Funnel Sans"/>
                <a:ea typeface="+mn-ea"/>
                <a:cs typeface="+mn-cs"/>
              </a:rPr>
              <a:t>Apical target </a:t>
            </a:r>
            <a:r>
              <a:rPr kumimoji="0" lang="en-GB" sz="1200" b="0" i="0" u="none" strike="noStrike" kern="1200" cap="none" spc="0" normalizeH="0" baseline="0" noProof="0">
                <a:ln>
                  <a:noFill/>
                </a:ln>
                <a:solidFill>
                  <a:prstClr val="black"/>
                </a:solidFill>
                <a:effectLst/>
                <a:uLnTx/>
                <a:uFillTx/>
                <a:latin typeface="Funnel Sans"/>
                <a:ea typeface="+mn-ea"/>
                <a:cs typeface="+mn-cs"/>
              </a:rPr>
              <a:t>expression in </a:t>
            </a:r>
            <a:r>
              <a:rPr kumimoji="0" lang="en-GB" sz="1200" b="1" i="0" u="none" strike="noStrike" kern="1200" cap="none" spc="0" normalizeH="0" baseline="0" noProof="0">
                <a:ln>
                  <a:noFill/>
                </a:ln>
                <a:solidFill>
                  <a:prstClr val="black"/>
                </a:solidFill>
                <a:effectLst/>
                <a:uLnTx/>
                <a:uFillTx/>
                <a:latin typeface="Funnel Sans"/>
                <a:ea typeface="+mn-ea"/>
                <a:cs typeface="+mn-cs"/>
              </a:rPr>
              <a:t>normal</a:t>
            </a:r>
            <a:r>
              <a:rPr kumimoji="0" lang="en-GB" sz="1200" b="0" i="0" u="none" strike="noStrike" kern="1200" cap="none" spc="0" normalizeH="0" baseline="0" noProof="0">
                <a:ln>
                  <a:noFill/>
                </a:ln>
                <a:solidFill>
                  <a:prstClr val="black"/>
                </a:solidFill>
                <a:effectLst/>
                <a:uLnTx/>
                <a:uFillTx/>
                <a:latin typeface="Funnel Sans"/>
                <a:ea typeface="+mn-ea"/>
                <a:cs typeface="+mn-cs"/>
              </a:rPr>
              <a:t> epithelium =&gt; </a:t>
            </a:r>
            <a:r>
              <a:rPr kumimoji="0" lang="en-GB" sz="1200" b="0" i="0" u="sng" strike="noStrike" kern="1200" cap="none" spc="0" normalizeH="0" baseline="0" noProof="0">
                <a:ln>
                  <a:noFill/>
                </a:ln>
                <a:solidFill>
                  <a:prstClr val="black"/>
                </a:solidFill>
                <a:effectLst/>
                <a:uLnTx/>
                <a:uFillTx/>
                <a:latin typeface="Funnel Sans"/>
                <a:ea typeface="+mn-ea"/>
                <a:cs typeface="+mn-cs"/>
              </a:rPr>
              <a:t>inaccessible</a:t>
            </a:r>
          </a:p>
        </p:txBody>
      </p:sp>
      <p:sp>
        <p:nvSpPr>
          <p:cNvPr id="35" name="TextBox 34">
            <a:extLst>
              <a:ext uri="{FF2B5EF4-FFF2-40B4-BE49-F238E27FC236}">
                <a16:creationId xmlns:a16="http://schemas.microsoft.com/office/drawing/2014/main" id="{7B056292-C473-54B7-DB6C-EE1C96979603}"/>
              </a:ext>
            </a:extLst>
          </p:cNvPr>
          <p:cNvSpPr txBox="1"/>
          <p:nvPr/>
        </p:nvSpPr>
        <p:spPr>
          <a:xfrm>
            <a:off x="3590848" y="5090816"/>
            <a:ext cx="271748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Target overexpression on the entire </a:t>
            </a:r>
            <a:r>
              <a:rPr kumimoji="0" lang="en-US" sz="1200" b="1" i="0" u="none" strike="noStrike" kern="1200" cap="none" spc="0" normalizeH="0" baseline="0" noProof="0">
                <a:ln>
                  <a:noFill/>
                </a:ln>
                <a:solidFill>
                  <a:prstClr val="black"/>
                </a:solidFill>
                <a:effectLst/>
                <a:uLnTx/>
                <a:uFillTx/>
                <a:latin typeface="Funnel Sans"/>
                <a:ea typeface="+mn-ea"/>
                <a:cs typeface="+mn-cs"/>
              </a:rPr>
              <a:t>tumor </a:t>
            </a:r>
            <a:r>
              <a:rPr kumimoji="0" lang="en-US" sz="1200" b="0" i="0" u="none" strike="noStrike" kern="1200" cap="none" spc="0" normalizeH="0" baseline="0" noProof="0">
                <a:ln>
                  <a:noFill/>
                </a:ln>
                <a:solidFill>
                  <a:prstClr val="black"/>
                </a:solidFill>
                <a:effectLst/>
                <a:uLnTx/>
                <a:uFillTx/>
                <a:latin typeface="Funnel Sans"/>
                <a:ea typeface="+mn-ea"/>
                <a:cs typeface="+mn-cs"/>
              </a:rPr>
              <a:t>cell membrane =&gt; </a:t>
            </a:r>
            <a:r>
              <a:rPr kumimoji="0" lang="en-US" sz="1200" b="0" i="0" u="sng" strike="noStrike" kern="1200" cap="none" spc="0" normalizeH="0" baseline="0" noProof="0">
                <a:ln>
                  <a:noFill/>
                </a:ln>
                <a:solidFill>
                  <a:prstClr val="black"/>
                </a:solidFill>
                <a:effectLst/>
                <a:uLnTx/>
                <a:uFillTx/>
                <a:latin typeface="Funnel Sans"/>
                <a:ea typeface="+mn-ea"/>
                <a:cs typeface="+mn-cs"/>
              </a:rPr>
              <a:t>accessible</a:t>
            </a:r>
          </a:p>
        </p:txBody>
      </p:sp>
      <p:cxnSp>
        <p:nvCxnSpPr>
          <p:cNvPr id="36" name="Straight Arrow Connector 35">
            <a:extLst>
              <a:ext uri="{FF2B5EF4-FFF2-40B4-BE49-F238E27FC236}">
                <a16:creationId xmlns:a16="http://schemas.microsoft.com/office/drawing/2014/main" id="{A974F167-8F0E-C1AB-7FB7-0B22889878C6}"/>
              </a:ext>
            </a:extLst>
          </p:cNvPr>
          <p:cNvCxnSpPr>
            <a:cxnSpLocks/>
          </p:cNvCxnSpPr>
          <p:nvPr/>
        </p:nvCxnSpPr>
        <p:spPr>
          <a:xfrm flipH="1" flipV="1">
            <a:off x="4554330" y="4660348"/>
            <a:ext cx="229705" cy="4278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8467D68E-8F16-62E3-D769-767779A24862}"/>
              </a:ext>
            </a:extLst>
          </p:cNvPr>
          <p:cNvSpPr txBox="1"/>
          <p:nvPr/>
        </p:nvSpPr>
        <p:spPr>
          <a:xfrm>
            <a:off x="480447" y="1626847"/>
            <a:ext cx="1665841"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1" u="none" strike="noStrike" kern="1200" cap="none" spc="0" normalizeH="0" baseline="0" noProof="0">
                <a:ln>
                  <a:noFill/>
                </a:ln>
                <a:solidFill>
                  <a:prstClr val="black"/>
                </a:solidFill>
                <a:effectLst/>
                <a:uLnTx/>
                <a:uFillTx/>
                <a:latin typeface="Funnel Sans"/>
                <a:ea typeface="+mn-ea"/>
                <a:cs typeface="+mn-cs"/>
              </a:rPr>
              <a:t>Inside the colon</a:t>
            </a:r>
          </a:p>
        </p:txBody>
      </p:sp>
      <p:sp>
        <p:nvSpPr>
          <p:cNvPr id="39" name="TextBox 38">
            <a:extLst>
              <a:ext uri="{FF2B5EF4-FFF2-40B4-BE49-F238E27FC236}">
                <a16:creationId xmlns:a16="http://schemas.microsoft.com/office/drawing/2014/main" id="{1E0D21BC-154E-4A10-C5CF-FD6F200DA2D8}"/>
              </a:ext>
            </a:extLst>
          </p:cNvPr>
          <p:cNvSpPr txBox="1"/>
          <p:nvPr/>
        </p:nvSpPr>
        <p:spPr>
          <a:xfrm>
            <a:off x="517040" y="5833284"/>
            <a:ext cx="1378904"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1" u="none" strike="noStrike" kern="1200" cap="none" spc="0" normalizeH="0" baseline="0" noProof="0">
                <a:ln>
                  <a:noFill/>
                </a:ln>
                <a:solidFill>
                  <a:prstClr val="black"/>
                </a:solidFill>
                <a:effectLst/>
                <a:uLnTx/>
                <a:uFillTx/>
                <a:latin typeface="Funnel Sans"/>
                <a:ea typeface="+mn-ea"/>
                <a:cs typeface="+mn-cs"/>
              </a:rPr>
              <a:t>Bloodstream</a:t>
            </a:r>
          </a:p>
        </p:txBody>
      </p:sp>
      <p:cxnSp>
        <p:nvCxnSpPr>
          <p:cNvPr id="46" name="Straight Arrow Connector 45">
            <a:extLst>
              <a:ext uri="{FF2B5EF4-FFF2-40B4-BE49-F238E27FC236}">
                <a16:creationId xmlns:a16="http://schemas.microsoft.com/office/drawing/2014/main" id="{B8616392-D350-4E2A-941A-362315F072ED}"/>
              </a:ext>
            </a:extLst>
          </p:cNvPr>
          <p:cNvCxnSpPr>
            <a:cxnSpLocks/>
          </p:cNvCxnSpPr>
          <p:nvPr/>
        </p:nvCxnSpPr>
        <p:spPr>
          <a:xfrm>
            <a:off x="1925040" y="2945331"/>
            <a:ext cx="132360" cy="9476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CAFE1318-47C7-250F-EB94-24CF3CC77708}"/>
              </a:ext>
            </a:extLst>
          </p:cNvPr>
          <p:cNvCxnSpPr>
            <a:cxnSpLocks/>
          </p:cNvCxnSpPr>
          <p:nvPr/>
        </p:nvCxnSpPr>
        <p:spPr>
          <a:xfrm flipV="1">
            <a:off x="6096000" y="3495622"/>
            <a:ext cx="594139" cy="16195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801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C052-4FC7-D7E2-DBE1-AE93402B1F32}"/>
            </a:ext>
          </a:extLst>
        </p:cNvPr>
        <p:cNvGrpSpPr/>
        <p:nvPr/>
      </p:nvGrpSpPr>
      <p:grpSpPr>
        <a:xfrm>
          <a:off x="0" y="0"/>
          <a:ext cx="0" cy="0"/>
          <a:chOff x="0" y="0"/>
          <a:chExt cx="0" cy="0"/>
        </a:xfrm>
      </p:grpSpPr>
      <p:sp>
        <p:nvSpPr>
          <p:cNvPr id="24" name="Shape 17">
            <a:extLst>
              <a:ext uri="{FF2B5EF4-FFF2-40B4-BE49-F238E27FC236}">
                <a16:creationId xmlns:a16="http://schemas.microsoft.com/office/drawing/2014/main" id="{9F039BF0-32DF-7A93-B8D9-ED5B387218C2}"/>
              </a:ext>
            </a:extLst>
          </p:cNvPr>
          <p:cNvSpPr/>
          <p:nvPr/>
        </p:nvSpPr>
        <p:spPr>
          <a:xfrm>
            <a:off x="6667335" y="1856411"/>
            <a:ext cx="5021082" cy="354189"/>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3" name="Shape 17">
            <a:extLst>
              <a:ext uri="{FF2B5EF4-FFF2-40B4-BE49-F238E27FC236}">
                <a16:creationId xmlns:a16="http://schemas.microsoft.com/office/drawing/2014/main" id="{66F82E30-2038-F492-C08E-A3939431F850}"/>
              </a:ext>
            </a:extLst>
          </p:cNvPr>
          <p:cNvSpPr/>
          <p:nvPr/>
        </p:nvSpPr>
        <p:spPr>
          <a:xfrm>
            <a:off x="623130" y="3941239"/>
            <a:ext cx="5215167" cy="354189"/>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9" name="Shape 17">
            <a:extLst>
              <a:ext uri="{FF2B5EF4-FFF2-40B4-BE49-F238E27FC236}">
                <a16:creationId xmlns:a16="http://schemas.microsoft.com/office/drawing/2014/main" id="{77A630A3-F350-1163-DA92-E43570FB08FD}"/>
              </a:ext>
            </a:extLst>
          </p:cNvPr>
          <p:cNvSpPr/>
          <p:nvPr/>
        </p:nvSpPr>
        <p:spPr>
          <a:xfrm>
            <a:off x="614599" y="1856411"/>
            <a:ext cx="5215167" cy="354189"/>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 name="Shape 0">
            <a:extLst>
              <a:ext uri="{FF2B5EF4-FFF2-40B4-BE49-F238E27FC236}">
                <a16:creationId xmlns:a16="http://schemas.microsoft.com/office/drawing/2014/main" id="{67C3A023-F7D5-5DDB-E0FA-60E2EC4DC84C}"/>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84C50417-DA85-C69A-8A7F-6D40E71964FE}"/>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01F59D9F-4A9B-43E3-1A3B-3233A8BC229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54C78424-65BA-C2F1-BE44-CCEF13F33FE6}"/>
              </a:ext>
            </a:extLst>
          </p:cNvPr>
          <p:cNvPicPr>
            <a:picLocks noChangeAspect="1"/>
          </p:cNvPicPr>
          <p:nvPr/>
        </p:nvPicPr>
        <p:blipFill>
          <a:blip r:embed="rId4"/>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F4A129F5-095E-4935-5F45-934B81070263}"/>
              </a:ext>
            </a:extLst>
          </p:cNvPr>
          <p:cNvPicPr>
            <a:picLocks noChangeAspect="1"/>
          </p:cNvPicPr>
          <p:nvPr/>
        </p:nvPicPr>
        <p:blipFill>
          <a:blip r:embed="rId4"/>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A87D1FE1-E7B6-46E9-D9BC-3AC3FD981FFC}"/>
              </a:ext>
            </a:extLst>
          </p:cNvPr>
          <p:cNvPicPr>
            <a:picLocks noChangeAspect="1"/>
          </p:cNvPicPr>
          <p:nvPr/>
        </p:nvPicPr>
        <p:blipFill>
          <a:blip r:embed="rId4"/>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59569697-7B56-E786-08C2-145EC5FD2276}"/>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6C591099-26BF-58BE-412F-828168D2FB8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A1CAB3FE-B978-4FEF-FA4A-26B189C5C6F9}"/>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C079E79E-3F57-674E-9683-A48FF863FC22}"/>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AEB059A2-C545-24E7-E0DE-562810BABC6D}"/>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D19ED250-99E5-18F4-EACD-9211B8C6DECE}"/>
              </a:ext>
            </a:extLst>
          </p:cNvPr>
          <p:cNvPicPr>
            <a:picLocks noChangeAspect="1"/>
          </p:cNvPicPr>
          <p:nvPr/>
        </p:nvPicPr>
        <p:blipFill>
          <a:blip r:embed="rId10"/>
          <a:stretch>
            <a:fillRect/>
          </a:stretch>
        </p:blipFill>
        <p:spPr>
          <a:xfrm>
            <a:off x="254000" y="376361"/>
            <a:ext cx="174501" cy="157575"/>
          </a:xfrm>
          <a:prstGeom prst="rect">
            <a:avLst/>
          </a:prstGeom>
        </p:spPr>
      </p:pic>
      <p:sp>
        <p:nvSpPr>
          <p:cNvPr id="15" name="Text 28">
            <a:extLst>
              <a:ext uri="{FF2B5EF4-FFF2-40B4-BE49-F238E27FC236}">
                <a16:creationId xmlns:a16="http://schemas.microsoft.com/office/drawing/2014/main" id="{27F08AE7-A686-9705-5EA8-E00F094EA2E8}"/>
              </a:ext>
            </a:extLst>
          </p:cNvPr>
          <p:cNvSpPr/>
          <p:nvPr/>
        </p:nvSpPr>
        <p:spPr>
          <a:xfrm>
            <a:off x="253999" y="635564"/>
            <a:ext cx="1139024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Funnel Sans"/>
                <a:ea typeface="+mn-ea"/>
                <a:cs typeface="+mn-cs"/>
              </a:rPr>
              <a:t>CEACAM5 expression is highly tumor-selective and clinically validated</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21" name="Rectangle: Rounded Corners 20">
            <a:extLst>
              <a:ext uri="{FF2B5EF4-FFF2-40B4-BE49-F238E27FC236}">
                <a16:creationId xmlns:a16="http://schemas.microsoft.com/office/drawing/2014/main" id="{788734BF-A8B8-BED6-8471-9809B0E456AD}"/>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0" name="TextBox 19">
            <a:extLst>
              <a:ext uri="{FF2B5EF4-FFF2-40B4-BE49-F238E27FC236}">
                <a16:creationId xmlns:a16="http://schemas.microsoft.com/office/drawing/2014/main" id="{5B6B1C5A-A1C7-9149-CD57-A0999C0369C3}"/>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Shape 1">
            <a:extLst>
              <a:ext uri="{FF2B5EF4-FFF2-40B4-BE49-F238E27FC236}">
                <a16:creationId xmlns:a16="http://schemas.microsoft.com/office/drawing/2014/main" id="{6AA7A798-115B-96AD-3EA9-1C7D7EDF7168}"/>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5" name="TextBox 34">
            <a:extLst>
              <a:ext uri="{FF2B5EF4-FFF2-40B4-BE49-F238E27FC236}">
                <a16:creationId xmlns:a16="http://schemas.microsoft.com/office/drawing/2014/main" id="{1597516E-5169-E7C9-3180-B1ABFBE98473}"/>
              </a:ext>
            </a:extLst>
          </p:cNvPr>
          <p:cNvSpPr txBox="1"/>
          <p:nvPr/>
        </p:nvSpPr>
        <p:spPr>
          <a:xfrm>
            <a:off x="0" y="6566323"/>
            <a:ext cx="12065520"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sng" strike="noStrike" kern="1200" cap="none" spc="0" normalizeH="0" baseline="0" noProof="0">
                <a:ln>
                  <a:noFill/>
                </a:ln>
                <a:solidFill>
                  <a:srgbClr val="000000"/>
                </a:solidFill>
                <a:effectLst/>
                <a:uLnTx/>
                <a:uFillTx/>
                <a:latin typeface="Funnel Sans"/>
                <a:ea typeface="+mn-ea"/>
                <a:cs typeface="+mn-cs"/>
                <a:hlinkClick r:id="rId11"/>
              </a:rPr>
              <a:t>Jansen 2024 Cancers</a:t>
            </a:r>
            <a:r>
              <a:rPr kumimoji="0" lang="en-US" sz="1000" b="0" i="0" u="sng" strike="noStrike" kern="1200" cap="none" spc="0" normalizeH="0" baseline="0" noProof="0">
                <a:ln>
                  <a:noFill/>
                </a:ln>
                <a:solidFill>
                  <a:srgbClr val="7A9F8F"/>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mn-ea"/>
                <a:cs typeface="+mn-cs"/>
                <a:hlinkClick r:id="rId12"/>
              </a:rPr>
              <a:t>Wong 2022 Cancer </a:t>
            </a:r>
            <a:r>
              <a:rPr kumimoji="0" lang="en-US" sz="1000" b="0" i="0" u="sng" strike="noStrike" kern="1200" cap="none" spc="0" normalizeH="0" baseline="0" noProof="0" err="1">
                <a:ln>
                  <a:noFill/>
                </a:ln>
                <a:solidFill>
                  <a:srgbClr val="7A9F8F"/>
                </a:solidFill>
                <a:effectLst/>
                <a:uLnTx/>
                <a:uFillTx/>
                <a:latin typeface="Funnel Sans"/>
                <a:ea typeface="+mn-ea"/>
                <a:cs typeface="+mn-cs"/>
                <a:hlinkClick r:id="rId12"/>
              </a:rPr>
              <a:t>Biother</a:t>
            </a:r>
            <a:r>
              <a:rPr kumimoji="0" lang="en-US" sz="1000" b="0" i="0" u="sng" strike="noStrike" kern="1200" cap="none" spc="0" normalizeH="0" baseline="0" noProof="0">
                <a:ln>
                  <a:noFill/>
                </a:ln>
                <a:solidFill>
                  <a:srgbClr val="7A9F8F"/>
                </a:solidFill>
                <a:effectLst/>
                <a:uLnTx/>
                <a:uFillTx/>
                <a:latin typeface="Funnel Sans"/>
                <a:ea typeface="+mn-ea"/>
                <a:cs typeface="+mn-cs"/>
                <a:hlinkClick r:id="rId12"/>
              </a:rPr>
              <a:t> </a:t>
            </a:r>
            <a:r>
              <a:rPr kumimoji="0" lang="en-US" sz="1000" b="0" i="0" u="sng" strike="noStrike" kern="1200" cap="none" spc="0" normalizeH="0" baseline="0" noProof="0" err="1">
                <a:ln>
                  <a:noFill/>
                </a:ln>
                <a:solidFill>
                  <a:srgbClr val="7A9F8F"/>
                </a:solidFill>
                <a:effectLst/>
                <a:uLnTx/>
                <a:uFillTx/>
                <a:latin typeface="Funnel Sans"/>
                <a:ea typeface="+mn-ea"/>
                <a:cs typeface="+mn-cs"/>
                <a:hlinkClick r:id="rId12"/>
              </a:rPr>
              <a:t>Radiopharm</a:t>
            </a:r>
            <a:r>
              <a:rPr kumimoji="0" lang="en-US" sz="1000" b="0" i="0" u="sng" strike="noStrike" kern="1200" cap="none" spc="0" normalizeH="0" baseline="0" noProof="0">
                <a:ln>
                  <a:noFill/>
                </a:ln>
                <a:solidFill>
                  <a:srgbClr val="7A9F8F"/>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mn-ea"/>
                <a:cs typeface="+mn-cs"/>
                <a:hlinkClick r:id="rId13"/>
              </a:rPr>
              <a:t>Wong 1997 JNM</a:t>
            </a:r>
            <a:r>
              <a:rPr kumimoji="0" lang="en-US" sz="1000" b="0" i="0" u="sng" strike="noStrike" kern="1200" cap="none" spc="0" normalizeH="0" baseline="0" noProof="0">
                <a:ln>
                  <a:noFill/>
                </a:ln>
                <a:solidFill>
                  <a:srgbClr val="7A9F8F"/>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mn-ea"/>
                <a:cs typeface="+mn-cs"/>
                <a:hlinkClick r:id="rId14"/>
              </a:rPr>
              <a:t>Wong 1998 JNM</a:t>
            </a:r>
            <a:endParaRPr kumimoji="0" lang="en-US" sz="1000" b="0" i="0" u="sng" strike="noStrike" kern="1200" cap="none" spc="0" normalizeH="0" baseline="0" noProof="0">
              <a:ln>
                <a:noFill/>
              </a:ln>
              <a:solidFill>
                <a:srgbClr val="000000"/>
              </a:solidFill>
              <a:effectLst/>
              <a:uLnTx/>
              <a:uFillTx/>
              <a:latin typeface="Funnel Sans"/>
              <a:ea typeface="+mn-ea"/>
              <a:cs typeface="+mn-cs"/>
              <a:hlinkClick r:id="rId15"/>
            </a:endParaRPr>
          </a:p>
        </p:txBody>
      </p:sp>
      <p:sp>
        <p:nvSpPr>
          <p:cNvPr id="37" name="Text 42">
            <a:extLst>
              <a:ext uri="{FF2B5EF4-FFF2-40B4-BE49-F238E27FC236}">
                <a16:creationId xmlns:a16="http://schemas.microsoft.com/office/drawing/2014/main" id="{6624D5BB-8AF4-0C7C-32D8-FFF4C407094F}"/>
              </a:ext>
            </a:extLst>
          </p:cNvPr>
          <p:cNvSpPr/>
          <p:nvPr/>
        </p:nvSpPr>
        <p:spPr>
          <a:xfrm>
            <a:off x="614599" y="4027918"/>
            <a:ext cx="5439894" cy="246556"/>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mn-cs"/>
              </a:rPr>
              <a:t>Diffuse membrane staining in cancers</a:t>
            </a:r>
            <a:endParaRPr kumimoji="0" lang="en-US" sz="1600" b="1" i="0" u="none" strike="noStrike" kern="1200" cap="none" spc="0" normalizeH="0" baseline="0" noProof="0">
              <a:ln>
                <a:noFill/>
              </a:ln>
              <a:solidFill>
                <a:prstClr val="black"/>
              </a:solidFill>
              <a:effectLst/>
              <a:uLnTx/>
              <a:uFillTx/>
              <a:latin typeface="Funnel Sans"/>
              <a:ea typeface="+mn-ea"/>
              <a:cs typeface="+mn-cs"/>
            </a:endParaRPr>
          </a:p>
        </p:txBody>
      </p:sp>
      <p:sp>
        <p:nvSpPr>
          <p:cNvPr id="41" name="Text 42">
            <a:extLst>
              <a:ext uri="{FF2B5EF4-FFF2-40B4-BE49-F238E27FC236}">
                <a16:creationId xmlns:a16="http://schemas.microsoft.com/office/drawing/2014/main" id="{3D86938E-0F8E-47E0-4431-F9E5270B0A77}"/>
              </a:ext>
            </a:extLst>
          </p:cNvPr>
          <p:cNvSpPr/>
          <p:nvPr/>
        </p:nvSpPr>
        <p:spPr>
          <a:xfrm>
            <a:off x="6695522" y="1928334"/>
            <a:ext cx="5076825"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alpha val="99000"/>
                  </a:srgbClr>
                </a:solidFill>
                <a:effectLst/>
                <a:uLnTx/>
                <a:uFillTx/>
                <a:latin typeface="Funnel Sans" pitchFamily="34" charset="0"/>
                <a:ea typeface="+mn-ea"/>
                <a:cs typeface="+mn-cs"/>
              </a:rPr>
              <a:t>Tumor selective CEA targeting is clinically validated</a:t>
            </a:r>
            <a:endParaRPr kumimoji="0" lang="en-US" sz="1600" b="1" i="0" u="none" strike="noStrike" kern="1200" cap="none" spc="0" normalizeH="0" baseline="0" noProof="0">
              <a:ln>
                <a:noFill/>
              </a:ln>
              <a:solidFill>
                <a:prstClr val="black"/>
              </a:solidFill>
              <a:effectLst/>
              <a:uLnTx/>
              <a:uFillTx/>
              <a:latin typeface="Funnel Sans"/>
              <a:ea typeface="+mn-ea"/>
              <a:cs typeface="+mn-cs"/>
            </a:endParaRPr>
          </a:p>
        </p:txBody>
      </p:sp>
      <p:pic>
        <p:nvPicPr>
          <p:cNvPr id="17" name="Picture 16">
            <a:extLst>
              <a:ext uri="{FF2B5EF4-FFF2-40B4-BE49-F238E27FC236}">
                <a16:creationId xmlns:a16="http://schemas.microsoft.com/office/drawing/2014/main" id="{9D12AF63-F30D-8AB0-01B9-32D91565ED44}"/>
              </a:ext>
            </a:extLst>
          </p:cNvPr>
          <p:cNvPicPr>
            <a:picLocks noChangeAspect="1"/>
          </p:cNvPicPr>
          <p:nvPr/>
        </p:nvPicPr>
        <p:blipFill>
          <a:blip r:embed="rId16"/>
          <a:srcRect b="53097"/>
          <a:stretch>
            <a:fillRect/>
          </a:stretch>
        </p:blipFill>
        <p:spPr>
          <a:xfrm>
            <a:off x="762572" y="4627207"/>
            <a:ext cx="5136697" cy="1219777"/>
          </a:xfrm>
          <a:prstGeom prst="rect">
            <a:avLst/>
          </a:prstGeom>
        </p:spPr>
      </p:pic>
      <p:sp>
        <p:nvSpPr>
          <p:cNvPr id="22" name="TextBox 21">
            <a:extLst>
              <a:ext uri="{FF2B5EF4-FFF2-40B4-BE49-F238E27FC236}">
                <a16:creationId xmlns:a16="http://schemas.microsoft.com/office/drawing/2014/main" id="{EB953C9B-D7E9-E818-C175-BA19020F7518}"/>
              </a:ext>
            </a:extLst>
          </p:cNvPr>
          <p:cNvSpPr txBox="1"/>
          <p:nvPr/>
        </p:nvSpPr>
        <p:spPr>
          <a:xfrm>
            <a:off x="884150" y="4407387"/>
            <a:ext cx="1031001"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Colon AC</a:t>
            </a:r>
          </a:p>
        </p:txBody>
      </p:sp>
      <p:sp>
        <p:nvSpPr>
          <p:cNvPr id="32" name="TextBox 31">
            <a:extLst>
              <a:ext uri="{FF2B5EF4-FFF2-40B4-BE49-F238E27FC236}">
                <a16:creationId xmlns:a16="http://schemas.microsoft.com/office/drawing/2014/main" id="{3238FF83-F24A-E4F0-1DF5-AD06BDD1429B}"/>
              </a:ext>
            </a:extLst>
          </p:cNvPr>
          <p:cNvSpPr txBox="1"/>
          <p:nvPr/>
        </p:nvSpPr>
        <p:spPr>
          <a:xfrm>
            <a:off x="1986351" y="4407387"/>
            <a:ext cx="138309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Esophagus AC</a:t>
            </a:r>
          </a:p>
        </p:txBody>
      </p:sp>
      <p:sp>
        <p:nvSpPr>
          <p:cNvPr id="33" name="TextBox 32">
            <a:extLst>
              <a:ext uri="{FF2B5EF4-FFF2-40B4-BE49-F238E27FC236}">
                <a16:creationId xmlns:a16="http://schemas.microsoft.com/office/drawing/2014/main" id="{C542156A-2D78-A883-B8DD-FDF06EAA2FDA}"/>
              </a:ext>
            </a:extLst>
          </p:cNvPr>
          <p:cNvSpPr txBox="1"/>
          <p:nvPr/>
        </p:nvSpPr>
        <p:spPr>
          <a:xfrm>
            <a:off x="3511847" y="4407387"/>
            <a:ext cx="79820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PDAC</a:t>
            </a:r>
          </a:p>
        </p:txBody>
      </p:sp>
      <p:sp>
        <p:nvSpPr>
          <p:cNvPr id="34" name="TextBox 33">
            <a:extLst>
              <a:ext uri="{FF2B5EF4-FFF2-40B4-BE49-F238E27FC236}">
                <a16:creationId xmlns:a16="http://schemas.microsoft.com/office/drawing/2014/main" id="{20CFB97C-8D7D-143F-21BF-0DE4C1A73712}"/>
              </a:ext>
            </a:extLst>
          </p:cNvPr>
          <p:cNvSpPr txBox="1"/>
          <p:nvPr/>
        </p:nvSpPr>
        <p:spPr>
          <a:xfrm>
            <a:off x="4513741" y="4407387"/>
            <a:ext cx="121159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ICC</a:t>
            </a:r>
          </a:p>
        </p:txBody>
      </p:sp>
      <p:sp>
        <p:nvSpPr>
          <p:cNvPr id="39" name="Text 42">
            <a:extLst>
              <a:ext uri="{FF2B5EF4-FFF2-40B4-BE49-F238E27FC236}">
                <a16:creationId xmlns:a16="http://schemas.microsoft.com/office/drawing/2014/main" id="{DBE5D2FD-EA0B-79B9-3D66-001B614DAB27}"/>
              </a:ext>
            </a:extLst>
          </p:cNvPr>
          <p:cNvSpPr/>
          <p:nvPr/>
        </p:nvSpPr>
        <p:spPr>
          <a:xfrm>
            <a:off x="600300" y="1927585"/>
            <a:ext cx="5613983" cy="275819"/>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Staining restricted to apical membrane normal tissues</a:t>
            </a:r>
            <a:endParaRPr kumimoji="0" lang="en-US" sz="1600" b="1" i="0" u="none" strike="noStrike" kern="1200" cap="none" spc="0" normalizeH="0" baseline="0" noProof="0">
              <a:ln>
                <a:noFill/>
              </a:ln>
              <a:solidFill>
                <a:prstClr val="black"/>
              </a:solidFill>
              <a:effectLst/>
              <a:uLnTx/>
              <a:uFillTx/>
              <a:latin typeface="Funnel Sans"/>
              <a:ea typeface="+mn-ea"/>
              <a:cs typeface="+mn-cs"/>
            </a:endParaRPr>
          </a:p>
        </p:txBody>
      </p:sp>
      <p:pic>
        <p:nvPicPr>
          <p:cNvPr id="42" name="Picture 41">
            <a:extLst>
              <a:ext uri="{FF2B5EF4-FFF2-40B4-BE49-F238E27FC236}">
                <a16:creationId xmlns:a16="http://schemas.microsoft.com/office/drawing/2014/main" id="{A131C439-F71F-ADF8-3B73-442EE326E370}"/>
              </a:ext>
            </a:extLst>
          </p:cNvPr>
          <p:cNvPicPr>
            <a:picLocks noChangeAspect="1"/>
          </p:cNvPicPr>
          <p:nvPr/>
        </p:nvPicPr>
        <p:blipFill>
          <a:blip r:embed="rId17"/>
          <a:stretch>
            <a:fillRect/>
          </a:stretch>
        </p:blipFill>
        <p:spPr>
          <a:xfrm>
            <a:off x="851940" y="2565542"/>
            <a:ext cx="4932139" cy="1298205"/>
          </a:xfrm>
          <a:prstGeom prst="rect">
            <a:avLst/>
          </a:prstGeom>
        </p:spPr>
      </p:pic>
      <p:sp>
        <p:nvSpPr>
          <p:cNvPr id="43" name="TextBox 42">
            <a:extLst>
              <a:ext uri="{FF2B5EF4-FFF2-40B4-BE49-F238E27FC236}">
                <a16:creationId xmlns:a16="http://schemas.microsoft.com/office/drawing/2014/main" id="{F903B2D9-59C9-D9EF-7F1F-D26C9A6A04F9}"/>
              </a:ext>
            </a:extLst>
          </p:cNvPr>
          <p:cNvSpPr txBox="1"/>
          <p:nvPr/>
        </p:nvSpPr>
        <p:spPr>
          <a:xfrm>
            <a:off x="980059" y="2379191"/>
            <a:ext cx="985405"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Stomach</a:t>
            </a:r>
          </a:p>
        </p:txBody>
      </p:sp>
      <p:sp>
        <p:nvSpPr>
          <p:cNvPr id="44" name="TextBox 43">
            <a:extLst>
              <a:ext uri="{FF2B5EF4-FFF2-40B4-BE49-F238E27FC236}">
                <a16:creationId xmlns:a16="http://schemas.microsoft.com/office/drawing/2014/main" id="{E6E98E4C-E834-58C1-BB51-34C72CF1AC32}"/>
              </a:ext>
            </a:extLst>
          </p:cNvPr>
          <p:cNvSpPr txBox="1"/>
          <p:nvPr/>
        </p:nvSpPr>
        <p:spPr>
          <a:xfrm>
            <a:off x="2234635" y="2379781"/>
            <a:ext cx="762903" cy="27581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Colon</a:t>
            </a:r>
          </a:p>
        </p:txBody>
      </p:sp>
      <p:sp>
        <p:nvSpPr>
          <p:cNvPr id="45" name="TextBox 44">
            <a:extLst>
              <a:ext uri="{FF2B5EF4-FFF2-40B4-BE49-F238E27FC236}">
                <a16:creationId xmlns:a16="http://schemas.microsoft.com/office/drawing/2014/main" id="{6A9EC466-DE9B-A126-49E7-D9180BC4E3D5}"/>
              </a:ext>
            </a:extLst>
          </p:cNvPr>
          <p:cNvSpPr txBox="1"/>
          <p:nvPr/>
        </p:nvSpPr>
        <p:spPr>
          <a:xfrm>
            <a:off x="3158048" y="2379191"/>
            <a:ext cx="1387223"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Small intestine</a:t>
            </a:r>
          </a:p>
        </p:txBody>
      </p:sp>
      <p:sp>
        <p:nvSpPr>
          <p:cNvPr id="46" name="TextBox 45">
            <a:extLst>
              <a:ext uri="{FF2B5EF4-FFF2-40B4-BE49-F238E27FC236}">
                <a16:creationId xmlns:a16="http://schemas.microsoft.com/office/drawing/2014/main" id="{D1DFD757-03A3-707E-2758-3F87EA515C5D}"/>
              </a:ext>
            </a:extLst>
          </p:cNvPr>
          <p:cNvSpPr txBox="1"/>
          <p:nvPr/>
        </p:nvSpPr>
        <p:spPr>
          <a:xfrm>
            <a:off x="4572061" y="2379191"/>
            <a:ext cx="1158017"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Respiratory</a:t>
            </a:r>
          </a:p>
        </p:txBody>
      </p:sp>
      <p:pic>
        <p:nvPicPr>
          <p:cNvPr id="47" name="pasted-movie.png" descr="pasted-movie.png">
            <a:extLst>
              <a:ext uri="{FF2B5EF4-FFF2-40B4-BE49-F238E27FC236}">
                <a16:creationId xmlns:a16="http://schemas.microsoft.com/office/drawing/2014/main" id="{6992221B-164F-7E87-4C11-885FAF8B9F49}"/>
              </a:ext>
            </a:extLst>
          </p:cNvPr>
          <p:cNvPicPr>
            <a:picLocks noChangeAspect="1"/>
          </p:cNvPicPr>
          <p:nvPr/>
        </p:nvPicPr>
        <p:blipFill>
          <a:blip r:embed="rId18"/>
          <a:srcRect b="12719"/>
          <a:stretch>
            <a:fillRect/>
          </a:stretch>
        </p:blipFill>
        <p:spPr>
          <a:xfrm>
            <a:off x="6374253" y="2301171"/>
            <a:ext cx="2282471" cy="2946327"/>
          </a:xfrm>
          <a:prstGeom prst="rect">
            <a:avLst/>
          </a:prstGeom>
          <a:ln w="12700">
            <a:miter lim="400000"/>
          </a:ln>
        </p:spPr>
      </p:pic>
      <p:sp>
        <p:nvSpPr>
          <p:cNvPr id="48" name="TextBox 47">
            <a:extLst>
              <a:ext uri="{FF2B5EF4-FFF2-40B4-BE49-F238E27FC236}">
                <a16:creationId xmlns:a16="http://schemas.microsoft.com/office/drawing/2014/main" id="{9BD40B28-1041-A095-0D28-DAF310AB6960}"/>
              </a:ext>
            </a:extLst>
          </p:cNvPr>
          <p:cNvSpPr txBox="1"/>
          <p:nvPr/>
        </p:nvSpPr>
        <p:spPr>
          <a:xfrm>
            <a:off x="8636176" y="3329660"/>
            <a:ext cx="3008066" cy="1384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Overall image of chest, abdomen, and pelvis at 24 h </a:t>
            </a:r>
            <a:r>
              <a:rPr kumimoji="0" lang="en-US" sz="1400" b="0" i="0" u="none" strike="noStrike" kern="1200" cap="none" spc="0" normalizeH="0" baseline="0" noProof="0" err="1">
                <a:ln>
                  <a:noFill/>
                </a:ln>
                <a:solidFill>
                  <a:prstClr val="black"/>
                </a:solidFill>
                <a:effectLst/>
                <a:uLnTx/>
                <a:uFillTx/>
                <a:latin typeface="Funnel Sans"/>
                <a:ea typeface="+mn-ea"/>
                <a:cs typeface="+mn-cs"/>
              </a:rPr>
              <a:t>p.i.</a:t>
            </a:r>
            <a:r>
              <a:rPr kumimoji="0" lang="en-US" sz="1400" b="0" i="0" u="none" strike="noStrike" kern="1200" cap="none" spc="0" normalizeH="0" baseline="0" noProof="0">
                <a:ln>
                  <a:noFill/>
                </a:ln>
                <a:solidFill>
                  <a:prstClr val="black"/>
                </a:solidFill>
                <a:effectLst/>
                <a:uLnTx/>
                <a:uFillTx/>
                <a:latin typeface="Funnel Sans"/>
                <a:ea typeface="+mn-ea"/>
                <a:cs typeface="+mn-cs"/>
              </a:rPr>
              <a:t> of </a:t>
            </a:r>
            <a:r>
              <a:rPr kumimoji="0" lang="en-US" sz="1400" b="0" i="0" u="none" strike="noStrike" kern="1200" cap="none" spc="0" normalizeH="0" baseline="30000" noProof="0">
                <a:ln>
                  <a:noFill/>
                </a:ln>
                <a:solidFill>
                  <a:prstClr val="black"/>
                </a:solidFill>
                <a:effectLst/>
                <a:uLnTx/>
                <a:uFillTx/>
                <a:latin typeface="Funnel Sans"/>
                <a:ea typeface="+mn-ea"/>
                <a:cs typeface="+mn-cs"/>
              </a:rPr>
              <a:t>64</a:t>
            </a:r>
            <a:r>
              <a:rPr kumimoji="0" lang="en-US" sz="1400" b="0" i="0" u="none" strike="noStrike" kern="1200" cap="none" spc="0" normalizeH="0" baseline="0" noProof="0">
                <a:ln>
                  <a:noFill/>
                </a:ln>
                <a:solidFill>
                  <a:prstClr val="black"/>
                </a:solidFill>
                <a:effectLst/>
                <a:uLnTx/>
                <a:uFillTx/>
                <a:latin typeface="Funnel Sans"/>
                <a:ea typeface="+mn-ea"/>
                <a:cs typeface="+mn-cs"/>
              </a:rPr>
              <a:t>Cu-DOTA-M5A (Patient 1) showing the rectal primary (</a:t>
            </a:r>
            <a:r>
              <a:rPr kumimoji="0" lang="en-US" sz="1400" b="0" i="1" u="none" strike="noStrike" kern="1200" cap="none" spc="0" normalizeH="0" baseline="0" noProof="0">
                <a:ln>
                  <a:noFill/>
                </a:ln>
                <a:solidFill>
                  <a:prstClr val="black"/>
                </a:solidFill>
                <a:effectLst/>
                <a:uLnTx/>
                <a:uFillTx/>
                <a:latin typeface="Funnel Sans"/>
                <a:ea typeface="+mn-ea"/>
                <a:cs typeface="+mn-cs"/>
              </a:rPr>
              <a:t>solid arrow</a:t>
            </a:r>
            <a:r>
              <a:rPr kumimoji="0" lang="en-US" sz="1400" b="0" i="0" u="none" strike="noStrike" kern="1200" cap="none" spc="0" normalizeH="0" baseline="0" noProof="0">
                <a:ln>
                  <a:noFill/>
                </a:ln>
                <a:solidFill>
                  <a:prstClr val="black"/>
                </a:solidFill>
                <a:effectLst/>
                <a:uLnTx/>
                <a:uFillTx/>
                <a:latin typeface="Funnel Sans"/>
                <a:ea typeface="+mn-ea"/>
                <a:cs typeface="+mn-cs"/>
              </a:rPr>
              <a:t>) and </a:t>
            </a:r>
            <a:r>
              <a:rPr kumimoji="0" lang="en-US" sz="1400" b="0" i="1" u="none" strike="noStrike" kern="1200" cap="none" spc="0" normalizeH="0" baseline="0" noProof="0">
                <a:ln>
                  <a:noFill/>
                </a:ln>
                <a:solidFill>
                  <a:prstClr val="black"/>
                </a:solidFill>
                <a:effectLst/>
                <a:uLnTx/>
                <a:uFillTx/>
                <a:latin typeface="Funnel Sans"/>
                <a:ea typeface="+mn-ea"/>
                <a:cs typeface="+mn-cs"/>
              </a:rPr>
              <a:t>left</a:t>
            </a:r>
            <a:r>
              <a:rPr kumimoji="0" lang="en-US" sz="1400" b="0" i="0" u="none" strike="noStrike" kern="1200" cap="none" spc="0" normalizeH="0" baseline="0" noProof="0">
                <a:ln>
                  <a:noFill/>
                </a:ln>
                <a:solidFill>
                  <a:prstClr val="black"/>
                </a:solidFill>
                <a:effectLst/>
                <a:uLnTx/>
                <a:uFillTx/>
                <a:latin typeface="Funnel Sans"/>
                <a:ea typeface="+mn-ea"/>
                <a:cs typeface="+mn-cs"/>
              </a:rPr>
              <a:t> perirectal, common iliac, and para-aortic lymph nodes (</a:t>
            </a:r>
            <a:r>
              <a:rPr kumimoji="0" lang="en-US" sz="1400" b="0" i="1" u="none" strike="noStrike" kern="1200" cap="none" spc="0" normalizeH="0" baseline="0" noProof="0">
                <a:ln>
                  <a:noFill/>
                </a:ln>
                <a:solidFill>
                  <a:prstClr val="black"/>
                </a:solidFill>
                <a:effectLst/>
                <a:uLnTx/>
                <a:uFillTx/>
                <a:latin typeface="Funnel Sans"/>
                <a:ea typeface="+mn-ea"/>
                <a:cs typeface="+mn-cs"/>
              </a:rPr>
              <a:t>dashed arrows</a:t>
            </a:r>
            <a:r>
              <a:rPr kumimoji="0" lang="en-US" sz="1400" b="0" i="0" u="none" strike="noStrike" kern="1200" cap="none" spc="0" normalizeH="0" baseline="0" noProof="0">
                <a:ln>
                  <a:noFill/>
                </a:ln>
                <a:solidFill>
                  <a:prstClr val="black"/>
                </a:solidFill>
                <a:effectLst/>
                <a:uLnTx/>
                <a:uFillTx/>
                <a:latin typeface="Funnel Sans"/>
                <a:ea typeface="+mn-ea"/>
                <a:cs typeface="+mn-cs"/>
              </a:rPr>
              <a:t>).</a:t>
            </a:r>
          </a:p>
        </p:txBody>
      </p:sp>
      <p:sp>
        <p:nvSpPr>
          <p:cNvPr id="49" name="TextBox 48">
            <a:extLst>
              <a:ext uri="{FF2B5EF4-FFF2-40B4-BE49-F238E27FC236}">
                <a16:creationId xmlns:a16="http://schemas.microsoft.com/office/drawing/2014/main" id="{31A2C742-9B72-4296-1F4B-EF7DC2CE954F}"/>
              </a:ext>
            </a:extLst>
          </p:cNvPr>
          <p:cNvSpPr txBox="1"/>
          <p:nvPr/>
        </p:nvSpPr>
        <p:spPr>
          <a:xfrm>
            <a:off x="8636176" y="2568548"/>
            <a:ext cx="300806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FIH Pilot PET Immunoimaging with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30000" noProof="0">
                <a:ln>
                  <a:noFill/>
                </a:ln>
                <a:solidFill>
                  <a:prstClr val="black"/>
                </a:solidFill>
                <a:effectLst/>
                <a:uLnTx/>
                <a:uFillTx/>
                <a:latin typeface="Funnel Sans"/>
                <a:ea typeface="+mn-ea"/>
                <a:cs typeface="+mn-cs"/>
              </a:rPr>
              <a:t>64</a:t>
            </a:r>
            <a:r>
              <a:rPr kumimoji="0" lang="en-US" sz="1400" b="0" i="0" u="none" strike="noStrike" kern="1200" cap="none" spc="0" normalizeH="0" baseline="0" noProof="0">
                <a:ln>
                  <a:noFill/>
                </a:ln>
                <a:solidFill>
                  <a:prstClr val="black"/>
                </a:solidFill>
                <a:effectLst/>
                <a:uLnTx/>
                <a:uFillTx/>
                <a:latin typeface="Funnel Sans"/>
                <a:ea typeface="+mn-ea"/>
                <a:cs typeface="+mn-cs"/>
              </a:rPr>
              <a:t>Cu-Anti-CEA hT84.66-M5A</a:t>
            </a:r>
          </a:p>
        </p:txBody>
      </p:sp>
      <p:sp>
        <p:nvSpPr>
          <p:cNvPr id="3" name="TextBox 2">
            <a:extLst>
              <a:ext uri="{FF2B5EF4-FFF2-40B4-BE49-F238E27FC236}">
                <a16:creationId xmlns:a16="http://schemas.microsoft.com/office/drawing/2014/main" id="{34F92FF1-C10A-2497-9977-639FB65B49EF}"/>
              </a:ext>
            </a:extLst>
          </p:cNvPr>
          <p:cNvSpPr txBox="1"/>
          <p:nvPr/>
        </p:nvSpPr>
        <p:spPr>
          <a:xfrm>
            <a:off x="6888480" y="5296144"/>
            <a:ext cx="4755762"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No evidence of healthy tissue uptake in stomach, colon and lungs.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Protein dose escalation showed no impact of serum CEA</a:t>
            </a:r>
            <a:r>
              <a:rPr kumimoji="0" lang="en-US" sz="1400" b="1" i="0" u="none" strike="noStrike" kern="1200" cap="none" spc="0" normalizeH="0" baseline="0" noProof="0">
                <a:ln>
                  <a:noFill/>
                </a:ln>
                <a:solidFill>
                  <a:prstClr val="black"/>
                </a:solidFill>
                <a:effectLst/>
                <a:uLnTx/>
                <a:uFillTx/>
                <a:latin typeface="Funnel Sans"/>
                <a:ea typeface="+mn-ea"/>
                <a:cs typeface="+mn-cs"/>
              </a:rPr>
              <a:t> </a:t>
            </a:r>
            <a:r>
              <a:rPr kumimoji="0" lang="en-US" sz="1400" b="0" i="0" u="none" strike="noStrike" kern="1200" cap="none" spc="0" normalizeH="0" baseline="0" noProof="0">
                <a:ln>
                  <a:noFill/>
                </a:ln>
                <a:solidFill>
                  <a:prstClr val="black"/>
                </a:solidFill>
                <a:effectLst/>
                <a:uLnTx/>
                <a:uFillTx/>
                <a:latin typeface="Funnel Sans"/>
                <a:ea typeface="+mn-ea"/>
                <a:cs typeface="+mn-cs"/>
              </a:rPr>
              <a:t>on biodistribution or tumor targeting. </a:t>
            </a:r>
          </a:p>
        </p:txBody>
      </p:sp>
    </p:spTree>
    <p:extLst>
      <p:ext uri="{BB962C8B-B14F-4D97-AF65-F5344CB8AC3E}">
        <p14:creationId xmlns:p14="http://schemas.microsoft.com/office/powerpoint/2010/main" val="1837717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FE8EF1-7E30-BA13-F91E-5442CB6F6E56}"/>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F5539DB8-A878-E4BE-2A73-E0B47FF84B40}"/>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541923C9-390B-EB57-73AE-D3097BC48A4A}"/>
              </a:ext>
            </a:extLst>
          </p:cNvPr>
          <p:cNvPicPr>
            <a:picLocks noChangeAspect="1"/>
          </p:cNvPicPr>
          <p:nvPr/>
        </p:nvPicPr>
        <p:blipFill>
          <a:blip r:embed="rId3"/>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43FA9F35-7EB7-048F-B129-6BFAC889CD00}"/>
              </a:ext>
            </a:extLst>
          </p:cNvPr>
          <p:cNvPicPr>
            <a:picLocks noChangeAspect="1"/>
          </p:cNvPicPr>
          <p:nvPr/>
        </p:nvPicPr>
        <p:blipFill>
          <a:blip r:embed="rId4"/>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3904C137-570A-8DA1-4DB4-B7757317AD2E}"/>
              </a:ext>
            </a:extLst>
          </p:cNvPr>
          <p:cNvPicPr>
            <a:picLocks noChangeAspect="1"/>
          </p:cNvPicPr>
          <p:nvPr/>
        </p:nvPicPr>
        <p:blipFill>
          <a:blip r:embed="rId4"/>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AC123491-4B34-9C72-F7DE-D01A6AB9AE8B}"/>
              </a:ext>
            </a:extLst>
          </p:cNvPr>
          <p:cNvPicPr>
            <a:picLocks noChangeAspect="1"/>
          </p:cNvPicPr>
          <p:nvPr/>
        </p:nvPicPr>
        <p:blipFill>
          <a:blip r:embed="rId4"/>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08BE2842-BDEE-33A0-B3FB-4A0E0B64A947}"/>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9FF9656D-FF36-5420-89EA-78FF22DF41A0}"/>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6AE9F711-49FB-6E03-42F3-5A937AD007F3}"/>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2222B85A-D098-D2F3-883F-C5EBD916DBA1}"/>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6C341813-4EC3-1669-9C6A-122DCA7ABCA9}"/>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735AEDAB-8D89-07A9-E119-14A9385C43EB}"/>
              </a:ext>
            </a:extLst>
          </p:cNvPr>
          <p:cNvPicPr>
            <a:picLocks noChangeAspect="1"/>
          </p:cNvPicPr>
          <p:nvPr/>
        </p:nvPicPr>
        <p:blipFill>
          <a:blip r:embed="rId10"/>
          <a:stretch>
            <a:fillRect/>
          </a:stretch>
        </p:blipFill>
        <p:spPr>
          <a:xfrm>
            <a:off x="254000" y="376361"/>
            <a:ext cx="174501" cy="157575"/>
          </a:xfrm>
          <a:prstGeom prst="rect">
            <a:avLst/>
          </a:prstGeom>
        </p:spPr>
      </p:pic>
      <p:sp>
        <p:nvSpPr>
          <p:cNvPr id="15" name="Text 28">
            <a:extLst>
              <a:ext uri="{FF2B5EF4-FFF2-40B4-BE49-F238E27FC236}">
                <a16:creationId xmlns:a16="http://schemas.microsoft.com/office/drawing/2014/main" id="{909A9466-63F6-2318-6DD7-2E68B6042050}"/>
              </a:ext>
            </a:extLst>
          </p:cNvPr>
          <p:cNvSpPr/>
          <p:nvPr/>
        </p:nvSpPr>
        <p:spPr>
          <a:xfrm>
            <a:off x="253999" y="635564"/>
            <a:ext cx="1139024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CEACAM5 is consistently &amp; frequently overexpressed in CRC and beyond</a:t>
            </a:r>
          </a:p>
        </p:txBody>
      </p:sp>
      <p:graphicFrame>
        <p:nvGraphicFramePr>
          <p:cNvPr id="17" name="Table 16">
            <a:extLst>
              <a:ext uri="{FF2B5EF4-FFF2-40B4-BE49-F238E27FC236}">
                <a16:creationId xmlns:a16="http://schemas.microsoft.com/office/drawing/2014/main" id="{781C066A-C181-F149-F5AF-5C9656E98473}"/>
              </a:ext>
            </a:extLst>
          </p:cNvPr>
          <p:cNvGraphicFramePr>
            <a:graphicFrameLocks noGrp="1"/>
          </p:cNvGraphicFramePr>
          <p:nvPr/>
        </p:nvGraphicFramePr>
        <p:xfrm>
          <a:off x="357535" y="1508327"/>
          <a:ext cx="11614486" cy="3535680"/>
        </p:xfrm>
        <a:graphic>
          <a:graphicData uri="http://schemas.openxmlformats.org/drawingml/2006/table">
            <a:tbl>
              <a:tblPr firstRow="1" bandRow="1">
                <a:tableStyleId>{5C22544A-7EE6-4342-B048-85BDC9FD1C3A}</a:tableStyleId>
              </a:tblPr>
              <a:tblGrid>
                <a:gridCol w="1121188">
                  <a:extLst>
                    <a:ext uri="{9D8B030D-6E8A-4147-A177-3AD203B41FA5}">
                      <a16:colId xmlns:a16="http://schemas.microsoft.com/office/drawing/2014/main" val="1030885511"/>
                    </a:ext>
                  </a:extLst>
                </a:gridCol>
                <a:gridCol w="875688">
                  <a:extLst>
                    <a:ext uri="{9D8B030D-6E8A-4147-A177-3AD203B41FA5}">
                      <a16:colId xmlns:a16="http://schemas.microsoft.com/office/drawing/2014/main" val="544434787"/>
                    </a:ext>
                  </a:extLst>
                </a:gridCol>
                <a:gridCol w="850909">
                  <a:extLst>
                    <a:ext uri="{9D8B030D-6E8A-4147-A177-3AD203B41FA5}">
                      <a16:colId xmlns:a16="http://schemas.microsoft.com/office/drawing/2014/main" val="3701184376"/>
                    </a:ext>
                  </a:extLst>
                </a:gridCol>
                <a:gridCol w="3126658">
                  <a:extLst>
                    <a:ext uri="{9D8B030D-6E8A-4147-A177-3AD203B41FA5}">
                      <a16:colId xmlns:a16="http://schemas.microsoft.com/office/drawing/2014/main" val="3241637152"/>
                    </a:ext>
                  </a:extLst>
                </a:gridCol>
                <a:gridCol w="3677265">
                  <a:extLst>
                    <a:ext uri="{9D8B030D-6E8A-4147-A177-3AD203B41FA5}">
                      <a16:colId xmlns:a16="http://schemas.microsoft.com/office/drawing/2014/main" val="2413661414"/>
                    </a:ext>
                  </a:extLst>
                </a:gridCol>
                <a:gridCol w="1962778">
                  <a:extLst>
                    <a:ext uri="{9D8B030D-6E8A-4147-A177-3AD203B41FA5}">
                      <a16:colId xmlns:a16="http://schemas.microsoft.com/office/drawing/2014/main" val="2720780949"/>
                    </a:ext>
                  </a:extLst>
                </a:gridCol>
              </a:tblGrid>
              <a:tr h="186725">
                <a:tc>
                  <a:txBody>
                    <a:bodyPr/>
                    <a:lstStyle/>
                    <a:p>
                      <a:pPr lvl="0">
                        <a:buNone/>
                      </a:pPr>
                      <a:r>
                        <a:rPr lang="en-US" sz="1400" b="0">
                          <a:solidFill>
                            <a:schemeClr val="tx1"/>
                          </a:solidFill>
                        </a:rPr>
                        <a:t>Indication</a:t>
                      </a:r>
                    </a:p>
                  </a:txBody>
                  <a:tcPr>
                    <a:solidFill>
                      <a:srgbClr val="C6DCCD"/>
                    </a:solidFill>
                  </a:tcPr>
                </a:tc>
                <a:tc>
                  <a:txBody>
                    <a:bodyPr/>
                    <a:lstStyle/>
                    <a:p>
                      <a:r>
                        <a:rPr lang="en-US" sz="1400" b="0">
                          <a:solidFill>
                            <a:schemeClr val="tx1"/>
                          </a:solidFill>
                        </a:rPr>
                        <a:t>Type</a:t>
                      </a:r>
                    </a:p>
                  </a:txBody>
                  <a:tcPr>
                    <a:solidFill>
                      <a:srgbClr val="C6DCCD"/>
                    </a:solidFill>
                  </a:tcPr>
                </a:tc>
                <a:tc>
                  <a:txBody>
                    <a:bodyPr/>
                    <a:lstStyle/>
                    <a:p>
                      <a:r>
                        <a:rPr lang="en-US" sz="1400" b="0">
                          <a:solidFill>
                            <a:schemeClr val="tx1"/>
                          </a:solidFill>
                        </a:rPr>
                        <a:t>Method</a:t>
                      </a:r>
                    </a:p>
                  </a:txBody>
                  <a:tcPr>
                    <a:solidFill>
                      <a:srgbClr val="C6DCCD"/>
                    </a:solidFill>
                  </a:tcPr>
                </a:tc>
                <a:tc>
                  <a:txBody>
                    <a:bodyPr/>
                    <a:lstStyle/>
                    <a:p>
                      <a:r>
                        <a:rPr lang="en-US" sz="1400" b="0">
                          <a:solidFill>
                            <a:schemeClr val="tx1"/>
                          </a:solidFill>
                        </a:rPr>
                        <a:t>Criteria</a:t>
                      </a:r>
                    </a:p>
                  </a:txBody>
                  <a:tcPr>
                    <a:solidFill>
                      <a:srgbClr val="C6DCCD"/>
                    </a:solidFill>
                  </a:tcPr>
                </a:tc>
                <a:tc>
                  <a:txBody>
                    <a:bodyPr/>
                    <a:lstStyle/>
                    <a:p>
                      <a:r>
                        <a:rPr lang="en-US" sz="1400" b="0">
                          <a:solidFill>
                            <a:schemeClr val="tx1"/>
                          </a:solidFill>
                        </a:rPr>
                        <a:t>Value</a:t>
                      </a:r>
                    </a:p>
                  </a:txBody>
                  <a:tcPr>
                    <a:solidFill>
                      <a:srgbClr val="C6DCCD"/>
                    </a:solidFill>
                  </a:tcPr>
                </a:tc>
                <a:tc>
                  <a:txBody>
                    <a:bodyPr/>
                    <a:lstStyle/>
                    <a:p>
                      <a:r>
                        <a:rPr lang="en-US" sz="1600" b="0">
                          <a:solidFill>
                            <a:schemeClr val="tx1"/>
                          </a:solidFill>
                        </a:rPr>
                        <a:t>Source</a:t>
                      </a:r>
                    </a:p>
                  </a:txBody>
                  <a:tcPr>
                    <a:solidFill>
                      <a:srgbClr val="C6DCCD"/>
                    </a:solidFill>
                  </a:tcPr>
                </a:tc>
                <a:extLst>
                  <a:ext uri="{0D108BD9-81ED-4DB2-BD59-A6C34878D82A}">
                    <a16:rowId xmlns:a16="http://schemas.microsoft.com/office/drawing/2014/main" val="3281024351"/>
                  </a:ext>
                </a:extLst>
              </a:tr>
              <a:tr h="280087">
                <a:tc>
                  <a:txBody>
                    <a:bodyPr/>
                    <a:lstStyle/>
                    <a:p>
                      <a:pPr lvl="0">
                        <a:buNone/>
                      </a:pPr>
                      <a:r>
                        <a:rPr lang="en-US" sz="1400"/>
                        <a:t>CRC</a:t>
                      </a:r>
                    </a:p>
                  </a:txBody>
                  <a:tcPr>
                    <a:lnB w="12700">
                      <a:solidFill>
                        <a:schemeClr val="bg2"/>
                      </a:solidFill>
                    </a:lnB>
                    <a:noFill/>
                  </a:tcPr>
                </a:tc>
                <a:tc>
                  <a:txBody>
                    <a:bodyPr/>
                    <a:lstStyle/>
                    <a:p>
                      <a:pPr lvl="0">
                        <a:buNone/>
                      </a:pPr>
                      <a:r>
                        <a:rPr lang="en-US" sz="1400"/>
                        <a:t>Protein</a:t>
                      </a:r>
                    </a:p>
                  </a:txBody>
                  <a:tcPr>
                    <a:lnB w="12700" cap="flat" cmpd="sng" algn="ctr">
                      <a:solidFill>
                        <a:schemeClr val="bg2"/>
                      </a:solidFill>
                      <a:prstDash val="solid"/>
                      <a:round/>
                      <a:headEnd type="none" w="med" len="med"/>
                      <a:tailEnd type="none" w="med" len="med"/>
                    </a:lnB>
                    <a:noFill/>
                  </a:tcPr>
                </a:tc>
                <a:tc>
                  <a:txBody>
                    <a:bodyPr/>
                    <a:lstStyle/>
                    <a:p>
                      <a:pPr lvl="0">
                        <a:buNone/>
                      </a:pPr>
                      <a:r>
                        <a:rPr lang="en-US" sz="1400"/>
                        <a:t>IHC</a:t>
                      </a:r>
                    </a:p>
                  </a:txBody>
                  <a:tcPr>
                    <a:lnB w="12700" cap="flat" cmpd="sng" algn="ctr">
                      <a:solidFill>
                        <a:schemeClr val="bg2"/>
                      </a:solidFill>
                      <a:prstDash val="solid"/>
                      <a:round/>
                      <a:headEnd type="none" w="med" len="med"/>
                      <a:tailEnd type="none" w="med" len="med"/>
                    </a:lnB>
                    <a:noFill/>
                  </a:tcPr>
                </a:tc>
                <a:tc>
                  <a:txBody>
                    <a:bodyPr/>
                    <a:lstStyle/>
                    <a:p>
                      <a:pPr lvl="0">
                        <a:buNone/>
                      </a:pPr>
                      <a:r>
                        <a:rPr lang="en-GB" sz="1400" b="0" i="0" u="none" strike="noStrike" noProof="0">
                          <a:solidFill>
                            <a:srgbClr val="000000"/>
                          </a:solidFill>
                          <a:latin typeface="Funnel Sans"/>
                        </a:rPr>
                        <a:t>3+ and 2+</a:t>
                      </a:r>
                    </a:p>
                  </a:txBody>
                  <a:tcPr>
                    <a:lnB w="12700">
                      <a:solidFill>
                        <a:schemeClr val="bg2"/>
                      </a:solidFill>
                    </a:lnB>
                    <a:noFill/>
                  </a:tcPr>
                </a:tc>
                <a:tc>
                  <a:txBody>
                    <a:bodyPr/>
                    <a:lstStyle/>
                    <a:p>
                      <a:pPr lvl="0">
                        <a:buNone/>
                      </a:pPr>
                      <a:r>
                        <a:rPr lang="en-US" sz="1400"/>
                        <a:t>89.4%, High intensity tissue CEACAM5 (tCEA), n=6629</a:t>
                      </a:r>
                    </a:p>
                  </a:txBody>
                  <a:tcPr>
                    <a:lnB w="12700">
                      <a:solidFill>
                        <a:schemeClr val="bg2"/>
                      </a:solidFill>
                    </a:lnB>
                    <a:noFill/>
                  </a:tcPr>
                </a:tc>
                <a:tc>
                  <a:txBody>
                    <a:bodyPr/>
                    <a:lstStyle/>
                    <a:p>
                      <a:pPr lvl="0">
                        <a:buNone/>
                      </a:pPr>
                      <a:r>
                        <a:rPr lang="en-US" sz="1200" b="0" i="0" u="none" strike="noStrike" noProof="0">
                          <a:solidFill>
                            <a:schemeClr val="accent3"/>
                          </a:solidFill>
                          <a:latin typeface="Funnel Sans"/>
                          <a:hlinkClick r:id="rId11"/>
                        </a:rPr>
                        <a:t>Aldilaijan 2023, Sci Rep.</a:t>
                      </a:r>
                      <a:endParaRPr lang="en-US" sz="1200" b="0" i="0" u="none" strike="noStrike" noProof="0">
                        <a:solidFill>
                          <a:schemeClr val="accent3"/>
                        </a:solidFill>
                        <a:latin typeface="Funnel Sans"/>
                      </a:endParaRPr>
                    </a:p>
                  </a:txBody>
                  <a:tcPr>
                    <a:lnB w="12700">
                      <a:solidFill>
                        <a:schemeClr val="bg2"/>
                      </a:solidFill>
                    </a:lnB>
                    <a:noFill/>
                  </a:tcPr>
                </a:tc>
                <a:extLst>
                  <a:ext uri="{0D108BD9-81ED-4DB2-BD59-A6C34878D82A}">
                    <a16:rowId xmlns:a16="http://schemas.microsoft.com/office/drawing/2014/main" val="724683763"/>
                  </a:ext>
                </a:extLst>
              </a:tr>
              <a:tr h="280087">
                <a:tc>
                  <a:txBody>
                    <a:bodyPr/>
                    <a:lstStyle/>
                    <a:p>
                      <a:pPr lvl="0">
                        <a:buNone/>
                      </a:pPr>
                      <a:endParaRPr lang="en-US" sz="1400"/>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400"/>
                        <a:t>Protein </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Positive if &gt;30% 3+ and 2+ intensity</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400" b="1"/>
                        <a:t>100% colorectal adenomas, 98.7% carcinomas</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b="0" i="0" u="none" strike="noStrike" noProof="0">
                          <a:solidFill>
                            <a:srgbClr val="000000"/>
                          </a:solidFill>
                          <a:hlinkClick r:id="rId12"/>
                        </a:rPr>
                        <a:t>Jansen 2024 Cancers</a:t>
                      </a:r>
                      <a:r>
                        <a:rPr lang="en-US" sz="1200" b="0" i="0" u="none" strike="noStrike" noProof="0">
                          <a:solidFill>
                            <a:srgbClr val="000000"/>
                          </a:solidFill>
                        </a:rPr>
                        <a:t> </a:t>
                      </a:r>
                      <a:endParaRPr lang="en-US"/>
                    </a:p>
                  </a:txBody>
                  <a:tcPr>
                    <a:lnT w="12700" cap="flat" cmpd="sng" algn="ctr">
                      <a:solidFill>
                        <a:schemeClr val="bg2"/>
                      </a:solidFill>
                      <a:prstDash val="solid"/>
                      <a:round/>
                      <a:headEnd type="none" w="med" len="med"/>
                      <a:tailEnd type="none" w="med" len="med"/>
                    </a:lnT>
                    <a:lnB w="12700">
                      <a:solidFill>
                        <a:schemeClr val="bg2"/>
                      </a:solidFill>
                    </a:lnB>
                    <a:noFill/>
                  </a:tcPr>
                </a:tc>
                <a:extLst>
                  <a:ext uri="{0D108BD9-81ED-4DB2-BD59-A6C34878D82A}">
                    <a16:rowId xmlns:a16="http://schemas.microsoft.com/office/drawing/2014/main" val="4072195812"/>
                  </a:ext>
                </a:extLst>
              </a:tr>
              <a:tr h="280087">
                <a:tc>
                  <a:txBody>
                    <a:bodyPr/>
                    <a:lstStyle/>
                    <a:p>
                      <a:pPr lvl="0">
                        <a:buNone/>
                      </a:pPr>
                      <a:endParaRPr lang="en-US" sz="1400"/>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400"/>
                        <a:t>mRNA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err="1"/>
                        <a:t>RNASeq</a:t>
                      </a:r>
                      <a:endParaRPr lang="en-US" sz="14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Median </a:t>
                      </a:r>
                      <a:r>
                        <a:rPr lang="en-US" sz="1400" err="1"/>
                        <a:t>pTPM</a:t>
                      </a:r>
                      <a:r>
                        <a:rPr lang="en-US" sz="1400"/>
                        <a:t> &gt; 25</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400"/>
                        <a:t>Rectum AC (2923), Colon AC (2651)</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US" sz="1200" b="0" i="0" u="none" strike="noStrike" noProof="0">
                          <a:solidFill>
                            <a:schemeClr val="accent3"/>
                          </a:solidFill>
                          <a:latin typeface="Funnel Sans"/>
                          <a:hlinkClick r:id="rId13"/>
                        </a:rPr>
                        <a:t>Human Protein Atlas</a:t>
                      </a:r>
                      <a:endParaRPr lang="en-US" sz="1200" b="0" i="0" u="none" strike="noStrike" noProof="0">
                        <a:solidFill>
                          <a:schemeClr val="accent3"/>
                        </a:solidFill>
                        <a:latin typeface="Funnel Sans"/>
                      </a:endParaRPr>
                    </a:p>
                  </a:txBody>
                  <a:tcPr>
                    <a:lnT w="12700" cap="flat" cmpd="sng" algn="ctr">
                      <a:solidFill>
                        <a:schemeClr val="bg2"/>
                      </a:solidFill>
                      <a:prstDash val="solid"/>
                      <a:round/>
                      <a:headEnd type="none" w="med" len="med"/>
                      <a:tailEnd type="none" w="med" len="med"/>
                    </a:lnT>
                    <a:lnB w="12700">
                      <a:solidFill>
                        <a:schemeClr val="bg2"/>
                      </a:solidFill>
                    </a:lnB>
                    <a:noFill/>
                  </a:tcPr>
                </a:tc>
                <a:extLst>
                  <a:ext uri="{0D108BD9-81ED-4DB2-BD59-A6C34878D82A}">
                    <a16:rowId xmlns:a16="http://schemas.microsoft.com/office/drawing/2014/main" val="2057309560"/>
                  </a:ext>
                </a:extLst>
              </a:tr>
              <a:tr h="242742">
                <a:tc>
                  <a:txBody>
                    <a:bodyPr/>
                    <a:lstStyle/>
                    <a:p>
                      <a:pPr lvl="0">
                        <a:buNone/>
                      </a:pPr>
                      <a:r>
                        <a:rPr lang="en-US" sz="1400"/>
                        <a:t>MTC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400"/>
                        <a:t>Protein </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4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Positive if &gt;30% 3+ and 2+ intensity</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400"/>
                        <a:t>&gt;96.3%</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200" b="0" i="0" u="sng" strike="noStrike" noProof="0">
                          <a:solidFill>
                            <a:srgbClr val="000000"/>
                          </a:solidFill>
                          <a:hlinkClick r:id="rId12"/>
                        </a:rPr>
                        <a:t>Jansen 2024 Cancers</a:t>
                      </a:r>
                      <a:endParaRPr lang="en-US" sz="1200" b="0" i="0" u="sng" strike="noStrike" noProof="0">
                        <a:solidFill>
                          <a:srgbClr val="000000"/>
                        </a:solidFill>
                        <a:hlinkClick r:id="rId14"/>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53894309"/>
                  </a:ext>
                </a:extLst>
              </a:tr>
              <a:tr h="242742">
                <a:tc>
                  <a:txBody>
                    <a:bodyPr/>
                    <a:lstStyle/>
                    <a:p>
                      <a:pPr lvl="0">
                        <a:buNone/>
                      </a:pPr>
                      <a:r>
                        <a:rPr lang="en-US" sz="1400"/>
                        <a:t>PDAC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400" b="0" i="0" u="none" strike="noStrike" noProof="0">
                          <a:solidFill>
                            <a:srgbClr val="000000"/>
                          </a:solidFill>
                          <a:latin typeface="Funnel Sans"/>
                        </a:rPr>
                        <a:t>Positive if ≥20% of cells at 2+ or 3+ intensity</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60%, n=553 </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sng" strike="noStrike" noProof="0">
                          <a:solidFill>
                            <a:srgbClr val="000000"/>
                          </a:solidFill>
                          <a:hlinkClick r:id="rId12"/>
                        </a:rPr>
                        <a:t>Jansen 2024 Cancers</a:t>
                      </a:r>
                      <a:r>
                        <a:rPr lang="en-US" sz="1200" b="0" i="0" u="none" strike="noStrike" noProof="0">
                          <a:solidFill>
                            <a:srgbClr val="000000"/>
                          </a:solidFill>
                        </a:rPr>
                        <a:t> </a:t>
                      </a:r>
                      <a:endParaRPr lang="en-US" sz="1200" b="0" i="0" u="sng" strike="noStrike" noProof="0">
                        <a:solidFill>
                          <a:srgbClr val="000000"/>
                        </a:solidFill>
                        <a:hlinkClick r:id="rId14"/>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675578245"/>
                  </a:ext>
                </a:extLst>
              </a:tr>
              <a:tr h="280087">
                <a:tc>
                  <a:txBody>
                    <a:bodyPr/>
                    <a:lstStyle/>
                    <a:p>
                      <a:pPr lvl="0">
                        <a:buNone/>
                      </a:pPr>
                      <a:r>
                        <a:rPr lang="en-US" sz="1400"/>
                        <a:t>NEPC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noProof="0">
                          <a:solidFill>
                            <a:srgbClr val="000000"/>
                          </a:solidFill>
                          <a:latin typeface="+mn-lt"/>
                        </a:rPr>
                        <a:t>H-Score Range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Median 60, range 0-200; in AR-/NE+, n=72, significantly higher than AR+/NE-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a:solidFill>
                            <a:schemeClr val="accent3"/>
                          </a:solidFill>
                          <a:latin typeface="+mn-lt"/>
                          <a:hlinkClick r:id="rId15"/>
                        </a:rPr>
                        <a:t>Ajkunic 2024 NPJ Precis Oncol.</a:t>
                      </a:r>
                      <a:endParaRPr lang="en-US" sz="1200" b="0" i="0" u="none" strike="noStrike" noProof="0">
                        <a:solidFill>
                          <a:schemeClr val="accent3"/>
                        </a:solidFill>
                        <a:latin typeface="+mn-lt"/>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95352649"/>
                  </a:ext>
                </a:extLst>
              </a:tr>
              <a:tr h="280087">
                <a:tc>
                  <a:txBody>
                    <a:bodyPr/>
                    <a:lstStyle/>
                    <a:p>
                      <a:pPr lvl="0">
                        <a:buNone/>
                      </a:pPr>
                      <a:endParaRPr lang="en-US" sz="14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noProof="0">
                          <a:solidFill>
                            <a:srgbClr val="000000"/>
                          </a:solidFill>
                          <a:latin typeface="+mn-lt"/>
                        </a:rPr>
                        <a:t>H-score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400"/>
                        <a:t>Higher in NEPC (H-score 81</a:t>
                      </a:r>
                      <a:r>
                        <a:rPr lang="en-US" sz="1400" baseline="0"/>
                        <a:t>) compared to other prostate cancer subtypes</a:t>
                      </a:r>
                      <a:endParaRPr lang="en-US" sz="140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a:solidFill>
                            <a:schemeClr val="accent3"/>
                          </a:solidFill>
                          <a:latin typeface="+mn-lt"/>
                          <a:hlinkClick r:id="rId16"/>
                        </a:rPr>
                        <a:t>DeLucia 2021 Clin Cancer Res.</a:t>
                      </a:r>
                      <a:endParaRPr lang="en-US" sz="1200" b="0" i="0" u="none" strike="noStrike" noProof="0">
                        <a:solidFill>
                          <a:schemeClr val="accent3"/>
                        </a:solidFill>
                        <a:latin typeface="+mn-lt"/>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064383938"/>
                  </a:ext>
                </a:extLst>
              </a:tr>
            </a:tbl>
          </a:graphicData>
        </a:graphic>
      </p:graphicFrame>
      <p:graphicFrame>
        <p:nvGraphicFramePr>
          <p:cNvPr id="3" name="Table 2">
            <a:extLst>
              <a:ext uri="{FF2B5EF4-FFF2-40B4-BE49-F238E27FC236}">
                <a16:creationId xmlns:a16="http://schemas.microsoft.com/office/drawing/2014/main" id="{000667A5-0938-1EAB-8E45-5090A8BA4CB1}"/>
              </a:ext>
            </a:extLst>
          </p:cNvPr>
          <p:cNvGraphicFramePr>
            <a:graphicFrameLocks noGrp="1"/>
          </p:cNvGraphicFramePr>
          <p:nvPr/>
        </p:nvGraphicFramePr>
        <p:xfrm>
          <a:off x="357530" y="5515037"/>
          <a:ext cx="11614491" cy="1005840"/>
        </p:xfrm>
        <a:graphic>
          <a:graphicData uri="http://schemas.openxmlformats.org/drawingml/2006/table">
            <a:tbl>
              <a:tblPr firstRow="1" bandRow="1">
                <a:tableStyleId>{5C22544A-7EE6-4342-B048-85BDC9FD1C3A}</a:tableStyleId>
              </a:tblPr>
              <a:tblGrid>
                <a:gridCol w="1035555">
                  <a:extLst>
                    <a:ext uri="{9D8B030D-6E8A-4147-A177-3AD203B41FA5}">
                      <a16:colId xmlns:a16="http://schemas.microsoft.com/office/drawing/2014/main" val="1736257133"/>
                    </a:ext>
                  </a:extLst>
                </a:gridCol>
                <a:gridCol w="1035555">
                  <a:extLst>
                    <a:ext uri="{9D8B030D-6E8A-4147-A177-3AD203B41FA5}">
                      <a16:colId xmlns:a16="http://schemas.microsoft.com/office/drawing/2014/main" val="544434787"/>
                    </a:ext>
                  </a:extLst>
                </a:gridCol>
                <a:gridCol w="973320">
                  <a:extLst>
                    <a:ext uri="{9D8B030D-6E8A-4147-A177-3AD203B41FA5}">
                      <a16:colId xmlns:a16="http://schemas.microsoft.com/office/drawing/2014/main" val="3701184376"/>
                    </a:ext>
                  </a:extLst>
                </a:gridCol>
                <a:gridCol w="1465007">
                  <a:extLst>
                    <a:ext uri="{9D8B030D-6E8A-4147-A177-3AD203B41FA5}">
                      <a16:colId xmlns:a16="http://schemas.microsoft.com/office/drawing/2014/main" val="3241637152"/>
                    </a:ext>
                  </a:extLst>
                </a:gridCol>
                <a:gridCol w="5117872">
                  <a:extLst>
                    <a:ext uri="{9D8B030D-6E8A-4147-A177-3AD203B41FA5}">
                      <a16:colId xmlns:a16="http://schemas.microsoft.com/office/drawing/2014/main" val="2413661414"/>
                    </a:ext>
                  </a:extLst>
                </a:gridCol>
                <a:gridCol w="1987182">
                  <a:extLst>
                    <a:ext uri="{9D8B030D-6E8A-4147-A177-3AD203B41FA5}">
                      <a16:colId xmlns:a16="http://schemas.microsoft.com/office/drawing/2014/main" val="2720780949"/>
                    </a:ext>
                  </a:extLst>
                </a:gridCol>
              </a:tblGrid>
              <a:tr h="0">
                <a:tc>
                  <a:txBody>
                    <a:bodyPr/>
                    <a:lstStyle/>
                    <a:p>
                      <a:pPr lvl="0">
                        <a:buNone/>
                      </a:pPr>
                      <a:endParaRPr lang="en-US" sz="1200" b="0">
                        <a:solidFill>
                          <a:schemeClr val="tx1"/>
                        </a:solidFill>
                      </a:endParaRPr>
                    </a:p>
                  </a:txBody>
                  <a:tcPr>
                    <a:solidFill>
                      <a:schemeClr val="bg2"/>
                    </a:solidFill>
                  </a:tcPr>
                </a:tc>
                <a:tc>
                  <a:txBody>
                    <a:bodyPr/>
                    <a:lstStyle/>
                    <a:p>
                      <a:r>
                        <a:rPr lang="en-US" sz="1200" b="0">
                          <a:solidFill>
                            <a:schemeClr val="tx1"/>
                          </a:solidFill>
                        </a:rPr>
                        <a:t>Type</a:t>
                      </a:r>
                    </a:p>
                  </a:txBody>
                  <a:tcPr>
                    <a:solidFill>
                      <a:schemeClr val="bg2"/>
                    </a:solidFill>
                  </a:tcPr>
                </a:tc>
                <a:tc>
                  <a:txBody>
                    <a:bodyPr/>
                    <a:lstStyle/>
                    <a:p>
                      <a:r>
                        <a:rPr lang="en-US" sz="1200" b="0">
                          <a:solidFill>
                            <a:schemeClr val="tx1"/>
                          </a:solidFill>
                        </a:rPr>
                        <a:t>Method</a:t>
                      </a:r>
                    </a:p>
                  </a:txBody>
                  <a:tcPr>
                    <a:solidFill>
                      <a:schemeClr val="bg2"/>
                    </a:solidFill>
                  </a:tcPr>
                </a:tc>
                <a:tc>
                  <a:txBody>
                    <a:bodyPr/>
                    <a:lstStyle/>
                    <a:p>
                      <a:r>
                        <a:rPr lang="en-US" sz="1200" b="0">
                          <a:solidFill>
                            <a:schemeClr val="tx1"/>
                          </a:solidFill>
                        </a:rPr>
                        <a:t>Criteria</a:t>
                      </a:r>
                    </a:p>
                  </a:txBody>
                  <a:tcPr>
                    <a:solidFill>
                      <a:schemeClr val="bg2"/>
                    </a:solidFill>
                  </a:tcPr>
                </a:tc>
                <a:tc>
                  <a:txBody>
                    <a:bodyPr/>
                    <a:lstStyle/>
                    <a:p>
                      <a:r>
                        <a:rPr lang="en-US" sz="1200" b="0">
                          <a:solidFill>
                            <a:schemeClr val="tx1"/>
                          </a:solidFill>
                        </a:rPr>
                        <a:t>Value</a:t>
                      </a:r>
                    </a:p>
                  </a:txBody>
                  <a:tcPr>
                    <a:solidFill>
                      <a:schemeClr val="bg2"/>
                    </a:solidFill>
                  </a:tcPr>
                </a:tc>
                <a:tc>
                  <a:txBody>
                    <a:bodyPr/>
                    <a:lstStyle/>
                    <a:p>
                      <a:r>
                        <a:rPr lang="en-US" sz="1200" b="0">
                          <a:solidFill>
                            <a:schemeClr val="tx1"/>
                          </a:solidFill>
                        </a:rPr>
                        <a:t>Source</a:t>
                      </a:r>
                    </a:p>
                  </a:txBody>
                  <a:tcPr>
                    <a:solidFill>
                      <a:schemeClr val="bg2"/>
                    </a:solidFill>
                  </a:tcPr>
                </a:tc>
                <a:extLst>
                  <a:ext uri="{0D108BD9-81ED-4DB2-BD59-A6C34878D82A}">
                    <a16:rowId xmlns:a16="http://schemas.microsoft.com/office/drawing/2014/main" val="3281024351"/>
                  </a:ext>
                </a:extLst>
              </a:tr>
              <a:tr h="0">
                <a:tc>
                  <a:txBody>
                    <a:bodyPr/>
                    <a:lstStyle/>
                    <a:p>
                      <a:pPr lvl="0">
                        <a:buNone/>
                      </a:pPr>
                      <a:r>
                        <a:rPr lang="en-US" sz="1200"/>
                        <a:t>All</a:t>
                      </a:r>
                    </a:p>
                  </a:txBody>
                  <a:tcPr>
                    <a:noFill/>
                  </a:tcPr>
                </a:tc>
                <a:tc>
                  <a:txBody>
                    <a:bodyPr/>
                    <a:lstStyle/>
                    <a:p>
                      <a:r>
                        <a:rPr lang="en-US" sz="1200"/>
                        <a:t>Protein</a:t>
                      </a:r>
                    </a:p>
                  </a:txBody>
                  <a:tcPr>
                    <a:noFill/>
                  </a:tcPr>
                </a:tc>
                <a:tc>
                  <a:txBody>
                    <a:bodyPr/>
                    <a:lstStyle/>
                    <a:p>
                      <a:r>
                        <a:rPr lang="en-US" sz="1200"/>
                        <a:t>IHC</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HPA Medium or High</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t>Limited expression, restricted to the apical portion of the cell; high in GI tract and squamous epithelia, most abundant in the large intestine</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a:solidFill>
                            <a:schemeClr val="accent3"/>
                          </a:solidFill>
                          <a:latin typeface="+mn-lt"/>
                          <a:hlinkClick r:id="rId13"/>
                        </a:rPr>
                        <a:t>Human Protein Atlas</a:t>
                      </a:r>
                      <a:endParaRPr lang="en-US" sz="1200" b="0" i="0" u="none" strike="noStrike" noProof="0">
                        <a:solidFill>
                          <a:schemeClr val="accent3"/>
                        </a:solidFill>
                        <a:latin typeface="+mn-lt"/>
                      </a:endParaRPr>
                    </a:p>
                    <a:p>
                      <a:pPr lvl="0">
                        <a:buNone/>
                      </a:pPr>
                      <a:endParaRPr lang="en-US" sz="1200" b="0" i="0" u="none" strike="noStrike" noProof="0">
                        <a:solidFill>
                          <a:srgbClr val="000000"/>
                        </a:solidFill>
                        <a:latin typeface="Funnel Sans"/>
                      </a:endParaRPr>
                    </a:p>
                  </a:txBody>
                  <a:tcPr>
                    <a:noFill/>
                  </a:tcPr>
                </a:tc>
                <a:extLst>
                  <a:ext uri="{0D108BD9-81ED-4DB2-BD59-A6C34878D82A}">
                    <a16:rowId xmlns:a16="http://schemas.microsoft.com/office/drawing/2014/main" val="3367172331"/>
                  </a:ext>
                </a:extLst>
              </a:tr>
              <a:tr h="0">
                <a:tc>
                  <a:txBody>
                    <a:bodyPr/>
                    <a:lstStyle/>
                    <a:p>
                      <a:pPr lvl="0">
                        <a:buNone/>
                      </a:pPr>
                      <a:r>
                        <a:rPr lang="en-US" sz="1200"/>
                        <a:t>All</a:t>
                      </a:r>
                    </a:p>
                  </a:txBody>
                  <a:tcPr>
                    <a:lnB w="12700">
                      <a:solidFill>
                        <a:schemeClr val="bg2"/>
                      </a:solidFill>
                    </a:lnB>
                    <a:noFill/>
                  </a:tcPr>
                </a:tc>
                <a:tc>
                  <a:txBody>
                    <a:bodyPr/>
                    <a:lstStyle/>
                    <a:p>
                      <a:pPr lvl="0">
                        <a:buNone/>
                      </a:pPr>
                      <a:r>
                        <a:rPr lang="en-US" sz="1200"/>
                        <a:t>mRNA</a:t>
                      </a:r>
                    </a:p>
                  </a:txBody>
                  <a:tcPr>
                    <a:lnB w="12700">
                      <a:solidFill>
                        <a:schemeClr val="bg2"/>
                      </a:solidFill>
                    </a:lnB>
                    <a:noFill/>
                  </a:tcPr>
                </a:tc>
                <a:tc>
                  <a:txBody>
                    <a:bodyPr/>
                    <a:lstStyle/>
                    <a:p>
                      <a:pPr lvl="0">
                        <a:buNone/>
                      </a:pPr>
                      <a:r>
                        <a:rPr lang="en-US" sz="1200" err="1"/>
                        <a:t>RNAseq</a:t>
                      </a:r>
                      <a:endParaRPr lang="en-US" sz="1200"/>
                    </a:p>
                  </a:txBody>
                  <a:tcPr>
                    <a:lnB w="12700">
                      <a:solidFill>
                        <a:schemeClr val="bg2"/>
                      </a:solidFill>
                    </a:lnB>
                    <a:noFill/>
                  </a:tcPr>
                </a:tc>
                <a:tc>
                  <a:txBody>
                    <a:bodyPr/>
                    <a:lstStyle/>
                    <a:p>
                      <a:pPr marL="0" lvl="0" indent="0" algn="l" defTabSz="914400">
                        <a:lnSpc>
                          <a:spcPct val="100000"/>
                        </a:lnSpc>
                        <a:spcBef>
                          <a:spcPts val="0"/>
                        </a:spcBef>
                        <a:spcAft>
                          <a:spcPts val="0"/>
                        </a:spcAft>
                        <a:buNone/>
                        <a:tabLst/>
                        <a:defRPr/>
                      </a:pPr>
                      <a:r>
                        <a:rPr lang="en-GB" sz="1200" err="1"/>
                        <a:t>nPTM</a:t>
                      </a:r>
                      <a:r>
                        <a:rPr lang="en-GB" sz="1200"/>
                        <a:t>&gt;10</a:t>
                      </a:r>
                    </a:p>
                  </a:txBody>
                  <a:tcPr>
                    <a:lnB w="12700">
                      <a:solidFill>
                        <a:schemeClr val="bg2"/>
                      </a:solidFill>
                    </a:lnB>
                    <a:noFill/>
                  </a:tcPr>
                </a:tc>
                <a:tc>
                  <a:txBody>
                    <a:bodyPr/>
                    <a:lstStyle/>
                    <a:p>
                      <a:pPr marL="0" lvl="0" indent="0" algn="l" defTabSz="914400">
                        <a:lnSpc>
                          <a:spcPct val="100000"/>
                        </a:lnSpc>
                        <a:spcBef>
                          <a:spcPts val="0"/>
                        </a:spcBef>
                        <a:spcAft>
                          <a:spcPts val="0"/>
                        </a:spcAft>
                        <a:buNone/>
                        <a:tabLst/>
                        <a:defRPr/>
                      </a:pPr>
                      <a:r>
                        <a:rPr lang="en-GB" sz="1200"/>
                        <a:t>High in colon (385), none in kidney (0)</a:t>
                      </a:r>
                    </a:p>
                  </a:txBody>
                  <a:tcPr>
                    <a:lnB w="12700">
                      <a:solidFill>
                        <a:schemeClr val="bg2"/>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a:solidFill>
                            <a:schemeClr val="accent3"/>
                          </a:solidFill>
                          <a:latin typeface="+mn-lt"/>
                          <a:hlinkClick r:id="rId13"/>
                        </a:rPr>
                        <a:t>Human Protein Atlas</a:t>
                      </a:r>
                      <a:endParaRPr lang="en-US" sz="1200" b="0" i="0" u="none" strike="noStrike" noProof="0">
                        <a:solidFill>
                          <a:schemeClr val="accent3"/>
                        </a:solidFill>
                        <a:latin typeface="+mn-lt"/>
                      </a:endParaRPr>
                    </a:p>
                  </a:txBody>
                  <a:tcPr>
                    <a:lnB w="12700">
                      <a:solidFill>
                        <a:schemeClr val="bg2"/>
                      </a:solidFill>
                    </a:lnB>
                    <a:noFill/>
                  </a:tcPr>
                </a:tc>
                <a:extLst>
                  <a:ext uri="{0D108BD9-81ED-4DB2-BD59-A6C34878D82A}">
                    <a16:rowId xmlns:a16="http://schemas.microsoft.com/office/drawing/2014/main" val="3067301811"/>
                  </a:ext>
                </a:extLst>
              </a:tr>
            </a:tbl>
          </a:graphicData>
        </a:graphic>
      </p:graphicFrame>
      <p:sp>
        <p:nvSpPr>
          <p:cNvPr id="19" name="Text 33">
            <a:extLst>
              <a:ext uri="{FF2B5EF4-FFF2-40B4-BE49-F238E27FC236}">
                <a16:creationId xmlns:a16="http://schemas.microsoft.com/office/drawing/2014/main" id="{8D261986-201A-FB21-B14C-6FF8F5509091}"/>
              </a:ext>
            </a:extLst>
          </p:cNvPr>
          <p:cNvSpPr/>
          <p:nvPr/>
        </p:nvSpPr>
        <p:spPr>
          <a:xfrm>
            <a:off x="288704" y="5299234"/>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Healthy</a:t>
            </a:r>
            <a:r>
              <a:rPr kumimoji="0" lang="en-US" sz="14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 tissue expression</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Rectangle: Rounded Corners 20">
            <a:extLst>
              <a:ext uri="{FF2B5EF4-FFF2-40B4-BE49-F238E27FC236}">
                <a16:creationId xmlns:a16="http://schemas.microsoft.com/office/drawing/2014/main" id="{9935BD4E-3AB1-0E27-D8CD-3A4E754E360B}"/>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0" name="TextBox 19">
            <a:extLst>
              <a:ext uri="{FF2B5EF4-FFF2-40B4-BE49-F238E27FC236}">
                <a16:creationId xmlns:a16="http://schemas.microsoft.com/office/drawing/2014/main" id="{7A791C61-7603-0A79-6FBB-AAD1B3C1B6B8}"/>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22" name="Text 33">
            <a:extLst>
              <a:ext uri="{FF2B5EF4-FFF2-40B4-BE49-F238E27FC236}">
                <a16:creationId xmlns:a16="http://schemas.microsoft.com/office/drawing/2014/main" id="{1A11BEC8-9346-8A2E-23F9-E69929D12BAB}"/>
              </a:ext>
            </a:extLst>
          </p:cNvPr>
          <p:cNvSpPr/>
          <p:nvPr/>
        </p:nvSpPr>
        <p:spPr>
          <a:xfrm>
            <a:off x="288704" y="1264647"/>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4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Tumor </a:t>
            </a:r>
            <a:r>
              <a:rPr kumimoji="0" lang="en-US" sz="14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expression levels</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903041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CF448-F309-157E-04FF-48E061CDF258}"/>
            </a:ext>
          </a:extLst>
        </p:cNvPr>
        <p:cNvGrpSpPr/>
        <p:nvPr/>
      </p:nvGrpSpPr>
      <p:grpSpPr>
        <a:xfrm>
          <a:off x="0" y="0"/>
          <a:ext cx="0" cy="0"/>
          <a:chOff x="0" y="0"/>
          <a:chExt cx="0" cy="0"/>
        </a:xfrm>
      </p:grpSpPr>
      <p:sp>
        <p:nvSpPr>
          <p:cNvPr id="30" name="Shape 5">
            <a:extLst>
              <a:ext uri="{FF2B5EF4-FFF2-40B4-BE49-F238E27FC236}">
                <a16:creationId xmlns:a16="http://schemas.microsoft.com/office/drawing/2014/main" id="{131E8A0B-6D60-41B9-B3C8-86D47BECD5ED}"/>
              </a:ext>
            </a:extLst>
          </p:cNvPr>
          <p:cNvSpPr/>
          <p:nvPr/>
        </p:nvSpPr>
        <p:spPr>
          <a:xfrm rot="10800000">
            <a:off x="8387759" y="2006653"/>
            <a:ext cx="3417493" cy="3600847"/>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Shape 0">
            <a:extLst>
              <a:ext uri="{FF2B5EF4-FFF2-40B4-BE49-F238E27FC236}">
                <a16:creationId xmlns:a16="http://schemas.microsoft.com/office/drawing/2014/main" id="{A10CF965-691A-6D83-2C0F-909851B67F3D}"/>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164AA10F-9615-B080-C081-189B9E0359DD}"/>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BDDBDD67-97D7-EFFB-EBBF-33391DEE83C8}"/>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74808E26-B3F0-6D22-CE94-50CA03CF0092}"/>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AE81384F-ACE8-2AC0-F712-5D23F8615EB1}"/>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510ED0D4-5121-1250-268A-22C0FB928F45}"/>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96EAAC8C-0407-5203-DE3C-19907BA78B6F}"/>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BE1C46F1-9530-FAC2-DB75-6E4AABA2961F}"/>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323BD5DF-1E3C-7F78-3B74-033019827079}"/>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9B07C5B3-519B-1F3B-4423-33E4AEB4D7AD}"/>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3AD66715-20C9-7352-945E-177BC48E4542}"/>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9F7D4A61-A608-086D-EF61-7E431A6C0AF9}"/>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5D83B6D4-46B6-8C4E-87CC-7622D49AEF80}"/>
              </a:ext>
            </a:extLst>
          </p:cNvPr>
          <p:cNvSpPr/>
          <p:nvPr/>
        </p:nvSpPr>
        <p:spPr>
          <a:xfrm>
            <a:off x="254000" y="635564"/>
            <a:ext cx="8477251" cy="762000"/>
          </a:xfrm>
          <a:prstGeom prst="rect">
            <a:avLst/>
          </a:prstGeom>
          <a:noFill/>
          <a:ln/>
        </p:spPr>
        <p:txBody>
          <a:bodyPr wrap="square"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pitchFamily="34" charset="0"/>
                <a:ea typeface="+mn-ea"/>
                <a:cs typeface="+mn-cs"/>
              </a:rPr>
              <a:t>Biology of CEACAM5 is amenable to RLT</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75EA0FF7-345C-2B48-419F-BCB14FAE511C}"/>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Shape 1">
            <a:extLst>
              <a:ext uri="{FF2B5EF4-FFF2-40B4-BE49-F238E27FC236}">
                <a16:creationId xmlns:a16="http://schemas.microsoft.com/office/drawing/2014/main" id="{03D481AD-99B4-0AF4-4B19-2A06BDE10D90}"/>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7">
            <a:extLst>
              <a:ext uri="{FF2B5EF4-FFF2-40B4-BE49-F238E27FC236}">
                <a16:creationId xmlns:a16="http://schemas.microsoft.com/office/drawing/2014/main" id="{FA0D9294-8B34-255A-392F-93AB6FE92040}"/>
              </a:ext>
            </a:extLst>
          </p:cNvPr>
          <p:cNvSpPr/>
          <p:nvPr/>
        </p:nvSpPr>
        <p:spPr>
          <a:xfrm>
            <a:off x="399098" y="1670695"/>
            <a:ext cx="2855291" cy="33596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9" name="Text 42">
            <a:extLst>
              <a:ext uri="{FF2B5EF4-FFF2-40B4-BE49-F238E27FC236}">
                <a16:creationId xmlns:a16="http://schemas.microsoft.com/office/drawing/2014/main" id="{3AAF3AAA-1273-6DC8-AC73-F3B91A731E3A}"/>
              </a:ext>
            </a:extLst>
          </p:cNvPr>
          <p:cNvSpPr/>
          <p:nvPr/>
        </p:nvSpPr>
        <p:spPr>
          <a:xfrm>
            <a:off x="376116" y="1684680"/>
            <a:ext cx="2893422" cy="329344"/>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mn-ea"/>
                <a:cs typeface="+mn-cs"/>
              </a:rPr>
              <a:t>Cell surface accessible in tumors</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1" name="Shape 5">
            <a:extLst>
              <a:ext uri="{FF2B5EF4-FFF2-40B4-BE49-F238E27FC236}">
                <a16:creationId xmlns:a16="http://schemas.microsoft.com/office/drawing/2014/main" id="{44D95B4E-2323-0FC6-F9EA-7E653ECBA020}"/>
              </a:ext>
            </a:extLst>
          </p:cNvPr>
          <p:cNvSpPr/>
          <p:nvPr/>
        </p:nvSpPr>
        <p:spPr>
          <a:xfrm rot="10800000">
            <a:off x="386742" y="2006650"/>
            <a:ext cx="2879997" cy="3873040"/>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3" name="Shape 17">
            <a:extLst>
              <a:ext uri="{FF2B5EF4-FFF2-40B4-BE49-F238E27FC236}">
                <a16:creationId xmlns:a16="http://schemas.microsoft.com/office/drawing/2014/main" id="{F56B39A9-856C-1713-1CD0-DE7231A599C9}"/>
              </a:ext>
            </a:extLst>
          </p:cNvPr>
          <p:cNvSpPr/>
          <p:nvPr/>
        </p:nvSpPr>
        <p:spPr>
          <a:xfrm>
            <a:off x="3457387" y="1670695"/>
            <a:ext cx="4759569" cy="339735"/>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4" name="Text 42">
            <a:extLst>
              <a:ext uri="{FF2B5EF4-FFF2-40B4-BE49-F238E27FC236}">
                <a16:creationId xmlns:a16="http://schemas.microsoft.com/office/drawing/2014/main" id="{24B5F60A-03EA-F9F3-BD31-5BCE53AE9716}"/>
              </a:ext>
            </a:extLst>
          </p:cNvPr>
          <p:cNvSpPr/>
          <p:nvPr/>
        </p:nvSpPr>
        <p:spPr>
          <a:xfrm>
            <a:off x="3457385" y="1681024"/>
            <a:ext cx="4679449" cy="336657"/>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mn-cs"/>
              </a:rPr>
              <a:t>Internalized by membrane-proximal binding</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5" name="Shape 5">
            <a:extLst>
              <a:ext uri="{FF2B5EF4-FFF2-40B4-BE49-F238E27FC236}">
                <a16:creationId xmlns:a16="http://schemas.microsoft.com/office/drawing/2014/main" id="{B23B3916-A0B8-7828-7D05-BFB20671059A}"/>
              </a:ext>
            </a:extLst>
          </p:cNvPr>
          <p:cNvSpPr/>
          <p:nvPr/>
        </p:nvSpPr>
        <p:spPr>
          <a:xfrm rot="10800000">
            <a:off x="3457379" y="2014191"/>
            <a:ext cx="4759573" cy="4373935"/>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8" name="Shape 17">
            <a:extLst>
              <a:ext uri="{FF2B5EF4-FFF2-40B4-BE49-F238E27FC236}">
                <a16:creationId xmlns:a16="http://schemas.microsoft.com/office/drawing/2014/main" id="{5425D997-5E87-A479-8747-5939EC633067}"/>
              </a:ext>
            </a:extLst>
          </p:cNvPr>
          <p:cNvSpPr/>
          <p:nvPr/>
        </p:nvSpPr>
        <p:spPr>
          <a:xfrm>
            <a:off x="8387759" y="1670696"/>
            <a:ext cx="3417493" cy="335968"/>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9" name="Text 42">
            <a:extLst>
              <a:ext uri="{FF2B5EF4-FFF2-40B4-BE49-F238E27FC236}">
                <a16:creationId xmlns:a16="http://schemas.microsoft.com/office/drawing/2014/main" id="{3FB8A0EE-A812-6BF7-4941-75340D232238}"/>
              </a:ext>
            </a:extLst>
          </p:cNvPr>
          <p:cNvSpPr/>
          <p:nvPr/>
        </p:nvSpPr>
        <p:spPr>
          <a:xfrm>
            <a:off x="8359359" y="1662476"/>
            <a:ext cx="3625026" cy="373752"/>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err="1">
                <a:ln>
                  <a:noFill/>
                </a:ln>
                <a:solidFill>
                  <a:srgbClr val="000000">
                    <a:alpha val="99000"/>
                  </a:srgbClr>
                </a:solidFill>
                <a:effectLst/>
                <a:uLnTx/>
                <a:uFillTx/>
                <a:latin typeface="Funnel Sans" pitchFamily="34" charset="0"/>
                <a:ea typeface="Funnel Sans" pitchFamily="34" charset="-122"/>
                <a:cs typeface="+mn-cs"/>
              </a:rPr>
              <a:t>sCEA</a:t>
            </a: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mn-cs"/>
              </a:rPr>
              <a:t> does not impact RLT biodistribution</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32" name="TextBox 31">
            <a:extLst>
              <a:ext uri="{FF2B5EF4-FFF2-40B4-BE49-F238E27FC236}">
                <a16:creationId xmlns:a16="http://schemas.microsoft.com/office/drawing/2014/main" id="{491E6422-75BD-B3B2-2384-01E042307812}"/>
              </a:ext>
            </a:extLst>
          </p:cNvPr>
          <p:cNvSpPr txBox="1"/>
          <p:nvPr/>
        </p:nvSpPr>
        <p:spPr>
          <a:xfrm>
            <a:off x="0" y="6611779"/>
            <a:ext cx="12065520"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1"/>
              </a:rPr>
              <a:t>Kim 2009 Acta Oncol.</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2"/>
              </a:rPr>
              <a:t>Cong 2025 EJNMMI</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3"/>
              </a:rPr>
              <a:t>Nessler 2024 Mol Cancer Ther</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4"/>
              </a:rPr>
              <a:t>Schmidt 2008 </a:t>
            </a:r>
            <a:r>
              <a:rPr kumimoji="0" lang="en-US" sz="1000" b="0" i="0" u="none" strike="noStrike" kern="1200" cap="none" spc="0" normalizeH="0" baseline="0" noProof="0" err="1">
                <a:ln>
                  <a:noFill/>
                </a:ln>
                <a:solidFill>
                  <a:prstClr val="black"/>
                </a:solidFill>
                <a:effectLst/>
                <a:uLnTx/>
                <a:uFillTx/>
                <a:latin typeface="Funnel Sans"/>
                <a:ea typeface="+mn-ea"/>
                <a:cs typeface="+mn-cs"/>
                <a:hlinkClick r:id="rId14"/>
              </a:rPr>
              <a:t>CancerImmunolImmunother</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4"/>
              </a:rPr>
              <a:t>.</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mn-ea"/>
                <a:cs typeface="+mn-cs"/>
                <a:hlinkClick r:id="rId15"/>
              </a:rPr>
              <a:t>Wong 2022 Cancer </a:t>
            </a:r>
            <a:r>
              <a:rPr kumimoji="0" lang="en-US" sz="1000" b="0" i="0" u="sng" strike="noStrike" kern="1200" cap="none" spc="0" normalizeH="0" baseline="0" noProof="0" err="1">
                <a:ln>
                  <a:noFill/>
                </a:ln>
                <a:solidFill>
                  <a:srgbClr val="7A9F8F"/>
                </a:solidFill>
                <a:effectLst/>
                <a:uLnTx/>
                <a:uFillTx/>
                <a:latin typeface="Funnel Sans"/>
                <a:ea typeface="+mn-ea"/>
                <a:cs typeface="+mn-cs"/>
                <a:hlinkClick r:id="rId15"/>
              </a:rPr>
              <a:t>Biother</a:t>
            </a:r>
            <a:r>
              <a:rPr kumimoji="0" lang="en-US" sz="1000" b="0" i="0" u="sng" strike="noStrike" kern="1200" cap="none" spc="0" normalizeH="0" baseline="0" noProof="0">
                <a:ln>
                  <a:noFill/>
                </a:ln>
                <a:solidFill>
                  <a:srgbClr val="7A9F8F"/>
                </a:solidFill>
                <a:effectLst/>
                <a:uLnTx/>
                <a:uFillTx/>
                <a:latin typeface="Funnel Sans"/>
                <a:ea typeface="+mn-ea"/>
                <a:cs typeface="+mn-cs"/>
                <a:hlinkClick r:id="rId15"/>
              </a:rPr>
              <a:t> </a:t>
            </a:r>
            <a:r>
              <a:rPr kumimoji="0" lang="en-US" sz="1000" b="0" i="0" u="sng" strike="noStrike" kern="1200" cap="none" spc="0" normalizeH="0" baseline="0" noProof="0" err="1">
                <a:ln>
                  <a:noFill/>
                </a:ln>
                <a:solidFill>
                  <a:srgbClr val="7A9F8F"/>
                </a:solidFill>
                <a:effectLst/>
                <a:uLnTx/>
                <a:uFillTx/>
                <a:latin typeface="Funnel Sans"/>
                <a:ea typeface="+mn-ea"/>
                <a:cs typeface="+mn-cs"/>
                <a:hlinkClick r:id="rId15"/>
              </a:rPr>
              <a:t>Radiopharm</a:t>
            </a: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39" name="TextBox 38">
            <a:extLst>
              <a:ext uri="{FF2B5EF4-FFF2-40B4-BE49-F238E27FC236}">
                <a16:creationId xmlns:a16="http://schemas.microsoft.com/office/drawing/2014/main" id="{E6406BFB-7252-038D-9AE1-49E73BB797BC}"/>
              </a:ext>
            </a:extLst>
          </p:cNvPr>
          <p:cNvSpPr txBox="1"/>
          <p:nvPr/>
        </p:nvSpPr>
        <p:spPr>
          <a:xfrm>
            <a:off x="424569" y="2079599"/>
            <a:ext cx="2817205" cy="359214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A heavily glycosylated cell surface glycoprotein.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Functions as a cell adhesion molecule, facilitating cell-cell binding. Involved in differentiation, maintenance of cell polarity, prevention of apoptosis (</a:t>
            </a:r>
            <a:r>
              <a:rPr kumimoji="0" lang="en-US" sz="1200" b="0" i="0" u="none" strike="noStrike" kern="1200" cap="none" spc="0" normalizeH="0" baseline="0" noProof="0" err="1">
                <a:ln>
                  <a:noFill/>
                </a:ln>
                <a:solidFill>
                  <a:prstClr val="black"/>
                </a:solidFill>
                <a:effectLst/>
                <a:uLnTx/>
                <a:uFillTx/>
                <a:latin typeface="Funnel Sans"/>
                <a:ea typeface="+mn-ea"/>
                <a:cs typeface="+mn-cs"/>
              </a:rPr>
              <a:t>anoikis</a:t>
            </a:r>
            <a:r>
              <a:rPr kumimoji="0" lang="en-US" sz="1200" b="0" i="0" u="none" strike="noStrike" kern="1200" cap="none" spc="0" normalizeH="0" baseline="0" noProof="0">
                <a:ln>
                  <a:noFill/>
                </a:ln>
                <a:solidFill>
                  <a:prstClr val="black"/>
                </a:solidFill>
                <a:effectLst/>
                <a:uLnTx/>
                <a:uFillTx/>
                <a:latin typeface="Funnel Sans"/>
                <a:ea typeface="+mn-ea"/>
                <a:cs typeface="+mn-cs"/>
              </a:rPr>
              <a:t>), and associated with cancer stem cells.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Cell surface location: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Normal tissues: </a:t>
            </a:r>
            <a:r>
              <a:rPr kumimoji="0" lang="en-US" sz="1200" b="0" i="0" u="none" strike="noStrike" kern="1200" cap="none" spc="0" normalizeH="0" baseline="0" noProof="0">
                <a:ln>
                  <a:noFill/>
                </a:ln>
                <a:solidFill>
                  <a:prstClr val="black"/>
                </a:solidFill>
                <a:effectLst/>
                <a:uLnTx/>
                <a:uFillTx/>
                <a:latin typeface="Funnel Sans"/>
                <a:ea typeface="+mn-ea"/>
                <a:cs typeface="+mn-cs"/>
              </a:rPr>
              <a:t>low expression in the GI tract and squamous epithelia; apical surface = not accessible to RLT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Cancer tissues: </a:t>
            </a:r>
            <a:r>
              <a:rPr kumimoji="0" lang="en-US" sz="1200" b="0" i="0" u="none" strike="noStrike" kern="1200" cap="none" spc="0" normalizeH="0" baseline="0" noProof="0">
                <a:ln>
                  <a:noFill/>
                </a:ln>
                <a:solidFill>
                  <a:prstClr val="black"/>
                </a:solidFill>
                <a:effectLst/>
                <a:uLnTx/>
                <a:uFillTx/>
                <a:latin typeface="Funnel Sans"/>
                <a:ea typeface="+mn-ea"/>
                <a:cs typeface="+mn-cs"/>
              </a:rPr>
              <a:t>depolarized overexpression across the entire cell surface = accessible to peptide RLT</a:t>
            </a:r>
          </a:p>
        </p:txBody>
      </p:sp>
      <p:sp>
        <p:nvSpPr>
          <p:cNvPr id="45" name="TextBox 44">
            <a:extLst>
              <a:ext uri="{FF2B5EF4-FFF2-40B4-BE49-F238E27FC236}">
                <a16:creationId xmlns:a16="http://schemas.microsoft.com/office/drawing/2014/main" id="{AA9059AE-B24A-CABC-D958-5968A886A386}"/>
              </a:ext>
            </a:extLst>
          </p:cNvPr>
          <p:cNvSpPr txBox="1"/>
          <p:nvPr/>
        </p:nvSpPr>
        <p:spPr>
          <a:xfrm>
            <a:off x="3457384" y="2071907"/>
            <a:ext cx="4632084" cy="157063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CEACAM5 is constitutively internalized at a slow rate (10-16 h). Internalization is accelerated in a binder-dependent manner; it is increased by cross-linking or membrane-proximal binding (A3-B3 domain).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The relationship between binding epitope and internalization is worth further exploration, as is the rate of internalization &amp; recycling.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p:txBody>
      </p:sp>
      <p:grpSp>
        <p:nvGrpSpPr>
          <p:cNvPr id="52" name="Group 51">
            <a:extLst>
              <a:ext uri="{FF2B5EF4-FFF2-40B4-BE49-F238E27FC236}">
                <a16:creationId xmlns:a16="http://schemas.microsoft.com/office/drawing/2014/main" id="{3E7CDDBA-46D4-1A5B-3BBC-C8E902E31B93}"/>
              </a:ext>
            </a:extLst>
          </p:cNvPr>
          <p:cNvGrpSpPr/>
          <p:nvPr/>
        </p:nvGrpSpPr>
        <p:grpSpPr>
          <a:xfrm>
            <a:off x="3540883" y="3664158"/>
            <a:ext cx="3222417" cy="2471518"/>
            <a:chOff x="4241020" y="2900997"/>
            <a:chExt cx="3222417" cy="2471518"/>
          </a:xfrm>
        </p:grpSpPr>
        <p:sp>
          <p:nvSpPr>
            <p:cNvPr id="47" name="Rectangle: Rounded Corners 18">
              <a:extLst>
                <a:ext uri="{FF2B5EF4-FFF2-40B4-BE49-F238E27FC236}">
                  <a16:creationId xmlns:a16="http://schemas.microsoft.com/office/drawing/2014/main" id="{DB9F997E-39E4-35BA-CA65-D4FFF9446C5C}"/>
                </a:ext>
              </a:extLst>
            </p:cNvPr>
            <p:cNvSpPr/>
            <p:nvPr/>
          </p:nvSpPr>
          <p:spPr>
            <a:xfrm>
              <a:off x="4327112" y="3408576"/>
              <a:ext cx="1229956" cy="1963939"/>
            </a:xfrm>
            <a:prstGeom prst="roundRect">
              <a:avLst/>
            </a:prstGeom>
            <a:solidFill>
              <a:srgbClr val="C6DCCD"/>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Funnel Sans"/>
                  <a:ea typeface="+mn-ea"/>
                  <a:cs typeface="+mn-cs"/>
                </a:rPr>
                <a:t>Known antibody binding site on membrane proximal A3-B3 domains serve as target for peptide binding development</a:t>
              </a:r>
            </a:p>
          </p:txBody>
        </p:sp>
        <p:sp>
          <p:nvSpPr>
            <p:cNvPr id="48" name="TextBox 47">
              <a:extLst>
                <a:ext uri="{FF2B5EF4-FFF2-40B4-BE49-F238E27FC236}">
                  <a16:creationId xmlns:a16="http://schemas.microsoft.com/office/drawing/2014/main" id="{7305D8EF-0F15-95E2-384A-200DC58D20EE}"/>
                </a:ext>
              </a:extLst>
            </p:cNvPr>
            <p:cNvSpPr txBox="1"/>
            <p:nvPr/>
          </p:nvSpPr>
          <p:spPr>
            <a:xfrm>
              <a:off x="4241020" y="2900997"/>
              <a:ext cx="170879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CEA Structure</a:t>
              </a:r>
            </a:p>
          </p:txBody>
        </p:sp>
        <p:pic>
          <p:nvPicPr>
            <p:cNvPr id="49" name="Picture 48">
              <a:extLst>
                <a:ext uri="{FF2B5EF4-FFF2-40B4-BE49-F238E27FC236}">
                  <a16:creationId xmlns:a16="http://schemas.microsoft.com/office/drawing/2014/main" id="{645BFBDC-86B4-1874-3435-C99A0132A709}"/>
                </a:ext>
              </a:extLst>
            </p:cNvPr>
            <p:cNvPicPr>
              <a:picLocks noChangeAspect="1"/>
            </p:cNvPicPr>
            <p:nvPr/>
          </p:nvPicPr>
          <p:blipFill>
            <a:blip r:embed="rId16"/>
            <a:srcRect t="10767" r="5707"/>
            <a:stretch>
              <a:fillRect/>
            </a:stretch>
          </p:blipFill>
          <p:spPr>
            <a:xfrm>
              <a:off x="5677385" y="3360941"/>
              <a:ext cx="1786052" cy="2011574"/>
            </a:xfrm>
            <a:prstGeom prst="rect">
              <a:avLst/>
            </a:prstGeom>
          </p:spPr>
        </p:pic>
      </p:grpSp>
      <p:cxnSp>
        <p:nvCxnSpPr>
          <p:cNvPr id="50" name="Straight Arrow Connector 49">
            <a:extLst>
              <a:ext uri="{FF2B5EF4-FFF2-40B4-BE49-F238E27FC236}">
                <a16:creationId xmlns:a16="http://schemas.microsoft.com/office/drawing/2014/main" id="{709AD159-5EAD-EE5C-20BC-ABBC1E1A3F6B}"/>
              </a:ext>
            </a:extLst>
          </p:cNvPr>
          <p:cNvCxnSpPr>
            <a:cxnSpLocks/>
          </p:cNvCxnSpPr>
          <p:nvPr/>
        </p:nvCxnSpPr>
        <p:spPr>
          <a:xfrm>
            <a:off x="4735727" y="5321105"/>
            <a:ext cx="550155" cy="11830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1" name="TextBox 50">
            <a:extLst>
              <a:ext uri="{FF2B5EF4-FFF2-40B4-BE49-F238E27FC236}">
                <a16:creationId xmlns:a16="http://schemas.microsoft.com/office/drawing/2014/main" id="{1EECEE12-B688-39D1-4794-9C3EAEDE2B23}"/>
              </a:ext>
            </a:extLst>
          </p:cNvPr>
          <p:cNvSpPr txBox="1"/>
          <p:nvPr/>
        </p:nvSpPr>
        <p:spPr>
          <a:xfrm>
            <a:off x="8448536" y="2053022"/>
            <a:ext cx="3356718" cy="3268083"/>
          </a:xfrm>
          <a:prstGeom prst="rect">
            <a:avLst/>
          </a:prstGeom>
          <a:noFill/>
        </p:spPr>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Serum CEA (</a:t>
            </a:r>
            <a:r>
              <a:rPr kumimoji="0" lang="en-US" sz="1200" b="1" i="0" u="none" strike="noStrike" kern="1200" cap="none" spc="0" normalizeH="0" baseline="0" noProof="0" err="1">
                <a:ln>
                  <a:noFill/>
                </a:ln>
                <a:solidFill>
                  <a:prstClr val="black"/>
                </a:solidFill>
                <a:effectLst/>
                <a:uLnTx/>
                <a:uFillTx/>
                <a:latin typeface="Funnel Sans"/>
                <a:ea typeface="+mn-ea"/>
                <a:cs typeface="+mn-cs"/>
              </a:rPr>
              <a:t>sCEA</a:t>
            </a:r>
            <a:r>
              <a:rPr kumimoji="0" lang="en-US" sz="1200" b="1" i="0" u="none" strike="noStrike" kern="1200" cap="none" spc="0" normalizeH="0" baseline="0" noProof="0">
                <a:ln>
                  <a:noFill/>
                </a:ln>
                <a:solidFill>
                  <a:prstClr val="black"/>
                </a:solidFill>
                <a:effectLst/>
                <a:uLnTx/>
                <a:uFillTx/>
                <a:latin typeface="Funnel Sans"/>
                <a:ea typeface="+mn-ea"/>
                <a:cs typeface="+mn-cs"/>
              </a:rPr>
              <a:t>) Quantities</a:t>
            </a:r>
            <a:r>
              <a:rPr kumimoji="0" lang="en-US" sz="1200" b="0" i="0" u="none" strike="noStrike" kern="1200" cap="none" spc="0" normalizeH="0" baseline="0" noProof="0">
                <a:ln>
                  <a:noFill/>
                </a:ln>
                <a:solidFill>
                  <a:prstClr val="black"/>
                </a:solidFill>
                <a:effectLst/>
                <a:uLnTx/>
                <a:uFillTx/>
                <a:latin typeface="Funnel Sans"/>
                <a:ea typeface="+mn-ea"/>
                <a:cs typeface="+mn-cs"/>
              </a:rPr>
              <a:t>: normal &lt;3 ng/mL; high &gt;10 ng/mL, very high &gt;20 ng/mL, suggesting progression/metastasis. </a:t>
            </a:r>
            <a:r>
              <a:rPr kumimoji="0" lang="en-US" sz="1200" b="0" i="0" u="none" strike="noStrike" kern="1200" cap="none" spc="0" normalizeH="0" baseline="0" noProof="0" err="1">
                <a:ln>
                  <a:noFill/>
                </a:ln>
                <a:solidFill>
                  <a:prstClr val="black"/>
                </a:solidFill>
                <a:effectLst/>
                <a:uLnTx/>
                <a:uFillTx/>
                <a:latin typeface="Funnel Sans"/>
                <a:ea typeface="+mn-ea"/>
                <a:cs typeface="+mn-cs"/>
              </a:rPr>
              <a:t>sCEA</a:t>
            </a:r>
            <a:r>
              <a:rPr kumimoji="0" lang="en-US" sz="1200" b="0" i="0" u="none" strike="noStrike" kern="1200" cap="none" spc="0" normalizeH="0" baseline="0" noProof="0">
                <a:ln>
                  <a:noFill/>
                </a:ln>
                <a:solidFill>
                  <a:prstClr val="black"/>
                </a:solidFill>
                <a:effectLst/>
                <a:uLnTx/>
                <a:uFillTx/>
                <a:latin typeface="Funnel Sans"/>
                <a:ea typeface="+mn-ea"/>
                <a:cs typeface="+mn-cs"/>
              </a:rPr>
              <a:t> surges after chemotherapy (2-7 weeks).</a:t>
            </a:r>
            <a:endParaRPr kumimoji="0" lang="en-US" sz="1200" b="1"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Funnel Sans"/>
                <a:ea typeface="+mn-ea"/>
                <a:cs typeface="+mn-cs"/>
              </a:rPr>
              <a:t>Serum half-life: </a:t>
            </a:r>
            <a:r>
              <a:rPr kumimoji="0" lang="en-US" sz="1200" b="0" i="0" u="none" strike="noStrike" kern="1200" cap="none" spc="0" normalizeH="0" baseline="0" noProof="0">
                <a:ln>
                  <a:noFill/>
                </a:ln>
                <a:solidFill>
                  <a:prstClr val="black"/>
                </a:solidFill>
                <a:effectLst/>
                <a:uLnTx/>
                <a:uFillTx/>
                <a:latin typeface="Funnel Sans"/>
                <a:ea typeface="+mn-ea"/>
                <a:cs typeface="+mn-cs"/>
              </a:rPr>
              <a:t> 3-7 days; rapid fall after effective treatment; longer half-life or increase suggests recurrence/progression. </a:t>
            </a:r>
            <a:r>
              <a:rPr kumimoji="0" lang="en-US" sz="1200" b="0" i="0" u="none" strike="noStrike" kern="1200" cap="none" spc="0" normalizeH="0" baseline="0" noProof="0" err="1">
                <a:ln>
                  <a:noFill/>
                </a:ln>
                <a:solidFill>
                  <a:prstClr val="black"/>
                </a:solidFill>
                <a:effectLst/>
                <a:uLnTx/>
                <a:uFillTx/>
                <a:latin typeface="Funnel Sans"/>
                <a:ea typeface="+mn-ea"/>
                <a:cs typeface="+mn-cs"/>
              </a:rPr>
              <a:t>sCEA</a:t>
            </a:r>
            <a:r>
              <a:rPr kumimoji="0" lang="en-US" sz="1200" b="0" i="0" u="none" strike="noStrike" kern="1200" cap="none" spc="0" normalizeH="0" baseline="0" noProof="0">
                <a:ln>
                  <a:noFill/>
                </a:ln>
                <a:solidFill>
                  <a:prstClr val="black"/>
                </a:solidFill>
                <a:effectLst/>
                <a:uLnTx/>
                <a:uFillTx/>
                <a:latin typeface="Funnel Sans"/>
                <a:ea typeface="+mn-ea"/>
                <a:cs typeface="+mn-cs"/>
              </a:rPr>
              <a:t> is metabolized in the liver, which is less radiosensitive and larger volume than kidneys.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Funnel Sans"/>
                <a:ea typeface="+mn-ea"/>
                <a:cs typeface="+mn-cs"/>
              </a:rPr>
              <a:t>A clinical trial with </a:t>
            </a:r>
            <a:r>
              <a:rPr kumimoji="0" lang="en-US" sz="1200" b="0" i="0" u="none" strike="noStrike" kern="1200" cap="none" spc="0" normalizeH="0" baseline="30000" noProof="0">
                <a:ln>
                  <a:noFill/>
                </a:ln>
                <a:solidFill>
                  <a:prstClr val="black"/>
                </a:solidFill>
                <a:effectLst/>
                <a:uLnTx/>
                <a:uFillTx/>
                <a:latin typeface="Funnel Sans"/>
                <a:ea typeface="+mn-ea"/>
                <a:cs typeface="+mn-cs"/>
              </a:rPr>
              <a:t>90</a:t>
            </a:r>
            <a:r>
              <a:rPr kumimoji="0" lang="en-US" sz="1200" b="0" i="0" u="none" strike="noStrike" kern="1200" cap="none" spc="0" normalizeH="0" baseline="0" noProof="0">
                <a:ln>
                  <a:noFill/>
                </a:ln>
                <a:solidFill>
                  <a:prstClr val="black"/>
                </a:solidFill>
                <a:effectLst/>
                <a:uLnTx/>
                <a:uFillTx/>
                <a:latin typeface="Funnel Sans"/>
                <a:ea typeface="+mn-ea"/>
                <a:cs typeface="+mn-cs"/>
              </a:rPr>
              <a:t>Y-anti-CEA </a:t>
            </a:r>
            <a:r>
              <a:rPr kumimoji="0" lang="en-US" sz="1200" b="0" i="0" u="none" strike="noStrike" kern="1200" cap="none" spc="0" normalizeH="0" baseline="0" noProof="0" err="1">
                <a:ln>
                  <a:noFill/>
                </a:ln>
                <a:solidFill>
                  <a:prstClr val="black"/>
                </a:solidFill>
                <a:effectLst/>
                <a:uLnTx/>
                <a:uFillTx/>
                <a:latin typeface="Funnel Sans"/>
                <a:ea typeface="+mn-ea"/>
                <a:cs typeface="+mn-cs"/>
              </a:rPr>
              <a:t>mAb</a:t>
            </a:r>
            <a:r>
              <a:rPr kumimoji="0" lang="en-US" sz="1200" b="0" i="0" u="none" strike="noStrike" kern="1200" cap="none" spc="0" normalizeH="0" baseline="0" noProof="0">
                <a:ln>
                  <a:noFill/>
                </a:ln>
                <a:solidFill>
                  <a:prstClr val="black"/>
                </a:solidFill>
                <a:effectLst/>
                <a:uLnTx/>
                <a:uFillTx/>
                <a:latin typeface="Funnel Sans"/>
                <a:ea typeface="+mn-ea"/>
                <a:cs typeface="+mn-cs"/>
              </a:rPr>
              <a:t> showed no significant changes in tumor uptake, PK or biodistribution with protein dose escalation (5 -105 mg). From this data, the potential impact of </a:t>
            </a:r>
            <a:r>
              <a:rPr kumimoji="0" lang="en-US" sz="1200" b="0" i="0" u="none" strike="noStrike" kern="1200" cap="none" spc="0" normalizeH="0" baseline="0" noProof="0" err="1">
                <a:ln>
                  <a:noFill/>
                </a:ln>
                <a:solidFill>
                  <a:prstClr val="black"/>
                </a:solidFill>
                <a:effectLst/>
                <a:uLnTx/>
                <a:uFillTx/>
                <a:latin typeface="Funnel Sans"/>
                <a:ea typeface="+mn-ea"/>
                <a:cs typeface="+mn-cs"/>
              </a:rPr>
              <a:t>sCEA</a:t>
            </a:r>
            <a:r>
              <a:rPr kumimoji="0" lang="en-US" sz="1200" b="0" i="0" u="none" strike="noStrike" kern="1200" cap="none" spc="0" normalizeH="0" baseline="0" noProof="0">
                <a:ln>
                  <a:noFill/>
                </a:ln>
                <a:solidFill>
                  <a:prstClr val="black"/>
                </a:solidFill>
                <a:effectLst/>
                <a:uLnTx/>
                <a:uFillTx/>
                <a:latin typeface="Funnel Sans"/>
                <a:ea typeface="+mn-ea"/>
                <a:cs typeface="+mn-cs"/>
              </a:rPr>
              <a:t> acting as an antigen sink on PK and effectiveness of RPT seems negligible.</a:t>
            </a:r>
          </a:p>
        </p:txBody>
      </p:sp>
      <p:pic>
        <p:nvPicPr>
          <p:cNvPr id="2" name="pasted-movie.png" descr="pasted-movie.png">
            <a:extLst>
              <a:ext uri="{FF2B5EF4-FFF2-40B4-BE49-F238E27FC236}">
                <a16:creationId xmlns:a16="http://schemas.microsoft.com/office/drawing/2014/main" id="{BBAA25A0-C39D-F043-A586-2713D1105AE1}"/>
              </a:ext>
            </a:extLst>
          </p:cNvPr>
          <p:cNvPicPr>
            <a:picLocks noChangeAspect="1"/>
          </p:cNvPicPr>
          <p:nvPr/>
        </p:nvPicPr>
        <p:blipFill>
          <a:blip r:embed="rId17"/>
          <a:srcRect l="44410" t="-806" r="44746" b="40168"/>
          <a:stretch>
            <a:fillRect/>
          </a:stretch>
        </p:blipFill>
        <p:spPr>
          <a:xfrm>
            <a:off x="6954370" y="3638192"/>
            <a:ext cx="906695" cy="2497484"/>
          </a:xfrm>
          <a:prstGeom prst="rect">
            <a:avLst/>
          </a:prstGeom>
          <a:ln w="12700">
            <a:miter lim="400000"/>
          </a:ln>
        </p:spPr>
      </p:pic>
      <p:sp>
        <p:nvSpPr>
          <p:cNvPr id="34" name="Rectangle: Rounded Corners 33">
            <a:extLst>
              <a:ext uri="{FF2B5EF4-FFF2-40B4-BE49-F238E27FC236}">
                <a16:creationId xmlns:a16="http://schemas.microsoft.com/office/drawing/2014/main" id="{62BE47B3-8CAC-48C4-9D8D-21D513709A0A}"/>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Tree>
    <p:extLst>
      <p:ext uri="{BB962C8B-B14F-4D97-AF65-F5344CB8AC3E}">
        <p14:creationId xmlns:p14="http://schemas.microsoft.com/office/powerpoint/2010/main" val="3052582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43A1C-EFA6-B7EA-0EC1-B66D98E10BBE}"/>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6DC8550C-4839-9AF6-8FDC-41414EABF536}"/>
              </a:ext>
            </a:extLst>
          </p:cNvPr>
          <p:cNvSpPr txBox="1"/>
          <p:nvPr/>
        </p:nvSpPr>
        <p:spPr>
          <a:xfrm>
            <a:off x="0" y="6440189"/>
            <a:ext cx="7598979" cy="707886"/>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Funnel Sans"/>
                <a:ea typeface="+mn-ea"/>
                <a:cs typeface="+mn-cs"/>
                <a:hlinkClick r:id="rId2">
                  <a:extLst>
                    <a:ext uri="{A12FA001-AC4F-418D-AE19-62706E023703}">
                      <ahyp:hlinkClr xmlns:ahyp="http://schemas.microsoft.com/office/drawing/2018/hyperlinkcolor" val="tx"/>
                    </a:ext>
                  </a:extLst>
                </a:hlinkClick>
              </a:rPr>
              <a:t>Sources:</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3"/>
              </a:rPr>
              <a:t>SEER</a:t>
            </a:r>
            <a:r>
              <a:rPr kumimoji="0" lang="en-GB" sz="1000" b="0" i="0" u="none" strike="noStrike" kern="1200" cap="none" spc="0" normalizeH="0" baseline="0" noProof="0">
                <a:ln>
                  <a:noFill/>
                </a:ln>
                <a:solidFill>
                  <a:prstClr val="black"/>
                </a:solidFill>
                <a:effectLst/>
                <a:uLnTx/>
                <a:uFillTx/>
                <a:latin typeface="Funnel Sans"/>
                <a:ea typeface="+mn-lt"/>
                <a:cs typeface="+mn-lt"/>
              </a:rPr>
              <a:t> ,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4"/>
              </a:rPr>
              <a:t>Siegel Cancer Journal for Clinicians 2023</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5"/>
              </a:rPr>
              <a:t>Tarpgaard Cancers (Basel) 2023</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6"/>
              </a:rPr>
              <a:t>Abidoye MDPi 2025</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7"/>
              </a:rPr>
              <a:t>Nakamura Nature Med 2024</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8"/>
              </a:rPr>
              <a:t>Upadhyay Ther Adv Med Oncol 2015</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9"/>
              </a:rPr>
              <a:t>Liu Ther Adv Gastero 2022</a:t>
            </a: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0000"/>
              </a:solidFill>
              <a:effectLst/>
              <a:uLnTx/>
              <a:uFillTx/>
              <a:latin typeface="Funnel Sans"/>
              <a:ea typeface="+mn-ea"/>
              <a:cs typeface="+mn-cs"/>
            </a:endParaRPr>
          </a:p>
        </p:txBody>
      </p:sp>
      <p:sp>
        <p:nvSpPr>
          <p:cNvPr id="28" name="TextBox 27">
            <a:extLst>
              <a:ext uri="{FF2B5EF4-FFF2-40B4-BE49-F238E27FC236}">
                <a16:creationId xmlns:a16="http://schemas.microsoft.com/office/drawing/2014/main" id="{1702B227-007E-0C92-A1EE-30122896809B}"/>
              </a:ext>
            </a:extLst>
          </p:cNvPr>
          <p:cNvSpPr txBox="1"/>
          <p:nvPr/>
        </p:nvSpPr>
        <p:spPr>
          <a:xfrm>
            <a:off x="254000" y="1485954"/>
            <a:ext cx="11612959" cy="30777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prstClr val="black"/>
                </a:solidFill>
                <a:effectLst/>
                <a:uLnTx/>
                <a:uFillTx/>
                <a:latin typeface="Funnel Sans"/>
                <a:ea typeface="+mn-ea"/>
                <a:cs typeface="+mn-cs"/>
              </a:rPr>
              <a:t>~</a:t>
            </a:r>
            <a:r>
              <a:rPr kumimoji="0" lang="en-US" sz="1400" b="0" i="1" u="none" strike="noStrike" kern="1200" cap="none" spc="0" normalizeH="0" baseline="0" noProof="0">
                <a:ln>
                  <a:noFill/>
                </a:ln>
                <a:solidFill>
                  <a:srgbClr val="000000"/>
                </a:solidFill>
                <a:effectLst/>
                <a:uLnTx/>
                <a:uFillTx/>
                <a:latin typeface="Funnel Sans"/>
                <a:ea typeface="Source Sans Pro"/>
                <a:cs typeface="+mn-cs"/>
              </a:rPr>
              <a:t>154,000 </a:t>
            </a:r>
            <a:r>
              <a:rPr kumimoji="0" lang="en-US" sz="1400" b="0" i="1" u="none" strike="noStrike" kern="1200" cap="none" spc="0" normalizeH="0" baseline="0" noProof="0">
                <a:ln>
                  <a:noFill/>
                </a:ln>
                <a:solidFill>
                  <a:srgbClr val="000000"/>
                </a:solidFill>
                <a:effectLst/>
                <a:uLnTx/>
                <a:uFillTx/>
                <a:latin typeface="Funnel Sans"/>
                <a:ea typeface="+mn-ea"/>
                <a:cs typeface="+mn-cs"/>
              </a:rPr>
              <a:t>new</a:t>
            </a:r>
            <a:r>
              <a:rPr kumimoji="0" lang="en-US" sz="1400" b="0" i="1" u="none" strike="noStrike" kern="1200" cap="none" spc="0" normalizeH="0" baseline="0" noProof="0">
                <a:ln>
                  <a:noFill/>
                </a:ln>
                <a:solidFill>
                  <a:prstClr val="black"/>
                </a:solidFill>
                <a:effectLst/>
                <a:uLnTx/>
                <a:uFillTx/>
                <a:latin typeface="Funnel Sans"/>
                <a:ea typeface="+mn-ea"/>
                <a:cs typeface="+mn-cs"/>
              </a:rPr>
              <a:t> cases </a:t>
            </a:r>
            <a:r>
              <a:rPr kumimoji="0" lang="en-US" sz="1400" b="0" i="1" u="none" strike="noStrike" kern="1200" cap="none" spc="0" normalizeH="0" baseline="0" noProof="0">
                <a:ln>
                  <a:noFill/>
                </a:ln>
                <a:solidFill>
                  <a:prstClr val="black"/>
                </a:solidFill>
                <a:effectLst/>
                <a:uLnTx/>
                <a:uFillTx/>
                <a:latin typeface="Funnel Sans"/>
                <a:ea typeface="Source Sans Pro"/>
                <a:cs typeface="+mn-cs"/>
              </a:rPr>
              <a:t>and ~53,000</a:t>
            </a:r>
            <a:r>
              <a:rPr kumimoji="0" lang="en-US" sz="1400" b="0" i="1" u="none" strike="noStrike" kern="1200" cap="none" spc="0" normalizeH="0" baseline="0" noProof="0">
                <a:ln>
                  <a:noFill/>
                </a:ln>
                <a:solidFill>
                  <a:prstClr val="black"/>
                </a:solidFill>
                <a:effectLst/>
                <a:uLnTx/>
                <a:uFillTx/>
                <a:latin typeface="Funnel Sans"/>
                <a:ea typeface="+mn-ea"/>
                <a:cs typeface="+mn-cs"/>
              </a:rPr>
              <a:t> deaths from colorectal cancer in the US in 2025</a:t>
            </a:r>
          </a:p>
        </p:txBody>
      </p:sp>
      <p:sp>
        <p:nvSpPr>
          <p:cNvPr id="32" name="Shape 0">
            <a:extLst>
              <a:ext uri="{FF2B5EF4-FFF2-40B4-BE49-F238E27FC236}">
                <a16:creationId xmlns:a16="http://schemas.microsoft.com/office/drawing/2014/main" id="{475FA7B6-ED2B-91E1-A19B-C50B50026AFB}"/>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0A71AE89-A3D8-116C-269C-7B5917AAF6FE}"/>
              </a:ext>
            </a:extLst>
          </p:cNvPr>
          <p:cNvPicPr>
            <a:picLocks noChangeAspect="1"/>
          </p:cNvPicPr>
          <p:nvPr/>
        </p:nvPicPr>
        <p:blipFill>
          <a:blip r:embed="rId10"/>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EA4EA39A-618E-7873-9F24-32C254928395}"/>
              </a:ext>
            </a:extLst>
          </p:cNvPr>
          <p:cNvPicPr>
            <a:picLocks noChangeAspect="1"/>
          </p:cNvPicPr>
          <p:nvPr/>
        </p:nvPicPr>
        <p:blipFill>
          <a:blip r:embed="rId11"/>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1852D115-4254-F572-1217-0E6CE3121E77}"/>
              </a:ext>
            </a:extLst>
          </p:cNvPr>
          <p:cNvPicPr>
            <a:picLocks noChangeAspect="1"/>
          </p:cNvPicPr>
          <p:nvPr/>
        </p:nvPicPr>
        <p:blipFill>
          <a:blip r:embed="rId11"/>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4C9D79F2-504C-A94D-5311-151128DD7216}"/>
              </a:ext>
            </a:extLst>
          </p:cNvPr>
          <p:cNvPicPr>
            <a:picLocks noChangeAspect="1"/>
          </p:cNvPicPr>
          <p:nvPr/>
        </p:nvPicPr>
        <p:blipFill>
          <a:blip r:embed="rId11"/>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EE9EC5CE-43E9-E1CB-CDFA-26B29D2B158B}"/>
              </a:ext>
            </a:extLst>
          </p:cNvPr>
          <p:cNvPicPr>
            <a:picLocks noChangeAspect="1"/>
          </p:cNvPicPr>
          <p:nvPr/>
        </p:nvPicPr>
        <p:blipFill>
          <a:blip r:embed="rId12"/>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37612FB6-312A-CC59-01D2-8F8E5C8AC9F9}"/>
              </a:ext>
            </a:extLst>
          </p:cNvPr>
          <p:cNvPicPr>
            <a:picLocks noChangeAspect="1"/>
          </p:cNvPicPr>
          <p:nvPr/>
        </p:nvPicPr>
        <p:blipFill>
          <a:blip r:embed="rId13"/>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AD1725A6-C11A-4D2B-3259-CE3E48512BCB}"/>
              </a:ext>
            </a:extLst>
          </p:cNvPr>
          <p:cNvPicPr>
            <a:picLocks noChangeAspect="1"/>
          </p:cNvPicPr>
          <p:nvPr/>
        </p:nvPicPr>
        <p:blipFill>
          <a:blip r:embed="rId14"/>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CD1509C7-99E6-61DC-D672-EB4954FC898E}"/>
              </a:ext>
            </a:extLst>
          </p:cNvPr>
          <p:cNvPicPr>
            <a:picLocks noChangeAspect="1"/>
          </p:cNvPicPr>
          <p:nvPr/>
        </p:nvPicPr>
        <p:blipFill>
          <a:blip r:embed="rId15"/>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BE287846-DFD5-BA9E-94A3-029046D14236}"/>
              </a:ext>
            </a:extLst>
          </p:cNvPr>
          <p:cNvPicPr>
            <a:picLocks noChangeAspect="1"/>
          </p:cNvPicPr>
          <p:nvPr/>
        </p:nvPicPr>
        <p:blipFill>
          <a:blip r:embed="rId16"/>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7FD2D6A-573F-05C1-2140-C288A2AE0E02}"/>
              </a:ext>
            </a:extLst>
          </p:cNvPr>
          <p:cNvPicPr>
            <a:picLocks noChangeAspect="1"/>
          </p:cNvPicPr>
          <p:nvPr/>
        </p:nvPicPr>
        <p:blipFill>
          <a:blip r:embed="rId17"/>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7CB8108B-9C58-9CD6-8E42-E9F4F591EB32}"/>
              </a:ext>
            </a:extLst>
          </p:cNvPr>
          <p:cNvSpPr/>
          <p:nvPr/>
        </p:nvSpPr>
        <p:spPr>
          <a:xfrm>
            <a:off x="254000" y="635564"/>
            <a:ext cx="1168400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CEACAM5 positivity is consistently high across all stages of CRC and increases with disease progression, driving clinical opportunities for treatment of advanced CRC</a:t>
            </a:r>
          </a:p>
        </p:txBody>
      </p:sp>
      <p:sp>
        <p:nvSpPr>
          <p:cNvPr id="51" name="Rectangle: Rounded Corners 50">
            <a:extLst>
              <a:ext uri="{FF2B5EF4-FFF2-40B4-BE49-F238E27FC236}">
                <a16:creationId xmlns:a16="http://schemas.microsoft.com/office/drawing/2014/main" id="{2120AD1F-DD88-9565-169C-D8845B92269F}"/>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4F9D2933-35AD-30F8-DD03-AB417E271D01}"/>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9" name="Rectangle 18">
            <a:extLst>
              <a:ext uri="{FF2B5EF4-FFF2-40B4-BE49-F238E27FC236}">
                <a16:creationId xmlns:a16="http://schemas.microsoft.com/office/drawing/2014/main" id="{71F5B7D9-0120-B5AD-3802-339DF1C65F82}"/>
              </a:ext>
            </a:extLst>
          </p:cNvPr>
          <p:cNvSpPr/>
          <p:nvPr/>
        </p:nvSpPr>
        <p:spPr>
          <a:xfrm>
            <a:off x="4227874" y="2486966"/>
            <a:ext cx="6919406" cy="74315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E5600AA6-130E-A6FE-D4C3-7C1DE9933EDB}"/>
              </a:ext>
            </a:extLst>
          </p:cNvPr>
          <p:cNvGraphicFramePr>
            <a:graphicFrameLocks noGrp="1"/>
          </p:cNvGraphicFramePr>
          <p:nvPr/>
        </p:nvGraphicFramePr>
        <p:xfrm>
          <a:off x="1013246" y="3086192"/>
          <a:ext cx="10134033" cy="2628900"/>
        </p:xfrm>
        <a:graphic>
          <a:graphicData uri="http://schemas.openxmlformats.org/drawingml/2006/table">
            <a:tbl>
              <a:tblPr bandRow="1">
                <a:tableStyleId>{5C22544A-7EE6-4342-B048-85BDC9FD1C3A}</a:tableStyleId>
              </a:tblPr>
              <a:tblGrid>
                <a:gridCol w="3233407">
                  <a:extLst>
                    <a:ext uri="{9D8B030D-6E8A-4147-A177-3AD203B41FA5}">
                      <a16:colId xmlns:a16="http://schemas.microsoft.com/office/drawing/2014/main" val="635467938"/>
                    </a:ext>
                  </a:extLst>
                </a:gridCol>
                <a:gridCol w="3465359">
                  <a:extLst>
                    <a:ext uri="{9D8B030D-6E8A-4147-A177-3AD203B41FA5}">
                      <a16:colId xmlns:a16="http://schemas.microsoft.com/office/drawing/2014/main" val="3845916860"/>
                    </a:ext>
                  </a:extLst>
                </a:gridCol>
                <a:gridCol w="3435267">
                  <a:extLst>
                    <a:ext uri="{9D8B030D-6E8A-4147-A177-3AD203B41FA5}">
                      <a16:colId xmlns:a16="http://schemas.microsoft.com/office/drawing/2014/main" val="2584517878"/>
                    </a:ext>
                  </a:extLst>
                </a:gridCol>
              </a:tblGrid>
              <a:tr h="0">
                <a:tc>
                  <a:txBody>
                    <a:bodyPr/>
                    <a:lstStyle/>
                    <a:p>
                      <a:pPr algn="ctr" fontAlgn="base">
                        <a:lnSpc>
                          <a:spcPts val="1950"/>
                        </a:lnSpc>
                        <a:buNone/>
                      </a:pPr>
                      <a:r>
                        <a:rPr lang="en-US" sz="1600" b="1">
                          <a:effectLst/>
                          <a:latin typeface="Funnel Sans"/>
                        </a:rPr>
                        <a:t>Approach</a:t>
                      </a:r>
                      <a:endParaRPr lang="en-US" b="1">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a:txBody>
                    <a:bodyPr/>
                    <a:lstStyle/>
                    <a:p>
                      <a:pPr lvl="0" algn="ctr">
                        <a:lnSpc>
                          <a:spcPct val="100000"/>
                        </a:lnSpc>
                        <a:buNone/>
                      </a:pPr>
                      <a:r>
                        <a:rPr lang="en-US" sz="1200" b="0"/>
                        <a:t>Adjuvant, curative intent monotherapy for post-resection Stage II/III, MRD+ (ctDNA+) patients</a:t>
                      </a:r>
                      <a:endParaRPr lang="en-US" sz="1200" b="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a:txBody>
                    <a:bodyPr/>
                    <a:lstStyle/>
                    <a:p>
                      <a:pPr lvl="0" algn="ctr">
                        <a:lnSpc>
                          <a:spcPct val="100000"/>
                        </a:lnSpc>
                        <a:buNone/>
                      </a:pPr>
                      <a:r>
                        <a:rPr lang="en-US" sz="1200" b="0" baseline="0">
                          <a:effectLst/>
                          <a:latin typeface="Funnel Sans"/>
                        </a:rPr>
                        <a:t>Late line monotherapy in Stage IV patients at end of treatment options</a:t>
                      </a:r>
                      <a:endParaRPr lang="en-US" sz="1200" b="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361950">
                <a:tc>
                  <a:txBody>
                    <a:bodyPr/>
                    <a:lstStyle/>
                    <a:p>
                      <a:pPr algn="ctr" fontAlgn="base">
                        <a:lnSpc>
                          <a:spcPts val="1950"/>
                        </a:lnSpc>
                        <a:buNone/>
                      </a:pPr>
                      <a:r>
                        <a:rPr lang="en-US" sz="1400" baseline="0">
                          <a:effectLst/>
                        </a:rPr>
                        <a:t>Annual incident cases</a:t>
                      </a: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154,000</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154,000</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2926821"/>
                  </a:ext>
                </a:extLst>
              </a:tr>
              <a:tr h="361950">
                <a:tc>
                  <a:txBody>
                    <a:bodyPr/>
                    <a:lstStyle/>
                    <a:p>
                      <a:pPr algn="ctr" fontAlgn="base">
                        <a:lnSpc>
                          <a:spcPts val="1950"/>
                        </a:lnSpc>
                        <a:buNone/>
                      </a:pPr>
                      <a:r>
                        <a:rPr lang="en-US" sz="1400" baseline="0">
                          <a:effectLst/>
                          <a:latin typeface="Funnel Sans"/>
                        </a:rPr>
                        <a:t>% diagnosed at Stage</a:t>
                      </a: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70-80% local/regional</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20% distant</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361950">
                <a:tc>
                  <a:txBody>
                    <a:bodyPr/>
                    <a:lstStyle/>
                    <a:p>
                      <a:pPr algn="ctr" fontAlgn="base">
                        <a:lnSpc>
                          <a:spcPts val="1950"/>
                        </a:lnSpc>
                        <a:buNone/>
                      </a:pP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~90% undergo surgery</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t>25-30% advance to 3</a:t>
                      </a:r>
                      <a:r>
                        <a:rPr lang="en-US" sz="1400" baseline="30000"/>
                        <a:t>rd</a:t>
                      </a:r>
                      <a:r>
                        <a:rPr lang="en-US" sz="1400" baseline="0"/>
                        <a:t> line</a:t>
                      </a: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2360491"/>
                  </a:ext>
                </a:extLst>
              </a:tr>
              <a:tr h="361950">
                <a:tc>
                  <a:txBody>
                    <a:bodyPr/>
                    <a:lstStyle/>
                    <a:p>
                      <a:pPr algn="ctr" fontAlgn="base">
                        <a:lnSpc>
                          <a:spcPts val="1950"/>
                        </a:lnSpc>
                        <a:buNone/>
                      </a:pP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effectLst/>
                          <a:latin typeface="Funnel Sans"/>
                        </a:rPr>
                        <a:t>~15% MRD+</a:t>
                      </a:r>
                      <a:endParaRPr lang="en-US" sz="140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endParaRPr lang="en-US" sz="140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3364161"/>
                  </a:ext>
                </a:extLst>
              </a:tr>
              <a:tr h="361950">
                <a:tc>
                  <a:txBody>
                    <a:bodyPr/>
                    <a:lstStyle/>
                    <a:p>
                      <a:pPr algn="ctr" fontAlgn="base">
                        <a:lnSpc>
                          <a:spcPts val="1950"/>
                        </a:lnSpc>
                        <a:buNone/>
                      </a:pPr>
                      <a:r>
                        <a:rPr lang="en-US" sz="1400" baseline="0">
                          <a:effectLst/>
                          <a:latin typeface="Funnel Sans"/>
                        </a:rPr>
                        <a:t>% CEACAM Positive</a:t>
                      </a:r>
                      <a:endParaRPr lang="en-US" sz="1400" baseline="0">
                        <a:effectLst/>
                      </a:endParaRP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effectLst/>
                          <a:latin typeface="Funnel Sans"/>
                        </a:rPr>
                        <a:t>~90-100%</a:t>
                      </a:r>
                      <a:endParaRPr lang="en-US" sz="140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ts val="1950"/>
                        </a:lnSpc>
                        <a:buNone/>
                      </a:pPr>
                      <a:r>
                        <a:rPr lang="en-US" sz="1400" baseline="0">
                          <a:effectLst/>
                          <a:latin typeface="Funnel Sans"/>
                        </a:rPr>
                        <a:t>~90-100%</a:t>
                      </a:r>
                      <a:endParaRPr lang="en-US" sz="1400" baseline="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709761"/>
                  </a:ext>
                </a:extLst>
              </a:tr>
              <a:tr h="361950">
                <a:tc>
                  <a:txBody>
                    <a:bodyPr/>
                    <a:lstStyle/>
                    <a:p>
                      <a:pPr algn="ctr" fontAlgn="base">
                        <a:lnSpc>
                          <a:spcPts val="1950"/>
                        </a:lnSpc>
                        <a:buNone/>
                      </a:pPr>
                      <a:r>
                        <a:rPr lang="en-US" sz="1600" b="1">
                          <a:effectLst/>
                          <a:latin typeface="Funnel Sans"/>
                        </a:rPr>
                        <a:t>Rough estimate TAM: </a:t>
                      </a:r>
                    </a:p>
                  </a:txBody>
                  <a:tcPr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4ECE9"/>
                    </a:solidFill>
                  </a:tcPr>
                </a:tc>
                <a:tc>
                  <a:txBody>
                    <a:bodyPr/>
                    <a:lstStyle/>
                    <a:p>
                      <a:pPr lvl="0" algn="ctr">
                        <a:lnSpc>
                          <a:spcPts val="1950"/>
                        </a:lnSpc>
                        <a:buNone/>
                      </a:pPr>
                      <a:r>
                        <a:rPr lang="en-US" sz="1600" b="1">
                          <a:effectLst/>
                          <a:latin typeface="Funnel Sans"/>
                        </a:rPr>
                        <a:t>14,000</a:t>
                      </a:r>
                      <a:endParaRPr lang="en-US"/>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4ECE9"/>
                    </a:solidFill>
                  </a:tcPr>
                </a:tc>
                <a:tc>
                  <a:txBody>
                    <a:bodyPr/>
                    <a:lstStyle/>
                    <a:p>
                      <a:pPr lvl="0" algn="ctr">
                        <a:lnSpc>
                          <a:spcPts val="1950"/>
                        </a:lnSpc>
                        <a:buNone/>
                      </a:pPr>
                      <a:r>
                        <a:rPr lang="en-US" sz="1600" b="1">
                          <a:effectLst/>
                          <a:latin typeface="Funnel Sans"/>
                        </a:rPr>
                        <a:t>7,300</a:t>
                      </a:r>
                      <a:endParaRPr lang="en-US"/>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E4ECE9"/>
                    </a:solidFill>
                  </a:tcPr>
                </a:tc>
                <a:extLst>
                  <a:ext uri="{0D108BD9-81ED-4DB2-BD59-A6C34878D82A}">
                    <a16:rowId xmlns:a16="http://schemas.microsoft.com/office/drawing/2014/main" val="535520999"/>
                  </a:ext>
                </a:extLst>
              </a:tr>
            </a:tbl>
          </a:graphicData>
        </a:graphic>
      </p:graphicFrame>
      <p:sp>
        <p:nvSpPr>
          <p:cNvPr id="7" name="Rectangle: Rounded Corners 6">
            <a:extLst>
              <a:ext uri="{FF2B5EF4-FFF2-40B4-BE49-F238E27FC236}">
                <a16:creationId xmlns:a16="http://schemas.microsoft.com/office/drawing/2014/main" id="{2921C419-68F4-7F67-E08E-0333CF185F41}"/>
              </a:ext>
            </a:extLst>
          </p:cNvPr>
          <p:cNvSpPr/>
          <p:nvPr/>
        </p:nvSpPr>
        <p:spPr>
          <a:xfrm>
            <a:off x="8153912" y="2140986"/>
            <a:ext cx="2551159"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Late line mCRC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a:t>
            </a:r>
            <a:r>
              <a:rPr kumimoji="0" lang="en-US" sz="1600" b="0" i="0" u="none" strike="noStrike" kern="1200" cap="none" spc="0" normalizeH="0" baseline="0" noProof="0">
                <a:ln>
                  <a:noFill/>
                </a:ln>
                <a:solidFill>
                  <a:prstClr val="white"/>
                </a:solidFill>
                <a:effectLst/>
                <a:uLnTx/>
                <a:uFillTx/>
                <a:latin typeface="Times New Roman" panose="02020603050405020304" pitchFamily="18" charset="0"/>
                <a:ea typeface="+mn-ea"/>
                <a:cs typeface="Times New Roman" panose="02020603050405020304" pitchFamily="18" charset="0"/>
              </a:rPr>
              <a:t>≥</a:t>
            </a:r>
            <a:r>
              <a:rPr kumimoji="0" lang="en-US" sz="1600" b="0" i="0" u="none" strike="noStrike" kern="1200" cap="none" spc="0" normalizeH="0" baseline="0" noProof="0">
                <a:ln>
                  <a:noFill/>
                </a:ln>
                <a:solidFill>
                  <a:prstClr val="white"/>
                </a:solidFill>
                <a:effectLst/>
                <a:uLnTx/>
                <a:uFillTx/>
                <a:latin typeface="Funnel Sans"/>
                <a:ea typeface="+mn-ea"/>
                <a:cs typeface="+mn-cs"/>
              </a:rPr>
              <a:t>3L)</a:t>
            </a:r>
          </a:p>
        </p:txBody>
      </p:sp>
      <p:sp>
        <p:nvSpPr>
          <p:cNvPr id="3" name="Shape 1">
            <a:extLst>
              <a:ext uri="{FF2B5EF4-FFF2-40B4-BE49-F238E27FC236}">
                <a16:creationId xmlns:a16="http://schemas.microsoft.com/office/drawing/2014/main" id="{B9B1A314-ECC5-34C5-CEAD-D14DD4C637DF}"/>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 name="Rectangle: Rounded Corners 1">
            <a:extLst>
              <a:ext uri="{FF2B5EF4-FFF2-40B4-BE49-F238E27FC236}">
                <a16:creationId xmlns:a16="http://schemas.microsoft.com/office/drawing/2014/main" id="{6436D7F2-D297-DFD0-1C4F-0D4514889121}"/>
              </a:ext>
            </a:extLst>
          </p:cNvPr>
          <p:cNvSpPr/>
          <p:nvPr/>
        </p:nvSpPr>
        <p:spPr>
          <a:xfrm>
            <a:off x="4784899" y="2140986"/>
            <a:ext cx="2551159"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Stage II/III post-resection, MRD+ patients</a:t>
            </a:r>
          </a:p>
        </p:txBody>
      </p:sp>
    </p:spTree>
    <p:extLst>
      <p:ext uri="{BB962C8B-B14F-4D97-AF65-F5344CB8AC3E}">
        <p14:creationId xmlns:p14="http://schemas.microsoft.com/office/powerpoint/2010/main" val="1817007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7A94-1358-D1DD-043F-F0745E1ADA10}"/>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4D7DAC56-3BC9-ECC5-CF5E-49FADA0708C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4D49272C-CFBD-2D7D-07F7-76D4D528157E}"/>
              </a:ext>
            </a:extLst>
          </p:cNvPr>
          <p:cNvPicPr>
            <a:picLocks noChangeAspect="1"/>
          </p:cNvPicPr>
          <p:nvPr/>
        </p:nvPicPr>
        <p:blipFill>
          <a:blip r:embed="rId2"/>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F4BDAFAB-D76F-9505-90E4-533FF5F7A808}"/>
              </a:ext>
            </a:extLst>
          </p:cNvPr>
          <p:cNvPicPr>
            <a:picLocks noChangeAspect="1"/>
          </p:cNvPicPr>
          <p:nvPr/>
        </p:nvPicPr>
        <p:blipFill>
          <a:blip r:embed="rId3"/>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E374BAA2-71B2-110A-D4E2-68F3E6FA3AD9}"/>
              </a:ext>
            </a:extLst>
          </p:cNvPr>
          <p:cNvPicPr>
            <a:picLocks noChangeAspect="1"/>
          </p:cNvPicPr>
          <p:nvPr/>
        </p:nvPicPr>
        <p:blipFill>
          <a:blip r:embed="rId3"/>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2888264A-A25C-5D9B-4653-C8EBC192DD49}"/>
              </a:ext>
            </a:extLst>
          </p:cNvPr>
          <p:cNvPicPr>
            <a:picLocks noChangeAspect="1"/>
          </p:cNvPicPr>
          <p:nvPr/>
        </p:nvPicPr>
        <p:blipFill>
          <a:blip r:embed="rId3"/>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ABCF7210-899C-1FB2-102B-89EF8876849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7D1FF4DA-BCDB-5B53-6153-7A957BFA2396}"/>
              </a:ext>
            </a:extLst>
          </p:cNvPr>
          <p:cNvPicPr>
            <a:picLocks noChangeAspect="1"/>
          </p:cNvPicPr>
          <p:nvPr/>
        </p:nvPicPr>
        <p:blipFill>
          <a:blip r:embed="rId5"/>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62088191-C811-89DA-4E77-5A6A62B05272}"/>
              </a:ext>
            </a:extLst>
          </p:cNvPr>
          <p:cNvPicPr>
            <a:picLocks noChangeAspect="1"/>
          </p:cNvPicPr>
          <p:nvPr/>
        </p:nvPicPr>
        <p:blipFill>
          <a:blip r:embed="rId6"/>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77559785-26AB-4B8F-6D3B-0C2BEE50CFD4}"/>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8EFC5BE0-A644-8E58-FF27-C33C12435E49}"/>
              </a:ext>
            </a:extLst>
          </p:cNvPr>
          <p:cNvPicPr>
            <a:picLocks noChangeAspect="1"/>
          </p:cNvPicPr>
          <p:nvPr/>
        </p:nvPicPr>
        <p:blipFill>
          <a:blip r:embed="rId8"/>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1779C78-0FB9-62B7-8DFA-E629EA265A72}"/>
              </a:ext>
            </a:extLst>
          </p:cNvPr>
          <p:cNvPicPr>
            <a:picLocks noChangeAspect="1"/>
          </p:cNvPicPr>
          <p:nvPr/>
        </p:nvPicPr>
        <p:blipFill>
          <a:blip r:embed="rId9"/>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94594D2-BF98-CA0C-BBCB-BC8A09482356}"/>
              </a:ext>
            </a:extLst>
          </p:cNvPr>
          <p:cNvSpPr/>
          <p:nvPr/>
        </p:nvSpPr>
        <p:spPr>
          <a:xfrm>
            <a:off x="254000" y="444561"/>
            <a:ext cx="11684000" cy="1105727"/>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Example Target Product Profile for CEACAM5-RLT in MRD+, post-resection CRC</a:t>
            </a:r>
          </a:p>
        </p:txBody>
      </p:sp>
      <p:sp>
        <p:nvSpPr>
          <p:cNvPr id="51" name="Rectangle: Rounded Corners 50">
            <a:extLst>
              <a:ext uri="{FF2B5EF4-FFF2-40B4-BE49-F238E27FC236}">
                <a16:creationId xmlns:a16="http://schemas.microsoft.com/office/drawing/2014/main" id="{000F972D-7B6D-ED5A-5E96-D566A43CEF56}"/>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9E24DB49-C49A-3DD9-D0A6-EEE240F83F9B}"/>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24E4F316-ABC1-C788-E09B-B360FEE25BAA}"/>
              </a:ext>
            </a:extLst>
          </p:cNvPr>
          <p:cNvGraphicFramePr>
            <a:graphicFrameLocks noGrp="1"/>
          </p:cNvGraphicFramePr>
          <p:nvPr/>
        </p:nvGraphicFramePr>
        <p:xfrm>
          <a:off x="386755" y="1550290"/>
          <a:ext cx="11340519" cy="4659314"/>
        </p:xfrm>
        <a:graphic>
          <a:graphicData uri="http://schemas.openxmlformats.org/drawingml/2006/table">
            <a:tbl>
              <a:tblPr bandRow="1">
                <a:tableStyleId>{5C22544A-7EE6-4342-B048-85BDC9FD1C3A}</a:tableStyleId>
              </a:tblPr>
              <a:tblGrid>
                <a:gridCol w="2513761">
                  <a:extLst>
                    <a:ext uri="{9D8B030D-6E8A-4147-A177-3AD203B41FA5}">
                      <a16:colId xmlns:a16="http://schemas.microsoft.com/office/drawing/2014/main" val="635467938"/>
                    </a:ext>
                  </a:extLst>
                </a:gridCol>
                <a:gridCol w="2497394">
                  <a:extLst>
                    <a:ext uri="{9D8B030D-6E8A-4147-A177-3AD203B41FA5}">
                      <a16:colId xmlns:a16="http://schemas.microsoft.com/office/drawing/2014/main" val="3845916860"/>
                    </a:ext>
                  </a:extLst>
                </a:gridCol>
                <a:gridCol w="3116825">
                  <a:extLst>
                    <a:ext uri="{9D8B030D-6E8A-4147-A177-3AD203B41FA5}">
                      <a16:colId xmlns:a16="http://schemas.microsoft.com/office/drawing/2014/main" val="159078053"/>
                    </a:ext>
                  </a:extLst>
                </a:gridCol>
                <a:gridCol w="3212539">
                  <a:extLst>
                    <a:ext uri="{9D8B030D-6E8A-4147-A177-3AD203B41FA5}">
                      <a16:colId xmlns:a16="http://schemas.microsoft.com/office/drawing/2014/main" val="2644021605"/>
                    </a:ext>
                  </a:extLst>
                </a:gridCol>
              </a:tblGrid>
              <a:tr h="365653">
                <a:tc>
                  <a:txBody>
                    <a:bodyPr/>
                    <a:lstStyle/>
                    <a:p>
                      <a:pPr algn="l" fontAlgn="base">
                        <a:lnSpc>
                          <a:spcPct val="100000"/>
                        </a:lnSpc>
                        <a:buNone/>
                      </a:pPr>
                      <a:r>
                        <a:rPr lang="en-US" sz="1200" b="1">
                          <a:effectLst/>
                          <a:latin typeface="+mn-lt"/>
                        </a:rPr>
                        <a:t>Mechanism / Mode of Action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a:buNone/>
                      </a:pPr>
                      <a:r>
                        <a:rPr lang="en-US" sz="1200"/>
                        <a:t>CEACAM5-targeted peptide ligand conjugated to chelated </a:t>
                      </a:r>
                      <a:r>
                        <a:rPr lang="en-US" sz="1200" baseline="30000"/>
                        <a:t>225</a:t>
                      </a:r>
                      <a:r>
                        <a:rPr lang="en-US" sz="1200"/>
                        <a:t>Ac, delivering targeted alpha radiation to eradicate microscopic residual disease.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354543">
                <a:tc>
                  <a:txBody>
                    <a:bodyPr/>
                    <a:lstStyle/>
                    <a:p>
                      <a:pPr algn="l" fontAlgn="base">
                        <a:lnSpc>
                          <a:spcPct val="100000"/>
                        </a:lnSpc>
                        <a:buNone/>
                      </a:pPr>
                      <a:r>
                        <a:rPr lang="en-US" sz="1200" b="1">
                          <a:effectLst/>
                          <a:latin typeface="+mn-lt"/>
                        </a:rPr>
                        <a:t>Clinical Trial Design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Randomized Phase III. CEACAM5-RLT vs. standard adjuvant chemotherapy (CAPOX/FOLFOX) with curative intent.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365653">
                <a:tc>
                  <a:txBody>
                    <a:bodyPr/>
                    <a:lstStyle/>
                    <a:p>
                      <a:pPr algn="l" fontAlgn="base">
                        <a:lnSpc>
                          <a:spcPct val="100000"/>
                        </a:lnSpc>
                        <a:buNone/>
                      </a:pPr>
                      <a:r>
                        <a:rPr lang="en-US" sz="1200" b="1">
                          <a:effectLst/>
                          <a:latin typeface="+mn-lt"/>
                        </a:rPr>
                        <a:t>Indication / Target Patients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Post-resection Stage II (high risk) or Stage III CRC patients who are MRD+ (ctDNA+) as measured 4-8 weeks post-op and prior to receiving adjuvant chemotherapy. </a:t>
                      </a: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8005740"/>
                  </a:ext>
                </a:extLst>
              </a:tr>
              <a:tr h="365653">
                <a:tc>
                  <a:txBody>
                    <a:bodyPr/>
                    <a:lstStyle/>
                    <a:p>
                      <a:pPr algn="l" fontAlgn="base">
                        <a:lnSpc>
                          <a:spcPct val="100000"/>
                        </a:lnSpc>
                        <a:buNone/>
                      </a:pPr>
                      <a:r>
                        <a:rPr lang="en-US" sz="1200" b="1">
                          <a:effectLst/>
                          <a:latin typeface="+mn-lt"/>
                        </a:rPr>
                        <a:t>Dosing Regimen &amp; Administration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Intravenous infusion of CEACAM5-RLT for 4 doses, 4 weeks apart, and 2 doses every six months following the initial cycle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0418151"/>
                  </a:ext>
                </a:extLst>
              </a:tr>
              <a:tr h="365653">
                <a:tc>
                  <a:txBody>
                    <a:bodyPr/>
                    <a:lstStyle/>
                    <a:p>
                      <a:pPr algn="l" fontAlgn="base">
                        <a:lnSpc>
                          <a:spcPct val="100000"/>
                        </a:lnSpc>
                        <a:buNone/>
                      </a:pPr>
                      <a:r>
                        <a:rPr lang="en-US" sz="1200" b="1">
                          <a:effectLst/>
                          <a:latin typeface="+mn-lt"/>
                        </a:rPr>
                        <a:t>Clinical Endpoints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Primary Endpoints: Disease Free Survival (DFS) at 18 or 24 months</a:t>
                      </a:r>
                    </a:p>
                    <a:p>
                      <a:pPr marL="0" lvl="0" indent="0" algn="l">
                        <a:lnSpc>
                          <a:spcPct val="100000"/>
                        </a:lnSpc>
                        <a:buFont typeface="Arial" panose="020B0604020202020204" pitchFamily="34" charset="0"/>
                        <a:buNone/>
                      </a:pPr>
                      <a:r>
                        <a:rPr lang="en-US" sz="1200">
                          <a:latin typeface="+mn-lt"/>
                        </a:rPr>
                        <a:t>Secondary &amp; Exploratory Endpoints: mDFS, ctDNA clearance, durability of ctDNA response, overall survival, etc.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416583"/>
                  </a:ext>
                </a:extLst>
              </a:tr>
              <a:tr h="219392">
                <a:tc rowSpan="6">
                  <a:txBody>
                    <a:bodyPr/>
                    <a:lstStyle/>
                    <a:p>
                      <a:pPr algn="l" fontAlgn="base">
                        <a:lnSpc>
                          <a:spcPct val="100000"/>
                        </a:lnSpc>
                        <a:buNone/>
                      </a:pPr>
                      <a:r>
                        <a:rPr lang="en-US" sz="1200" b="1">
                          <a:effectLst/>
                          <a:latin typeface="+mn-lt"/>
                        </a:rPr>
                        <a:t>Efficacy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lvl="0" algn="ctr">
                        <a:lnSpc>
                          <a:spcPct val="100000"/>
                        </a:lnSpc>
                        <a:buNone/>
                      </a:pP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baseline="0">
                          <a:effectLst/>
                          <a:latin typeface="+mn-lt"/>
                        </a:rPr>
                        <a:t>CEACAM5-RLT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a:effectLst/>
                          <a:latin typeface="+mn-lt"/>
                          <a:hlinkClick r:id="rId10"/>
                        </a:rPr>
                        <a:t>Adjuvant Chemo  (CAPOX/FOLFOX)</a:t>
                      </a:r>
                      <a:endParaRPr lang="en-US" sz="1200" b="1">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44083919"/>
                  </a:ext>
                </a:extLst>
              </a:tr>
              <a:tr h="365653">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Dosing Schedule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See above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3-6 </a:t>
                      </a:r>
                      <a:r>
                        <a:rPr lang="en-US" sz="1200" err="1">
                          <a:effectLst/>
                          <a:latin typeface="+mn-lt"/>
                        </a:rPr>
                        <a:t>mo</a:t>
                      </a:r>
                      <a:r>
                        <a:rPr lang="en-US" sz="1200">
                          <a:effectLst/>
                          <a:latin typeface="+mn-lt"/>
                        </a:rPr>
                        <a:t> of standard regimen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053593"/>
                  </a:ext>
                </a:extLst>
              </a:tr>
              <a:tr h="219392">
                <a:tc vMerge="1">
                  <a:txBody>
                    <a:bodyPr/>
                    <a:lstStyle/>
                    <a:p>
                      <a:endParaRPr lang="en-US"/>
                    </a:p>
                  </a:txBody>
                  <a:tcPr/>
                </a:tc>
                <a:tc>
                  <a:txBody>
                    <a:bodyPr/>
                    <a:lstStyle/>
                    <a:p>
                      <a:pPr lvl="0" algn="ctr">
                        <a:lnSpc>
                          <a:spcPct val="100000"/>
                        </a:lnSpc>
                        <a:buNone/>
                      </a:pPr>
                      <a:r>
                        <a:rPr lang="en-US" sz="1200">
                          <a:latin typeface="+mn-lt"/>
                        </a:rPr>
                        <a:t>DFS (18 </a:t>
                      </a:r>
                      <a:r>
                        <a:rPr lang="en-US" sz="1200" err="1">
                          <a:latin typeface="+mn-lt"/>
                        </a:rPr>
                        <a:t>mo</a:t>
                      </a:r>
                      <a:r>
                        <a:rPr lang="en-US" sz="1200">
                          <a:latin typeface="+mn-lt"/>
                        </a:rPr>
                        <a: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&gt;80%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62%</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260562"/>
                  </a:ext>
                </a:extLst>
              </a:tr>
              <a:tr h="219392">
                <a:tc vMerge="1">
                  <a:txBody>
                    <a:bodyPr/>
                    <a:lstStyle/>
                    <a:p>
                      <a:endParaRPr lang="en-US"/>
                    </a:p>
                  </a:txBody>
                  <a:tcPr/>
                </a:tc>
                <a:tc>
                  <a:txBody>
                    <a:bodyPr/>
                    <a:lstStyle/>
                    <a:p>
                      <a:pPr lvl="0" algn="ctr">
                        <a:lnSpc>
                          <a:spcPct val="100000"/>
                        </a:lnSpc>
                        <a:buNone/>
                      </a:pPr>
                      <a:r>
                        <a:rPr lang="en-US" sz="1200" err="1">
                          <a:latin typeface="+mn-lt"/>
                        </a:rPr>
                        <a:t>mDFS</a:t>
                      </a: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&gt;18 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12 </a:t>
                      </a:r>
                      <a:r>
                        <a:rPr lang="en-US" sz="1200" err="1">
                          <a:effectLst/>
                          <a:latin typeface="+mn-lt"/>
                        </a:rPr>
                        <a:t>mo</a:t>
                      </a:r>
                      <a:endParaRPr lang="en-US" sz="1200">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0510602"/>
                  </a:ext>
                </a:extLst>
              </a:tr>
              <a:tr h="219392">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ctDNA clearance (&gt;18 </a:t>
                      </a:r>
                      <a:r>
                        <a:rPr lang="en-US" sz="1200" err="1">
                          <a:latin typeface="+mn-lt"/>
                        </a:rPr>
                        <a:t>mo</a:t>
                      </a:r>
                      <a:r>
                        <a:rPr lang="en-US" sz="1200">
                          <a:latin typeface="+mn-lt"/>
                        </a:rPr>
                        <a: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&gt;60%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37% (“sustained clearance”)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55538"/>
                  </a:ext>
                </a:extLst>
              </a:tr>
              <a:tr h="219392">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mn-lt"/>
                        </a:rPr>
                        <a:t>ctDNA clearance (6 </a:t>
                      </a:r>
                      <a:r>
                        <a:rPr lang="en-US" sz="1200" err="1">
                          <a:latin typeface="+mn-lt"/>
                        </a:rPr>
                        <a:t>mo</a:t>
                      </a:r>
                      <a:r>
                        <a:rPr lang="en-US" sz="1200">
                          <a:latin typeface="+mn-lt"/>
                        </a:rPr>
                        <a:t>)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latin typeface="+mn-lt"/>
                        </a:rPr>
                        <a:t>&gt;75%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68%</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108569"/>
                  </a:ext>
                </a:extLst>
              </a:tr>
              <a:tr h="921812">
                <a:tc>
                  <a:txBody>
                    <a:bodyPr/>
                    <a:lstStyle/>
                    <a:p>
                      <a:pPr algn="l" fontAlgn="base">
                        <a:lnSpc>
                          <a:spcPct val="100000"/>
                        </a:lnSpc>
                        <a:buNone/>
                      </a:pPr>
                      <a:r>
                        <a:rPr lang="en-US" sz="1200" b="1">
                          <a:effectLst/>
                          <a:latin typeface="+mn-lt"/>
                        </a:rPr>
                        <a:t>Safety / Tolerability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lvl="0" indent="0" algn="ctr">
                        <a:lnSpc>
                          <a:spcPct val="100000"/>
                        </a:lnSpc>
                        <a:buNone/>
                      </a:pPr>
                      <a:r>
                        <a:rPr lang="en-US" sz="1200" b="0" i="0" u="none" strike="noStrike" baseline="0" noProof="0">
                          <a:solidFill>
                            <a:srgbClr val="000000"/>
                          </a:solidFill>
                          <a:latin typeface="Funnel Sans"/>
                        </a:rPr>
                        <a:t>Grade ≥3 TEAEs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baseline="0" noProof="0">
                          <a:solidFill>
                            <a:srgbClr val="000000"/>
                          </a:solidFill>
                          <a:latin typeface="Funnel Sans"/>
                        </a:rPr>
                        <a:t>Neuropathy risk </a:t>
                      </a:r>
                      <a:endParaRPr lang="en-US" sz="1200" b="0" i="0" u="none" strike="noStrike" baseline="0" noProof="0">
                        <a:solidFill>
                          <a:srgbClr val="000000"/>
                        </a:solidFill>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&lt;30%</a:t>
                      </a:r>
                    </a:p>
                    <a:p>
                      <a:pPr lvl="0" algn="ctr">
                        <a:lnSpc>
                          <a:spcPct val="100000"/>
                        </a:lnSpc>
                        <a:buNone/>
                      </a:pPr>
                      <a:r>
                        <a:rPr lang="en-US" sz="1200" baseline="0">
                          <a:effectLst/>
                          <a:latin typeface="+mn-lt"/>
                        </a:rPr>
                        <a:t>Minimal/none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a:effectLst/>
                          <a:latin typeface="+mn-lt"/>
                        </a:rPr>
                        <a:t>50-60%</a:t>
                      </a:r>
                    </a:p>
                    <a:p>
                      <a:pPr lvl="0" algn="ctr">
                        <a:lnSpc>
                          <a:spcPct val="100000"/>
                        </a:lnSpc>
                        <a:buNone/>
                      </a:pPr>
                      <a:r>
                        <a:rPr lang="en-US" sz="1200">
                          <a:effectLst/>
                          <a:latin typeface="+mn-lt"/>
                        </a:rPr>
                        <a:t>17-48%</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3364161"/>
                  </a:ext>
                </a:extLst>
              </a:tr>
            </a:tbl>
          </a:graphicData>
        </a:graphic>
      </p:graphicFrame>
      <p:sp>
        <p:nvSpPr>
          <p:cNvPr id="3" name="Shape 1">
            <a:extLst>
              <a:ext uri="{FF2B5EF4-FFF2-40B4-BE49-F238E27FC236}">
                <a16:creationId xmlns:a16="http://schemas.microsoft.com/office/drawing/2014/main" id="{AD804EB2-A6BC-85F2-57B3-5C0FF77CC044}"/>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 name="TextBox 1">
            <a:extLst>
              <a:ext uri="{FF2B5EF4-FFF2-40B4-BE49-F238E27FC236}">
                <a16:creationId xmlns:a16="http://schemas.microsoft.com/office/drawing/2014/main" id="{19EEF130-07E2-5249-032C-863366B07C2B}"/>
              </a:ext>
            </a:extLst>
          </p:cNvPr>
          <p:cNvSpPr txBox="1"/>
          <p:nvPr/>
        </p:nvSpPr>
        <p:spPr>
          <a:xfrm>
            <a:off x="0" y="6581001"/>
            <a:ext cx="10536005" cy="55399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Funnel Sans"/>
                <a:ea typeface="+mn-ea"/>
                <a:cs typeface="+mn-cs"/>
                <a:hlinkClick r:id="rId11">
                  <a:extLst>
                    <a:ext uri="{A12FA001-AC4F-418D-AE19-62706E023703}">
                      <ahyp:hlinkClr xmlns:ahyp="http://schemas.microsoft.com/office/drawing/2018/hyperlinkcolor" val="tx"/>
                    </a:ext>
                  </a:extLst>
                </a:hlinkClick>
              </a:rPr>
              <a:t>Sources:</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12"/>
              </a:rPr>
              <a:t>Nakamura Nature Med 2024</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13"/>
              </a:rPr>
              <a:t>Kotani Nature Med 2023</a:t>
            </a:r>
            <a:r>
              <a:rPr kumimoji="0" lang="en-GB" sz="1000" b="0" i="0" u="none" strike="noStrike" kern="1200" cap="none" spc="0" normalizeH="0" baseline="0" noProof="0">
                <a:ln>
                  <a:noFill/>
                </a:ln>
                <a:solidFill>
                  <a:prstClr val="black"/>
                </a:solidFill>
                <a:effectLst/>
                <a:uLnTx/>
                <a:uFillTx/>
                <a:latin typeface="Funnel Sans"/>
                <a:ea typeface="+mn-lt"/>
                <a:cs typeface="+mn-lt"/>
              </a:rPr>
              <a:t>, </a:t>
            </a:r>
            <a:r>
              <a:rPr kumimoji="0" lang="en-GB" sz="1000" b="0" i="0" u="none" strike="noStrike" kern="1200" cap="none" spc="0" normalizeH="0" baseline="0" noProof="0" err="1">
                <a:ln>
                  <a:noFill/>
                </a:ln>
                <a:solidFill>
                  <a:prstClr val="black"/>
                </a:solidFill>
                <a:effectLst/>
                <a:uLnTx/>
                <a:uFillTx/>
                <a:latin typeface="Funnel Sans"/>
                <a:ea typeface="+mn-lt"/>
                <a:cs typeface="+mn-lt"/>
                <a:hlinkClick r:id="rId14"/>
              </a:rPr>
              <a:t>Grothey</a:t>
            </a:r>
            <a:r>
              <a:rPr kumimoji="0" lang="en-GB" sz="1000" b="0" i="0" u="none" strike="noStrike" kern="1200" cap="none" spc="0" normalizeH="0" baseline="0" noProof="0">
                <a:ln>
                  <a:noFill/>
                </a:ln>
                <a:solidFill>
                  <a:prstClr val="black"/>
                </a:solidFill>
                <a:effectLst/>
                <a:uLnTx/>
                <a:uFillTx/>
                <a:latin typeface="Funnel Sans"/>
                <a:ea typeface="+mn-lt"/>
                <a:cs typeface="+mn-lt"/>
                <a:hlinkClick r:id="rId14"/>
              </a:rPr>
              <a:t> NEJM 2018</a:t>
            </a: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000000"/>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C00000"/>
              </a:solidFill>
              <a:effectLst/>
              <a:uLnTx/>
              <a:uFillTx/>
              <a:latin typeface="Funnel Sans"/>
              <a:ea typeface="+mn-ea"/>
              <a:cs typeface="+mn-cs"/>
            </a:endParaRPr>
          </a:p>
        </p:txBody>
      </p:sp>
    </p:spTree>
    <p:extLst>
      <p:ext uri="{BB962C8B-B14F-4D97-AF65-F5344CB8AC3E}">
        <p14:creationId xmlns:p14="http://schemas.microsoft.com/office/powerpoint/2010/main" val="2874473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CBA6-D0F4-9614-712D-EA5181C4100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04254A-357D-4FC6-34A6-19D8E5566191}"/>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Shape 19">
            <a:extLst>
              <a:ext uri="{FF2B5EF4-FFF2-40B4-BE49-F238E27FC236}">
                <a16:creationId xmlns:a16="http://schemas.microsoft.com/office/drawing/2014/main" id="{872844FA-7C34-9C45-3D1C-C7CA63359202}"/>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4" name="Image 3" descr="preencoded.png">
            <a:extLst>
              <a:ext uri="{FF2B5EF4-FFF2-40B4-BE49-F238E27FC236}">
                <a16:creationId xmlns:a16="http://schemas.microsoft.com/office/drawing/2014/main" id="{2C1AF53F-A390-B80C-5D5B-43690892F407}"/>
              </a:ext>
            </a:extLst>
          </p:cNvPr>
          <p:cNvPicPr>
            <a:picLocks noChangeAspect="1"/>
          </p:cNvPicPr>
          <p:nvPr/>
        </p:nvPicPr>
        <p:blipFill>
          <a:blip r:embed="rId3"/>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7EA7F889-DDF8-AF13-CAAC-7EE8FB7F206F}"/>
              </a:ext>
            </a:extLst>
          </p:cNvPr>
          <p:cNvPicPr>
            <a:picLocks noChangeAspect="1"/>
          </p:cNvPicPr>
          <p:nvPr/>
        </p:nvPicPr>
        <p:blipFill>
          <a:blip r:embed="rId4"/>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451CF5F1-3A4C-336E-F99F-5CAED79ABDB7}"/>
              </a:ext>
            </a:extLst>
          </p:cNvPr>
          <p:cNvPicPr>
            <a:picLocks noChangeAspect="1"/>
          </p:cNvPicPr>
          <p:nvPr/>
        </p:nvPicPr>
        <p:blipFill>
          <a:blip r:embed="rId4"/>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27AC46AB-CD50-90F1-1DB9-61CAA64ACF89}"/>
              </a:ext>
            </a:extLst>
          </p:cNvPr>
          <p:cNvPicPr>
            <a:picLocks noChangeAspect="1"/>
          </p:cNvPicPr>
          <p:nvPr/>
        </p:nvPicPr>
        <p:blipFill>
          <a:blip r:embed="rId4"/>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E872481F-2F74-DA22-C525-69416FA5BC93}"/>
              </a:ext>
            </a:extLst>
          </p:cNvPr>
          <p:cNvPicPr>
            <a:picLocks noChangeAspect="1"/>
          </p:cNvPicPr>
          <p:nvPr/>
        </p:nvPicPr>
        <p:blipFill>
          <a:blip r:embed="rId5"/>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BF99BF5D-B6ED-4E0C-7135-2694139600EC}"/>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8F46F500-9FBD-3A1F-A430-26E7B9FFF1BF}"/>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AAE744ED-50AB-B8CE-F9E7-DD4D0DE09E95}"/>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2E391298-E79C-759D-AA6C-0F0C658E7ED9}"/>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98E2B7FC-EE10-F421-2712-730AF07AE976}"/>
              </a:ext>
            </a:extLst>
          </p:cNvPr>
          <p:cNvPicPr>
            <a:picLocks noChangeAspect="1"/>
          </p:cNvPicPr>
          <p:nvPr/>
        </p:nvPicPr>
        <p:blipFill>
          <a:blip r:embed="rId10"/>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E80AFEC5-FA27-37D4-FECB-9902714AEF32}"/>
              </a:ext>
            </a:extLst>
          </p:cNvPr>
          <p:cNvSpPr/>
          <p:nvPr/>
        </p:nvSpPr>
        <p:spPr>
          <a:xfrm>
            <a:off x="253999" y="635564"/>
            <a:ext cx="11718926"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Funnel Sans"/>
                <a:ea typeface="+mn-ea"/>
                <a:cs typeface="+mn-cs"/>
              </a:rPr>
              <a:t>Sego’s approach to developing a CEACAM5 peptide RLT</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16" name="Shape 1">
            <a:extLst>
              <a:ext uri="{FF2B5EF4-FFF2-40B4-BE49-F238E27FC236}">
                <a16:creationId xmlns:a16="http://schemas.microsoft.com/office/drawing/2014/main" id="{F5BC18A1-941A-DD5B-124E-3850D384E6E0}"/>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TextBox 16">
            <a:extLst>
              <a:ext uri="{FF2B5EF4-FFF2-40B4-BE49-F238E27FC236}">
                <a16:creationId xmlns:a16="http://schemas.microsoft.com/office/drawing/2014/main" id="{03DB032E-59EA-7AB9-0A29-2808872CBB17}"/>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33" name="Rectangle: Rounded Corners 32">
            <a:extLst>
              <a:ext uri="{FF2B5EF4-FFF2-40B4-BE49-F238E27FC236}">
                <a16:creationId xmlns:a16="http://schemas.microsoft.com/office/drawing/2014/main" id="{474259DB-8B97-1E99-8036-19060A7A275B}"/>
              </a:ext>
            </a:extLst>
          </p:cNvPr>
          <p:cNvSpPr/>
          <p:nvPr/>
        </p:nvSpPr>
        <p:spPr>
          <a:xfrm>
            <a:off x="10880036" y="88490"/>
            <a:ext cx="1193978"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Opportunity</a:t>
            </a:r>
          </a:p>
        </p:txBody>
      </p:sp>
      <p:graphicFrame>
        <p:nvGraphicFramePr>
          <p:cNvPr id="15" name="Table 14">
            <a:extLst>
              <a:ext uri="{FF2B5EF4-FFF2-40B4-BE49-F238E27FC236}">
                <a16:creationId xmlns:a16="http://schemas.microsoft.com/office/drawing/2014/main" id="{4E87077A-B4A6-7AAD-806C-ABF2CF0C8F99}"/>
              </a:ext>
            </a:extLst>
          </p:cNvPr>
          <p:cNvGraphicFramePr>
            <a:graphicFrameLocks noGrp="1"/>
          </p:cNvGraphicFramePr>
          <p:nvPr/>
        </p:nvGraphicFramePr>
        <p:xfrm>
          <a:off x="253999" y="1639842"/>
          <a:ext cx="11473275" cy="4666362"/>
        </p:xfrm>
        <a:graphic>
          <a:graphicData uri="http://schemas.openxmlformats.org/drawingml/2006/table">
            <a:tbl>
              <a:tblPr/>
              <a:tblGrid>
                <a:gridCol w="1615515">
                  <a:extLst>
                    <a:ext uri="{9D8B030D-6E8A-4147-A177-3AD203B41FA5}">
                      <a16:colId xmlns:a16="http://schemas.microsoft.com/office/drawing/2014/main" val="4068440047"/>
                    </a:ext>
                  </a:extLst>
                </a:gridCol>
                <a:gridCol w="4928880">
                  <a:extLst>
                    <a:ext uri="{9D8B030D-6E8A-4147-A177-3AD203B41FA5}">
                      <a16:colId xmlns:a16="http://schemas.microsoft.com/office/drawing/2014/main" val="3956450263"/>
                    </a:ext>
                  </a:extLst>
                </a:gridCol>
                <a:gridCol w="4928880">
                  <a:extLst>
                    <a:ext uri="{9D8B030D-6E8A-4147-A177-3AD203B41FA5}">
                      <a16:colId xmlns:a16="http://schemas.microsoft.com/office/drawing/2014/main" val="1773925537"/>
                    </a:ext>
                  </a:extLst>
                </a:gridCol>
              </a:tblGrid>
              <a:tr h="402273">
                <a:tc>
                  <a:txBody>
                    <a:bodyPr/>
                    <a:lstStyle/>
                    <a:p>
                      <a:pPr>
                        <a:buNone/>
                      </a:pPr>
                      <a:endParaRPr lang="en-US" sz="1400"/>
                    </a:p>
                  </a:txBody>
                  <a:tcPr anchor="ctr">
                    <a:lnL>
                      <a:noFill/>
                    </a:lnL>
                    <a:lnR>
                      <a:noFill/>
                    </a:lnR>
                    <a:lnT>
                      <a:noFill/>
                    </a:lnT>
                    <a:lnB>
                      <a:noFill/>
                    </a:lnB>
                    <a:noFill/>
                  </a:tcPr>
                </a:tc>
                <a:tc gridSpan="2">
                  <a:txBody>
                    <a:bodyPr/>
                    <a:lstStyle/>
                    <a:p>
                      <a:pPr algn="l">
                        <a:buNone/>
                      </a:pPr>
                      <a:r>
                        <a:rPr lang="en-US" sz="1400" b="1">
                          <a:solidFill>
                            <a:schemeClr val="bg1"/>
                          </a:solidFill>
                        </a:rPr>
                        <a:t>Sego’s Approach</a:t>
                      </a:r>
                    </a:p>
                  </a:txBody>
                  <a:tcPr anchor="ctr">
                    <a:lnL w="28575" cap="flat" cmpd="sng" algn="ctr">
                      <a:no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tc hMerge="1">
                  <a:txBody>
                    <a:bodyPr/>
                    <a:lstStyle/>
                    <a:p>
                      <a:pPr algn="ctr">
                        <a:buNone/>
                      </a:pPr>
                      <a:endParaRPr lang="en-US" sz="1400" b="1">
                        <a:solidFill>
                          <a:schemeClr val="bg1"/>
                        </a:solidFill>
                      </a:endParaRPr>
                    </a:p>
                  </a:txBody>
                  <a:tcPr anchor="ctr">
                    <a:lnL w="28575" cap="flat" cmpd="sng" algn="ctr">
                      <a:no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extLst>
                  <a:ext uri="{0D108BD9-81ED-4DB2-BD59-A6C34878D82A}">
                    <a16:rowId xmlns:a16="http://schemas.microsoft.com/office/drawing/2014/main" val="1090321364"/>
                  </a:ext>
                </a:extLst>
              </a:tr>
              <a:tr h="683864">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solidFill>
                            <a:schemeClr val="tx1"/>
                          </a:solidFill>
                        </a:rPr>
                        <a:t>Cyclic peptide targeting the </a:t>
                      </a:r>
                    </a:p>
                    <a:p>
                      <a:pPr algn="ctr">
                        <a:buNone/>
                      </a:pPr>
                      <a:r>
                        <a:rPr lang="en-US" sz="1400" b="1">
                          <a:solidFill>
                            <a:schemeClr val="tx1"/>
                          </a:solidFill>
                        </a:rPr>
                        <a:t>membrane-proximal domains of CEACAM5</a:t>
                      </a: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a:solidFill>
                            <a:schemeClr val="tx1"/>
                          </a:solidFill>
                        </a:rPr>
                        <a:t>Bis-CEACAM5 Approach</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extLst>
                  <a:ext uri="{0D108BD9-81ED-4DB2-BD59-A6C34878D82A}">
                    <a16:rowId xmlns:a16="http://schemas.microsoft.com/office/drawing/2014/main" val="2780418511"/>
                  </a:ext>
                </a:extLst>
              </a:tr>
              <a:tr h="683864">
                <a:tc>
                  <a:txBody>
                    <a:bodyPr/>
                    <a:lstStyle/>
                    <a:p>
                      <a:pPr>
                        <a:buNone/>
                      </a:pPr>
                      <a:r>
                        <a:rPr lang="en-US" sz="1400" b="1"/>
                        <a:t>Modality</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l">
                        <a:buNone/>
                      </a:pPr>
                      <a:r>
                        <a:rPr lang="en-US" sz="1400" b="0"/>
                        <a:t>Cyclic peptide targeted to the A3-B3 domains of CEACAM5 on the surface of tumor cells</a:t>
                      </a:r>
                    </a:p>
                  </a:txBody>
                  <a:tcPr anchor="ctr">
                    <a:lnL>
                      <a:noFill/>
                    </a:lnL>
                    <a:lnR>
                      <a:noFill/>
                    </a:lnR>
                    <a:lnT w="28575"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solidFill>
                            <a:srgbClr val="000000"/>
                          </a:solidFill>
                          <a:effectLst/>
                          <a:latin typeface="+mn-lt"/>
                        </a:rPr>
                        <a:t>Peptide dimer (2x peptides for CEACAM5)</a:t>
                      </a:r>
                      <a:endParaRPr lang="en-US" sz="1400">
                        <a:effectLst/>
                      </a:endParaRPr>
                    </a:p>
                  </a:txBody>
                  <a:tcPr anchor="ctr">
                    <a:lnL>
                      <a:noFill/>
                    </a:lnL>
                    <a:lnR>
                      <a:noFill/>
                    </a:lnR>
                    <a:lnT w="28575"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11685032"/>
                  </a:ext>
                </a:extLst>
              </a:tr>
              <a:tr h="402273">
                <a:tc>
                  <a:txBody>
                    <a:bodyPr/>
                    <a:lstStyle/>
                    <a:p>
                      <a:pPr>
                        <a:buNone/>
                      </a:pPr>
                      <a:r>
                        <a:rPr lang="en-US" sz="1400" b="1"/>
                        <a:t>Isotope/Payload</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l">
                        <a:buNone/>
                      </a:pPr>
                      <a:r>
                        <a:rPr lang="en-US" sz="1400" baseline="30000"/>
                        <a:t>225</a:t>
                      </a:r>
                      <a:r>
                        <a:rPr lang="en-US" sz="1400"/>
                        <a:t>Ac or </a:t>
                      </a:r>
                      <a:r>
                        <a:rPr lang="en-US" sz="1400" baseline="30000"/>
                        <a:t>161</a:t>
                      </a:r>
                      <a:r>
                        <a:rPr lang="en-US" sz="1400"/>
                        <a:t>Tb </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30000" noProof="0">
                          <a:ln>
                            <a:noFill/>
                          </a:ln>
                          <a:solidFill>
                            <a:srgbClr val="000000"/>
                          </a:solidFill>
                          <a:effectLst/>
                          <a:uLnTx/>
                          <a:uFillTx/>
                          <a:latin typeface="+mn-lt"/>
                          <a:ea typeface="+mn-ea"/>
                          <a:cs typeface="+mn-cs"/>
                        </a:rPr>
                        <a:t>225</a:t>
                      </a:r>
                      <a:r>
                        <a:rPr kumimoji="0" lang="en-US" sz="1400" b="0" i="0" u="none" strike="noStrike" kern="1200" cap="none" spc="0" normalizeH="0" baseline="0" noProof="0">
                          <a:ln>
                            <a:noFill/>
                          </a:ln>
                          <a:solidFill>
                            <a:srgbClr val="000000"/>
                          </a:solidFill>
                          <a:effectLst/>
                          <a:uLnTx/>
                          <a:uFillTx/>
                          <a:latin typeface="+mn-lt"/>
                          <a:ea typeface="+mn-ea"/>
                          <a:cs typeface="+mn-cs"/>
                        </a:rPr>
                        <a:t>Ac or </a:t>
                      </a:r>
                      <a:r>
                        <a:rPr kumimoji="0" lang="en-US" sz="1400" b="0" i="0" u="none" strike="noStrike" kern="1200" cap="none" spc="0" normalizeH="0" baseline="30000" noProof="0">
                          <a:ln>
                            <a:noFill/>
                          </a:ln>
                          <a:solidFill>
                            <a:srgbClr val="000000"/>
                          </a:solidFill>
                          <a:effectLst/>
                          <a:uLnTx/>
                          <a:uFillTx/>
                          <a:latin typeface="+mn-lt"/>
                          <a:ea typeface="+mn-ea"/>
                          <a:cs typeface="+mn-cs"/>
                        </a:rPr>
                        <a:t>161</a:t>
                      </a:r>
                      <a:r>
                        <a:rPr kumimoji="0" lang="en-US" sz="1400" b="0" i="0" u="none" strike="noStrike" kern="1200" cap="none" spc="0" normalizeH="0" baseline="0" noProof="0">
                          <a:ln>
                            <a:noFill/>
                          </a:ln>
                          <a:solidFill>
                            <a:srgbClr val="000000"/>
                          </a:solidFill>
                          <a:effectLst/>
                          <a:uLnTx/>
                          <a:uFillTx/>
                          <a:latin typeface="+mn-lt"/>
                          <a:ea typeface="+mn-ea"/>
                          <a:cs typeface="+mn-cs"/>
                        </a:rPr>
                        <a:t>Tb</a:t>
                      </a:r>
                      <a:endParaRPr kumimoji="0" lang="en-US" sz="1800" b="0" i="0" u="none" strike="noStrike" kern="1200" cap="none" spc="0" normalizeH="0" baseline="0" noProof="0">
                        <a:ln>
                          <a:noFill/>
                        </a:ln>
                        <a:solidFill>
                          <a:prstClr val="black"/>
                        </a:solidFill>
                        <a:effectLst/>
                        <a:uLnTx/>
                        <a:uFillTx/>
                        <a:latin typeface="+mn-lt"/>
                        <a:ea typeface="+mn-ea"/>
                        <a:cs typeface="+mn-cs"/>
                      </a:endParaRP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72914581"/>
                  </a:ext>
                </a:extLst>
              </a:tr>
              <a:tr h="1247044">
                <a:tc>
                  <a:txBody>
                    <a:bodyPr/>
                    <a:lstStyle/>
                    <a:p>
                      <a:pPr>
                        <a:buNone/>
                      </a:pPr>
                      <a:r>
                        <a:rPr lang="en-US" sz="1400" b="1"/>
                        <a:t>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l">
                        <a:buNone/>
                      </a:pPr>
                      <a:r>
                        <a:rPr lang="en-US" sz="1400"/>
                        <a:t>Select for internalizing peptides by targeting the A3-B3 domain or for peptides that bind CEACAM5 close to the cell surface with high affinity and low Koff.</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mn-lt"/>
                          <a:ea typeface="+mn-ea"/>
                          <a:cs typeface="+mn-cs"/>
                        </a:rPr>
                        <a:t>Cross-linking of CEACAM5 receptors on the cell surface increases internalization rate. Bivalent binding increases binding to membrane CEA (high density on cell surface) vs soluble CEA in serum.</a:t>
                      </a:r>
                      <a:endParaRPr kumimoji="0" lang="en-US" sz="1800" b="0" i="0" u="none" strike="noStrike" kern="1200" cap="none" spc="0" normalizeH="0" baseline="0" noProof="0">
                        <a:ln>
                          <a:noFill/>
                        </a:ln>
                        <a:solidFill>
                          <a:prstClr val="black"/>
                        </a:solidFill>
                        <a:effectLst/>
                        <a:uLnTx/>
                        <a:uFillTx/>
                        <a:latin typeface="+mn-lt"/>
                        <a:ea typeface="+mn-ea"/>
                        <a:cs typeface="+mn-cs"/>
                      </a:endParaRP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69339733"/>
                  </a:ext>
                </a:extLst>
              </a:tr>
              <a:tr h="1247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a:t>Advantage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CEACAM5 is selectively blood-accessible in primary and metastatic CRC but not in healthy tissue, providing a large therapeutic window.</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a:solidFill>
                            <a:srgbClr val="000000"/>
                          </a:solidFill>
                          <a:effectLst/>
                          <a:latin typeface="+mn-lt"/>
                        </a:rPr>
                        <a:t>Improved K</a:t>
                      </a:r>
                      <a:r>
                        <a:rPr lang="en-US" sz="1400" kern="1200" baseline="-25000">
                          <a:solidFill>
                            <a:srgbClr val="000000"/>
                          </a:solidFill>
                          <a:effectLst/>
                          <a:latin typeface="+mn-lt"/>
                        </a:rPr>
                        <a:t>D</a:t>
                      </a:r>
                      <a:r>
                        <a:rPr lang="en-US" sz="1400" kern="1200">
                          <a:solidFill>
                            <a:srgbClr val="000000"/>
                          </a:solidFill>
                          <a:effectLst/>
                          <a:latin typeface="+mn-lt"/>
                        </a:rPr>
                        <a:t> and tumor uptake/retention due to bis-peptide design, hypothetical better efficacy and potential lower doses required. May allow for use of lower affinity monomeric peptide.</a:t>
                      </a:r>
                      <a:endParaRPr lang="en-US" sz="1400">
                        <a:effectLst/>
                      </a:endParaRP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089596322"/>
                  </a:ext>
                </a:extLst>
              </a:tr>
            </a:tbl>
          </a:graphicData>
        </a:graphic>
      </p:graphicFrame>
    </p:spTree>
    <p:extLst>
      <p:ext uri="{BB962C8B-B14F-4D97-AF65-F5344CB8AC3E}">
        <p14:creationId xmlns:p14="http://schemas.microsoft.com/office/powerpoint/2010/main" val="2454213451"/>
      </p:ext>
    </p:extLst>
  </p:cSld>
  <p:clrMapOvr>
    <a:masterClrMapping/>
  </p:clrMapOvr>
</p:sld>
</file>

<file path=ppt/theme/theme1.xml><?xml version="1.0" encoding="utf-8"?>
<a:theme xmlns:a="http://schemas.openxmlformats.org/drawingml/2006/main" name="Becca's Sego Temp Theme">
  <a:themeElements>
    <a:clrScheme name="Becca's Sego Temp Theme">
      <a:dk1>
        <a:sysClr val="windowText" lastClr="000000"/>
      </a:dk1>
      <a:lt1>
        <a:sysClr val="window" lastClr="FFFFFF"/>
      </a:lt1>
      <a:dk2>
        <a:srgbClr val="0E2841"/>
      </a:dk2>
      <a:lt2>
        <a:srgbClr val="E8E8E8"/>
      </a:lt2>
      <a:accent1>
        <a:srgbClr val="1A4141"/>
      </a:accent1>
      <a:accent2>
        <a:srgbClr val="456464"/>
      </a:accent2>
      <a:accent3>
        <a:srgbClr val="7A9F8F"/>
      </a:accent3>
      <a:accent4>
        <a:srgbClr val="71B787"/>
      </a:accent4>
      <a:accent5>
        <a:srgbClr val="D5ED99"/>
      </a:accent5>
      <a:accent6>
        <a:srgbClr val="F3F1EF"/>
      </a:accent6>
      <a:hlink>
        <a:srgbClr val="7A9F8F"/>
      </a:hlink>
      <a:folHlink>
        <a:srgbClr val="96607D"/>
      </a:folHlink>
    </a:clrScheme>
    <a:fontScheme name="Sego Font">
      <a:majorFont>
        <a:latin typeface="Funnel Sans"/>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cca's Sego Temp Theme" id="{4A842F55-7C6A-43E5-B4AB-63AC50CBC6DB}" vid="{965FBD5D-36C6-4D68-9EF4-1748213BBE67}"/>
    </a:ext>
  </a:extLst>
</a:theme>
</file>

<file path=ppt/theme/theme2.xml><?xml version="1.0" encoding="utf-8"?>
<a:theme xmlns:a="http://schemas.openxmlformats.org/drawingml/2006/main" name="1_Office Theme">
  <a:themeElements>
    <a:clrScheme name="Office">
      <a:dk1>
        <a:srgbClr val="000000"/>
      </a:dk1>
      <a:lt1>
        <a:sysClr val="window" lastClr="FFFFFF"/>
      </a:lt1>
      <a:dk2>
        <a:srgbClr val="656670"/>
      </a:dk2>
      <a:lt2>
        <a:srgbClr val="F6F3F2"/>
      </a:lt2>
      <a:accent1>
        <a:srgbClr val="002924"/>
      </a:accent1>
      <a:accent2>
        <a:srgbClr val="B1C8B0"/>
      </a:accent2>
      <a:accent3>
        <a:srgbClr val="61896E"/>
      </a:accent3>
      <a:accent4>
        <a:srgbClr val="D5ED99"/>
      </a:accent4>
      <a:accent5>
        <a:srgbClr val="DED6D3"/>
      </a:accent5>
      <a:accent6>
        <a:srgbClr val="8F1A43"/>
      </a:accent6>
      <a:hlink>
        <a:srgbClr val="002924"/>
      </a:hlink>
      <a:folHlink>
        <a:srgbClr val="B1C8B0"/>
      </a:folHlink>
    </a:clrScheme>
    <a:fontScheme name="Sego">
      <a:majorFont>
        <a:latin typeface="Funnel Sans Light"/>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smtClean="0">
            <a:solidFill>
              <a:srgbClr val="FF0000"/>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8B34D35-AE09-4A74-AEDE-D65A815365B3}">
  <we:reference id="wa200010001" version="1.0.0.1" store="en-US" storeType="OMEX"/>
  <we:alternateReferences>
    <we:reference id="WA200010001" version="1.0.0.1" store="" storeType="OMEX"/>
  </we:alternateReferences>
  <we:properties>
    <we:property name="claude.fileId" value="&quot;083361b3-3d6b-420e-9615-bc7f5239a3d2&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b41257d-d9f1-45d2-83fb-79c2dd89ff18" xsi:nil="true"/>
    <lcf76f155ced4ddcb4097134ff3c332f xmlns="883290e6-3317-4731-a933-606cdb1c21ba">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CA77038FD8B0E4290AC2C78A81B96B0" ma:contentTypeVersion="10" ma:contentTypeDescription="Create a new document." ma:contentTypeScope="" ma:versionID="116237f45c3876c638621d484ff54e8e">
  <xsd:schema xmlns:xsd="http://www.w3.org/2001/XMLSchema" xmlns:xs="http://www.w3.org/2001/XMLSchema" xmlns:p="http://schemas.microsoft.com/office/2006/metadata/properties" xmlns:ns2="883290e6-3317-4731-a933-606cdb1c21ba" xmlns:ns3="9b41257d-d9f1-45d2-83fb-79c2dd89ff18" targetNamespace="http://schemas.microsoft.com/office/2006/metadata/properties" ma:root="true" ma:fieldsID="9cd05f4572e11dc9c3dcb5915d0bb547" ns2:_="" ns3:_="">
    <xsd:import namespace="883290e6-3317-4731-a933-606cdb1c21ba"/>
    <xsd:import namespace="9b41257d-d9f1-45d2-83fb-79c2dd89ff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3290e6-3317-4731-a933-606cdb1c21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5e21b9-9a91-448a-b7da-1ab90cd0a9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1257d-d9f1-45d2-83fb-79c2dd89ff1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6a1f0-8357-4b64-86fd-fd0a5fd73875}" ma:internalName="TaxCatchAll" ma:showField="CatchAllData" ma:web="9b41257d-d9f1-45d2-83fb-79c2dd89ff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E9FF758-344D-421C-A49C-FC805C7DF5AB}">
  <ds:schemaRefs>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http://purl.org/dc/dcmitype/"/>
    <ds:schemaRef ds:uri="http://www.w3.org/XML/1998/namespace"/>
    <ds:schemaRef ds:uri="9b41257d-d9f1-45d2-83fb-79c2dd89ff18"/>
    <ds:schemaRef ds:uri="883290e6-3317-4731-a933-606cdb1c21ba"/>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7E9E382A-7DE4-493B-8E13-4E35F96422B6}">
  <ds:schemaRefs>
    <ds:schemaRef ds:uri="http://schemas.microsoft.com/sharepoint/v3/contenttype/forms"/>
  </ds:schemaRefs>
</ds:datastoreItem>
</file>

<file path=customXml/itemProps3.xml><?xml version="1.0" encoding="utf-8"?>
<ds:datastoreItem xmlns:ds="http://schemas.openxmlformats.org/officeDocument/2006/customXml" ds:itemID="{541391CF-8025-42D4-BFBA-BEE6A33E7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3290e6-3317-4731-a933-606cdb1c21ba"/>
    <ds:schemaRef ds:uri="9b41257d-d9f1-45d2-83fb-79c2dd89ff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224</TotalTime>
  <Words>2384</Words>
  <Application>Microsoft Macintosh PowerPoint</Application>
  <PresentationFormat>Widescreen</PresentationFormat>
  <Paragraphs>301</Paragraphs>
  <Slides>12</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Arial</vt:lpstr>
      <vt:lpstr>Funnel Sans</vt:lpstr>
      <vt:lpstr>Funnel Sans Light</vt:lpstr>
      <vt:lpstr>Funnel Sans Medium</vt:lpstr>
      <vt:lpstr>Times New Roman</vt:lpstr>
      <vt:lpstr>Becca's Sego Temp Theme</vt:lpstr>
      <vt:lpstr>1_Office Theme</vt:lpstr>
      <vt:lpstr>CEACAM5 Target Evaluation</vt:lpstr>
      <vt:lpstr>CRC: CEACAM5 accessibility is tumor-selective and validated by human imaging</vt:lpstr>
      <vt:lpstr>PowerPoint Presentation</vt:lpstr>
      <vt:lpstr>CEACAM5 Details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Becca Levin</dc:creator>
  <cp:lastModifiedBy>Kirstin Zettlitz</cp:lastModifiedBy>
  <cp:revision>4</cp:revision>
  <dcterms:created xsi:type="dcterms:W3CDTF">2026-04-07T18:03:32Z</dcterms:created>
  <dcterms:modified xsi:type="dcterms:W3CDTF">2026-04-08T16:22:50Z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0x0101006CA77038FD8B0E4290AC2C78A81B96B0</vt:lpwstr>
  </property>
  <property fmtid="{D5CDD505-2E9C-101B-9397-08002B2CF9AE}" pid="3" name="MediaServiceImageTags">
    <vt:lpwstr/>
  </property>
</Properties>
</file>