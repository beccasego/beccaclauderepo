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3A_C5390523.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7" r:id="rId5"/>
  </p:sldMasterIdLst>
  <p:notesMasterIdLst>
    <p:notesMasterId r:id="rId17"/>
  </p:notesMasterIdLst>
  <p:sldIdLst>
    <p:sldId id="256" r:id="rId6"/>
    <p:sldId id="583" r:id="rId7"/>
    <p:sldId id="284" r:id="rId8"/>
    <p:sldId id="533" r:id="rId9"/>
    <p:sldId id="314" r:id="rId10"/>
    <p:sldId id="260" r:id="rId11"/>
    <p:sldId id="315" r:id="rId12"/>
    <p:sldId id="316" r:id="rId13"/>
    <p:sldId id="295" r:id="rId14"/>
    <p:sldId id="311" r:id="rId15"/>
    <p:sldId id="29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2CCED9-E761-A789-87FA-8A8BE5E75A61}" name="Greg Mullen" initials="GM" userId="S::gmullen@segotx.com::15d9f696-28c4-4111-b985-4ee728509f13" providerId="AD"/>
  <p188:author id="{3A8A40E7-F32A-5E2C-0845-7C9503997434}" name="Greg Mullen" initials="GM" userId="S::GMullen@segotx.com::15d9f696-28c4-4111-b985-4ee728509f1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576252-AB82-43A3-B6CA-8F38C6124897}" v="6" dt="2026-04-07T17:07:34.225"/>
    <p1510:client id="{7AF828C6-ADA3-26C5-E0A6-BA0236FC75E3}" v="2" dt="2026-04-08T11:12:39.062"/>
    <p1510:client id="{D1DC0719-3074-1C26-80FA-DFDDF39B2BCD}" v="62" dt="2026-04-08T16:40:00.0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898" autoAdjust="0"/>
  </p:normalViewPr>
  <p:slideViewPr>
    <p:cSldViewPr snapToGrid="0">
      <p:cViewPr varScale="1">
        <p:scale>
          <a:sx n="85" d="100"/>
          <a:sy n="85" d="100"/>
        </p:scale>
        <p:origin x="744"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8/10/relationships/authors" Targe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5/10/relationships/revisionInfo" Target="revisionInfo.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cca Levin" userId="08c76d0b-4d1f-44f5-8508-8653b2f54768" providerId="ADAL" clId="{5AA3B8CE-AFEA-44FA-ACCD-448CA31DFD0A}"/>
    <pc:docChg chg="undo custSel addSld delSld modSld">
      <pc:chgData name="Becca Levin" userId="08c76d0b-4d1f-44f5-8508-8653b2f54768" providerId="ADAL" clId="{5AA3B8CE-AFEA-44FA-ACCD-448CA31DFD0A}" dt="2026-04-07T17:07:37.018" v="10" actId="478"/>
      <pc:docMkLst>
        <pc:docMk/>
      </pc:docMkLst>
      <pc:sldChg chg="add">
        <pc:chgData name="Becca Levin" userId="08c76d0b-4d1f-44f5-8508-8653b2f54768" providerId="ADAL" clId="{5AA3B8CE-AFEA-44FA-ACCD-448CA31DFD0A}" dt="2026-04-07T17:06:54.054" v="0"/>
        <pc:sldMkLst>
          <pc:docMk/>
          <pc:sldMk cId="2505649365" sldId="256"/>
        </pc:sldMkLst>
      </pc:sldChg>
      <pc:sldChg chg="add">
        <pc:chgData name="Becca Levin" userId="08c76d0b-4d1f-44f5-8508-8653b2f54768" providerId="ADAL" clId="{5AA3B8CE-AFEA-44FA-ACCD-448CA31DFD0A}" dt="2026-04-07T17:06:54.054" v="0"/>
        <pc:sldMkLst>
          <pc:docMk/>
          <pc:sldMk cId="3579143205" sldId="260"/>
        </pc:sldMkLst>
      </pc:sldChg>
      <pc:sldChg chg="add">
        <pc:chgData name="Becca Levin" userId="08c76d0b-4d1f-44f5-8508-8653b2f54768" providerId="ADAL" clId="{5AA3B8CE-AFEA-44FA-ACCD-448CA31DFD0A}" dt="2026-04-07T17:06:54.054" v="0"/>
        <pc:sldMkLst>
          <pc:docMk/>
          <pc:sldMk cId="567022942" sldId="284"/>
        </pc:sldMkLst>
      </pc:sldChg>
      <pc:sldChg chg="add">
        <pc:chgData name="Becca Levin" userId="08c76d0b-4d1f-44f5-8508-8653b2f54768" providerId="ADAL" clId="{5AA3B8CE-AFEA-44FA-ACCD-448CA31DFD0A}" dt="2026-04-07T17:06:54.054" v="0"/>
        <pc:sldMkLst>
          <pc:docMk/>
          <pc:sldMk cId="4008063750" sldId="295"/>
        </pc:sldMkLst>
      </pc:sldChg>
      <pc:sldChg chg="add">
        <pc:chgData name="Becca Levin" userId="08c76d0b-4d1f-44f5-8508-8653b2f54768" providerId="ADAL" clId="{5AA3B8CE-AFEA-44FA-ACCD-448CA31DFD0A}" dt="2026-04-07T17:06:54.054" v="0"/>
        <pc:sldMkLst>
          <pc:docMk/>
          <pc:sldMk cId="316945552" sldId="297"/>
        </pc:sldMkLst>
      </pc:sldChg>
      <pc:sldChg chg="add">
        <pc:chgData name="Becca Levin" userId="08c76d0b-4d1f-44f5-8508-8653b2f54768" providerId="ADAL" clId="{5AA3B8CE-AFEA-44FA-ACCD-448CA31DFD0A}" dt="2026-04-07T17:06:54.054" v="0"/>
        <pc:sldMkLst>
          <pc:docMk/>
          <pc:sldMk cId="362108479" sldId="311"/>
        </pc:sldMkLst>
      </pc:sldChg>
      <pc:sldChg chg="add">
        <pc:chgData name="Becca Levin" userId="08c76d0b-4d1f-44f5-8508-8653b2f54768" providerId="ADAL" clId="{5AA3B8CE-AFEA-44FA-ACCD-448CA31DFD0A}" dt="2026-04-07T17:06:54.054" v="0"/>
        <pc:sldMkLst>
          <pc:docMk/>
          <pc:sldMk cId="3308848419" sldId="314"/>
        </pc:sldMkLst>
      </pc:sldChg>
      <pc:sldChg chg="add">
        <pc:chgData name="Becca Levin" userId="08c76d0b-4d1f-44f5-8508-8653b2f54768" providerId="ADAL" clId="{5AA3B8CE-AFEA-44FA-ACCD-448CA31DFD0A}" dt="2026-04-07T17:06:54.054" v="0"/>
        <pc:sldMkLst>
          <pc:docMk/>
          <pc:sldMk cId="1936441661" sldId="315"/>
        </pc:sldMkLst>
      </pc:sldChg>
      <pc:sldChg chg="add">
        <pc:chgData name="Becca Levin" userId="08c76d0b-4d1f-44f5-8508-8653b2f54768" providerId="ADAL" clId="{5AA3B8CE-AFEA-44FA-ACCD-448CA31DFD0A}" dt="2026-04-07T17:06:54.054" v="0"/>
        <pc:sldMkLst>
          <pc:docMk/>
          <pc:sldMk cId="540144362" sldId="316"/>
        </pc:sldMkLst>
      </pc:sldChg>
      <pc:sldChg chg="addSp delSp modSp add mod">
        <pc:chgData name="Becca Levin" userId="08c76d0b-4d1f-44f5-8508-8653b2f54768" providerId="ADAL" clId="{5AA3B8CE-AFEA-44FA-ACCD-448CA31DFD0A}" dt="2026-04-07T17:07:37.018" v="10" actId="478"/>
        <pc:sldMkLst>
          <pc:docMk/>
          <pc:sldMk cId="3359254836" sldId="533"/>
        </pc:sldMkLst>
        <pc:spChg chg="add mod">
          <ac:chgData name="Becca Levin" userId="08c76d0b-4d1f-44f5-8508-8653b2f54768" providerId="ADAL" clId="{5AA3B8CE-AFEA-44FA-ACCD-448CA31DFD0A}" dt="2026-04-07T17:07:30.506" v="8"/>
          <ac:spMkLst>
            <pc:docMk/>
            <pc:sldMk cId="3359254836" sldId="533"/>
            <ac:spMk id="2" creationId="{5C379CD9-9CFA-F1AD-97DE-90BD7D862E9E}"/>
          </ac:spMkLst>
        </pc:spChg>
        <pc:spChg chg="add mod">
          <ac:chgData name="Becca Levin" userId="08c76d0b-4d1f-44f5-8508-8653b2f54768" providerId="ADAL" clId="{5AA3B8CE-AFEA-44FA-ACCD-448CA31DFD0A}" dt="2026-04-07T17:07:34.225" v="9"/>
          <ac:spMkLst>
            <pc:docMk/>
            <pc:sldMk cId="3359254836" sldId="533"/>
            <ac:spMk id="3" creationId="{A7718867-99C8-4978-BBF1-B9D7C9D09079}"/>
          </ac:spMkLst>
        </pc:spChg>
        <pc:spChg chg="del mod">
          <ac:chgData name="Becca Levin" userId="08c76d0b-4d1f-44f5-8508-8653b2f54768" providerId="ADAL" clId="{5AA3B8CE-AFEA-44FA-ACCD-448CA31DFD0A}" dt="2026-04-07T17:07:37.018" v="10" actId="478"/>
          <ac:spMkLst>
            <pc:docMk/>
            <pc:sldMk cId="3359254836" sldId="533"/>
            <ac:spMk id="7" creationId="{52E5F58B-16BB-6315-AEEE-FDBB3F3B3805}"/>
          </ac:spMkLst>
        </pc:spChg>
        <pc:spChg chg="del mod">
          <ac:chgData name="Becca Levin" userId="08c76d0b-4d1f-44f5-8508-8653b2f54768" providerId="ADAL" clId="{5AA3B8CE-AFEA-44FA-ACCD-448CA31DFD0A}" dt="2026-04-07T17:07:37.018" v="10" actId="478"/>
          <ac:spMkLst>
            <pc:docMk/>
            <pc:sldMk cId="3359254836" sldId="533"/>
            <ac:spMk id="8" creationId="{3644632A-C817-9B1D-0BCE-CC436EE9A45B}"/>
          </ac:spMkLst>
        </pc:spChg>
      </pc:sldChg>
      <pc:sldChg chg="modSp add del mod">
        <pc:chgData name="Becca Levin" userId="08c76d0b-4d1f-44f5-8508-8653b2f54768" providerId="ADAL" clId="{5AA3B8CE-AFEA-44FA-ACCD-448CA31DFD0A}" dt="2026-04-07T17:07:16.054" v="6"/>
        <pc:sldMkLst>
          <pc:docMk/>
          <pc:sldMk cId="818800546" sldId="583"/>
        </pc:sldMkLst>
        <pc:spChg chg="mod">
          <ac:chgData name="Becca Levin" userId="08c76d0b-4d1f-44f5-8508-8653b2f54768" providerId="ADAL" clId="{5AA3B8CE-AFEA-44FA-ACCD-448CA31DFD0A}" dt="2026-04-07T17:07:14.262" v="5"/>
          <ac:spMkLst>
            <pc:docMk/>
            <pc:sldMk cId="818800546" sldId="583"/>
            <ac:spMk id="20" creationId="{5CE418FB-DEDC-5455-18F1-820272A33292}"/>
          </ac:spMkLst>
        </pc:spChg>
        <pc:spChg chg="mod">
          <ac:chgData name="Becca Levin" userId="08c76d0b-4d1f-44f5-8508-8653b2f54768" providerId="ADAL" clId="{5AA3B8CE-AFEA-44FA-ACCD-448CA31DFD0A}" dt="2026-04-07T17:07:14.262" v="5"/>
          <ac:spMkLst>
            <pc:docMk/>
            <pc:sldMk cId="818800546" sldId="583"/>
            <ac:spMk id="21" creationId="{B34B4B54-2FF7-F74D-A4CB-292BE764731C}"/>
          </ac:spMkLst>
        </pc:spChg>
      </pc:sldChg>
    </pc:docChg>
  </pc:docChgLst>
  <pc:docChgLst>
    <pc:chgData name="Edie Mitchell" userId="S::emitchell@segotx.com::049308e2-fe35-45a7-be98-5d15c4b5be47" providerId="AD" clId="Web-{D1DC0719-3074-1C26-80FA-DFDDF39B2BCD}"/>
    <pc:docChg chg="modSld">
      <pc:chgData name="Edie Mitchell" userId="S::emitchell@segotx.com::049308e2-fe35-45a7-be98-5d15c4b5be47" providerId="AD" clId="Web-{D1DC0719-3074-1C26-80FA-DFDDF39B2BCD}" dt="2026-04-08T16:40:00.017" v="55" actId="20577"/>
      <pc:docMkLst>
        <pc:docMk/>
      </pc:docMkLst>
      <pc:sldChg chg="modSp">
        <pc:chgData name="Edie Mitchell" userId="S::emitchell@segotx.com::049308e2-fe35-45a7-be98-5d15c4b5be47" providerId="AD" clId="Web-{D1DC0719-3074-1C26-80FA-DFDDF39B2BCD}" dt="2026-04-08T16:29:40.014" v="4" actId="20577"/>
        <pc:sldMkLst>
          <pc:docMk/>
          <pc:sldMk cId="567022942" sldId="284"/>
        </pc:sldMkLst>
        <pc:spChg chg="mod">
          <ac:chgData name="Edie Mitchell" userId="S::emitchell@segotx.com::049308e2-fe35-45a7-be98-5d15c4b5be47" providerId="AD" clId="Web-{D1DC0719-3074-1C26-80FA-DFDDF39B2BCD}" dt="2026-04-08T16:29:40.014" v="4" actId="20577"/>
          <ac:spMkLst>
            <pc:docMk/>
            <pc:sldMk cId="567022942" sldId="284"/>
            <ac:spMk id="26" creationId="{ADDC503F-63B0-2DC7-5DC4-4885057A2D09}"/>
          </ac:spMkLst>
        </pc:spChg>
      </pc:sldChg>
      <pc:sldChg chg="addSp delSp modSp">
        <pc:chgData name="Edie Mitchell" userId="S::emitchell@segotx.com::049308e2-fe35-45a7-be98-5d15c4b5be47" providerId="AD" clId="Web-{D1DC0719-3074-1C26-80FA-DFDDF39B2BCD}" dt="2026-04-08T16:40:00.017" v="55" actId="20577"/>
        <pc:sldMkLst>
          <pc:docMk/>
          <pc:sldMk cId="540144362" sldId="316"/>
        </pc:sldMkLst>
        <pc:spChg chg="mod">
          <ac:chgData name="Edie Mitchell" userId="S::emitchell@segotx.com::049308e2-fe35-45a7-be98-5d15c4b5be47" providerId="AD" clId="Web-{D1DC0719-3074-1C26-80FA-DFDDF39B2BCD}" dt="2026-04-08T16:40:00.017" v="55" actId="20577"/>
          <ac:spMkLst>
            <pc:docMk/>
            <pc:sldMk cId="540144362" sldId="316"/>
            <ac:spMk id="20" creationId="{D9D8FEDD-C5D0-2253-F566-A252A2868A6C}"/>
          </ac:spMkLst>
        </pc:spChg>
        <pc:grpChg chg="add del mod">
          <ac:chgData name="Edie Mitchell" userId="S::emitchell@segotx.com::049308e2-fe35-45a7-be98-5d15c4b5be47" providerId="AD" clId="Web-{D1DC0719-3074-1C26-80FA-DFDDF39B2BCD}" dt="2026-04-08T16:38:11.657" v="51"/>
          <ac:grpSpMkLst>
            <pc:docMk/>
            <pc:sldMk cId="540144362" sldId="316"/>
            <ac:grpSpMk id="23" creationId="{36F87063-8615-7B6B-08A5-FC668C61F2B8}"/>
          </ac:grpSpMkLst>
        </pc:grpChg>
        <pc:picChg chg="add del mod topLvl modCrop">
          <ac:chgData name="Edie Mitchell" userId="S::emitchell@segotx.com::049308e2-fe35-45a7-be98-5d15c4b5be47" providerId="AD" clId="Web-{D1DC0719-3074-1C26-80FA-DFDDF39B2BCD}" dt="2026-04-08T16:38:13.485" v="52"/>
          <ac:picMkLst>
            <pc:docMk/>
            <pc:sldMk cId="540144362" sldId="316"/>
            <ac:picMk id="18" creationId="{7A478827-01E5-AA0C-956E-A207AA065717}"/>
          </ac:picMkLst>
        </pc:picChg>
        <pc:picChg chg="add del mod topLvl modCrop">
          <ac:chgData name="Edie Mitchell" userId="S::emitchell@segotx.com::049308e2-fe35-45a7-be98-5d15c4b5be47" providerId="AD" clId="Web-{D1DC0719-3074-1C26-80FA-DFDDF39B2BCD}" dt="2026-04-08T16:38:11.657" v="51"/>
          <ac:picMkLst>
            <pc:docMk/>
            <pc:sldMk cId="540144362" sldId="316"/>
            <ac:picMk id="19" creationId="{2FB3D04C-427F-58D2-8EEE-56233CA79DDC}"/>
          </ac:picMkLst>
        </pc:picChg>
        <pc:picChg chg="mod">
          <ac:chgData name="Edie Mitchell" userId="S::emitchell@segotx.com::049308e2-fe35-45a7-be98-5d15c4b5be47" providerId="AD" clId="Web-{D1DC0719-3074-1C26-80FA-DFDDF39B2BCD}" dt="2026-04-08T16:32:53.718" v="10" actId="1076"/>
          <ac:picMkLst>
            <pc:docMk/>
            <pc:sldMk cId="540144362" sldId="316"/>
            <ac:picMk id="34" creationId="{DA1422C2-A48F-0676-D458-3107CF3A1F2D}"/>
          </ac:picMkLst>
        </pc:picChg>
        <pc:picChg chg="mod">
          <ac:chgData name="Edie Mitchell" userId="S::emitchell@segotx.com::049308e2-fe35-45a7-be98-5d15c4b5be47" providerId="AD" clId="Web-{D1DC0719-3074-1C26-80FA-DFDDF39B2BCD}" dt="2026-04-08T16:33:04.765" v="12" actId="1076"/>
          <ac:picMkLst>
            <pc:docMk/>
            <pc:sldMk cId="540144362" sldId="316"/>
            <ac:picMk id="45" creationId="{8B9F1A73-21AE-D0A9-76DF-2421A132BFFA}"/>
          </ac:picMkLst>
        </pc:picChg>
      </pc:sldChg>
    </pc:docChg>
  </pc:docChgLst>
  <pc:docChgLst>
    <pc:chgData name="Greg Mullen" userId="S::gmullen@segotx.com::15d9f696-28c4-4111-b985-4ee728509f13" providerId="AD" clId="Web-{7AF828C6-ADA3-26C5-E0A6-BA0236FC75E3}"/>
    <pc:docChg chg="mod">
      <pc:chgData name="Greg Mullen" userId="S::gmullen@segotx.com::15d9f696-28c4-4111-b985-4ee728509f13" providerId="AD" clId="Web-{7AF828C6-ADA3-26C5-E0A6-BA0236FC75E3}" dt="2026-04-08T11:12:39.062" v="0"/>
      <pc:docMkLst>
        <pc:docMk/>
      </pc:docMkLst>
    </pc:docChg>
  </pc:docChgLst>
  <pc:docChgLst>
    <pc:chgData name="Edie Mitchell" userId="049308e2-fe35-45a7-be98-5d15c4b5be47" providerId="ADAL" clId="{D1094F89-69F4-4F65-ABF8-5ED81DE6E714}"/>
    <pc:docChg chg="custSel modSld">
      <pc:chgData name="Edie Mitchell" userId="049308e2-fe35-45a7-be98-5d15c4b5be47" providerId="ADAL" clId="{D1094F89-69F4-4F65-ABF8-5ED81DE6E714}" dt="2026-04-08T16:41:24.859" v="1" actId="20577"/>
      <pc:docMkLst>
        <pc:docMk/>
      </pc:docMkLst>
      <pc:sldChg chg="delSp mod">
        <pc:chgData name="Edie Mitchell" userId="049308e2-fe35-45a7-be98-5d15c4b5be47" providerId="ADAL" clId="{D1094F89-69F4-4F65-ABF8-5ED81DE6E714}" dt="2026-04-08T16:40:16.983" v="0" actId="478"/>
        <pc:sldMkLst>
          <pc:docMk/>
          <pc:sldMk cId="2505649365" sldId="256"/>
        </pc:sldMkLst>
        <pc:spChg chg="del">
          <ac:chgData name="Edie Mitchell" userId="049308e2-fe35-45a7-be98-5d15c4b5be47" providerId="ADAL" clId="{D1094F89-69F4-4F65-ABF8-5ED81DE6E714}" dt="2026-04-08T16:40:16.983" v="0" actId="478"/>
          <ac:spMkLst>
            <pc:docMk/>
            <pc:sldMk cId="2505649365" sldId="256"/>
            <ac:spMk id="3" creationId="{05B40B64-41AD-D710-7364-8782E77C6405}"/>
          </ac:spMkLst>
        </pc:spChg>
      </pc:sldChg>
      <pc:sldChg chg="modSp mod">
        <pc:chgData name="Edie Mitchell" userId="049308e2-fe35-45a7-be98-5d15c4b5be47" providerId="ADAL" clId="{D1094F89-69F4-4F65-ABF8-5ED81DE6E714}" dt="2026-04-08T16:41:24.859" v="1" actId="20577"/>
        <pc:sldMkLst>
          <pc:docMk/>
          <pc:sldMk cId="540144362" sldId="316"/>
        </pc:sldMkLst>
        <pc:spChg chg="mod">
          <ac:chgData name="Edie Mitchell" userId="049308e2-fe35-45a7-be98-5d15c4b5be47" providerId="ADAL" clId="{D1094F89-69F4-4F65-ABF8-5ED81DE6E714}" dt="2026-04-08T16:41:24.859" v="1" actId="20577"/>
          <ac:spMkLst>
            <pc:docMk/>
            <pc:sldMk cId="540144362" sldId="316"/>
            <ac:spMk id="39" creationId="{15BBA4AA-E7D2-D126-B543-76D94F6A4B64}"/>
          </ac:spMkLst>
        </pc:spChg>
      </pc:sldChg>
    </pc:docChg>
  </pc:docChgLst>
</pc:chgInfo>
</file>

<file path=ppt/comments/modernComment_13A_C5390523.xml><?xml version="1.0" encoding="utf-8"?>
<p188:cmLst xmlns:a="http://schemas.openxmlformats.org/drawingml/2006/main" xmlns:r="http://schemas.openxmlformats.org/officeDocument/2006/relationships" xmlns:p188="http://schemas.microsoft.com/office/powerpoint/2018/8/main">
  <p188:cm id="{32F4C3B5-47DD-451E-A990-AF7734B2905C}" authorId="{1B2CCED9-E761-A789-87FA-8A8BE5E75A61}" created="2026-04-08T11:12:39.062">
    <ac:deMkLst xmlns:ac="http://schemas.microsoft.com/office/drawing/2013/main/command">
      <pc:docMk xmlns:pc="http://schemas.microsoft.com/office/powerpoint/2013/main/command"/>
      <pc:sldMk xmlns:pc="http://schemas.microsoft.com/office/powerpoint/2013/main/command" cId="3308848419" sldId="314"/>
      <ac:grpSpMk id="2" creationId="{9B5AFAFC-6696-881D-49F6-16DA3F35F601}"/>
    </ac:deMkLst>
    <p188:txBody>
      <a:bodyPr/>
      <a:lstStyle/>
      <a:p>
        <a:r>
          <a:rPr lang="en-GB"/>
          <a:t>The Pie chart is what Oribmed was asking about ACP3 vs PSMA. In order to replace PSMA you have to be at least the same as PSMA if you want to replace it from a market size perspective. For KLK2 it would suggest its a bigger market size than PSMA. i.e. Bone: 80% vs 65%; LN 86% vs 64%; Soft tissue: 40% vs 40%</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07B920-B656-4C84-9A26-7EEB11A2229F}" type="datetimeFigureOut">
              <a:rPr lang="en-US" smtClean="0"/>
              <a:t>4/8/2026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5C2155-0C9D-45D0-A1B9-6EA70B001431}" type="slidenum">
              <a:rPr lang="en-US" smtClean="0"/>
              <a:t>‹#›</a:t>
            </a:fld>
            <a:endParaRPr lang="en-US"/>
          </a:p>
        </p:txBody>
      </p:sp>
    </p:spTree>
    <p:extLst>
      <p:ext uri="{BB962C8B-B14F-4D97-AF65-F5344CB8AC3E}">
        <p14:creationId xmlns:p14="http://schemas.microsoft.com/office/powerpoint/2010/main" val="3962792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C03A3D8-CA18-4489-9241-CA705B005370}"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35259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31094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aseline="0" dirty="0">
                <a:latin typeface="Funnel Sans"/>
              </a:rPr>
              <a:t> patients with LPC 91% (91/100), </a:t>
            </a:r>
            <a:r>
              <a:rPr lang="en-US" sz="1200" baseline="0" dirty="0" err="1">
                <a:latin typeface="Funnel Sans"/>
              </a:rPr>
              <a:t>mCSPC</a:t>
            </a:r>
            <a:r>
              <a:rPr lang="en-US" sz="1200" baseline="0" dirty="0">
                <a:latin typeface="Funnel Sans"/>
              </a:rPr>
              <a:t> 82% (81.98), and mCRPC 75.5%(34/45) had high tumor expression of hK2 (IHC staining intensity score = 3)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KLK2 and PSMA protein expression in different stages of prostate cancer [LPC (n ¼ 100), </a:t>
            </a:r>
            <a:r>
              <a:rPr lang="en-US" sz="1200" dirty="0" err="1"/>
              <a:t>mHSPC</a:t>
            </a:r>
            <a:r>
              <a:rPr lang="en-US" sz="1200" dirty="0"/>
              <a:t> (n ¼ 100), and mCRPC (n ¼ 45)] by IHC with semiquantitative pathologist reporting of the percentage of tumor showing any staining. The box refers to the IQR (25%–75% of samples), with the median shown as a horizontal line in the middle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Proportions of bone, lymph node, and soft tissue lesions showing </a:t>
            </a:r>
            <a:r>
              <a:rPr lang="en-US" sz="1200" dirty="0" err="1"/>
              <a:t>coexpression</a:t>
            </a:r>
            <a:r>
              <a:rPr lang="en-US" sz="1200" dirty="0"/>
              <a:t> of KLK2 and PSMA, as evaluated by </a:t>
            </a:r>
            <a:r>
              <a:rPr lang="en-US" sz="1200" dirty="0" err="1"/>
              <a:t>mIF</a:t>
            </a:r>
            <a:r>
              <a:rPr lang="en-US" sz="1200" dirty="0"/>
              <a:t>. The lesion is considered positive when ≥50% of cells are stained positive by </a:t>
            </a:r>
            <a:r>
              <a:rPr lang="en-US" sz="1200" dirty="0" err="1"/>
              <a:t>mIF</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05269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61086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latin typeface="Calibri"/>
                <a:ea typeface="Calibri"/>
                <a:cs typeface="Calibri"/>
              </a:rPr>
              <a:t>Notes:</a:t>
            </a:r>
            <a:r>
              <a:rPr lang="en-US" b="1" err="1"/>
              <a:t>Intermittent</a:t>
            </a:r>
            <a:r>
              <a:rPr lang="en-US" b="1"/>
              <a:t> ADT + KLK2 RLT</a:t>
            </a:r>
            <a:endParaRPr lang="en-US"/>
          </a:p>
          <a:p>
            <a:r>
              <a:rPr lang="en-US"/>
              <a:t>This already exists conceptually:</a:t>
            </a:r>
          </a:p>
          <a:p>
            <a:pPr marL="171450" indent="-171450">
              <a:buFont typeface="Arial"/>
              <a:buChar char="•"/>
            </a:pPr>
            <a:r>
              <a:rPr lang="en-US"/>
              <a:t>Intermittent ADT is accepted but underused</a:t>
            </a:r>
          </a:p>
          <a:p>
            <a:pPr marL="171450" indent="-171450">
              <a:buFont typeface="Arial"/>
              <a:buChar char="•"/>
            </a:pPr>
            <a:r>
              <a:rPr lang="en-US"/>
              <a:t>Its weakness is </a:t>
            </a:r>
            <a:r>
              <a:rPr lang="en-US" b="1"/>
              <a:t>poor disease control during off-cycles</a:t>
            </a:r>
            <a:endParaRPr lang="en-US"/>
          </a:p>
          <a:p>
            <a:r>
              <a:rPr lang="en-US"/>
              <a:t>KLK2 RLT could:</a:t>
            </a:r>
          </a:p>
          <a:p>
            <a:pPr marL="171450" indent="-171450">
              <a:buFont typeface="Arial"/>
              <a:buChar char="•"/>
            </a:pPr>
            <a:r>
              <a:rPr lang="en-US"/>
              <a:t>Be deployed </a:t>
            </a:r>
            <a:r>
              <a:rPr lang="en-US" b="1"/>
              <a:t>during ADT-off periods</a:t>
            </a:r>
            <a:endParaRPr lang="en-US"/>
          </a:p>
          <a:p>
            <a:pPr marL="171450" indent="-171450">
              <a:buFont typeface="Arial"/>
              <a:buChar char="•"/>
            </a:pPr>
            <a:r>
              <a:rPr lang="en-US"/>
              <a:t>Control AR-reactivated disease</a:t>
            </a:r>
          </a:p>
          <a:p>
            <a:pPr marL="171450" indent="-171450">
              <a:buFont typeface="Arial"/>
              <a:buChar char="•"/>
            </a:pPr>
            <a:r>
              <a:rPr lang="en-US"/>
              <a:t>Extend off-therapy intervals</a:t>
            </a:r>
          </a:p>
          <a:p>
            <a:r>
              <a:rPr lang="en-US"/>
              <a:t>This is a </a:t>
            </a:r>
            <a:r>
              <a:rPr lang="en-US" b="1"/>
              <a:t>huge quality-of-life win</a:t>
            </a:r>
            <a:r>
              <a:rPr lang="en-US"/>
              <a:t> without challenging standard of care.</a:t>
            </a:r>
          </a:p>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14387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93EC38-1E33-4A22-8A2A-5A6B4EED2BE8}"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88904394"/>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CDB6738-640A-285C-80F7-EBA40DE8F0C0}"/>
              </a:ext>
            </a:extLst>
          </p:cNvPr>
          <p:cNvSpPr/>
          <p:nvPr/>
        </p:nvSpPr>
        <p:spPr>
          <a:xfrm>
            <a:off x="-198582" y="-692727"/>
            <a:ext cx="12589164" cy="6936510"/>
          </a:xfrm>
          <a:prstGeom prst="round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51204C1-E901-AD77-DE7C-59D21226D74D}"/>
              </a:ext>
            </a:extLst>
          </p:cNvPr>
          <p:cNvSpPr>
            <a:spLocks noGrp="1"/>
          </p:cNvSpPr>
          <p:nvPr>
            <p:ph type="ctrTitle"/>
          </p:nvPr>
        </p:nvSpPr>
        <p:spPr>
          <a:xfrm>
            <a:off x="629515" y="1122363"/>
            <a:ext cx="10038485" cy="1870219"/>
          </a:xfrm>
        </p:spPr>
        <p:txBody>
          <a:bodyPr anchor="b">
            <a:normAutofit/>
          </a:bodyPr>
          <a:lstStyle>
            <a:lvl1pPr algn="l">
              <a:defRPr sz="36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06926440-34FF-6B8F-F8AA-3CB4F6F9D0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AC9C4D9-2245-6A45-3A6B-9AC657259F5F}"/>
              </a:ext>
            </a:extLst>
          </p:cNvPr>
          <p:cNvSpPr>
            <a:spLocks noGrp="1"/>
          </p:cNvSpPr>
          <p:nvPr>
            <p:ph type="dt" sz="half" idx="10"/>
          </p:nvPr>
        </p:nvSpPr>
        <p:spPr>
          <a:xfrm>
            <a:off x="838200" y="6356350"/>
            <a:ext cx="2743200" cy="365125"/>
          </a:xfrm>
          <a:prstGeom prst="rect">
            <a:avLst/>
          </a:prstGeom>
        </p:spPr>
        <p:txBody>
          <a:bodyPr anchor="ctr"/>
          <a:lstStyle>
            <a:lvl1pPr>
              <a:defRPr sz="1200">
                <a:solidFill>
                  <a:schemeClr val="tx1"/>
                </a:solidFill>
              </a:defRPr>
            </a:lvl1pPr>
          </a:lstStyle>
          <a:p>
            <a:fld id="{6E66945E-E29C-4A10-8917-9BE476573A98}" type="datetimeFigureOut">
              <a:rPr lang="en-US" smtClean="0"/>
              <a:t>4/8/2026</a:t>
            </a:fld>
            <a:endParaRPr lang="en-US"/>
          </a:p>
        </p:txBody>
      </p:sp>
      <p:sp>
        <p:nvSpPr>
          <p:cNvPr id="5" name="Footer Placeholder 4">
            <a:extLst>
              <a:ext uri="{FF2B5EF4-FFF2-40B4-BE49-F238E27FC236}">
                <a16:creationId xmlns:a16="http://schemas.microsoft.com/office/drawing/2014/main" id="{2EE75429-B4D5-78E5-BD9B-CC1E613A41C9}"/>
              </a:ext>
            </a:extLst>
          </p:cNvPr>
          <p:cNvSpPr>
            <a:spLocks noGrp="1"/>
          </p:cNvSpPr>
          <p:nvPr>
            <p:ph type="ftr" sz="quarter" idx="11"/>
          </p:nvPr>
        </p:nvSpPr>
        <p:spPr/>
        <p:txBody>
          <a:bodyPr anchor="ctr"/>
          <a:lstStyle>
            <a:lvl1pPr>
              <a:defRPr sz="12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5709ECA2-FE9B-B45C-BC7B-112303A0EFF0}"/>
              </a:ext>
            </a:extLst>
          </p:cNvPr>
          <p:cNvSpPr>
            <a:spLocks noGrp="1"/>
          </p:cNvSpPr>
          <p:nvPr>
            <p:ph type="sldNum" sz="quarter" idx="12"/>
          </p:nvPr>
        </p:nvSpPr>
        <p:spPr/>
        <p:txBody>
          <a:bodyPr anchor="ctr"/>
          <a:lstStyle>
            <a:lvl1pPr>
              <a:defRPr sz="1200">
                <a:solidFill>
                  <a:schemeClr val="tx1"/>
                </a:solidFill>
              </a:defRPr>
            </a:lvl1pPr>
          </a:lstStyle>
          <a:p>
            <a:fld id="{F4CFF174-0C8B-41F2-9A46-1C3276C99A0F}" type="slidenum">
              <a:rPr lang="en-US" smtClean="0"/>
              <a:t>‹#›</a:t>
            </a:fld>
            <a:endParaRPr lang="en-US"/>
          </a:p>
        </p:txBody>
      </p:sp>
      <p:sp>
        <p:nvSpPr>
          <p:cNvPr id="8" name="Shape 1">
            <a:extLst>
              <a:ext uri="{FF2B5EF4-FFF2-40B4-BE49-F238E27FC236}">
                <a16:creationId xmlns:a16="http://schemas.microsoft.com/office/drawing/2014/main" id="{736AE9BE-8563-C614-00B9-06D671AECD41}"/>
              </a:ext>
            </a:extLst>
          </p:cNvPr>
          <p:cNvSpPr/>
          <p:nvPr/>
        </p:nvSpPr>
        <p:spPr>
          <a:xfrm>
            <a:off x="457200" y="457200"/>
            <a:ext cx="871538" cy="300038"/>
          </a:xfrm>
          <a:prstGeom prst="rect">
            <a:avLst/>
          </a:prstGeom>
          <a:noFill/>
          <a:ln/>
        </p:spPr>
        <p:txBody>
          <a:bodyPr/>
          <a:lstStyle/>
          <a:p>
            <a:endParaRPr lang="en-US"/>
          </a:p>
        </p:txBody>
      </p:sp>
      <p:pic>
        <p:nvPicPr>
          <p:cNvPr id="9" name="Image 0" descr="preencoded.png">
            <a:extLst>
              <a:ext uri="{FF2B5EF4-FFF2-40B4-BE49-F238E27FC236}">
                <a16:creationId xmlns:a16="http://schemas.microsoft.com/office/drawing/2014/main" id="{52968D7F-126F-2166-45E4-5006D0BF4F4B}"/>
              </a:ext>
            </a:extLst>
          </p:cNvPr>
          <p:cNvPicPr>
            <a:picLocks noChangeAspect="1"/>
          </p:cNvPicPr>
          <p:nvPr/>
        </p:nvPicPr>
        <p:blipFill>
          <a:blip r:embed="rId2"/>
          <a:stretch>
            <a:fillRect/>
          </a:stretch>
        </p:blipFill>
        <p:spPr>
          <a:xfrm>
            <a:off x="525823" y="457200"/>
            <a:ext cx="154974" cy="188378"/>
          </a:xfrm>
          <a:prstGeom prst="rect">
            <a:avLst/>
          </a:prstGeom>
        </p:spPr>
      </p:pic>
      <p:pic>
        <p:nvPicPr>
          <p:cNvPr id="10" name="Image 1" descr="preencoded.png">
            <a:extLst>
              <a:ext uri="{FF2B5EF4-FFF2-40B4-BE49-F238E27FC236}">
                <a16:creationId xmlns:a16="http://schemas.microsoft.com/office/drawing/2014/main" id="{C4C8A8BD-F576-4C5F-081D-87C0BB3B6AFE}"/>
              </a:ext>
            </a:extLst>
          </p:cNvPr>
          <p:cNvPicPr>
            <a:picLocks noChangeAspect="1"/>
          </p:cNvPicPr>
          <p:nvPr/>
        </p:nvPicPr>
        <p:blipFill>
          <a:blip r:embed="rId3"/>
          <a:stretch>
            <a:fillRect/>
          </a:stretch>
        </p:blipFill>
        <p:spPr>
          <a:xfrm>
            <a:off x="588558" y="659529"/>
            <a:ext cx="959" cy="5"/>
          </a:xfrm>
          <a:prstGeom prst="rect">
            <a:avLst/>
          </a:prstGeom>
        </p:spPr>
      </p:pic>
      <p:pic>
        <p:nvPicPr>
          <p:cNvPr id="11" name="Image 2" descr="preencoded.png">
            <a:extLst>
              <a:ext uri="{FF2B5EF4-FFF2-40B4-BE49-F238E27FC236}">
                <a16:creationId xmlns:a16="http://schemas.microsoft.com/office/drawing/2014/main" id="{1E7B4B12-C9E4-E155-3993-625F6FB1E12B}"/>
              </a:ext>
            </a:extLst>
          </p:cNvPr>
          <p:cNvPicPr>
            <a:picLocks noChangeAspect="1"/>
          </p:cNvPicPr>
          <p:nvPr/>
        </p:nvPicPr>
        <p:blipFill>
          <a:blip r:embed="rId3"/>
          <a:stretch>
            <a:fillRect/>
          </a:stretch>
        </p:blipFill>
        <p:spPr>
          <a:xfrm>
            <a:off x="588274" y="659533"/>
            <a:ext cx="287" cy="5"/>
          </a:xfrm>
          <a:prstGeom prst="rect">
            <a:avLst/>
          </a:prstGeom>
        </p:spPr>
      </p:pic>
      <p:pic>
        <p:nvPicPr>
          <p:cNvPr id="12" name="Image 3" descr="preencoded.png">
            <a:extLst>
              <a:ext uri="{FF2B5EF4-FFF2-40B4-BE49-F238E27FC236}">
                <a16:creationId xmlns:a16="http://schemas.microsoft.com/office/drawing/2014/main" id="{B92E9DCB-F21C-04F7-5F55-34618D4762DB}"/>
              </a:ext>
            </a:extLst>
          </p:cNvPr>
          <p:cNvPicPr>
            <a:picLocks noChangeAspect="1"/>
          </p:cNvPicPr>
          <p:nvPr/>
        </p:nvPicPr>
        <p:blipFill>
          <a:blip r:embed="rId3"/>
          <a:stretch>
            <a:fillRect/>
          </a:stretch>
        </p:blipFill>
        <p:spPr>
          <a:xfrm>
            <a:off x="590747" y="673402"/>
            <a:ext cx="465" cy="5"/>
          </a:xfrm>
          <a:prstGeom prst="rect">
            <a:avLst/>
          </a:prstGeom>
        </p:spPr>
      </p:pic>
      <p:pic>
        <p:nvPicPr>
          <p:cNvPr id="13" name="Image 4" descr="preencoded.png">
            <a:extLst>
              <a:ext uri="{FF2B5EF4-FFF2-40B4-BE49-F238E27FC236}">
                <a16:creationId xmlns:a16="http://schemas.microsoft.com/office/drawing/2014/main" id="{2B422FB9-16AE-8A52-AFD0-F5C0D4C97B71}"/>
              </a:ext>
            </a:extLst>
          </p:cNvPr>
          <p:cNvPicPr>
            <a:picLocks noChangeAspect="1"/>
          </p:cNvPicPr>
          <p:nvPr/>
        </p:nvPicPr>
        <p:blipFill>
          <a:blip r:embed="rId4"/>
          <a:stretch>
            <a:fillRect/>
          </a:stretch>
        </p:blipFill>
        <p:spPr>
          <a:xfrm>
            <a:off x="799143" y="507676"/>
            <a:ext cx="135918" cy="199280"/>
          </a:xfrm>
          <a:prstGeom prst="rect">
            <a:avLst/>
          </a:prstGeom>
        </p:spPr>
      </p:pic>
      <p:pic>
        <p:nvPicPr>
          <p:cNvPr id="14" name="Image 5" descr="preencoded.png">
            <a:extLst>
              <a:ext uri="{FF2B5EF4-FFF2-40B4-BE49-F238E27FC236}">
                <a16:creationId xmlns:a16="http://schemas.microsoft.com/office/drawing/2014/main" id="{0AE362E8-2180-4F33-99E9-3A63658A556C}"/>
              </a:ext>
            </a:extLst>
          </p:cNvPr>
          <p:cNvPicPr>
            <a:picLocks noChangeAspect="1"/>
          </p:cNvPicPr>
          <p:nvPr/>
        </p:nvPicPr>
        <p:blipFill>
          <a:blip r:embed="rId5"/>
          <a:stretch>
            <a:fillRect/>
          </a:stretch>
        </p:blipFill>
        <p:spPr>
          <a:xfrm>
            <a:off x="940416" y="562009"/>
            <a:ext cx="124990" cy="144942"/>
          </a:xfrm>
          <a:prstGeom prst="rect">
            <a:avLst/>
          </a:prstGeom>
        </p:spPr>
      </p:pic>
      <p:pic>
        <p:nvPicPr>
          <p:cNvPr id="15" name="Image 6" descr="preencoded.png">
            <a:extLst>
              <a:ext uri="{FF2B5EF4-FFF2-40B4-BE49-F238E27FC236}">
                <a16:creationId xmlns:a16="http://schemas.microsoft.com/office/drawing/2014/main" id="{05260289-CF13-CF9A-74AC-86175E6B59E7}"/>
              </a:ext>
            </a:extLst>
          </p:cNvPr>
          <p:cNvPicPr>
            <a:picLocks noChangeAspect="1"/>
          </p:cNvPicPr>
          <p:nvPr/>
        </p:nvPicPr>
        <p:blipFill>
          <a:blip r:embed="rId6"/>
          <a:stretch>
            <a:fillRect/>
          </a:stretch>
        </p:blipFill>
        <p:spPr>
          <a:xfrm>
            <a:off x="1068347" y="561991"/>
            <a:ext cx="130069" cy="195247"/>
          </a:xfrm>
          <a:prstGeom prst="rect">
            <a:avLst/>
          </a:prstGeom>
        </p:spPr>
      </p:pic>
      <p:pic>
        <p:nvPicPr>
          <p:cNvPr id="16" name="Image 7" descr="preencoded.png">
            <a:extLst>
              <a:ext uri="{FF2B5EF4-FFF2-40B4-BE49-F238E27FC236}">
                <a16:creationId xmlns:a16="http://schemas.microsoft.com/office/drawing/2014/main" id="{58C28360-A6BE-8081-38E0-A8C32A75C7C3}"/>
              </a:ext>
            </a:extLst>
          </p:cNvPr>
          <p:cNvPicPr>
            <a:picLocks noChangeAspect="1"/>
          </p:cNvPicPr>
          <p:nvPr/>
        </p:nvPicPr>
        <p:blipFill>
          <a:blip r:embed="rId7"/>
          <a:stretch>
            <a:fillRect/>
          </a:stretch>
        </p:blipFill>
        <p:spPr>
          <a:xfrm>
            <a:off x="1194934" y="562005"/>
            <a:ext cx="133799" cy="144942"/>
          </a:xfrm>
          <a:prstGeom prst="rect">
            <a:avLst/>
          </a:prstGeom>
        </p:spPr>
      </p:pic>
      <p:pic>
        <p:nvPicPr>
          <p:cNvPr id="17" name="Image 8" descr="preencoded.png">
            <a:extLst>
              <a:ext uri="{FF2B5EF4-FFF2-40B4-BE49-F238E27FC236}">
                <a16:creationId xmlns:a16="http://schemas.microsoft.com/office/drawing/2014/main" id="{ECBAAB9E-CDC2-0FF4-C755-D815B2BB5F78}"/>
              </a:ext>
            </a:extLst>
          </p:cNvPr>
          <p:cNvPicPr>
            <a:picLocks noChangeAspect="1"/>
          </p:cNvPicPr>
          <p:nvPr/>
        </p:nvPicPr>
        <p:blipFill>
          <a:blip r:embed="rId8"/>
          <a:stretch>
            <a:fillRect/>
          </a:stretch>
        </p:blipFill>
        <p:spPr>
          <a:xfrm>
            <a:off x="577092" y="577653"/>
            <a:ext cx="172315" cy="155106"/>
          </a:xfrm>
          <a:prstGeom prst="rect">
            <a:avLst/>
          </a:prstGeom>
        </p:spPr>
      </p:pic>
      <p:pic>
        <p:nvPicPr>
          <p:cNvPr id="18" name="Image 9" descr="preencoded.png">
            <a:extLst>
              <a:ext uri="{FF2B5EF4-FFF2-40B4-BE49-F238E27FC236}">
                <a16:creationId xmlns:a16="http://schemas.microsoft.com/office/drawing/2014/main" id="{58320A9F-196A-AE77-A484-B6E5D507A6DA}"/>
              </a:ext>
            </a:extLst>
          </p:cNvPr>
          <p:cNvPicPr>
            <a:picLocks noChangeAspect="1"/>
          </p:cNvPicPr>
          <p:nvPr/>
        </p:nvPicPr>
        <p:blipFill>
          <a:blip r:embed="rId9"/>
          <a:stretch>
            <a:fillRect/>
          </a:stretch>
        </p:blipFill>
        <p:spPr>
          <a:xfrm>
            <a:off x="457200" y="577648"/>
            <a:ext cx="172315" cy="155113"/>
          </a:xfrm>
          <a:prstGeom prst="rect">
            <a:avLst/>
          </a:prstGeom>
        </p:spPr>
      </p:pic>
    </p:spTree>
    <p:extLst>
      <p:ext uri="{BB962C8B-B14F-4D97-AF65-F5344CB8AC3E}">
        <p14:creationId xmlns:p14="http://schemas.microsoft.com/office/powerpoint/2010/main" val="1046709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F91E4-0767-757A-6C26-F8C974F5D36E}"/>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F77FBE57-1EB4-8357-C896-4AAAD6BCA147}"/>
              </a:ext>
            </a:extLst>
          </p:cNvPr>
          <p:cNvSpPr>
            <a:spLocks noGrp="1"/>
          </p:cNvSpPr>
          <p:nvPr>
            <p:ph idx="1"/>
          </p:nvPr>
        </p:nvSpPr>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8CFE290-1BA8-4866-A227-485B2A5364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AA9728-BA0F-E899-0CAD-26BC15062FEB}"/>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7" name="Shape 5">
            <a:extLst>
              <a:ext uri="{FF2B5EF4-FFF2-40B4-BE49-F238E27FC236}">
                <a16:creationId xmlns:a16="http://schemas.microsoft.com/office/drawing/2014/main" id="{3309DD90-9BA0-57EA-6D6E-750F1C324FC8}"/>
              </a:ext>
            </a:extLst>
          </p:cNvPr>
          <p:cNvSpPr/>
          <p:nvPr/>
        </p:nvSpPr>
        <p:spPr>
          <a:xfrm>
            <a:off x="190500" y="190500"/>
            <a:ext cx="661988" cy="228600"/>
          </a:xfrm>
          <a:prstGeom prst="rect">
            <a:avLst/>
          </a:prstGeom>
          <a:noFill/>
          <a:ln/>
        </p:spPr>
        <p:txBody>
          <a:bodyPr/>
          <a:lstStyle/>
          <a:p>
            <a:endParaRPr lang="en-US"/>
          </a:p>
        </p:txBody>
      </p:sp>
      <p:pic>
        <p:nvPicPr>
          <p:cNvPr id="8" name="Image 3" descr="preencoded.png">
            <a:extLst>
              <a:ext uri="{FF2B5EF4-FFF2-40B4-BE49-F238E27FC236}">
                <a16:creationId xmlns:a16="http://schemas.microsoft.com/office/drawing/2014/main" id="{B77A0BCF-864C-10EA-E989-AF59B941C2EF}"/>
              </a:ext>
            </a:extLst>
          </p:cNvPr>
          <p:cNvPicPr>
            <a:picLocks noChangeAspect="1"/>
          </p:cNvPicPr>
          <p:nvPr/>
        </p:nvPicPr>
        <p:blipFill>
          <a:blip r:embed="rId2"/>
          <a:stretch>
            <a:fillRect/>
          </a:stretch>
        </p:blipFill>
        <p:spPr>
          <a:xfrm>
            <a:off x="242624" y="190500"/>
            <a:ext cx="117713" cy="143526"/>
          </a:xfrm>
          <a:prstGeom prst="rect">
            <a:avLst/>
          </a:prstGeom>
        </p:spPr>
      </p:pic>
      <p:pic>
        <p:nvPicPr>
          <p:cNvPr id="9" name="Image 4" descr="preencoded.png">
            <a:extLst>
              <a:ext uri="{FF2B5EF4-FFF2-40B4-BE49-F238E27FC236}">
                <a16:creationId xmlns:a16="http://schemas.microsoft.com/office/drawing/2014/main" id="{21522D1E-FB95-FAF3-8759-A99853816295}"/>
              </a:ext>
            </a:extLst>
          </p:cNvPr>
          <p:cNvPicPr>
            <a:picLocks noChangeAspect="1"/>
          </p:cNvPicPr>
          <p:nvPr/>
        </p:nvPicPr>
        <p:blipFill>
          <a:blip r:embed="rId3"/>
          <a:stretch>
            <a:fillRect/>
          </a:stretch>
        </p:blipFill>
        <p:spPr>
          <a:xfrm>
            <a:off x="290275" y="344655"/>
            <a:ext cx="728" cy="3"/>
          </a:xfrm>
          <a:prstGeom prst="rect">
            <a:avLst/>
          </a:prstGeom>
        </p:spPr>
      </p:pic>
      <p:pic>
        <p:nvPicPr>
          <p:cNvPr id="10" name="Image 5" descr="preencoded.png">
            <a:extLst>
              <a:ext uri="{FF2B5EF4-FFF2-40B4-BE49-F238E27FC236}">
                <a16:creationId xmlns:a16="http://schemas.microsoft.com/office/drawing/2014/main" id="{AA1C6DF3-B2B0-D505-0322-4A74DD286D1E}"/>
              </a:ext>
            </a:extLst>
          </p:cNvPr>
          <p:cNvPicPr>
            <a:picLocks noChangeAspect="1"/>
          </p:cNvPicPr>
          <p:nvPr/>
        </p:nvPicPr>
        <p:blipFill>
          <a:blip r:embed="rId3"/>
          <a:stretch>
            <a:fillRect/>
          </a:stretch>
        </p:blipFill>
        <p:spPr>
          <a:xfrm>
            <a:off x="290059" y="344659"/>
            <a:ext cx="216" cy="3"/>
          </a:xfrm>
          <a:prstGeom prst="rect">
            <a:avLst/>
          </a:prstGeom>
        </p:spPr>
      </p:pic>
      <p:pic>
        <p:nvPicPr>
          <p:cNvPr id="11" name="Image 6" descr="preencoded.png">
            <a:extLst>
              <a:ext uri="{FF2B5EF4-FFF2-40B4-BE49-F238E27FC236}">
                <a16:creationId xmlns:a16="http://schemas.microsoft.com/office/drawing/2014/main" id="{74BB9666-7E16-7635-EFAA-9FE0AADA9DE0}"/>
              </a:ext>
            </a:extLst>
          </p:cNvPr>
          <p:cNvPicPr>
            <a:picLocks noChangeAspect="1"/>
          </p:cNvPicPr>
          <p:nvPr/>
        </p:nvPicPr>
        <p:blipFill>
          <a:blip r:embed="rId3"/>
          <a:stretch>
            <a:fillRect/>
          </a:stretch>
        </p:blipFill>
        <p:spPr>
          <a:xfrm>
            <a:off x="291937" y="355225"/>
            <a:ext cx="352" cy="3"/>
          </a:xfrm>
          <a:prstGeom prst="rect">
            <a:avLst/>
          </a:prstGeom>
        </p:spPr>
      </p:pic>
      <p:pic>
        <p:nvPicPr>
          <p:cNvPr id="12" name="Image 7" descr="preencoded.png">
            <a:extLst>
              <a:ext uri="{FF2B5EF4-FFF2-40B4-BE49-F238E27FC236}">
                <a16:creationId xmlns:a16="http://schemas.microsoft.com/office/drawing/2014/main" id="{7B200AFC-D38E-A7C9-8B60-2AA285B679CB}"/>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3" name="Image 8" descr="preencoded.png">
            <a:extLst>
              <a:ext uri="{FF2B5EF4-FFF2-40B4-BE49-F238E27FC236}">
                <a16:creationId xmlns:a16="http://schemas.microsoft.com/office/drawing/2014/main" id="{B4489371-CEE9-45CF-DAB8-D9E30AE7784E}"/>
              </a:ext>
            </a:extLst>
          </p:cNvPr>
          <p:cNvPicPr>
            <a:picLocks noChangeAspect="1"/>
          </p:cNvPicPr>
          <p:nvPr/>
        </p:nvPicPr>
        <p:blipFill>
          <a:blip r:embed="rId5"/>
          <a:stretch>
            <a:fillRect/>
          </a:stretch>
        </p:blipFill>
        <p:spPr>
          <a:xfrm>
            <a:off x="557532" y="270355"/>
            <a:ext cx="94938" cy="110432"/>
          </a:xfrm>
          <a:prstGeom prst="rect">
            <a:avLst/>
          </a:prstGeom>
        </p:spPr>
      </p:pic>
      <p:pic>
        <p:nvPicPr>
          <p:cNvPr id="14" name="Image 9" descr="preencoded.png">
            <a:extLst>
              <a:ext uri="{FF2B5EF4-FFF2-40B4-BE49-F238E27FC236}">
                <a16:creationId xmlns:a16="http://schemas.microsoft.com/office/drawing/2014/main" id="{073A8A60-1964-06AA-7C7B-D0BF8602401C}"/>
              </a:ext>
            </a:extLst>
          </p:cNvPr>
          <p:cNvPicPr>
            <a:picLocks noChangeAspect="1"/>
          </p:cNvPicPr>
          <p:nvPr/>
        </p:nvPicPr>
        <p:blipFill>
          <a:blip r:embed="rId6"/>
          <a:stretch>
            <a:fillRect/>
          </a:stretch>
        </p:blipFill>
        <p:spPr>
          <a:xfrm>
            <a:off x="654704" y="270341"/>
            <a:ext cx="98795" cy="148759"/>
          </a:xfrm>
          <a:prstGeom prst="rect">
            <a:avLst/>
          </a:prstGeom>
        </p:spPr>
      </p:pic>
      <p:pic>
        <p:nvPicPr>
          <p:cNvPr id="15" name="Image 10" descr="preencoded.png">
            <a:extLst>
              <a:ext uri="{FF2B5EF4-FFF2-40B4-BE49-F238E27FC236}">
                <a16:creationId xmlns:a16="http://schemas.microsoft.com/office/drawing/2014/main" id="{4413C882-A29F-0E1B-F4E6-DE194B649107}"/>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6" name="Image 11" descr="preencoded.png">
            <a:extLst>
              <a:ext uri="{FF2B5EF4-FFF2-40B4-BE49-F238E27FC236}">
                <a16:creationId xmlns:a16="http://schemas.microsoft.com/office/drawing/2014/main" id="{599359B0-BC5A-2798-D3EE-E906C8FE4AA1}"/>
              </a:ext>
            </a:extLst>
          </p:cNvPr>
          <p:cNvPicPr>
            <a:picLocks noChangeAspect="1"/>
          </p:cNvPicPr>
          <p:nvPr/>
        </p:nvPicPr>
        <p:blipFill>
          <a:blip r:embed="rId8"/>
          <a:stretch>
            <a:fillRect/>
          </a:stretch>
        </p:blipFill>
        <p:spPr>
          <a:xfrm>
            <a:off x="281565" y="282273"/>
            <a:ext cx="130884" cy="118176"/>
          </a:xfrm>
          <a:prstGeom prst="rect">
            <a:avLst/>
          </a:prstGeom>
        </p:spPr>
      </p:pic>
      <p:pic>
        <p:nvPicPr>
          <p:cNvPr id="17" name="Image 12" descr="preencoded.png">
            <a:extLst>
              <a:ext uri="{FF2B5EF4-FFF2-40B4-BE49-F238E27FC236}">
                <a16:creationId xmlns:a16="http://schemas.microsoft.com/office/drawing/2014/main" id="{1CAF3264-0793-6CDC-24D3-58AF8DEB3742}"/>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3224739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94616-8561-6A16-EBE9-6E1A3F96AA6A}"/>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6E6BEDDA-A7B8-93FA-FC2B-91CA7DFAFB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B46D9C-A2DA-90FE-6625-B23D1A90E9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BA195ACC-39E6-3AC4-3A85-0CF2D69CC9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C74000-D324-1C4F-B0DE-8390683A3A94}"/>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8" name="Shape 5">
            <a:extLst>
              <a:ext uri="{FF2B5EF4-FFF2-40B4-BE49-F238E27FC236}">
                <a16:creationId xmlns:a16="http://schemas.microsoft.com/office/drawing/2014/main" id="{8ADAABF8-6644-3F36-4FAC-E26B71106E25}"/>
              </a:ext>
            </a:extLst>
          </p:cNvPr>
          <p:cNvSpPr/>
          <p:nvPr/>
        </p:nvSpPr>
        <p:spPr>
          <a:xfrm>
            <a:off x="190500" y="190500"/>
            <a:ext cx="661988" cy="228600"/>
          </a:xfrm>
          <a:prstGeom prst="rect">
            <a:avLst/>
          </a:prstGeom>
          <a:noFill/>
          <a:ln/>
        </p:spPr>
        <p:txBody>
          <a:bodyPr/>
          <a:lstStyle/>
          <a:p>
            <a:endParaRPr lang="en-US"/>
          </a:p>
        </p:txBody>
      </p:sp>
      <p:pic>
        <p:nvPicPr>
          <p:cNvPr id="9" name="Image 3" descr="preencoded.png">
            <a:extLst>
              <a:ext uri="{FF2B5EF4-FFF2-40B4-BE49-F238E27FC236}">
                <a16:creationId xmlns:a16="http://schemas.microsoft.com/office/drawing/2014/main" id="{D6819D18-280A-59B9-5A82-3AA527A0A22F}"/>
              </a:ext>
            </a:extLst>
          </p:cNvPr>
          <p:cNvPicPr>
            <a:picLocks noChangeAspect="1"/>
          </p:cNvPicPr>
          <p:nvPr/>
        </p:nvPicPr>
        <p:blipFill>
          <a:blip r:embed="rId2"/>
          <a:stretch>
            <a:fillRect/>
          </a:stretch>
        </p:blipFill>
        <p:spPr>
          <a:xfrm>
            <a:off x="242624" y="190500"/>
            <a:ext cx="117713" cy="143526"/>
          </a:xfrm>
          <a:prstGeom prst="rect">
            <a:avLst/>
          </a:prstGeom>
        </p:spPr>
      </p:pic>
      <p:pic>
        <p:nvPicPr>
          <p:cNvPr id="10" name="Image 4" descr="preencoded.png">
            <a:extLst>
              <a:ext uri="{FF2B5EF4-FFF2-40B4-BE49-F238E27FC236}">
                <a16:creationId xmlns:a16="http://schemas.microsoft.com/office/drawing/2014/main" id="{B3DB3EC3-97C7-8E1A-1C58-F2AB502630D7}"/>
              </a:ext>
            </a:extLst>
          </p:cNvPr>
          <p:cNvPicPr>
            <a:picLocks noChangeAspect="1"/>
          </p:cNvPicPr>
          <p:nvPr/>
        </p:nvPicPr>
        <p:blipFill>
          <a:blip r:embed="rId3"/>
          <a:stretch>
            <a:fillRect/>
          </a:stretch>
        </p:blipFill>
        <p:spPr>
          <a:xfrm>
            <a:off x="290275" y="344655"/>
            <a:ext cx="728" cy="3"/>
          </a:xfrm>
          <a:prstGeom prst="rect">
            <a:avLst/>
          </a:prstGeom>
        </p:spPr>
      </p:pic>
      <p:pic>
        <p:nvPicPr>
          <p:cNvPr id="11" name="Image 5" descr="preencoded.png">
            <a:extLst>
              <a:ext uri="{FF2B5EF4-FFF2-40B4-BE49-F238E27FC236}">
                <a16:creationId xmlns:a16="http://schemas.microsoft.com/office/drawing/2014/main" id="{986AD692-BF7B-E30E-AF4B-29E73B37ADA8}"/>
              </a:ext>
            </a:extLst>
          </p:cNvPr>
          <p:cNvPicPr>
            <a:picLocks noChangeAspect="1"/>
          </p:cNvPicPr>
          <p:nvPr/>
        </p:nvPicPr>
        <p:blipFill>
          <a:blip r:embed="rId3"/>
          <a:stretch>
            <a:fillRect/>
          </a:stretch>
        </p:blipFill>
        <p:spPr>
          <a:xfrm>
            <a:off x="290059" y="344659"/>
            <a:ext cx="216" cy="3"/>
          </a:xfrm>
          <a:prstGeom prst="rect">
            <a:avLst/>
          </a:prstGeom>
        </p:spPr>
      </p:pic>
      <p:pic>
        <p:nvPicPr>
          <p:cNvPr id="12" name="Image 6" descr="preencoded.png">
            <a:extLst>
              <a:ext uri="{FF2B5EF4-FFF2-40B4-BE49-F238E27FC236}">
                <a16:creationId xmlns:a16="http://schemas.microsoft.com/office/drawing/2014/main" id="{1E4B8F00-D927-A3D7-DF8B-9621664C91DA}"/>
              </a:ext>
            </a:extLst>
          </p:cNvPr>
          <p:cNvPicPr>
            <a:picLocks noChangeAspect="1"/>
          </p:cNvPicPr>
          <p:nvPr/>
        </p:nvPicPr>
        <p:blipFill>
          <a:blip r:embed="rId3"/>
          <a:stretch>
            <a:fillRect/>
          </a:stretch>
        </p:blipFill>
        <p:spPr>
          <a:xfrm>
            <a:off x="291937" y="355225"/>
            <a:ext cx="352" cy="3"/>
          </a:xfrm>
          <a:prstGeom prst="rect">
            <a:avLst/>
          </a:prstGeom>
        </p:spPr>
      </p:pic>
      <p:pic>
        <p:nvPicPr>
          <p:cNvPr id="13" name="Image 7" descr="preencoded.png">
            <a:extLst>
              <a:ext uri="{FF2B5EF4-FFF2-40B4-BE49-F238E27FC236}">
                <a16:creationId xmlns:a16="http://schemas.microsoft.com/office/drawing/2014/main" id="{8BE371D4-51AA-A4CA-BCA7-C17F586C33EE}"/>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4" name="Image 8" descr="preencoded.png">
            <a:extLst>
              <a:ext uri="{FF2B5EF4-FFF2-40B4-BE49-F238E27FC236}">
                <a16:creationId xmlns:a16="http://schemas.microsoft.com/office/drawing/2014/main" id="{5ECEAA31-DC84-C536-9A68-FCA883D9D779}"/>
              </a:ext>
            </a:extLst>
          </p:cNvPr>
          <p:cNvPicPr>
            <a:picLocks noChangeAspect="1"/>
          </p:cNvPicPr>
          <p:nvPr/>
        </p:nvPicPr>
        <p:blipFill>
          <a:blip r:embed="rId5"/>
          <a:stretch>
            <a:fillRect/>
          </a:stretch>
        </p:blipFill>
        <p:spPr>
          <a:xfrm>
            <a:off x="557532" y="270355"/>
            <a:ext cx="94938" cy="110432"/>
          </a:xfrm>
          <a:prstGeom prst="rect">
            <a:avLst/>
          </a:prstGeom>
        </p:spPr>
      </p:pic>
      <p:pic>
        <p:nvPicPr>
          <p:cNvPr id="15" name="Image 9" descr="preencoded.png">
            <a:extLst>
              <a:ext uri="{FF2B5EF4-FFF2-40B4-BE49-F238E27FC236}">
                <a16:creationId xmlns:a16="http://schemas.microsoft.com/office/drawing/2014/main" id="{62428B7B-F60F-2474-60E5-441970913893}"/>
              </a:ext>
            </a:extLst>
          </p:cNvPr>
          <p:cNvPicPr>
            <a:picLocks noChangeAspect="1"/>
          </p:cNvPicPr>
          <p:nvPr/>
        </p:nvPicPr>
        <p:blipFill>
          <a:blip r:embed="rId6"/>
          <a:stretch>
            <a:fillRect/>
          </a:stretch>
        </p:blipFill>
        <p:spPr>
          <a:xfrm>
            <a:off x="654704" y="270341"/>
            <a:ext cx="98795" cy="148759"/>
          </a:xfrm>
          <a:prstGeom prst="rect">
            <a:avLst/>
          </a:prstGeom>
        </p:spPr>
      </p:pic>
      <p:pic>
        <p:nvPicPr>
          <p:cNvPr id="16" name="Image 10" descr="preencoded.png">
            <a:extLst>
              <a:ext uri="{FF2B5EF4-FFF2-40B4-BE49-F238E27FC236}">
                <a16:creationId xmlns:a16="http://schemas.microsoft.com/office/drawing/2014/main" id="{CD30214C-33F4-EF4D-4A77-2669C3D85995}"/>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7" name="Image 11" descr="preencoded.png">
            <a:extLst>
              <a:ext uri="{FF2B5EF4-FFF2-40B4-BE49-F238E27FC236}">
                <a16:creationId xmlns:a16="http://schemas.microsoft.com/office/drawing/2014/main" id="{F652379B-9CF4-1AD1-870C-8D3C19ADC625}"/>
              </a:ext>
            </a:extLst>
          </p:cNvPr>
          <p:cNvPicPr>
            <a:picLocks noChangeAspect="1"/>
          </p:cNvPicPr>
          <p:nvPr/>
        </p:nvPicPr>
        <p:blipFill>
          <a:blip r:embed="rId8"/>
          <a:stretch>
            <a:fillRect/>
          </a:stretch>
        </p:blipFill>
        <p:spPr>
          <a:xfrm>
            <a:off x="281565" y="282273"/>
            <a:ext cx="130884" cy="118176"/>
          </a:xfrm>
          <a:prstGeom prst="rect">
            <a:avLst/>
          </a:prstGeom>
        </p:spPr>
      </p:pic>
      <p:pic>
        <p:nvPicPr>
          <p:cNvPr id="18" name="Image 12" descr="preencoded.png">
            <a:extLst>
              <a:ext uri="{FF2B5EF4-FFF2-40B4-BE49-F238E27FC236}">
                <a16:creationId xmlns:a16="http://schemas.microsoft.com/office/drawing/2014/main" id="{AAB9CA5D-C147-316E-9EA9-CFAF15793DA1}"/>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4290408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41E4E-8467-05AB-4B28-24FC65159BC7}"/>
              </a:ext>
            </a:extLst>
          </p:cNvPr>
          <p:cNvSpPr>
            <a:spLocks noGrp="1"/>
          </p:cNvSpPr>
          <p:nvPr>
            <p:ph type="title"/>
          </p:nvPr>
        </p:nvSpPr>
        <p:spPr>
          <a:xfrm>
            <a:off x="839788" y="365125"/>
            <a:ext cx="10515600" cy="1325563"/>
          </a:xfrm>
        </p:spPr>
        <p:txBody>
          <a:bodyPr>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2E73AF16-3B94-1554-ADEF-F4AB2AADE2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75CBF1-893D-CA3B-1E82-E42BA520A2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43764CD-180A-9677-3337-000001CB5C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ECCF24-889B-BC14-970F-2418CF06681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8B345D6-958F-BEFC-B6F2-D7DC3D40313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0AE3341-5AE8-5BA8-0437-602286D4EE81}"/>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10" name="Shape 5">
            <a:extLst>
              <a:ext uri="{FF2B5EF4-FFF2-40B4-BE49-F238E27FC236}">
                <a16:creationId xmlns:a16="http://schemas.microsoft.com/office/drawing/2014/main" id="{2280E1E3-FBB0-BB01-80DF-10AE73698015}"/>
              </a:ext>
            </a:extLst>
          </p:cNvPr>
          <p:cNvSpPr/>
          <p:nvPr/>
        </p:nvSpPr>
        <p:spPr>
          <a:xfrm>
            <a:off x="190500" y="190500"/>
            <a:ext cx="661988" cy="228600"/>
          </a:xfrm>
          <a:prstGeom prst="rect">
            <a:avLst/>
          </a:prstGeom>
          <a:noFill/>
          <a:ln/>
        </p:spPr>
        <p:txBody>
          <a:bodyPr/>
          <a:lstStyle/>
          <a:p>
            <a:endParaRPr lang="en-US"/>
          </a:p>
        </p:txBody>
      </p:sp>
      <p:pic>
        <p:nvPicPr>
          <p:cNvPr id="11" name="Image 3" descr="preencoded.png">
            <a:extLst>
              <a:ext uri="{FF2B5EF4-FFF2-40B4-BE49-F238E27FC236}">
                <a16:creationId xmlns:a16="http://schemas.microsoft.com/office/drawing/2014/main" id="{996FDED8-EDA6-9343-D0A1-84BEBDD31D97}"/>
              </a:ext>
            </a:extLst>
          </p:cNvPr>
          <p:cNvPicPr>
            <a:picLocks noChangeAspect="1"/>
          </p:cNvPicPr>
          <p:nvPr/>
        </p:nvPicPr>
        <p:blipFill>
          <a:blip r:embed="rId2"/>
          <a:stretch>
            <a:fillRect/>
          </a:stretch>
        </p:blipFill>
        <p:spPr>
          <a:xfrm>
            <a:off x="242624" y="190500"/>
            <a:ext cx="117713" cy="143526"/>
          </a:xfrm>
          <a:prstGeom prst="rect">
            <a:avLst/>
          </a:prstGeom>
        </p:spPr>
      </p:pic>
      <p:pic>
        <p:nvPicPr>
          <p:cNvPr id="12" name="Image 4" descr="preencoded.png">
            <a:extLst>
              <a:ext uri="{FF2B5EF4-FFF2-40B4-BE49-F238E27FC236}">
                <a16:creationId xmlns:a16="http://schemas.microsoft.com/office/drawing/2014/main" id="{D83BCB30-36D8-4C72-14EE-F3E2E8F57313}"/>
              </a:ext>
            </a:extLst>
          </p:cNvPr>
          <p:cNvPicPr>
            <a:picLocks noChangeAspect="1"/>
          </p:cNvPicPr>
          <p:nvPr/>
        </p:nvPicPr>
        <p:blipFill>
          <a:blip r:embed="rId3"/>
          <a:stretch>
            <a:fillRect/>
          </a:stretch>
        </p:blipFill>
        <p:spPr>
          <a:xfrm>
            <a:off x="290275" y="344655"/>
            <a:ext cx="728" cy="3"/>
          </a:xfrm>
          <a:prstGeom prst="rect">
            <a:avLst/>
          </a:prstGeom>
        </p:spPr>
      </p:pic>
      <p:pic>
        <p:nvPicPr>
          <p:cNvPr id="13" name="Image 5" descr="preencoded.png">
            <a:extLst>
              <a:ext uri="{FF2B5EF4-FFF2-40B4-BE49-F238E27FC236}">
                <a16:creationId xmlns:a16="http://schemas.microsoft.com/office/drawing/2014/main" id="{B1AD6F6F-B20E-8D32-FAAB-369A5465E0C8}"/>
              </a:ext>
            </a:extLst>
          </p:cNvPr>
          <p:cNvPicPr>
            <a:picLocks noChangeAspect="1"/>
          </p:cNvPicPr>
          <p:nvPr/>
        </p:nvPicPr>
        <p:blipFill>
          <a:blip r:embed="rId3"/>
          <a:stretch>
            <a:fillRect/>
          </a:stretch>
        </p:blipFill>
        <p:spPr>
          <a:xfrm>
            <a:off x="290059" y="344659"/>
            <a:ext cx="216" cy="3"/>
          </a:xfrm>
          <a:prstGeom prst="rect">
            <a:avLst/>
          </a:prstGeom>
        </p:spPr>
      </p:pic>
      <p:pic>
        <p:nvPicPr>
          <p:cNvPr id="14" name="Image 6" descr="preencoded.png">
            <a:extLst>
              <a:ext uri="{FF2B5EF4-FFF2-40B4-BE49-F238E27FC236}">
                <a16:creationId xmlns:a16="http://schemas.microsoft.com/office/drawing/2014/main" id="{FBDDC6D6-2BEB-31DC-B298-E66E991D550A}"/>
              </a:ext>
            </a:extLst>
          </p:cNvPr>
          <p:cNvPicPr>
            <a:picLocks noChangeAspect="1"/>
          </p:cNvPicPr>
          <p:nvPr/>
        </p:nvPicPr>
        <p:blipFill>
          <a:blip r:embed="rId3"/>
          <a:stretch>
            <a:fillRect/>
          </a:stretch>
        </p:blipFill>
        <p:spPr>
          <a:xfrm>
            <a:off x="291937" y="355225"/>
            <a:ext cx="352" cy="3"/>
          </a:xfrm>
          <a:prstGeom prst="rect">
            <a:avLst/>
          </a:prstGeom>
        </p:spPr>
      </p:pic>
      <p:pic>
        <p:nvPicPr>
          <p:cNvPr id="15" name="Image 7" descr="preencoded.png">
            <a:extLst>
              <a:ext uri="{FF2B5EF4-FFF2-40B4-BE49-F238E27FC236}">
                <a16:creationId xmlns:a16="http://schemas.microsoft.com/office/drawing/2014/main" id="{59255BD3-C3BE-9A85-5AF2-9BB924428ED0}"/>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6" name="Image 8" descr="preencoded.png">
            <a:extLst>
              <a:ext uri="{FF2B5EF4-FFF2-40B4-BE49-F238E27FC236}">
                <a16:creationId xmlns:a16="http://schemas.microsoft.com/office/drawing/2014/main" id="{05589A3A-6BE4-FDF1-77D1-F2E573CBF877}"/>
              </a:ext>
            </a:extLst>
          </p:cNvPr>
          <p:cNvPicPr>
            <a:picLocks noChangeAspect="1"/>
          </p:cNvPicPr>
          <p:nvPr/>
        </p:nvPicPr>
        <p:blipFill>
          <a:blip r:embed="rId5"/>
          <a:stretch>
            <a:fillRect/>
          </a:stretch>
        </p:blipFill>
        <p:spPr>
          <a:xfrm>
            <a:off x="557532" y="270355"/>
            <a:ext cx="94938" cy="110432"/>
          </a:xfrm>
          <a:prstGeom prst="rect">
            <a:avLst/>
          </a:prstGeom>
        </p:spPr>
      </p:pic>
      <p:pic>
        <p:nvPicPr>
          <p:cNvPr id="17" name="Image 9" descr="preencoded.png">
            <a:extLst>
              <a:ext uri="{FF2B5EF4-FFF2-40B4-BE49-F238E27FC236}">
                <a16:creationId xmlns:a16="http://schemas.microsoft.com/office/drawing/2014/main" id="{BB7959B2-981C-3C8F-4F27-DBABC1988333}"/>
              </a:ext>
            </a:extLst>
          </p:cNvPr>
          <p:cNvPicPr>
            <a:picLocks noChangeAspect="1"/>
          </p:cNvPicPr>
          <p:nvPr/>
        </p:nvPicPr>
        <p:blipFill>
          <a:blip r:embed="rId6"/>
          <a:stretch>
            <a:fillRect/>
          </a:stretch>
        </p:blipFill>
        <p:spPr>
          <a:xfrm>
            <a:off x="654704" y="270341"/>
            <a:ext cx="98795" cy="148759"/>
          </a:xfrm>
          <a:prstGeom prst="rect">
            <a:avLst/>
          </a:prstGeom>
        </p:spPr>
      </p:pic>
      <p:pic>
        <p:nvPicPr>
          <p:cNvPr id="18" name="Image 10" descr="preencoded.png">
            <a:extLst>
              <a:ext uri="{FF2B5EF4-FFF2-40B4-BE49-F238E27FC236}">
                <a16:creationId xmlns:a16="http://schemas.microsoft.com/office/drawing/2014/main" id="{FC3F9996-F09C-CD6B-EFCB-DA8BC9C28F31}"/>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9" name="Image 11" descr="preencoded.png">
            <a:extLst>
              <a:ext uri="{FF2B5EF4-FFF2-40B4-BE49-F238E27FC236}">
                <a16:creationId xmlns:a16="http://schemas.microsoft.com/office/drawing/2014/main" id="{2ED1A265-4A95-F6BF-055E-6E7DF38089D5}"/>
              </a:ext>
            </a:extLst>
          </p:cNvPr>
          <p:cNvPicPr>
            <a:picLocks noChangeAspect="1"/>
          </p:cNvPicPr>
          <p:nvPr/>
        </p:nvPicPr>
        <p:blipFill>
          <a:blip r:embed="rId8"/>
          <a:stretch>
            <a:fillRect/>
          </a:stretch>
        </p:blipFill>
        <p:spPr>
          <a:xfrm>
            <a:off x="281565" y="282273"/>
            <a:ext cx="130884" cy="118176"/>
          </a:xfrm>
          <a:prstGeom prst="rect">
            <a:avLst/>
          </a:prstGeom>
        </p:spPr>
      </p:pic>
      <p:pic>
        <p:nvPicPr>
          <p:cNvPr id="20" name="Image 12" descr="preencoded.png">
            <a:extLst>
              <a:ext uri="{FF2B5EF4-FFF2-40B4-BE49-F238E27FC236}">
                <a16:creationId xmlns:a16="http://schemas.microsoft.com/office/drawing/2014/main" id="{8AA81C56-C7C1-8192-BB96-2EAF5E6E65B3}"/>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1587032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32E9C-AC2F-598A-971D-CB008C399593}"/>
              </a:ext>
            </a:extLst>
          </p:cNvPr>
          <p:cNvSpPr>
            <a:spLocks noGrp="1"/>
          </p:cNvSpPr>
          <p:nvPr>
            <p:ph type="title"/>
          </p:nvPr>
        </p:nvSpPr>
        <p:spPr/>
        <p:txBody>
          <a:bodyPr>
            <a:normAutofit/>
          </a:bodyPr>
          <a:lstStyle>
            <a:lvl1pPr>
              <a:defRPr sz="3600"/>
            </a:lvl1pPr>
          </a:lstStyle>
          <a:p>
            <a:r>
              <a:rPr lang="en-US"/>
              <a:t>Click to edit Master title style</a:t>
            </a:r>
          </a:p>
        </p:txBody>
      </p:sp>
      <p:sp>
        <p:nvSpPr>
          <p:cNvPr id="4" name="Footer Placeholder 3">
            <a:extLst>
              <a:ext uri="{FF2B5EF4-FFF2-40B4-BE49-F238E27FC236}">
                <a16:creationId xmlns:a16="http://schemas.microsoft.com/office/drawing/2014/main" id="{48522642-A407-B802-D9EF-445D10F6B1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D86E38B-EAD0-FDED-82A1-3CE01F794498}"/>
              </a:ext>
            </a:extLst>
          </p:cNvPr>
          <p:cNvSpPr>
            <a:spLocks noGrp="1"/>
          </p:cNvSpPr>
          <p:nvPr>
            <p:ph type="sldNum" sz="quarter" idx="12"/>
          </p:nvPr>
        </p:nvSpPr>
        <p:spPr/>
        <p:txBody>
          <a:bodyPr/>
          <a:lstStyle/>
          <a:p>
            <a:fld id="{F4CFF174-0C8B-41F2-9A46-1C3276C99A0F}" type="slidenum">
              <a:rPr lang="en-US" smtClean="0"/>
              <a:t>‹#›</a:t>
            </a:fld>
            <a:endParaRPr lang="en-US"/>
          </a:p>
        </p:txBody>
      </p:sp>
      <p:sp>
        <p:nvSpPr>
          <p:cNvPr id="6" name="Shape 5">
            <a:extLst>
              <a:ext uri="{FF2B5EF4-FFF2-40B4-BE49-F238E27FC236}">
                <a16:creationId xmlns:a16="http://schemas.microsoft.com/office/drawing/2014/main" id="{A16C830E-A360-7AC5-875D-9D5222451EAF}"/>
              </a:ext>
            </a:extLst>
          </p:cNvPr>
          <p:cNvSpPr/>
          <p:nvPr/>
        </p:nvSpPr>
        <p:spPr>
          <a:xfrm>
            <a:off x="190500" y="190500"/>
            <a:ext cx="661988" cy="228600"/>
          </a:xfrm>
          <a:prstGeom prst="rect">
            <a:avLst/>
          </a:prstGeom>
          <a:noFill/>
          <a:ln/>
        </p:spPr>
        <p:txBody>
          <a:bodyPr/>
          <a:lstStyle/>
          <a:p>
            <a:endParaRPr lang="en-US"/>
          </a:p>
        </p:txBody>
      </p:sp>
      <p:pic>
        <p:nvPicPr>
          <p:cNvPr id="7" name="Image 3" descr="preencoded.png">
            <a:extLst>
              <a:ext uri="{FF2B5EF4-FFF2-40B4-BE49-F238E27FC236}">
                <a16:creationId xmlns:a16="http://schemas.microsoft.com/office/drawing/2014/main" id="{6FA7C61D-AC3B-A5A8-802C-38559A5BCCF1}"/>
              </a:ext>
            </a:extLst>
          </p:cNvPr>
          <p:cNvPicPr>
            <a:picLocks noChangeAspect="1"/>
          </p:cNvPicPr>
          <p:nvPr/>
        </p:nvPicPr>
        <p:blipFill>
          <a:blip r:embed="rId2"/>
          <a:stretch>
            <a:fillRect/>
          </a:stretch>
        </p:blipFill>
        <p:spPr>
          <a:xfrm>
            <a:off x="242624" y="190500"/>
            <a:ext cx="117713" cy="143526"/>
          </a:xfrm>
          <a:prstGeom prst="rect">
            <a:avLst/>
          </a:prstGeom>
        </p:spPr>
      </p:pic>
      <p:pic>
        <p:nvPicPr>
          <p:cNvPr id="8" name="Image 4" descr="preencoded.png">
            <a:extLst>
              <a:ext uri="{FF2B5EF4-FFF2-40B4-BE49-F238E27FC236}">
                <a16:creationId xmlns:a16="http://schemas.microsoft.com/office/drawing/2014/main" id="{6211D501-648C-ABA1-7828-3399D967353F}"/>
              </a:ext>
            </a:extLst>
          </p:cNvPr>
          <p:cNvPicPr>
            <a:picLocks noChangeAspect="1"/>
          </p:cNvPicPr>
          <p:nvPr/>
        </p:nvPicPr>
        <p:blipFill>
          <a:blip r:embed="rId3"/>
          <a:stretch>
            <a:fillRect/>
          </a:stretch>
        </p:blipFill>
        <p:spPr>
          <a:xfrm>
            <a:off x="290275" y="344655"/>
            <a:ext cx="728" cy="3"/>
          </a:xfrm>
          <a:prstGeom prst="rect">
            <a:avLst/>
          </a:prstGeom>
        </p:spPr>
      </p:pic>
      <p:pic>
        <p:nvPicPr>
          <p:cNvPr id="9" name="Image 5" descr="preencoded.png">
            <a:extLst>
              <a:ext uri="{FF2B5EF4-FFF2-40B4-BE49-F238E27FC236}">
                <a16:creationId xmlns:a16="http://schemas.microsoft.com/office/drawing/2014/main" id="{453193C3-E143-90F7-FFAF-FAE6FF0F8153}"/>
              </a:ext>
            </a:extLst>
          </p:cNvPr>
          <p:cNvPicPr>
            <a:picLocks noChangeAspect="1"/>
          </p:cNvPicPr>
          <p:nvPr/>
        </p:nvPicPr>
        <p:blipFill>
          <a:blip r:embed="rId3"/>
          <a:stretch>
            <a:fillRect/>
          </a:stretch>
        </p:blipFill>
        <p:spPr>
          <a:xfrm>
            <a:off x="290059" y="344659"/>
            <a:ext cx="216" cy="3"/>
          </a:xfrm>
          <a:prstGeom prst="rect">
            <a:avLst/>
          </a:prstGeom>
        </p:spPr>
      </p:pic>
      <p:pic>
        <p:nvPicPr>
          <p:cNvPr id="10" name="Image 6" descr="preencoded.png">
            <a:extLst>
              <a:ext uri="{FF2B5EF4-FFF2-40B4-BE49-F238E27FC236}">
                <a16:creationId xmlns:a16="http://schemas.microsoft.com/office/drawing/2014/main" id="{CD7967F3-83BC-6097-0C75-DA5DAC583598}"/>
              </a:ext>
            </a:extLst>
          </p:cNvPr>
          <p:cNvPicPr>
            <a:picLocks noChangeAspect="1"/>
          </p:cNvPicPr>
          <p:nvPr/>
        </p:nvPicPr>
        <p:blipFill>
          <a:blip r:embed="rId3"/>
          <a:stretch>
            <a:fillRect/>
          </a:stretch>
        </p:blipFill>
        <p:spPr>
          <a:xfrm>
            <a:off x="291937" y="355225"/>
            <a:ext cx="352" cy="3"/>
          </a:xfrm>
          <a:prstGeom prst="rect">
            <a:avLst/>
          </a:prstGeom>
        </p:spPr>
      </p:pic>
      <p:pic>
        <p:nvPicPr>
          <p:cNvPr id="11" name="Image 7" descr="preencoded.png">
            <a:extLst>
              <a:ext uri="{FF2B5EF4-FFF2-40B4-BE49-F238E27FC236}">
                <a16:creationId xmlns:a16="http://schemas.microsoft.com/office/drawing/2014/main" id="{55401895-E400-1D7F-43FA-D0FB891E30F9}"/>
              </a:ext>
            </a:extLst>
          </p:cNvPr>
          <p:cNvPicPr>
            <a:picLocks noChangeAspect="1"/>
          </p:cNvPicPr>
          <p:nvPr/>
        </p:nvPicPr>
        <p:blipFill>
          <a:blip r:embed="rId4"/>
          <a:stretch>
            <a:fillRect/>
          </a:stretch>
        </p:blipFill>
        <p:spPr>
          <a:xfrm>
            <a:off x="450227" y="228958"/>
            <a:ext cx="103239" cy="151832"/>
          </a:xfrm>
          <a:prstGeom prst="rect">
            <a:avLst/>
          </a:prstGeom>
        </p:spPr>
      </p:pic>
      <p:pic>
        <p:nvPicPr>
          <p:cNvPr id="12" name="Image 8" descr="preencoded.png">
            <a:extLst>
              <a:ext uri="{FF2B5EF4-FFF2-40B4-BE49-F238E27FC236}">
                <a16:creationId xmlns:a16="http://schemas.microsoft.com/office/drawing/2014/main" id="{62A5EDCF-DDE8-6DE0-1CC8-819ABA4DB209}"/>
              </a:ext>
            </a:extLst>
          </p:cNvPr>
          <p:cNvPicPr>
            <a:picLocks noChangeAspect="1"/>
          </p:cNvPicPr>
          <p:nvPr/>
        </p:nvPicPr>
        <p:blipFill>
          <a:blip r:embed="rId5"/>
          <a:stretch>
            <a:fillRect/>
          </a:stretch>
        </p:blipFill>
        <p:spPr>
          <a:xfrm>
            <a:off x="557532" y="270355"/>
            <a:ext cx="94938" cy="110432"/>
          </a:xfrm>
          <a:prstGeom prst="rect">
            <a:avLst/>
          </a:prstGeom>
        </p:spPr>
      </p:pic>
      <p:pic>
        <p:nvPicPr>
          <p:cNvPr id="13" name="Image 9" descr="preencoded.png">
            <a:extLst>
              <a:ext uri="{FF2B5EF4-FFF2-40B4-BE49-F238E27FC236}">
                <a16:creationId xmlns:a16="http://schemas.microsoft.com/office/drawing/2014/main" id="{BBD93823-B957-25BB-C99E-9354F16883D4}"/>
              </a:ext>
            </a:extLst>
          </p:cNvPr>
          <p:cNvPicPr>
            <a:picLocks noChangeAspect="1"/>
          </p:cNvPicPr>
          <p:nvPr/>
        </p:nvPicPr>
        <p:blipFill>
          <a:blip r:embed="rId6"/>
          <a:stretch>
            <a:fillRect/>
          </a:stretch>
        </p:blipFill>
        <p:spPr>
          <a:xfrm>
            <a:off x="654704" y="270341"/>
            <a:ext cx="98795" cy="148759"/>
          </a:xfrm>
          <a:prstGeom prst="rect">
            <a:avLst/>
          </a:prstGeom>
        </p:spPr>
      </p:pic>
      <p:pic>
        <p:nvPicPr>
          <p:cNvPr id="14" name="Image 10" descr="preencoded.png">
            <a:extLst>
              <a:ext uri="{FF2B5EF4-FFF2-40B4-BE49-F238E27FC236}">
                <a16:creationId xmlns:a16="http://schemas.microsoft.com/office/drawing/2014/main" id="{EBB4ED86-D056-E708-2D02-AE316C12A110}"/>
              </a:ext>
            </a:extLst>
          </p:cNvPr>
          <p:cNvPicPr>
            <a:picLocks noChangeAspect="1"/>
          </p:cNvPicPr>
          <p:nvPr/>
        </p:nvPicPr>
        <p:blipFill>
          <a:blip r:embed="rId7"/>
          <a:stretch>
            <a:fillRect/>
          </a:stretch>
        </p:blipFill>
        <p:spPr>
          <a:xfrm>
            <a:off x="750855" y="270351"/>
            <a:ext cx="101629" cy="110432"/>
          </a:xfrm>
          <a:prstGeom prst="rect">
            <a:avLst/>
          </a:prstGeom>
        </p:spPr>
      </p:pic>
      <p:pic>
        <p:nvPicPr>
          <p:cNvPr id="15" name="Image 11" descr="preencoded.png">
            <a:extLst>
              <a:ext uri="{FF2B5EF4-FFF2-40B4-BE49-F238E27FC236}">
                <a16:creationId xmlns:a16="http://schemas.microsoft.com/office/drawing/2014/main" id="{BDE3193F-5748-17EB-FB7F-C12EC5E806C3}"/>
              </a:ext>
            </a:extLst>
          </p:cNvPr>
          <p:cNvPicPr>
            <a:picLocks noChangeAspect="1"/>
          </p:cNvPicPr>
          <p:nvPr/>
        </p:nvPicPr>
        <p:blipFill>
          <a:blip r:embed="rId8"/>
          <a:stretch>
            <a:fillRect/>
          </a:stretch>
        </p:blipFill>
        <p:spPr>
          <a:xfrm>
            <a:off x="281565" y="282273"/>
            <a:ext cx="130884" cy="118176"/>
          </a:xfrm>
          <a:prstGeom prst="rect">
            <a:avLst/>
          </a:prstGeom>
        </p:spPr>
      </p:pic>
      <p:pic>
        <p:nvPicPr>
          <p:cNvPr id="16" name="Image 12" descr="preencoded.png">
            <a:extLst>
              <a:ext uri="{FF2B5EF4-FFF2-40B4-BE49-F238E27FC236}">
                <a16:creationId xmlns:a16="http://schemas.microsoft.com/office/drawing/2014/main" id="{32D52360-BAE5-033B-1495-439B02227C38}"/>
              </a:ext>
            </a:extLst>
          </p:cNvPr>
          <p:cNvPicPr>
            <a:picLocks noChangeAspect="1"/>
          </p:cNvPicPr>
          <p:nvPr/>
        </p:nvPicPr>
        <p:blipFill>
          <a:blip r:embed="rId9"/>
          <a:stretch>
            <a:fillRect/>
          </a:stretch>
        </p:blipFill>
        <p:spPr>
          <a:xfrm>
            <a:off x="190500" y="282270"/>
            <a:ext cx="130884" cy="118181"/>
          </a:xfrm>
          <a:prstGeom prst="rect">
            <a:avLst/>
          </a:prstGeom>
        </p:spPr>
      </p:pic>
    </p:spTree>
    <p:extLst>
      <p:ext uri="{BB962C8B-B14F-4D97-AF65-F5344CB8AC3E}">
        <p14:creationId xmlns:p14="http://schemas.microsoft.com/office/powerpoint/2010/main" val="2090769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2940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Page-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50910-A0C0-68BB-7B53-15FDAD26F043}"/>
              </a:ext>
            </a:extLst>
          </p:cNvPr>
          <p:cNvSpPr>
            <a:spLocks noGrp="1"/>
          </p:cNvSpPr>
          <p:nvPr>
            <p:ph type="title" hasCustomPrompt="1"/>
          </p:nvPr>
        </p:nvSpPr>
        <p:spPr>
          <a:xfrm>
            <a:off x="262258" y="3225776"/>
            <a:ext cx="5070017" cy="828064"/>
          </a:xfrm>
        </p:spPr>
        <p:txBody>
          <a:bodyPr/>
          <a:lstStyle>
            <a:lvl1pPr>
              <a:lnSpc>
                <a:spcPct val="100952"/>
              </a:lnSpc>
              <a:defRPr spc="-26">
                <a:solidFill>
                  <a:schemeClr val="bg1"/>
                </a:solidFill>
              </a:defRPr>
            </a:lvl1pPr>
          </a:lstStyle>
          <a:p>
            <a:r>
              <a:rPr lang="en-US"/>
              <a:t>Lorem ipsum dolor sit </a:t>
            </a:r>
            <a:r>
              <a:rPr lang="en-US" err="1"/>
              <a:t>amet</a:t>
            </a:r>
            <a:r>
              <a:rPr lang="en-US"/>
              <a:t> </a:t>
            </a:r>
            <a:r>
              <a:rPr lang="en-US" err="1"/>
              <a:t>consectetur</a:t>
            </a:r>
            <a:r>
              <a:rPr lang="en-US"/>
              <a:t> </a:t>
            </a:r>
            <a:r>
              <a:rPr lang="en-US" err="1"/>
              <a:t>adipiscing</a:t>
            </a:r>
            <a:r>
              <a:rPr lang="en-US"/>
              <a:t>.</a:t>
            </a:r>
            <a:endParaRPr lang="en-GB"/>
          </a:p>
        </p:txBody>
      </p:sp>
      <p:sp>
        <p:nvSpPr>
          <p:cNvPr id="3" name="Footer Placeholder 2">
            <a:extLst>
              <a:ext uri="{FF2B5EF4-FFF2-40B4-BE49-F238E27FC236}">
                <a16:creationId xmlns:a16="http://schemas.microsoft.com/office/drawing/2014/main" id="{CC34FF15-ACE1-BC40-45CB-34D1B57152A0}"/>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314EC72E-7D93-4BA5-9C9F-9730CC1FCBBF}"/>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sp>
        <p:nvSpPr>
          <p:cNvPr id="23" name="Date Placeholder 21" hidden="1">
            <a:extLst>
              <a:ext uri="{FF2B5EF4-FFF2-40B4-BE49-F238E27FC236}">
                <a16:creationId xmlns:a16="http://schemas.microsoft.com/office/drawing/2014/main" id="{538CCEA6-28D6-432F-620A-5FA841D9A67A}"/>
              </a:ext>
            </a:extLst>
          </p:cNvPr>
          <p:cNvSpPr>
            <a:spLocks noGrp="1"/>
          </p:cNvSpPr>
          <p:nvPr>
            <p:ph type="dt" sz="half" idx="2"/>
          </p:nvPr>
        </p:nvSpPr>
        <p:spPr>
          <a:xfrm>
            <a:off x="11028045" y="6492240"/>
            <a:ext cx="906780" cy="109776"/>
          </a:xfrm>
          <a:prstGeom prst="rect">
            <a:avLst/>
          </a:prstGeom>
        </p:spPr>
        <p:txBody>
          <a:bodyPr vert="horz" lIns="0" tIns="0" rIns="0" bIns="0" rtlCol="0" anchor="ctr">
            <a:noAutofit/>
          </a:bodyPr>
          <a:lstStyle>
            <a:lvl1pPr algn="r">
              <a:defRPr lang="en-GB" sz="800" spc="-39" smtClean="0">
                <a:solidFill>
                  <a:schemeClr val="tx1"/>
                </a:solidFill>
              </a:defRPr>
            </a:lvl1pPr>
          </a:lstStyle>
          <a:p>
            <a:fld id="{BC01B09E-BD2E-4777-B4D4-F6B540230C58}" type="datetime6">
              <a:rPr lang="en-GB" smtClean="0"/>
              <a:pPr/>
              <a:t>April 26</a:t>
            </a:fld>
            <a:endParaRPr lang="en-GB" sz="800"/>
          </a:p>
        </p:txBody>
      </p:sp>
      <p:grpSp>
        <p:nvGrpSpPr>
          <p:cNvPr id="7" name="Graphic 8">
            <a:extLst>
              <a:ext uri="{FF2B5EF4-FFF2-40B4-BE49-F238E27FC236}">
                <a16:creationId xmlns:a16="http://schemas.microsoft.com/office/drawing/2014/main" id="{CB562FDC-03F1-5521-89C7-C4C12E07C6DB}"/>
              </a:ext>
            </a:extLst>
          </p:cNvPr>
          <p:cNvGrpSpPr/>
          <p:nvPr userDrawn="1"/>
        </p:nvGrpSpPr>
        <p:grpSpPr>
          <a:xfrm>
            <a:off x="257178" y="255588"/>
            <a:ext cx="895347" cy="306976"/>
            <a:chOff x="257178" y="255588"/>
            <a:chExt cx="895347" cy="306976"/>
          </a:xfrm>
          <a:solidFill>
            <a:schemeClr val="bg1"/>
          </a:solidFill>
        </p:grpSpPr>
        <p:sp>
          <p:nvSpPr>
            <p:cNvPr id="8" name="Free-form: Shape 7">
              <a:extLst>
                <a:ext uri="{FF2B5EF4-FFF2-40B4-BE49-F238E27FC236}">
                  <a16:creationId xmlns:a16="http://schemas.microsoft.com/office/drawing/2014/main" id="{2791912A-744B-425D-F110-EFB13F6FAEE4}"/>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89270859-3F16-2104-574D-74236AD8FD59}"/>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983165A3-2236-5DED-D823-B998BA612380}"/>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F43ADFC-C7F7-447E-7528-B2D251DE959F}"/>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5E1AB878-C85A-B38C-3580-5EE82627FBF3}"/>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71061D67-2C92-6676-B691-D0C3162E6895}"/>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2C5BED9F-A69D-4C82-E00C-5A9A9FD9EC99}"/>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D9E26B4A-0E89-9545-CF71-72B0B21E751A}"/>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DA25754-0125-9425-59B1-7FEC7D4AAAF3}"/>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EB2E4AC9-D18F-9818-11E5-9FAF5E9141FF}"/>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
        <p:nvSpPr>
          <p:cNvPr id="18" name="Subtitle 2">
            <a:extLst>
              <a:ext uri="{FF2B5EF4-FFF2-40B4-BE49-F238E27FC236}">
                <a16:creationId xmlns:a16="http://schemas.microsoft.com/office/drawing/2014/main" id="{620E3FC0-F13B-4AA1-8445-8E35E2CF1931}"/>
              </a:ext>
            </a:extLst>
          </p:cNvPr>
          <p:cNvSpPr>
            <a:spLocks noGrp="1"/>
          </p:cNvSpPr>
          <p:nvPr>
            <p:ph type="subTitle" idx="1" hasCustomPrompt="1"/>
          </p:nvPr>
        </p:nvSpPr>
        <p:spPr>
          <a:xfrm>
            <a:off x="257178" y="2926186"/>
            <a:ext cx="5070017" cy="158693"/>
          </a:xfrm>
        </p:spPr>
        <p:txBody>
          <a:bodyPr/>
          <a:lstStyle>
            <a:lvl1pPr marL="0" indent="0" algn="l">
              <a:buNone/>
              <a:defRPr sz="1200">
                <a:solidFill>
                  <a:schemeClr val="bg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Section Title</a:t>
            </a:r>
          </a:p>
        </p:txBody>
      </p:sp>
    </p:spTree>
    <p:extLst>
      <p:ext uri="{BB962C8B-B14F-4D97-AF65-F5344CB8AC3E}">
        <p14:creationId xmlns:p14="http://schemas.microsoft.com/office/powerpoint/2010/main" val="454741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Page-2">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B042BA4-469A-ACDB-3C72-111476EA4246}"/>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A19ED306-214C-DFDE-1E4C-3120B3984D77}"/>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grpSp>
        <p:nvGrpSpPr>
          <p:cNvPr id="7" name="Graphic 8">
            <a:extLst>
              <a:ext uri="{FF2B5EF4-FFF2-40B4-BE49-F238E27FC236}">
                <a16:creationId xmlns:a16="http://schemas.microsoft.com/office/drawing/2014/main" id="{42F3CB05-B71F-2304-36F3-1D328DDB162C}"/>
              </a:ext>
            </a:extLst>
          </p:cNvPr>
          <p:cNvGrpSpPr/>
          <p:nvPr userDrawn="1"/>
        </p:nvGrpSpPr>
        <p:grpSpPr>
          <a:xfrm>
            <a:off x="257178" y="255588"/>
            <a:ext cx="895347" cy="306976"/>
            <a:chOff x="257178" y="255588"/>
            <a:chExt cx="895347" cy="306976"/>
          </a:xfrm>
          <a:solidFill>
            <a:schemeClr val="bg1"/>
          </a:solidFill>
        </p:grpSpPr>
        <p:sp>
          <p:nvSpPr>
            <p:cNvPr id="8" name="Free-form: Shape 7">
              <a:extLst>
                <a:ext uri="{FF2B5EF4-FFF2-40B4-BE49-F238E27FC236}">
                  <a16:creationId xmlns:a16="http://schemas.microsoft.com/office/drawing/2014/main" id="{30B7A793-96DD-718F-6C53-3ED56F3EC0D9}"/>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9" name="Free-form: Shape 8">
              <a:extLst>
                <a:ext uri="{FF2B5EF4-FFF2-40B4-BE49-F238E27FC236}">
                  <a16:creationId xmlns:a16="http://schemas.microsoft.com/office/drawing/2014/main" id="{E4A4D229-A539-9666-C803-E715831FCB80}"/>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649BA90A-AFC7-6552-715F-EB24799740AA}"/>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1FDB49AB-05C6-830A-79E4-659B4384A3D7}"/>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CA1B60CB-DCD7-8B10-E27A-06BFF887A080}"/>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59E0B493-3501-EF31-42E0-75A5F876ED0D}"/>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A3DE3EBE-2D35-17A6-7194-22B9C028797B}"/>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865A8686-D0E9-5DE2-D5AF-9469D8DFC277}"/>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E79BEBE-4F28-1B64-3229-278A2A0FCA0C}"/>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C6D91C27-5113-D6F8-DD50-545A13EBBEA4}"/>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
        <p:nvSpPr>
          <p:cNvPr id="18" name="Title 1">
            <a:extLst>
              <a:ext uri="{FF2B5EF4-FFF2-40B4-BE49-F238E27FC236}">
                <a16:creationId xmlns:a16="http://schemas.microsoft.com/office/drawing/2014/main" id="{55FB519E-F037-3DA4-A1C7-8F1520479F9D}"/>
              </a:ext>
            </a:extLst>
          </p:cNvPr>
          <p:cNvSpPr>
            <a:spLocks noGrp="1"/>
          </p:cNvSpPr>
          <p:nvPr>
            <p:ph type="title" hasCustomPrompt="1"/>
          </p:nvPr>
        </p:nvSpPr>
        <p:spPr>
          <a:xfrm>
            <a:off x="2225501" y="3268448"/>
            <a:ext cx="8945261" cy="401344"/>
          </a:xfrm>
        </p:spPr>
        <p:txBody>
          <a:bodyPr/>
          <a:lstStyle>
            <a:lvl1pPr>
              <a:lnSpc>
                <a:spcPct val="100952"/>
              </a:lnSpc>
              <a:defRPr spc="-26">
                <a:solidFill>
                  <a:schemeClr val="bg1"/>
                </a:solidFill>
              </a:defRPr>
            </a:lvl1pPr>
          </a:lstStyle>
          <a:p>
            <a:r>
              <a:rPr lang="en-US"/>
              <a:t>Lorem ipsum dolor sit </a:t>
            </a:r>
            <a:r>
              <a:rPr lang="en-US" err="1"/>
              <a:t>amet</a:t>
            </a:r>
            <a:r>
              <a:rPr lang="en-US"/>
              <a:t> </a:t>
            </a:r>
            <a:r>
              <a:rPr lang="en-US" err="1"/>
              <a:t>consectetur</a:t>
            </a:r>
            <a:r>
              <a:rPr lang="en-US"/>
              <a:t> </a:t>
            </a:r>
            <a:r>
              <a:rPr lang="en-US" err="1"/>
              <a:t>adipiscing</a:t>
            </a:r>
            <a:r>
              <a:rPr lang="en-US"/>
              <a:t>.</a:t>
            </a:r>
            <a:endParaRPr lang="en-GB"/>
          </a:p>
        </p:txBody>
      </p:sp>
      <p:sp>
        <p:nvSpPr>
          <p:cNvPr id="25" name="Text Placeholder 24">
            <a:extLst>
              <a:ext uri="{FF2B5EF4-FFF2-40B4-BE49-F238E27FC236}">
                <a16:creationId xmlns:a16="http://schemas.microsoft.com/office/drawing/2014/main" id="{9A1371C9-0DD0-D675-51AF-9B5EDD28DB46}"/>
              </a:ext>
            </a:extLst>
          </p:cNvPr>
          <p:cNvSpPr>
            <a:spLocks noGrp="1"/>
          </p:cNvSpPr>
          <p:nvPr>
            <p:ph type="body" sz="quarter" idx="12" hasCustomPrompt="1"/>
          </p:nvPr>
        </p:nvSpPr>
        <p:spPr>
          <a:xfrm>
            <a:off x="257178" y="3067617"/>
            <a:ext cx="1144588" cy="158693"/>
          </a:xfrm>
        </p:spPr>
        <p:txBody>
          <a:bodyPr vert="horz" lIns="0" tIns="0" rIns="0" bIns="0" rtlCol="0">
            <a:noAutofit/>
          </a:bodyPr>
          <a:lstStyle>
            <a:lvl1pPr>
              <a:buNone/>
              <a:defRPr lang="en-GB" sz="1200" spc="-9" dirty="0">
                <a:solidFill>
                  <a:schemeClr val="bg1"/>
                </a:solidFill>
                <a:latin typeface="Funnel Sans Medium" pitchFamily="2" charset="0"/>
              </a:defRPr>
            </a:lvl1pPr>
          </a:lstStyle>
          <a:p>
            <a:pPr marL="0" lvl="0" indent="0">
              <a:buNone/>
            </a:pPr>
            <a:r>
              <a:rPr lang="en-US"/>
              <a:t>Section One</a:t>
            </a:r>
            <a:endParaRPr lang="en-GB"/>
          </a:p>
        </p:txBody>
      </p:sp>
      <p:sp>
        <p:nvSpPr>
          <p:cNvPr id="27" name="Text Placeholder 24">
            <a:extLst>
              <a:ext uri="{FF2B5EF4-FFF2-40B4-BE49-F238E27FC236}">
                <a16:creationId xmlns:a16="http://schemas.microsoft.com/office/drawing/2014/main" id="{13899FB2-FBD1-4075-123F-B4536AB49CE9}"/>
              </a:ext>
            </a:extLst>
          </p:cNvPr>
          <p:cNvSpPr>
            <a:spLocks noGrp="1"/>
          </p:cNvSpPr>
          <p:nvPr>
            <p:ph type="body" sz="quarter" idx="13" hasCustomPrompt="1"/>
          </p:nvPr>
        </p:nvSpPr>
        <p:spPr>
          <a:xfrm>
            <a:off x="257178" y="3360957"/>
            <a:ext cx="1144588" cy="158693"/>
          </a:xfrm>
        </p:spPr>
        <p:txBody>
          <a:bodyPr vert="horz" lIns="0" tIns="0" rIns="0" bIns="0" rtlCol="0">
            <a:noAutofit/>
          </a:bodyPr>
          <a:lstStyle>
            <a:lvl1pPr>
              <a:buNone/>
              <a:defRPr lang="en-GB" sz="1200" spc="-6" dirty="0">
                <a:solidFill>
                  <a:schemeClr val="tx2"/>
                </a:solidFill>
                <a:latin typeface="Funnel Sans Medium" pitchFamily="2" charset="0"/>
              </a:defRPr>
            </a:lvl1pPr>
          </a:lstStyle>
          <a:p>
            <a:pPr marL="0" lvl="0" indent="0">
              <a:buNone/>
            </a:pPr>
            <a:r>
              <a:rPr lang="en-US"/>
              <a:t>Section Two</a:t>
            </a:r>
            <a:endParaRPr lang="en-GB"/>
          </a:p>
        </p:txBody>
      </p:sp>
      <p:sp>
        <p:nvSpPr>
          <p:cNvPr id="28" name="Text Placeholder 24">
            <a:extLst>
              <a:ext uri="{FF2B5EF4-FFF2-40B4-BE49-F238E27FC236}">
                <a16:creationId xmlns:a16="http://schemas.microsoft.com/office/drawing/2014/main" id="{D2431CCB-56DE-6E4B-FFA1-297FA4232DEE}"/>
              </a:ext>
            </a:extLst>
          </p:cNvPr>
          <p:cNvSpPr>
            <a:spLocks noGrp="1"/>
          </p:cNvSpPr>
          <p:nvPr>
            <p:ph type="body" sz="quarter" idx="14" hasCustomPrompt="1"/>
          </p:nvPr>
        </p:nvSpPr>
        <p:spPr>
          <a:xfrm>
            <a:off x="257178" y="3654297"/>
            <a:ext cx="1144588" cy="158693"/>
          </a:xfrm>
        </p:spPr>
        <p:txBody>
          <a:bodyPr vert="horz" lIns="0" tIns="0" rIns="0" bIns="0" rtlCol="0">
            <a:noAutofit/>
          </a:bodyPr>
          <a:lstStyle>
            <a:lvl1pPr>
              <a:buNone/>
              <a:defRPr lang="en-GB" sz="1200" spc="-6" dirty="0">
                <a:solidFill>
                  <a:schemeClr val="tx2"/>
                </a:solidFill>
                <a:latin typeface="Funnel Sans Medium" pitchFamily="2" charset="0"/>
              </a:defRPr>
            </a:lvl1pPr>
          </a:lstStyle>
          <a:p>
            <a:pPr marL="0" lvl="0" indent="0">
              <a:buNone/>
            </a:pPr>
            <a:r>
              <a:rPr lang="en-US"/>
              <a:t>Section Three</a:t>
            </a:r>
            <a:endParaRPr lang="en-GB"/>
          </a:p>
        </p:txBody>
      </p:sp>
    </p:spTree>
    <p:extLst>
      <p:ext uri="{BB962C8B-B14F-4D97-AF65-F5344CB8AC3E}">
        <p14:creationId xmlns:p14="http://schemas.microsoft.com/office/powerpoint/2010/main" val="1479217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Page-3">
    <p:bg>
      <p:bgPr>
        <a:solidFill>
          <a:schemeClr val="accent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D03D0F0-7052-5160-A771-5119F33D0FA6}"/>
              </a:ext>
            </a:extLst>
          </p:cNvPr>
          <p:cNvSpPr>
            <a:spLocks noGrp="1"/>
          </p:cNvSpPr>
          <p:nvPr>
            <p:ph type="ftr" sz="quarter" idx="10"/>
          </p:nvPr>
        </p:nvSpPr>
        <p:spPr/>
        <p:txBody>
          <a:bodyPr/>
          <a:lstStyle>
            <a:lvl1pPr>
              <a:defRPr spc="0">
                <a:solidFill>
                  <a:schemeClr val="bg1"/>
                </a:solidFill>
              </a:defRPr>
            </a:lvl1pPr>
          </a:lstStyle>
          <a:p>
            <a:r>
              <a:rPr lang="en-US"/>
              <a:t>Confidential</a:t>
            </a:r>
            <a:endParaRPr lang="en-GB" spc="0"/>
          </a:p>
        </p:txBody>
      </p:sp>
      <p:sp>
        <p:nvSpPr>
          <p:cNvPr id="4" name="Slide Number Placeholder 3">
            <a:extLst>
              <a:ext uri="{FF2B5EF4-FFF2-40B4-BE49-F238E27FC236}">
                <a16:creationId xmlns:a16="http://schemas.microsoft.com/office/drawing/2014/main" id="{8DEDDD5D-8453-021D-0AFE-5BD4B5D976D5}"/>
              </a:ext>
            </a:extLst>
          </p:cNvPr>
          <p:cNvSpPr>
            <a:spLocks noGrp="1"/>
          </p:cNvSpPr>
          <p:nvPr>
            <p:ph type="sldNum" sz="quarter" idx="11"/>
          </p:nvPr>
        </p:nvSpPr>
        <p:spPr/>
        <p:txBody>
          <a:bodyPr/>
          <a:lstStyle>
            <a:lvl1pPr>
              <a:defRPr>
                <a:solidFill>
                  <a:schemeClr val="bg1"/>
                </a:solidFill>
              </a:defRPr>
            </a:lvl1p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0E650826-C49B-4E4D-633C-3F0654915E1A}"/>
              </a:ext>
            </a:extLst>
          </p:cNvPr>
          <p:cNvSpPr>
            <a:spLocks noGrp="1"/>
          </p:cNvSpPr>
          <p:nvPr>
            <p:ph type="subTitle" idx="1" hasCustomPrompt="1"/>
          </p:nvPr>
        </p:nvSpPr>
        <p:spPr>
          <a:xfrm>
            <a:off x="257179" y="1091036"/>
            <a:ext cx="10131425" cy="158693"/>
          </a:xfrm>
        </p:spPr>
        <p:txBody>
          <a:bodyPr/>
          <a:lstStyle>
            <a:lvl1pPr marL="0" indent="0" algn="l">
              <a:buNone/>
              <a:defRPr sz="1200" spc="-10">
                <a:solidFill>
                  <a:schemeClr val="bg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Agenda or Date</a:t>
            </a:r>
          </a:p>
        </p:txBody>
      </p:sp>
      <p:sp>
        <p:nvSpPr>
          <p:cNvPr id="9" name="Table Placeholder 8">
            <a:extLst>
              <a:ext uri="{FF2B5EF4-FFF2-40B4-BE49-F238E27FC236}">
                <a16:creationId xmlns:a16="http://schemas.microsoft.com/office/drawing/2014/main" id="{45FB2E71-CF98-96CB-FAEB-10749E7CDB00}"/>
              </a:ext>
            </a:extLst>
          </p:cNvPr>
          <p:cNvSpPr>
            <a:spLocks noGrp="1"/>
          </p:cNvSpPr>
          <p:nvPr>
            <p:ph type="tbl" sz="quarter" idx="12"/>
          </p:nvPr>
        </p:nvSpPr>
        <p:spPr>
          <a:xfrm>
            <a:off x="257179" y="1396445"/>
            <a:ext cx="10131425" cy="3835400"/>
          </a:xfrm>
        </p:spPr>
        <p:txBody>
          <a:bodyPr/>
          <a:lstStyle/>
          <a:p>
            <a:endParaRPr lang="en-GB"/>
          </a:p>
        </p:txBody>
      </p:sp>
      <p:grpSp>
        <p:nvGrpSpPr>
          <p:cNvPr id="2" name="Graphic 8">
            <a:extLst>
              <a:ext uri="{FF2B5EF4-FFF2-40B4-BE49-F238E27FC236}">
                <a16:creationId xmlns:a16="http://schemas.microsoft.com/office/drawing/2014/main" id="{90A17A9B-0C48-1515-ED38-C14C78957454}"/>
              </a:ext>
            </a:extLst>
          </p:cNvPr>
          <p:cNvGrpSpPr/>
          <p:nvPr userDrawn="1"/>
        </p:nvGrpSpPr>
        <p:grpSpPr>
          <a:xfrm>
            <a:off x="257178" y="255588"/>
            <a:ext cx="895347" cy="306976"/>
            <a:chOff x="257178" y="255588"/>
            <a:chExt cx="895347" cy="306976"/>
          </a:xfrm>
          <a:solidFill>
            <a:schemeClr val="bg1"/>
          </a:solidFill>
        </p:grpSpPr>
        <p:sp>
          <p:nvSpPr>
            <p:cNvPr id="5" name="Free-form: Shape 4">
              <a:extLst>
                <a:ext uri="{FF2B5EF4-FFF2-40B4-BE49-F238E27FC236}">
                  <a16:creationId xmlns:a16="http://schemas.microsoft.com/office/drawing/2014/main" id="{B92FA4EC-976C-DA82-9504-58AF70C402D3}"/>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grpFill/>
            <a:ln w="6327" cap="flat">
              <a:noFill/>
              <a:prstDash val="solid"/>
              <a:miter/>
            </a:ln>
          </p:spPr>
          <p:txBody>
            <a:bodyPr rtlCol="0" anchor="ctr"/>
            <a:lstStyle/>
            <a:p>
              <a:endParaRPr lang="en-GB"/>
            </a:p>
          </p:txBody>
        </p:sp>
        <p:sp>
          <p:nvSpPr>
            <p:cNvPr id="6" name="Free-form: Shape 5">
              <a:extLst>
                <a:ext uri="{FF2B5EF4-FFF2-40B4-BE49-F238E27FC236}">
                  <a16:creationId xmlns:a16="http://schemas.microsoft.com/office/drawing/2014/main" id="{D4B48300-E7E6-EC2C-F589-F5BBD059681E}"/>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grpFill/>
            <a:ln w="6327" cap="flat">
              <a:noFill/>
              <a:prstDash val="solid"/>
              <a:miter/>
            </a:ln>
          </p:spPr>
          <p:txBody>
            <a:bodyPr rtlCol="0" anchor="ctr"/>
            <a:lstStyle/>
            <a:p>
              <a:endParaRPr lang="en-GB"/>
            </a:p>
          </p:txBody>
        </p:sp>
        <p:sp>
          <p:nvSpPr>
            <p:cNvPr id="8" name="Free-form: Shape 7">
              <a:extLst>
                <a:ext uri="{FF2B5EF4-FFF2-40B4-BE49-F238E27FC236}">
                  <a16:creationId xmlns:a16="http://schemas.microsoft.com/office/drawing/2014/main" id="{EA2FCC75-9BAA-C54B-469C-5E1CD96B6EF9}"/>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grpFill/>
            <a:ln w="6327" cap="flat">
              <a:noFill/>
              <a:prstDash val="solid"/>
              <a:miter/>
            </a:ln>
          </p:spPr>
          <p:txBody>
            <a:bodyPr rtlCol="0" anchor="ctr"/>
            <a:lstStyle/>
            <a:p>
              <a:endParaRPr lang="en-GB"/>
            </a:p>
          </p:txBody>
        </p:sp>
        <p:sp>
          <p:nvSpPr>
            <p:cNvPr id="10" name="Free-form: Shape 9">
              <a:extLst>
                <a:ext uri="{FF2B5EF4-FFF2-40B4-BE49-F238E27FC236}">
                  <a16:creationId xmlns:a16="http://schemas.microsoft.com/office/drawing/2014/main" id="{C1D0F2D6-F69A-C4D1-35DD-13FBD7B25F12}"/>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grpFill/>
            <a:ln w="6327" cap="flat">
              <a:noFill/>
              <a:prstDash val="solid"/>
              <a:miter/>
            </a:ln>
          </p:spPr>
          <p:txBody>
            <a:bodyPr rtlCol="0" anchor="ctr"/>
            <a:lstStyle/>
            <a:p>
              <a:endParaRPr lang="en-GB"/>
            </a:p>
          </p:txBody>
        </p:sp>
        <p:sp>
          <p:nvSpPr>
            <p:cNvPr id="11" name="Free-form: Shape 10">
              <a:extLst>
                <a:ext uri="{FF2B5EF4-FFF2-40B4-BE49-F238E27FC236}">
                  <a16:creationId xmlns:a16="http://schemas.microsoft.com/office/drawing/2014/main" id="{81FE0DA3-BFBB-5A05-D3B9-D06A9C5F5B86}"/>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grpFill/>
            <a:ln w="6327" cap="flat">
              <a:noFill/>
              <a:prstDash val="solid"/>
              <a:miter/>
            </a:ln>
          </p:spPr>
          <p:txBody>
            <a:bodyPr rtlCol="0" anchor="ctr"/>
            <a:lstStyle/>
            <a:p>
              <a:endParaRPr lang="en-GB"/>
            </a:p>
          </p:txBody>
        </p:sp>
        <p:sp>
          <p:nvSpPr>
            <p:cNvPr id="12" name="Free-form: Shape 11">
              <a:extLst>
                <a:ext uri="{FF2B5EF4-FFF2-40B4-BE49-F238E27FC236}">
                  <a16:creationId xmlns:a16="http://schemas.microsoft.com/office/drawing/2014/main" id="{34C3D3FD-92BD-87C8-7BEF-78648536719E}"/>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grp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7914ED9B-9040-1DAC-207F-44855782ED81}"/>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grp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EA545CE9-1F2E-C4DF-A288-6E0D73E2ABC7}"/>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grp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D93B2B45-E164-0EA4-0C09-6DCA12389939}"/>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grp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D24F9729-F8E5-AF5F-4B62-28C93CE603C4}"/>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grpFill/>
            <a:ln w="6327" cap="flat">
              <a:noFill/>
              <a:prstDash val="solid"/>
              <a:miter/>
            </a:ln>
          </p:spPr>
          <p:txBody>
            <a:bodyPr rtlCol="0" anchor="ctr"/>
            <a:lstStyle/>
            <a:p>
              <a:endParaRPr lang="en-GB"/>
            </a:p>
          </p:txBody>
        </p:sp>
      </p:grpSp>
    </p:spTree>
    <p:extLst>
      <p:ext uri="{BB962C8B-B14F-4D97-AF65-F5344CB8AC3E}">
        <p14:creationId xmlns:p14="http://schemas.microsoft.com/office/powerpoint/2010/main" val="3879902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Quote with Left Imag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69B797-C20F-9FA8-DAAE-469DD3EC516A}"/>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11C1AEAF-E1EB-8682-46B5-C4986478473A}"/>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13" name="Picture Placeholder 12">
            <a:extLst>
              <a:ext uri="{FF2B5EF4-FFF2-40B4-BE49-F238E27FC236}">
                <a16:creationId xmlns:a16="http://schemas.microsoft.com/office/drawing/2014/main" id="{454DAC0B-862D-B90A-DC42-00D38DC4675F}"/>
              </a:ext>
            </a:extLst>
          </p:cNvPr>
          <p:cNvSpPr>
            <a:spLocks noGrp="1"/>
          </p:cNvSpPr>
          <p:nvPr>
            <p:ph type="pic" sz="quarter" idx="12"/>
          </p:nvPr>
        </p:nvSpPr>
        <p:spPr>
          <a:xfrm>
            <a:off x="85344" y="1859280"/>
            <a:ext cx="6917619" cy="4895778"/>
          </a:xfrm>
          <a:custGeom>
            <a:avLst/>
            <a:gdLst>
              <a:gd name="connsiteX0" fmla="*/ 640714 w 6917619"/>
              <a:gd name="connsiteY0" fmla="*/ 0 h 4895778"/>
              <a:gd name="connsiteX1" fmla="*/ 6917619 w 6917619"/>
              <a:gd name="connsiteY1" fmla="*/ 0 h 4895778"/>
              <a:gd name="connsiteX2" fmla="*/ 6917619 w 6917619"/>
              <a:gd name="connsiteY2" fmla="*/ 4252461 h 4895778"/>
              <a:gd name="connsiteX3" fmla="*/ 6276905 w 6917619"/>
              <a:gd name="connsiteY3" fmla="*/ 4895778 h 4895778"/>
              <a:gd name="connsiteX4" fmla="*/ 640714 w 6917619"/>
              <a:gd name="connsiteY4" fmla="*/ 4895778 h 4895778"/>
              <a:gd name="connsiteX5" fmla="*/ 0 w 6917619"/>
              <a:gd name="connsiteY5" fmla="*/ 4252461 h 4895778"/>
              <a:gd name="connsiteX6" fmla="*/ 0 w 6917619"/>
              <a:gd name="connsiteY6" fmla="*/ 643317 h 4895778"/>
              <a:gd name="connsiteX7" fmla="*/ 640714 w 6917619"/>
              <a:gd name="connsiteY7" fmla="*/ 0 h 489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7619" h="4895778">
                <a:moveTo>
                  <a:pt x="640714" y="0"/>
                </a:moveTo>
                <a:lnTo>
                  <a:pt x="6917619" y="0"/>
                </a:lnTo>
                <a:lnTo>
                  <a:pt x="6917619" y="4252461"/>
                </a:lnTo>
                <a:cubicBezTo>
                  <a:pt x="6917619" y="4607513"/>
                  <a:pt x="6630521" y="4895778"/>
                  <a:pt x="6276905" y="4895778"/>
                </a:cubicBezTo>
                <a:lnTo>
                  <a:pt x="640714" y="4895778"/>
                </a:lnTo>
                <a:cubicBezTo>
                  <a:pt x="287099" y="4895778"/>
                  <a:pt x="0" y="4607513"/>
                  <a:pt x="0" y="4252461"/>
                </a:cubicBezTo>
                <a:lnTo>
                  <a:pt x="0" y="643317"/>
                </a:lnTo>
                <a:cubicBezTo>
                  <a:pt x="0" y="288265"/>
                  <a:pt x="287099" y="0"/>
                  <a:pt x="640714" y="0"/>
                </a:cubicBezTo>
                <a:close/>
              </a:path>
            </a:pathLst>
          </a:custGeom>
        </p:spPr>
        <p:txBody>
          <a:bodyPr wrap="square">
            <a:noAutofit/>
          </a:bodyPr>
          <a:lstStyle/>
          <a:p>
            <a:endParaRPr lang="en-GB"/>
          </a:p>
        </p:txBody>
      </p:sp>
      <p:sp>
        <p:nvSpPr>
          <p:cNvPr id="14" name="Title 1">
            <a:extLst>
              <a:ext uri="{FF2B5EF4-FFF2-40B4-BE49-F238E27FC236}">
                <a16:creationId xmlns:a16="http://schemas.microsoft.com/office/drawing/2014/main" id="{C81AD52E-1789-01A1-2BBB-C4BD46A5C6EE}"/>
              </a:ext>
            </a:extLst>
          </p:cNvPr>
          <p:cNvSpPr>
            <a:spLocks noGrp="1"/>
          </p:cNvSpPr>
          <p:nvPr>
            <p:ph type="title" hasCustomPrompt="1"/>
          </p:nvPr>
        </p:nvSpPr>
        <p:spPr>
          <a:xfrm>
            <a:off x="8129556" y="1907516"/>
            <a:ext cx="3498564" cy="1186204"/>
          </a:xfrm>
        </p:spPr>
        <p:txBody>
          <a:bodyPr/>
          <a:lstStyle>
            <a:lvl1pPr>
              <a:lnSpc>
                <a:spcPct val="100952"/>
              </a:lnSpc>
              <a:defRPr spc="-26">
                <a:solidFill>
                  <a:schemeClr val="tx1"/>
                </a:solidFill>
              </a:defRPr>
            </a:lvl1pPr>
          </a:lstStyle>
          <a:p>
            <a:r>
              <a:rPr lang="en-US"/>
              <a:t>An example quote or statement that’s paired with the left image.</a:t>
            </a:r>
            <a:endParaRPr lang="en-GB"/>
          </a:p>
        </p:txBody>
      </p:sp>
      <p:sp>
        <p:nvSpPr>
          <p:cNvPr id="15" name="Text Placeholder 24">
            <a:extLst>
              <a:ext uri="{FF2B5EF4-FFF2-40B4-BE49-F238E27FC236}">
                <a16:creationId xmlns:a16="http://schemas.microsoft.com/office/drawing/2014/main" id="{F5FB426E-22B9-2183-4B0B-A78B89CDDD0D}"/>
              </a:ext>
            </a:extLst>
          </p:cNvPr>
          <p:cNvSpPr>
            <a:spLocks noGrp="1"/>
          </p:cNvSpPr>
          <p:nvPr>
            <p:ph type="body" sz="quarter" idx="13" hasCustomPrompt="1"/>
          </p:nvPr>
        </p:nvSpPr>
        <p:spPr>
          <a:xfrm>
            <a:off x="8129555" y="3395374"/>
            <a:ext cx="3498563"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Presenter Name</a:t>
            </a:r>
            <a:endParaRPr lang="en-GB"/>
          </a:p>
        </p:txBody>
      </p:sp>
      <p:sp>
        <p:nvSpPr>
          <p:cNvPr id="16" name="Text Placeholder 24">
            <a:extLst>
              <a:ext uri="{FF2B5EF4-FFF2-40B4-BE49-F238E27FC236}">
                <a16:creationId xmlns:a16="http://schemas.microsoft.com/office/drawing/2014/main" id="{2A367706-A504-DD7D-152D-F9949108D1F3}"/>
              </a:ext>
            </a:extLst>
          </p:cNvPr>
          <p:cNvSpPr>
            <a:spLocks noGrp="1"/>
          </p:cNvSpPr>
          <p:nvPr>
            <p:ph type="body" sz="quarter" idx="14" hasCustomPrompt="1"/>
          </p:nvPr>
        </p:nvSpPr>
        <p:spPr>
          <a:xfrm>
            <a:off x="8129555" y="3611410"/>
            <a:ext cx="3498563" cy="158693"/>
          </a:xfrm>
        </p:spPr>
        <p:txBody>
          <a:bodyPr vert="horz" lIns="0" tIns="0" rIns="0" bIns="0" rtlCol="0">
            <a:noAutofit/>
          </a:bodyPr>
          <a:lstStyle>
            <a:lvl1pPr>
              <a:buNone/>
              <a:defRPr lang="en-GB" sz="1200" spc="-9" dirty="0">
                <a:solidFill>
                  <a:schemeClr val="tx2"/>
                </a:solidFill>
                <a:latin typeface="Funnel Sans Medium" pitchFamily="2" charset="0"/>
              </a:defRPr>
            </a:lvl1pPr>
          </a:lstStyle>
          <a:p>
            <a:pPr marL="0" lvl="0" indent="0">
              <a:buNone/>
            </a:pPr>
            <a:r>
              <a:rPr lang="en-US"/>
              <a:t>Presenter Title</a:t>
            </a:r>
            <a:endParaRPr lang="en-GB"/>
          </a:p>
        </p:txBody>
      </p:sp>
    </p:spTree>
    <p:extLst>
      <p:ext uri="{BB962C8B-B14F-4D97-AF65-F5344CB8AC3E}">
        <p14:creationId xmlns:p14="http://schemas.microsoft.com/office/powerpoint/2010/main" val="2653319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Quote with Left Imag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B69B797-C20F-9FA8-DAAE-469DD3EC516A}"/>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11C1AEAF-E1EB-8682-46B5-C4986478473A}"/>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13" name="Picture Placeholder 12">
            <a:extLst>
              <a:ext uri="{FF2B5EF4-FFF2-40B4-BE49-F238E27FC236}">
                <a16:creationId xmlns:a16="http://schemas.microsoft.com/office/drawing/2014/main" id="{454DAC0B-862D-B90A-DC42-00D38DC4675F}"/>
              </a:ext>
            </a:extLst>
          </p:cNvPr>
          <p:cNvSpPr>
            <a:spLocks noGrp="1"/>
          </p:cNvSpPr>
          <p:nvPr>
            <p:ph type="pic" sz="quarter" idx="12"/>
          </p:nvPr>
        </p:nvSpPr>
        <p:spPr>
          <a:xfrm>
            <a:off x="85344" y="1859280"/>
            <a:ext cx="6917619" cy="4895778"/>
          </a:xfrm>
          <a:custGeom>
            <a:avLst/>
            <a:gdLst>
              <a:gd name="connsiteX0" fmla="*/ 640714 w 6917619"/>
              <a:gd name="connsiteY0" fmla="*/ 0 h 4895778"/>
              <a:gd name="connsiteX1" fmla="*/ 6917619 w 6917619"/>
              <a:gd name="connsiteY1" fmla="*/ 0 h 4895778"/>
              <a:gd name="connsiteX2" fmla="*/ 6917619 w 6917619"/>
              <a:gd name="connsiteY2" fmla="*/ 4252461 h 4895778"/>
              <a:gd name="connsiteX3" fmla="*/ 6276905 w 6917619"/>
              <a:gd name="connsiteY3" fmla="*/ 4895778 h 4895778"/>
              <a:gd name="connsiteX4" fmla="*/ 640714 w 6917619"/>
              <a:gd name="connsiteY4" fmla="*/ 4895778 h 4895778"/>
              <a:gd name="connsiteX5" fmla="*/ 0 w 6917619"/>
              <a:gd name="connsiteY5" fmla="*/ 4252461 h 4895778"/>
              <a:gd name="connsiteX6" fmla="*/ 0 w 6917619"/>
              <a:gd name="connsiteY6" fmla="*/ 643317 h 4895778"/>
              <a:gd name="connsiteX7" fmla="*/ 640714 w 6917619"/>
              <a:gd name="connsiteY7" fmla="*/ 0 h 48957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17619" h="4895778">
                <a:moveTo>
                  <a:pt x="640714" y="0"/>
                </a:moveTo>
                <a:lnTo>
                  <a:pt x="6917619" y="0"/>
                </a:lnTo>
                <a:lnTo>
                  <a:pt x="6917619" y="4252461"/>
                </a:lnTo>
                <a:cubicBezTo>
                  <a:pt x="6917619" y="4607513"/>
                  <a:pt x="6630521" y="4895778"/>
                  <a:pt x="6276905" y="4895778"/>
                </a:cubicBezTo>
                <a:lnTo>
                  <a:pt x="640714" y="4895778"/>
                </a:lnTo>
                <a:cubicBezTo>
                  <a:pt x="287099" y="4895778"/>
                  <a:pt x="0" y="4607513"/>
                  <a:pt x="0" y="4252461"/>
                </a:cubicBezTo>
                <a:lnTo>
                  <a:pt x="0" y="643317"/>
                </a:lnTo>
                <a:cubicBezTo>
                  <a:pt x="0" y="288265"/>
                  <a:pt x="287099" y="0"/>
                  <a:pt x="640714" y="0"/>
                </a:cubicBezTo>
                <a:close/>
              </a:path>
            </a:pathLst>
          </a:custGeom>
        </p:spPr>
        <p:txBody>
          <a:bodyPr wrap="square">
            <a:noAutofit/>
          </a:bodyPr>
          <a:lstStyle/>
          <a:p>
            <a:endParaRPr lang="en-GB"/>
          </a:p>
        </p:txBody>
      </p:sp>
      <p:sp>
        <p:nvSpPr>
          <p:cNvPr id="14" name="Title 1">
            <a:extLst>
              <a:ext uri="{FF2B5EF4-FFF2-40B4-BE49-F238E27FC236}">
                <a16:creationId xmlns:a16="http://schemas.microsoft.com/office/drawing/2014/main" id="{C81AD52E-1789-01A1-2BBB-C4BD46A5C6EE}"/>
              </a:ext>
            </a:extLst>
          </p:cNvPr>
          <p:cNvSpPr>
            <a:spLocks noGrp="1"/>
          </p:cNvSpPr>
          <p:nvPr>
            <p:ph type="title" hasCustomPrompt="1"/>
          </p:nvPr>
        </p:nvSpPr>
        <p:spPr>
          <a:xfrm>
            <a:off x="8129556" y="1907516"/>
            <a:ext cx="3498564" cy="1186204"/>
          </a:xfrm>
        </p:spPr>
        <p:txBody>
          <a:bodyPr/>
          <a:lstStyle>
            <a:lvl1pPr>
              <a:lnSpc>
                <a:spcPct val="100952"/>
              </a:lnSpc>
              <a:defRPr spc="-26">
                <a:solidFill>
                  <a:schemeClr val="tx1"/>
                </a:solidFill>
              </a:defRPr>
            </a:lvl1pPr>
          </a:lstStyle>
          <a:p>
            <a:r>
              <a:rPr lang="en-US"/>
              <a:t>An example quote or statement that’s paired with the left image.</a:t>
            </a:r>
            <a:endParaRPr lang="en-GB"/>
          </a:p>
        </p:txBody>
      </p:sp>
      <p:sp>
        <p:nvSpPr>
          <p:cNvPr id="15" name="Text Placeholder 24">
            <a:extLst>
              <a:ext uri="{FF2B5EF4-FFF2-40B4-BE49-F238E27FC236}">
                <a16:creationId xmlns:a16="http://schemas.microsoft.com/office/drawing/2014/main" id="{F5FB426E-22B9-2183-4B0B-A78B89CDDD0D}"/>
              </a:ext>
            </a:extLst>
          </p:cNvPr>
          <p:cNvSpPr>
            <a:spLocks noGrp="1"/>
          </p:cNvSpPr>
          <p:nvPr>
            <p:ph type="body" sz="quarter" idx="13" hasCustomPrompt="1"/>
          </p:nvPr>
        </p:nvSpPr>
        <p:spPr>
          <a:xfrm>
            <a:off x="8129555" y="3395374"/>
            <a:ext cx="3498563"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Presenter Name</a:t>
            </a:r>
            <a:endParaRPr lang="en-GB"/>
          </a:p>
        </p:txBody>
      </p:sp>
      <p:sp>
        <p:nvSpPr>
          <p:cNvPr id="16" name="Text Placeholder 24">
            <a:extLst>
              <a:ext uri="{FF2B5EF4-FFF2-40B4-BE49-F238E27FC236}">
                <a16:creationId xmlns:a16="http://schemas.microsoft.com/office/drawing/2014/main" id="{2A367706-A504-DD7D-152D-F9949108D1F3}"/>
              </a:ext>
            </a:extLst>
          </p:cNvPr>
          <p:cNvSpPr>
            <a:spLocks noGrp="1"/>
          </p:cNvSpPr>
          <p:nvPr>
            <p:ph type="body" sz="quarter" idx="14" hasCustomPrompt="1"/>
          </p:nvPr>
        </p:nvSpPr>
        <p:spPr>
          <a:xfrm>
            <a:off x="8129555" y="3611410"/>
            <a:ext cx="3498563" cy="158693"/>
          </a:xfrm>
        </p:spPr>
        <p:txBody>
          <a:bodyPr vert="horz" lIns="0" tIns="0" rIns="0" bIns="0" rtlCol="0">
            <a:noAutofit/>
          </a:bodyPr>
          <a:lstStyle>
            <a:lvl1pPr>
              <a:buNone/>
              <a:defRPr lang="en-GB" sz="1200" spc="-9" dirty="0">
                <a:solidFill>
                  <a:schemeClr val="tx2"/>
                </a:solidFill>
                <a:latin typeface="Funnel Sans Medium" pitchFamily="2" charset="0"/>
              </a:defRPr>
            </a:lvl1pPr>
          </a:lstStyle>
          <a:p>
            <a:pPr marL="0" lvl="0" indent="0">
              <a:buNone/>
            </a:pPr>
            <a:r>
              <a:rPr lang="en-US"/>
              <a:t>Presenter Title</a:t>
            </a:r>
            <a:endParaRPr lang="en-GB"/>
          </a:p>
        </p:txBody>
      </p:sp>
    </p:spTree>
    <p:extLst>
      <p:ext uri="{BB962C8B-B14F-4D97-AF65-F5344CB8AC3E}">
        <p14:creationId xmlns:p14="http://schemas.microsoft.com/office/powerpoint/2010/main" val="4179578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line with Two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9761" cy="414463"/>
          </a:xfrm>
        </p:spPr>
        <p:txBody>
          <a:bodyPr/>
          <a:lstStyle>
            <a:lvl1pPr>
              <a:defRPr spc="-26">
                <a:solidFill>
                  <a:schemeClr val="tx1"/>
                </a:solidFill>
              </a:defRPr>
            </a:lvl1pPr>
          </a:lstStyle>
          <a:p>
            <a:r>
              <a:rPr lang="en-US"/>
              <a:t>Headline for slide with two images</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5770"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7B780EE7-8B48-AE2D-938E-E4D65084BBCE}"/>
              </a:ext>
            </a:extLst>
          </p:cNvPr>
          <p:cNvSpPr>
            <a:spLocks noGrp="1"/>
          </p:cNvSpPr>
          <p:nvPr>
            <p:ph type="pic" sz="quarter" idx="12"/>
          </p:nvPr>
        </p:nvSpPr>
        <p:spPr>
          <a:xfrm>
            <a:off x="91313" y="2687320"/>
            <a:ext cx="7909560" cy="4101878"/>
          </a:xfrm>
          <a:custGeom>
            <a:avLst/>
            <a:gdLst>
              <a:gd name="connsiteX0" fmla="*/ 640856 w 7909560"/>
              <a:gd name="connsiteY0" fmla="*/ 0 h 4101878"/>
              <a:gd name="connsiteX1" fmla="*/ 7909560 w 7909560"/>
              <a:gd name="connsiteY1" fmla="*/ 0 h 4101878"/>
              <a:gd name="connsiteX2" fmla="*/ 7909560 w 7909560"/>
              <a:gd name="connsiteY2" fmla="*/ 3461353 h 4101878"/>
              <a:gd name="connsiteX3" fmla="*/ 7268704 w 7909560"/>
              <a:gd name="connsiteY3" fmla="*/ 4101878 h 4101878"/>
              <a:gd name="connsiteX4" fmla="*/ 640856 w 7909560"/>
              <a:gd name="connsiteY4" fmla="*/ 4101878 h 4101878"/>
              <a:gd name="connsiteX5" fmla="*/ 0 w 7909560"/>
              <a:gd name="connsiteY5" fmla="*/ 3461353 h 4101878"/>
              <a:gd name="connsiteX6" fmla="*/ 0 w 7909560"/>
              <a:gd name="connsiteY6" fmla="*/ 640525 h 4101878"/>
              <a:gd name="connsiteX7" fmla="*/ 640856 w 7909560"/>
              <a:gd name="connsiteY7" fmla="*/ 0 h 4101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9560" h="4101878">
                <a:moveTo>
                  <a:pt x="640856" y="0"/>
                </a:moveTo>
                <a:lnTo>
                  <a:pt x="7909560" y="0"/>
                </a:lnTo>
                <a:lnTo>
                  <a:pt x="7909560" y="3461353"/>
                </a:lnTo>
                <a:cubicBezTo>
                  <a:pt x="7909560" y="3814847"/>
                  <a:pt x="7622380" y="4101878"/>
                  <a:pt x="7268704" y="4101878"/>
                </a:cubicBezTo>
                <a:lnTo>
                  <a:pt x="640856" y="4101878"/>
                </a:lnTo>
                <a:cubicBezTo>
                  <a:pt x="287180" y="4101878"/>
                  <a:pt x="0" y="3814847"/>
                  <a:pt x="0" y="3461353"/>
                </a:cubicBezTo>
                <a:lnTo>
                  <a:pt x="0" y="640525"/>
                </a:lnTo>
                <a:cubicBezTo>
                  <a:pt x="0" y="287031"/>
                  <a:pt x="287180" y="0"/>
                  <a:pt x="640856" y="0"/>
                </a:cubicBezTo>
                <a:close/>
              </a:path>
            </a:pathLst>
          </a:custGeom>
        </p:spPr>
        <p:txBody>
          <a:bodyPr wrap="square">
            <a:noAutofit/>
          </a:bodyPr>
          <a:lstStyle/>
          <a:p>
            <a:endParaRPr lang="en-GB"/>
          </a:p>
        </p:txBody>
      </p:sp>
      <p:sp>
        <p:nvSpPr>
          <p:cNvPr id="20" name="Picture Placeholder 19">
            <a:extLst>
              <a:ext uri="{FF2B5EF4-FFF2-40B4-BE49-F238E27FC236}">
                <a16:creationId xmlns:a16="http://schemas.microsoft.com/office/drawing/2014/main" id="{3717AD81-D334-8CCB-130E-2510F2DB65F6}"/>
              </a:ext>
            </a:extLst>
          </p:cNvPr>
          <p:cNvSpPr>
            <a:spLocks noGrp="1"/>
          </p:cNvSpPr>
          <p:nvPr>
            <p:ph type="pic" sz="quarter" idx="13"/>
          </p:nvPr>
        </p:nvSpPr>
        <p:spPr>
          <a:xfrm>
            <a:off x="8125632" y="2687320"/>
            <a:ext cx="3975183" cy="4101813"/>
          </a:xfrm>
          <a:custGeom>
            <a:avLst/>
            <a:gdLst>
              <a:gd name="connsiteX0" fmla="*/ 0 w 3975183"/>
              <a:gd name="connsiteY0" fmla="*/ 0 h 4101813"/>
              <a:gd name="connsiteX1" fmla="*/ 3325754 w 3975183"/>
              <a:gd name="connsiteY1" fmla="*/ 0 h 4101813"/>
              <a:gd name="connsiteX2" fmla="*/ 3975183 w 3975183"/>
              <a:gd name="connsiteY2" fmla="*/ 649429 h 4101813"/>
              <a:gd name="connsiteX3" fmla="*/ 3975183 w 3975183"/>
              <a:gd name="connsiteY3" fmla="*/ 3452384 h 4101813"/>
              <a:gd name="connsiteX4" fmla="*/ 3325754 w 3975183"/>
              <a:gd name="connsiteY4" fmla="*/ 4101813 h 4101813"/>
              <a:gd name="connsiteX5" fmla="*/ 649429 w 3975183"/>
              <a:gd name="connsiteY5" fmla="*/ 4101813 h 4101813"/>
              <a:gd name="connsiteX6" fmla="*/ 0 w 3975183"/>
              <a:gd name="connsiteY6" fmla="*/ 3452384 h 41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75183" h="4101813">
                <a:moveTo>
                  <a:pt x="0" y="0"/>
                </a:moveTo>
                <a:lnTo>
                  <a:pt x="3325754" y="0"/>
                </a:lnTo>
                <a:cubicBezTo>
                  <a:pt x="3684209" y="0"/>
                  <a:pt x="3975183" y="290974"/>
                  <a:pt x="3975183" y="649429"/>
                </a:cubicBezTo>
                <a:lnTo>
                  <a:pt x="3975183" y="3452384"/>
                </a:lnTo>
                <a:cubicBezTo>
                  <a:pt x="3975183" y="3810839"/>
                  <a:pt x="3684209" y="4101813"/>
                  <a:pt x="3325754" y="4101813"/>
                </a:cubicBezTo>
                <a:lnTo>
                  <a:pt x="649429" y="4101813"/>
                </a:lnTo>
                <a:cubicBezTo>
                  <a:pt x="290974" y="4101813"/>
                  <a:pt x="0" y="3810839"/>
                  <a:pt x="0" y="3452384"/>
                </a:cubicBezTo>
                <a:close/>
              </a:path>
            </a:pathLst>
          </a:custGeom>
        </p:spPr>
        <p:txBody>
          <a:bodyPr wrap="square">
            <a:noAutofit/>
          </a:bodyPr>
          <a:lstStyle/>
          <a:p>
            <a:endParaRPr lang="en-GB"/>
          </a:p>
        </p:txBody>
      </p:sp>
    </p:spTree>
    <p:extLst>
      <p:ext uri="{BB962C8B-B14F-4D97-AF65-F5344CB8AC3E}">
        <p14:creationId xmlns:p14="http://schemas.microsoft.com/office/powerpoint/2010/main" val="997762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Headline with Two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9761" cy="414463"/>
          </a:xfrm>
        </p:spPr>
        <p:txBody>
          <a:bodyPr/>
          <a:lstStyle>
            <a:lvl1pPr>
              <a:defRPr spc="-26">
                <a:solidFill>
                  <a:schemeClr val="tx1"/>
                </a:solidFill>
              </a:defRPr>
            </a:lvl1pPr>
          </a:lstStyle>
          <a:p>
            <a:r>
              <a:rPr lang="en-US"/>
              <a:t>Headline for slide with two images</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5770"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7B780EE7-8B48-AE2D-938E-E4D65084BBCE}"/>
              </a:ext>
            </a:extLst>
          </p:cNvPr>
          <p:cNvSpPr>
            <a:spLocks noGrp="1"/>
          </p:cNvSpPr>
          <p:nvPr>
            <p:ph type="pic" sz="quarter" idx="12"/>
          </p:nvPr>
        </p:nvSpPr>
        <p:spPr>
          <a:xfrm>
            <a:off x="91313" y="2687320"/>
            <a:ext cx="7909560" cy="4101878"/>
          </a:xfrm>
          <a:custGeom>
            <a:avLst/>
            <a:gdLst>
              <a:gd name="connsiteX0" fmla="*/ 640856 w 7909560"/>
              <a:gd name="connsiteY0" fmla="*/ 0 h 4101878"/>
              <a:gd name="connsiteX1" fmla="*/ 7909560 w 7909560"/>
              <a:gd name="connsiteY1" fmla="*/ 0 h 4101878"/>
              <a:gd name="connsiteX2" fmla="*/ 7909560 w 7909560"/>
              <a:gd name="connsiteY2" fmla="*/ 3461353 h 4101878"/>
              <a:gd name="connsiteX3" fmla="*/ 7268704 w 7909560"/>
              <a:gd name="connsiteY3" fmla="*/ 4101878 h 4101878"/>
              <a:gd name="connsiteX4" fmla="*/ 640856 w 7909560"/>
              <a:gd name="connsiteY4" fmla="*/ 4101878 h 4101878"/>
              <a:gd name="connsiteX5" fmla="*/ 0 w 7909560"/>
              <a:gd name="connsiteY5" fmla="*/ 3461353 h 4101878"/>
              <a:gd name="connsiteX6" fmla="*/ 0 w 7909560"/>
              <a:gd name="connsiteY6" fmla="*/ 640525 h 4101878"/>
              <a:gd name="connsiteX7" fmla="*/ 640856 w 7909560"/>
              <a:gd name="connsiteY7" fmla="*/ 0 h 4101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909560" h="4101878">
                <a:moveTo>
                  <a:pt x="640856" y="0"/>
                </a:moveTo>
                <a:lnTo>
                  <a:pt x="7909560" y="0"/>
                </a:lnTo>
                <a:lnTo>
                  <a:pt x="7909560" y="3461353"/>
                </a:lnTo>
                <a:cubicBezTo>
                  <a:pt x="7909560" y="3814847"/>
                  <a:pt x="7622380" y="4101878"/>
                  <a:pt x="7268704" y="4101878"/>
                </a:cubicBezTo>
                <a:lnTo>
                  <a:pt x="640856" y="4101878"/>
                </a:lnTo>
                <a:cubicBezTo>
                  <a:pt x="287180" y="4101878"/>
                  <a:pt x="0" y="3814847"/>
                  <a:pt x="0" y="3461353"/>
                </a:cubicBezTo>
                <a:lnTo>
                  <a:pt x="0" y="640525"/>
                </a:lnTo>
                <a:cubicBezTo>
                  <a:pt x="0" y="287031"/>
                  <a:pt x="287180" y="0"/>
                  <a:pt x="640856" y="0"/>
                </a:cubicBezTo>
                <a:close/>
              </a:path>
            </a:pathLst>
          </a:custGeom>
        </p:spPr>
        <p:txBody>
          <a:bodyPr wrap="square">
            <a:noAutofit/>
          </a:bodyPr>
          <a:lstStyle/>
          <a:p>
            <a:endParaRPr lang="en-GB"/>
          </a:p>
        </p:txBody>
      </p:sp>
      <p:sp>
        <p:nvSpPr>
          <p:cNvPr id="20" name="Picture Placeholder 19">
            <a:extLst>
              <a:ext uri="{FF2B5EF4-FFF2-40B4-BE49-F238E27FC236}">
                <a16:creationId xmlns:a16="http://schemas.microsoft.com/office/drawing/2014/main" id="{3717AD81-D334-8CCB-130E-2510F2DB65F6}"/>
              </a:ext>
            </a:extLst>
          </p:cNvPr>
          <p:cNvSpPr>
            <a:spLocks noGrp="1"/>
          </p:cNvSpPr>
          <p:nvPr>
            <p:ph type="pic" sz="quarter" idx="13"/>
          </p:nvPr>
        </p:nvSpPr>
        <p:spPr>
          <a:xfrm>
            <a:off x="8125632" y="2687320"/>
            <a:ext cx="3975183" cy="4101813"/>
          </a:xfrm>
          <a:custGeom>
            <a:avLst/>
            <a:gdLst>
              <a:gd name="connsiteX0" fmla="*/ 0 w 3975183"/>
              <a:gd name="connsiteY0" fmla="*/ 0 h 4101813"/>
              <a:gd name="connsiteX1" fmla="*/ 3325754 w 3975183"/>
              <a:gd name="connsiteY1" fmla="*/ 0 h 4101813"/>
              <a:gd name="connsiteX2" fmla="*/ 3975183 w 3975183"/>
              <a:gd name="connsiteY2" fmla="*/ 649429 h 4101813"/>
              <a:gd name="connsiteX3" fmla="*/ 3975183 w 3975183"/>
              <a:gd name="connsiteY3" fmla="*/ 3452384 h 4101813"/>
              <a:gd name="connsiteX4" fmla="*/ 3325754 w 3975183"/>
              <a:gd name="connsiteY4" fmla="*/ 4101813 h 4101813"/>
              <a:gd name="connsiteX5" fmla="*/ 649429 w 3975183"/>
              <a:gd name="connsiteY5" fmla="*/ 4101813 h 4101813"/>
              <a:gd name="connsiteX6" fmla="*/ 0 w 3975183"/>
              <a:gd name="connsiteY6" fmla="*/ 3452384 h 410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75183" h="4101813">
                <a:moveTo>
                  <a:pt x="0" y="0"/>
                </a:moveTo>
                <a:lnTo>
                  <a:pt x="3325754" y="0"/>
                </a:lnTo>
                <a:cubicBezTo>
                  <a:pt x="3684209" y="0"/>
                  <a:pt x="3975183" y="290974"/>
                  <a:pt x="3975183" y="649429"/>
                </a:cubicBezTo>
                <a:lnTo>
                  <a:pt x="3975183" y="3452384"/>
                </a:lnTo>
                <a:cubicBezTo>
                  <a:pt x="3975183" y="3810839"/>
                  <a:pt x="3684209" y="4101813"/>
                  <a:pt x="3325754" y="4101813"/>
                </a:cubicBezTo>
                <a:lnTo>
                  <a:pt x="649429" y="4101813"/>
                </a:lnTo>
                <a:cubicBezTo>
                  <a:pt x="290974" y="4101813"/>
                  <a:pt x="0" y="3810839"/>
                  <a:pt x="0" y="3452384"/>
                </a:cubicBezTo>
                <a:close/>
              </a:path>
            </a:pathLst>
          </a:custGeom>
        </p:spPr>
        <p:txBody>
          <a:bodyPr wrap="square">
            <a:noAutofit/>
          </a:bodyPr>
          <a:lstStyle/>
          <a:p>
            <a:endParaRPr lang="en-GB"/>
          </a:p>
        </p:txBody>
      </p:sp>
    </p:spTree>
    <p:extLst>
      <p:ext uri="{BB962C8B-B14F-4D97-AF65-F5344CB8AC3E}">
        <p14:creationId xmlns:p14="http://schemas.microsoft.com/office/powerpoint/2010/main" val="30341461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line &amp; Body with Image-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20" name="Text Placeholder 18">
            <a:extLst>
              <a:ext uri="{FF2B5EF4-FFF2-40B4-BE49-F238E27FC236}">
                <a16:creationId xmlns:a16="http://schemas.microsoft.com/office/drawing/2014/main" id="{8992FF23-EEEA-EC59-C320-07847EF7C9A9}"/>
              </a:ext>
            </a:extLst>
          </p:cNvPr>
          <p:cNvSpPr>
            <a:spLocks noGrp="1"/>
          </p:cNvSpPr>
          <p:nvPr>
            <p:ph type="body" sz="quarter" idx="16"/>
          </p:nvPr>
        </p:nvSpPr>
        <p:spPr>
          <a:xfrm>
            <a:off x="257175" y="2929573"/>
            <a:ext cx="3753993" cy="3671252"/>
          </a:xfrm>
        </p:spPr>
        <p:txBody>
          <a:bodyPr/>
          <a:lstStyle>
            <a:lvl1pPr>
              <a:lnSpc>
                <a:spcPct val="103000"/>
              </a:lnSpc>
              <a:spcBef>
                <a:spcPts val="1000"/>
              </a:spcBef>
              <a:defRPr sz="1400" spc="-17"/>
            </a:lvl1pPr>
            <a:lvl2pPr>
              <a:lnSpc>
                <a:spcPct val="103000"/>
              </a:lnSpc>
              <a:spcBef>
                <a:spcPts val="1000"/>
              </a:spcBef>
              <a:defRPr sz="1400" spc="-17"/>
            </a:lvl2pPr>
            <a:lvl3pPr>
              <a:lnSpc>
                <a:spcPct val="103000"/>
              </a:lnSpc>
              <a:spcBef>
                <a:spcPts val="1000"/>
              </a:spcBef>
              <a:defRPr sz="1400" spc="-17"/>
            </a:lvl3pPr>
            <a:lvl4pPr>
              <a:lnSpc>
                <a:spcPct val="103000"/>
              </a:lnSpc>
              <a:spcBef>
                <a:spcPts val="1000"/>
              </a:spcBef>
              <a:defRPr sz="1400" spc="-17"/>
            </a:lvl4pPr>
            <a:lvl5pPr>
              <a:lnSpc>
                <a:spcPct val="103000"/>
              </a:lnSpc>
              <a:spcBef>
                <a:spcPts val="1000"/>
              </a:spcBef>
              <a:defRPr sz="1400" spc="-17"/>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5757398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Headline &amp; Body with Image-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20" name="Text Placeholder 18">
            <a:extLst>
              <a:ext uri="{FF2B5EF4-FFF2-40B4-BE49-F238E27FC236}">
                <a16:creationId xmlns:a16="http://schemas.microsoft.com/office/drawing/2014/main" id="{8992FF23-EEEA-EC59-C320-07847EF7C9A9}"/>
              </a:ext>
            </a:extLst>
          </p:cNvPr>
          <p:cNvSpPr>
            <a:spLocks noGrp="1"/>
          </p:cNvSpPr>
          <p:nvPr>
            <p:ph type="body" sz="quarter" idx="16"/>
          </p:nvPr>
        </p:nvSpPr>
        <p:spPr>
          <a:xfrm>
            <a:off x="257175" y="2929573"/>
            <a:ext cx="3753993" cy="3671252"/>
          </a:xfrm>
        </p:spPr>
        <p:txBody>
          <a:bodyPr/>
          <a:lstStyle>
            <a:lvl1pPr>
              <a:lnSpc>
                <a:spcPct val="103000"/>
              </a:lnSpc>
              <a:spcBef>
                <a:spcPts val="1000"/>
              </a:spcBef>
              <a:defRPr sz="1400" spc="-17"/>
            </a:lvl1pPr>
            <a:lvl2pPr>
              <a:lnSpc>
                <a:spcPct val="103000"/>
              </a:lnSpc>
              <a:spcBef>
                <a:spcPts val="1000"/>
              </a:spcBef>
              <a:defRPr sz="1400" spc="-17"/>
            </a:lvl2pPr>
            <a:lvl3pPr>
              <a:lnSpc>
                <a:spcPct val="103000"/>
              </a:lnSpc>
              <a:spcBef>
                <a:spcPts val="1000"/>
              </a:spcBef>
              <a:defRPr sz="1400" spc="-17"/>
            </a:lvl3pPr>
            <a:lvl4pPr>
              <a:lnSpc>
                <a:spcPct val="103000"/>
              </a:lnSpc>
              <a:spcBef>
                <a:spcPts val="1000"/>
              </a:spcBef>
              <a:defRPr sz="1400" spc="-17"/>
            </a:lvl4pPr>
            <a:lvl5pPr>
              <a:lnSpc>
                <a:spcPct val="103000"/>
              </a:lnSpc>
              <a:spcBef>
                <a:spcPts val="1000"/>
              </a:spcBef>
              <a:defRPr sz="1400" spc="-17"/>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3139241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line &amp; Body with Image-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0318-95A4-0902-F794-678773D63EEC}"/>
              </a:ext>
            </a:extLst>
          </p:cNvPr>
          <p:cNvSpPr>
            <a:spLocks noGrp="1"/>
          </p:cNvSpPr>
          <p:nvPr>
            <p:ph type="title" hasCustomPrompt="1"/>
          </p:nvPr>
        </p:nvSpPr>
        <p:spPr>
          <a:xfrm>
            <a:off x="261112" y="1389952"/>
            <a:ext cx="3753871" cy="1170367"/>
          </a:xfrm>
        </p:spPr>
        <p:txBody>
          <a:bodyPr/>
          <a:lstStyle>
            <a:lvl1pPr>
              <a:lnSpc>
                <a:spcPct val="102381"/>
              </a:lnSpc>
              <a:defRPr spc="-22">
                <a:solidFill>
                  <a:schemeClr val="tx1"/>
                </a:solidFill>
              </a:defRPr>
            </a:lvl1pPr>
          </a:lstStyle>
          <a:p>
            <a:r>
              <a:rPr lang="en-US"/>
              <a:t>A template for a headline and body copy paired with an image on the right</a:t>
            </a:r>
            <a:endParaRPr lang="en-GB"/>
          </a:p>
        </p:txBody>
      </p:sp>
      <p:sp>
        <p:nvSpPr>
          <p:cNvPr id="3" name="Footer Placeholder 2">
            <a:extLst>
              <a:ext uri="{FF2B5EF4-FFF2-40B4-BE49-F238E27FC236}">
                <a16:creationId xmlns:a16="http://schemas.microsoft.com/office/drawing/2014/main" id="{140CBB53-1041-7DAB-E7B6-97645F7A2747}"/>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4BE8B73-9AC3-F0D9-9171-EF6C63353956}"/>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375564C8-82EE-7E06-BE0C-6D70300B4AB4}"/>
              </a:ext>
            </a:extLst>
          </p:cNvPr>
          <p:cNvSpPr>
            <a:spLocks noGrp="1"/>
          </p:cNvSpPr>
          <p:nvPr>
            <p:ph type="subTitle" idx="1" hasCustomPrompt="1"/>
          </p:nvPr>
        </p:nvSpPr>
        <p:spPr>
          <a:xfrm>
            <a:off x="257180" y="1088496"/>
            <a:ext cx="3753872"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17" name="Picture Placeholder 16">
            <a:extLst>
              <a:ext uri="{FF2B5EF4-FFF2-40B4-BE49-F238E27FC236}">
                <a16:creationId xmlns:a16="http://schemas.microsoft.com/office/drawing/2014/main" id="{5DA13FF3-B687-67A4-23E7-265ABB0E9986}"/>
              </a:ext>
            </a:extLst>
          </p:cNvPr>
          <p:cNvSpPr>
            <a:spLocks noGrp="1"/>
          </p:cNvSpPr>
          <p:nvPr>
            <p:ph type="pic" sz="quarter" idx="15"/>
          </p:nvPr>
        </p:nvSpPr>
        <p:spPr>
          <a:xfrm>
            <a:off x="5163127" y="1079261"/>
            <a:ext cx="6936481" cy="5681757"/>
          </a:xfrm>
          <a:custGeom>
            <a:avLst/>
            <a:gdLst>
              <a:gd name="connsiteX0" fmla="*/ 738074 w 6945717"/>
              <a:gd name="connsiteY0" fmla="*/ 0 h 5722013"/>
              <a:gd name="connsiteX1" fmla="*/ 6945717 w 6945717"/>
              <a:gd name="connsiteY1" fmla="*/ 0 h 5722013"/>
              <a:gd name="connsiteX2" fmla="*/ 6945717 w 6945717"/>
              <a:gd name="connsiteY2" fmla="*/ 4984557 h 5722013"/>
              <a:gd name="connsiteX3" fmla="*/ 6207643 w 6945717"/>
              <a:gd name="connsiteY3" fmla="*/ 5722013 h 5722013"/>
              <a:gd name="connsiteX4" fmla="*/ 738074 w 6945717"/>
              <a:gd name="connsiteY4" fmla="*/ 5722013 h 5722013"/>
              <a:gd name="connsiteX5" fmla="*/ 0 w 6945717"/>
              <a:gd name="connsiteY5" fmla="*/ 4984557 h 5722013"/>
              <a:gd name="connsiteX6" fmla="*/ 0 w 6945717"/>
              <a:gd name="connsiteY6" fmla="*/ 737456 h 5722013"/>
              <a:gd name="connsiteX7" fmla="*/ 738074 w 6945717"/>
              <a:gd name="connsiteY7" fmla="*/ 0 h 5722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45717" h="5722013">
                <a:moveTo>
                  <a:pt x="738074" y="0"/>
                </a:moveTo>
                <a:lnTo>
                  <a:pt x="6945717" y="0"/>
                </a:lnTo>
                <a:lnTo>
                  <a:pt x="6945717" y="4984557"/>
                </a:lnTo>
                <a:cubicBezTo>
                  <a:pt x="6945717" y="5391542"/>
                  <a:pt x="6614968" y="5722013"/>
                  <a:pt x="6207643" y="5722013"/>
                </a:cubicBezTo>
                <a:lnTo>
                  <a:pt x="738074" y="5722013"/>
                </a:lnTo>
                <a:cubicBezTo>
                  <a:pt x="330748" y="5722013"/>
                  <a:pt x="0" y="5391542"/>
                  <a:pt x="0" y="4984557"/>
                </a:cubicBezTo>
                <a:lnTo>
                  <a:pt x="0" y="737456"/>
                </a:lnTo>
                <a:cubicBezTo>
                  <a:pt x="0" y="330472"/>
                  <a:pt x="330748" y="0"/>
                  <a:pt x="738074" y="0"/>
                </a:cubicBezTo>
                <a:close/>
              </a:path>
            </a:pathLst>
          </a:custGeom>
        </p:spPr>
        <p:txBody>
          <a:bodyPr wrap="square">
            <a:noAutofit/>
          </a:bodyPr>
          <a:lstStyle/>
          <a:p>
            <a:endParaRPr lang="en-GB"/>
          </a:p>
        </p:txBody>
      </p:sp>
      <p:sp>
        <p:nvSpPr>
          <p:cNvPr id="9" name="Text Placeholder 18">
            <a:extLst>
              <a:ext uri="{FF2B5EF4-FFF2-40B4-BE49-F238E27FC236}">
                <a16:creationId xmlns:a16="http://schemas.microsoft.com/office/drawing/2014/main" id="{CA6B0C59-8056-303C-E693-D8259BDDE613}"/>
              </a:ext>
            </a:extLst>
          </p:cNvPr>
          <p:cNvSpPr>
            <a:spLocks noGrp="1"/>
          </p:cNvSpPr>
          <p:nvPr>
            <p:ph type="body" sz="quarter" idx="16"/>
          </p:nvPr>
        </p:nvSpPr>
        <p:spPr>
          <a:xfrm>
            <a:off x="257175" y="3299031"/>
            <a:ext cx="3753993" cy="3301794"/>
          </a:xfrm>
        </p:spPr>
        <p:txBody>
          <a:bodyPr/>
          <a:lstStyle>
            <a:lvl1pPr marL="237744">
              <a:lnSpc>
                <a:spcPct val="93000"/>
              </a:lnSpc>
              <a:spcBef>
                <a:spcPts val="1000"/>
              </a:spcBef>
              <a:defRPr sz="1200" spc="-17">
                <a:solidFill>
                  <a:schemeClr val="tx2"/>
                </a:solidFill>
              </a:defRPr>
            </a:lvl1pPr>
            <a:lvl2pPr marL="402336">
              <a:lnSpc>
                <a:spcPct val="93000"/>
              </a:lnSpc>
              <a:spcBef>
                <a:spcPts val="1000"/>
              </a:spcBef>
              <a:defRPr sz="1200" spc="-17">
                <a:solidFill>
                  <a:schemeClr val="tx2"/>
                </a:solidFill>
              </a:defRPr>
            </a:lvl2pPr>
            <a:lvl3pPr marL="585216">
              <a:lnSpc>
                <a:spcPct val="93000"/>
              </a:lnSpc>
              <a:spcBef>
                <a:spcPts val="1000"/>
              </a:spcBef>
              <a:defRPr sz="1200" spc="-17">
                <a:solidFill>
                  <a:schemeClr val="tx2"/>
                </a:solidFill>
              </a:defRPr>
            </a:lvl3pPr>
            <a:lvl4pPr marL="768096">
              <a:lnSpc>
                <a:spcPct val="93000"/>
              </a:lnSpc>
              <a:spcBef>
                <a:spcPts val="1000"/>
              </a:spcBef>
              <a:defRPr sz="1200" spc="-17">
                <a:solidFill>
                  <a:schemeClr val="tx2"/>
                </a:solidFill>
              </a:defRPr>
            </a:lvl4pPr>
            <a:lvl5pPr marL="950976">
              <a:lnSpc>
                <a:spcPct val="93000"/>
              </a:lnSpc>
              <a:spcBef>
                <a:spcPts val="1000"/>
              </a:spcBef>
              <a:defRPr sz="12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 name="Text Placeholder 24">
            <a:extLst>
              <a:ext uri="{FF2B5EF4-FFF2-40B4-BE49-F238E27FC236}">
                <a16:creationId xmlns:a16="http://schemas.microsoft.com/office/drawing/2014/main" id="{6E77B6E7-D661-181A-C34B-26EF05233EBA}"/>
              </a:ext>
            </a:extLst>
          </p:cNvPr>
          <p:cNvSpPr>
            <a:spLocks noGrp="1"/>
          </p:cNvSpPr>
          <p:nvPr>
            <p:ph type="body" sz="quarter" idx="13" hasCustomPrompt="1"/>
          </p:nvPr>
        </p:nvSpPr>
        <p:spPr>
          <a:xfrm>
            <a:off x="257180" y="2938535"/>
            <a:ext cx="3753871" cy="158693"/>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Tree>
    <p:extLst>
      <p:ext uri="{BB962C8B-B14F-4D97-AF65-F5344CB8AC3E}">
        <p14:creationId xmlns:p14="http://schemas.microsoft.com/office/powerpoint/2010/main" val="20854449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lumn with Images-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6679" cy="414463"/>
          </a:xfrm>
        </p:spPr>
        <p:txBody>
          <a:bodyPr/>
          <a:lstStyle>
            <a:lvl1pPr>
              <a:defRPr spc="-26">
                <a:solidFill>
                  <a:schemeClr val="tx1"/>
                </a:solidFill>
              </a:defRPr>
            </a:lvl1pPr>
          </a:lstStyle>
          <a:p>
            <a:r>
              <a:rPr lang="en-US"/>
              <a:t>A template for three columns of information</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2686"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27" name="Text Placeholder 24">
            <a:extLst>
              <a:ext uri="{FF2B5EF4-FFF2-40B4-BE49-F238E27FC236}">
                <a16:creationId xmlns:a16="http://schemas.microsoft.com/office/drawing/2014/main" id="{82B53A0F-9769-BFF4-2FB4-C73782AF9BD9}"/>
              </a:ext>
            </a:extLst>
          </p:cNvPr>
          <p:cNvSpPr>
            <a:spLocks noGrp="1"/>
          </p:cNvSpPr>
          <p:nvPr>
            <p:ph type="body" sz="quarter" idx="15" hasCustomPrompt="1"/>
          </p:nvPr>
        </p:nvSpPr>
        <p:spPr>
          <a:xfrm>
            <a:off x="257178"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28" name="Text Placeholder 24">
            <a:extLst>
              <a:ext uri="{FF2B5EF4-FFF2-40B4-BE49-F238E27FC236}">
                <a16:creationId xmlns:a16="http://schemas.microsoft.com/office/drawing/2014/main" id="{44FE4434-42C1-8BF3-BAA6-94B7EF00C87A}"/>
              </a:ext>
            </a:extLst>
          </p:cNvPr>
          <p:cNvSpPr>
            <a:spLocks noGrp="1"/>
          </p:cNvSpPr>
          <p:nvPr>
            <p:ph type="body" sz="quarter" idx="16" hasCustomPrompt="1"/>
          </p:nvPr>
        </p:nvSpPr>
        <p:spPr>
          <a:xfrm>
            <a:off x="257178"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29" name="Text Placeholder 24">
            <a:extLst>
              <a:ext uri="{FF2B5EF4-FFF2-40B4-BE49-F238E27FC236}">
                <a16:creationId xmlns:a16="http://schemas.microsoft.com/office/drawing/2014/main" id="{5C89FC96-610E-E710-FD59-5C6C4E45C75A}"/>
              </a:ext>
            </a:extLst>
          </p:cNvPr>
          <p:cNvSpPr>
            <a:spLocks noGrp="1"/>
          </p:cNvSpPr>
          <p:nvPr>
            <p:ph type="body" sz="quarter" idx="17" hasCustomPrompt="1"/>
          </p:nvPr>
        </p:nvSpPr>
        <p:spPr>
          <a:xfrm>
            <a:off x="4194141"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0" name="Text Placeholder 24">
            <a:extLst>
              <a:ext uri="{FF2B5EF4-FFF2-40B4-BE49-F238E27FC236}">
                <a16:creationId xmlns:a16="http://schemas.microsoft.com/office/drawing/2014/main" id="{DB5B3D3B-C4B0-1E8B-C229-72FF828AB6A1}"/>
              </a:ext>
            </a:extLst>
          </p:cNvPr>
          <p:cNvSpPr>
            <a:spLocks noGrp="1"/>
          </p:cNvSpPr>
          <p:nvPr>
            <p:ph type="body" sz="quarter" idx="18" hasCustomPrompt="1"/>
          </p:nvPr>
        </p:nvSpPr>
        <p:spPr>
          <a:xfrm>
            <a:off x="4194141"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1" name="Text Placeholder 24">
            <a:extLst>
              <a:ext uri="{FF2B5EF4-FFF2-40B4-BE49-F238E27FC236}">
                <a16:creationId xmlns:a16="http://schemas.microsoft.com/office/drawing/2014/main" id="{A7182F27-B965-0E1E-DE4D-C6A3690AAC48}"/>
              </a:ext>
            </a:extLst>
          </p:cNvPr>
          <p:cNvSpPr>
            <a:spLocks noGrp="1"/>
          </p:cNvSpPr>
          <p:nvPr>
            <p:ph type="body" sz="quarter" idx="19" hasCustomPrompt="1"/>
          </p:nvPr>
        </p:nvSpPr>
        <p:spPr>
          <a:xfrm>
            <a:off x="8131104"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24">
            <a:extLst>
              <a:ext uri="{FF2B5EF4-FFF2-40B4-BE49-F238E27FC236}">
                <a16:creationId xmlns:a16="http://schemas.microsoft.com/office/drawing/2014/main" id="{A5796F65-7D98-EAE7-B767-CEEB4AA47493}"/>
              </a:ext>
            </a:extLst>
          </p:cNvPr>
          <p:cNvSpPr>
            <a:spLocks noGrp="1"/>
          </p:cNvSpPr>
          <p:nvPr>
            <p:ph type="body" sz="quarter" idx="20" hasCustomPrompt="1"/>
          </p:nvPr>
        </p:nvSpPr>
        <p:spPr>
          <a:xfrm>
            <a:off x="8131104"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4" name="Picture Placeholder 33">
            <a:extLst>
              <a:ext uri="{FF2B5EF4-FFF2-40B4-BE49-F238E27FC236}">
                <a16:creationId xmlns:a16="http://schemas.microsoft.com/office/drawing/2014/main" id="{259A2748-5765-3F1C-D7FC-C9C2898E6DC8}"/>
              </a:ext>
            </a:extLst>
          </p:cNvPr>
          <p:cNvSpPr>
            <a:spLocks noGrp="1"/>
          </p:cNvSpPr>
          <p:nvPr>
            <p:ph type="pic" sz="quarter" idx="21"/>
          </p:nvPr>
        </p:nvSpPr>
        <p:spPr>
          <a:xfrm>
            <a:off x="257175" y="3695700"/>
            <a:ext cx="3803650" cy="2908300"/>
          </a:xfrm>
          <a:prstGeom prst="roundRect">
            <a:avLst>
              <a:gd name="adj" fmla="val 3567"/>
            </a:avLst>
          </a:prstGeom>
        </p:spPr>
        <p:txBody>
          <a:bodyPr/>
          <a:lstStyle/>
          <a:p>
            <a:endParaRPr lang="en-GB"/>
          </a:p>
        </p:txBody>
      </p:sp>
      <p:sp>
        <p:nvSpPr>
          <p:cNvPr id="35" name="Picture Placeholder 33">
            <a:extLst>
              <a:ext uri="{FF2B5EF4-FFF2-40B4-BE49-F238E27FC236}">
                <a16:creationId xmlns:a16="http://schemas.microsoft.com/office/drawing/2014/main" id="{7D97A640-D804-0F5B-92BA-4FF2AA9F178F}"/>
              </a:ext>
            </a:extLst>
          </p:cNvPr>
          <p:cNvSpPr>
            <a:spLocks noGrp="1"/>
          </p:cNvSpPr>
          <p:nvPr>
            <p:ph type="pic" sz="quarter" idx="22"/>
          </p:nvPr>
        </p:nvSpPr>
        <p:spPr>
          <a:xfrm>
            <a:off x="4194141" y="3695700"/>
            <a:ext cx="3803650" cy="2908300"/>
          </a:xfrm>
          <a:prstGeom prst="roundRect">
            <a:avLst>
              <a:gd name="adj" fmla="val 3567"/>
            </a:avLst>
          </a:prstGeom>
        </p:spPr>
        <p:txBody>
          <a:bodyPr/>
          <a:lstStyle/>
          <a:p>
            <a:endParaRPr lang="en-GB"/>
          </a:p>
        </p:txBody>
      </p:sp>
      <p:sp>
        <p:nvSpPr>
          <p:cNvPr id="36" name="Picture Placeholder 33">
            <a:extLst>
              <a:ext uri="{FF2B5EF4-FFF2-40B4-BE49-F238E27FC236}">
                <a16:creationId xmlns:a16="http://schemas.microsoft.com/office/drawing/2014/main" id="{033C8B42-5CD4-4659-31F0-5175AEA6C24B}"/>
              </a:ext>
            </a:extLst>
          </p:cNvPr>
          <p:cNvSpPr>
            <a:spLocks noGrp="1"/>
          </p:cNvSpPr>
          <p:nvPr>
            <p:ph type="pic" sz="quarter" idx="23"/>
          </p:nvPr>
        </p:nvSpPr>
        <p:spPr>
          <a:xfrm>
            <a:off x="8131171" y="3695700"/>
            <a:ext cx="3803650" cy="2908300"/>
          </a:xfrm>
          <a:prstGeom prst="roundRect">
            <a:avLst>
              <a:gd name="adj" fmla="val 3567"/>
            </a:avLst>
          </a:prstGeom>
        </p:spPr>
        <p:txBody>
          <a:bodyPr/>
          <a:lstStyle/>
          <a:p>
            <a:endParaRPr lang="en-GB"/>
          </a:p>
        </p:txBody>
      </p:sp>
    </p:spTree>
    <p:extLst>
      <p:ext uri="{BB962C8B-B14F-4D97-AF65-F5344CB8AC3E}">
        <p14:creationId xmlns:p14="http://schemas.microsoft.com/office/powerpoint/2010/main" val="21516457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hree Column with Images-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B5CCA-5D37-E7FD-CCAE-12717F2D4C76}"/>
              </a:ext>
            </a:extLst>
          </p:cNvPr>
          <p:cNvSpPr>
            <a:spLocks noGrp="1"/>
          </p:cNvSpPr>
          <p:nvPr>
            <p:ph type="title" hasCustomPrompt="1"/>
          </p:nvPr>
        </p:nvSpPr>
        <p:spPr>
          <a:xfrm>
            <a:off x="261111" y="1389953"/>
            <a:ext cx="7736679" cy="414463"/>
          </a:xfrm>
        </p:spPr>
        <p:txBody>
          <a:bodyPr/>
          <a:lstStyle>
            <a:lvl1pPr>
              <a:defRPr spc="-26">
                <a:solidFill>
                  <a:schemeClr val="tx1"/>
                </a:solidFill>
              </a:defRPr>
            </a:lvl1pPr>
          </a:lstStyle>
          <a:p>
            <a:r>
              <a:rPr lang="en-US"/>
              <a:t>A template for three columns of information</a:t>
            </a:r>
            <a:endParaRPr lang="en-GB"/>
          </a:p>
        </p:txBody>
      </p:sp>
      <p:sp>
        <p:nvSpPr>
          <p:cNvPr id="3" name="Footer Placeholder 2">
            <a:extLst>
              <a:ext uri="{FF2B5EF4-FFF2-40B4-BE49-F238E27FC236}">
                <a16:creationId xmlns:a16="http://schemas.microsoft.com/office/drawing/2014/main" id="{1E873D17-CFDE-020B-1330-4EC91B5840EB}"/>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83068210-59C1-2532-0C3A-020785A34FA7}"/>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F5AE32F-DE82-2DBA-EC62-5CC5CA08FEC5}"/>
              </a:ext>
            </a:extLst>
          </p:cNvPr>
          <p:cNvSpPr>
            <a:spLocks noGrp="1"/>
          </p:cNvSpPr>
          <p:nvPr>
            <p:ph type="subTitle" idx="1" hasCustomPrompt="1"/>
          </p:nvPr>
        </p:nvSpPr>
        <p:spPr>
          <a:xfrm>
            <a:off x="257178" y="1088496"/>
            <a:ext cx="7742686"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27" name="Text Placeholder 24">
            <a:extLst>
              <a:ext uri="{FF2B5EF4-FFF2-40B4-BE49-F238E27FC236}">
                <a16:creationId xmlns:a16="http://schemas.microsoft.com/office/drawing/2014/main" id="{82B53A0F-9769-BFF4-2FB4-C73782AF9BD9}"/>
              </a:ext>
            </a:extLst>
          </p:cNvPr>
          <p:cNvSpPr>
            <a:spLocks noGrp="1"/>
          </p:cNvSpPr>
          <p:nvPr>
            <p:ph type="body" sz="quarter" idx="15" hasCustomPrompt="1"/>
          </p:nvPr>
        </p:nvSpPr>
        <p:spPr>
          <a:xfrm>
            <a:off x="257178"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28" name="Text Placeholder 24">
            <a:extLst>
              <a:ext uri="{FF2B5EF4-FFF2-40B4-BE49-F238E27FC236}">
                <a16:creationId xmlns:a16="http://schemas.microsoft.com/office/drawing/2014/main" id="{44FE4434-42C1-8BF3-BAA6-94B7EF00C87A}"/>
              </a:ext>
            </a:extLst>
          </p:cNvPr>
          <p:cNvSpPr>
            <a:spLocks noGrp="1"/>
          </p:cNvSpPr>
          <p:nvPr>
            <p:ph type="body" sz="quarter" idx="16" hasCustomPrompt="1"/>
          </p:nvPr>
        </p:nvSpPr>
        <p:spPr>
          <a:xfrm>
            <a:off x="257178"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29" name="Text Placeholder 24">
            <a:extLst>
              <a:ext uri="{FF2B5EF4-FFF2-40B4-BE49-F238E27FC236}">
                <a16:creationId xmlns:a16="http://schemas.microsoft.com/office/drawing/2014/main" id="{5C89FC96-610E-E710-FD59-5C6C4E45C75A}"/>
              </a:ext>
            </a:extLst>
          </p:cNvPr>
          <p:cNvSpPr>
            <a:spLocks noGrp="1"/>
          </p:cNvSpPr>
          <p:nvPr>
            <p:ph type="body" sz="quarter" idx="17" hasCustomPrompt="1"/>
          </p:nvPr>
        </p:nvSpPr>
        <p:spPr>
          <a:xfrm>
            <a:off x="4194141"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0" name="Text Placeholder 24">
            <a:extLst>
              <a:ext uri="{FF2B5EF4-FFF2-40B4-BE49-F238E27FC236}">
                <a16:creationId xmlns:a16="http://schemas.microsoft.com/office/drawing/2014/main" id="{DB5B3D3B-C4B0-1E8B-C229-72FF828AB6A1}"/>
              </a:ext>
            </a:extLst>
          </p:cNvPr>
          <p:cNvSpPr>
            <a:spLocks noGrp="1"/>
          </p:cNvSpPr>
          <p:nvPr>
            <p:ph type="body" sz="quarter" idx="18" hasCustomPrompt="1"/>
          </p:nvPr>
        </p:nvSpPr>
        <p:spPr>
          <a:xfrm>
            <a:off x="4194141"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1" name="Text Placeholder 24">
            <a:extLst>
              <a:ext uri="{FF2B5EF4-FFF2-40B4-BE49-F238E27FC236}">
                <a16:creationId xmlns:a16="http://schemas.microsoft.com/office/drawing/2014/main" id="{A7182F27-B965-0E1E-DE4D-C6A3690AAC48}"/>
              </a:ext>
            </a:extLst>
          </p:cNvPr>
          <p:cNvSpPr>
            <a:spLocks noGrp="1"/>
          </p:cNvSpPr>
          <p:nvPr>
            <p:ph type="body" sz="quarter" idx="19" hasCustomPrompt="1"/>
          </p:nvPr>
        </p:nvSpPr>
        <p:spPr>
          <a:xfrm>
            <a:off x="8131104" y="2712495"/>
            <a:ext cx="3803717"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24">
            <a:extLst>
              <a:ext uri="{FF2B5EF4-FFF2-40B4-BE49-F238E27FC236}">
                <a16:creationId xmlns:a16="http://schemas.microsoft.com/office/drawing/2014/main" id="{A5796F65-7D98-EAE7-B767-CEEB4AA47493}"/>
              </a:ext>
            </a:extLst>
          </p:cNvPr>
          <p:cNvSpPr>
            <a:spLocks noGrp="1"/>
          </p:cNvSpPr>
          <p:nvPr>
            <p:ph type="body" sz="quarter" idx="20" hasCustomPrompt="1"/>
          </p:nvPr>
        </p:nvSpPr>
        <p:spPr>
          <a:xfrm>
            <a:off x="8131104" y="3081901"/>
            <a:ext cx="3803717" cy="369580"/>
          </a:xfrm>
        </p:spPr>
        <p:txBody>
          <a:bodyPr vert="horz" lIns="0" tIns="0" rIns="0" bIns="0" rtlCol="0">
            <a:noAutofit/>
          </a:bodyPr>
          <a:lstStyle>
            <a:lvl1pPr>
              <a:lnSpc>
                <a:spcPct val="95857"/>
              </a:lnSpc>
              <a:buNone/>
              <a:defRPr lang="en-GB" sz="1200" spc="-16" dirty="0">
                <a:solidFill>
                  <a:schemeClr val="tx2"/>
                </a:solidFill>
                <a:latin typeface="+mn-lt"/>
              </a:defRPr>
            </a:lvl1pPr>
          </a:lstStyle>
          <a:p>
            <a:pPr marL="0" lvl="0" indent="0">
              <a:buNone/>
            </a:pPr>
            <a:r>
              <a:rPr lang="en-US"/>
              <a:t>Ut </a:t>
            </a:r>
            <a:r>
              <a:rPr lang="en-US" err="1"/>
              <a:t>enim</a:t>
            </a:r>
            <a:r>
              <a:rPr lang="en-US"/>
              <a:t> ad minim </a:t>
            </a:r>
            <a:r>
              <a:rPr lang="en-US" err="1"/>
              <a:t>veniam</a:t>
            </a:r>
            <a:r>
              <a:rPr lang="en-US"/>
              <a:t>, </a:t>
            </a:r>
            <a:r>
              <a:rPr lang="en-US" err="1"/>
              <a:t>quis</a:t>
            </a:r>
            <a:r>
              <a:rPr lang="en-US"/>
              <a:t> </a:t>
            </a:r>
            <a:r>
              <a:rPr lang="en-US" err="1"/>
              <a:t>nostrud</a:t>
            </a:r>
            <a:br>
              <a:rPr lang="en-US"/>
            </a:br>
            <a:r>
              <a:rPr lang="en-US"/>
              <a:t>exercitation </a:t>
            </a:r>
            <a:r>
              <a:rPr lang="en-US" err="1"/>
              <a:t>ullamco</a:t>
            </a:r>
            <a:r>
              <a:rPr lang="en-US"/>
              <a:t> </a:t>
            </a:r>
            <a:r>
              <a:rPr lang="en-US" err="1"/>
              <a:t>laboris</a:t>
            </a:r>
            <a:r>
              <a:rPr lang="en-US"/>
              <a:t> nisi </a:t>
            </a:r>
            <a:r>
              <a:rPr lang="en-US" err="1"/>
              <a:t>ut</a:t>
            </a:r>
            <a:r>
              <a:rPr lang="en-US"/>
              <a:t> </a:t>
            </a:r>
            <a:r>
              <a:rPr lang="en-US" err="1"/>
              <a:t>aliquip</a:t>
            </a:r>
            <a:endParaRPr lang="en-GB"/>
          </a:p>
        </p:txBody>
      </p:sp>
      <p:sp>
        <p:nvSpPr>
          <p:cNvPr id="34" name="Picture Placeholder 33">
            <a:extLst>
              <a:ext uri="{FF2B5EF4-FFF2-40B4-BE49-F238E27FC236}">
                <a16:creationId xmlns:a16="http://schemas.microsoft.com/office/drawing/2014/main" id="{259A2748-5765-3F1C-D7FC-C9C2898E6DC8}"/>
              </a:ext>
            </a:extLst>
          </p:cNvPr>
          <p:cNvSpPr>
            <a:spLocks noGrp="1"/>
          </p:cNvSpPr>
          <p:nvPr>
            <p:ph type="pic" sz="quarter" idx="21"/>
          </p:nvPr>
        </p:nvSpPr>
        <p:spPr>
          <a:xfrm>
            <a:off x="257175" y="3695700"/>
            <a:ext cx="3803650" cy="2908300"/>
          </a:xfrm>
          <a:prstGeom prst="roundRect">
            <a:avLst>
              <a:gd name="adj" fmla="val 3567"/>
            </a:avLst>
          </a:prstGeom>
        </p:spPr>
        <p:txBody>
          <a:bodyPr/>
          <a:lstStyle/>
          <a:p>
            <a:endParaRPr lang="en-GB"/>
          </a:p>
        </p:txBody>
      </p:sp>
      <p:sp>
        <p:nvSpPr>
          <p:cNvPr id="35" name="Picture Placeholder 33">
            <a:extLst>
              <a:ext uri="{FF2B5EF4-FFF2-40B4-BE49-F238E27FC236}">
                <a16:creationId xmlns:a16="http://schemas.microsoft.com/office/drawing/2014/main" id="{7D97A640-D804-0F5B-92BA-4FF2AA9F178F}"/>
              </a:ext>
            </a:extLst>
          </p:cNvPr>
          <p:cNvSpPr>
            <a:spLocks noGrp="1"/>
          </p:cNvSpPr>
          <p:nvPr>
            <p:ph type="pic" sz="quarter" idx="22"/>
          </p:nvPr>
        </p:nvSpPr>
        <p:spPr>
          <a:xfrm>
            <a:off x="4194141" y="3695700"/>
            <a:ext cx="3803650" cy="2908300"/>
          </a:xfrm>
          <a:prstGeom prst="roundRect">
            <a:avLst>
              <a:gd name="adj" fmla="val 3567"/>
            </a:avLst>
          </a:prstGeom>
        </p:spPr>
        <p:txBody>
          <a:bodyPr/>
          <a:lstStyle/>
          <a:p>
            <a:endParaRPr lang="en-GB"/>
          </a:p>
        </p:txBody>
      </p:sp>
      <p:sp>
        <p:nvSpPr>
          <p:cNvPr id="36" name="Picture Placeholder 33">
            <a:extLst>
              <a:ext uri="{FF2B5EF4-FFF2-40B4-BE49-F238E27FC236}">
                <a16:creationId xmlns:a16="http://schemas.microsoft.com/office/drawing/2014/main" id="{033C8B42-5CD4-4659-31F0-5175AEA6C24B}"/>
              </a:ext>
            </a:extLst>
          </p:cNvPr>
          <p:cNvSpPr>
            <a:spLocks noGrp="1"/>
          </p:cNvSpPr>
          <p:nvPr>
            <p:ph type="pic" sz="quarter" idx="23"/>
          </p:nvPr>
        </p:nvSpPr>
        <p:spPr>
          <a:xfrm>
            <a:off x="8131171" y="3695700"/>
            <a:ext cx="3803650" cy="2908300"/>
          </a:xfrm>
          <a:prstGeom prst="roundRect">
            <a:avLst>
              <a:gd name="adj" fmla="val 3567"/>
            </a:avLst>
          </a:prstGeom>
        </p:spPr>
        <p:txBody>
          <a:bodyPr/>
          <a:lstStyle/>
          <a:p>
            <a:endParaRPr lang="en-GB"/>
          </a:p>
        </p:txBody>
      </p:sp>
    </p:spTree>
    <p:extLst>
      <p:ext uri="{BB962C8B-B14F-4D97-AF65-F5344CB8AC3E}">
        <p14:creationId xmlns:p14="http://schemas.microsoft.com/office/powerpoint/2010/main" val="19469090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 with Images-2">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57D087A9-08E7-6C44-BF3A-F150866106EC}"/>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71689407-E72F-B7C0-5F24-2EB64881AF1B}"/>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Subtitle 2">
            <a:extLst>
              <a:ext uri="{FF2B5EF4-FFF2-40B4-BE49-F238E27FC236}">
                <a16:creationId xmlns:a16="http://schemas.microsoft.com/office/drawing/2014/main" id="{BDEC308B-3AA4-6AD2-F3B3-058F2A28654F}"/>
              </a:ext>
            </a:extLst>
          </p:cNvPr>
          <p:cNvSpPr>
            <a:spLocks noGrp="1"/>
          </p:cNvSpPr>
          <p:nvPr>
            <p:ph type="subTitle" idx="1" hasCustomPrompt="1"/>
          </p:nvPr>
        </p:nvSpPr>
        <p:spPr>
          <a:xfrm>
            <a:off x="257178" y="1088496"/>
            <a:ext cx="3803647"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Our Values</a:t>
            </a:r>
            <a:endParaRPr lang="en-GB"/>
          </a:p>
        </p:txBody>
      </p:sp>
      <p:sp>
        <p:nvSpPr>
          <p:cNvPr id="8" name="Text Placeholder 18">
            <a:extLst>
              <a:ext uri="{FF2B5EF4-FFF2-40B4-BE49-F238E27FC236}">
                <a16:creationId xmlns:a16="http://schemas.microsoft.com/office/drawing/2014/main" id="{E0117899-3E76-D3F5-0D23-B952DA57678D}"/>
              </a:ext>
            </a:extLst>
          </p:cNvPr>
          <p:cNvSpPr>
            <a:spLocks noGrp="1"/>
          </p:cNvSpPr>
          <p:nvPr>
            <p:ph type="body" sz="quarter" idx="16"/>
          </p:nvPr>
        </p:nvSpPr>
        <p:spPr>
          <a:xfrm>
            <a:off x="257175"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9" name="Picture Placeholder 33">
            <a:extLst>
              <a:ext uri="{FF2B5EF4-FFF2-40B4-BE49-F238E27FC236}">
                <a16:creationId xmlns:a16="http://schemas.microsoft.com/office/drawing/2014/main" id="{47E5F4DB-7207-C400-8FC3-3AF767281D2D}"/>
              </a:ext>
            </a:extLst>
          </p:cNvPr>
          <p:cNvSpPr>
            <a:spLocks noGrp="1"/>
          </p:cNvSpPr>
          <p:nvPr>
            <p:ph type="pic" sz="quarter" idx="21"/>
          </p:nvPr>
        </p:nvSpPr>
        <p:spPr>
          <a:xfrm>
            <a:off x="257175" y="1879599"/>
            <a:ext cx="3803650" cy="2908300"/>
          </a:xfrm>
          <a:prstGeom prst="roundRect">
            <a:avLst>
              <a:gd name="adj" fmla="val 3567"/>
            </a:avLst>
          </a:prstGeom>
        </p:spPr>
        <p:txBody>
          <a:bodyPr/>
          <a:lstStyle/>
          <a:p>
            <a:endParaRPr lang="en-GB"/>
          </a:p>
        </p:txBody>
      </p:sp>
      <p:sp>
        <p:nvSpPr>
          <p:cNvPr id="10" name="Picture Placeholder 33">
            <a:extLst>
              <a:ext uri="{FF2B5EF4-FFF2-40B4-BE49-F238E27FC236}">
                <a16:creationId xmlns:a16="http://schemas.microsoft.com/office/drawing/2014/main" id="{AC2F4AC6-1718-66CC-B3E7-9C6D2CFE59D9}"/>
              </a:ext>
            </a:extLst>
          </p:cNvPr>
          <p:cNvSpPr>
            <a:spLocks noGrp="1"/>
          </p:cNvSpPr>
          <p:nvPr>
            <p:ph type="pic" sz="quarter" idx="22"/>
          </p:nvPr>
        </p:nvSpPr>
        <p:spPr>
          <a:xfrm>
            <a:off x="4194141" y="1879599"/>
            <a:ext cx="3803650" cy="2908300"/>
          </a:xfrm>
          <a:prstGeom prst="roundRect">
            <a:avLst>
              <a:gd name="adj" fmla="val 3567"/>
            </a:avLst>
          </a:prstGeom>
        </p:spPr>
        <p:txBody>
          <a:bodyPr/>
          <a:lstStyle/>
          <a:p>
            <a:endParaRPr lang="en-GB"/>
          </a:p>
        </p:txBody>
      </p:sp>
      <p:sp>
        <p:nvSpPr>
          <p:cNvPr id="11" name="Picture Placeholder 33">
            <a:extLst>
              <a:ext uri="{FF2B5EF4-FFF2-40B4-BE49-F238E27FC236}">
                <a16:creationId xmlns:a16="http://schemas.microsoft.com/office/drawing/2014/main" id="{836F6D11-A1CF-A88C-B5A0-6A0A4E3FAE7C}"/>
              </a:ext>
            </a:extLst>
          </p:cNvPr>
          <p:cNvSpPr>
            <a:spLocks noGrp="1"/>
          </p:cNvSpPr>
          <p:nvPr>
            <p:ph type="pic" sz="quarter" idx="23"/>
          </p:nvPr>
        </p:nvSpPr>
        <p:spPr>
          <a:xfrm>
            <a:off x="8131171" y="1879599"/>
            <a:ext cx="3803650" cy="2908300"/>
          </a:xfrm>
          <a:prstGeom prst="roundRect">
            <a:avLst>
              <a:gd name="adj" fmla="val 3567"/>
            </a:avLst>
          </a:prstGeom>
        </p:spPr>
        <p:txBody>
          <a:bodyPr/>
          <a:lstStyle/>
          <a:p>
            <a:endParaRPr lang="en-GB"/>
          </a:p>
        </p:txBody>
      </p:sp>
      <p:sp>
        <p:nvSpPr>
          <p:cNvPr id="12" name="Text Placeholder 18">
            <a:extLst>
              <a:ext uri="{FF2B5EF4-FFF2-40B4-BE49-F238E27FC236}">
                <a16:creationId xmlns:a16="http://schemas.microsoft.com/office/drawing/2014/main" id="{B23F71E5-5599-C507-0217-57BC661E72F1}"/>
              </a:ext>
            </a:extLst>
          </p:cNvPr>
          <p:cNvSpPr>
            <a:spLocks noGrp="1"/>
          </p:cNvSpPr>
          <p:nvPr>
            <p:ph type="body" sz="quarter" idx="24"/>
          </p:nvPr>
        </p:nvSpPr>
        <p:spPr>
          <a:xfrm>
            <a:off x="4194141"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3" name="Text Placeholder 18">
            <a:extLst>
              <a:ext uri="{FF2B5EF4-FFF2-40B4-BE49-F238E27FC236}">
                <a16:creationId xmlns:a16="http://schemas.microsoft.com/office/drawing/2014/main" id="{62143D84-C449-472E-13E7-11DD5B739482}"/>
              </a:ext>
            </a:extLst>
          </p:cNvPr>
          <p:cNvSpPr>
            <a:spLocks noGrp="1"/>
          </p:cNvSpPr>
          <p:nvPr>
            <p:ph type="body" sz="quarter" idx="25"/>
          </p:nvPr>
        </p:nvSpPr>
        <p:spPr>
          <a:xfrm>
            <a:off x="8131107" y="4996873"/>
            <a:ext cx="3803650" cy="1603952"/>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6675422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our Colum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E48907C-A293-A24F-523C-5514B8DCF603}"/>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34E2BDE1-1549-02AE-0796-64039E1E8A08}"/>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Title 1">
            <a:extLst>
              <a:ext uri="{FF2B5EF4-FFF2-40B4-BE49-F238E27FC236}">
                <a16:creationId xmlns:a16="http://schemas.microsoft.com/office/drawing/2014/main" id="{4E15E787-00FA-16DF-09F6-81048AA4568B}"/>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four columns of information with icons</a:t>
            </a:r>
            <a:endParaRPr lang="en-GB"/>
          </a:p>
        </p:txBody>
      </p:sp>
      <p:sp>
        <p:nvSpPr>
          <p:cNvPr id="8" name="Subtitle 2">
            <a:extLst>
              <a:ext uri="{FF2B5EF4-FFF2-40B4-BE49-F238E27FC236}">
                <a16:creationId xmlns:a16="http://schemas.microsoft.com/office/drawing/2014/main" id="{68FDF0A5-B915-C040-7FB2-B05758D07357}"/>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79" name="Text Placeholder 24">
            <a:extLst>
              <a:ext uri="{FF2B5EF4-FFF2-40B4-BE49-F238E27FC236}">
                <a16:creationId xmlns:a16="http://schemas.microsoft.com/office/drawing/2014/main" id="{A0369386-5491-B34C-6363-9519032339FF}"/>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0" name="Text Placeholder 18">
            <a:extLst>
              <a:ext uri="{FF2B5EF4-FFF2-40B4-BE49-F238E27FC236}">
                <a16:creationId xmlns:a16="http://schemas.microsoft.com/office/drawing/2014/main" id="{54BA11C3-44D1-0024-87F6-1334B5D0AF5C}"/>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1" name="Text Placeholder 24">
            <a:extLst>
              <a:ext uri="{FF2B5EF4-FFF2-40B4-BE49-F238E27FC236}">
                <a16:creationId xmlns:a16="http://schemas.microsoft.com/office/drawing/2014/main" id="{AF394668-C890-66A2-CEB8-9580654AF034}"/>
              </a:ext>
            </a:extLst>
          </p:cNvPr>
          <p:cNvSpPr>
            <a:spLocks noGrp="1"/>
          </p:cNvSpPr>
          <p:nvPr>
            <p:ph type="body" sz="quarter" idx="17" hasCustomPrompt="1"/>
          </p:nvPr>
        </p:nvSpPr>
        <p:spPr>
          <a:xfrm>
            <a:off x="3414204"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2" name="Text Placeholder 18">
            <a:extLst>
              <a:ext uri="{FF2B5EF4-FFF2-40B4-BE49-F238E27FC236}">
                <a16:creationId xmlns:a16="http://schemas.microsoft.com/office/drawing/2014/main" id="{5DCB598D-3D78-24FF-514B-2D325AFFFEA2}"/>
              </a:ext>
            </a:extLst>
          </p:cNvPr>
          <p:cNvSpPr>
            <a:spLocks noGrp="1"/>
          </p:cNvSpPr>
          <p:nvPr>
            <p:ph type="body" sz="quarter" idx="18"/>
          </p:nvPr>
        </p:nvSpPr>
        <p:spPr>
          <a:xfrm>
            <a:off x="3414204"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3" name="Text Placeholder 24">
            <a:extLst>
              <a:ext uri="{FF2B5EF4-FFF2-40B4-BE49-F238E27FC236}">
                <a16:creationId xmlns:a16="http://schemas.microsoft.com/office/drawing/2014/main" id="{BD0630B3-E95F-2FE2-AF86-AA84BF2D8726}"/>
              </a:ext>
            </a:extLst>
          </p:cNvPr>
          <p:cNvSpPr>
            <a:spLocks noGrp="1"/>
          </p:cNvSpPr>
          <p:nvPr>
            <p:ph type="body" sz="quarter" idx="19" hasCustomPrompt="1"/>
          </p:nvPr>
        </p:nvSpPr>
        <p:spPr>
          <a:xfrm>
            <a:off x="636504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4" name="Text Placeholder 18">
            <a:extLst>
              <a:ext uri="{FF2B5EF4-FFF2-40B4-BE49-F238E27FC236}">
                <a16:creationId xmlns:a16="http://schemas.microsoft.com/office/drawing/2014/main" id="{F8313115-A112-3FE0-6FB9-7D4DD3149387}"/>
              </a:ext>
            </a:extLst>
          </p:cNvPr>
          <p:cNvSpPr>
            <a:spLocks noGrp="1"/>
          </p:cNvSpPr>
          <p:nvPr>
            <p:ph type="body" sz="quarter" idx="20"/>
          </p:nvPr>
        </p:nvSpPr>
        <p:spPr>
          <a:xfrm>
            <a:off x="636504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5" name="Text Placeholder 24">
            <a:extLst>
              <a:ext uri="{FF2B5EF4-FFF2-40B4-BE49-F238E27FC236}">
                <a16:creationId xmlns:a16="http://schemas.microsoft.com/office/drawing/2014/main" id="{8EBDB70F-A626-208F-4EED-1D636825EF52}"/>
              </a:ext>
            </a:extLst>
          </p:cNvPr>
          <p:cNvSpPr>
            <a:spLocks noGrp="1"/>
          </p:cNvSpPr>
          <p:nvPr>
            <p:ph type="body" sz="quarter" idx="21" hasCustomPrompt="1"/>
          </p:nvPr>
        </p:nvSpPr>
        <p:spPr>
          <a:xfrm>
            <a:off x="9315886"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6" name="Text Placeholder 18">
            <a:extLst>
              <a:ext uri="{FF2B5EF4-FFF2-40B4-BE49-F238E27FC236}">
                <a16:creationId xmlns:a16="http://schemas.microsoft.com/office/drawing/2014/main" id="{30268815-D602-794A-3F1C-7DA8ABFD6B93}"/>
              </a:ext>
            </a:extLst>
          </p:cNvPr>
          <p:cNvSpPr>
            <a:spLocks noGrp="1"/>
          </p:cNvSpPr>
          <p:nvPr>
            <p:ph type="body" sz="quarter" idx="22"/>
          </p:nvPr>
        </p:nvSpPr>
        <p:spPr>
          <a:xfrm>
            <a:off x="9315886"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72983212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Four Colum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E48907C-A293-A24F-523C-5514B8DCF603}"/>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34E2BDE1-1549-02AE-0796-64039E1E8A08}"/>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7" name="Title 1">
            <a:extLst>
              <a:ext uri="{FF2B5EF4-FFF2-40B4-BE49-F238E27FC236}">
                <a16:creationId xmlns:a16="http://schemas.microsoft.com/office/drawing/2014/main" id="{4E15E787-00FA-16DF-09F6-81048AA4568B}"/>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four columns of information with icons</a:t>
            </a:r>
            <a:endParaRPr lang="en-GB"/>
          </a:p>
        </p:txBody>
      </p:sp>
      <p:sp>
        <p:nvSpPr>
          <p:cNvPr id="8" name="Subtitle 2">
            <a:extLst>
              <a:ext uri="{FF2B5EF4-FFF2-40B4-BE49-F238E27FC236}">
                <a16:creationId xmlns:a16="http://schemas.microsoft.com/office/drawing/2014/main" id="{68FDF0A5-B915-C040-7FB2-B05758D07357}"/>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79" name="Text Placeholder 24">
            <a:extLst>
              <a:ext uri="{FF2B5EF4-FFF2-40B4-BE49-F238E27FC236}">
                <a16:creationId xmlns:a16="http://schemas.microsoft.com/office/drawing/2014/main" id="{A0369386-5491-B34C-6363-9519032339FF}"/>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0" name="Text Placeholder 18">
            <a:extLst>
              <a:ext uri="{FF2B5EF4-FFF2-40B4-BE49-F238E27FC236}">
                <a16:creationId xmlns:a16="http://schemas.microsoft.com/office/drawing/2014/main" id="{54BA11C3-44D1-0024-87F6-1334B5D0AF5C}"/>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1" name="Text Placeholder 24">
            <a:extLst>
              <a:ext uri="{FF2B5EF4-FFF2-40B4-BE49-F238E27FC236}">
                <a16:creationId xmlns:a16="http://schemas.microsoft.com/office/drawing/2014/main" id="{AF394668-C890-66A2-CEB8-9580654AF034}"/>
              </a:ext>
            </a:extLst>
          </p:cNvPr>
          <p:cNvSpPr>
            <a:spLocks noGrp="1"/>
          </p:cNvSpPr>
          <p:nvPr>
            <p:ph type="body" sz="quarter" idx="17" hasCustomPrompt="1"/>
          </p:nvPr>
        </p:nvSpPr>
        <p:spPr>
          <a:xfrm>
            <a:off x="3414204"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2" name="Text Placeholder 18">
            <a:extLst>
              <a:ext uri="{FF2B5EF4-FFF2-40B4-BE49-F238E27FC236}">
                <a16:creationId xmlns:a16="http://schemas.microsoft.com/office/drawing/2014/main" id="{5DCB598D-3D78-24FF-514B-2D325AFFFEA2}"/>
              </a:ext>
            </a:extLst>
          </p:cNvPr>
          <p:cNvSpPr>
            <a:spLocks noGrp="1"/>
          </p:cNvSpPr>
          <p:nvPr>
            <p:ph type="body" sz="quarter" idx="18"/>
          </p:nvPr>
        </p:nvSpPr>
        <p:spPr>
          <a:xfrm>
            <a:off x="3414204"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3" name="Text Placeholder 24">
            <a:extLst>
              <a:ext uri="{FF2B5EF4-FFF2-40B4-BE49-F238E27FC236}">
                <a16:creationId xmlns:a16="http://schemas.microsoft.com/office/drawing/2014/main" id="{BD0630B3-E95F-2FE2-AF86-AA84BF2D8726}"/>
              </a:ext>
            </a:extLst>
          </p:cNvPr>
          <p:cNvSpPr>
            <a:spLocks noGrp="1"/>
          </p:cNvSpPr>
          <p:nvPr>
            <p:ph type="body" sz="quarter" idx="19" hasCustomPrompt="1"/>
          </p:nvPr>
        </p:nvSpPr>
        <p:spPr>
          <a:xfrm>
            <a:off x="636504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4" name="Text Placeholder 18">
            <a:extLst>
              <a:ext uri="{FF2B5EF4-FFF2-40B4-BE49-F238E27FC236}">
                <a16:creationId xmlns:a16="http://schemas.microsoft.com/office/drawing/2014/main" id="{F8313115-A112-3FE0-6FB9-7D4DD3149387}"/>
              </a:ext>
            </a:extLst>
          </p:cNvPr>
          <p:cNvSpPr>
            <a:spLocks noGrp="1"/>
          </p:cNvSpPr>
          <p:nvPr>
            <p:ph type="body" sz="quarter" idx="20"/>
          </p:nvPr>
        </p:nvSpPr>
        <p:spPr>
          <a:xfrm>
            <a:off x="636504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5" name="Text Placeholder 24">
            <a:extLst>
              <a:ext uri="{FF2B5EF4-FFF2-40B4-BE49-F238E27FC236}">
                <a16:creationId xmlns:a16="http://schemas.microsoft.com/office/drawing/2014/main" id="{8EBDB70F-A626-208F-4EED-1D636825EF52}"/>
              </a:ext>
            </a:extLst>
          </p:cNvPr>
          <p:cNvSpPr>
            <a:spLocks noGrp="1"/>
          </p:cNvSpPr>
          <p:nvPr>
            <p:ph type="body" sz="quarter" idx="21" hasCustomPrompt="1"/>
          </p:nvPr>
        </p:nvSpPr>
        <p:spPr>
          <a:xfrm>
            <a:off x="9315886"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86" name="Text Placeholder 18">
            <a:extLst>
              <a:ext uri="{FF2B5EF4-FFF2-40B4-BE49-F238E27FC236}">
                <a16:creationId xmlns:a16="http://schemas.microsoft.com/office/drawing/2014/main" id="{30268815-D602-794A-3F1C-7DA8ABFD6B93}"/>
              </a:ext>
            </a:extLst>
          </p:cNvPr>
          <p:cNvSpPr>
            <a:spLocks noGrp="1"/>
          </p:cNvSpPr>
          <p:nvPr>
            <p:ph type="body" sz="quarter" idx="22"/>
          </p:nvPr>
        </p:nvSpPr>
        <p:spPr>
          <a:xfrm>
            <a:off x="9315886"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6192962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Colum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three columns of information with icons</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Text Placeholder 24">
            <a:extLst>
              <a:ext uri="{FF2B5EF4-FFF2-40B4-BE49-F238E27FC236}">
                <a16:creationId xmlns:a16="http://schemas.microsoft.com/office/drawing/2014/main" id="{36D3AC0F-9CCE-BDEB-91EC-43E4BC5CB166}"/>
              </a:ext>
            </a:extLst>
          </p:cNvPr>
          <p:cNvSpPr>
            <a:spLocks noGrp="1"/>
          </p:cNvSpPr>
          <p:nvPr>
            <p:ph type="body" sz="quarter" idx="17" hasCustomPrompt="1"/>
          </p:nvPr>
        </p:nvSpPr>
        <p:spPr>
          <a:xfrm>
            <a:off x="440036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4" name="Text Placeholder 18">
            <a:extLst>
              <a:ext uri="{FF2B5EF4-FFF2-40B4-BE49-F238E27FC236}">
                <a16:creationId xmlns:a16="http://schemas.microsoft.com/office/drawing/2014/main" id="{D7DE6A89-B9BA-2BC0-5715-AD30DD39E001}"/>
              </a:ext>
            </a:extLst>
          </p:cNvPr>
          <p:cNvSpPr>
            <a:spLocks noGrp="1"/>
          </p:cNvSpPr>
          <p:nvPr>
            <p:ph type="body" sz="quarter" idx="18"/>
          </p:nvPr>
        </p:nvSpPr>
        <p:spPr>
          <a:xfrm>
            <a:off x="440036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5" name="Text Placeholder 24">
            <a:extLst>
              <a:ext uri="{FF2B5EF4-FFF2-40B4-BE49-F238E27FC236}">
                <a16:creationId xmlns:a16="http://schemas.microsoft.com/office/drawing/2014/main" id="{EB96FE59-26F5-1285-5BE3-7FA0E4844BA7}"/>
              </a:ext>
            </a:extLst>
          </p:cNvPr>
          <p:cNvSpPr>
            <a:spLocks noGrp="1"/>
          </p:cNvSpPr>
          <p:nvPr>
            <p:ph type="body" sz="quarter" idx="19" hasCustomPrompt="1"/>
          </p:nvPr>
        </p:nvSpPr>
        <p:spPr>
          <a:xfrm>
            <a:off x="8337371"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6" name="Text Placeholder 18">
            <a:extLst>
              <a:ext uri="{FF2B5EF4-FFF2-40B4-BE49-F238E27FC236}">
                <a16:creationId xmlns:a16="http://schemas.microsoft.com/office/drawing/2014/main" id="{4BD02C11-4BCB-8B90-A0FE-FB87EDDC4419}"/>
              </a:ext>
            </a:extLst>
          </p:cNvPr>
          <p:cNvSpPr>
            <a:spLocks noGrp="1"/>
          </p:cNvSpPr>
          <p:nvPr>
            <p:ph type="body" sz="quarter" idx="20"/>
          </p:nvPr>
        </p:nvSpPr>
        <p:spPr>
          <a:xfrm>
            <a:off x="8337371"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560692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hree Colum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for three columns of information with icons</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463363"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463363"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3" name="Text Placeholder 24">
            <a:extLst>
              <a:ext uri="{FF2B5EF4-FFF2-40B4-BE49-F238E27FC236}">
                <a16:creationId xmlns:a16="http://schemas.microsoft.com/office/drawing/2014/main" id="{36D3AC0F-9CCE-BDEB-91EC-43E4BC5CB166}"/>
              </a:ext>
            </a:extLst>
          </p:cNvPr>
          <p:cNvSpPr>
            <a:spLocks noGrp="1"/>
          </p:cNvSpPr>
          <p:nvPr>
            <p:ph type="body" sz="quarter" idx="17" hasCustomPrompt="1"/>
          </p:nvPr>
        </p:nvSpPr>
        <p:spPr>
          <a:xfrm>
            <a:off x="4400365"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4" name="Text Placeholder 18">
            <a:extLst>
              <a:ext uri="{FF2B5EF4-FFF2-40B4-BE49-F238E27FC236}">
                <a16:creationId xmlns:a16="http://schemas.microsoft.com/office/drawing/2014/main" id="{D7DE6A89-B9BA-2BC0-5715-AD30DD39E001}"/>
              </a:ext>
            </a:extLst>
          </p:cNvPr>
          <p:cNvSpPr>
            <a:spLocks noGrp="1"/>
          </p:cNvSpPr>
          <p:nvPr>
            <p:ph type="body" sz="quarter" idx="18"/>
          </p:nvPr>
        </p:nvSpPr>
        <p:spPr>
          <a:xfrm>
            <a:off x="4400365"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5" name="Text Placeholder 24">
            <a:extLst>
              <a:ext uri="{FF2B5EF4-FFF2-40B4-BE49-F238E27FC236}">
                <a16:creationId xmlns:a16="http://schemas.microsoft.com/office/drawing/2014/main" id="{EB96FE59-26F5-1285-5BE3-7FA0E4844BA7}"/>
              </a:ext>
            </a:extLst>
          </p:cNvPr>
          <p:cNvSpPr>
            <a:spLocks noGrp="1"/>
          </p:cNvSpPr>
          <p:nvPr>
            <p:ph type="body" sz="quarter" idx="19" hasCustomPrompt="1"/>
          </p:nvPr>
        </p:nvSpPr>
        <p:spPr>
          <a:xfrm>
            <a:off x="8337371" y="3891754"/>
            <a:ext cx="2608450" cy="218665"/>
          </a:xfrm>
        </p:spPr>
        <p:txBody>
          <a:bodyPr vert="horz" lIns="0" tIns="0" rIns="0" bIns="0" rtlCol="0">
            <a:noAutofit/>
          </a:bodyPr>
          <a:lstStyle>
            <a:lvl1pPr>
              <a:buNone/>
              <a:defRPr lang="en-GB" sz="1200" spc="-9" dirty="0">
                <a:solidFill>
                  <a:schemeClr val="tx1"/>
                </a:solidFill>
                <a:latin typeface="Funnel Sans Medium" pitchFamily="2" charset="0"/>
              </a:defRPr>
            </a:lvl1pPr>
          </a:lstStyle>
          <a:p>
            <a:pPr marL="0" lvl="0" indent="0">
              <a:buNone/>
            </a:pPr>
            <a:r>
              <a:rPr lang="en-US"/>
              <a:t>Subhead</a:t>
            </a:r>
            <a:endParaRPr lang="en-GB"/>
          </a:p>
        </p:txBody>
      </p:sp>
      <p:sp>
        <p:nvSpPr>
          <p:cNvPr id="36" name="Text Placeholder 18">
            <a:extLst>
              <a:ext uri="{FF2B5EF4-FFF2-40B4-BE49-F238E27FC236}">
                <a16:creationId xmlns:a16="http://schemas.microsoft.com/office/drawing/2014/main" id="{4BD02C11-4BCB-8B90-A0FE-FB87EDDC4419}"/>
              </a:ext>
            </a:extLst>
          </p:cNvPr>
          <p:cNvSpPr>
            <a:spLocks noGrp="1"/>
          </p:cNvSpPr>
          <p:nvPr>
            <p:ph type="body" sz="quarter" idx="20"/>
          </p:nvPr>
        </p:nvSpPr>
        <p:spPr>
          <a:xfrm>
            <a:off x="8337371" y="4261104"/>
            <a:ext cx="2608447" cy="2327483"/>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chemeClr val="tx2"/>
                </a:solidFill>
              </a:defRPr>
            </a:lvl4pPr>
            <a:lvl5pPr>
              <a:lnSpc>
                <a:spcPct val="103000"/>
              </a:lnSpc>
              <a:spcBef>
                <a:spcPts val="1000"/>
              </a:spcBef>
              <a:defRPr sz="1400" spc="-17">
                <a:solidFill>
                  <a:schemeClr val="tx2"/>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3479900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Sectio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 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7219762" y="1098656"/>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7219763" y="1508760"/>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6" name="Text Placeholder 24">
            <a:extLst>
              <a:ext uri="{FF2B5EF4-FFF2-40B4-BE49-F238E27FC236}">
                <a16:creationId xmlns:a16="http://schemas.microsoft.com/office/drawing/2014/main" id="{02DE45A7-F0D6-9AE9-EEAE-33D9CAF4BD49}"/>
              </a:ext>
            </a:extLst>
          </p:cNvPr>
          <p:cNvSpPr>
            <a:spLocks noGrp="1"/>
          </p:cNvSpPr>
          <p:nvPr>
            <p:ph type="body" sz="quarter" idx="17" hasCustomPrompt="1"/>
          </p:nvPr>
        </p:nvSpPr>
        <p:spPr>
          <a:xfrm>
            <a:off x="7219762" y="2720075"/>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7" name="Text Placeholder 18">
            <a:extLst>
              <a:ext uri="{FF2B5EF4-FFF2-40B4-BE49-F238E27FC236}">
                <a16:creationId xmlns:a16="http://schemas.microsoft.com/office/drawing/2014/main" id="{22502C5A-341A-BA01-1E99-66D29F7CE7DF}"/>
              </a:ext>
            </a:extLst>
          </p:cNvPr>
          <p:cNvSpPr>
            <a:spLocks noGrp="1"/>
          </p:cNvSpPr>
          <p:nvPr>
            <p:ph type="body" sz="quarter" idx="18"/>
          </p:nvPr>
        </p:nvSpPr>
        <p:spPr>
          <a:xfrm>
            <a:off x="7219763" y="3130179"/>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8" name="Text Placeholder 24">
            <a:extLst>
              <a:ext uri="{FF2B5EF4-FFF2-40B4-BE49-F238E27FC236}">
                <a16:creationId xmlns:a16="http://schemas.microsoft.com/office/drawing/2014/main" id="{0A402D78-651B-49D4-8CB0-D8BB60B2C4E7}"/>
              </a:ext>
            </a:extLst>
          </p:cNvPr>
          <p:cNvSpPr>
            <a:spLocks noGrp="1"/>
          </p:cNvSpPr>
          <p:nvPr>
            <p:ph type="body" sz="quarter" idx="19" hasCustomPrompt="1"/>
          </p:nvPr>
        </p:nvSpPr>
        <p:spPr>
          <a:xfrm>
            <a:off x="7219762" y="4336414"/>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9" name="Text Placeholder 18">
            <a:extLst>
              <a:ext uri="{FF2B5EF4-FFF2-40B4-BE49-F238E27FC236}">
                <a16:creationId xmlns:a16="http://schemas.microsoft.com/office/drawing/2014/main" id="{B9C3EFA1-D458-DCCA-B07C-3DF36495AE49}"/>
              </a:ext>
            </a:extLst>
          </p:cNvPr>
          <p:cNvSpPr>
            <a:spLocks noGrp="1"/>
          </p:cNvSpPr>
          <p:nvPr>
            <p:ph type="body" sz="quarter" idx="20"/>
          </p:nvPr>
        </p:nvSpPr>
        <p:spPr>
          <a:xfrm>
            <a:off x="7219763" y="4746518"/>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5441267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hree Sectio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 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7219762" y="1098656"/>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7219763" y="1508760"/>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6" name="Text Placeholder 24">
            <a:extLst>
              <a:ext uri="{FF2B5EF4-FFF2-40B4-BE49-F238E27FC236}">
                <a16:creationId xmlns:a16="http://schemas.microsoft.com/office/drawing/2014/main" id="{02DE45A7-F0D6-9AE9-EEAE-33D9CAF4BD49}"/>
              </a:ext>
            </a:extLst>
          </p:cNvPr>
          <p:cNvSpPr>
            <a:spLocks noGrp="1"/>
          </p:cNvSpPr>
          <p:nvPr>
            <p:ph type="body" sz="quarter" idx="17" hasCustomPrompt="1"/>
          </p:nvPr>
        </p:nvSpPr>
        <p:spPr>
          <a:xfrm>
            <a:off x="7219762" y="2720075"/>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7" name="Text Placeholder 18">
            <a:extLst>
              <a:ext uri="{FF2B5EF4-FFF2-40B4-BE49-F238E27FC236}">
                <a16:creationId xmlns:a16="http://schemas.microsoft.com/office/drawing/2014/main" id="{22502C5A-341A-BA01-1E99-66D29F7CE7DF}"/>
              </a:ext>
            </a:extLst>
          </p:cNvPr>
          <p:cNvSpPr>
            <a:spLocks noGrp="1"/>
          </p:cNvSpPr>
          <p:nvPr>
            <p:ph type="body" sz="quarter" idx="18"/>
          </p:nvPr>
        </p:nvSpPr>
        <p:spPr>
          <a:xfrm>
            <a:off x="7219763" y="3130179"/>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8" name="Text Placeholder 24">
            <a:extLst>
              <a:ext uri="{FF2B5EF4-FFF2-40B4-BE49-F238E27FC236}">
                <a16:creationId xmlns:a16="http://schemas.microsoft.com/office/drawing/2014/main" id="{0A402D78-651B-49D4-8CB0-D8BB60B2C4E7}"/>
              </a:ext>
            </a:extLst>
          </p:cNvPr>
          <p:cNvSpPr>
            <a:spLocks noGrp="1"/>
          </p:cNvSpPr>
          <p:nvPr>
            <p:ph type="body" sz="quarter" idx="19" hasCustomPrompt="1"/>
          </p:nvPr>
        </p:nvSpPr>
        <p:spPr>
          <a:xfrm>
            <a:off x="7219762" y="4336414"/>
            <a:ext cx="4711129"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9" name="Text Placeholder 18">
            <a:extLst>
              <a:ext uri="{FF2B5EF4-FFF2-40B4-BE49-F238E27FC236}">
                <a16:creationId xmlns:a16="http://schemas.microsoft.com/office/drawing/2014/main" id="{B9C3EFA1-D458-DCCA-B07C-3DF36495AE49}"/>
              </a:ext>
            </a:extLst>
          </p:cNvPr>
          <p:cNvSpPr>
            <a:spLocks noGrp="1"/>
          </p:cNvSpPr>
          <p:nvPr>
            <p:ph type="body" sz="quarter" idx="20"/>
          </p:nvPr>
        </p:nvSpPr>
        <p:spPr>
          <a:xfrm>
            <a:off x="7219763" y="4746518"/>
            <a:ext cx="4711124" cy="947971"/>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8612254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Section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four</a:t>
            </a:r>
            <a:br>
              <a:rPr lang="en-US"/>
            </a:br>
            <a:r>
              <a:rPr lang="en-US"/>
              <a:t>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517531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517531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2" name="Text Placeholder 24">
            <a:extLst>
              <a:ext uri="{FF2B5EF4-FFF2-40B4-BE49-F238E27FC236}">
                <a16:creationId xmlns:a16="http://schemas.microsoft.com/office/drawing/2014/main" id="{650890D0-27EF-EEA5-0CBD-BCC3C1B147D2}"/>
              </a:ext>
            </a:extLst>
          </p:cNvPr>
          <p:cNvSpPr>
            <a:spLocks noGrp="1"/>
          </p:cNvSpPr>
          <p:nvPr>
            <p:ph type="body" sz="quarter" idx="17" hasCustomPrompt="1"/>
          </p:nvPr>
        </p:nvSpPr>
        <p:spPr>
          <a:xfrm>
            <a:off x="911262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3" name="Text Placeholder 18">
            <a:extLst>
              <a:ext uri="{FF2B5EF4-FFF2-40B4-BE49-F238E27FC236}">
                <a16:creationId xmlns:a16="http://schemas.microsoft.com/office/drawing/2014/main" id="{DB2E498E-FC14-A65E-9456-10AFF3022528}"/>
              </a:ext>
            </a:extLst>
          </p:cNvPr>
          <p:cNvSpPr>
            <a:spLocks noGrp="1"/>
          </p:cNvSpPr>
          <p:nvPr>
            <p:ph type="body" sz="quarter" idx="18"/>
          </p:nvPr>
        </p:nvSpPr>
        <p:spPr>
          <a:xfrm>
            <a:off x="911262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0" name="Text Placeholder 24">
            <a:extLst>
              <a:ext uri="{FF2B5EF4-FFF2-40B4-BE49-F238E27FC236}">
                <a16:creationId xmlns:a16="http://schemas.microsoft.com/office/drawing/2014/main" id="{F13C5BA7-39B1-76D6-B614-954B5847D361}"/>
              </a:ext>
            </a:extLst>
          </p:cNvPr>
          <p:cNvSpPr>
            <a:spLocks noGrp="1"/>
          </p:cNvSpPr>
          <p:nvPr>
            <p:ph type="body" sz="quarter" idx="19" hasCustomPrompt="1"/>
          </p:nvPr>
        </p:nvSpPr>
        <p:spPr>
          <a:xfrm>
            <a:off x="517531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1" name="Text Placeholder 18">
            <a:extLst>
              <a:ext uri="{FF2B5EF4-FFF2-40B4-BE49-F238E27FC236}">
                <a16:creationId xmlns:a16="http://schemas.microsoft.com/office/drawing/2014/main" id="{CB74D52F-7941-DED7-3799-706AF0DB8ABD}"/>
              </a:ext>
            </a:extLst>
          </p:cNvPr>
          <p:cNvSpPr>
            <a:spLocks noGrp="1"/>
          </p:cNvSpPr>
          <p:nvPr>
            <p:ph type="body" sz="quarter" idx="20"/>
          </p:nvPr>
        </p:nvSpPr>
        <p:spPr>
          <a:xfrm>
            <a:off x="517531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2" name="Text Placeholder 24">
            <a:extLst>
              <a:ext uri="{FF2B5EF4-FFF2-40B4-BE49-F238E27FC236}">
                <a16:creationId xmlns:a16="http://schemas.microsoft.com/office/drawing/2014/main" id="{F225D206-8F03-0CC0-4677-1C3237B30664}"/>
              </a:ext>
            </a:extLst>
          </p:cNvPr>
          <p:cNvSpPr>
            <a:spLocks noGrp="1"/>
          </p:cNvSpPr>
          <p:nvPr>
            <p:ph type="body" sz="quarter" idx="21" hasCustomPrompt="1"/>
          </p:nvPr>
        </p:nvSpPr>
        <p:spPr>
          <a:xfrm>
            <a:off x="911262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3" name="Text Placeholder 18">
            <a:extLst>
              <a:ext uri="{FF2B5EF4-FFF2-40B4-BE49-F238E27FC236}">
                <a16:creationId xmlns:a16="http://schemas.microsoft.com/office/drawing/2014/main" id="{4FBE3359-784B-AF8D-8324-03D79D851606}"/>
              </a:ext>
            </a:extLst>
          </p:cNvPr>
          <p:cNvSpPr>
            <a:spLocks noGrp="1"/>
          </p:cNvSpPr>
          <p:nvPr>
            <p:ph type="body" sz="quarter" idx="22"/>
          </p:nvPr>
        </p:nvSpPr>
        <p:spPr>
          <a:xfrm>
            <a:off x="911262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9099633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Four Section Slide">
    <p:bg>
      <p:bgPr>
        <a:solidFill>
          <a:schemeClr val="bg1"/>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four</a:t>
            </a:r>
            <a:br>
              <a:rPr lang="en-US"/>
            </a:br>
            <a:r>
              <a:rPr lang="en-US"/>
              <a:t>sections of text</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517531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32" name="Text Placeholder 18">
            <a:extLst>
              <a:ext uri="{FF2B5EF4-FFF2-40B4-BE49-F238E27FC236}">
                <a16:creationId xmlns:a16="http://schemas.microsoft.com/office/drawing/2014/main" id="{E7B860E8-17F5-1CC5-033A-E998F806172F}"/>
              </a:ext>
            </a:extLst>
          </p:cNvPr>
          <p:cNvSpPr>
            <a:spLocks noGrp="1"/>
          </p:cNvSpPr>
          <p:nvPr>
            <p:ph type="body" sz="quarter" idx="16"/>
          </p:nvPr>
        </p:nvSpPr>
        <p:spPr>
          <a:xfrm>
            <a:off x="517531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12" name="Text Placeholder 24">
            <a:extLst>
              <a:ext uri="{FF2B5EF4-FFF2-40B4-BE49-F238E27FC236}">
                <a16:creationId xmlns:a16="http://schemas.microsoft.com/office/drawing/2014/main" id="{650890D0-27EF-EEA5-0CBD-BCC3C1B147D2}"/>
              </a:ext>
            </a:extLst>
          </p:cNvPr>
          <p:cNvSpPr>
            <a:spLocks noGrp="1"/>
          </p:cNvSpPr>
          <p:nvPr>
            <p:ph type="body" sz="quarter" idx="17" hasCustomPrompt="1"/>
          </p:nvPr>
        </p:nvSpPr>
        <p:spPr>
          <a:xfrm>
            <a:off x="9112627" y="129967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13" name="Text Placeholder 18">
            <a:extLst>
              <a:ext uri="{FF2B5EF4-FFF2-40B4-BE49-F238E27FC236}">
                <a16:creationId xmlns:a16="http://schemas.microsoft.com/office/drawing/2014/main" id="{DB2E498E-FC14-A65E-9456-10AFF3022528}"/>
              </a:ext>
            </a:extLst>
          </p:cNvPr>
          <p:cNvSpPr>
            <a:spLocks noGrp="1"/>
          </p:cNvSpPr>
          <p:nvPr>
            <p:ph type="body" sz="quarter" idx="18"/>
          </p:nvPr>
        </p:nvSpPr>
        <p:spPr>
          <a:xfrm>
            <a:off x="9112627" y="170977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0" name="Text Placeholder 24">
            <a:extLst>
              <a:ext uri="{FF2B5EF4-FFF2-40B4-BE49-F238E27FC236}">
                <a16:creationId xmlns:a16="http://schemas.microsoft.com/office/drawing/2014/main" id="{F13C5BA7-39B1-76D6-B614-954B5847D361}"/>
              </a:ext>
            </a:extLst>
          </p:cNvPr>
          <p:cNvSpPr>
            <a:spLocks noGrp="1"/>
          </p:cNvSpPr>
          <p:nvPr>
            <p:ph type="body" sz="quarter" idx="19" hasCustomPrompt="1"/>
          </p:nvPr>
        </p:nvSpPr>
        <p:spPr>
          <a:xfrm>
            <a:off x="517531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1" name="Text Placeholder 18">
            <a:extLst>
              <a:ext uri="{FF2B5EF4-FFF2-40B4-BE49-F238E27FC236}">
                <a16:creationId xmlns:a16="http://schemas.microsoft.com/office/drawing/2014/main" id="{CB74D52F-7941-DED7-3799-706AF0DB8ABD}"/>
              </a:ext>
            </a:extLst>
          </p:cNvPr>
          <p:cNvSpPr>
            <a:spLocks noGrp="1"/>
          </p:cNvSpPr>
          <p:nvPr>
            <p:ph type="body" sz="quarter" idx="20"/>
          </p:nvPr>
        </p:nvSpPr>
        <p:spPr>
          <a:xfrm>
            <a:off x="517531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22" name="Text Placeholder 24">
            <a:extLst>
              <a:ext uri="{FF2B5EF4-FFF2-40B4-BE49-F238E27FC236}">
                <a16:creationId xmlns:a16="http://schemas.microsoft.com/office/drawing/2014/main" id="{F225D206-8F03-0CC0-4677-1C3237B30664}"/>
              </a:ext>
            </a:extLst>
          </p:cNvPr>
          <p:cNvSpPr>
            <a:spLocks noGrp="1"/>
          </p:cNvSpPr>
          <p:nvPr>
            <p:ph type="body" sz="quarter" idx="21" hasCustomPrompt="1"/>
          </p:nvPr>
        </p:nvSpPr>
        <p:spPr>
          <a:xfrm>
            <a:off x="9112627" y="3727020"/>
            <a:ext cx="2876486" cy="218665"/>
          </a:xfrm>
        </p:spPr>
        <p:txBody>
          <a:bodyPr vert="horz" lIns="0" tIns="0" rIns="0" bIns="0" rtlCol="0">
            <a:noAutofit/>
          </a:bodyPr>
          <a:lstStyle>
            <a:lvl1pPr>
              <a:buNone/>
              <a:defRPr lang="en-GB" sz="1400" spc="-9" dirty="0">
                <a:solidFill>
                  <a:schemeClr val="tx1"/>
                </a:solidFill>
                <a:latin typeface="Funnel Sans Medium" pitchFamily="2" charset="0"/>
              </a:defRPr>
            </a:lvl1pPr>
          </a:lstStyle>
          <a:p>
            <a:pPr marL="0" lvl="0" indent="0">
              <a:buNone/>
            </a:pPr>
            <a:r>
              <a:rPr lang="en-US"/>
              <a:t>Subhead</a:t>
            </a:r>
            <a:endParaRPr lang="en-GB"/>
          </a:p>
        </p:txBody>
      </p:sp>
      <p:sp>
        <p:nvSpPr>
          <p:cNvPr id="23" name="Text Placeholder 18">
            <a:extLst>
              <a:ext uri="{FF2B5EF4-FFF2-40B4-BE49-F238E27FC236}">
                <a16:creationId xmlns:a16="http://schemas.microsoft.com/office/drawing/2014/main" id="{4FBE3359-784B-AF8D-8324-03D79D851606}"/>
              </a:ext>
            </a:extLst>
          </p:cNvPr>
          <p:cNvSpPr>
            <a:spLocks noGrp="1"/>
          </p:cNvSpPr>
          <p:nvPr>
            <p:ph type="body" sz="quarter" idx="22"/>
          </p:nvPr>
        </p:nvSpPr>
        <p:spPr>
          <a:xfrm>
            <a:off x="9112627" y="4137124"/>
            <a:ext cx="2876483" cy="1378866"/>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50716083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Pieces of Data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C671EB-1366-5A12-5AB6-F1347BBCCFD8}"/>
              </a:ext>
            </a:extLst>
          </p:cNvPr>
          <p:cNvSpPr>
            <a:spLocks noGrp="1"/>
          </p:cNvSpPr>
          <p:nvPr>
            <p:ph type="ftr" sz="quarter" idx="10"/>
          </p:nvPr>
        </p:nvSpPr>
        <p:spPr/>
        <p:txBody>
          <a:bodyPr/>
          <a:lstStyle>
            <a:lvl1pPr>
              <a:defRPr spc="0"/>
            </a:lvl1pPr>
          </a:lstStyle>
          <a:p>
            <a:r>
              <a:rPr lang="en-US"/>
              <a:t>Confidential</a:t>
            </a:r>
            <a:endParaRPr lang="en-GB" spc="0"/>
          </a:p>
        </p:txBody>
      </p:sp>
      <p:sp>
        <p:nvSpPr>
          <p:cNvPr id="4" name="Slide Number Placeholder 3">
            <a:extLst>
              <a:ext uri="{FF2B5EF4-FFF2-40B4-BE49-F238E27FC236}">
                <a16:creationId xmlns:a16="http://schemas.microsoft.com/office/drawing/2014/main" id="{656607D4-DC4A-5910-0CEB-DA151C689152}"/>
              </a:ext>
            </a:extLst>
          </p:cNvPr>
          <p:cNvSpPr>
            <a:spLocks noGrp="1"/>
          </p:cNvSpPr>
          <p:nvPr>
            <p:ph type="sldNum" sz="quarter" idx="11"/>
          </p:nvPr>
        </p:nvSpPr>
        <p:spPr/>
        <p:txBody>
          <a:bodyPr/>
          <a:lstStyle/>
          <a:p>
            <a:fld id="{F41E5F93-45D3-472F-9EA1-BCB47A04FF6B}" type="slidenum">
              <a:rPr lang="en-GB" smtClean="0"/>
              <a:pPr/>
              <a:t>‹#›</a:t>
            </a:fld>
            <a:endParaRPr lang="en-GB"/>
          </a:p>
        </p:txBody>
      </p:sp>
      <p:sp>
        <p:nvSpPr>
          <p:cNvPr id="29" name="Title 1">
            <a:extLst>
              <a:ext uri="{FF2B5EF4-FFF2-40B4-BE49-F238E27FC236}">
                <a16:creationId xmlns:a16="http://schemas.microsoft.com/office/drawing/2014/main" id="{A687B793-7A0E-F04C-2C67-CA196864B362}"/>
              </a:ext>
            </a:extLst>
          </p:cNvPr>
          <p:cNvSpPr>
            <a:spLocks noGrp="1"/>
          </p:cNvSpPr>
          <p:nvPr>
            <p:ph type="title" hasCustomPrompt="1"/>
          </p:nvPr>
        </p:nvSpPr>
        <p:spPr>
          <a:xfrm>
            <a:off x="261113" y="1389953"/>
            <a:ext cx="4028947" cy="797984"/>
          </a:xfrm>
        </p:spPr>
        <p:txBody>
          <a:bodyPr/>
          <a:lstStyle>
            <a:lvl1pPr>
              <a:lnSpc>
                <a:spcPct val="102381"/>
              </a:lnSpc>
              <a:defRPr spc="-22">
                <a:solidFill>
                  <a:schemeClr val="tx1"/>
                </a:solidFill>
              </a:defRPr>
            </a:lvl1pPr>
          </a:lstStyle>
          <a:p>
            <a:r>
              <a:rPr lang="en-US"/>
              <a:t>A template with three</a:t>
            </a:r>
            <a:br>
              <a:rPr lang="en-US"/>
            </a:br>
            <a:r>
              <a:rPr lang="en-US"/>
              <a:t>pieces of data</a:t>
            </a:r>
            <a:endParaRPr lang="en-GB"/>
          </a:p>
        </p:txBody>
      </p:sp>
      <p:sp>
        <p:nvSpPr>
          <p:cNvPr id="30" name="Subtitle 2">
            <a:extLst>
              <a:ext uri="{FF2B5EF4-FFF2-40B4-BE49-F238E27FC236}">
                <a16:creationId xmlns:a16="http://schemas.microsoft.com/office/drawing/2014/main" id="{25543C33-7787-DA7D-4DB0-7F9982E0C409}"/>
              </a:ext>
            </a:extLst>
          </p:cNvPr>
          <p:cNvSpPr>
            <a:spLocks noGrp="1"/>
          </p:cNvSpPr>
          <p:nvPr>
            <p:ph type="subTitle" idx="1" hasCustomPrompt="1"/>
          </p:nvPr>
        </p:nvSpPr>
        <p:spPr>
          <a:xfrm>
            <a:off x="257181" y="1088496"/>
            <a:ext cx="4028948" cy="158693"/>
          </a:xfrm>
        </p:spPr>
        <p:txBody>
          <a:bodyPr/>
          <a:lstStyle>
            <a:lvl1pPr marL="0" indent="0" algn="l">
              <a:buNone/>
              <a:defRPr sz="1200">
                <a:solidFill>
                  <a:schemeClr val="tx1"/>
                </a:solidFill>
                <a:latin typeface="Funnel Sans Medium"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Label</a:t>
            </a:r>
            <a:endParaRPr lang="en-GB"/>
          </a:p>
        </p:txBody>
      </p:sp>
      <p:sp>
        <p:nvSpPr>
          <p:cNvPr id="31" name="Text Placeholder 24">
            <a:extLst>
              <a:ext uri="{FF2B5EF4-FFF2-40B4-BE49-F238E27FC236}">
                <a16:creationId xmlns:a16="http://schemas.microsoft.com/office/drawing/2014/main" id="{3D3B87E0-DD3B-ADBE-2468-C2B064F6EE48}"/>
              </a:ext>
            </a:extLst>
          </p:cNvPr>
          <p:cNvSpPr>
            <a:spLocks noGrp="1"/>
          </p:cNvSpPr>
          <p:nvPr>
            <p:ph type="body" sz="quarter" idx="15" hasCustomPrompt="1"/>
          </p:nvPr>
        </p:nvSpPr>
        <p:spPr>
          <a:xfrm>
            <a:off x="8127809" y="1355663"/>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8" name="Text Placeholder 18">
            <a:extLst>
              <a:ext uri="{FF2B5EF4-FFF2-40B4-BE49-F238E27FC236}">
                <a16:creationId xmlns:a16="http://schemas.microsoft.com/office/drawing/2014/main" id="{732AC2A8-0CD2-B276-6ECA-49CF1F7D958F}"/>
              </a:ext>
            </a:extLst>
          </p:cNvPr>
          <p:cNvSpPr>
            <a:spLocks noGrp="1"/>
          </p:cNvSpPr>
          <p:nvPr>
            <p:ph type="body" sz="quarter" idx="21"/>
          </p:nvPr>
        </p:nvSpPr>
        <p:spPr>
          <a:xfrm>
            <a:off x="257181" y="2395728"/>
            <a:ext cx="4028947" cy="3239654"/>
          </a:xfrm>
        </p:spPr>
        <p:txBody>
          <a:bodyPr/>
          <a:lstStyle>
            <a:lvl1pPr>
              <a:lnSpc>
                <a:spcPct val="103000"/>
              </a:lnSpc>
              <a:spcBef>
                <a:spcPts val="1000"/>
              </a:spcBef>
              <a:defRPr sz="1400" spc="-17">
                <a:solidFill>
                  <a:schemeClr val="tx2"/>
                </a:solidFill>
              </a:defRPr>
            </a:lvl1pPr>
            <a:lvl2pPr>
              <a:lnSpc>
                <a:spcPct val="103000"/>
              </a:lnSpc>
              <a:spcBef>
                <a:spcPts val="1000"/>
              </a:spcBef>
              <a:defRPr sz="1400" spc="-17">
                <a:solidFill>
                  <a:schemeClr val="tx2"/>
                </a:solidFill>
              </a:defRPr>
            </a:lvl2pPr>
            <a:lvl3pPr>
              <a:lnSpc>
                <a:spcPct val="103000"/>
              </a:lnSpc>
              <a:spcBef>
                <a:spcPts val="1000"/>
              </a:spcBef>
              <a:defRPr sz="1400" spc="-17">
                <a:solidFill>
                  <a:schemeClr val="tx2"/>
                </a:solidFill>
              </a:defRPr>
            </a:lvl3pPr>
            <a:lvl4pPr>
              <a:lnSpc>
                <a:spcPct val="103000"/>
              </a:lnSpc>
              <a:spcBef>
                <a:spcPts val="1000"/>
              </a:spcBef>
              <a:defRPr sz="1400" spc="-17">
                <a:solidFill>
                  <a:srgbClr val="FF0000"/>
                </a:solidFill>
              </a:defRPr>
            </a:lvl4pPr>
            <a:lvl5pPr>
              <a:lnSpc>
                <a:spcPct val="103000"/>
              </a:lnSpc>
              <a:spcBef>
                <a:spcPts val="1000"/>
              </a:spcBef>
              <a:defRPr sz="1400" spc="-17">
                <a:solidFill>
                  <a:srgbClr val="FF0000"/>
                </a:solidFill>
              </a:defRPr>
            </a:lvl5pPr>
          </a:lstStyle>
          <a:p>
            <a:pPr lvl="0"/>
            <a:r>
              <a:rPr lang="en-GB"/>
              <a:t>Click to edit Master text styles</a:t>
            </a:r>
          </a:p>
          <a:p>
            <a:pPr lvl="1"/>
            <a:r>
              <a:rPr lang="en-GB"/>
              <a:t>Second level</a:t>
            </a:r>
          </a:p>
          <a:p>
            <a:pPr lvl="2"/>
            <a:r>
              <a:rPr lang="en-GB"/>
              <a:t>Third level</a:t>
            </a:r>
          </a:p>
        </p:txBody>
      </p:sp>
      <p:sp>
        <p:nvSpPr>
          <p:cNvPr id="9" name="Text Placeholder 24">
            <a:extLst>
              <a:ext uri="{FF2B5EF4-FFF2-40B4-BE49-F238E27FC236}">
                <a16:creationId xmlns:a16="http://schemas.microsoft.com/office/drawing/2014/main" id="{EAA277A7-7321-7A88-5F93-190B60652EE1}"/>
              </a:ext>
            </a:extLst>
          </p:cNvPr>
          <p:cNvSpPr>
            <a:spLocks noGrp="1"/>
          </p:cNvSpPr>
          <p:nvPr>
            <p:ph type="body" sz="quarter" idx="22" hasCustomPrompt="1"/>
          </p:nvPr>
        </p:nvSpPr>
        <p:spPr>
          <a:xfrm>
            <a:off x="8127809" y="2149184"/>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
        <p:nvSpPr>
          <p:cNvPr id="10" name="Text Placeholder 24">
            <a:extLst>
              <a:ext uri="{FF2B5EF4-FFF2-40B4-BE49-F238E27FC236}">
                <a16:creationId xmlns:a16="http://schemas.microsoft.com/office/drawing/2014/main" id="{13238D00-3EAE-DC62-E521-5E63FD0B9BE9}"/>
              </a:ext>
            </a:extLst>
          </p:cNvPr>
          <p:cNvSpPr>
            <a:spLocks noGrp="1"/>
          </p:cNvSpPr>
          <p:nvPr>
            <p:ph type="body" sz="quarter" idx="23" hasCustomPrompt="1"/>
          </p:nvPr>
        </p:nvSpPr>
        <p:spPr>
          <a:xfrm>
            <a:off x="8127809" y="2992341"/>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11" name="Text Placeholder 24">
            <a:extLst>
              <a:ext uri="{FF2B5EF4-FFF2-40B4-BE49-F238E27FC236}">
                <a16:creationId xmlns:a16="http://schemas.microsoft.com/office/drawing/2014/main" id="{8CF5F73C-4783-7687-CD38-BDAE75533690}"/>
              </a:ext>
            </a:extLst>
          </p:cNvPr>
          <p:cNvSpPr>
            <a:spLocks noGrp="1"/>
          </p:cNvSpPr>
          <p:nvPr>
            <p:ph type="body" sz="quarter" idx="24" hasCustomPrompt="1"/>
          </p:nvPr>
        </p:nvSpPr>
        <p:spPr>
          <a:xfrm>
            <a:off x="8127809" y="3785862"/>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
        <p:nvSpPr>
          <p:cNvPr id="12" name="Text Placeholder 24">
            <a:extLst>
              <a:ext uri="{FF2B5EF4-FFF2-40B4-BE49-F238E27FC236}">
                <a16:creationId xmlns:a16="http://schemas.microsoft.com/office/drawing/2014/main" id="{5D47E480-92FD-B068-A30D-AB1FCD626A96}"/>
              </a:ext>
            </a:extLst>
          </p:cNvPr>
          <p:cNvSpPr>
            <a:spLocks noGrp="1"/>
          </p:cNvSpPr>
          <p:nvPr>
            <p:ph type="body" sz="quarter" idx="25" hasCustomPrompt="1"/>
          </p:nvPr>
        </p:nvSpPr>
        <p:spPr>
          <a:xfrm>
            <a:off x="8127809" y="4623196"/>
            <a:ext cx="3803078" cy="644587"/>
          </a:xfrm>
        </p:spPr>
        <p:txBody>
          <a:bodyPr vert="horz" lIns="0" tIns="0" rIns="0" bIns="0" rtlCol="0">
            <a:noAutofit/>
          </a:bodyPr>
          <a:lstStyle>
            <a:lvl1pPr>
              <a:buNone/>
              <a:defRPr lang="en-GB" sz="4900" spc="-121" dirty="0">
                <a:solidFill>
                  <a:schemeClr val="tx1"/>
                </a:solidFill>
                <a:latin typeface="+mj-lt"/>
                <a:ea typeface="Season Mix-TRIAL" panose="020E0504070406020203" pitchFamily="34" charset="0"/>
                <a:cs typeface="Season Mix-TRIAL" panose="020E0504070406020203" pitchFamily="34" charset="0"/>
              </a:defRPr>
            </a:lvl1pPr>
          </a:lstStyle>
          <a:p>
            <a:pPr marL="0" lvl="0" indent="0">
              <a:buNone/>
            </a:pPr>
            <a:r>
              <a:rPr lang="en-US"/>
              <a:t>XXX%</a:t>
            </a:r>
            <a:endParaRPr lang="en-GB"/>
          </a:p>
        </p:txBody>
      </p:sp>
      <p:sp>
        <p:nvSpPr>
          <p:cNvPr id="13" name="Text Placeholder 24">
            <a:extLst>
              <a:ext uri="{FF2B5EF4-FFF2-40B4-BE49-F238E27FC236}">
                <a16:creationId xmlns:a16="http://schemas.microsoft.com/office/drawing/2014/main" id="{331C8AFE-CB23-661B-7C14-586A53BBD679}"/>
              </a:ext>
            </a:extLst>
          </p:cNvPr>
          <p:cNvSpPr>
            <a:spLocks noGrp="1"/>
          </p:cNvSpPr>
          <p:nvPr>
            <p:ph type="body" sz="quarter" idx="26" hasCustomPrompt="1"/>
          </p:nvPr>
        </p:nvSpPr>
        <p:spPr>
          <a:xfrm>
            <a:off x="8127809" y="5416717"/>
            <a:ext cx="3803078" cy="218665"/>
          </a:xfrm>
        </p:spPr>
        <p:txBody>
          <a:bodyPr vert="horz" lIns="0" tIns="0" rIns="0" bIns="0" rtlCol="0">
            <a:noAutofit/>
          </a:bodyPr>
          <a:lstStyle>
            <a:lvl1pPr>
              <a:buNone/>
              <a:defRPr lang="en-GB" sz="1400" spc="-17" dirty="0">
                <a:solidFill>
                  <a:schemeClr val="tx2"/>
                </a:solidFill>
                <a:latin typeface="+mn-lt"/>
              </a:defRPr>
            </a:lvl1pPr>
          </a:lstStyle>
          <a:p>
            <a:pPr marL="0" lvl="0" indent="0">
              <a:buNone/>
            </a:pPr>
            <a:r>
              <a:rPr lang="da-DK"/>
              <a:t>Lorem ipsum dolor sit amet</a:t>
            </a:r>
            <a:endParaRPr lang="en-GB"/>
          </a:p>
        </p:txBody>
      </p:sp>
    </p:spTree>
    <p:extLst>
      <p:ext uri="{BB962C8B-B14F-4D97-AF65-F5344CB8AC3E}">
        <p14:creationId xmlns:p14="http://schemas.microsoft.com/office/powerpoint/2010/main" val="7872061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7EFC1-1303-072F-1268-89AE9D9D646C}"/>
              </a:ext>
            </a:extLst>
          </p:cNvPr>
          <p:cNvSpPr>
            <a:spLocks noGrp="1"/>
          </p:cNvSpPr>
          <p:nvPr>
            <p:ph type="title"/>
          </p:nvPr>
        </p:nvSpPr>
        <p:spPr/>
        <p:txBody>
          <a:bodyPr/>
          <a:lstStyle/>
          <a:p>
            <a:r>
              <a:rPr lang="en-GB"/>
              <a:t>Click to edit Master title style</a:t>
            </a:r>
          </a:p>
        </p:txBody>
      </p:sp>
      <p:sp>
        <p:nvSpPr>
          <p:cNvPr id="3" name="Footer Placeholder 2">
            <a:extLst>
              <a:ext uri="{FF2B5EF4-FFF2-40B4-BE49-F238E27FC236}">
                <a16:creationId xmlns:a16="http://schemas.microsoft.com/office/drawing/2014/main" id="{58ADFD45-BBA2-0FD1-6247-2B24FE11A9A3}"/>
              </a:ext>
            </a:extLst>
          </p:cNvPr>
          <p:cNvSpPr>
            <a:spLocks noGrp="1"/>
          </p:cNvSpPr>
          <p:nvPr>
            <p:ph type="ftr" sz="quarter" idx="10"/>
          </p:nvPr>
        </p:nvSpPr>
        <p:spPr/>
        <p:txBody>
          <a:bodyPr/>
          <a:lstStyle/>
          <a:p>
            <a:r>
              <a:rPr lang="en-US"/>
              <a:t>Confidential</a:t>
            </a:r>
            <a:endParaRPr lang="en-GB"/>
          </a:p>
        </p:txBody>
      </p:sp>
      <p:sp>
        <p:nvSpPr>
          <p:cNvPr id="4" name="Slide Number Placeholder 3">
            <a:extLst>
              <a:ext uri="{FF2B5EF4-FFF2-40B4-BE49-F238E27FC236}">
                <a16:creationId xmlns:a16="http://schemas.microsoft.com/office/drawing/2014/main" id="{ACA83A8C-033D-5957-3864-393DC98EAFF4}"/>
              </a:ext>
            </a:extLst>
          </p:cNvPr>
          <p:cNvSpPr>
            <a:spLocks noGrp="1"/>
          </p:cNvSpPr>
          <p:nvPr>
            <p:ph type="sldNum" sz="quarter" idx="11"/>
          </p:nvPr>
        </p:nvSpPr>
        <p:spPr/>
        <p:txBody>
          <a:bodyPr/>
          <a:lstStyle/>
          <a:p>
            <a:fld id="{F41E5F93-45D3-472F-9EA1-BCB47A04FF6B}" type="slidenum">
              <a:rPr lang="en-GB" smtClean="0"/>
              <a:pPr/>
              <a:t>‹#›</a:t>
            </a:fld>
            <a:endParaRPr lang="en-GB"/>
          </a:p>
        </p:txBody>
      </p:sp>
    </p:spTree>
    <p:extLst>
      <p:ext uri="{BB962C8B-B14F-4D97-AF65-F5344CB8AC3E}">
        <p14:creationId xmlns:p14="http://schemas.microsoft.com/office/powerpoint/2010/main" val="84234285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18" Type="http://schemas.openxmlformats.org/officeDocument/2006/relationships/slideLayout" Target="../slideLayouts/slideLayout24.xml"/><Relationship Id="rId3" Type="http://schemas.openxmlformats.org/officeDocument/2006/relationships/slideLayout" Target="../slideLayouts/slideLayout9.xml"/><Relationship Id="rId21" Type="http://schemas.openxmlformats.org/officeDocument/2006/relationships/slideLayout" Target="../slideLayouts/slideLayout27.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17" Type="http://schemas.openxmlformats.org/officeDocument/2006/relationships/slideLayout" Target="../slideLayouts/slideLayout23.xml"/><Relationship Id="rId2" Type="http://schemas.openxmlformats.org/officeDocument/2006/relationships/slideLayout" Target="../slideLayouts/slideLayout8.xml"/><Relationship Id="rId16" Type="http://schemas.openxmlformats.org/officeDocument/2006/relationships/slideLayout" Target="../slideLayouts/slideLayout22.xml"/><Relationship Id="rId20" Type="http://schemas.openxmlformats.org/officeDocument/2006/relationships/slideLayout" Target="../slideLayouts/slideLayout26.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24" Type="http://schemas.openxmlformats.org/officeDocument/2006/relationships/theme" Target="../theme/theme2.xml"/><Relationship Id="rId5" Type="http://schemas.openxmlformats.org/officeDocument/2006/relationships/slideLayout" Target="../slideLayouts/slideLayout11.xml"/><Relationship Id="rId15" Type="http://schemas.openxmlformats.org/officeDocument/2006/relationships/slideLayout" Target="../slideLayouts/slideLayout21.xml"/><Relationship Id="rId23" Type="http://schemas.openxmlformats.org/officeDocument/2006/relationships/slideLayout" Target="../slideLayouts/slideLayout29.xml"/><Relationship Id="rId10" Type="http://schemas.openxmlformats.org/officeDocument/2006/relationships/slideLayout" Target="../slideLayouts/slideLayout16.xml"/><Relationship Id="rId19" Type="http://schemas.openxmlformats.org/officeDocument/2006/relationships/slideLayout" Target="../slideLayouts/slideLayout25.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 Id="rId22"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633642-E6A3-4C5F-3A36-9FEF361F53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9BD7D81-BE25-A6F1-3032-60F7A1E493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1F26E0BC-72C0-DE90-5A98-38BAC9CA39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1D36855-D560-7AF2-9CB7-00E82541DE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4CFF174-0C8B-41F2-9A46-1C3276C99A0F}" type="slidenum">
              <a:rPr lang="en-US" smtClean="0"/>
              <a:t>‹#›</a:t>
            </a:fld>
            <a:endParaRPr lang="en-US"/>
          </a:p>
        </p:txBody>
      </p:sp>
    </p:spTree>
    <p:extLst>
      <p:ext uri="{BB962C8B-B14F-4D97-AF65-F5344CB8AC3E}">
        <p14:creationId xmlns:p14="http://schemas.microsoft.com/office/powerpoint/2010/main" val="1693211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8317050-C30C-E74C-C1F5-1B4FC8F3DACC}"/>
              </a:ext>
            </a:extLst>
          </p:cNvPr>
          <p:cNvSpPr>
            <a:spLocks noGrp="1"/>
          </p:cNvSpPr>
          <p:nvPr>
            <p:ph type="title"/>
          </p:nvPr>
        </p:nvSpPr>
        <p:spPr>
          <a:xfrm>
            <a:off x="261111" y="1389953"/>
            <a:ext cx="11673713" cy="774128"/>
          </a:xfrm>
          <a:prstGeom prst="rect">
            <a:avLst/>
          </a:prstGeom>
        </p:spPr>
        <p:txBody>
          <a:bodyPr vert="horz" lIns="0" tIns="0" rIns="0" bIns="0" rtlCol="0" anchor="t">
            <a:noAutofit/>
          </a:bodyPr>
          <a:lstStyle/>
          <a:p>
            <a:r>
              <a:rPr lang="en-GB"/>
              <a:t>Click to edit Master title style</a:t>
            </a:r>
          </a:p>
        </p:txBody>
      </p:sp>
      <p:sp>
        <p:nvSpPr>
          <p:cNvPr id="3" name="Text Placeholder 2">
            <a:extLst>
              <a:ext uri="{FF2B5EF4-FFF2-40B4-BE49-F238E27FC236}">
                <a16:creationId xmlns:a16="http://schemas.microsoft.com/office/drawing/2014/main" id="{B769E737-7895-43E7-91EE-24C987662CD7}"/>
              </a:ext>
            </a:extLst>
          </p:cNvPr>
          <p:cNvSpPr>
            <a:spLocks noGrp="1"/>
          </p:cNvSpPr>
          <p:nvPr>
            <p:ph type="body" idx="1"/>
          </p:nvPr>
        </p:nvSpPr>
        <p:spPr>
          <a:xfrm>
            <a:off x="261111" y="2335371"/>
            <a:ext cx="11673712" cy="3709829"/>
          </a:xfrm>
          <a:prstGeom prst="rect">
            <a:avLst/>
          </a:prstGeom>
        </p:spPr>
        <p:txBody>
          <a:bodyPr vert="horz" lIns="0" tIns="0" rIns="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Footer Placeholder 4">
            <a:extLst>
              <a:ext uri="{FF2B5EF4-FFF2-40B4-BE49-F238E27FC236}">
                <a16:creationId xmlns:a16="http://schemas.microsoft.com/office/drawing/2014/main" id="{ACFCE6EB-5441-53CA-2FEE-EBCF971E1B92}"/>
              </a:ext>
            </a:extLst>
          </p:cNvPr>
          <p:cNvSpPr>
            <a:spLocks noGrp="1"/>
          </p:cNvSpPr>
          <p:nvPr>
            <p:ph type="ftr" sz="quarter" idx="3"/>
          </p:nvPr>
        </p:nvSpPr>
        <p:spPr>
          <a:xfrm>
            <a:off x="10108812" y="255984"/>
            <a:ext cx="871608" cy="133985"/>
          </a:xfrm>
          <a:prstGeom prst="rect">
            <a:avLst/>
          </a:prstGeom>
        </p:spPr>
        <p:txBody>
          <a:bodyPr vert="horz" lIns="0" tIns="0" rIns="0" bIns="0" rtlCol="0" anchor="ctr">
            <a:noAutofit/>
          </a:bodyPr>
          <a:lstStyle>
            <a:lvl1pPr algn="l">
              <a:defRPr sz="900" spc="-39">
                <a:solidFill>
                  <a:schemeClr val="tx2"/>
                </a:solidFill>
              </a:defRPr>
            </a:lvl1pPr>
          </a:lstStyle>
          <a:p>
            <a:r>
              <a:rPr lang="en-US"/>
              <a:t>Confidential</a:t>
            </a:r>
            <a:endParaRPr lang="en-GB"/>
          </a:p>
        </p:txBody>
      </p:sp>
      <p:sp>
        <p:nvSpPr>
          <p:cNvPr id="6" name="Slide Number Placeholder 5">
            <a:extLst>
              <a:ext uri="{FF2B5EF4-FFF2-40B4-BE49-F238E27FC236}">
                <a16:creationId xmlns:a16="http://schemas.microsoft.com/office/drawing/2014/main" id="{8686E8A7-6991-B8DA-83B1-EBCD0C2AD733}"/>
              </a:ext>
            </a:extLst>
          </p:cNvPr>
          <p:cNvSpPr>
            <a:spLocks noGrp="1"/>
          </p:cNvSpPr>
          <p:nvPr>
            <p:ph type="sldNum" sz="quarter" idx="4"/>
          </p:nvPr>
        </p:nvSpPr>
        <p:spPr>
          <a:xfrm>
            <a:off x="11628119" y="255984"/>
            <a:ext cx="306703" cy="133985"/>
          </a:xfrm>
          <a:prstGeom prst="rect">
            <a:avLst/>
          </a:prstGeom>
        </p:spPr>
        <p:txBody>
          <a:bodyPr vert="horz" lIns="0" tIns="0" rIns="0" bIns="0" rtlCol="0" anchor="ctr">
            <a:noAutofit/>
          </a:bodyPr>
          <a:lstStyle>
            <a:lvl1pPr algn="r">
              <a:defRPr lang="en-GB" sz="900" spc="-39" smtClean="0">
                <a:solidFill>
                  <a:schemeClr val="tx2"/>
                </a:solidFill>
              </a:defRPr>
            </a:lvl1pPr>
          </a:lstStyle>
          <a:p>
            <a:fld id="{F41E5F93-45D3-472F-9EA1-BCB47A04FF6B}" type="slidenum">
              <a:rPr lang="en-GB" smtClean="0"/>
              <a:pPr/>
              <a:t>‹#›</a:t>
            </a:fld>
            <a:endParaRPr lang="en-GB"/>
          </a:p>
        </p:txBody>
      </p:sp>
      <p:grpSp>
        <p:nvGrpSpPr>
          <p:cNvPr id="10" name="Graphic 8">
            <a:extLst>
              <a:ext uri="{FF2B5EF4-FFF2-40B4-BE49-F238E27FC236}">
                <a16:creationId xmlns:a16="http://schemas.microsoft.com/office/drawing/2014/main" id="{D8A8E73E-4DB6-FA58-001E-2368A417CCAB}"/>
              </a:ext>
            </a:extLst>
          </p:cNvPr>
          <p:cNvGrpSpPr/>
          <p:nvPr/>
        </p:nvGrpSpPr>
        <p:grpSpPr>
          <a:xfrm>
            <a:off x="257178" y="255588"/>
            <a:ext cx="895347" cy="306976"/>
            <a:chOff x="257178" y="255588"/>
            <a:chExt cx="895347" cy="306976"/>
          </a:xfrm>
          <a:solidFill>
            <a:srgbClr val="000000"/>
          </a:solidFill>
        </p:grpSpPr>
        <p:sp>
          <p:nvSpPr>
            <p:cNvPr id="11" name="Free-form: Shape 10">
              <a:extLst>
                <a:ext uri="{FF2B5EF4-FFF2-40B4-BE49-F238E27FC236}">
                  <a16:creationId xmlns:a16="http://schemas.microsoft.com/office/drawing/2014/main" id="{3EB496F3-A661-4DBF-0232-FCB4C123B869}"/>
                </a:ext>
              </a:extLst>
            </p:cNvPr>
            <p:cNvSpPr/>
            <p:nvPr/>
          </p:nvSpPr>
          <p:spPr>
            <a:xfrm>
              <a:off x="327676" y="255588"/>
              <a:ext cx="159207" cy="192734"/>
            </a:xfrm>
            <a:custGeom>
              <a:avLst/>
              <a:gdLst>
                <a:gd name="connsiteX0" fmla="*/ 158895 w 159207"/>
                <a:gd name="connsiteY0" fmla="*/ 106567 h 192734"/>
                <a:gd name="connsiteX1" fmla="*/ 129009 w 159207"/>
                <a:gd name="connsiteY1" fmla="*/ 48240 h 192734"/>
                <a:gd name="connsiteX2" fmla="*/ 79602 w 159207"/>
                <a:gd name="connsiteY2" fmla="*/ 0 h 192734"/>
                <a:gd name="connsiteX3" fmla="*/ 53905 w 159207"/>
                <a:gd name="connsiteY3" fmla="*/ 23666 h 192734"/>
                <a:gd name="connsiteX4" fmla="*/ 30194 w 159207"/>
                <a:gd name="connsiteY4" fmla="*/ 48240 h 192734"/>
                <a:gd name="connsiteX5" fmla="*/ 308 w 159207"/>
                <a:gd name="connsiteY5" fmla="*/ 106567 h 192734"/>
                <a:gd name="connsiteX6" fmla="*/ 78866 w 159207"/>
                <a:gd name="connsiteY6" fmla="*/ 192728 h 192734"/>
                <a:gd name="connsiteX7" fmla="*/ 81251 w 159207"/>
                <a:gd name="connsiteY7" fmla="*/ 192728 h 192734"/>
                <a:gd name="connsiteX8" fmla="*/ 81699 w 159207"/>
                <a:gd name="connsiteY8" fmla="*/ 192728 h 192734"/>
                <a:gd name="connsiteX9" fmla="*/ 158900 w 159207"/>
                <a:gd name="connsiteY9" fmla="*/ 106567 h 192734"/>
                <a:gd name="connsiteX10" fmla="*/ 158895 w 159207"/>
                <a:gd name="connsiteY10" fmla="*/ 106567 h 192734"/>
                <a:gd name="connsiteX11" fmla="*/ 81308 w 159207"/>
                <a:gd name="connsiteY11" fmla="*/ 179399 h 192734"/>
                <a:gd name="connsiteX12" fmla="*/ 80063 w 159207"/>
                <a:gd name="connsiteY12" fmla="*/ 179399 h 192734"/>
                <a:gd name="connsiteX13" fmla="*/ 79140 w 159207"/>
                <a:gd name="connsiteY13" fmla="*/ 179399 h 192734"/>
                <a:gd name="connsiteX14" fmla="*/ 78866 w 159207"/>
                <a:gd name="connsiteY14" fmla="*/ 179399 h 192734"/>
                <a:gd name="connsiteX15" fmla="*/ 17138 w 159207"/>
                <a:gd name="connsiteY15" fmla="*/ 108254 h 192734"/>
                <a:gd name="connsiteX16" fmla="*/ 43900 w 159207"/>
                <a:gd name="connsiteY16" fmla="*/ 65072 h 192734"/>
                <a:gd name="connsiteX17" fmla="*/ 79606 w 159207"/>
                <a:gd name="connsiteY17" fmla="*/ 29806 h 192734"/>
                <a:gd name="connsiteX18" fmla="*/ 115304 w 159207"/>
                <a:gd name="connsiteY18" fmla="*/ 65072 h 192734"/>
                <a:gd name="connsiteX19" fmla="*/ 142069 w 159207"/>
                <a:gd name="connsiteY19" fmla="*/ 108254 h 192734"/>
                <a:gd name="connsiteX20" fmla="*/ 81312 w 159207"/>
                <a:gd name="connsiteY20" fmla="*/ 179395 h 192734"/>
                <a:gd name="connsiteX21" fmla="*/ 81308 w 159207"/>
                <a:gd name="connsiteY21" fmla="*/ 179399 h 192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07" h="192734">
                  <a:moveTo>
                    <a:pt x="158895" y="106567"/>
                  </a:moveTo>
                  <a:cubicBezTo>
                    <a:pt x="157656" y="83945"/>
                    <a:pt x="144539" y="66206"/>
                    <a:pt x="129009" y="48240"/>
                  </a:cubicBezTo>
                  <a:cubicBezTo>
                    <a:pt x="114399" y="31347"/>
                    <a:pt x="96852" y="15678"/>
                    <a:pt x="79602" y="0"/>
                  </a:cubicBezTo>
                  <a:cubicBezTo>
                    <a:pt x="70972" y="7837"/>
                    <a:pt x="62272" y="15678"/>
                    <a:pt x="53905" y="23666"/>
                  </a:cubicBezTo>
                  <a:cubicBezTo>
                    <a:pt x="45539" y="31654"/>
                    <a:pt x="37499" y="39798"/>
                    <a:pt x="30194" y="48240"/>
                  </a:cubicBezTo>
                  <a:cubicBezTo>
                    <a:pt x="14664" y="66206"/>
                    <a:pt x="1547" y="83945"/>
                    <a:pt x="308" y="106567"/>
                  </a:cubicBezTo>
                  <a:cubicBezTo>
                    <a:pt x="-3811" y="151328"/>
                    <a:pt x="33997" y="193305"/>
                    <a:pt x="78866" y="192728"/>
                  </a:cubicBezTo>
                  <a:lnTo>
                    <a:pt x="81251" y="192728"/>
                  </a:lnTo>
                  <a:cubicBezTo>
                    <a:pt x="81402" y="192728"/>
                    <a:pt x="81548" y="192728"/>
                    <a:pt x="81699" y="192728"/>
                  </a:cubicBezTo>
                  <a:cubicBezTo>
                    <a:pt x="125974" y="192454"/>
                    <a:pt x="162977" y="150874"/>
                    <a:pt x="158900" y="106567"/>
                  </a:cubicBezTo>
                  <a:lnTo>
                    <a:pt x="158895" y="106567"/>
                  </a:lnTo>
                  <a:close/>
                  <a:moveTo>
                    <a:pt x="81308" y="179399"/>
                  </a:moveTo>
                  <a:cubicBezTo>
                    <a:pt x="80898" y="179399"/>
                    <a:pt x="80478" y="179399"/>
                    <a:pt x="80063" y="179399"/>
                  </a:cubicBezTo>
                  <a:lnTo>
                    <a:pt x="79140" y="179399"/>
                  </a:lnTo>
                  <a:cubicBezTo>
                    <a:pt x="79045" y="179399"/>
                    <a:pt x="78956" y="179399"/>
                    <a:pt x="78866" y="179399"/>
                  </a:cubicBezTo>
                  <a:cubicBezTo>
                    <a:pt x="42353" y="179518"/>
                    <a:pt x="11345" y="144512"/>
                    <a:pt x="17138" y="108254"/>
                  </a:cubicBezTo>
                  <a:cubicBezTo>
                    <a:pt x="19189" y="90355"/>
                    <a:pt x="27672" y="81652"/>
                    <a:pt x="43900" y="65072"/>
                  </a:cubicBezTo>
                  <a:cubicBezTo>
                    <a:pt x="56116" y="52589"/>
                    <a:pt x="68488" y="41963"/>
                    <a:pt x="79606" y="29806"/>
                  </a:cubicBezTo>
                  <a:cubicBezTo>
                    <a:pt x="90720" y="41968"/>
                    <a:pt x="103092" y="52593"/>
                    <a:pt x="115304" y="65072"/>
                  </a:cubicBezTo>
                  <a:cubicBezTo>
                    <a:pt x="131536" y="81658"/>
                    <a:pt x="140020" y="90359"/>
                    <a:pt x="142069" y="108254"/>
                  </a:cubicBezTo>
                  <a:cubicBezTo>
                    <a:pt x="147810" y="144186"/>
                    <a:pt x="117406" y="178899"/>
                    <a:pt x="81312" y="179395"/>
                  </a:cubicBezTo>
                  <a:lnTo>
                    <a:pt x="81308" y="179399"/>
                  </a:lnTo>
                  <a:close/>
                </a:path>
              </a:pathLst>
            </a:custGeom>
            <a:solidFill>
              <a:srgbClr val="000000"/>
            </a:solidFill>
            <a:ln w="6327" cap="flat">
              <a:noFill/>
              <a:prstDash val="solid"/>
              <a:miter/>
            </a:ln>
          </p:spPr>
          <p:txBody>
            <a:bodyPr rtlCol="0" anchor="ctr"/>
            <a:lstStyle/>
            <a:p>
              <a:endParaRPr lang="en-GB"/>
            </a:p>
          </p:txBody>
        </p:sp>
        <p:sp>
          <p:nvSpPr>
            <p:cNvPr id="13" name="Free-form: Shape 12">
              <a:extLst>
                <a:ext uri="{FF2B5EF4-FFF2-40B4-BE49-F238E27FC236}">
                  <a16:creationId xmlns:a16="http://schemas.microsoft.com/office/drawing/2014/main" id="{E5404865-E213-33CC-D712-771E46F7FD66}"/>
                </a:ext>
              </a:extLst>
            </p:cNvPr>
            <p:cNvSpPr/>
            <p:nvPr/>
          </p:nvSpPr>
          <p:spPr>
            <a:xfrm>
              <a:off x="380344" y="378826"/>
              <a:ext cx="177022" cy="158693"/>
            </a:xfrm>
            <a:custGeom>
              <a:avLst/>
              <a:gdLst>
                <a:gd name="connsiteX0" fmla="*/ 11643 w 177022"/>
                <a:gd name="connsiteY0" fmla="*/ 37789 h 158693"/>
                <a:gd name="connsiteX1" fmla="*/ 11416 w 177022"/>
                <a:gd name="connsiteY1" fmla="*/ 38176 h 158693"/>
                <a:gd name="connsiteX2" fmla="*/ 10224 w 177022"/>
                <a:gd name="connsiteY2" fmla="*/ 40246 h 158693"/>
                <a:gd name="connsiteX3" fmla="*/ 45346 w 177022"/>
                <a:gd name="connsiteY3" fmla="*/ 151559 h 158693"/>
                <a:gd name="connsiteX4" fmla="*/ 110657 w 177022"/>
                <a:gd name="connsiteY4" fmla="*/ 154768 h 158693"/>
                <a:gd name="connsiteX5" fmla="*/ 143738 w 177022"/>
                <a:gd name="connsiteY5" fmla="*/ 146459 h 158693"/>
                <a:gd name="connsiteX6" fmla="*/ 177022 w 177022"/>
                <a:gd name="connsiteY6" fmla="*/ 135975 h 158693"/>
                <a:gd name="connsiteX7" fmla="*/ 160069 w 177022"/>
                <a:gd name="connsiteY7" fmla="*/ 68937 h 158693"/>
                <a:gd name="connsiteX8" fmla="*/ 124645 w 177022"/>
                <a:gd name="connsiteY8" fmla="*/ 13820 h 158693"/>
                <a:gd name="connsiteX9" fmla="*/ 11643 w 177022"/>
                <a:gd name="connsiteY9" fmla="*/ 37789 h 158693"/>
                <a:gd name="connsiteX10" fmla="*/ 114771 w 177022"/>
                <a:gd name="connsiteY10" fmla="*/ 27593 h 158693"/>
                <a:gd name="connsiteX11" fmla="*/ 138681 w 177022"/>
                <a:gd name="connsiteY11" fmla="*/ 72430 h 158693"/>
                <a:gd name="connsiteX12" fmla="*/ 151288 w 177022"/>
                <a:gd name="connsiteY12" fmla="*/ 121067 h 158693"/>
                <a:gd name="connsiteX13" fmla="*/ 102978 w 177022"/>
                <a:gd name="connsiteY13" fmla="*/ 134444 h 158693"/>
                <a:gd name="connsiteX14" fmla="*/ 52308 w 177022"/>
                <a:gd name="connsiteY14" fmla="*/ 136093 h 158693"/>
                <a:gd name="connsiteX15" fmla="*/ 21733 w 177022"/>
                <a:gd name="connsiteY15" fmla="*/ 46911 h 158693"/>
                <a:gd name="connsiteX16" fmla="*/ 21875 w 177022"/>
                <a:gd name="connsiteY16" fmla="*/ 46675 h 158693"/>
                <a:gd name="connsiteX17" fmla="*/ 22336 w 177022"/>
                <a:gd name="connsiteY17" fmla="*/ 45871 h 158693"/>
                <a:gd name="connsiteX18" fmla="*/ 22959 w 177022"/>
                <a:gd name="connsiteY18" fmla="*/ 44789 h 158693"/>
                <a:gd name="connsiteX19" fmla="*/ 114771 w 177022"/>
                <a:gd name="connsiteY19" fmla="*/ 27589 h 158693"/>
                <a:gd name="connsiteX20" fmla="*/ 114771 w 177022"/>
                <a:gd name="connsiteY20" fmla="*/ 27593 h 158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77022" h="158693">
                  <a:moveTo>
                    <a:pt x="11643" y="37789"/>
                  </a:moveTo>
                  <a:cubicBezTo>
                    <a:pt x="11562" y="37917"/>
                    <a:pt x="11492" y="38044"/>
                    <a:pt x="11416" y="38176"/>
                  </a:cubicBezTo>
                  <a:lnTo>
                    <a:pt x="10224" y="40246"/>
                  </a:lnTo>
                  <a:cubicBezTo>
                    <a:pt x="-12710" y="78934"/>
                    <a:pt x="4634" y="132756"/>
                    <a:pt x="45346" y="151559"/>
                  </a:cubicBezTo>
                  <a:cubicBezTo>
                    <a:pt x="65500" y="161792"/>
                    <a:pt x="87378" y="159272"/>
                    <a:pt x="110657" y="154768"/>
                  </a:cubicBezTo>
                  <a:cubicBezTo>
                    <a:pt x="121600" y="152646"/>
                    <a:pt x="132653" y="149734"/>
                    <a:pt x="143738" y="146459"/>
                  </a:cubicBezTo>
                  <a:cubicBezTo>
                    <a:pt x="154818" y="143183"/>
                    <a:pt x="165942" y="139549"/>
                    <a:pt x="177022" y="135975"/>
                  </a:cubicBezTo>
                  <a:cubicBezTo>
                    <a:pt x="172111" y="113145"/>
                    <a:pt x="167351" y="90075"/>
                    <a:pt x="160069" y="68937"/>
                  </a:cubicBezTo>
                  <a:cubicBezTo>
                    <a:pt x="152320" y="46472"/>
                    <a:pt x="143559" y="26209"/>
                    <a:pt x="124645" y="13820"/>
                  </a:cubicBezTo>
                  <a:cubicBezTo>
                    <a:pt x="88419" y="-11874"/>
                    <a:pt x="34016" y="-525"/>
                    <a:pt x="11643" y="37789"/>
                  </a:cubicBezTo>
                  <a:close/>
                  <a:moveTo>
                    <a:pt x="114771" y="27593"/>
                  </a:moveTo>
                  <a:cubicBezTo>
                    <a:pt x="129202" y="38323"/>
                    <a:pt x="132474" y="50040"/>
                    <a:pt x="138681" y="72430"/>
                  </a:cubicBezTo>
                  <a:cubicBezTo>
                    <a:pt x="143352" y="89276"/>
                    <a:pt x="146339" y="105337"/>
                    <a:pt x="151288" y="121067"/>
                  </a:cubicBezTo>
                  <a:cubicBezTo>
                    <a:pt x="135226" y="124640"/>
                    <a:pt x="119866" y="130076"/>
                    <a:pt x="102978" y="134444"/>
                  </a:cubicBezTo>
                  <a:cubicBezTo>
                    <a:pt x="80544" y="140243"/>
                    <a:pt x="68790" y="143259"/>
                    <a:pt x="52308" y="136093"/>
                  </a:cubicBezTo>
                  <a:cubicBezTo>
                    <a:pt x="18099" y="122996"/>
                    <a:pt x="3376" y="78561"/>
                    <a:pt x="21733" y="46911"/>
                  </a:cubicBezTo>
                  <a:cubicBezTo>
                    <a:pt x="21776" y="46835"/>
                    <a:pt x="21823" y="46755"/>
                    <a:pt x="21875" y="46675"/>
                  </a:cubicBezTo>
                  <a:lnTo>
                    <a:pt x="22336" y="45871"/>
                  </a:lnTo>
                  <a:cubicBezTo>
                    <a:pt x="22539" y="45507"/>
                    <a:pt x="22747" y="45148"/>
                    <a:pt x="22959" y="44789"/>
                  </a:cubicBezTo>
                  <a:cubicBezTo>
                    <a:pt x="41434" y="13692"/>
                    <a:pt x="86610" y="4636"/>
                    <a:pt x="114771" y="27589"/>
                  </a:cubicBezTo>
                  <a:lnTo>
                    <a:pt x="114771" y="27593"/>
                  </a:lnTo>
                  <a:close/>
                </a:path>
              </a:pathLst>
            </a:custGeom>
            <a:solidFill>
              <a:srgbClr val="000000"/>
            </a:solidFill>
            <a:ln w="6327" cap="flat">
              <a:noFill/>
              <a:prstDash val="solid"/>
              <a:miter/>
            </a:ln>
          </p:spPr>
          <p:txBody>
            <a:bodyPr rtlCol="0" anchor="ctr"/>
            <a:lstStyle/>
            <a:p>
              <a:endParaRPr lang="en-GB"/>
            </a:p>
          </p:txBody>
        </p:sp>
        <p:sp>
          <p:nvSpPr>
            <p:cNvPr id="14" name="Free-form: Shape 13">
              <a:extLst>
                <a:ext uri="{FF2B5EF4-FFF2-40B4-BE49-F238E27FC236}">
                  <a16:creationId xmlns:a16="http://schemas.microsoft.com/office/drawing/2014/main" id="{36CFE573-0387-CB48-F17A-213B6C9CA169}"/>
                </a:ext>
              </a:extLst>
            </p:cNvPr>
            <p:cNvSpPr/>
            <p:nvPr/>
          </p:nvSpPr>
          <p:spPr>
            <a:xfrm>
              <a:off x="257178" y="378821"/>
              <a:ext cx="177022" cy="158699"/>
            </a:xfrm>
            <a:custGeom>
              <a:avLst/>
              <a:gdLst>
                <a:gd name="connsiteX0" fmla="*/ 52377 w 177022"/>
                <a:gd name="connsiteY0" fmla="*/ 13825 h 158699"/>
                <a:gd name="connsiteX1" fmla="*/ 16953 w 177022"/>
                <a:gd name="connsiteY1" fmla="*/ 68942 h 158699"/>
                <a:gd name="connsiteX2" fmla="*/ 0 w 177022"/>
                <a:gd name="connsiteY2" fmla="*/ 135975 h 158699"/>
                <a:gd name="connsiteX3" fmla="*/ 33284 w 177022"/>
                <a:gd name="connsiteY3" fmla="*/ 146464 h 158699"/>
                <a:gd name="connsiteX4" fmla="*/ 66366 w 177022"/>
                <a:gd name="connsiteY4" fmla="*/ 154773 h 158699"/>
                <a:gd name="connsiteX5" fmla="*/ 131676 w 177022"/>
                <a:gd name="connsiteY5" fmla="*/ 151564 h 158699"/>
                <a:gd name="connsiteX6" fmla="*/ 166798 w 177022"/>
                <a:gd name="connsiteY6" fmla="*/ 40251 h 158699"/>
                <a:gd name="connsiteX7" fmla="*/ 165606 w 177022"/>
                <a:gd name="connsiteY7" fmla="*/ 38177 h 158699"/>
                <a:gd name="connsiteX8" fmla="*/ 165380 w 177022"/>
                <a:gd name="connsiteY8" fmla="*/ 37789 h 158699"/>
                <a:gd name="connsiteX9" fmla="*/ 52377 w 177022"/>
                <a:gd name="connsiteY9" fmla="*/ 13820 h 158699"/>
                <a:gd name="connsiteX10" fmla="*/ 52377 w 177022"/>
                <a:gd name="connsiteY10" fmla="*/ 13825 h 158699"/>
                <a:gd name="connsiteX11" fmla="*/ 154068 w 177022"/>
                <a:gd name="connsiteY11" fmla="*/ 44798 h 158699"/>
                <a:gd name="connsiteX12" fmla="*/ 154690 w 177022"/>
                <a:gd name="connsiteY12" fmla="*/ 45881 h 158699"/>
                <a:gd name="connsiteX13" fmla="*/ 155152 w 177022"/>
                <a:gd name="connsiteY13" fmla="*/ 46684 h 158699"/>
                <a:gd name="connsiteX14" fmla="*/ 155293 w 177022"/>
                <a:gd name="connsiteY14" fmla="*/ 46921 h 158699"/>
                <a:gd name="connsiteX15" fmla="*/ 124719 w 177022"/>
                <a:gd name="connsiteY15" fmla="*/ 136102 h 158699"/>
                <a:gd name="connsiteX16" fmla="*/ 74048 w 177022"/>
                <a:gd name="connsiteY16" fmla="*/ 134453 h 158699"/>
                <a:gd name="connsiteX17" fmla="*/ 25738 w 177022"/>
                <a:gd name="connsiteY17" fmla="*/ 121077 h 158699"/>
                <a:gd name="connsiteX18" fmla="*/ 38346 w 177022"/>
                <a:gd name="connsiteY18" fmla="*/ 72440 h 158699"/>
                <a:gd name="connsiteX19" fmla="*/ 62256 w 177022"/>
                <a:gd name="connsiteY19" fmla="*/ 27603 h 158699"/>
                <a:gd name="connsiteX20" fmla="*/ 154068 w 177022"/>
                <a:gd name="connsiteY20" fmla="*/ 44803 h 158699"/>
                <a:gd name="connsiteX21" fmla="*/ 154068 w 177022"/>
                <a:gd name="connsiteY21" fmla="*/ 44798 h 15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77022" h="158699">
                  <a:moveTo>
                    <a:pt x="52377" y="13825"/>
                  </a:moveTo>
                  <a:cubicBezTo>
                    <a:pt x="33463" y="26213"/>
                    <a:pt x="24702" y="46476"/>
                    <a:pt x="16953" y="68942"/>
                  </a:cubicBezTo>
                  <a:cubicBezTo>
                    <a:pt x="9671" y="90080"/>
                    <a:pt x="4911" y="113150"/>
                    <a:pt x="0" y="135975"/>
                  </a:cubicBezTo>
                  <a:cubicBezTo>
                    <a:pt x="11081" y="139553"/>
                    <a:pt x="22204" y="143188"/>
                    <a:pt x="33284" y="146464"/>
                  </a:cubicBezTo>
                  <a:cubicBezTo>
                    <a:pt x="44365" y="149739"/>
                    <a:pt x="55417" y="152650"/>
                    <a:pt x="66366" y="154773"/>
                  </a:cubicBezTo>
                  <a:cubicBezTo>
                    <a:pt x="89644" y="159277"/>
                    <a:pt x="111518" y="161801"/>
                    <a:pt x="131676" y="151564"/>
                  </a:cubicBezTo>
                  <a:cubicBezTo>
                    <a:pt x="172388" y="132761"/>
                    <a:pt x="189732" y="78934"/>
                    <a:pt x="166798" y="40251"/>
                  </a:cubicBezTo>
                  <a:lnTo>
                    <a:pt x="165606" y="38177"/>
                  </a:lnTo>
                  <a:cubicBezTo>
                    <a:pt x="165530" y="38044"/>
                    <a:pt x="165459" y="37916"/>
                    <a:pt x="165380" y="37789"/>
                  </a:cubicBezTo>
                  <a:cubicBezTo>
                    <a:pt x="143006" y="-525"/>
                    <a:pt x="88598" y="-11874"/>
                    <a:pt x="52377" y="13820"/>
                  </a:cubicBezTo>
                  <a:lnTo>
                    <a:pt x="52377" y="13825"/>
                  </a:lnTo>
                  <a:close/>
                  <a:moveTo>
                    <a:pt x="154068" y="44798"/>
                  </a:moveTo>
                  <a:cubicBezTo>
                    <a:pt x="154275" y="45153"/>
                    <a:pt x="154488" y="45517"/>
                    <a:pt x="154690" y="45881"/>
                  </a:cubicBezTo>
                  <a:lnTo>
                    <a:pt x="155152" y="46684"/>
                  </a:lnTo>
                  <a:cubicBezTo>
                    <a:pt x="155204" y="46765"/>
                    <a:pt x="155251" y="46845"/>
                    <a:pt x="155293" y="46921"/>
                  </a:cubicBezTo>
                  <a:cubicBezTo>
                    <a:pt x="173651" y="78570"/>
                    <a:pt x="158927" y="123005"/>
                    <a:pt x="124719" y="136102"/>
                  </a:cubicBezTo>
                  <a:cubicBezTo>
                    <a:pt x="108237" y="143273"/>
                    <a:pt x="96483" y="140258"/>
                    <a:pt x="74048" y="134453"/>
                  </a:cubicBezTo>
                  <a:cubicBezTo>
                    <a:pt x="57161" y="130086"/>
                    <a:pt x="41801" y="124650"/>
                    <a:pt x="25738" y="121077"/>
                  </a:cubicBezTo>
                  <a:cubicBezTo>
                    <a:pt x="30683" y="105347"/>
                    <a:pt x="33671" y="89285"/>
                    <a:pt x="38346" y="72440"/>
                  </a:cubicBezTo>
                  <a:cubicBezTo>
                    <a:pt x="44553" y="50049"/>
                    <a:pt x="47824" y="38333"/>
                    <a:pt x="62256" y="27603"/>
                  </a:cubicBezTo>
                  <a:cubicBezTo>
                    <a:pt x="90417" y="4650"/>
                    <a:pt x="135593" y="13702"/>
                    <a:pt x="154068" y="44803"/>
                  </a:cubicBezTo>
                  <a:lnTo>
                    <a:pt x="154068" y="44798"/>
                  </a:lnTo>
                  <a:close/>
                </a:path>
              </a:pathLst>
            </a:custGeom>
            <a:solidFill>
              <a:srgbClr val="000000"/>
            </a:solidFill>
            <a:ln w="6327" cap="flat">
              <a:noFill/>
              <a:prstDash val="solid"/>
              <a:miter/>
            </a:ln>
          </p:spPr>
          <p:txBody>
            <a:bodyPr rtlCol="0" anchor="ctr"/>
            <a:lstStyle/>
            <a:p>
              <a:endParaRPr lang="en-GB"/>
            </a:p>
          </p:txBody>
        </p:sp>
        <p:sp>
          <p:nvSpPr>
            <p:cNvPr id="15" name="Free-form: Shape 14">
              <a:extLst>
                <a:ext uri="{FF2B5EF4-FFF2-40B4-BE49-F238E27FC236}">
                  <a16:creationId xmlns:a16="http://schemas.microsoft.com/office/drawing/2014/main" id="{7BB9D01A-1C1B-7B67-291A-A8524BBF96BB}"/>
                </a:ext>
              </a:extLst>
            </p:cNvPr>
            <p:cNvSpPr/>
            <p:nvPr/>
          </p:nvSpPr>
          <p:spPr>
            <a:xfrm>
              <a:off x="392123" y="462596"/>
              <a:ext cx="984" cy="4"/>
            </a:xfrm>
            <a:custGeom>
              <a:avLst/>
              <a:gdLst>
                <a:gd name="connsiteX0" fmla="*/ 985 w 984"/>
                <a:gd name="connsiteY0" fmla="*/ 4 h 4"/>
                <a:gd name="connsiteX1" fmla="*/ 0 w 984"/>
                <a:gd name="connsiteY1" fmla="*/ 4 h 4"/>
                <a:gd name="connsiteX2" fmla="*/ 490 w 984"/>
                <a:gd name="connsiteY2" fmla="*/ 0 h 4"/>
                <a:gd name="connsiteX3" fmla="*/ 985 w 984"/>
                <a:gd name="connsiteY3" fmla="*/ 4 h 4"/>
              </a:gdLst>
              <a:ahLst/>
              <a:cxnLst>
                <a:cxn ang="0">
                  <a:pos x="connsiteX0" y="connsiteY0"/>
                </a:cxn>
                <a:cxn ang="0">
                  <a:pos x="connsiteX1" y="connsiteY1"/>
                </a:cxn>
                <a:cxn ang="0">
                  <a:pos x="connsiteX2" y="connsiteY2"/>
                </a:cxn>
                <a:cxn ang="0">
                  <a:pos x="connsiteX3" y="connsiteY3"/>
                </a:cxn>
              </a:cxnLst>
              <a:rect l="l" t="t" r="r" b="b"/>
              <a:pathLst>
                <a:path w="984" h="4">
                  <a:moveTo>
                    <a:pt x="985" y="4"/>
                  </a:moveTo>
                  <a:lnTo>
                    <a:pt x="0" y="4"/>
                  </a:lnTo>
                  <a:cubicBezTo>
                    <a:pt x="160" y="4"/>
                    <a:pt x="325" y="0"/>
                    <a:pt x="490" y="0"/>
                  </a:cubicBezTo>
                  <a:cubicBezTo>
                    <a:pt x="655" y="4"/>
                    <a:pt x="820" y="4"/>
                    <a:pt x="985" y="4"/>
                  </a:cubicBezTo>
                  <a:close/>
                </a:path>
              </a:pathLst>
            </a:custGeom>
            <a:solidFill>
              <a:srgbClr val="000000"/>
            </a:solidFill>
            <a:ln w="6327" cap="flat">
              <a:noFill/>
              <a:prstDash val="solid"/>
              <a:miter/>
            </a:ln>
          </p:spPr>
          <p:txBody>
            <a:bodyPr rtlCol="0" anchor="ctr"/>
            <a:lstStyle/>
            <a:p>
              <a:endParaRPr lang="en-GB"/>
            </a:p>
          </p:txBody>
        </p:sp>
        <p:sp>
          <p:nvSpPr>
            <p:cNvPr id="16" name="Free-form: Shape 15">
              <a:extLst>
                <a:ext uri="{FF2B5EF4-FFF2-40B4-BE49-F238E27FC236}">
                  <a16:creationId xmlns:a16="http://schemas.microsoft.com/office/drawing/2014/main" id="{3403EE07-5ED7-8C84-947B-7AE4F4EF6F56}"/>
                </a:ext>
              </a:extLst>
            </p:cNvPr>
            <p:cNvSpPr/>
            <p:nvPr/>
          </p:nvSpPr>
          <p:spPr>
            <a:xfrm>
              <a:off x="603750" y="307231"/>
              <a:ext cx="139631" cy="203888"/>
            </a:xfrm>
            <a:custGeom>
              <a:avLst/>
              <a:gdLst>
                <a:gd name="connsiteX0" fmla="*/ 26064 w 139631"/>
                <a:gd name="connsiteY0" fmla="*/ 191362 h 203888"/>
                <a:gd name="connsiteX1" fmla="*/ 0 w 139631"/>
                <a:gd name="connsiteY1" fmla="*/ 159032 h 203888"/>
                <a:gd name="connsiteX2" fmla="*/ 15092 w 139631"/>
                <a:gd name="connsiteY2" fmla="*/ 142248 h 203888"/>
                <a:gd name="connsiteX3" fmla="*/ 17288 w 139631"/>
                <a:gd name="connsiteY3" fmla="*/ 142522 h 203888"/>
                <a:gd name="connsiteX4" fmla="*/ 35942 w 139631"/>
                <a:gd name="connsiteY4" fmla="*/ 177329 h 203888"/>
                <a:gd name="connsiteX5" fmla="*/ 71612 w 139631"/>
                <a:gd name="connsiteY5" fmla="*/ 190398 h 203888"/>
                <a:gd name="connsiteX6" fmla="*/ 105768 w 139631"/>
                <a:gd name="connsiteY6" fmla="*/ 179669 h 203888"/>
                <a:gd name="connsiteX7" fmla="*/ 118800 w 139631"/>
                <a:gd name="connsiteY7" fmla="*/ 151054 h 203888"/>
                <a:gd name="connsiteX8" fmla="*/ 110156 w 139631"/>
                <a:gd name="connsiteY8" fmla="*/ 126017 h 203888"/>
                <a:gd name="connsiteX9" fmla="*/ 84502 w 139631"/>
                <a:gd name="connsiteY9" fmla="*/ 111161 h 203888"/>
                <a:gd name="connsiteX10" fmla="*/ 53773 w 139631"/>
                <a:gd name="connsiteY10" fmla="*/ 101807 h 203888"/>
                <a:gd name="connsiteX11" fmla="*/ 19475 w 139631"/>
                <a:gd name="connsiteY11" fmla="*/ 82546 h 203888"/>
                <a:gd name="connsiteX12" fmla="*/ 7678 w 139631"/>
                <a:gd name="connsiteY12" fmla="*/ 51180 h 203888"/>
                <a:gd name="connsiteX13" fmla="*/ 15770 w 139631"/>
                <a:gd name="connsiteY13" fmla="*/ 24215 h 203888"/>
                <a:gd name="connsiteX14" fmla="*/ 38130 w 139631"/>
                <a:gd name="connsiteY14" fmla="*/ 6329 h 203888"/>
                <a:gd name="connsiteX15" fmla="*/ 70777 w 139631"/>
                <a:gd name="connsiteY15" fmla="*/ 0 h 203888"/>
                <a:gd name="connsiteX16" fmla="*/ 110971 w 139631"/>
                <a:gd name="connsiteY16" fmla="*/ 10181 h 203888"/>
                <a:gd name="connsiteX17" fmla="*/ 134702 w 139631"/>
                <a:gd name="connsiteY17" fmla="*/ 36872 h 203888"/>
                <a:gd name="connsiteX18" fmla="*/ 120982 w 139631"/>
                <a:gd name="connsiteY18" fmla="*/ 53382 h 203888"/>
                <a:gd name="connsiteX19" fmla="*/ 118786 w 139631"/>
                <a:gd name="connsiteY19" fmla="*/ 53108 h 203888"/>
                <a:gd name="connsiteX20" fmla="*/ 101912 w 139631"/>
                <a:gd name="connsiteY20" fmla="*/ 24082 h 203888"/>
                <a:gd name="connsiteX21" fmla="*/ 70773 w 139631"/>
                <a:gd name="connsiteY21" fmla="*/ 13490 h 203888"/>
                <a:gd name="connsiteX22" fmla="*/ 39496 w 139631"/>
                <a:gd name="connsiteY22" fmla="*/ 22707 h 203888"/>
                <a:gd name="connsiteX23" fmla="*/ 27699 w 139631"/>
                <a:gd name="connsiteY23" fmla="*/ 47333 h 203888"/>
                <a:gd name="connsiteX24" fmla="*/ 35928 w 139631"/>
                <a:gd name="connsiteY24" fmla="*/ 68243 h 203888"/>
                <a:gd name="connsiteX25" fmla="*/ 60621 w 139631"/>
                <a:gd name="connsiteY25" fmla="*/ 81175 h 203888"/>
                <a:gd name="connsiteX26" fmla="*/ 92170 w 139631"/>
                <a:gd name="connsiteY26" fmla="*/ 91082 h 203888"/>
                <a:gd name="connsiteX27" fmla="*/ 127425 w 139631"/>
                <a:gd name="connsiteY27" fmla="*/ 111856 h 203888"/>
                <a:gd name="connsiteX28" fmla="*/ 139632 w 139631"/>
                <a:gd name="connsiteY28" fmla="*/ 147211 h 203888"/>
                <a:gd name="connsiteX29" fmla="*/ 130988 w 139631"/>
                <a:gd name="connsiteY29" fmla="*/ 176790 h 203888"/>
                <a:gd name="connsiteX30" fmla="*/ 106706 w 139631"/>
                <a:gd name="connsiteY30" fmla="*/ 196736 h 203888"/>
                <a:gd name="connsiteX31" fmla="*/ 71314 w 139631"/>
                <a:gd name="connsiteY31" fmla="*/ 203888 h 203888"/>
                <a:gd name="connsiteX32" fmla="*/ 26045 w 139631"/>
                <a:gd name="connsiteY32" fmla="*/ 191367 h 203888"/>
                <a:gd name="connsiteX33" fmla="*/ 26064 w 139631"/>
                <a:gd name="connsiteY33" fmla="*/ 191362 h 203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9631" h="203888">
                  <a:moveTo>
                    <a:pt x="26064" y="191362"/>
                  </a:moveTo>
                  <a:cubicBezTo>
                    <a:pt x="12711" y="183015"/>
                    <a:pt x="4020" y="172238"/>
                    <a:pt x="0" y="159032"/>
                  </a:cubicBezTo>
                  <a:lnTo>
                    <a:pt x="15092" y="142248"/>
                  </a:lnTo>
                  <a:lnTo>
                    <a:pt x="17288" y="142522"/>
                  </a:lnTo>
                  <a:cubicBezTo>
                    <a:pt x="19663" y="157014"/>
                    <a:pt x="25884" y="168618"/>
                    <a:pt x="35942" y="177329"/>
                  </a:cubicBezTo>
                  <a:cubicBezTo>
                    <a:pt x="46000" y="186045"/>
                    <a:pt x="57892" y="190398"/>
                    <a:pt x="71612" y="190398"/>
                  </a:cubicBezTo>
                  <a:cubicBezTo>
                    <a:pt x="85332" y="190398"/>
                    <a:pt x="97081" y="186820"/>
                    <a:pt x="105768" y="179669"/>
                  </a:cubicBezTo>
                  <a:cubicBezTo>
                    <a:pt x="114454" y="172513"/>
                    <a:pt x="118800" y="162979"/>
                    <a:pt x="118800" y="151054"/>
                  </a:cubicBezTo>
                  <a:cubicBezTo>
                    <a:pt x="118800" y="140783"/>
                    <a:pt x="115920" y="132440"/>
                    <a:pt x="110156" y="126017"/>
                  </a:cubicBezTo>
                  <a:cubicBezTo>
                    <a:pt x="104396" y="119598"/>
                    <a:pt x="95842" y="114645"/>
                    <a:pt x="84502" y="111161"/>
                  </a:cubicBezTo>
                  <a:lnTo>
                    <a:pt x="53773" y="101807"/>
                  </a:lnTo>
                  <a:cubicBezTo>
                    <a:pt x="38770" y="97038"/>
                    <a:pt x="27341" y="90619"/>
                    <a:pt x="19475" y="82546"/>
                  </a:cubicBezTo>
                  <a:cubicBezTo>
                    <a:pt x="11609" y="74477"/>
                    <a:pt x="7678" y="64022"/>
                    <a:pt x="7678" y="51180"/>
                  </a:cubicBezTo>
                  <a:cubicBezTo>
                    <a:pt x="7678" y="40909"/>
                    <a:pt x="10374" y="31919"/>
                    <a:pt x="15770" y="24215"/>
                  </a:cubicBezTo>
                  <a:cubicBezTo>
                    <a:pt x="21162" y="16510"/>
                    <a:pt x="28619" y="10550"/>
                    <a:pt x="38130" y="6329"/>
                  </a:cubicBezTo>
                  <a:cubicBezTo>
                    <a:pt x="47636" y="2113"/>
                    <a:pt x="58523" y="0"/>
                    <a:pt x="70777" y="0"/>
                  </a:cubicBezTo>
                  <a:cubicBezTo>
                    <a:pt x="85775" y="0"/>
                    <a:pt x="99174" y="3398"/>
                    <a:pt x="110971" y="10181"/>
                  </a:cubicBezTo>
                  <a:cubicBezTo>
                    <a:pt x="122768" y="16969"/>
                    <a:pt x="130677" y="25864"/>
                    <a:pt x="134702" y="36872"/>
                  </a:cubicBezTo>
                  <a:lnTo>
                    <a:pt x="120982" y="53382"/>
                  </a:lnTo>
                  <a:lnTo>
                    <a:pt x="118786" y="53108"/>
                  </a:lnTo>
                  <a:cubicBezTo>
                    <a:pt x="116042" y="40819"/>
                    <a:pt x="110419" y="31144"/>
                    <a:pt x="101912" y="24082"/>
                  </a:cubicBezTo>
                  <a:cubicBezTo>
                    <a:pt x="93405" y="17021"/>
                    <a:pt x="83022" y="13490"/>
                    <a:pt x="70773" y="13490"/>
                  </a:cubicBezTo>
                  <a:cubicBezTo>
                    <a:pt x="57783" y="13490"/>
                    <a:pt x="47357" y="16562"/>
                    <a:pt x="39496" y="22707"/>
                  </a:cubicBezTo>
                  <a:cubicBezTo>
                    <a:pt x="31630" y="28856"/>
                    <a:pt x="27699" y="37062"/>
                    <a:pt x="27699" y="47333"/>
                  </a:cubicBezTo>
                  <a:cubicBezTo>
                    <a:pt x="27699" y="55959"/>
                    <a:pt x="30442" y="62926"/>
                    <a:pt x="35928" y="68243"/>
                  </a:cubicBezTo>
                  <a:cubicBezTo>
                    <a:pt x="41414" y="73566"/>
                    <a:pt x="49648" y="77871"/>
                    <a:pt x="60621" y="81175"/>
                  </a:cubicBezTo>
                  <a:lnTo>
                    <a:pt x="92170" y="91082"/>
                  </a:lnTo>
                  <a:cubicBezTo>
                    <a:pt x="107535" y="95856"/>
                    <a:pt x="119285" y="102776"/>
                    <a:pt x="127425" y="111856"/>
                  </a:cubicBezTo>
                  <a:cubicBezTo>
                    <a:pt x="135559" y="120936"/>
                    <a:pt x="139632" y="132724"/>
                    <a:pt x="139632" y="147211"/>
                  </a:cubicBezTo>
                  <a:cubicBezTo>
                    <a:pt x="139632" y="158403"/>
                    <a:pt x="136752" y="168259"/>
                    <a:pt x="130988" y="176790"/>
                  </a:cubicBezTo>
                  <a:cubicBezTo>
                    <a:pt x="125224" y="185322"/>
                    <a:pt x="117131" y="191972"/>
                    <a:pt x="106706" y="196736"/>
                  </a:cubicBezTo>
                  <a:cubicBezTo>
                    <a:pt x="96280" y="201506"/>
                    <a:pt x="84483" y="203888"/>
                    <a:pt x="71314" y="203888"/>
                  </a:cubicBezTo>
                  <a:cubicBezTo>
                    <a:pt x="54484" y="203888"/>
                    <a:pt x="39393" y="199719"/>
                    <a:pt x="26045" y="191367"/>
                  </a:cubicBezTo>
                  <a:lnTo>
                    <a:pt x="26064" y="191362"/>
                  </a:lnTo>
                  <a:close/>
                </a:path>
              </a:pathLst>
            </a:custGeom>
            <a:solidFill>
              <a:srgbClr val="000000"/>
            </a:solidFill>
            <a:ln w="6327" cap="flat">
              <a:noFill/>
              <a:prstDash val="solid"/>
              <a:miter/>
            </a:ln>
          </p:spPr>
          <p:txBody>
            <a:bodyPr rtlCol="0" anchor="ctr"/>
            <a:lstStyle/>
            <a:p>
              <a:endParaRPr lang="en-GB"/>
            </a:p>
          </p:txBody>
        </p:sp>
        <p:sp>
          <p:nvSpPr>
            <p:cNvPr id="17" name="Free-form: Shape 16">
              <a:extLst>
                <a:ext uri="{FF2B5EF4-FFF2-40B4-BE49-F238E27FC236}">
                  <a16:creationId xmlns:a16="http://schemas.microsoft.com/office/drawing/2014/main" id="{32F9F18C-FA01-2F12-DDEF-7C2431B88C17}"/>
                </a:ext>
              </a:extLst>
            </p:cNvPr>
            <p:cNvSpPr/>
            <p:nvPr/>
          </p:nvSpPr>
          <p:spPr>
            <a:xfrm>
              <a:off x="753597" y="362822"/>
              <a:ext cx="128404" cy="148293"/>
            </a:xfrm>
            <a:custGeom>
              <a:avLst/>
              <a:gdLst>
                <a:gd name="connsiteX0" fmla="*/ 27713 w 128404"/>
                <a:gd name="connsiteY0" fmla="*/ 104128 h 148293"/>
                <a:gd name="connsiteX1" fmla="*/ 45821 w 128404"/>
                <a:gd name="connsiteY1" fmla="*/ 125038 h 148293"/>
                <a:gd name="connsiteX2" fmla="*/ 71338 w 128404"/>
                <a:gd name="connsiteY2" fmla="*/ 132332 h 148293"/>
                <a:gd name="connsiteX3" fmla="*/ 117154 w 128404"/>
                <a:gd name="connsiteY3" fmla="*/ 97388 h 148293"/>
                <a:gd name="connsiteX4" fmla="*/ 128405 w 128404"/>
                <a:gd name="connsiteY4" fmla="*/ 100966 h 148293"/>
                <a:gd name="connsiteX5" fmla="*/ 106865 w 128404"/>
                <a:gd name="connsiteY5" fmla="*/ 135499 h 148293"/>
                <a:gd name="connsiteX6" fmla="*/ 67770 w 128404"/>
                <a:gd name="connsiteY6" fmla="*/ 148293 h 148293"/>
                <a:gd name="connsiteX7" fmla="*/ 32516 w 128404"/>
                <a:gd name="connsiteY7" fmla="*/ 138665 h 148293"/>
                <a:gd name="connsiteX8" fmla="*/ 8507 w 128404"/>
                <a:gd name="connsiteY8" fmla="*/ 112115 h 148293"/>
                <a:gd name="connsiteX9" fmla="*/ 0 w 128404"/>
                <a:gd name="connsiteY9" fmla="*/ 74009 h 148293"/>
                <a:gd name="connsiteX10" fmla="*/ 8229 w 128404"/>
                <a:gd name="connsiteY10" fmla="*/ 36178 h 148293"/>
                <a:gd name="connsiteX11" fmla="*/ 31413 w 128404"/>
                <a:gd name="connsiteY11" fmla="*/ 9628 h 148293"/>
                <a:gd name="connsiteX12" fmla="*/ 66121 w 128404"/>
                <a:gd name="connsiteY12" fmla="*/ 0 h 148293"/>
                <a:gd name="connsiteX13" fmla="*/ 102199 w 128404"/>
                <a:gd name="connsiteY13" fmla="*/ 10044 h 148293"/>
                <a:gd name="connsiteX14" fmla="*/ 122230 w 128404"/>
                <a:gd name="connsiteY14" fmla="*/ 36182 h 148293"/>
                <a:gd name="connsiteX15" fmla="*/ 127033 w 128404"/>
                <a:gd name="connsiteY15" fmla="*/ 70436 h 148293"/>
                <a:gd name="connsiteX16" fmla="*/ 21129 w 128404"/>
                <a:gd name="connsiteY16" fmla="*/ 70436 h 148293"/>
                <a:gd name="connsiteX17" fmla="*/ 21129 w 128404"/>
                <a:gd name="connsiteY17" fmla="*/ 72360 h 148293"/>
                <a:gd name="connsiteX18" fmla="*/ 27713 w 128404"/>
                <a:gd name="connsiteY18" fmla="*/ 104142 h 148293"/>
                <a:gd name="connsiteX19" fmla="*/ 27713 w 128404"/>
                <a:gd name="connsiteY19" fmla="*/ 104128 h 148293"/>
                <a:gd name="connsiteX20" fmla="*/ 105909 w 128404"/>
                <a:gd name="connsiteY20" fmla="*/ 58865 h 148293"/>
                <a:gd name="connsiteX21" fmla="*/ 94386 w 128404"/>
                <a:gd name="connsiteY21" fmla="*/ 25297 h 148293"/>
                <a:gd name="connsiteX22" fmla="*/ 66125 w 128404"/>
                <a:gd name="connsiteY22" fmla="*/ 11817 h 148293"/>
                <a:gd name="connsiteX23" fmla="*/ 36904 w 128404"/>
                <a:gd name="connsiteY23" fmla="*/ 25022 h 148293"/>
                <a:gd name="connsiteX24" fmla="*/ 22227 w 128404"/>
                <a:gd name="connsiteY24" fmla="*/ 58865 h 148293"/>
                <a:gd name="connsiteX25" fmla="*/ 105909 w 128404"/>
                <a:gd name="connsiteY25" fmla="*/ 58865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404" h="148293">
                  <a:moveTo>
                    <a:pt x="27713" y="104128"/>
                  </a:moveTo>
                  <a:cubicBezTo>
                    <a:pt x="32101" y="113208"/>
                    <a:pt x="38139" y="120179"/>
                    <a:pt x="45821" y="125038"/>
                  </a:cubicBezTo>
                  <a:cubicBezTo>
                    <a:pt x="53503" y="129902"/>
                    <a:pt x="62010" y="132332"/>
                    <a:pt x="71338" y="132332"/>
                  </a:cubicBezTo>
                  <a:cubicBezTo>
                    <a:pt x="93834" y="132332"/>
                    <a:pt x="109104" y="120685"/>
                    <a:pt x="117154" y="97388"/>
                  </a:cubicBezTo>
                  <a:lnTo>
                    <a:pt x="128405" y="100966"/>
                  </a:lnTo>
                  <a:cubicBezTo>
                    <a:pt x="124742" y="115458"/>
                    <a:pt x="117569" y="126967"/>
                    <a:pt x="106865" y="135499"/>
                  </a:cubicBezTo>
                  <a:cubicBezTo>
                    <a:pt x="96167" y="144025"/>
                    <a:pt x="83135" y="148293"/>
                    <a:pt x="67770" y="148293"/>
                  </a:cubicBezTo>
                  <a:cubicBezTo>
                    <a:pt x="54601" y="148293"/>
                    <a:pt x="42847" y="145084"/>
                    <a:pt x="32516" y="138665"/>
                  </a:cubicBezTo>
                  <a:cubicBezTo>
                    <a:pt x="22180" y="132247"/>
                    <a:pt x="14177" y="123393"/>
                    <a:pt x="8507" y="112115"/>
                  </a:cubicBezTo>
                  <a:cubicBezTo>
                    <a:pt x="2837" y="100833"/>
                    <a:pt x="0" y="88133"/>
                    <a:pt x="0" y="74009"/>
                  </a:cubicBezTo>
                  <a:cubicBezTo>
                    <a:pt x="0" y="59887"/>
                    <a:pt x="2743" y="47460"/>
                    <a:pt x="8229" y="36178"/>
                  </a:cubicBezTo>
                  <a:cubicBezTo>
                    <a:pt x="13715" y="24895"/>
                    <a:pt x="21440" y="16047"/>
                    <a:pt x="31413" y="9628"/>
                  </a:cubicBezTo>
                  <a:cubicBezTo>
                    <a:pt x="41381" y="3209"/>
                    <a:pt x="52952" y="0"/>
                    <a:pt x="66121" y="0"/>
                  </a:cubicBezTo>
                  <a:cubicBezTo>
                    <a:pt x="80750" y="0"/>
                    <a:pt x="92778" y="3351"/>
                    <a:pt x="102199" y="10044"/>
                  </a:cubicBezTo>
                  <a:cubicBezTo>
                    <a:pt x="111616" y="16742"/>
                    <a:pt x="118295" y="25453"/>
                    <a:pt x="122230" y="36182"/>
                  </a:cubicBezTo>
                  <a:cubicBezTo>
                    <a:pt x="126161" y="46912"/>
                    <a:pt x="127759" y="58331"/>
                    <a:pt x="127033" y="70436"/>
                  </a:cubicBezTo>
                  <a:lnTo>
                    <a:pt x="21129" y="70436"/>
                  </a:lnTo>
                  <a:lnTo>
                    <a:pt x="21129" y="72360"/>
                  </a:lnTo>
                  <a:cubicBezTo>
                    <a:pt x="21129" y="84465"/>
                    <a:pt x="23325" y="95062"/>
                    <a:pt x="27713" y="104142"/>
                  </a:cubicBezTo>
                  <a:lnTo>
                    <a:pt x="27713" y="104128"/>
                  </a:lnTo>
                  <a:close/>
                  <a:moveTo>
                    <a:pt x="105909" y="58865"/>
                  </a:moveTo>
                  <a:cubicBezTo>
                    <a:pt x="105362" y="45480"/>
                    <a:pt x="101521" y="34287"/>
                    <a:pt x="94386" y="25297"/>
                  </a:cubicBezTo>
                  <a:cubicBezTo>
                    <a:pt x="87254" y="16311"/>
                    <a:pt x="77828" y="11817"/>
                    <a:pt x="66125" y="11817"/>
                  </a:cubicBezTo>
                  <a:cubicBezTo>
                    <a:pt x="54422" y="11817"/>
                    <a:pt x="44680" y="16217"/>
                    <a:pt x="36904" y="25022"/>
                  </a:cubicBezTo>
                  <a:cubicBezTo>
                    <a:pt x="29127" y="33828"/>
                    <a:pt x="24235" y="45106"/>
                    <a:pt x="22227" y="58865"/>
                  </a:cubicBezTo>
                  <a:lnTo>
                    <a:pt x="105909" y="58865"/>
                  </a:lnTo>
                  <a:close/>
                </a:path>
              </a:pathLst>
            </a:custGeom>
            <a:solidFill>
              <a:srgbClr val="000000"/>
            </a:solidFill>
            <a:ln w="6327" cap="flat">
              <a:noFill/>
              <a:prstDash val="solid"/>
              <a:miter/>
            </a:ln>
          </p:spPr>
          <p:txBody>
            <a:bodyPr rtlCol="0" anchor="ctr"/>
            <a:lstStyle/>
            <a:p>
              <a:endParaRPr lang="en-GB"/>
            </a:p>
          </p:txBody>
        </p:sp>
        <p:sp>
          <p:nvSpPr>
            <p:cNvPr id="18" name="Free-form: Shape 17">
              <a:extLst>
                <a:ext uri="{FF2B5EF4-FFF2-40B4-BE49-F238E27FC236}">
                  <a16:creationId xmlns:a16="http://schemas.microsoft.com/office/drawing/2014/main" id="{78A5A8A2-DE91-8B1C-6FF3-41BEF31A4D88}"/>
                </a:ext>
              </a:extLst>
            </p:cNvPr>
            <p:cNvSpPr/>
            <p:nvPr/>
          </p:nvSpPr>
          <p:spPr>
            <a:xfrm>
              <a:off x="885962" y="362801"/>
              <a:ext cx="133622" cy="199762"/>
            </a:xfrm>
            <a:custGeom>
              <a:avLst/>
              <a:gdLst>
                <a:gd name="connsiteX0" fmla="*/ 17144 w 133622"/>
                <a:gd name="connsiteY0" fmla="*/ 190408 h 199762"/>
                <a:gd name="connsiteX1" fmla="*/ 0 w 133622"/>
                <a:gd name="connsiteY1" fmla="*/ 162067 h 199762"/>
                <a:gd name="connsiteX2" fmla="*/ 5901 w 133622"/>
                <a:gd name="connsiteY2" fmla="*/ 144734 h 199762"/>
                <a:gd name="connsiteX3" fmla="*/ 21947 w 133622"/>
                <a:gd name="connsiteY3" fmla="*/ 132903 h 199762"/>
                <a:gd name="connsiteX4" fmla="*/ 5764 w 133622"/>
                <a:gd name="connsiteY4" fmla="*/ 110064 h 199762"/>
                <a:gd name="connsiteX5" fmla="*/ 25247 w 133622"/>
                <a:gd name="connsiteY5" fmla="*/ 81723 h 199762"/>
                <a:gd name="connsiteX6" fmla="*/ 13722 w 133622"/>
                <a:gd name="connsiteY6" fmla="*/ 66589 h 199762"/>
                <a:gd name="connsiteX7" fmla="*/ 9606 w 133622"/>
                <a:gd name="connsiteY7" fmla="*/ 47328 h 199762"/>
                <a:gd name="connsiteX8" fmla="*/ 16325 w 133622"/>
                <a:gd name="connsiteY8" fmla="*/ 22565 h 199762"/>
                <a:gd name="connsiteX9" fmla="*/ 35262 w 133622"/>
                <a:gd name="connsiteY9" fmla="*/ 5918 h 199762"/>
                <a:gd name="connsiteX10" fmla="*/ 63107 w 133622"/>
                <a:gd name="connsiteY10" fmla="*/ 0 h 199762"/>
                <a:gd name="connsiteX11" fmla="*/ 88893 w 133622"/>
                <a:gd name="connsiteY11" fmla="*/ 4954 h 199762"/>
                <a:gd name="connsiteX12" fmla="*/ 130322 w 133622"/>
                <a:gd name="connsiteY12" fmla="*/ 1101 h 199762"/>
                <a:gd name="connsiteX13" fmla="*/ 130872 w 133622"/>
                <a:gd name="connsiteY13" fmla="*/ 15409 h 199762"/>
                <a:gd name="connsiteX14" fmla="*/ 103980 w 133622"/>
                <a:gd name="connsiteY14" fmla="*/ 15409 h 199762"/>
                <a:gd name="connsiteX15" fmla="*/ 116329 w 133622"/>
                <a:gd name="connsiteY15" fmla="*/ 47328 h 199762"/>
                <a:gd name="connsiteX16" fmla="*/ 109608 w 133622"/>
                <a:gd name="connsiteY16" fmla="*/ 71680 h 199762"/>
                <a:gd name="connsiteX17" fmla="*/ 90812 w 133622"/>
                <a:gd name="connsiteY17" fmla="*/ 88190 h 199762"/>
                <a:gd name="connsiteX18" fmla="*/ 63107 w 133622"/>
                <a:gd name="connsiteY18" fmla="*/ 94107 h 199762"/>
                <a:gd name="connsiteX19" fmla="*/ 34296 w 133622"/>
                <a:gd name="connsiteY19" fmla="*/ 87504 h 199762"/>
                <a:gd name="connsiteX20" fmla="*/ 22503 w 133622"/>
                <a:gd name="connsiteY20" fmla="*/ 105938 h 199762"/>
                <a:gd name="connsiteX21" fmla="*/ 27850 w 133622"/>
                <a:gd name="connsiteY21" fmla="*/ 115429 h 199762"/>
                <a:gd name="connsiteX22" fmla="*/ 44177 w 133622"/>
                <a:gd name="connsiteY22" fmla="*/ 118317 h 199762"/>
                <a:gd name="connsiteX23" fmla="*/ 86706 w 133622"/>
                <a:gd name="connsiteY23" fmla="*/ 118317 h 199762"/>
                <a:gd name="connsiteX24" fmla="*/ 120998 w 133622"/>
                <a:gd name="connsiteY24" fmla="*/ 128087 h 199762"/>
                <a:gd name="connsiteX25" fmla="*/ 133622 w 133622"/>
                <a:gd name="connsiteY25" fmla="*/ 155738 h 199762"/>
                <a:gd name="connsiteX26" fmla="*/ 115517 w 133622"/>
                <a:gd name="connsiteY26" fmla="*/ 188205 h 199762"/>
                <a:gd name="connsiteX27" fmla="*/ 65307 w 133622"/>
                <a:gd name="connsiteY27" fmla="*/ 199762 h 199762"/>
                <a:gd name="connsiteX28" fmla="*/ 17157 w 133622"/>
                <a:gd name="connsiteY28" fmla="*/ 190408 h 199762"/>
                <a:gd name="connsiteX29" fmla="*/ 17144 w 133622"/>
                <a:gd name="connsiteY29" fmla="*/ 190408 h 199762"/>
                <a:gd name="connsiteX30" fmla="*/ 30331 w 133622"/>
                <a:gd name="connsiteY30" fmla="*/ 180775 h 199762"/>
                <a:gd name="connsiteX31" fmla="*/ 64354 w 133622"/>
                <a:gd name="connsiteY31" fmla="*/ 187652 h 199762"/>
                <a:gd name="connsiteX32" fmla="*/ 101255 w 133622"/>
                <a:gd name="connsiteY32" fmla="*/ 179947 h 199762"/>
                <a:gd name="connsiteX33" fmla="*/ 114283 w 133622"/>
                <a:gd name="connsiteY33" fmla="*/ 158484 h 199762"/>
                <a:gd name="connsiteX34" fmla="*/ 106877 w 133622"/>
                <a:gd name="connsiteY34" fmla="*/ 142253 h 199762"/>
                <a:gd name="connsiteX35" fmla="*/ 84928 w 133622"/>
                <a:gd name="connsiteY35" fmla="*/ 136751 h 199762"/>
                <a:gd name="connsiteX36" fmla="*/ 45693 w 133622"/>
                <a:gd name="connsiteY36" fmla="*/ 136751 h 199762"/>
                <a:gd name="connsiteX37" fmla="*/ 35268 w 133622"/>
                <a:gd name="connsiteY37" fmla="*/ 136203 h 199762"/>
                <a:gd name="connsiteX38" fmla="*/ 22235 w 133622"/>
                <a:gd name="connsiteY38" fmla="*/ 146247 h 199762"/>
                <a:gd name="connsiteX39" fmla="*/ 17707 w 133622"/>
                <a:gd name="connsiteY39" fmla="*/ 161244 h 199762"/>
                <a:gd name="connsiteX40" fmla="*/ 30331 w 133622"/>
                <a:gd name="connsiteY40" fmla="*/ 180779 h 199762"/>
                <a:gd name="connsiteX41" fmla="*/ 30331 w 133622"/>
                <a:gd name="connsiteY41" fmla="*/ 180775 h 199762"/>
                <a:gd name="connsiteX42" fmla="*/ 85753 w 133622"/>
                <a:gd name="connsiteY42" fmla="*/ 72918 h 199762"/>
                <a:gd name="connsiteX43" fmla="*/ 94534 w 133622"/>
                <a:gd name="connsiteY43" fmla="*/ 47328 h 199762"/>
                <a:gd name="connsiteX44" fmla="*/ 85612 w 133622"/>
                <a:gd name="connsiteY44" fmla="*/ 21601 h 199762"/>
                <a:gd name="connsiteX45" fmla="*/ 62154 w 133622"/>
                <a:gd name="connsiteY45" fmla="*/ 11831 h 199762"/>
                <a:gd name="connsiteX46" fmla="*/ 38428 w 133622"/>
                <a:gd name="connsiteY46" fmla="*/ 21322 h 199762"/>
                <a:gd name="connsiteX47" fmla="*/ 29506 w 133622"/>
                <a:gd name="connsiteY47" fmla="*/ 47049 h 199762"/>
                <a:gd name="connsiteX48" fmla="*/ 38428 w 133622"/>
                <a:gd name="connsiteY48" fmla="*/ 72502 h 199762"/>
                <a:gd name="connsiteX49" fmla="*/ 62154 w 133622"/>
                <a:gd name="connsiteY49" fmla="*/ 82272 h 199762"/>
                <a:gd name="connsiteX50" fmla="*/ 85753 w 133622"/>
                <a:gd name="connsiteY50" fmla="*/ 72918 h 199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33622" h="199762">
                  <a:moveTo>
                    <a:pt x="17144" y="190408"/>
                  </a:moveTo>
                  <a:cubicBezTo>
                    <a:pt x="5712" y="184168"/>
                    <a:pt x="0" y="174725"/>
                    <a:pt x="0" y="162067"/>
                  </a:cubicBezTo>
                  <a:cubicBezTo>
                    <a:pt x="0" y="155643"/>
                    <a:pt x="1966" y="149868"/>
                    <a:pt x="5901" y="144734"/>
                  </a:cubicBezTo>
                  <a:cubicBezTo>
                    <a:pt x="9832" y="139601"/>
                    <a:pt x="15181" y="135655"/>
                    <a:pt x="21947" y="132903"/>
                  </a:cubicBezTo>
                  <a:cubicBezTo>
                    <a:pt x="11158" y="128688"/>
                    <a:pt x="5764" y="121073"/>
                    <a:pt x="5764" y="110064"/>
                  </a:cubicBezTo>
                  <a:cubicBezTo>
                    <a:pt x="5764" y="99056"/>
                    <a:pt x="12252" y="90165"/>
                    <a:pt x="25247" y="81723"/>
                  </a:cubicBezTo>
                  <a:cubicBezTo>
                    <a:pt x="20303" y="77508"/>
                    <a:pt x="16466" y="72464"/>
                    <a:pt x="13722" y="66589"/>
                  </a:cubicBezTo>
                  <a:cubicBezTo>
                    <a:pt x="10979" y="60719"/>
                    <a:pt x="9606" y="54300"/>
                    <a:pt x="9606" y="47328"/>
                  </a:cubicBezTo>
                  <a:cubicBezTo>
                    <a:pt x="9606" y="37974"/>
                    <a:pt x="11842" y="29717"/>
                    <a:pt x="16325" y="22565"/>
                  </a:cubicBezTo>
                  <a:cubicBezTo>
                    <a:pt x="20809" y="15413"/>
                    <a:pt x="27114" y="9865"/>
                    <a:pt x="35262" y="5918"/>
                  </a:cubicBezTo>
                  <a:cubicBezTo>
                    <a:pt x="43397" y="1976"/>
                    <a:pt x="52676" y="0"/>
                    <a:pt x="63107" y="0"/>
                  </a:cubicBezTo>
                  <a:cubicBezTo>
                    <a:pt x="72617" y="0"/>
                    <a:pt x="81212" y="1649"/>
                    <a:pt x="88893" y="4954"/>
                  </a:cubicBezTo>
                  <a:lnTo>
                    <a:pt x="130322" y="1101"/>
                  </a:lnTo>
                  <a:lnTo>
                    <a:pt x="130872" y="15409"/>
                  </a:lnTo>
                  <a:lnTo>
                    <a:pt x="103980" y="15409"/>
                  </a:lnTo>
                  <a:cubicBezTo>
                    <a:pt x="112211" y="23661"/>
                    <a:pt x="116329" y="34301"/>
                    <a:pt x="116329" y="47328"/>
                  </a:cubicBezTo>
                  <a:cubicBezTo>
                    <a:pt x="116329" y="56502"/>
                    <a:pt x="114084" y="64618"/>
                    <a:pt x="109608" y="71680"/>
                  </a:cubicBezTo>
                  <a:cubicBezTo>
                    <a:pt x="105125" y="78741"/>
                    <a:pt x="98864" y="84248"/>
                    <a:pt x="90812" y="88190"/>
                  </a:cubicBezTo>
                  <a:cubicBezTo>
                    <a:pt x="82760" y="92136"/>
                    <a:pt x="73532" y="94107"/>
                    <a:pt x="63107" y="94107"/>
                  </a:cubicBezTo>
                  <a:cubicBezTo>
                    <a:pt x="51941" y="94107"/>
                    <a:pt x="42342" y="91905"/>
                    <a:pt x="34296" y="87504"/>
                  </a:cubicBezTo>
                  <a:cubicBezTo>
                    <a:pt x="26430" y="93374"/>
                    <a:pt x="22503" y="99519"/>
                    <a:pt x="22503" y="105938"/>
                  </a:cubicBezTo>
                  <a:cubicBezTo>
                    <a:pt x="22503" y="110339"/>
                    <a:pt x="24281" y="113506"/>
                    <a:pt x="27850" y="115429"/>
                  </a:cubicBezTo>
                  <a:cubicBezTo>
                    <a:pt x="31418" y="117358"/>
                    <a:pt x="36854" y="118317"/>
                    <a:pt x="44177" y="118317"/>
                  </a:cubicBezTo>
                  <a:lnTo>
                    <a:pt x="86706" y="118317"/>
                  </a:lnTo>
                  <a:cubicBezTo>
                    <a:pt x="101147" y="118317"/>
                    <a:pt x="112582" y="121574"/>
                    <a:pt x="120998" y="128087"/>
                  </a:cubicBezTo>
                  <a:cubicBezTo>
                    <a:pt x="129414" y="134601"/>
                    <a:pt x="133622" y="143818"/>
                    <a:pt x="133622" y="155738"/>
                  </a:cubicBezTo>
                  <a:cubicBezTo>
                    <a:pt x="133622" y="169677"/>
                    <a:pt x="127585" y="180501"/>
                    <a:pt x="115517" y="188205"/>
                  </a:cubicBezTo>
                  <a:cubicBezTo>
                    <a:pt x="103443" y="195910"/>
                    <a:pt x="86706" y="199762"/>
                    <a:pt x="65307" y="199762"/>
                  </a:cubicBezTo>
                  <a:cubicBezTo>
                    <a:pt x="43902" y="199762"/>
                    <a:pt x="28585" y="196642"/>
                    <a:pt x="17157" y="190408"/>
                  </a:cubicBezTo>
                  <a:lnTo>
                    <a:pt x="17144" y="190408"/>
                  </a:lnTo>
                  <a:close/>
                  <a:moveTo>
                    <a:pt x="30331" y="180775"/>
                  </a:moveTo>
                  <a:cubicBezTo>
                    <a:pt x="38747" y="185360"/>
                    <a:pt x="50086" y="187652"/>
                    <a:pt x="64354" y="187652"/>
                  </a:cubicBezTo>
                  <a:cubicBezTo>
                    <a:pt x="80266" y="187652"/>
                    <a:pt x="92564" y="185081"/>
                    <a:pt x="101255" y="179947"/>
                  </a:cubicBezTo>
                  <a:cubicBezTo>
                    <a:pt x="109940" y="174810"/>
                    <a:pt x="114283" y="167659"/>
                    <a:pt x="114283" y="158484"/>
                  </a:cubicBezTo>
                  <a:cubicBezTo>
                    <a:pt x="114283" y="151333"/>
                    <a:pt x="111814" y="145916"/>
                    <a:pt x="106877" y="142253"/>
                  </a:cubicBezTo>
                  <a:cubicBezTo>
                    <a:pt x="101933" y="138589"/>
                    <a:pt x="94623" y="136751"/>
                    <a:pt x="84928" y="136751"/>
                  </a:cubicBezTo>
                  <a:lnTo>
                    <a:pt x="45693" y="136751"/>
                  </a:lnTo>
                  <a:cubicBezTo>
                    <a:pt x="43128" y="136751"/>
                    <a:pt x="39656" y="136572"/>
                    <a:pt x="35268" y="136203"/>
                  </a:cubicBezTo>
                  <a:cubicBezTo>
                    <a:pt x="29596" y="138405"/>
                    <a:pt x="25253" y="141752"/>
                    <a:pt x="22235" y="146247"/>
                  </a:cubicBezTo>
                  <a:cubicBezTo>
                    <a:pt x="19222" y="150737"/>
                    <a:pt x="17707" y="155738"/>
                    <a:pt x="17707" y="161244"/>
                  </a:cubicBezTo>
                  <a:cubicBezTo>
                    <a:pt x="17707" y="169682"/>
                    <a:pt x="21909" y="176195"/>
                    <a:pt x="30331" y="180779"/>
                  </a:cubicBezTo>
                  <a:lnTo>
                    <a:pt x="30331" y="180775"/>
                  </a:lnTo>
                  <a:close/>
                  <a:moveTo>
                    <a:pt x="85753" y="72918"/>
                  </a:moveTo>
                  <a:cubicBezTo>
                    <a:pt x="91605" y="66683"/>
                    <a:pt x="94534" y="58157"/>
                    <a:pt x="94534" y="47328"/>
                  </a:cubicBezTo>
                  <a:cubicBezTo>
                    <a:pt x="94534" y="36499"/>
                    <a:pt x="91560" y="28114"/>
                    <a:pt x="85612" y="21601"/>
                  </a:cubicBezTo>
                  <a:cubicBezTo>
                    <a:pt x="79665" y="15092"/>
                    <a:pt x="71850" y="11831"/>
                    <a:pt x="62154" y="11831"/>
                  </a:cubicBezTo>
                  <a:cubicBezTo>
                    <a:pt x="52465" y="11831"/>
                    <a:pt x="44363" y="14993"/>
                    <a:pt x="38428" y="21322"/>
                  </a:cubicBezTo>
                  <a:cubicBezTo>
                    <a:pt x="32480" y="27651"/>
                    <a:pt x="29506" y="36230"/>
                    <a:pt x="29506" y="47049"/>
                  </a:cubicBezTo>
                  <a:cubicBezTo>
                    <a:pt x="29506" y="57868"/>
                    <a:pt x="32480" y="65993"/>
                    <a:pt x="38428" y="72502"/>
                  </a:cubicBezTo>
                  <a:cubicBezTo>
                    <a:pt x="44369" y="79015"/>
                    <a:pt x="52286" y="82272"/>
                    <a:pt x="62154" y="82272"/>
                  </a:cubicBezTo>
                  <a:cubicBezTo>
                    <a:pt x="72029" y="82272"/>
                    <a:pt x="79895" y="79157"/>
                    <a:pt x="85753" y="72918"/>
                  </a:cubicBezTo>
                  <a:close/>
                </a:path>
              </a:pathLst>
            </a:custGeom>
            <a:solidFill>
              <a:srgbClr val="000000"/>
            </a:solidFill>
            <a:ln w="6327" cap="flat">
              <a:noFill/>
              <a:prstDash val="solid"/>
              <a:miter/>
            </a:ln>
          </p:spPr>
          <p:txBody>
            <a:bodyPr rtlCol="0" anchor="ctr"/>
            <a:lstStyle/>
            <a:p>
              <a:endParaRPr lang="en-GB"/>
            </a:p>
          </p:txBody>
        </p:sp>
        <p:sp>
          <p:nvSpPr>
            <p:cNvPr id="19" name="Free-form: Shape 18">
              <a:extLst>
                <a:ext uri="{FF2B5EF4-FFF2-40B4-BE49-F238E27FC236}">
                  <a16:creationId xmlns:a16="http://schemas.microsoft.com/office/drawing/2014/main" id="{4BDD56E3-1929-5137-04FF-F77B9406C158}"/>
                </a:ext>
              </a:extLst>
            </p:cNvPr>
            <p:cNvSpPr/>
            <p:nvPr/>
          </p:nvSpPr>
          <p:spPr>
            <a:xfrm>
              <a:off x="1015070" y="362815"/>
              <a:ext cx="137454" cy="148293"/>
            </a:xfrm>
            <a:custGeom>
              <a:avLst/>
              <a:gdLst>
                <a:gd name="connsiteX0" fmla="*/ 33198 w 137454"/>
                <a:gd name="connsiteY0" fmla="*/ 138666 h 148293"/>
                <a:gd name="connsiteX1" fmla="*/ 8781 w 137454"/>
                <a:gd name="connsiteY1" fmla="*/ 112116 h 148293"/>
                <a:gd name="connsiteX2" fmla="*/ 0 w 137454"/>
                <a:gd name="connsiteY2" fmla="*/ 74009 h 148293"/>
                <a:gd name="connsiteX3" fmla="*/ 8781 w 137454"/>
                <a:gd name="connsiteY3" fmla="*/ 36041 h 148293"/>
                <a:gd name="connsiteX4" fmla="*/ 33332 w 137454"/>
                <a:gd name="connsiteY4" fmla="*/ 9628 h 148293"/>
                <a:gd name="connsiteX5" fmla="*/ 68590 w 137454"/>
                <a:gd name="connsiteY5" fmla="*/ 0 h 148293"/>
                <a:gd name="connsiteX6" fmla="*/ 103982 w 137454"/>
                <a:gd name="connsiteY6" fmla="*/ 9628 h 148293"/>
                <a:gd name="connsiteX7" fmla="*/ 128533 w 137454"/>
                <a:gd name="connsiteY7" fmla="*/ 36041 h 148293"/>
                <a:gd name="connsiteX8" fmla="*/ 137455 w 137454"/>
                <a:gd name="connsiteY8" fmla="*/ 74009 h 148293"/>
                <a:gd name="connsiteX9" fmla="*/ 128533 w 137454"/>
                <a:gd name="connsiteY9" fmla="*/ 112116 h 148293"/>
                <a:gd name="connsiteX10" fmla="*/ 103982 w 137454"/>
                <a:gd name="connsiteY10" fmla="*/ 138666 h 148293"/>
                <a:gd name="connsiteX11" fmla="*/ 68590 w 137454"/>
                <a:gd name="connsiteY11" fmla="*/ 148294 h 148293"/>
                <a:gd name="connsiteX12" fmla="*/ 33198 w 137454"/>
                <a:gd name="connsiteY12" fmla="*/ 138666 h 148293"/>
                <a:gd name="connsiteX13" fmla="*/ 93007 w 137454"/>
                <a:gd name="connsiteY13" fmla="*/ 127936 h 148293"/>
                <a:gd name="connsiteX14" fmla="*/ 110153 w 137454"/>
                <a:gd name="connsiteY14" fmla="*/ 105924 h 148293"/>
                <a:gd name="connsiteX15" fmla="*/ 116331 w 137454"/>
                <a:gd name="connsiteY15" fmla="*/ 74005 h 148293"/>
                <a:gd name="connsiteX16" fmla="*/ 110153 w 137454"/>
                <a:gd name="connsiteY16" fmla="*/ 42086 h 148293"/>
                <a:gd name="connsiteX17" fmla="*/ 93007 w 137454"/>
                <a:gd name="connsiteY17" fmla="*/ 20211 h 148293"/>
                <a:gd name="connsiteX18" fmla="*/ 68590 w 137454"/>
                <a:gd name="connsiteY18" fmla="*/ 12370 h 148293"/>
                <a:gd name="connsiteX19" fmla="*/ 44307 w 137454"/>
                <a:gd name="connsiteY19" fmla="*/ 20211 h 148293"/>
                <a:gd name="connsiteX20" fmla="*/ 27295 w 137454"/>
                <a:gd name="connsiteY20" fmla="*/ 42223 h 148293"/>
                <a:gd name="connsiteX21" fmla="*/ 21124 w 137454"/>
                <a:gd name="connsiteY21" fmla="*/ 74005 h 148293"/>
                <a:gd name="connsiteX22" fmla="*/ 27295 w 137454"/>
                <a:gd name="connsiteY22" fmla="*/ 105924 h 148293"/>
                <a:gd name="connsiteX23" fmla="*/ 44307 w 137454"/>
                <a:gd name="connsiteY23" fmla="*/ 127936 h 148293"/>
                <a:gd name="connsiteX24" fmla="*/ 68590 w 137454"/>
                <a:gd name="connsiteY24" fmla="*/ 135914 h 148293"/>
                <a:gd name="connsiteX25" fmla="*/ 93007 w 137454"/>
                <a:gd name="connsiteY25" fmla="*/ 127936 h 148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7454" h="148293">
                  <a:moveTo>
                    <a:pt x="33198" y="138666"/>
                  </a:moveTo>
                  <a:cubicBezTo>
                    <a:pt x="22774" y="132247"/>
                    <a:pt x="14632" y="123393"/>
                    <a:pt x="8781" y="112116"/>
                  </a:cubicBezTo>
                  <a:cubicBezTo>
                    <a:pt x="2923" y="100833"/>
                    <a:pt x="0" y="88133"/>
                    <a:pt x="0" y="74009"/>
                  </a:cubicBezTo>
                  <a:cubicBezTo>
                    <a:pt x="0" y="59887"/>
                    <a:pt x="2923" y="47228"/>
                    <a:pt x="8781" y="36041"/>
                  </a:cubicBezTo>
                  <a:cubicBezTo>
                    <a:pt x="14632" y="24853"/>
                    <a:pt x="22812" y="16052"/>
                    <a:pt x="33332" y="9628"/>
                  </a:cubicBezTo>
                  <a:cubicBezTo>
                    <a:pt x="43853" y="3209"/>
                    <a:pt x="55601" y="0"/>
                    <a:pt x="68590" y="0"/>
                  </a:cubicBezTo>
                  <a:cubicBezTo>
                    <a:pt x="81579" y="0"/>
                    <a:pt x="93557" y="3209"/>
                    <a:pt x="103982" y="9628"/>
                  </a:cubicBezTo>
                  <a:cubicBezTo>
                    <a:pt x="114406" y="16052"/>
                    <a:pt x="122586" y="24857"/>
                    <a:pt x="128533" y="36041"/>
                  </a:cubicBezTo>
                  <a:cubicBezTo>
                    <a:pt x="134481" y="47233"/>
                    <a:pt x="137455" y="59887"/>
                    <a:pt x="137455" y="74009"/>
                  </a:cubicBezTo>
                  <a:cubicBezTo>
                    <a:pt x="137455" y="88133"/>
                    <a:pt x="134481" y="100838"/>
                    <a:pt x="128533" y="112116"/>
                  </a:cubicBezTo>
                  <a:cubicBezTo>
                    <a:pt x="122586" y="123398"/>
                    <a:pt x="114406" y="132247"/>
                    <a:pt x="103982" y="138666"/>
                  </a:cubicBezTo>
                  <a:cubicBezTo>
                    <a:pt x="93557" y="145089"/>
                    <a:pt x="81758" y="148294"/>
                    <a:pt x="68590" y="148294"/>
                  </a:cubicBezTo>
                  <a:cubicBezTo>
                    <a:pt x="55422" y="148294"/>
                    <a:pt x="43623" y="145084"/>
                    <a:pt x="33198" y="138666"/>
                  </a:cubicBezTo>
                  <a:close/>
                  <a:moveTo>
                    <a:pt x="93007" y="127936"/>
                  </a:moveTo>
                  <a:cubicBezTo>
                    <a:pt x="100324" y="122618"/>
                    <a:pt x="106041" y="115278"/>
                    <a:pt x="110153" y="105924"/>
                  </a:cubicBezTo>
                  <a:cubicBezTo>
                    <a:pt x="114272" y="96570"/>
                    <a:pt x="116331" y="85935"/>
                    <a:pt x="116331" y="74005"/>
                  </a:cubicBezTo>
                  <a:cubicBezTo>
                    <a:pt x="116331" y="62075"/>
                    <a:pt x="114272" y="51445"/>
                    <a:pt x="110153" y="42086"/>
                  </a:cubicBezTo>
                  <a:cubicBezTo>
                    <a:pt x="106041" y="32732"/>
                    <a:pt x="100317" y="25439"/>
                    <a:pt x="93007" y="20211"/>
                  </a:cubicBezTo>
                  <a:cubicBezTo>
                    <a:pt x="85691" y="14984"/>
                    <a:pt x="77550" y="12370"/>
                    <a:pt x="68590" y="12370"/>
                  </a:cubicBezTo>
                  <a:cubicBezTo>
                    <a:pt x="59630" y="12370"/>
                    <a:pt x="51534" y="14984"/>
                    <a:pt x="44307" y="20211"/>
                  </a:cubicBezTo>
                  <a:cubicBezTo>
                    <a:pt x="37080" y="25439"/>
                    <a:pt x="31414" y="32779"/>
                    <a:pt x="27295" y="42223"/>
                  </a:cubicBezTo>
                  <a:cubicBezTo>
                    <a:pt x="23183" y="51672"/>
                    <a:pt x="21124" y="62264"/>
                    <a:pt x="21124" y="74005"/>
                  </a:cubicBezTo>
                  <a:cubicBezTo>
                    <a:pt x="21124" y="85746"/>
                    <a:pt x="23183" y="96565"/>
                    <a:pt x="27295" y="105924"/>
                  </a:cubicBezTo>
                  <a:cubicBezTo>
                    <a:pt x="31414" y="115278"/>
                    <a:pt x="37080" y="122618"/>
                    <a:pt x="44307" y="127936"/>
                  </a:cubicBezTo>
                  <a:cubicBezTo>
                    <a:pt x="51534" y="133258"/>
                    <a:pt x="59624" y="135914"/>
                    <a:pt x="68590" y="135914"/>
                  </a:cubicBezTo>
                  <a:cubicBezTo>
                    <a:pt x="77556" y="135914"/>
                    <a:pt x="85691" y="133258"/>
                    <a:pt x="93007" y="127936"/>
                  </a:cubicBezTo>
                  <a:close/>
                </a:path>
              </a:pathLst>
            </a:custGeom>
            <a:solidFill>
              <a:srgbClr val="000000"/>
            </a:solidFill>
            <a:ln w="6327" cap="flat">
              <a:noFill/>
              <a:prstDash val="solid"/>
              <a:miter/>
            </a:ln>
          </p:spPr>
          <p:txBody>
            <a:bodyPr rtlCol="0" anchor="ctr"/>
            <a:lstStyle/>
            <a:p>
              <a:endParaRPr lang="en-GB"/>
            </a:p>
          </p:txBody>
        </p:sp>
        <p:sp>
          <p:nvSpPr>
            <p:cNvPr id="20" name="Free-form: Shape 19">
              <a:extLst>
                <a:ext uri="{FF2B5EF4-FFF2-40B4-BE49-F238E27FC236}">
                  <a16:creationId xmlns:a16="http://schemas.microsoft.com/office/drawing/2014/main" id="{75D71F2B-6D4E-D00D-1133-C56670C78B58}"/>
                </a:ext>
              </a:extLst>
            </p:cNvPr>
            <p:cNvSpPr/>
            <p:nvPr/>
          </p:nvSpPr>
          <p:spPr>
            <a:xfrm>
              <a:off x="391829" y="462601"/>
              <a:ext cx="292" cy="4"/>
            </a:xfrm>
            <a:custGeom>
              <a:avLst/>
              <a:gdLst>
                <a:gd name="connsiteX0" fmla="*/ 0 w 292"/>
                <a:gd name="connsiteY0" fmla="*/ 0 h 4"/>
                <a:gd name="connsiteX1" fmla="*/ 292 w 292"/>
                <a:gd name="connsiteY1" fmla="*/ 0 h 4"/>
                <a:gd name="connsiteX2" fmla="*/ 0 w 292"/>
                <a:gd name="connsiteY2" fmla="*/ 4 h 4"/>
                <a:gd name="connsiteX3" fmla="*/ 0 w 292"/>
                <a:gd name="connsiteY3" fmla="*/ 0 h 4"/>
              </a:gdLst>
              <a:ahLst/>
              <a:cxnLst>
                <a:cxn ang="0">
                  <a:pos x="connsiteX0" y="connsiteY0"/>
                </a:cxn>
                <a:cxn ang="0">
                  <a:pos x="connsiteX1" y="connsiteY1"/>
                </a:cxn>
                <a:cxn ang="0">
                  <a:pos x="connsiteX2" y="connsiteY2"/>
                </a:cxn>
                <a:cxn ang="0">
                  <a:pos x="connsiteX3" y="connsiteY3"/>
                </a:cxn>
              </a:cxnLst>
              <a:rect l="l" t="t" r="r" b="b"/>
              <a:pathLst>
                <a:path w="292" h="4">
                  <a:moveTo>
                    <a:pt x="0" y="0"/>
                  </a:moveTo>
                  <a:lnTo>
                    <a:pt x="292" y="0"/>
                  </a:lnTo>
                  <a:cubicBezTo>
                    <a:pt x="193" y="4"/>
                    <a:pt x="94" y="4"/>
                    <a:pt x="0" y="4"/>
                  </a:cubicBezTo>
                  <a:lnTo>
                    <a:pt x="0" y="0"/>
                  </a:lnTo>
                  <a:close/>
                </a:path>
              </a:pathLst>
            </a:custGeom>
            <a:solidFill>
              <a:srgbClr val="000000"/>
            </a:solidFill>
            <a:ln w="6327" cap="flat">
              <a:noFill/>
              <a:prstDash val="solid"/>
              <a:miter/>
            </a:ln>
          </p:spPr>
          <p:txBody>
            <a:bodyPr rtlCol="0" anchor="ctr"/>
            <a:lstStyle/>
            <a:p>
              <a:endParaRPr lang="en-GB"/>
            </a:p>
          </p:txBody>
        </p:sp>
        <p:sp>
          <p:nvSpPr>
            <p:cNvPr id="21" name="Free-form: Shape 20">
              <a:extLst>
                <a:ext uri="{FF2B5EF4-FFF2-40B4-BE49-F238E27FC236}">
                  <a16:creationId xmlns:a16="http://schemas.microsoft.com/office/drawing/2014/main" id="{593D9C17-8D66-0E81-4046-4F54E2BC65A0}"/>
                </a:ext>
              </a:extLst>
            </p:cNvPr>
            <p:cNvSpPr/>
            <p:nvPr/>
          </p:nvSpPr>
          <p:spPr>
            <a:xfrm>
              <a:off x="394371" y="476789"/>
              <a:ext cx="476" cy="4"/>
            </a:xfrm>
            <a:custGeom>
              <a:avLst/>
              <a:gdLst>
                <a:gd name="connsiteX0" fmla="*/ 476 w 476"/>
                <a:gd name="connsiteY0" fmla="*/ 0 h 4"/>
                <a:gd name="connsiteX1" fmla="*/ 0 w 476"/>
                <a:gd name="connsiteY1" fmla="*/ 4 h 4"/>
                <a:gd name="connsiteX2" fmla="*/ 476 w 476"/>
                <a:gd name="connsiteY2" fmla="*/ 0 h 4"/>
              </a:gdLst>
              <a:ahLst/>
              <a:cxnLst>
                <a:cxn ang="0">
                  <a:pos x="connsiteX0" y="connsiteY0"/>
                </a:cxn>
                <a:cxn ang="0">
                  <a:pos x="connsiteX1" y="connsiteY1"/>
                </a:cxn>
                <a:cxn ang="0">
                  <a:pos x="connsiteX2" y="connsiteY2"/>
                </a:cxn>
              </a:cxnLst>
              <a:rect l="l" t="t" r="r" b="b"/>
              <a:pathLst>
                <a:path w="476" h="4">
                  <a:moveTo>
                    <a:pt x="476" y="0"/>
                  </a:moveTo>
                  <a:lnTo>
                    <a:pt x="0" y="4"/>
                  </a:lnTo>
                  <a:cubicBezTo>
                    <a:pt x="161" y="4"/>
                    <a:pt x="316" y="4"/>
                    <a:pt x="476" y="0"/>
                  </a:cubicBezTo>
                  <a:close/>
                </a:path>
              </a:pathLst>
            </a:custGeom>
            <a:solidFill>
              <a:srgbClr val="000000"/>
            </a:solidFill>
            <a:ln w="6327" cap="flat">
              <a:noFill/>
              <a:prstDash val="solid"/>
              <a:miter/>
            </a:ln>
          </p:spPr>
          <p:txBody>
            <a:bodyPr rtlCol="0" anchor="ctr"/>
            <a:lstStyle/>
            <a:p>
              <a:endParaRPr lang="en-GB"/>
            </a:p>
          </p:txBody>
        </p:sp>
      </p:grpSp>
    </p:spTree>
    <p:extLst>
      <p:ext uri="{BB962C8B-B14F-4D97-AF65-F5344CB8AC3E}">
        <p14:creationId xmlns:p14="http://schemas.microsoft.com/office/powerpoint/2010/main" val="427600205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88" r:id="rId21"/>
    <p:sldLayoutId id="2147483689" r:id="rId22"/>
    <p:sldLayoutId id="2147483690" r:id="rId23"/>
  </p:sldLayoutIdLst>
  <p:hf hdr="0"/>
  <p:txStyles>
    <p:titleStyle>
      <a:lvl1pPr algn="l" defTabSz="914400" rtl="0" eaLnBrk="1" latinLnBrk="0" hangingPunct="1">
        <a:lnSpc>
          <a:spcPct val="96000"/>
        </a:lnSpc>
        <a:spcBef>
          <a:spcPts val="1000"/>
        </a:spcBef>
        <a:buNone/>
        <a:defRPr sz="2400" kern="1200">
          <a:solidFill>
            <a:schemeClr val="tx1"/>
          </a:solidFill>
          <a:latin typeface="+mj-lt"/>
          <a:ea typeface="+mj-ea"/>
          <a:cs typeface="+mj-cs"/>
        </a:defRPr>
      </a:lvl1pPr>
    </p:titleStyle>
    <p:bodyStyle>
      <a:lvl1pPr marL="0" indent="-146304" algn="l" defTabSz="914400" rtl="0" eaLnBrk="1" latinLnBrk="0" hangingPunct="1">
        <a:lnSpc>
          <a:spcPct val="90000"/>
        </a:lnSpc>
        <a:spcBef>
          <a:spcPts val="1000"/>
        </a:spcBef>
        <a:buFont typeface="Arial" panose="020B0604020202020204" pitchFamily="34" charset="0"/>
        <a:buChar char="•"/>
        <a:defRPr sz="1050" kern="1200">
          <a:solidFill>
            <a:schemeClr val="tx2"/>
          </a:solidFill>
          <a:latin typeface="+mn-lt"/>
          <a:ea typeface="+mn-ea"/>
          <a:cs typeface="+mn-cs"/>
        </a:defRPr>
      </a:lvl1pPr>
      <a:lvl2pPr marL="32004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2pPr>
      <a:lvl3pPr marL="50292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3pPr>
      <a:lvl4pPr marL="68580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4pPr>
      <a:lvl5pPr marL="868680" indent="-146304" algn="l" defTabSz="914400"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462901"/>
          </p15:clr>
        </p15:guide>
        <p15:guide id="2" pos="7680">
          <p15:clr>
            <a:srgbClr val="462901"/>
          </p15:clr>
        </p15:guide>
        <p15:guide id="3" pos="161">
          <p15:clr>
            <a:srgbClr val="462901"/>
          </p15:clr>
        </p15:guide>
        <p15:guide id="4" pos="1935">
          <p15:clr>
            <a:srgbClr val="462901"/>
          </p15:clr>
        </p15:guide>
        <p15:guide id="5" pos="2022">
          <p15:clr>
            <a:srgbClr val="462901"/>
          </p15:clr>
        </p15:guide>
        <p15:guide id="6" pos="3796">
          <p15:clr>
            <a:srgbClr val="462901"/>
          </p15:clr>
        </p15:guide>
        <p15:guide id="7" pos="3883">
          <p15:clr>
            <a:srgbClr val="462901"/>
          </p15:clr>
        </p15:guide>
        <p15:guide id="8" pos="5657">
          <p15:clr>
            <a:srgbClr val="462901"/>
          </p15:clr>
        </p15:guide>
        <p15:guide id="9" pos="5744">
          <p15:clr>
            <a:srgbClr val="462901"/>
          </p15:clr>
        </p15:guide>
        <p15:guide id="10" pos="7518">
          <p15:clr>
            <a:srgbClr val="462901"/>
          </p15:clr>
        </p15:guide>
        <p15:guide id="11" orient="horz">
          <p15:clr>
            <a:srgbClr val="462901"/>
          </p15:clr>
        </p15:guide>
        <p15:guide id="12" orient="horz" pos="4320">
          <p15:clr>
            <a:srgbClr val="462901"/>
          </p15:clr>
        </p15:guide>
        <p15:guide id="13" orient="horz" pos="161">
          <p15:clr>
            <a:srgbClr val="462901"/>
          </p15:clr>
        </p15:guide>
        <p15:guide id="14" orient="horz" pos="755">
          <p15:clr>
            <a:srgbClr val="462901"/>
          </p15:clr>
        </p15:guide>
        <p15:guide id="15" orient="horz" pos="841">
          <p15:clr>
            <a:srgbClr val="462901"/>
          </p15:clr>
        </p15:guide>
        <p15:guide id="16" orient="horz" pos="1436">
          <p15:clr>
            <a:srgbClr val="462901"/>
          </p15:clr>
        </p15:guide>
        <p15:guide id="17" orient="horz" pos="1522">
          <p15:clr>
            <a:srgbClr val="462901"/>
          </p15:clr>
        </p15:guide>
        <p15:guide id="18" orient="horz" pos="2116">
          <p15:clr>
            <a:srgbClr val="462901"/>
          </p15:clr>
        </p15:guide>
        <p15:guide id="19" orient="horz" pos="2203">
          <p15:clr>
            <a:srgbClr val="462901"/>
          </p15:clr>
        </p15:guide>
        <p15:guide id="20" orient="horz" pos="2797">
          <p15:clr>
            <a:srgbClr val="462901"/>
          </p15:clr>
        </p15:guide>
        <p15:guide id="21" orient="horz" pos="2883">
          <p15:clr>
            <a:srgbClr val="462901"/>
          </p15:clr>
        </p15:guide>
        <p15:guide id="22" orient="horz" pos="3478">
          <p15:clr>
            <a:srgbClr val="462901"/>
          </p15:clr>
        </p15:guide>
        <p15:guide id="23" orient="horz" pos="3564">
          <p15:clr>
            <a:srgbClr val="462901"/>
          </p15:clr>
        </p15:guide>
        <p15:guide id="24" orient="horz" pos="4158">
          <p15:clr>
            <a:srgbClr val="46290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pmc.ncbi.nlm.nih.gov/articles/PMC11218722/" TargetMode="External"/><Relationship Id="rId7"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hyperlink" Target="https://aacrjournals.org/clincancerres/article/31/21/4543/766834/Human-Kallikrein-2-A-Novel-Lineage-Specific" TargetMode="External"/><Relationship Id="rId4" Type="http://schemas.openxmlformats.org/officeDocument/2006/relationships/hyperlink" Target="https://clin.larvol.com/trial-detail/NCT04644770"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8.pn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9.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6.png"/><Relationship Id="rId3" Type="http://schemas.openxmlformats.org/officeDocument/2006/relationships/image" Target="../media/image2.png"/><Relationship Id="rId7" Type="http://schemas.openxmlformats.org/officeDocument/2006/relationships/image" Target="../media/image13.png"/><Relationship Id="rId12" Type="http://schemas.openxmlformats.org/officeDocument/2006/relationships/hyperlink" Target="https://pubmed.ncbi.nlm.nih.gov/40571760/" TargetMode="External"/><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hyperlink" Target="https://aacrjournals.org/clincancerres/article/31/21/4543/766834/Human-Kallikrein-2-A-Novel-Lineage-Specific" TargetMode="External"/><Relationship Id="rId5" Type="http://schemas.openxmlformats.org/officeDocument/2006/relationships/image" Target="../media/image11.png"/><Relationship Id="rId10" Type="http://schemas.openxmlformats.org/officeDocument/2006/relationships/hyperlink" Target="https://www.proteinatlas.org/ENSG00000167751-KLK2/" TargetMode="External"/><Relationship Id="rId4" Type="http://schemas.openxmlformats.org/officeDocument/2006/relationships/image" Target="../media/image19.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3A_C5390523.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hyperlink" Target="https://pubmed.ncbi.nlm.nih.gov/40627156/" TargetMode="External"/></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hyperlink" Target="https://pmc.ncbi.nlm.nih.gov/articles/PMC10889228/" TargetMode="External"/><Relationship Id="rId3" Type="http://schemas.openxmlformats.org/officeDocument/2006/relationships/image" Target="../media/image18.png"/><Relationship Id="rId7" Type="http://schemas.openxmlformats.org/officeDocument/2006/relationships/image" Target="../media/image12.png"/><Relationship Id="rId12" Type="http://schemas.openxmlformats.org/officeDocument/2006/relationships/hyperlink" Target="https://onlinelibrary.wiley.com/doi/full/10.1002/pros.24038"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hyperlink" Target="https://pubmed.ncbi.nlm.nih.gov/40627156/" TargetMode="External"/><Relationship Id="rId5" Type="http://schemas.openxmlformats.org/officeDocument/2006/relationships/image" Target="../media/image19.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 Id="rId14" Type="http://schemas.openxmlformats.org/officeDocument/2006/relationships/hyperlink" Target="https://www.proteinatlas.org/ENSG00000167751-KLK2/tissue" TargetMode="Externa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7.jpeg"/><Relationship Id="rId3" Type="http://schemas.openxmlformats.org/officeDocument/2006/relationships/image" Target="../media/image2.png"/><Relationship Id="rId7" Type="http://schemas.openxmlformats.org/officeDocument/2006/relationships/image" Target="../media/image13.png"/><Relationship Id="rId12" Type="http://schemas.openxmlformats.org/officeDocument/2006/relationships/image" Target="../media/image22.jpe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hyperlink" Target="https://clin.larvol.com/trial-detail/NCT04644770" TargetMode="External"/><Relationship Id="rId5" Type="http://schemas.openxmlformats.org/officeDocument/2006/relationships/image" Target="../media/image11.png"/><Relationship Id="rId10" Type="http://schemas.openxmlformats.org/officeDocument/2006/relationships/hyperlink" Target="https://pmc.ncbi.nlm.nih.gov/articles/PMC11218722/" TargetMode="External"/><Relationship Id="rId4" Type="http://schemas.openxmlformats.org/officeDocument/2006/relationships/image" Target="../media/image19.png"/><Relationship Id="rId9" Type="http://schemas.openxmlformats.org/officeDocument/2006/relationships/image" Target="../media/image15.png"/><Relationship Id="rId14" Type="http://schemas.openxmlformats.org/officeDocument/2006/relationships/image" Target="../media/image23.jpe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hyperlink" Target="https://pubmed.ncbi.nlm.nih.gov/25326387/" TargetMode="External"/><Relationship Id="rId3" Type="http://schemas.openxmlformats.org/officeDocument/2006/relationships/image" Target="../media/image2.png"/><Relationship Id="rId7" Type="http://schemas.openxmlformats.org/officeDocument/2006/relationships/image" Target="../media/image13.png"/><Relationship Id="rId12" Type="http://schemas.openxmlformats.org/officeDocument/2006/relationships/hyperlink" Target="https://academic.oup.com/clinchem/article-abstract/50/9/1607/5640027?redirectedFrom=fulltext&amp;login=false" TargetMode="External"/><Relationship Id="rId17" Type="http://schemas.openxmlformats.org/officeDocument/2006/relationships/image" Target="../media/image25.png"/><Relationship Id="rId2" Type="http://schemas.openxmlformats.org/officeDocument/2006/relationships/image" Target="../media/image18.png"/><Relationship Id="rId16" Type="http://schemas.microsoft.com/office/2007/relationships/hdphoto" Target="../media/hdphoto1.wdp"/><Relationship Id="rId1" Type="http://schemas.openxmlformats.org/officeDocument/2006/relationships/slideLayout" Target="../slideLayouts/slideLayout6.xml"/><Relationship Id="rId6" Type="http://schemas.openxmlformats.org/officeDocument/2006/relationships/image" Target="../media/image12.png"/><Relationship Id="rId11" Type="http://schemas.openxmlformats.org/officeDocument/2006/relationships/hyperlink" Target="https://pubmed.ncbi.nlm.nih.gov/29691406/" TargetMode="External"/><Relationship Id="rId5" Type="http://schemas.openxmlformats.org/officeDocument/2006/relationships/image" Target="../media/image11.png"/><Relationship Id="rId15" Type="http://schemas.openxmlformats.org/officeDocument/2006/relationships/image" Target="../media/image24.png"/><Relationship Id="rId10" Type="http://schemas.openxmlformats.org/officeDocument/2006/relationships/hyperlink" Target="https://pubmed.ncbi.nlm.nih.gov/40627156/" TargetMode="External"/><Relationship Id="rId4" Type="http://schemas.openxmlformats.org/officeDocument/2006/relationships/image" Target="../media/image19.png"/><Relationship Id="rId9" Type="http://schemas.openxmlformats.org/officeDocument/2006/relationships/image" Target="../media/image15.png"/><Relationship Id="rId14" Type="http://schemas.openxmlformats.org/officeDocument/2006/relationships/hyperlink" Target="https://www.mdpi.com/2072-6694/13/21/5417?" TargetMode="External"/></Relationships>
</file>

<file path=ppt/slides/_rels/slide9.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hyperlink" Target="https://www.cancer.org/cancer/types/prostate-cancer/detection-diagnosis-staging/survival-rates.html" TargetMode="External"/><Relationship Id="rId18" Type="http://schemas.openxmlformats.org/officeDocument/2006/relationships/hyperlink" Target="https://pubmed.ncbi.nlm.nih.gov/36371403/" TargetMode="External"/><Relationship Id="rId3" Type="http://schemas.openxmlformats.org/officeDocument/2006/relationships/image" Target="../media/image18.png"/><Relationship Id="rId7" Type="http://schemas.openxmlformats.org/officeDocument/2006/relationships/image" Target="../media/image12.png"/><Relationship Id="rId12" Type="http://schemas.openxmlformats.org/officeDocument/2006/relationships/hyperlink" Target="https://journals.plos.org/plosone/article?id=10.1371/journal.pone.0139440" TargetMode="External"/><Relationship Id="rId17" Type="http://schemas.openxmlformats.org/officeDocument/2006/relationships/hyperlink" Target="https://jamanetwork.com/journals/jamanetworkopen/fullarticle/2809152" TargetMode="External"/><Relationship Id="rId2" Type="http://schemas.openxmlformats.org/officeDocument/2006/relationships/notesSlide" Target="../notesSlides/notesSlide5.xml"/><Relationship Id="rId16" Type="http://schemas.openxmlformats.org/officeDocument/2006/relationships/hyperlink" Target="https://jnm.snmjournals.org/content/63/10/1484" TargetMode="External"/><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hyperlink" Target="https://pmc.ncbi.nlm.nih.gov/articles/PMC10606209/" TargetMode="External"/><Relationship Id="rId5" Type="http://schemas.openxmlformats.org/officeDocument/2006/relationships/image" Target="../media/image19.png"/><Relationship Id="rId15" Type="http://schemas.openxmlformats.org/officeDocument/2006/relationships/hyperlink" Target="https://pmc.ncbi.nlm.nih.gov/articles/PMC11699533/" TargetMode="External"/><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 Id="rId14" Type="http://schemas.openxmlformats.org/officeDocument/2006/relationships/hyperlink" Target="https://pubmed.ncbi.nlm.nih.gov/33349912/"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15.png"/></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8.png"/><Relationship Id="rId7"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9.png"/><Relationship Id="rId10"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1A93A-40E2-B92A-4E46-31DB6A7AEAE7}"/>
              </a:ext>
            </a:extLst>
          </p:cNvPr>
          <p:cNvSpPr>
            <a:spLocks noGrp="1"/>
          </p:cNvSpPr>
          <p:nvPr>
            <p:ph type="ctrTitle"/>
          </p:nvPr>
        </p:nvSpPr>
        <p:spPr/>
        <p:txBody>
          <a:bodyPr/>
          <a:lstStyle/>
          <a:p>
            <a:r>
              <a:rPr lang="en-US">
                <a:ea typeface="+mj-lt"/>
                <a:cs typeface="+mj-lt"/>
              </a:rPr>
              <a:t>KLK2</a:t>
            </a:r>
            <a:r>
              <a:rPr lang="en-US"/>
              <a:t> Target Evaluation</a:t>
            </a:r>
          </a:p>
        </p:txBody>
      </p:sp>
      <p:sp>
        <p:nvSpPr>
          <p:cNvPr id="4" name="TextBox 3">
            <a:extLst>
              <a:ext uri="{FF2B5EF4-FFF2-40B4-BE49-F238E27FC236}">
                <a16:creationId xmlns:a16="http://schemas.microsoft.com/office/drawing/2014/main" id="{C8B37B8E-E4ED-3F09-2AF4-8E6581AB79FF}"/>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2505649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82891-8B04-A396-0888-E28A262F046F}"/>
            </a:ext>
          </a:extLst>
        </p:cNvPr>
        <p:cNvGrpSpPr/>
        <p:nvPr/>
      </p:nvGrpSpPr>
      <p:grpSpPr>
        <a:xfrm>
          <a:off x="0" y="0"/>
          <a:ext cx="0" cy="0"/>
          <a:chOff x="0" y="0"/>
          <a:chExt cx="0" cy="0"/>
        </a:xfrm>
      </p:grpSpPr>
      <p:sp>
        <p:nvSpPr>
          <p:cNvPr id="20" name="Title 19">
            <a:extLst>
              <a:ext uri="{FF2B5EF4-FFF2-40B4-BE49-F238E27FC236}">
                <a16:creationId xmlns:a16="http://schemas.microsoft.com/office/drawing/2014/main" id="{5CE418FB-DEDC-5455-18F1-820272A33292}"/>
              </a:ext>
            </a:extLst>
          </p:cNvPr>
          <p:cNvSpPr>
            <a:spLocks noGrp="1"/>
          </p:cNvSpPr>
          <p:nvPr>
            <p:ph type="title"/>
          </p:nvPr>
        </p:nvSpPr>
        <p:spPr>
          <a:xfrm>
            <a:off x="261111" y="1389953"/>
            <a:ext cx="11930889" cy="414463"/>
          </a:xfrm>
        </p:spPr>
        <p:txBody>
          <a:bodyPr/>
          <a:lstStyle/>
          <a:p>
            <a:r>
              <a:rPr lang="en-US"/>
              <a:t>Prostate: KLK2 positivity across stages &amp; risk levels creates broad RLT opportunity</a:t>
            </a:r>
          </a:p>
        </p:txBody>
      </p:sp>
      <p:sp>
        <p:nvSpPr>
          <p:cNvPr id="2" name="Footer Placeholder 1">
            <a:extLst>
              <a:ext uri="{FF2B5EF4-FFF2-40B4-BE49-F238E27FC236}">
                <a16:creationId xmlns:a16="http://schemas.microsoft.com/office/drawing/2014/main" id="{6E884D3C-B48E-61C7-7235-DF38AFBD6A28}"/>
              </a:ext>
            </a:extLst>
          </p:cNvPr>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656670"/>
                </a:solidFill>
                <a:effectLst/>
                <a:uLnTx/>
                <a:uFillTx/>
                <a:latin typeface="Funnel Sans"/>
                <a:ea typeface="+mn-ea"/>
                <a:cs typeface="+mn-cs"/>
              </a:rPr>
              <a:t>Confidential</a:t>
            </a:r>
            <a:endParaRPr kumimoji="0" lang="en-GB" sz="900" b="0" i="0" u="none" strike="noStrike" kern="1200" cap="none" spc="0" normalizeH="0" baseline="0" noProof="0">
              <a:ln>
                <a:noFill/>
              </a:ln>
              <a:solidFill>
                <a:srgbClr val="656670"/>
              </a:solidFill>
              <a:effectLst/>
              <a:uLnTx/>
              <a:uFillTx/>
              <a:latin typeface="Funnel Sans"/>
              <a:ea typeface="+mn-ea"/>
              <a:cs typeface="+mn-cs"/>
            </a:endParaRPr>
          </a:p>
        </p:txBody>
      </p:sp>
      <p:sp>
        <p:nvSpPr>
          <p:cNvPr id="3" name="Slide Number Placeholder 2">
            <a:extLst>
              <a:ext uri="{FF2B5EF4-FFF2-40B4-BE49-F238E27FC236}">
                <a16:creationId xmlns:a16="http://schemas.microsoft.com/office/drawing/2014/main" id="{700B7332-3835-13D5-089B-69E56BFB47F1}"/>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1E5F93-45D3-472F-9EA1-BCB47A04FF6B}" type="slidenum">
              <a:rPr kumimoji="0" lang="en-GB" sz="900" b="0" i="0" u="none" strike="noStrike" kern="1200" cap="none" spc="-39" normalizeH="0" baseline="0" noProof="0" smtClean="0">
                <a:ln>
                  <a:noFill/>
                </a:ln>
                <a:solidFill>
                  <a:srgbClr val="656670"/>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900" b="0" i="0" u="none" strike="noStrike" kern="1200" cap="none" spc="-39" normalizeH="0" baseline="0" noProof="0">
              <a:ln>
                <a:noFill/>
              </a:ln>
              <a:solidFill>
                <a:srgbClr val="656670"/>
              </a:solidFill>
              <a:effectLst/>
              <a:uLnTx/>
              <a:uFillTx/>
              <a:latin typeface="Funnel Sans"/>
              <a:ea typeface="+mn-ea"/>
              <a:cs typeface="+mn-cs"/>
            </a:endParaRPr>
          </a:p>
        </p:txBody>
      </p:sp>
      <p:sp>
        <p:nvSpPr>
          <p:cNvPr id="21" name="Subtitle 20">
            <a:extLst>
              <a:ext uri="{FF2B5EF4-FFF2-40B4-BE49-F238E27FC236}">
                <a16:creationId xmlns:a16="http://schemas.microsoft.com/office/drawing/2014/main" id="{B34B4B54-2FF7-F74D-A4CB-292BE764731C}"/>
              </a:ext>
            </a:extLst>
          </p:cNvPr>
          <p:cNvSpPr>
            <a:spLocks noGrp="1"/>
          </p:cNvSpPr>
          <p:nvPr>
            <p:ph type="subTitle" idx="1"/>
          </p:nvPr>
        </p:nvSpPr>
        <p:spPr/>
        <p:txBody>
          <a:bodyPr/>
          <a:lstStyle/>
          <a:p>
            <a:r>
              <a:rPr lang="en-US" b="1"/>
              <a:t>Target Selection</a:t>
            </a:r>
          </a:p>
        </p:txBody>
      </p:sp>
      <p:grpSp>
        <p:nvGrpSpPr>
          <p:cNvPr id="19" name="Group 18">
            <a:extLst>
              <a:ext uri="{FF2B5EF4-FFF2-40B4-BE49-F238E27FC236}">
                <a16:creationId xmlns:a16="http://schemas.microsoft.com/office/drawing/2014/main" id="{1D3C808A-6B57-1319-B890-C2ADF4FE8DDE}"/>
              </a:ext>
            </a:extLst>
          </p:cNvPr>
          <p:cNvGrpSpPr/>
          <p:nvPr/>
        </p:nvGrpSpPr>
        <p:grpSpPr>
          <a:xfrm>
            <a:off x="257178" y="1991687"/>
            <a:ext cx="6523518" cy="4576212"/>
            <a:chOff x="3527298" y="2509627"/>
            <a:chExt cx="3423291" cy="4576212"/>
          </a:xfrm>
        </p:grpSpPr>
        <p:sp>
          <p:nvSpPr>
            <p:cNvPr id="4" name="Shape 2">
              <a:extLst>
                <a:ext uri="{FF2B5EF4-FFF2-40B4-BE49-F238E27FC236}">
                  <a16:creationId xmlns:a16="http://schemas.microsoft.com/office/drawing/2014/main" id="{6AC1E04F-B7A4-85F3-1F95-76D0E1D7CFD3}"/>
                </a:ext>
              </a:extLst>
            </p:cNvPr>
            <p:cNvSpPr/>
            <p:nvPr/>
          </p:nvSpPr>
          <p:spPr>
            <a:xfrm>
              <a:off x="3527298" y="2509627"/>
              <a:ext cx="3423291" cy="307028"/>
            </a:xfrm>
            <a:prstGeom prst="round2SameRect">
              <a:avLst>
                <a:gd name="adj1" fmla="val 32721"/>
                <a:gd name="adj2" fmla="val 0"/>
              </a:avLst>
            </a:prstGeom>
            <a:solidFill>
              <a:schemeClr val="accent2"/>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Expression</a:t>
              </a:r>
            </a:p>
          </p:txBody>
        </p:sp>
        <p:sp>
          <p:nvSpPr>
            <p:cNvPr id="7" name="Shape 5">
              <a:extLst>
                <a:ext uri="{FF2B5EF4-FFF2-40B4-BE49-F238E27FC236}">
                  <a16:creationId xmlns:a16="http://schemas.microsoft.com/office/drawing/2014/main" id="{A8CABBAB-4CE1-2C65-403D-861B39DD838C}"/>
                </a:ext>
              </a:extLst>
            </p:cNvPr>
            <p:cNvSpPr/>
            <p:nvPr/>
          </p:nvSpPr>
          <p:spPr>
            <a:xfrm rot="10800000">
              <a:off x="3527298" y="2816654"/>
              <a:ext cx="3423291" cy="4269185"/>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32" name="Group 31">
            <a:extLst>
              <a:ext uri="{FF2B5EF4-FFF2-40B4-BE49-F238E27FC236}">
                <a16:creationId xmlns:a16="http://schemas.microsoft.com/office/drawing/2014/main" id="{E8894465-667E-0806-2BAE-4CD240E0B717}"/>
              </a:ext>
            </a:extLst>
          </p:cNvPr>
          <p:cNvGrpSpPr/>
          <p:nvPr/>
        </p:nvGrpSpPr>
        <p:grpSpPr>
          <a:xfrm>
            <a:off x="7112643" y="1992420"/>
            <a:ext cx="4703879" cy="2213796"/>
            <a:chOff x="3527298" y="2509627"/>
            <a:chExt cx="3423291" cy="2080415"/>
          </a:xfrm>
        </p:grpSpPr>
        <p:sp>
          <p:nvSpPr>
            <p:cNvPr id="33" name="Shape 2">
              <a:extLst>
                <a:ext uri="{FF2B5EF4-FFF2-40B4-BE49-F238E27FC236}">
                  <a16:creationId xmlns:a16="http://schemas.microsoft.com/office/drawing/2014/main" id="{059A6AA8-9EF4-EDEB-6AD2-575831FEBAE1}"/>
                </a:ext>
              </a:extLst>
            </p:cNvPr>
            <p:cNvSpPr/>
            <p:nvPr/>
          </p:nvSpPr>
          <p:spPr>
            <a:xfrm>
              <a:off x="3527298" y="2509627"/>
              <a:ext cx="3423291" cy="307028"/>
            </a:xfrm>
            <a:prstGeom prst="round2SameRect">
              <a:avLst>
                <a:gd name="adj1" fmla="val 32721"/>
                <a:gd name="adj2" fmla="val 0"/>
              </a:avLst>
            </a:prstGeom>
            <a:solidFill>
              <a:schemeClr val="accent2"/>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Biology &amp; Feasibility</a:t>
              </a:r>
            </a:p>
          </p:txBody>
        </p:sp>
        <p:sp>
          <p:nvSpPr>
            <p:cNvPr id="34" name="Shape 5">
              <a:extLst>
                <a:ext uri="{FF2B5EF4-FFF2-40B4-BE49-F238E27FC236}">
                  <a16:creationId xmlns:a16="http://schemas.microsoft.com/office/drawing/2014/main" id="{B90B52CF-E3C4-D2C8-FB6F-0691274E4DC6}"/>
                </a:ext>
              </a:extLst>
            </p:cNvPr>
            <p:cNvSpPr/>
            <p:nvPr/>
          </p:nvSpPr>
          <p:spPr>
            <a:xfrm rot="10800000">
              <a:off x="3527298" y="2816655"/>
              <a:ext cx="3423291" cy="1773387"/>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35" name="Group 34">
            <a:extLst>
              <a:ext uri="{FF2B5EF4-FFF2-40B4-BE49-F238E27FC236}">
                <a16:creationId xmlns:a16="http://schemas.microsoft.com/office/drawing/2014/main" id="{2282DCEF-3E60-05CE-84DA-A7E6DCD82003}"/>
              </a:ext>
            </a:extLst>
          </p:cNvPr>
          <p:cNvGrpSpPr/>
          <p:nvPr/>
        </p:nvGrpSpPr>
        <p:grpSpPr>
          <a:xfrm>
            <a:off x="7112643" y="4329220"/>
            <a:ext cx="4703879" cy="912877"/>
            <a:chOff x="3527298" y="2509627"/>
            <a:chExt cx="3423291" cy="912877"/>
          </a:xfrm>
        </p:grpSpPr>
        <p:sp>
          <p:nvSpPr>
            <p:cNvPr id="36" name="Shape 2">
              <a:extLst>
                <a:ext uri="{FF2B5EF4-FFF2-40B4-BE49-F238E27FC236}">
                  <a16:creationId xmlns:a16="http://schemas.microsoft.com/office/drawing/2014/main" id="{57BD5D40-041B-2E6D-A0E2-67B489122CEA}"/>
                </a:ext>
              </a:extLst>
            </p:cNvPr>
            <p:cNvSpPr/>
            <p:nvPr/>
          </p:nvSpPr>
          <p:spPr>
            <a:xfrm>
              <a:off x="3527298" y="2509627"/>
              <a:ext cx="3423291" cy="307028"/>
            </a:xfrm>
            <a:prstGeom prst="round2SameRect">
              <a:avLst>
                <a:gd name="adj1" fmla="val 32721"/>
                <a:gd name="adj2" fmla="val 0"/>
              </a:avLst>
            </a:prstGeom>
            <a:solidFill>
              <a:schemeClr val="accent2"/>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Landscape</a:t>
              </a:r>
            </a:p>
          </p:txBody>
        </p:sp>
        <p:sp>
          <p:nvSpPr>
            <p:cNvPr id="37" name="Shape 5">
              <a:extLst>
                <a:ext uri="{FF2B5EF4-FFF2-40B4-BE49-F238E27FC236}">
                  <a16:creationId xmlns:a16="http://schemas.microsoft.com/office/drawing/2014/main" id="{D2BBDD30-8C49-0EC0-D128-AC43A42CA440}"/>
                </a:ext>
              </a:extLst>
            </p:cNvPr>
            <p:cNvSpPr/>
            <p:nvPr/>
          </p:nvSpPr>
          <p:spPr>
            <a:xfrm rot="10800000">
              <a:off x="3527298" y="2816654"/>
              <a:ext cx="3423291" cy="605850"/>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grpSp>
        <p:nvGrpSpPr>
          <p:cNvPr id="38" name="Group 37">
            <a:extLst>
              <a:ext uri="{FF2B5EF4-FFF2-40B4-BE49-F238E27FC236}">
                <a16:creationId xmlns:a16="http://schemas.microsoft.com/office/drawing/2014/main" id="{2099B778-314D-DDD8-72DF-3EEF23836E16}"/>
              </a:ext>
            </a:extLst>
          </p:cNvPr>
          <p:cNvGrpSpPr/>
          <p:nvPr/>
        </p:nvGrpSpPr>
        <p:grpSpPr>
          <a:xfrm>
            <a:off x="7112643" y="5353699"/>
            <a:ext cx="4703879" cy="1214933"/>
            <a:chOff x="3527298" y="2509627"/>
            <a:chExt cx="3423291" cy="1214933"/>
          </a:xfrm>
        </p:grpSpPr>
        <p:sp>
          <p:nvSpPr>
            <p:cNvPr id="39" name="Shape 2">
              <a:extLst>
                <a:ext uri="{FF2B5EF4-FFF2-40B4-BE49-F238E27FC236}">
                  <a16:creationId xmlns:a16="http://schemas.microsoft.com/office/drawing/2014/main" id="{A09AA9C9-4307-84AB-5987-F4B209E22F1B}"/>
                </a:ext>
              </a:extLst>
            </p:cNvPr>
            <p:cNvSpPr/>
            <p:nvPr/>
          </p:nvSpPr>
          <p:spPr>
            <a:xfrm>
              <a:off x="3527298" y="2509627"/>
              <a:ext cx="3423291" cy="307028"/>
            </a:xfrm>
            <a:prstGeom prst="round2SameRect">
              <a:avLst>
                <a:gd name="adj1" fmla="val 32721"/>
                <a:gd name="adj2" fmla="val 0"/>
              </a:avLst>
            </a:prstGeom>
            <a:solidFill>
              <a:schemeClr val="accent4"/>
            </a:solidFill>
            <a:ln/>
          </p:spPr>
          <p:txBody>
            <a:bodyPr tIns="18288" bIns="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a:ln>
                    <a:noFill/>
                  </a:ln>
                  <a:solidFill>
                    <a:srgbClr val="000000"/>
                  </a:solidFill>
                  <a:effectLst/>
                  <a:uLnTx/>
                  <a:uFillTx/>
                  <a:latin typeface="Funnel Sans Medium" pitchFamily="2" charset="0"/>
                  <a:ea typeface="+mn-ea"/>
                  <a:cs typeface="+mn-cs"/>
                </a:rPr>
                <a:t>Sego’s Approach</a:t>
              </a:r>
            </a:p>
          </p:txBody>
        </p:sp>
        <p:sp>
          <p:nvSpPr>
            <p:cNvPr id="40" name="Shape 5">
              <a:extLst>
                <a:ext uri="{FF2B5EF4-FFF2-40B4-BE49-F238E27FC236}">
                  <a16:creationId xmlns:a16="http://schemas.microsoft.com/office/drawing/2014/main" id="{9C823F16-24D8-C1AE-F975-1325AE6E0F7B}"/>
                </a:ext>
              </a:extLst>
            </p:cNvPr>
            <p:cNvSpPr/>
            <p:nvPr/>
          </p:nvSpPr>
          <p:spPr>
            <a:xfrm rot="10800000">
              <a:off x="3527298" y="2816652"/>
              <a:ext cx="3423291" cy="907908"/>
            </a:xfrm>
            <a:prstGeom prst="round2SameRect">
              <a:avLst>
                <a:gd name="adj1" fmla="val 9436"/>
                <a:gd name="adj2" fmla="val 0"/>
              </a:avLst>
            </a:prstGeom>
            <a:solidFill>
              <a:srgbClr val="FFFFFF"/>
            </a:solidFill>
            <a:ln/>
          </p:spPr>
          <p:txBody>
            <a:bodyPr lIns="91440" tIns="45720" rIns="91440" bIns="4572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Funnel Sans"/>
                <a:ea typeface="+mn-ea"/>
                <a:cs typeface="+mn-cs"/>
              </a:endParaRPr>
            </a:p>
          </p:txBody>
        </p:sp>
      </p:grpSp>
      <p:cxnSp>
        <p:nvCxnSpPr>
          <p:cNvPr id="44" name="Straight Connector 43">
            <a:extLst>
              <a:ext uri="{FF2B5EF4-FFF2-40B4-BE49-F238E27FC236}">
                <a16:creationId xmlns:a16="http://schemas.microsoft.com/office/drawing/2014/main" id="{40A70BE9-B8C3-BAAE-D721-25032EEFFC13}"/>
              </a:ext>
            </a:extLst>
          </p:cNvPr>
          <p:cNvCxnSpPr>
            <a:cxnSpLocks/>
          </p:cNvCxnSpPr>
          <p:nvPr/>
        </p:nvCxnSpPr>
        <p:spPr>
          <a:xfrm>
            <a:off x="387627" y="5037893"/>
            <a:ext cx="4303114" cy="0"/>
          </a:xfrm>
          <a:prstGeom prst="line">
            <a:avLst/>
          </a:prstGeom>
          <a:ln w="9525">
            <a:solidFill>
              <a:schemeClr val="tx2"/>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768BEA34-344B-81F5-53AB-550C07348EB3}"/>
              </a:ext>
            </a:extLst>
          </p:cNvPr>
          <p:cNvSpPr txBox="1"/>
          <p:nvPr/>
        </p:nvSpPr>
        <p:spPr>
          <a:xfrm>
            <a:off x="494207" y="2487452"/>
            <a:ext cx="4196534" cy="5993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KLK2 is more homogeneously and consistently over expressed than PSMA</a:t>
            </a:r>
          </a:p>
        </p:txBody>
      </p:sp>
      <p:sp>
        <p:nvSpPr>
          <p:cNvPr id="57" name="TextBox 56">
            <a:extLst>
              <a:ext uri="{FF2B5EF4-FFF2-40B4-BE49-F238E27FC236}">
                <a16:creationId xmlns:a16="http://schemas.microsoft.com/office/drawing/2014/main" id="{4A0230A9-D73C-257E-0215-FFBDD66A1E4B}"/>
              </a:ext>
            </a:extLst>
          </p:cNvPr>
          <p:cNvSpPr txBox="1"/>
          <p:nvPr/>
        </p:nvSpPr>
        <p:spPr>
          <a:xfrm>
            <a:off x="510455" y="2932018"/>
            <a:ext cx="4180286" cy="943336"/>
          </a:xfrm>
          <a:prstGeom prst="rect">
            <a:avLst/>
          </a:prstGeom>
          <a:noFill/>
        </p:spPr>
        <p:txBody>
          <a:bodyPr wrap="square" lIns="0" tIns="0" rIns="0" bIns="0" rtlCol="0">
            <a:noAutofit/>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000000"/>
                </a:solidFill>
                <a:effectLst/>
                <a:uLnTx/>
                <a:uFillTx/>
                <a:latin typeface="Funnel Sans Light"/>
                <a:ea typeface="+mn-ea"/>
                <a:cs typeface="+mn-cs"/>
              </a:rPr>
              <a:t>Overexpressed in 85% prostate cancers overall</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000000"/>
                </a:solidFill>
                <a:effectLst/>
                <a:uLnTx/>
                <a:uFillTx/>
                <a:latin typeface="Funnel Sans Light"/>
                <a:ea typeface="+mn-ea"/>
                <a:cs typeface="+mn-cs"/>
              </a:rPr>
              <a:t>More homogenously expressed in LPC, </a:t>
            </a:r>
            <a:r>
              <a:rPr kumimoji="0" lang="en-US" sz="1100" b="0" i="0" u="none" strike="noStrike" kern="1200" cap="none" spc="0" normalizeH="0" baseline="0" noProof="0" err="1">
                <a:ln>
                  <a:noFill/>
                </a:ln>
                <a:solidFill>
                  <a:srgbClr val="000000"/>
                </a:solidFill>
                <a:effectLst/>
                <a:uLnTx/>
                <a:uFillTx/>
                <a:latin typeface="Funnel Sans Light"/>
                <a:ea typeface="+mn-ea"/>
                <a:cs typeface="+mn-cs"/>
              </a:rPr>
              <a:t>mHSPC</a:t>
            </a:r>
            <a:r>
              <a:rPr kumimoji="0" lang="en-US" sz="1100" b="0" i="0" u="none" strike="noStrike" kern="1200" cap="none" spc="0" normalizeH="0" baseline="0" noProof="0">
                <a:ln>
                  <a:noFill/>
                </a:ln>
                <a:solidFill>
                  <a:srgbClr val="000000"/>
                </a:solidFill>
                <a:effectLst/>
                <a:uLnTx/>
                <a:uFillTx/>
                <a:latin typeface="Funnel Sans Light"/>
                <a:ea typeface="+mn-ea"/>
                <a:cs typeface="+mn-cs"/>
              </a:rPr>
              <a:t> vs. PSMA</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000000"/>
                </a:solidFill>
                <a:effectLst/>
                <a:uLnTx/>
                <a:uFillTx/>
                <a:latin typeface="Funnel Sans Light"/>
                <a:ea typeface="+mn-ea"/>
                <a:cs typeface="+mn-cs"/>
              </a:rPr>
              <a:t>Maintained across stages &amp; metastases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000000"/>
                </a:solidFill>
                <a:effectLst/>
                <a:uLnTx/>
                <a:uFillTx/>
                <a:latin typeface="Funnel Sans Light"/>
                <a:ea typeface="+mn-ea"/>
                <a:cs typeface="+mn-cs"/>
              </a:rPr>
              <a:t>More frequently overexpressed in Bone, Lymph </a:t>
            </a:r>
            <a:r>
              <a:rPr kumimoji="0" lang="en-US" sz="1100" b="0" i="0" u="none" strike="noStrike" kern="1200" cap="none" spc="0" normalizeH="0" baseline="0" noProof="0" err="1">
                <a:ln>
                  <a:noFill/>
                </a:ln>
                <a:solidFill>
                  <a:srgbClr val="000000"/>
                </a:solidFill>
                <a:effectLst/>
                <a:uLnTx/>
                <a:uFillTx/>
                <a:latin typeface="Funnel Sans Light"/>
                <a:ea typeface="+mn-ea"/>
                <a:cs typeface="+mn-cs"/>
              </a:rPr>
              <a:t>mets</a:t>
            </a:r>
            <a:r>
              <a:rPr kumimoji="0" lang="en-US" sz="1100" b="0" i="0" u="none" strike="noStrike" kern="1200" cap="none" spc="0" normalizeH="0" baseline="0" noProof="0">
                <a:ln>
                  <a:noFill/>
                </a:ln>
                <a:solidFill>
                  <a:srgbClr val="000000"/>
                </a:solidFill>
                <a:effectLst/>
                <a:uLnTx/>
                <a:uFillTx/>
                <a:latin typeface="Funnel Sans Light"/>
                <a:ea typeface="+mn-ea"/>
                <a:cs typeface="+mn-cs"/>
              </a:rPr>
              <a:t> vs. PSMA</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kumimoji="0" lang="en-US" sz="1100" b="0" i="0" u="none" strike="noStrike" kern="1200" cap="none" spc="0" normalizeH="0" baseline="0" noProof="0">
              <a:ln>
                <a:noFill/>
              </a:ln>
              <a:solidFill>
                <a:srgbClr val="000000"/>
              </a:solidFill>
              <a:effectLst/>
              <a:uLnTx/>
              <a:uFillTx/>
              <a:latin typeface="Funnel Sans Light"/>
              <a:ea typeface="+mn-ea"/>
              <a:cs typeface="+mn-cs"/>
            </a:endParaRPr>
          </a:p>
        </p:txBody>
      </p:sp>
      <p:sp>
        <p:nvSpPr>
          <p:cNvPr id="59" name="TextBox 58">
            <a:extLst>
              <a:ext uri="{FF2B5EF4-FFF2-40B4-BE49-F238E27FC236}">
                <a16:creationId xmlns:a16="http://schemas.microsoft.com/office/drawing/2014/main" id="{0B3BC108-8E58-2906-3159-5C5AB7FA060F}"/>
              </a:ext>
            </a:extLst>
          </p:cNvPr>
          <p:cNvSpPr txBox="1"/>
          <p:nvPr/>
        </p:nvSpPr>
        <p:spPr>
          <a:xfrm>
            <a:off x="-3101" y="6666308"/>
            <a:ext cx="9637251"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Funnel Sans"/>
                <a:ea typeface="+mn-ea"/>
                <a:cs typeface="+mn-cs"/>
              </a:rPr>
              <a:t>Sources: </a:t>
            </a:r>
            <a:r>
              <a:rPr kumimoji="0" lang="en-US" sz="700" b="0" i="0" u="none" strike="noStrike" kern="1200" cap="none" spc="0" normalizeH="0" baseline="0" noProof="0">
                <a:ln>
                  <a:noFill/>
                </a:ln>
                <a:solidFill>
                  <a:srgbClr val="000000"/>
                </a:solidFill>
                <a:effectLst/>
                <a:uLnTx/>
                <a:uFillTx/>
                <a:latin typeface="Funnel Sans"/>
                <a:ea typeface="+mn-lt"/>
                <a:cs typeface="+mn-lt"/>
                <a:hlinkClick r:id="rId3"/>
              </a:rPr>
              <a:t>Pandit-Taskar et al. J Nucl Med. 2024 </a:t>
            </a:r>
            <a:r>
              <a:rPr kumimoji="0" lang="en-US" sz="700" b="0" i="0" u="none" strike="noStrike" kern="1200" cap="none" spc="0" normalizeH="0" baseline="0" noProof="0">
                <a:ln>
                  <a:noFill/>
                </a:ln>
                <a:solidFill>
                  <a:srgbClr val="000000"/>
                </a:solidFill>
                <a:effectLst/>
                <a:uLnTx/>
                <a:uFillTx/>
                <a:latin typeface="Funnel Sans"/>
                <a:ea typeface="+mn-lt"/>
                <a:cs typeface="+mn-lt"/>
              </a:rPr>
              <a:t>, </a:t>
            </a:r>
            <a:r>
              <a:rPr kumimoji="0" lang="en-US" sz="700" b="0" i="0" u="none" strike="noStrike" kern="1200" cap="none" spc="0" normalizeH="0" baseline="0" noProof="0">
                <a:ln>
                  <a:noFill/>
                </a:ln>
                <a:solidFill>
                  <a:srgbClr val="000000"/>
                </a:solidFill>
                <a:effectLst/>
                <a:uLnTx/>
                <a:uFillTx/>
                <a:latin typeface="Funnel Sans"/>
                <a:ea typeface="+mn-lt"/>
                <a:cs typeface="+mn-lt"/>
                <a:hlinkClick r:id="rId4"/>
              </a:rPr>
              <a:t>JNJ ASCO 2024 NCT04644770</a:t>
            </a:r>
            <a:r>
              <a:rPr kumimoji="0" lang="en-US" sz="700" b="0" i="0" u="none" strike="noStrike" kern="1200" cap="none" spc="0" normalizeH="0" baseline="0" noProof="0">
                <a:ln>
                  <a:noFill/>
                </a:ln>
                <a:solidFill>
                  <a:srgbClr val="000000"/>
                </a:solidFill>
                <a:effectLst/>
                <a:uLnTx/>
                <a:uFillTx/>
                <a:latin typeface="Funnel Sans"/>
                <a:ea typeface="+mn-lt"/>
                <a:cs typeface="+mn-lt"/>
              </a:rPr>
              <a:t>, </a:t>
            </a:r>
            <a:r>
              <a:rPr kumimoji="0" lang="en-US" sz="800" b="0" i="0" u="none" strike="noStrike" kern="1200" cap="none" spc="0" normalizeH="0" baseline="0" noProof="0">
                <a:ln>
                  <a:noFill/>
                </a:ln>
                <a:solidFill>
                  <a:srgbClr val="000000"/>
                </a:solidFill>
                <a:effectLst/>
                <a:uLnTx/>
                <a:uFillTx/>
                <a:latin typeface="Funnel Sans"/>
                <a:ea typeface="+mn-lt"/>
                <a:cs typeface="+mn-lt"/>
                <a:hlinkClick r:id="rId5"/>
              </a:rPr>
              <a:t>Shen et al, Clin. Cancer. Res 2025</a:t>
            </a:r>
            <a:endParaRPr kumimoji="0" lang="en-US" sz="700" b="0" i="0" u="none" strike="noStrike" kern="1200" cap="none" spc="0" normalizeH="0" baseline="0" noProof="0">
              <a:ln>
                <a:noFill/>
              </a:ln>
              <a:solidFill>
                <a:srgbClr val="000000"/>
              </a:solidFill>
              <a:effectLst/>
              <a:uLnTx/>
              <a:uFillTx/>
              <a:latin typeface="Funnel Sans"/>
              <a:ea typeface="+mn-lt"/>
              <a:cs typeface="+mn-lt"/>
            </a:endParaRPr>
          </a:p>
        </p:txBody>
      </p:sp>
      <p:sp>
        <p:nvSpPr>
          <p:cNvPr id="70" name="TextBox 69">
            <a:extLst>
              <a:ext uri="{FF2B5EF4-FFF2-40B4-BE49-F238E27FC236}">
                <a16:creationId xmlns:a16="http://schemas.microsoft.com/office/drawing/2014/main" id="{52FD7E12-4635-C0B1-B475-818EDE352DCB}"/>
              </a:ext>
            </a:extLst>
          </p:cNvPr>
          <p:cNvSpPr txBox="1"/>
          <p:nvPr/>
        </p:nvSpPr>
        <p:spPr>
          <a:xfrm>
            <a:off x="7243010" y="4733923"/>
            <a:ext cx="4524957" cy="542928"/>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One competing KLK2 RIT JNJ-6420, currently in Ph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mn-ea"/>
                <a:cs typeface="+mn-cs"/>
              </a:rPr>
              <a:t>Liability: Suffers from serious, modality based DLT (see left)</a:t>
            </a:r>
          </a:p>
        </p:txBody>
      </p:sp>
      <p:graphicFrame>
        <p:nvGraphicFramePr>
          <p:cNvPr id="72" name="Table 71">
            <a:extLst>
              <a:ext uri="{FF2B5EF4-FFF2-40B4-BE49-F238E27FC236}">
                <a16:creationId xmlns:a16="http://schemas.microsoft.com/office/drawing/2014/main" id="{F2B29A39-7AAE-0E72-252D-C6F687B27B4A}"/>
              </a:ext>
            </a:extLst>
          </p:cNvPr>
          <p:cNvGraphicFramePr>
            <a:graphicFrameLocks noGrp="1"/>
          </p:cNvGraphicFramePr>
          <p:nvPr/>
        </p:nvGraphicFramePr>
        <p:xfrm>
          <a:off x="7243010" y="2389242"/>
          <a:ext cx="4454782" cy="1736600"/>
        </p:xfrm>
        <a:graphic>
          <a:graphicData uri="http://schemas.openxmlformats.org/drawingml/2006/table">
            <a:tbl>
              <a:tblPr firstRow="1" bandRow="1">
                <a:tableStyleId>{2D5ABB26-0587-4C30-8999-92F81FD0307C}</a:tableStyleId>
              </a:tblPr>
              <a:tblGrid>
                <a:gridCol w="1289933">
                  <a:extLst>
                    <a:ext uri="{9D8B030D-6E8A-4147-A177-3AD203B41FA5}">
                      <a16:colId xmlns:a16="http://schemas.microsoft.com/office/drawing/2014/main" val="2342644943"/>
                    </a:ext>
                  </a:extLst>
                </a:gridCol>
                <a:gridCol w="398660">
                  <a:extLst>
                    <a:ext uri="{9D8B030D-6E8A-4147-A177-3AD203B41FA5}">
                      <a16:colId xmlns:a16="http://schemas.microsoft.com/office/drawing/2014/main" val="3754668722"/>
                    </a:ext>
                  </a:extLst>
                </a:gridCol>
                <a:gridCol w="2766189">
                  <a:extLst>
                    <a:ext uri="{9D8B030D-6E8A-4147-A177-3AD203B41FA5}">
                      <a16:colId xmlns:a16="http://schemas.microsoft.com/office/drawing/2014/main" val="1461637697"/>
                    </a:ext>
                  </a:extLst>
                </a:gridCol>
              </a:tblGrid>
              <a:tr h="482389">
                <a:tc>
                  <a:txBody>
                    <a:bodyPr/>
                    <a:lstStyle/>
                    <a:p>
                      <a:r>
                        <a:rPr lang="en-US" sz="1200" b="0">
                          <a:latin typeface="Funnel Sans Medium" pitchFamily="2" charset="0"/>
                        </a:rPr>
                        <a:t>Tumor-specific accessibility</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b="0"/>
                        <a:t>Tumor specific expression</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7577722"/>
                  </a:ext>
                </a:extLst>
              </a:tr>
              <a:tr h="482389">
                <a:tc>
                  <a:txBody>
                    <a:bodyPr/>
                    <a:lstStyle/>
                    <a:p>
                      <a:r>
                        <a:rPr lang="en-US" sz="1200" b="0">
                          <a:latin typeface="Funnel Sans Medium" pitchFamily="2" charset="0"/>
                        </a:rPr>
                        <a:t>Internalization</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x</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b="0"/>
                        <a:t>Select for peptides that induce internalization, similar to Abs</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63785566"/>
                  </a:ext>
                </a:extLst>
              </a:tr>
              <a:tr h="289433">
                <a:tc>
                  <a:txBody>
                    <a:bodyPr/>
                    <a:lstStyle/>
                    <a:p>
                      <a:r>
                        <a:rPr lang="en-US" sz="1200" b="0">
                          <a:latin typeface="Funnel Sans Medium" pitchFamily="2" charset="0"/>
                        </a:rPr>
                        <a:t>Secretion</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b="0"/>
                        <a:t>Secreted at very low levels</a:t>
                      </a:r>
                    </a:p>
                  </a:txBody>
                  <a:tcPr marL="45720" anchor="ctr">
                    <a:lnT w="3175" cap="flat" cmpd="sng" algn="ctr">
                      <a:solidFill>
                        <a:schemeClr val="tx2"/>
                      </a:solid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24988676"/>
                  </a:ext>
                </a:extLst>
              </a:tr>
              <a:tr h="482389">
                <a:tc>
                  <a:txBody>
                    <a:bodyPr/>
                    <a:lstStyle/>
                    <a:p>
                      <a:r>
                        <a:rPr lang="en-US" sz="1200" b="0" err="1">
                          <a:latin typeface="Funnel Sans Medium" pitchFamily="2" charset="0"/>
                        </a:rPr>
                        <a:t>Ligandability</a:t>
                      </a:r>
                      <a:endParaRPr lang="en-US" sz="1200" b="0">
                        <a:latin typeface="Funnel Sans Medium" pitchFamily="2" charset="0"/>
                      </a:endParaRP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t>✓</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r>
                        <a:rPr lang="en-US" sz="1200" b="0"/>
                        <a:t>Known active site &amp; small molecule ligands</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2277830281"/>
                  </a:ext>
                </a:extLst>
              </a:tr>
            </a:tbl>
          </a:graphicData>
        </a:graphic>
      </p:graphicFrame>
      <p:pic>
        <p:nvPicPr>
          <p:cNvPr id="5" name="Picture 4" descr="A close-up of a cell&#10;&#10;AI-generated content may be incorrect.">
            <a:extLst>
              <a:ext uri="{FF2B5EF4-FFF2-40B4-BE49-F238E27FC236}">
                <a16:creationId xmlns:a16="http://schemas.microsoft.com/office/drawing/2014/main" id="{FF2DED43-F5DE-E8F6-A8A2-AE1AE278E47E}"/>
              </a:ext>
            </a:extLst>
          </p:cNvPr>
          <p:cNvPicPr>
            <a:picLocks noChangeAspect="1"/>
          </p:cNvPicPr>
          <p:nvPr/>
        </p:nvPicPr>
        <p:blipFill>
          <a:blip r:embed="rId6"/>
          <a:srcRect l="-626" t="20192" r="372" b="-1442"/>
          <a:stretch>
            <a:fillRect/>
          </a:stretch>
        </p:blipFill>
        <p:spPr>
          <a:xfrm>
            <a:off x="411328" y="3788819"/>
            <a:ext cx="4060593" cy="1149085"/>
          </a:xfrm>
          <a:prstGeom prst="rect">
            <a:avLst/>
          </a:prstGeom>
        </p:spPr>
      </p:pic>
      <p:grpSp>
        <p:nvGrpSpPr>
          <p:cNvPr id="10" name="Group 9">
            <a:extLst>
              <a:ext uri="{FF2B5EF4-FFF2-40B4-BE49-F238E27FC236}">
                <a16:creationId xmlns:a16="http://schemas.microsoft.com/office/drawing/2014/main" id="{CEC334F8-049D-4EC0-0B29-6ABCFC5EA73A}"/>
              </a:ext>
            </a:extLst>
          </p:cNvPr>
          <p:cNvGrpSpPr/>
          <p:nvPr/>
        </p:nvGrpSpPr>
        <p:grpSpPr>
          <a:xfrm>
            <a:off x="4833703" y="2319132"/>
            <a:ext cx="1958197" cy="4181472"/>
            <a:chOff x="3324515" y="1555690"/>
            <a:chExt cx="2127335" cy="4231406"/>
          </a:xfrm>
        </p:grpSpPr>
        <p:pic>
          <p:nvPicPr>
            <p:cNvPr id="11" name="Picture 10" descr="A close-up of x-ray images&#10;&#10;AI-generated content may be incorrect.">
              <a:extLst>
                <a:ext uri="{FF2B5EF4-FFF2-40B4-BE49-F238E27FC236}">
                  <a16:creationId xmlns:a16="http://schemas.microsoft.com/office/drawing/2014/main" id="{63D46F79-425B-8057-6AEB-FEAF24CAE839}"/>
                </a:ext>
              </a:extLst>
            </p:cNvPr>
            <p:cNvPicPr>
              <a:picLocks noChangeAspect="1"/>
            </p:cNvPicPr>
            <p:nvPr/>
          </p:nvPicPr>
          <p:blipFill>
            <a:blip r:embed="rId7"/>
            <a:srcRect l="49969" t="614" r="26799" b="54915"/>
            <a:stretch>
              <a:fillRect/>
            </a:stretch>
          </p:blipFill>
          <p:spPr>
            <a:xfrm>
              <a:off x="3447794" y="1555690"/>
              <a:ext cx="1917030" cy="4126664"/>
            </a:xfrm>
            <a:prstGeom prst="rect">
              <a:avLst/>
            </a:prstGeom>
          </p:spPr>
        </p:pic>
        <p:grpSp>
          <p:nvGrpSpPr>
            <p:cNvPr id="12" name="Group 11">
              <a:extLst>
                <a:ext uri="{FF2B5EF4-FFF2-40B4-BE49-F238E27FC236}">
                  <a16:creationId xmlns:a16="http://schemas.microsoft.com/office/drawing/2014/main" id="{CF320983-5ACB-061B-EE6C-425DC1E0AAC0}"/>
                </a:ext>
              </a:extLst>
            </p:cNvPr>
            <p:cNvGrpSpPr/>
            <p:nvPr/>
          </p:nvGrpSpPr>
          <p:grpSpPr>
            <a:xfrm>
              <a:off x="3324515" y="3223097"/>
              <a:ext cx="2127335" cy="2563999"/>
              <a:chOff x="3324515" y="3223097"/>
              <a:chExt cx="2127335" cy="2563999"/>
            </a:xfrm>
          </p:grpSpPr>
          <p:sp>
            <p:nvSpPr>
              <p:cNvPr id="13" name="TextBox 12">
                <a:extLst>
                  <a:ext uri="{FF2B5EF4-FFF2-40B4-BE49-F238E27FC236}">
                    <a16:creationId xmlns:a16="http://schemas.microsoft.com/office/drawing/2014/main" id="{C5216A7F-FA47-490C-969C-661160E06B29}"/>
                  </a:ext>
                </a:extLst>
              </p:cNvPr>
              <p:cNvSpPr txBox="1"/>
              <p:nvPr/>
            </p:nvSpPr>
            <p:spPr>
              <a:xfrm>
                <a:off x="3563644" y="3223097"/>
                <a:ext cx="1649076" cy="2647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unnel Sans"/>
                    <a:ea typeface="Funnel Sans"/>
                    <a:cs typeface="+mn-cs"/>
                  </a:rPr>
                  <a:t>2mg</a:t>
                </a:r>
              </a:p>
            </p:txBody>
          </p:sp>
          <p:sp>
            <p:nvSpPr>
              <p:cNvPr id="14" name="TextBox 13">
                <a:extLst>
                  <a:ext uri="{FF2B5EF4-FFF2-40B4-BE49-F238E27FC236}">
                    <a16:creationId xmlns:a16="http://schemas.microsoft.com/office/drawing/2014/main" id="{B1134A36-9AEF-AA21-E264-04E024DDE5DA}"/>
                  </a:ext>
                </a:extLst>
              </p:cNvPr>
              <p:cNvSpPr txBox="1"/>
              <p:nvPr/>
            </p:nvSpPr>
            <p:spPr>
              <a:xfrm>
                <a:off x="3324515" y="5307045"/>
                <a:ext cx="2127335" cy="2647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Funnel Sans"/>
                    <a:ea typeface="Funnel Sans"/>
                    <a:cs typeface="+mn-cs"/>
                  </a:rPr>
                  <a:t>10mg</a:t>
                </a:r>
              </a:p>
            </p:txBody>
          </p:sp>
          <p:sp>
            <p:nvSpPr>
              <p:cNvPr id="15" name="TextBox 14">
                <a:extLst>
                  <a:ext uri="{FF2B5EF4-FFF2-40B4-BE49-F238E27FC236}">
                    <a16:creationId xmlns:a16="http://schemas.microsoft.com/office/drawing/2014/main" id="{51CCCBA4-0E08-7861-A748-6F851CDC2E5B}"/>
                  </a:ext>
                </a:extLst>
              </p:cNvPr>
              <p:cNvSpPr txBox="1"/>
              <p:nvPr/>
            </p:nvSpPr>
            <p:spPr>
              <a:xfrm>
                <a:off x="3447793" y="5539545"/>
                <a:ext cx="1037694" cy="247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nel Sans"/>
                    <a:ea typeface="Funnel Sans"/>
                    <a:cs typeface="+mn-cs"/>
                  </a:rPr>
                  <a:t>anterior</a:t>
                </a:r>
              </a:p>
            </p:txBody>
          </p:sp>
          <p:sp>
            <p:nvSpPr>
              <p:cNvPr id="16" name="TextBox 15">
                <a:extLst>
                  <a:ext uri="{FF2B5EF4-FFF2-40B4-BE49-F238E27FC236}">
                    <a16:creationId xmlns:a16="http://schemas.microsoft.com/office/drawing/2014/main" id="{89E55F2B-A835-25FD-DBC9-F3DF2E11B3BE}"/>
                  </a:ext>
                </a:extLst>
              </p:cNvPr>
              <p:cNvSpPr txBox="1"/>
              <p:nvPr/>
            </p:nvSpPr>
            <p:spPr>
              <a:xfrm>
                <a:off x="4365569" y="5539545"/>
                <a:ext cx="1037694" cy="247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Funnel Sans"/>
                    <a:ea typeface="Funnel Sans"/>
                    <a:cs typeface="+mn-cs"/>
                  </a:rPr>
                  <a:t>posterior</a:t>
                </a:r>
              </a:p>
            </p:txBody>
          </p:sp>
        </p:grpSp>
      </p:grpSp>
      <p:cxnSp>
        <p:nvCxnSpPr>
          <p:cNvPr id="17" name="Straight Arrow Connector 16">
            <a:extLst>
              <a:ext uri="{FF2B5EF4-FFF2-40B4-BE49-F238E27FC236}">
                <a16:creationId xmlns:a16="http://schemas.microsoft.com/office/drawing/2014/main" id="{1D67625E-CFB2-FA50-2BD0-711021CFBC91}"/>
              </a:ext>
            </a:extLst>
          </p:cNvPr>
          <p:cNvCxnSpPr>
            <a:cxnSpLocks/>
          </p:cNvCxnSpPr>
          <p:nvPr/>
        </p:nvCxnSpPr>
        <p:spPr>
          <a:xfrm>
            <a:off x="4886712" y="3671327"/>
            <a:ext cx="3829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7" name="Oval 26">
            <a:extLst>
              <a:ext uri="{FF2B5EF4-FFF2-40B4-BE49-F238E27FC236}">
                <a16:creationId xmlns:a16="http://schemas.microsoft.com/office/drawing/2014/main" id="{3198D031-8F5A-02AB-9AF6-D8DF363E37FD}"/>
              </a:ext>
            </a:extLst>
          </p:cNvPr>
          <p:cNvSpPr/>
          <p:nvPr/>
        </p:nvSpPr>
        <p:spPr>
          <a:xfrm>
            <a:off x="5286081" y="3538550"/>
            <a:ext cx="267548" cy="267548"/>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cxnSp>
        <p:nvCxnSpPr>
          <p:cNvPr id="76" name="Straight Arrow Connector 75">
            <a:extLst>
              <a:ext uri="{FF2B5EF4-FFF2-40B4-BE49-F238E27FC236}">
                <a16:creationId xmlns:a16="http://schemas.microsoft.com/office/drawing/2014/main" id="{FDA76049-5C6F-1A6F-E636-E7061ADD1E29}"/>
              </a:ext>
            </a:extLst>
          </p:cNvPr>
          <p:cNvCxnSpPr>
            <a:cxnSpLocks/>
          </p:cNvCxnSpPr>
          <p:nvPr/>
        </p:nvCxnSpPr>
        <p:spPr>
          <a:xfrm>
            <a:off x="4886712" y="5797417"/>
            <a:ext cx="3829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Oval 76">
            <a:extLst>
              <a:ext uri="{FF2B5EF4-FFF2-40B4-BE49-F238E27FC236}">
                <a16:creationId xmlns:a16="http://schemas.microsoft.com/office/drawing/2014/main" id="{EDEDF7C3-9D17-D711-BE7E-417716480B97}"/>
              </a:ext>
            </a:extLst>
          </p:cNvPr>
          <p:cNvSpPr/>
          <p:nvPr/>
        </p:nvSpPr>
        <p:spPr>
          <a:xfrm>
            <a:off x="5286081" y="5664640"/>
            <a:ext cx="267548" cy="267548"/>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85" name="Oval 84">
            <a:extLst>
              <a:ext uri="{FF2B5EF4-FFF2-40B4-BE49-F238E27FC236}">
                <a16:creationId xmlns:a16="http://schemas.microsoft.com/office/drawing/2014/main" id="{6F74E0C1-732E-2F5E-6275-A4B5753AFC73}"/>
              </a:ext>
            </a:extLst>
          </p:cNvPr>
          <p:cNvSpPr/>
          <p:nvPr/>
        </p:nvSpPr>
        <p:spPr>
          <a:xfrm>
            <a:off x="6139120" y="5664640"/>
            <a:ext cx="267548" cy="267548"/>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86" name="Oval 85">
            <a:extLst>
              <a:ext uri="{FF2B5EF4-FFF2-40B4-BE49-F238E27FC236}">
                <a16:creationId xmlns:a16="http://schemas.microsoft.com/office/drawing/2014/main" id="{43FC36D1-5E6B-5BC8-DF7D-10AF90CC426E}"/>
              </a:ext>
            </a:extLst>
          </p:cNvPr>
          <p:cNvSpPr/>
          <p:nvPr/>
        </p:nvSpPr>
        <p:spPr>
          <a:xfrm>
            <a:off x="6083936" y="3538550"/>
            <a:ext cx="267548" cy="267548"/>
          </a:xfrm>
          <a:prstGeom prst="ellipse">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89" name="TextBox 88">
            <a:extLst>
              <a:ext uri="{FF2B5EF4-FFF2-40B4-BE49-F238E27FC236}">
                <a16:creationId xmlns:a16="http://schemas.microsoft.com/office/drawing/2014/main" id="{1FB17132-5A22-A633-B43B-FC166044236D}"/>
              </a:ext>
            </a:extLst>
          </p:cNvPr>
          <p:cNvSpPr txBox="1"/>
          <p:nvPr/>
        </p:nvSpPr>
        <p:spPr>
          <a:xfrm>
            <a:off x="257177" y="5214714"/>
            <a:ext cx="4475534" cy="1154162"/>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30000" noProof="0">
                <a:ln>
                  <a:noFill/>
                </a:ln>
                <a:solidFill>
                  <a:srgbClr val="1B1B1B"/>
                </a:solidFill>
                <a:effectLst/>
                <a:uLnTx/>
                <a:uFillTx/>
                <a:latin typeface="Funnel Sans"/>
                <a:ea typeface="+mn-ea"/>
                <a:cs typeface="+mn-cs"/>
              </a:rPr>
              <a:t>111</a:t>
            </a:r>
            <a:r>
              <a:rPr kumimoji="0" lang="en-US" sz="1150" b="0" i="0" u="none" strike="noStrike" kern="1200" cap="none" spc="0" normalizeH="0" baseline="0" noProof="0">
                <a:ln>
                  <a:noFill/>
                </a:ln>
                <a:solidFill>
                  <a:srgbClr val="1B1B1B"/>
                </a:solidFill>
                <a:effectLst/>
                <a:uLnTx/>
                <a:uFillTx/>
                <a:latin typeface="Funnel Sans"/>
                <a:ea typeface="+mn-ea"/>
                <a:cs typeface="+mn-cs"/>
              </a:rPr>
              <a:t>In-DOTA-h11B6 antibody planar imaging showed tumor uptake with little target mediated uptake in healthy tissues</a:t>
            </a: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150" b="0" i="0" u="none" strike="noStrike" kern="1200" cap="none" spc="0" normalizeH="0" baseline="0" noProof="0">
              <a:ln>
                <a:noFill/>
              </a:ln>
              <a:solidFill>
                <a:srgbClr val="1B1B1B"/>
              </a:solidFill>
              <a:effectLst/>
              <a:uLnTx/>
              <a:uFillTx/>
              <a:latin typeface="Funnel Sans"/>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1B1B"/>
                </a:solidFill>
                <a:effectLst/>
                <a:uLnTx/>
                <a:uFillTx/>
                <a:latin typeface="Funnel Sans"/>
                <a:ea typeface="+mn-ea"/>
                <a:cs typeface="+mn-cs"/>
              </a:rPr>
              <a:t>However, JNJ reported 2 Grade 5 adverse events of ILD for </a:t>
            </a:r>
            <a:r>
              <a:rPr kumimoji="0" lang="en-US" sz="1150" b="0" i="0" u="none" strike="noStrike" kern="1200" cap="none" spc="0" normalizeH="0" baseline="30000" noProof="0">
                <a:ln>
                  <a:noFill/>
                </a:ln>
                <a:solidFill>
                  <a:srgbClr val="1B1B1B"/>
                </a:solidFill>
                <a:effectLst/>
                <a:uLnTx/>
                <a:uFillTx/>
                <a:latin typeface="Funnel Sans"/>
                <a:ea typeface="+mn-ea"/>
                <a:cs typeface="+mn-cs"/>
              </a:rPr>
              <a:t>225</a:t>
            </a:r>
            <a:r>
              <a:rPr kumimoji="0" lang="en-US" sz="1150" b="0" i="0" u="none" strike="noStrike" kern="1200" cap="none" spc="0" normalizeH="0" baseline="0" noProof="0">
                <a:ln>
                  <a:noFill/>
                </a:ln>
                <a:solidFill>
                  <a:srgbClr val="1B1B1B"/>
                </a:solidFill>
                <a:effectLst/>
                <a:uLnTx/>
                <a:uFillTx/>
                <a:latin typeface="Funnel Sans"/>
                <a:ea typeface="+mn-ea"/>
                <a:cs typeface="+mn-cs"/>
              </a:rPr>
              <a:t>Ac-DOTA-h11B6 RIT, likely due to </a:t>
            </a:r>
            <a:r>
              <a:rPr kumimoji="0" lang="en-US" sz="1150" b="0" i="0" u="none" strike="noStrike" kern="1200" cap="none" spc="0" normalizeH="0" baseline="0" noProof="0" err="1">
                <a:ln>
                  <a:noFill/>
                </a:ln>
                <a:solidFill>
                  <a:srgbClr val="1B1B1B"/>
                </a:solidFill>
                <a:effectLst/>
                <a:uLnTx/>
                <a:uFillTx/>
                <a:latin typeface="Funnel Sans"/>
                <a:ea typeface="+mn-ea"/>
                <a:cs typeface="+mn-cs"/>
              </a:rPr>
              <a:t>mAb</a:t>
            </a:r>
            <a:r>
              <a:rPr kumimoji="0" lang="en-US" sz="1150" b="0" i="0" u="none" strike="noStrike" kern="1200" cap="none" spc="0" normalizeH="0" baseline="0" noProof="0">
                <a:ln>
                  <a:noFill/>
                </a:ln>
                <a:solidFill>
                  <a:srgbClr val="1B1B1B"/>
                </a:solidFill>
                <a:effectLst/>
                <a:uLnTx/>
                <a:uFillTx/>
                <a:latin typeface="Funnel Sans"/>
                <a:ea typeface="+mn-ea"/>
                <a:cs typeface="+mn-cs"/>
              </a:rPr>
              <a:t> accumulation – not a liability for peptide RLT</a:t>
            </a:r>
            <a:endParaRPr kumimoji="0" lang="en-US" sz="1150" b="0" i="0" u="none" strike="noStrike" kern="1200" cap="none" spc="0" normalizeH="0" baseline="0" noProof="0">
              <a:ln>
                <a:noFill/>
              </a:ln>
              <a:solidFill>
                <a:srgbClr val="000000"/>
              </a:solidFill>
              <a:effectLst/>
              <a:uLnTx/>
              <a:uFillTx/>
              <a:latin typeface="Funnel Sans"/>
              <a:ea typeface="+mn-ea"/>
              <a:cs typeface="+mn-cs"/>
            </a:endParaRPr>
          </a:p>
        </p:txBody>
      </p:sp>
      <p:graphicFrame>
        <p:nvGraphicFramePr>
          <p:cNvPr id="95" name="Table 94">
            <a:extLst>
              <a:ext uri="{FF2B5EF4-FFF2-40B4-BE49-F238E27FC236}">
                <a16:creationId xmlns:a16="http://schemas.microsoft.com/office/drawing/2014/main" id="{DDDDBB28-FF13-E551-9384-24201D6238D9}"/>
              </a:ext>
            </a:extLst>
          </p:cNvPr>
          <p:cNvGraphicFramePr>
            <a:graphicFrameLocks noGrp="1"/>
          </p:cNvGraphicFramePr>
          <p:nvPr/>
        </p:nvGraphicFramePr>
        <p:xfrm>
          <a:off x="7188485" y="5681492"/>
          <a:ext cx="4552190" cy="840458"/>
        </p:xfrm>
        <a:graphic>
          <a:graphicData uri="http://schemas.openxmlformats.org/drawingml/2006/table">
            <a:tbl>
              <a:tblPr firstRow="1" bandRow="1">
                <a:tableStyleId>{2D5ABB26-0587-4C30-8999-92F81FD0307C}</a:tableStyleId>
              </a:tblPr>
              <a:tblGrid>
                <a:gridCol w="931273">
                  <a:extLst>
                    <a:ext uri="{9D8B030D-6E8A-4147-A177-3AD203B41FA5}">
                      <a16:colId xmlns:a16="http://schemas.microsoft.com/office/drawing/2014/main" val="2342644943"/>
                    </a:ext>
                  </a:extLst>
                </a:gridCol>
                <a:gridCol w="3620917">
                  <a:extLst>
                    <a:ext uri="{9D8B030D-6E8A-4147-A177-3AD203B41FA5}">
                      <a16:colId xmlns:a16="http://schemas.microsoft.com/office/drawing/2014/main" val="1461637697"/>
                    </a:ext>
                  </a:extLst>
                </a:gridCol>
              </a:tblGrid>
              <a:tr h="317973">
                <a:tc>
                  <a:txBody>
                    <a:bodyPr/>
                    <a:lstStyle/>
                    <a:p>
                      <a:r>
                        <a:rPr lang="en-US" sz="1200" b="0">
                          <a:latin typeface="Funnel Sans Medium" pitchFamily="2" charset="0"/>
                        </a:rPr>
                        <a:t>Modality</a:t>
                      </a:r>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tc>
                  <a:txBody>
                    <a:bodyPr/>
                    <a:lstStyle/>
                    <a:p>
                      <a:r>
                        <a:rPr lang="en-US" sz="1200"/>
                        <a:t>KLK2 targeted monomeric or bis-peptide RLT</a:t>
                      </a:r>
                      <a:endParaRPr lang="en-US" sz="1200" b="0"/>
                    </a:p>
                  </a:txBody>
                  <a:tcPr marL="45720" anchor="ctr">
                    <a:lnT w="3175" cap="flat" cmpd="sng" algn="ctr">
                      <a:noFill/>
                      <a:prstDash val="solid"/>
                      <a:round/>
                      <a:headEnd type="none" w="med" len="med"/>
                      <a:tailEnd type="none" w="med" len="med"/>
                    </a:lnT>
                    <a:lnB w="3175"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7577722"/>
                  </a:ext>
                </a:extLst>
              </a:tr>
              <a:tr h="522485">
                <a:tc>
                  <a:txBody>
                    <a:bodyPr/>
                    <a:lstStyle/>
                    <a:p>
                      <a:r>
                        <a:rPr lang="en-US" sz="1200" b="0">
                          <a:latin typeface="Funnel Sans Medium" pitchFamily="2" charset="0"/>
                        </a:rPr>
                        <a:t>Positioning</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r>
                        <a:rPr lang="en-US" sz="1200" b="0"/>
                        <a:t>Initial positioning in </a:t>
                      </a:r>
                      <a:r>
                        <a:rPr lang="en-US" sz="1200" b="0" err="1"/>
                        <a:t>mCPRC</a:t>
                      </a:r>
                      <a:r>
                        <a:rPr lang="en-US" sz="1200" b="0"/>
                        <a:t>, with intent to expand beyond late-stage patients</a:t>
                      </a:r>
                    </a:p>
                  </a:txBody>
                  <a:tcPr marL="45720" anchor="ctr">
                    <a:lnT w="3175" cap="flat" cmpd="sng" algn="ctr">
                      <a:solidFill>
                        <a:schemeClr val="tx2"/>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1663785566"/>
                  </a:ext>
                </a:extLst>
              </a:tr>
            </a:tbl>
          </a:graphicData>
        </a:graphic>
      </p:graphicFrame>
    </p:spTree>
    <p:extLst>
      <p:ext uri="{BB962C8B-B14F-4D97-AF65-F5344CB8AC3E}">
        <p14:creationId xmlns:p14="http://schemas.microsoft.com/office/powerpoint/2010/main" val="818800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849D0-FEB8-9D16-EF00-0F5BDCE16026}"/>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B1BD5C2B-54EF-AA99-1E60-632EC276E047}"/>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 name="Shape 1">
            <a:extLst>
              <a:ext uri="{FF2B5EF4-FFF2-40B4-BE49-F238E27FC236}">
                <a16:creationId xmlns:a16="http://schemas.microsoft.com/office/drawing/2014/main" id="{C4AC7AEF-C028-E61F-DFC7-967E4ACE5AE2}"/>
              </a:ext>
            </a:extLst>
          </p:cNvPr>
          <p:cNvSpPr/>
          <p:nvPr/>
        </p:nvSpPr>
        <p:spPr>
          <a:xfrm>
            <a:off x="254001" y="1475863"/>
            <a:ext cx="11338231"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5" name="Shape 19">
            <a:extLst>
              <a:ext uri="{FF2B5EF4-FFF2-40B4-BE49-F238E27FC236}">
                <a16:creationId xmlns:a16="http://schemas.microsoft.com/office/drawing/2014/main" id="{ABC62898-88B3-D2E7-3566-0C2319599CCF}"/>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6" name="Image 3" descr="preencoded.png">
            <a:extLst>
              <a:ext uri="{FF2B5EF4-FFF2-40B4-BE49-F238E27FC236}">
                <a16:creationId xmlns:a16="http://schemas.microsoft.com/office/drawing/2014/main" id="{F697F3AF-4DB2-D89C-E541-CF8B0007D91C}"/>
              </a:ext>
            </a:extLst>
          </p:cNvPr>
          <p:cNvPicPr>
            <a:picLocks noChangeAspect="1"/>
          </p:cNvPicPr>
          <p:nvPr/>
        </p:nvPicPr>
        <p:blipFill>
          <a:blip r:embed="rId3"/>
          <a:stretch>
            <a:fillRect/>
          </a:stretch>
        </p:blipFill>
        <p:spPr>
          <a:xfrm>
            <a:off x="323503" y="254000"/>
            <a:ext cx="156939" cy="191368"/>
          </a:xfrm>
          <a:prstGeom prst="rect">
            <a:avLst/>
          </a:prstGeom>
        </p:spPr>
      </p:pic>
      <p:pic>
        <p:nvPicPr>
          <p:cNvPr id="7" name="Image 4" descr="preencoded.png">
            <a:extLst>
              <a:ext uri="{FF2B5EF4-FFF2-40B4-BE49-F238E27FC236}">
                <a16:creationId xmlns:a16="http://schemas.microsoft.com/office/drawing/2014/main" id="{BD6824E2-E32C-DE1D-DE1A-E763D8A43F51}"/>
              </a:ext>
            </a:extLst>
          </p:cNvPr>
          <p:cNvPicPr>
            <a:picLocks noChangeAspect="1"/>
          </p:cNvPicPr>
          <p:nvPr/>
        </p:nvPicPr>
        <p:blipFill>
          <a:blip r:embed="rId4"/>
          <a:stretch>
            <a:fillRect/>
          </a:stretch>
        </p:blipFill>
        <p:spPr>
          <a:xfrm>
            <a:off x="387028" y="459541"/>
            <a:ext cx="968" cy="4"/>
          </a:xfrm>
          <a:prstGeom prst="rect">
            <a:avLst/>
          </a:prstGeom>
        </p:spPr>
      </p:pic>
      <p:pic>
        <p:nvPicPr>
          <p:cNvPr id="8" name="Image 5" descr="preencoded.png">
            <a:extLst>
              <a:ext uri="{FF2B5EF4-FFF2-40B4-BE49-F238E27FC236}">
                <a16:creationId xmlns:a16="http://schemas.microsoft.com/office/drawing/2014/main" id="{F2ACD1B7-557C-DB84-8279-C293D337BD74}"/>
              </a:ext>
            </a:extLst>
          </p:cNvPr>
          <p:cNvPicPr>
            <a:picLocks noChangeAspect="1"/>
          </p:cNvPicPr>
          <p:nvPr/>
        </p:nvPicPr>
        <p:blipFill>
          <a:blip r:embed="rId4"/>
          <a:stretch>
            <a:fillRect/>
          </a:stretch>
        </p:blipFill>
        <p:spPr>
          <a:xfrm>
            <a:off x="386756" y="459546"/>
            <a:ext cx="297" cy="4"/>
          </a:xfrm>
          <a:prstGeom prst="rect">
            <a:avLst/>
          </a:prstGeom>
        </p:spPr>
      </p:pic>
      <p:pic>
        <p:nvPicPr>
          <p:cNvPr id="9" name="Image 6" descr="preencoded.png">
            <a:extLst>
              <a:ext uri="{FF2B5EF4-FFF2-40B4-BE49-F238E27FC236}">
                <a16:creationId xmlns:a16="http://schemas.microsoft.com/office/drawing/2014/main" id="{AA35D88C-1E39-FC89-55FA-7A865D6B613C}"/>
              </a:ext>
            </a:extLst>
          </p:cNvPr>
          <p:cNvPicPr>
            <a:picLocks noChangeAspect="1"/>
          </p:cNvPicPr>
          <p:nvPr/>
        </p:nvPicPr>
        <p:blipFill>
          <a:blip r:embed="rId4"/>
          <a:stretch>
            <a:fillRect/>
          </a:stretch>
        </p:blipFill>
        <p:spPr>
          <a:xfrm>
            <a:off x="389261" y="473634"/>
            <a:ext cx="471" cy="4"/>
          </a:xfrm>
          <a:prstGeom prst="rect">
            <a:avLst/>
          </a:prstGeom>
        </p:spPr>
      </p:pic>
      <p:pic>
        <p:nvPicPr>
          <p:cNvPr id="10" name="Image 7" descr="preencoded.png">
            <a:extLst>
              <a:ext uri="{FF2B5EF4-FFF2-40B4-BE49-F238E27FC236}">
                <a16:creationId xmlns:a16="http://schemas.microsoft.com/office/drawing/2014/main" id="{15703EF6-DA40-84C3-B156-CCA9D40888E5}"/>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1" name="Image 8" descr="preencoded.png">
            <a:extLst>
              <a:ext uri="{FF2B5EF4-FFF2-40B4-BE49-F238E27FC236}">
                <a16:creationId xmlns:a16="http://schemas.microsoft.com/office/drawing/2014/main" id="{26D27C1F-0B0B-CFB2-8EEE-03E89162BE9D}"/>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2" name="Image 9" descr="preencoded.png">
            <a:extLst>
              <a:ext uri="{FF2B5EF4-FFF2-40B4-BE49-F238E27FC236}">
                <a16:creationId xmlns:a16="http://schemas.microsoft.com/office/drawing/2014/main" id="{CFB2688B-1933-AAF6-242C-4C30378AE947}"/>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3" name="Image 10" descr="preencoded.png">
            <a:extLst>
              <a:ext uri="{FF2B5EF4-FFF2-40B4-BE49-F238E27FC236}">
                <a16:creationId xmlns:a16="http://schemas.microsoft.com/office/drawing/2014/main" id="{1D80EF01-6598-4C5C-1D07-FC8DE4E59EDC}"/>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4" name="Image 11" descr="preencoded.png">
            <a:extLst>
              <a:ext uri="{FF2B5EF4-FFF2-40B4-BE49-F238E27FC236}">
                <a16:creationId xmlns:a16="http://schemas.microsoft.com/office/drawing/2014/main" id="{2BF41F1C-1641-CE49-56F3-5335F570ED37}"/>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5" name="Image 12" descr="preencoded.png">
            <a:extLst>
              <a:ext uri="{FF2B5EF4-FFF2-40B4-BE49-F238E27FC236}">
                <a16:creationId xmlns:a16="http://schemas.microsoft.com/office/drawing/2014/main" id="{D6F763F6-FE72-A23B-C02A-06859166842A}"/>
              </a:ext>
            </a:extLst>
          </p:cNvPr>
          <p:cNvPicPr>
            <a:picLocks noChangeAspect="1"/>
          </p:cNvPicPr>
          <p:nvPr/>
        </p:nvPicPr>
        <p:blipFill>
          <a:blip r:embed="rId10"/>
          <a:stretch>
            <a:fillRect/>
          </a:stretch>
        </p:blipFill>
        <p:spPr>
          <a:xfrm>
            <a:off x="254000" y="376361"/>
            <a:ext cx="174501" cy="157575"/>
          </a:xfrm>
          <a:prstGeom prst="rect">
            <a:avLst/>
          </a:prstGeom>
        </p:spPr>
      </p:pic>
      <p:sp>
        <p:nvSpPr>
          <p:cNvPr id="16" name="Text 28">
            <a:extLst>
              <a:ext uri="{FF2B5EF4-FFF2-40B4-BE49-F238E27FC236}">
                <a16:creationId xmlns:a16="http://schemas.microsoft.com/office/drawing/2014/main" id="{E9E7FBA5-3166-12E0-EEE4-32D01F574F0F}"/>
              </a:ext>
            </a:extLst>
          </p:cNvPr>
          <p:cNvSpPr/>
          <p:nvPr/>
        </p:nvSpPr>
        <p:spPr>
          <a:xfrm>
            <a:off x="254000" y="635564"/>
            <a:ext cx="11338231"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dirty="0">
                <a:ln>
                  <a:noFill/>
                </a:ln>
                <a:solidFill>
                  <a:srgbClr val="000000">
                    <a:alpha val="99000"/>
                  </a:srgbClr>
                </a:solidFill>
                <a:effectLst/>
                <a:uLnTx/>
                <a:uFillTx/>
                <a:latin typeface="Funnel Sans"/>
                <a:ea typeface="+mn-ea"/>
                <a:cs typeface="+mn-cs"/>
              </a:rPr>
              <a:t>Summary: </a:t>
            </a:r>
            <a:r>
              <a:rPr kumimoji="0" lang="en-US" sz="2400" b="0" i="0" u="none" strike="noStrike" kern="0" cap="none" spc="-24" normalizeH="0" baseline="0" noProof="0" dirty="0">
                <a:ln>
                  <a:noFill/>
                </a:ln>
                <a:solidFill>
                  <a:srgbClr val="000000">
                    <a:alpha val="99000"/>
                  </a:srgbClr>
                </a:solidFill>
                <a:effectLst/>
                <a:uLnTx/>
                <a:uFillTx/>
                <a:latin typeface="Funnel Sans"/>
                <a:ea typeface="+mn-lt"/>
                <a:cs typeface="+mn-lt"/>
              </a:rPr>
              <a:t>KLK2 is a highly-prostate specific &amp; commonly overexpressed target</a:t>
            </a:r>
            <a:endParaRPr kumimoji="0" lang="en-US" sz="2400" b="0" i="0" u="none" strike="noStrike" kern="1200" cap="none" spc="0" normalizeH="0" baseline="0" noProof="0" dirty="0">
              <a:ln>
                <a:noFill/>
              </a:ln>
              <a:solidFill>
                <a:prstClr val="black"/>
              </a:solidFill>
              <a:effectLst/>
              <a:uLnTx/>
              <a:uFillTx/>
              <a:latin typeface="Funnel Sans"/>
              <a:ea typeface="+mn-ea"/>
              <a:cs typeface="+mn-cs"/>
            </a:endParaRPr>
          </a:p>
        </p:txBody>
      </p:sp>
      <p:cxnSp>
        <p:nvCxnSpPr>
          <p:cNvPr id="2" name="Straight Connector 1">
            <a:extLst>
              <a:ext uri="{FF2B5EF4-FFF2-40B4-BE49-F238E27FC236}">
                <a16:creationId xmlns:a16="http://schemas.microsoft.com/office/drawing/2014/main" id="{BA666483-317F-C1D3-8796-52E790DC863F}"/>
              </a:ext>
            </a:extLst>
          </p:cNvPr>
          <p:cNvCxnSpPr>
            <a:cxnSpLocks/>
          </p:cNvCxnSpPr>
          <p:nvPr/>
        </p:nvCxnSpPr>
        <p:spPr>
          <a:xfrm>
            <a:off x="1424648" y="1932277"/>
            <a:ext cx="0" cy="556498"/>
          </a:xfrm>
          <a:prstGeom prst="line">
            <a:avLst/>
          </a:prstGeom>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2B1C0F89-F61F-C412-09C2-127E56B297E8}"/>
              </a:ext>
            </a:extLst>
          </p:cNvPr>
          <p:cNvSpPr txBox="1"/>
          <p:nvPr/>
        </p:nvSpPr>
        <p:spPr>
          <a:xfrm>
            <a:off x="191753" y="1906451"/>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Biology</a:t>
            </a:r>
          </a:p>
        </p:txBody>
      </p:sp>
      <p:sp>
        <p:nvSpPr>
          <p:cNvPr id="26" name="TextBox 25">
            <a:extLst>
              <a:ext uri="{FF2B5EF4-FFF2-40B4-BE49-F238E27FC236}">
                <a16:creationId xmlns:a16="http://schemas.microsoft.com/office/drawing/2014/main" id="{ADDC503F-63B0-2DC7-5DC4-4885057A2D09}"/>
              </a:ext>
            </a:extLst>
          </p:cNvPr>
          <p:cNvSpPr txBox="1"/>
          <p:nvPr/>
        </p:nvSpPr>
        <p:spPr>
          <a:xfrm>
            <a:off x="1473278" y="1823640"/>
            <a:ext cx="10194162" cy="3754874"/>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Funnel Sans"/>
                <a:ea typeface="+mn-lt"/>
                <a:cs typeface="+mn-lt"/>
              </a:rPr>
              <a:t>KLK2 (human kallikrein-2, hK2)</a:t>
            </a:r>
            <a:r>
              <a:rPr kumimoji="0" lang="en-US" sz="1400" b="0" i="0" u="none" strike="noStrike" kern="1200" cap="none" spc="0" normalizeH="0" baseline="0" noProof="0" dirty="0">
                <a:ln>
                  <a:noFill/>
                </a:ln>
                <a:solidFill>
                  <a:prstClr val="black"/>
                </a:solidFill>
                <a:effectLst/>
                <a:uLnTx/>
                <a:uFillTx/>
                <a:latin typeface="Funnel Sans"/>
                <a:ea typeface="+mn-lt"/>
                <a:cs typeface="+mn-lt"/>
              </a:rPr>
              <a:t> is an androgen-regulated serine protease closely related to PSA (KLK3) that activates pro-PSA and contributes to seminal fluid proteolysis. It exists as both a secreted enzyme and pro-hK2, detectable in serum and tumor tissue, and has recently been shown to be retained at the tumor cell surface, making it accessible as a therapeutic target.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Funnel Sans"/>
              <a:ea typeface="+mn-ea"/>
              <a:cs typeface="+mn-cs"/>
            </a:endParaRPr>
          </a:p>
          <a:p>
            <a:pPr>
              <a:defRPr/>
            </a:pPr>
            <a:r>
              <a:rPr kumimoji="0" lang="en-US" sz="1400" b="0" i="0" u="none" strike="noStrike" kern="1200" cap="none" spc="0" normalizeH="0" baseline="0" noProof="0" dirty="0">
                <a:ln>
                  <a:noFill/>
                </a:ln>
                <a:solidFill>
                  <a:prstClr val="black"/>
                </a:solidFill>
                <a:effectLst/>
                <a:uLnTx/>
                <a:uFillTx/>
                <a:latin typeface="Funnel Sans"/>
                <a:ea typeface="+mn-lt"/>
                <a:cs typeface="+mn-lt"/>
              </a:rPr>
              <a:t>Highly prostate-specific and overexpressed in ~85% of prostate cancers, with lower normal-tissue expression than PSMA and minimal relevance of normal prostate expression following standard therapy. Expression of KLK2 is maintained across disease stages (LPC, </a:t>
            </a:r>
            <a:r>
              <a:rPr kumimoji="0" lang="en-US" sz="1400" b="0" i="0" u="none" strike="noStrike" kern="1200" cap="none" spc="0" normalizeH="0" baseline="0" noProof="0" dirty="0" err="1">
                <a:ln>
                  <a:noFill/>
                </a:ln>
                <a:solidFill>
                  <a:prstClr val="black"/>
                </a:solidFill>
                <a:effectLst/>
                <a:uLnTx/>
                <a:uFillTx/>
                <a:latin typeface="Funnel Sans"/>
                <a:ea typeface="+mn-lt"/>
                <a:cs typeface="+mn-lt"/>
              </a:rPr>
              <a:t>mCSPC</a:t>
            </a:r>
            <a:r>
              <a:rPr kumimoji="0" lang="en-US" sz="1400" b="0" i="0" u="none" strike="noStrike" kern="1200" cap="none" spc="0" normalizeH="0" baseline="0" noProof="0" dirty="0">
                <a:ln>
                  <a:noFill/>
                </a:ln>
                <a:solidFill>
                  <a:prstClr val="black"/>
                </a:solidFill>
                <a:effectLst/>
                <a:uLnTx/>
                <a:uFillTx/>
                <a:latin typeface="Funnel Sans"/>
                <a:ea typeface="+mn-lt"/>
                <a:cs typeface="+mn-lt"/>
              </a:rPr>
              <a:t>, </a:t>
            </a:r>
            <a:r>
              <a:rPr kumimoji="0" lang="en-US" sz="1400" b="0" i="0" u="none" strike="noStrike" kern="1200" cap="none" spc="0" normalizeH="0" baseline="0" noProof="0" dirty="0" err="1">
                <a:ln>
                  <a:noFill/>
                </a:ln>
                <a:solidFill>
                  <a:prstClr val="black"/>
                </a:solidFill>
                <a:effectLst/>
                <a:uLnTx/>
                <a:uFillTx/>
                <a:latin typeface="Funnel Sans"/>
                <a:ea typeface="+mn-lt"/>
                <a:cs typeface="+mn-lt"/>
              </a:rPr>
              <a:t>mCRPC</a:t>
            </a:r>
            <a:r>
              <a:rPr kumimoji="0" lang="en-US" sz="1400" b="0" i="0" u="none" strike="noStrike" kern="1200" cap="none" spc="0" normalizeH="0" baseline="0" noProof="0" dirty="0">
                <a:ln>
                  <a:noFill/>
                </a:ln>
                <a:solidFill>
                  <a:prstClr val="black"/>
                </a:solidFill>
                <a:effectLst/>
                <a:uLnTx/>
                <a:uFillTx/>
                <a:latin typeface="Funnel Sans"/>
                <a:ea typeface="+mn-lt"/>
                <a:cs typeface="+mn-lt"/>
              </a:rPr>
              <a:t>) and in metastases. Importantly, KLK2 increases with AR reactivation, while PSMA often declines, positioning KLK2 as a compelling target in </a:t>
            </a:r>
            <a:r>
              <a:rPr lang="en-US" sz="1400" dirty="0">
                <a:solidFill>
                  <a:prstClr val="black"/>
                </a:solidFill>
                <a:latin typeface="Funnel Sans"/>
                <a:ea typeface="+mn-lt"/>
                <a:cs typeface="+mn-lt"/>
              </a:rPr>
              <a:t>PSMA-negative, resistant</a:t>
            </a:r>
            <a:r>
              <a:rPr kumimoji="0" lang="en-US" sz="1400" b="0" i="0" u="none" strike="noStrike" kern="1200" cap="none" spc="0" normalizeH="0" baseline="0" noProof="0" dirty="0">
                <a:ln>
                  <a:noFill/>
                </a:ln>
                <a:solidFill>
                  <a:prstClr val="black"/>
                </a:solidFill>
                <a:effectLst/>
                <a:uLnTx/>
                <a:uFillTx/>
                <a:latin typeface="Funnel Sans"/>
                <a:ea typeface="+mn-lt"/>
                <a:cs typeface="+mn-lt"/>
              </a:rPr>
              <a:t> disease and beyond.</a:t>
            </a:r>
            <a:endParaRPr kumimoji="0" lang="en-US" sz="1400" b="0" i="0" u="none" strike="noStrike" kern="1200" cap="none" spc="0" normalizeH="0" baseline="0" noProof="0" dirty="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Funnel Sans"/>
                <a:ea typeface="+mn-lt"/>
                <a:cs typeface="+mn-lt"/>
              </a:rPr>
              <a:t>KLK2 has been clinically validated through antibody-based RLT and bispecific antibody programs, confirming target accessibility. However, antibody formats show limitations in therapeutic window, creating an opportunity for peptide-based RLT with improved tumor uptake, dosimetry and safety profile</a:t>
            </a:r>
            <a:endParaRPr kumimoji="0" lang="en-US" sz="1800" b="0" i="0" u="none" strike="noStrike" kern="1200" cap="none" spc="0" normalizeH="0" baseline="0" noProof="0" dirty="0">
              <a:ln>
                <a:noFill/>
              </a:ln>
              <a:solidFill>
                <a:prstClr val="black"/>
              </a:solidFill>
              <a:effectLst/>
              <a:uLnTx/>
              <a:uFillTx/>
              <a:latin typeface="Funnel Sans"/>
              <a:ea typeface="+mn-lt"/>
              <a:cs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Funnel Sans"/>
              <a:ea typeface="+mn-lt"/>
              <a:cs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lt"/>
                <a:cs typeface="+mn-lt"/>
              </a:rPr>
              <a:t>With ~40–50% of </a:t>
            </a:r>
            <a:r>
              <a:rPr kumimoji="0" lang="en-US" sz="1400" b="0" i="0" u="none" strike="noStrike" kern="1200" cap="none" spc="0" normalizeH="0" baseline="0" noProof="0" err="1">
                <a:ln>
                  <a:noFill/>
                </a:ln>
                <a:solidFill>
                  <a:prstClr val="black"/>
                </a:solidFill>
                <a:effectLst/>
                <a:uLnTx/>
                <a:uFillTx/>
                <a:latin typeface="Funnel Sans"/>
                <a:ea typeface="+mn-lt"/>
                <a:cs typeface="+mn-lt"/>
              </a:rPr>
              <a:t>mCRPC</a:t>
            </a:r>
            <a:r>
              <a:rPr kumimoji="0" lang="en-US" sz="1400" b="0" i="0" u="none" strike="noStrike" kern="1200" cap="none" spc="0" normalizeH="0" baseline="0" noProof="0">
                <a:ln>
                  <a:noFill/>
                </a:ln>
                <a:solidFill>
                  <a:prstClr val="black"/>
                </a:solidFill>
                <a:effectLst/>
                <a:uLnTx/>
                <a:uFillTx/>
                <a:latin typeface="Funnel Sans"/>
                <a:ea typeface="+mn-lt"/>
                <a:cs typeface="+mn-lt"/>
              </a:rPr>
              <a:t> patients failing or ineligible for PSMA-RLT, there is a clear unmet need. Current competition includes a Phase 1 antibody-RLT with dose-limiting toxicities and a KLK2×CD3 bispecific in Phase 3, leaving a differentiated opportunity for a peptide-based KLK2 RLT to expand beyond the ~$2B PSMA-RLT market.</a:t>
            </a:r>
            <a:endParaRPr kumimoji="0" lang="en-US" sz="1800" b="0" i="0" u="none" strike="noStrike" kern="1200" cap="none" spc="0" normalizeH="0" baseline="0" noProof="0">
              <a:ln>
                <a:noFill/>
              </a:ln>
              <a:solidFill>
                <a:prstClr val="black"/>
              </a:solidFill>
              <a:effectLst/>
              <a:uLnTx/>
              <a:uFillTx/>
              <a:latin typeface="Funnel Sans"/>
              <a:ea typeface="+mn-lt"/>
              <a:cs typeface="+mn-lt"/>
            </a:endParaRPr>
          </a:p>
        </p:txBody>
      </p:sp>
      <p:cxnSp>
        <p:nvCxnSpPr>
          <p:cNvPr id="33" name="Straight Connector 32">
            <a:extLst>
              <a:ext uri="{FF2B5EF4-FFF2-40B4-BE49-F238E27FC236}">
                <a16:creationId xmlns:a16="http://schemas.microsoft.com/office/drawing/2014/main" id="{5CEB9ACA-A0B1-F3EA-B47D-23B5827C0CDB}"/>
              </a:ext>
            </a:extLst>
          </p:cNvPr>
          <p:cNvCxnSpPr>
            <a:cxnSpLocks/>
          </p:cNvCxnSpPr>
          <p:nvPr/>
        </p:nvCxnSpPr>
        <p:spPr>
          <a:xfrm>
            <a:off x="1431540" y="2789800"/>
            <a:ext cx="0" cy="702250"/>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27E96B7E-EE56-942A-0CB4-349283A95976}"/>
              </a:ext>
            </a:extLst>
          </p:cNvPr>
          <p:cNvSpPr txBox="1"/>
          <p:nvPr/>
        </p:nvSpPr>
        <p:spPr>
          <a:xfrm>
            <a:off x="253351" y="2757010"/>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Expression</a:t>
            </a:r>
          </a:p>
        </p:txBody>
      </p:sp>
      <p:cxnSp>
        <p:nvCxnSpPr>
          <p:cNvPr id="35" name="Straight Connector 34">
            <a:extLst>
              <a:ext uri="{FF2B5EF4-FFF2-40B4-BE49-F238E27FC236}">
                <a16:creationId xmlns:a16="http://schemas.microsoft.com/office/drawing/2014/main" id="{FA7B38C1-95C3-25B5-4C14-0CF7E4BC4C6C}"/>
              </a:ext>
            </a:extLst>
          </p:cNvPr>
          <p:cNvCxnSpPr>
            <a:cxnSpLocks/>
          </p:cNvCxnSpPr>
          <p:nvPr/>
        </p:nvCxnSpPr>
        <p:spPr>
          <a:xfrm>
            <a:off x="1412433" y="3833558"/>
            <a:ext cx="0" cy="545017"/>
          </a:xfrm>
          <a:prstGeom prst="line">
            <a:avLst/>
          </a:prstGeom>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8CD3010E-21FD-3342-1B7E-9EE88642B18A}"/>
              </a:ext>
            </a:extLst>
          </p:cNvPr>
          <p:cNvSpPr txBox="1"/>
          <p:nvPr/>
        </p:nvSpPr>
        <p:spPr>
          <a:xfrm>
            <a:off x="228136" y="4619381"/>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Landscape</a:t>
            </a:r>
          </a:p>
        </p:txBody>
      </p:sp>
      <p:cxnSp>
        <p:nvCxnSpPr>
          <p:cNvPr id="37" name="Straight Connector 36">
            <a:extLst>
              <a:ext uri="{FF2B5EF4-FFF2-40B4-BE49-F238E27FC236}">
                <a16:creationId xmlns:a16="http://schemas.microsoft.com/office/drawing/2014/main" id="{9A30251D-60C1-85E3-5B82-1824A73CA7E1}"/>
              </a:ext>
            </a:extLst>
          </p:cNvPr>
          <p:cNvCxnSpPr>
            <a:cxnSpLocks/>
          </p:cNvCxnSpPr>
          <p:nvPr/>
        </p:nvCxnSpPr>
        <p:spPr>
          <a:xfrm>
            <a:off x="1412433" y="4654675"/>
            <a:ext cx="0" cy="640080"/>
          </a:xfrm>
          <a:prstGeom prst="line">
            <a:avLst/>
          </a:prstGeom>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E6526224-4834-DCC7-E388-DC8CE4F2B867}"/>
              </a:ext>
            </a:extLst>
          </p:cNvPr>
          <p:cNvSpPr txBox="1"/>
          <p:nvPr/>
        </p:nvSpPr>
        <p:spPr>
          <a:xfrm>
            <a:off x="187685" y="3811743"/>
            <a:ext cx="1105631" cy="304800"/>
          </a:xfrm>
          <a:prstGeom prst="rect">
            <a:avLst/>
          </a:prstGeom>
          <a:noFill/>
        </p:spPr>
        <p:txBody>
          <a:bodyPr wrap="square" rtlCol="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Funnel Sans"/>
                <a:ea typeface="+mn-ea"/>
                <a:cs typeface="+mn-cs"/>
              </a:rPr>
              <a:t>Feasibility</a:t>
            </a:r>
          </a:p>
        </p:txBody>
      </p:sp>
      <p:sp>
        <p:nvSpPr>
          <p:cNvPr id="40" name="Rectangle: Rounded Corners 39">
            <a:extLst>
              <a:ext uri="{FF2B5EF4-FFF2-40B4-BE49-F238E27FC236}">
                <a16:creationId xmlns:a16="http://schemas.microsoft.com/office/drawing/2014/main" id="{5C579F39-5994-50D7-869A-09576E9A0B8D}"/>
              </a:ext>
            </a:extLst>
          </p:cNvPr>
          <p:cNvSpPr/>
          <p:nvPr/>
        </p:nvSpPr>
        <p:spPr>
          <a:xfrm>
            <a:off x="637272" y="5883682"/>
            <a:ext cx="11124093" cy="665313"/>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41" name="Rectangle: Rounded Corners 40">
            <a:extLst>
              <a:ext uri="{FF2B5EF4-FFF2-40B4-BE49-F238E27FC236}">
                <a16:creationId xmlns:a16="http://schemas.microsoft.com/office/drawing/2014/main" id="{203B7584-6BE0-B49F-98FC-4992B8DB1AC5}"/>
              </a:ext>
            </a:extLst>
          </p:cNvPr>
          <p:cNvSpPr/>
          <p:nvPr/>
        </p:nvSpPr>
        <p:spPr>
          <a:xfrm>
            <a:off x="399316" y="5875496"/>
            <a:ext cx="1945303" cy="665313"/>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white"/>
                </a:solidFill>
                <a:effectLst/>
                <a:uLnTx/>
                <a:uFillTx/>
                <a:latin typeface="Funnel Sans"/>
                <a:ea typeface="+mn-ea"/>
                <a:cs typeface="+mn-cs"/>
              </a:rPr>
              <a:t>Sego’s Opportunity</a:t>
            </a:r>
          </a:p>
        </p:txBody>
      </p:sp>
      <p:sp>
        <p:nvSpPr>
          <p:cNvPr id="42" name="TextBox 41">
            <a:extLst>
              <a:ext uri="{FF2B5EF4-FFF2-40B4-BE49-F238E27FC236}">
                <a16:creationId xmlns:a16="http://schemas.microsoft.com/office/drawing/2014/main" id="{0D3D3D40-1B52-DEB6-6AF9-CDF8A6736DE7}"/>
              </a:ext>
            </a:extLst>
          </p:cNvPr>
          <p:cNvSpPr txBox="1"/>
          <p:nvPr/>
        </p:nvSpPr>
        <p:spPr>
          <a:xfrm>
            <a:off x="2367088" y="5954728"/>
            <a:ext cx="9481377" cy="523220"/>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Design a Best in Class, peptide-based RLT that has stronger efficacy against KLK2, a target that is consistently &amp; selectively overexpressed in majority of </a:t>
            </a:r>
            <a:r>
              <a:rPr kumimoji="0" lang="en-US" sz="1400" b="0" i="0" u="none" strike="noStrike" kern="1200" cap="none" spc="0" normalizeH="0" baseline="0" noProof="0" err="1">
                <a:ln>
                  <a:noFill/>
                </a:ln>
                <a:solidFill>
                  <a:prstClr val="black"/>
                </a:solidFill>
                <a:effectLst/>
                <a:uLnTx/>
                <a:uFillTx/>
                <a:latin typeface="Funnel Sans"/>
                <a:ea typeface="+mn-ea"/>
                <a:cs typeface="+mn-cs"/>
              </a:rPr>
              <a:t>PCa</a:t>
            </a:r>
            <a:endParaRPr kumimoji="0" lang="en-US" sz="1400" b="0" i="0" u="none" strike="noStrike" kern="1200" cap="none" spc="0" normalizeH="0" baseline="0" noProof="0">
              <a:ln>
                <a:noFill/>
              </a:ln>
              <a:solidFill>
                <a:prstClr val="black"/>
              </a:solidFill>
              <a:effectLst/>
              <a:uLnTx/>
              <a:uFillTx/>
              <a:latin typeface="Funnel Sans"/>
              <a:ea typeface="+mn-ea"/>
              <a:cs typeface="+mn-cs"/>
            </a:endParaRPr>
          </a:p>
        </p:txBody>
      </p:sp>
      <p:sp>
        <p:nvSpPr>
          <p:cNvPr id="18" name="TextBox 17">
            <a:extLst>
              <a:ext uri="{FF2B5EF4-FFF2-40B4-BE49-F238E27FC236}">
                <a16:creationId xmlns:a16="http://schemas.microsoft.com/office/drawing/2014/main" id="{857CAF0C-722B-731D-FCE4-DCA723E74559}"/>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567022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FBB93-DB3D-B0A0-AB88-83581F44DA2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B6F6901-519E-BD60-9676-26E7EC8E0261}"/>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9" name="Shape 0">
            <a:extLst>
              <a:ext uri="{FF2B5EF4-FFF2-40B4-BE49-F238E27FC236}">
                <a16:creationId xmlns:a16="http://schemas.microsoft.com/office/drawing/2014/main" id="{006FF41F-4EB3-11FD-703D-B8F19C719D48}"/>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10" name="Shape 19">
            <a:extLst>
              <a:ext uri="{FF2B5EF4-FFF2-40B4-BE49-F238E27FC236}">
                <a16:creationId xmlns:a16="http://schemas.microsoft.com/office/drawing/2014/main" id="{9104E67B-6147-2FC4-4B60-CDE5A0FC490C}"/>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11" name="Image 3" descr="preencoded.png">
            <a:extLst>
              <a:ext uri="{FF2B5EF4-FFF2-40B4-BE49-F238E27FC236}">
                <a16:creationId xmlns:a16="http://schemas.microsoft.com/office/drawing/2014/main" id="{7ABC4C84-C733-7FCB-0A30-E6BFEAB08CBC}"/>
              </a:ext>
            </a:extLst>
          </p:cNvPr>
          <p:cNvPicPr>
            <a:picLocks noChangeAspect="1"/>
          </p:cNvPicPr>
          <p:nvPr/>
        </p:nvPicPr>
        <p:blipFill>
          <a:blip r:embed="rId2"/>
          <a:stretch>
            <a:fillRect/>
          </a:stretch>
        </p:blipFill>
        <p:spPr>
          <a:xfrm>
            <a:off x="323503" y="254000"/>
            <a:ext cx="156939" cy="191368"/>
          </a:xfrm>
          <a:prstGeom prst="rect">
            <a:avLst/>
          </a:prstGeom>
        </p:spPr>
      </p:pic>
      <p:pic>
        <p:nvPicPr>
          <p:cNvPr id="12" name="Image 4" descr="preencoded.png">
            <a:extLst>
              <a:ext uri="{FF2B5EF4-FFF2-40B4-BE49-F238E27FC236}">
                <a16:creationId xmlns:a16="http://schemas.microsoft.com/office/drawing/2014/main" id="{33F49206-7182-1A76-3CB6-D5C19FEB3784}"/>
              </a:ext>
            </a:extLst>
          </p:cNvPr>
          <p:cNvPicPr>
            <a:picLocks noChangeAspect="1"/>
          </p:cNvPicPr>
          <p:nvPr/>
        </p:nvPicPr>
        <p:blipFill>
          <a:blip r:embed="rId3"/>
          <a:stretch>
            <a:fillRect/>
          </a:stretch>
        </p:blipFill>
        <p:spPr>
          <a:xfrm>
            <a:off x="387028" y="459541"/>
            <a:ext cx="968" cy="4"/>
          </a:xfrm>
          <a:prstGeom prst="rect">
            <a:avLst/>
          </a:prstGeom>
        </p:spPr>
      </p:pic>
      <p:pic>
        <p:nvPicPr>
          <p:cNvPr id="13" name="Image 5" descr="preencoded.png">
            <a:extLst>
              <a:ext uri="{FF2B5EF4-FFF2-40B4-BE49-F238E27FC236}">
                <a16:creationId xmlns:a16="http://schemas.microsoft.com/office/drawing/2014/main" id="{43D140C8-822A-79B1-60FB-908B04DD6E50}"/>
              </a:ext>
            </a:extLst>
          </p:cNvPr>
          <p:cNvPicPr>
            <a:picLocks noChangeAspect="1"/>
          </p:cNvPicPr>
          <p:nvPr/>
        </p:nvPicPr>
        <p:blipFill>
          <a:blip r:embed="rId3"/>
          <a:stretch>
            <a:fillRect/>
          </a:stretch>
        </p:blipFill>
        <p:spPr>
          <a:xfrm>
            <a:off x="386756" y="459546"/>
            <a:ext cx="297" cy="4"/>
          </a:xfrm>
          <a:prstGeom prst="rect">
            <a:avLst/>
          </a:prstGeom>
        </p:spPr>
      </p:pic>
      <p:pic>
        <p:nvPicPr>
          <p:cNvPr id="14" name="Image 6" descr="preencoded.png">
            <a:extLst>
              <a:ext uri="{FF2B5EF4-FFF2-40B4-BE49-F238E27FC236}">
                <a16:creationId xmlns:a16="http://schemas.microsoft.com/office/drawing/2014/main" id="{B79FDBAC-AEAF-67B2-EAB4-BFB7C02870C6}"/>
              </a:ext>
            </a:extLst>
          </p:cNvPr>
          <p:cNvPicPr>
            <a:picLocks noChangeAspect="1"/>
          </p:cNvPicPr>
          <p:nvPr/>
        </p:nvPicPr>
        <p:blipFill>
          <a:blip r:embed="rId3"/>
          <a:stretch>
            <a:fillRect/>
          </a:stretch>
        </p:blipFill>
        <p:spPr>
          <a:xfrm>
            <a:off x="389261" y="473634"/>
            <a:ext cx="471" cy="4"/>
          </a:xfrm>
          <a:prstGeom prst="rect">
            <a:avLst/>
          </a:prstGeom>
        </p:spPr>
      </p:pic>
      <p:pic>
        <p:nvPicPr>
          <p:cNvPr id="15" name="Image 7" descr="preencoded.png">
            <a:extLst>
              <a:ext uri="{FF2B5EF4-FFF2-40B4-BE49-F238E27FC236}">
                <a16:creationId xmlns:a16="http://schemas.microsoft.com/office/drawing/2014/main" id="{C67A2546-F519-9B53-871A-ED295E98FAD1}"/>
              </a:ext>
            </a:extLst>
          </p:cNvPr>
          <p:cNvPicPr>
            <a:picLocks noChangeAspect="1"/>
          </p:cNvPicPr>
          <p:nvPr/>
        </p:nvPicPr>
        <p:blipFill>
          <a:blip r:embed="rId4"/>
          <a:stretch>
            <a:fillRect/>
          </a:stretch>
        </p:blipFill>
        <p:spPr>
          <a:xfrm>
            <a:off x="600300" y="305277"/>
            <a:ext cx="137641" cy="202443"/>
          </a:xfrm>
          <a:prstGeom prst="rect">
            <a:avLst/>
          </a:prstGeom>
        </p:spPr>
      </p:pic>
      <p:pic>
        <p:nvPicPr>
          <p:cNvPr id="16" name="Image 8" descr="preencoded.png">
            <a:extLst>
              <a:ext uri="{FF2B5EF4-FFF2-40B4-BE49-F238E27FC236}">
                <a16:creationId xmlns:a16="http://schemas.microsoft.com/office/drawing/2014/main" id="{27A470CE-0660-3768-B3CB-A6C5FC3A2329}"/>
              </a:ext>
            </a:extLst>
          </p:cNvPr>
          <p:cNvPicPr>
            <a:picLocks noChangeAspect="1"/>
          </p:cNvPicPr>
          <p:nvPr/>
        </p:nvPicPr>
        <p:blipFill>
          <a:blip r:embed="rId5"/>
          <a:stretch>
            <a:fillRect/>
          </a:stretch>
        </p:blipFill>
        <p:spPr>
          <a:xfrm>
            <a:off x="743372" y="360473"/>
            <a:ext cx="126579" cy="147243"/>
          </a:xfrm>
          <a:prstGeom prst="rect">
            <a:avLst/>
          </a:prstGeom>
        </p:spPr>
      </p:pic>
      <p:pic>
        <p:nvPicPr>
          <p:cNvPr id="17" name="Image 9" descr="preencoded.png">
            <a:extLst>
              <a:ext uri="{FF2B5EF4-FFF2-40B4-BE49-F238E27FC236}">
                <a16:creationId xmlns:a16="http://schemas.microsoft.com/office/drawing/2014/main" id="{DFC9FFC3-B1EF-F9F0-19B9-F97D35F839EA}"/>
              </a:ext>
            </a:extLst>
          </p:cNvPr>
          <p:cNvPicPr>
            <a:picLocks noChangeAspect="1"/>
          </p:cNvPicPr>
          <p:nvPr/>
        </p:nvPicPr>
        <p:blipFill>
          <a:blip r:embed="rId6"/>
          <a:stretch>
            <a:fillRect/>
          </a:stretch>
        </p:blipFill>
        <p:spPr>
          <a:xfrm>
            <a:off x="872928" y="360456"/>
            <a:ext cx="131737" cy="198345"/>
          </a:xfrm>
          <a:prstGeom prst="rect">
            <a:avLst/>
          </a:prstGeom>
        </p:spPr>
      </p:pic>
      <p:pic>
        <p:nvPicPr>
          <p:cNvPr id="18" name="Image 10" descr="preencoded.png">
            <a:extLst>
              <a:ext uri="{FF2B5EF4-FFF2-40B4-BE49-F238E27FC236}">
                <a16:creationId xmlns:a16="http://schemas.microsoft.com/office/drawing/2014/main" id="{2F9002F8-6189-F0FB-F353-3966704AD98A}"/>
              </a:ext>
            </a:extLst>
          </p:cNvPr>
          <p:cNvPicPr>
            <a:picLocks noChangeAspect="1"/>
          </p:cNvPicPr>
          <p:nvPr/>
        </p:nvPicPr>
        <p:blipFill>
          <a:blip r:embed="rId7"/>
          <a:stretch>
            <a:fillRect/>
          </a:stretch>
        </p:blipFill>
        <p:spPr>
          <a:xfrm>
            <a:off x="1001142" y="360468"/>
            <a:ext cx="135508" cy="147243"/>
          </a:xfrm>
          <a:prstGeom prst="rect">
            <a:avLst/>
          </a:prstGeom>
        </p:spPr>
      </p:pic>
      <p:pic>
        <p:nvPicPr>
          <p:cNvPr id="19" name="Image 11" descr="preencoded.png">
            <a:extLst>
              <a:ext uri="{FF2B5EF4-FFF2-40B4-BE49-F238E27FC236}">
                <a16:creationId xmlns:a16="http://schemas.microsoft.com/office/drawing/2014/main" id="{D3B2056B-5BB2-1C8F-81F2-1A166F7A43A3}"/>
              </a:ext>
            </a:extLst>
          </p:cNvPr>
          <p:cNvPicPr>
            <a:picLocks noChangeAspect="1"/>
          </p:cNvPicPr>
          <p:nvPr/>
        </p:nvPicPr>
        <p:blipFill>
          <a:blip r:embed="rId8"/>
          <a:stretch>
            <a:fillRect/>
          </a:stretch>
        </p:blipFill>
        <p:spPr>
          <a:xfrm>
            <a:off x="375419" y="376364"/>
            <a:ext cx="174501" cy="157568"/>
          </a:xfrm>
          <a:prstGeom prst="rect">
            <a:avLst/>
          </a:prstGeom>
        </p:spPr>
      </p:pic>
      <p:pic>
        <p:nvPicPr>
          <p:cNvPr id="20" name="Image 12" descr="preencoded.png">
            <a:extLst>
              <a:ext uri="{FF2B5EF4-FFF2-40B4-BE49-F238E27FC236}">
                <a16:creationId xmlns:a16="http://schemas.microsoft.com/office/drawing/2014/main" id="{3EBE246A-D31A-7293-516A-F86917E7237F}"/>
              </a:ext>
            </a:extLst>
          </p:cNvPr>
          <p:cNvPicPr>
            <a:picLocks noChangeAspect="1"/>
          </p:cNvPicPr>
          <p:nvPr/>
        </p:nvPicPr>
        <p:blipFill>
          <a:blip r:embed="rId9"/>
          <a:stretch>
            <a:fillRect/>
          </a:stretch>
        </p:blipFill>
        <p:spPr>
          <a:xfrm>
            <a:off x="254000" y="376361"/>
            <a:ext cx="174501" cy="157575"/>
          </a:xfrm>
          <a:prstGeom prst="rect">
            <a:avLst/>
          </a:prstGeom>
        </p:spPr>
      </p:pic>
      <p:sp>
        <p:nvSpPr>
          <p:cNvPr id="25" name="Rectangle: Rounded Corners 24">
            <a:extLst>
              <a:ext uri="{FF2B5EF4-FFF2-40B4-BE49-F238E27FC236}">
                <a16:creationId xmlns:a16="http://schemas.microsoft.com/office/drawing/2014/main" id="{AE648AB5-D13C-5E84-08A4-B56BEE31A1F0}"/>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Expression</a:t>
            </a:r>
          </a:p>
        </p:txBody>
      </p:sp>
      <p:sp>
        <p:nvSpPr>
          <p:cNvPr id="26" name="TextBox 25">
            <a:extLst>
              <a:ext uri="{FF2B5EF4-FFF2-40B4-BE49-F238E27FC236}">
                <a16:creationId xmlns:a16="http://schemas.microsoft.com/office/drawing/2014/main" id="{803B0538-9D5D-4AC3-B0AA-48EFCF15DAC5}"/>
              </a:ext>
            </a:extLst>
          </p:cNvPr>
          <p:cNvSpPr txBox="1"/>
          <p:nvPr/>
        </p:nvSpPr>
        <p:spPr>
          <a:xfrm>
            <a:off x="25120" y="6611779"/>
            <a:ext cx="6369863" cy="246221"/>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Sources: </a:t>
            </a:r>
            <a:r>
              <a:rPr kumimoji="0" lang="en-US" sz="1000" b="0" i="0" u="none" strike="noStrike" kern="1200" cap="none" spc="0" normalizeH="0" baseline="0" noProof="0">
                <a:ln>
                  <a:noFill/>
                </a:ln>
                <a:solidFill>
                  <a:prstClr val="black"/>
                </a:solidFill>
                <a:effectLst/>
                <a:uLnTx/>
                <a:uFillTx/>
                <a:latin typeface="Funnel Sans"/>
                <a:ea typeface="+mn-ea"/>
                <a:cs typeface="+mn-cs"/>
                <a:hlinkClick r:id="rId10"/>
              </a:rPr>
              <a:t>Human Protein Atlas</a:t>
            </a:r>
            <a:r>
              <a:rPr kumimoji="0" lang="en-US" sz="1000" b="0" i="0" u="none" strike="noStrike" kern="1200" cap="none" spc="0" normalizeH="0" baseline="0" noProof="0">
                <a:ln>
                  <a:noFill/>
                </a:ln>
                <a:solidFill>
                  <a:prstClr val="black"/>
                </a:solidFill>
                <a:effectLst/>
                <a:uLnTx/>
                <a:uFillTx/>
                <a:latin typeface="Funnel Sans"/>
                <a:ea typeface="+mn-ea"/>
                <a:cs typeface="+mn-cs"/>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1"/>
              </a:rPr>
              <a:t>Shen et al, Clin. Cancer. Res 2025</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2"/>
              </a:rPr>
              <a:t>Georgiev et al Nat Biomed Eng 2025</a:t>
            </a:r>
            <a:endParaRPr kumimoji="0" lang="en-US" sz="1000" b="0" i="0" u="none" strike="noStrike" kern="1200" cap="none" spc="0" normalizeH="0" baseline="0" noProof="0">
              <a:ln>
                <a:noFill/>
              </a:ln>
              <a:solidFill>
                <a:prstClr val="black"/>
              </a:solidFill>
              <a:effectLst/>
              <a:uLnTx/>
              <a:uFillTx/>
              <a:latin typeface="Funnel Sans"/>
              <a:ea typeface="Funnel Sans"/>
              <a:cs typeface="+mn-cs"/>
            </a:endParaRPr>
          </a:p>
        </p:txBody>
      </p:sp>
      <p:sp>
        <p:nvSpPr>
          <p:cNvPr id="31" name="TextBox 30">
            <a:extLst>
              <a:ext uri="{FF2B5EF4-FFF2-40B4-BE49-F238E27FC236}">
                <a16:creationId xmlns:a16="http://schemas.microsoft.com/office/drawing/2014/main" id="{EEAAB7CB-AA9E-D2CB-34A4-5D943FA1D1C2}"/>
              </a:ext>
            </a:extLst>
          </p:cNvPr>
          <p:cNvSpPr txBox="1"/>
          <p:nvPr/>
        </p:nvSpPr>
        <p:spPr>
          <a:xfrm>
            <a:off x="5325757" y="3414608"/>
            <a:ext cx="1572227" cy="8970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unnel Sans"/>
              <a:ea typeface="+mn-ea"/>
              <a:cs typeface="+mn-cs"/>
            </a:endParaRPr>
          </a:p>
        </p:txBody>
      </p:sp>
      <p:pic>
        <p:nvPicPr>
          <p:cNvPr id="23" name="Picture 22" descr="A close-up of a cell&#10;&#10;AI-generated content may be incorrect.">
            <a:extLst>
              <a:ext uri="{FF2B5EF4-FFF2-40B4-BE49-F238E27FC236}">
                <a16:creationId xmlns:a16="http://schemas.microsoft.com/office/drawing/2014/main" id="{05B24ED8-51F9-CB56-675A-C73BBE38E6E0}"/>
              </a:ext>
            </a:extLst>
          </p:cNvPr>
          <p:cNvPicPr>
            <a:picLocks noChangeAspect="1"/>
          </p:cNvPicPr>
          <p:nvPr/>
        </p:nvPicPr>
        <p:blipFill>
          <a:blip r:embed="rId13"/>
          <a:srcRect l="-626" t="20192" r="372" b="-1442"/>
          <a:stretch>
            <a:fillRect/>
          </a:stretch>
        </p:blipFill>
        <p:spPr>
          <a:xfrm>
            <a:off x="1068896" y="2291118"/>
            <a:ext cx="10496764" cy="2970422"/>
          </a:xfrm>
          <a:prstGeom prst="rect">
            <a:avLst/>
          </a:prstGeom>
        </p:spPr>
      </p:pic>
      <p:sp>
        <p:nvSpPr>
          <p:cNvPr id="2" name="Shape 1">
            <a:extLst>
              <a:ext uri="{FF2B5EF4-FFF2-40B4-BE49-F238E27FC236}">
                <a16:creationId xmlns:a16="http://schemas.microsoft.com/office/drawing/2014/main" id="{5C379CD9-9CFA-F1AD-97DE-90BD7D862E9E}"/>
              </a:ext>
            </a:extLst>
          </p:cNvPr>
          <p:cNvSpPr/>
          <p:nvPr/>
        </p:nvSpPr>
        <p:spPr>
          <a:xfrm>
            <a:off x="254001" y="1475863"/>
            <a:ext cx="11338231"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 name="Text 28">
            <a:extLst>
              <a:ext uri="{FF2B5EF4-FFF2-40B4-BE49-F238E27FC236}">
                <a16:creationId xmlns:a16="http://schemas.microsoft.com/office/drawing/2014/main" id="{A7718867-99C8-4978-BBF1-B9D7C9D09079}"/>
              </a:ext>
            </a:extLst>
          </p:cNvPr>
          <p:cNvSpPr/>
          <p:nvPr/>
        </p:nvSpPr>
        <p:spPr>
          <a:xfrm>
            <a:off x="254000" y="635564"/>
            <a:ext cx="11338231" cy="762000"/>
          </a:xfrm>
          <a:prstGeom prst="rect">
            <a:avLst/>
          </a:prstGeom>
          <a:noFill/>
          <a:ln/>
        </p:spPr>
        <p:txBody>
          <a:bodyPr wrap="square" lIns="91440" tIns="45720" rIns="91440" bIns="45720" rtlCol="0" anchor="ctr"/>
          <a:lstStyle/>
          <a:p>
            <a:pPr lvl="0">
              <a:lnSpc>
                <a:spcPts val="3000"/>
              </a:lnSpc>
              <a:defRPr/>
            </a:pPr>
            <a:r>
              <a:rPr lang="en-US" sz="2400" kern="0" spc="-24" dirty="0">
                <a:solidFill>
                  <a:srgbClr val="000000">
                    <a:alpha val="99000"/>
                  </a:srgbClr>
                </a:solidFill>
              </a:rPr>
              <a:t>KLK2 expression is strong across all stages of prostate cancer</a:t>
            </a:r>
          </a:p>
        </p:txBody>
      </p:sp>
    </p:spTree>
    <p:extLst>
      <p:ext uri="{BB962C8B-B14F-4D97-AF65-F5344CB8AC3E}">
        <p14:creationId xmlns:p14="http://schemas.microsoft.com/office/powerpoint/2010/main" val="3359254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AB141-DA5F-5284-FFA5-6A3F8231FC7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A63CF53-86E2-AF00-1BDD-D1E55B0DC1F9}"/>
              </a:ext>
            </a:extLst>
          </p:cNvPr>
          <p:cNvSpPr txBox="1"/>
          <p:nvPr/>
        </p:nvSpPr>
        <p:spPr>
          <a:xfrm>
            <a:off x="5425" y="6556009"/>
            <a:ext cx="6096000" cy="5309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Funnel Sans"/>
                <a:ea typeface="+mn-ea"/>
                <a:cs typeface="+mn-cs"/>
              </a:rPr>
              <a:t>Sources: </a:t>
            </a:r>
            <a:r>
              <a:rPr kumimoji="0" lang="en-US" sz="1050" b="0" i="0" u="none" strike="noStrike" kern="1200" cap="none" spc="0" normalizeH="0" baseline="0" noProof="0">
                <a:ln>
                  <a:noFill/>
                </a:ln>
                <a:solidFill>
                  <a:prstClr val="black"/>
                </a:solidFill>
                <a:effectLst/>
                <a:uLnTx/>
                <a:uFillTx/>
                <a:latin typeface="Funnel Sans"/>
                <a:ea typeface="+mn-ea"/>
                <a:cs typeface="+mn-cs"/>
                <a:hlinkClick r:id="rId4"/>
              </a:rPr>
              <a:t>Shen et al. Clin Cancer Res 2025 </a:t>
            </a:r>
            <a:endParaRPr kumimoji="0" lang="en-US" sz="1050" b="0" i="0" u="none" strike="noStrike" kern="1200" cap="none" spc="0" normalizeH="0" baseline="0" noProof="0">
              <a:ln>
                <a:noFill/>
              </a:ln>
              <a:solidFill>
                <a:prstClr val="black"/>
              </a:solidFill>
              <a:effectLst/>
              <a:uLnTx/>
              <a:uFillTx/>
              <a:latin typeface="Funnel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unnel Sans"/>
              <a:ea typeface="+mn-ea"/>
              <a:cs typeface="+mn-cs"/>
            </a:endParaRPr>
          </a:p>
        </p:txBody>
      </p:sp>
      <p:sp>
        <p:nvSpPr>
          <p:cNvPr id="10" name="Rectangle: Rounded Corners 9">
            <a:extLst>
              <a:ext uri="{FF2B5EF4-FFF2-40B4-BE49-F238E27FC236}">
                <a16:creationId xmlns:a16="http://schemas.microsoft.com/office/drawing/2014/main" id="{747B7F6C-D05A-E18C-C164-0883DDCA7F20}"/>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Expression</a:t>
            </a:r>
          </a:p>
        </p:txBody>
      </p:sp>
      <p:sp>
        <p:nvSpPr>
          <p:cNvPr id="14" name="TextBox 13">
            <a:extLst>
              <a:ext uri="{FF2B5EF4-FFF2-40B4-BE49-F238E27FC236}">
                <a16:creationId xmlns:a16="http://schemas.microsoft.com/office/drawing/2014/main" id="{5940FDD5-D03C-EF85-DC29-C0D30E7142EB}"/>
              </a:ext>
            </a:extLst>
          </p:cNvPr>
          <p:cNvSpPr txBox="1"/>
          <p:nvPr/>
        </p:nvSpPr>
        <p:spPr>
          <a:xfrm>
            <a:off x="6251584" y="4922983"/>
            <a:ext cx="149831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mn-ea"/>
                <a:cs typeface="+mn-cs"/>
              </a:rPr>
              <a:t>78% KLK2+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mn-ea"/>
                <a:cs typeface="+mn-cs"/>
              </a:rPr>
              <a:t>63% PSMA+</a:t>
            </a:r>
          </a:p>
        </p:txBody>
      </p:sp>
      <p:sp>
        <p:nvSpPr>
          <p:cNvPr id="22" name="Text 28">
            <a:extLst>
              <a:ext uri="{FF2B5EF4-FFF2-40B4-BE49-F238E27FC236}">
                <a16:creationId xmlns:a16="http://schemas.microsoft.com/office/drawing/2014/main" id="{E40E7057-AF68-5576-CA2D-686076169B4F}"/>
              </a:ext>
            </a:extLst>
          </p:cNvPr>
          <p:cNvSpPr/>
          <p:nvPr/>
        </p:nvSpPr>
        <p:spPr>
          <a:xfrm>
            <a:off x="253999" y="635564"/>
            <a:ext cx="11390243"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Funnel Sans"/>
                <a:ea typeface="+mj-lt"/>
                <a:cs typeface="+mj-lt"/>
              </a:rPr>
              <a:t>KLK2 is more homogenously expressed in earlier stages of PC and more frequently expressed in metastases compared to PSMA</a:t>
            </a: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3" name="Shape 1">
            <a:extLst>
              <a:ext uri="{FF2B5EF4-FFF2-40B4-BE49-F238E27FC236}">
                <a16:creationId xmlns:a16="http://schemas.microsoft.com/office/drawing/2014/main" id="{196E488C-2321-B64D-8729-FE28B472BCC3}"/>
              </a:ext>
            </a:extLst>
          </p:cNvPr>
          <p:cNvSpPr/>
          <p:nvPr/>
        </p:nvSpPr>
        <p:spPr>
          <a:xfrm>
            <a:off x="254001" y="1505360"/>
            <a:ext cx="11684001"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grpSp>
        <p:nvGrpSpPr>
          <p:cNvPr id="34" name="Group 33">
            <a:extLst>
              <a:ext uri="{FF2B5EF4-FFF2-40B4-BE49-F238E27FC236}">
                <a16:creationId xmlns:a16="http://schemas.microsoft.com/office/drawing/2014/main" id="{CE0442D5-669D-7823-7CBD-ADF181A03E54}"/>
              </a:ext>
            </a:extLst>
          </p:cNvPr>
          <p:cNvGrpSpPr/>
          <p:nvPr/>
        </p:nvGrpSpPr>
        <p:grpSpPr>
          <a:xfrm>
            <a:off x="397835" y="2962425"/>
            <a:ext cx="5152601" cy="2620984"/>
            <a:chOff x="253999" y="2962425"/>
            <a:chExt cx="5152601" cy="2620984"/>
          </a:xfrm>
        </p:grpSpPr>
        <p:pic>
          <p:nvPicPr>
            <p:cNvPr id="5" name="Picture 4" descr="A diagram of a disease type&#10;&#10;AI-generated content may be incorrect.">
              <a:extLst>
                <a:ext uri="{FF2B5EF4-FFF2-40B4-BE49-F238E27FC236}">
                  <a16:creationId xmlns:a16="http://schemas.microsoft.com/office/drawing/2014/main" id="{0B58F9A6-994D-2F6B-5571-97DFADF5D9A1}"/>
                </a:ext>
              </a:extLst>
            </p:cNvPr>
            <p:cNvPicPr>
              <a:picLocks noChangeAspect="1"/>
            </p:cNvPicPr>
            <p:nvPr/>
          </p:nvPicPr>
          <p:blipFill>
            <a:blip r:embed="rId5"/>
            <a:srcRect l="-1243" t="-498" r="1165"/>
            <a:stretch>
              <a:fillRect/>
            </a:stretch>
          </p:blipFill>
          <p:spPr>
            <a:xfrm>
              <a:off x="340818" y="3053118"/>
              <a:ext cx="5065782" cy="2530291"/>
            </a:xfrm>
            <a:prstGeom prst="rect">
              <a:avLst/>
            </a:prstGeom>
          </p:spPr>
        </p:pic>
        <p:sp>
          <p:nvSpPr>
            <p:cNvPr id="24" name="Rectangle 23">
              <a:extLst>
                <a:ext uri="{FF2B5EF4-FFF2-40B4-BE49-F238E27FC236}">
                  <a16:creationId xmlns:a16="http://schemas.microsoft.com/office/drawing/2014/main" id="{1B3E7841-01D9-A34D-A0D0-2A992F33F8CD}"/>
                </a:ext>
              </a:extLst>
            </p:cNvPr>
            <p:cNvSpPr/>
            <p:nvPr/>
          </p:nvSpPr>
          <p:spPr>
            <a:xfrm>
              <a:off x="253999" y="2962425"/>
              <a:ext cx="530445" cy="4151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grpSp>
      <p:grpSp>
        <p:nvGrpSpPr>
          <p:cNvPr id="29" name="Group 28">
            <a:extLst>
              <a:ext uri="{FF2B5EF4-FFF2-40B4-BE49-F238E27FC236}">
                <a16:creationId xmlns:a16="http://schemas.microsoft.com/office/drawing/2014/main" id="{DFFD4C05-C15F-06A5-3D2D-F73621FB58DB}"/>
              </a:ext>
            </a:extLst>
          </p:cNvPr>
          <p:cNvGrpSpPr/>
          <p:nvPr/>
        </p:nvGrpSpPr>
        <p:grpSpPr>
          <a:xfrm>
            <a:off x="603545" y="1997444"/>
            <a:ext cx="4658146" cy="743231"/>
            <a:chOff x="469068" y="2455060"/>
            <a:chExt cx="4658146" cy="743231"/>
          </a:xfrm>
        </p:grpSpPr>
        <p:sp>
          <p:nvSpPr>
            <p:cNvPr id="28" name="Shape 17">
              <a:extLst>
                <a:ext uri="{FF2B5EF4-FFF2-40B4-BE49-F238E27FC236}">
                  <a16:creationId xmlns:a16="http://schemas.microsoft.com/office/drawing/2014/main" id="{CE6DBAE7-A64A-BB8D-4FD9-A63BE73EAEB6}"/>
                </a:ext>
              </a:extLst>
            </p:cNvPr>
            <p:cNvSpPr/>
            <p:nvPr/>
          </p:nvSpPr>
          <p:spPr>
            <a:xfrm>
              <a:off x="469068" y="2455060"/>
              <a:ext cx="4658146" cy="743231"/>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6" name="TextBox 25">
              <a:extLst>
                <a:ext uri="{FF2B5EF4-FFF2-40B4-BE49-F238E27FC236}">
                  <a16:creationId xmlns:a16="http://schemas.microsoft.com/office/drawing/2014/main" id="{775CF084-D54A-36B9-D6D6-D3E1EDBBAA80}"/>
                </a:ext>
              </a:extLst>
            </p:cNvPr>
            <p:cNvSpPr txBox="1"/>
            <p:nvPr/>
          </p:nvSpPr>
          <p:spPr>
            <a:xfrm>
              <a:off x="583193" y="2534288"/>
              <a:ext cx="422180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Funnel Sans"/>
                  <a:ea typeface="+mn-ea"/>
                  <a:cs typeface="+mn-cs"/>
                </a:rPr>
                <a:t>KLK2 intratumoral expression is higher in earlier hormone sensitive PC vs PSMA</a:t>
              </a:r>
            </a:p>
          </p:txBody>
        </p:sp>
      </p:grpSp>
      <p:grpSp>
        <p:nvGrpSpPr>
          <p:cNvPr id="31" name="Group 30">
            <a:extLst>
              <a:ext uri="{FF2B5EF4-FFF2-40B4-BE49-F238E27FC236}">
                <a16:creationId xmlns:a16="http://schemas.microsoft.com/office/drawing/2014/main" id="{CB4D3729-B31F-F1A6-C700-21D4891A966B}"/>
              </a:ext>
            </a:extLst>
          </p:cNvPr>
          <p:cNvGrpSpPr/>
          <p:nvPr/>
        </p:nvGrpSpPr>
        <p:grpSpPr>
          <a:xfrm>
            <a:off x="6062849" y="1997444"/>
            <a:ext cx="5586429" cy="743231"/>
            <a:chOff x="469068" y="2455060"/>
            <a:chExt cx="4658146" cy="743231"/>
          </a:xfrm>
        </p:grpSpPr>
        <p:sp>
          <p:nvSpPr>
            <p:cNvPr id="32" name="Shape 17">
              <a:extLst>
                <a:ext uri="{FF2B5EF4-FFF2-40B4-BE49-F238E27FC236}">
                  <a16:creationId xmlns:a16="http://schemas.microsoft.com/office/drawing/2014/main" id="{9832BD40-9C3B-B149-AA40-58AA365460A2}"/>
                </a:ext>
              </a:extLst>
            </p:cNvPr>
            <p:cNvSpPr/>
            <p:nvPr/>
          </p:nvSpPr>
          <p:spPr>
            <a:xfrm>
              <a:off x="469068" y="2455060"/>
              <a:ext cx="4658146" cy="743231"/>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3" name="TextBox 32">
              <a:extLst>
                <a:ext uri="{FF2B5EF4-FFF2-40B4-BE49-F238E27FC236}">
                  <a16:creationId xmlns:a16="http://schemas.microsoft.com/office/drawing/2014/main" id="{FDE15A13-C73C-73DB-9C71-555EB6B1A1C0}"/>
                </a:ext>
              </a:extLst>
            </p:cNvPr>
            <p:cNvSpPr txBox="1"/>
            <p:nvPr/>
          </p:nvSpPr>
          <p:spPr>
            <a:xfrm>
              <a:off x="583193" y="2534288"/>
              <a:ext cx="4221807"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Funnel Sans"/>
                  <a:ea typeface="+mn-ea"/>
                  <a:cs typeface="+mn-cs"/>
                </a:rPr>
                <a:t>Bone and lymph metastases in </a:t>
              </a:r>
              <a:r>
                <a:rPr kumimoji="0" lang="en-US" sz="1600" b="1" i="0" u="none" strike="noStrike" kern="1200" cap="none" spc="0" normalizeH="0" baseline="0" noProof="0" err="1">
                  <a:ln>
                    <a:noFill/>
                  </a:ln>
                  <a:solidFill>
                    <a:prstClr val="black"/>
                  </a:solidFill>
                  <a:effectLst/>
                  <a:uLnTx/>
                  <a:uFillTx/>
                  <a:latin typeface="Funnel Sans"/>
                  <a:ea typeface="+mn-ea"/>
                  <a:cs typeface="+mn-cs"/>
                </a:rPr>
                <a:t>mCPRC</a:t>
              </a:r>
              <a:r>
                <a:rPr kumimoji="0" lang="en-US" sz="1600" b="1" i="0" u="none" strike="noStrike" kern="1200" cap="none" spc="0" normalizeH="0" baseline="0" noProof="0">
                  <a:ln>
                    <a:noFill/>
                  </a:ln>
                  <a:solidFill>
                    <a:prstClr val="black"/>
                  </a:solidFill>
                  <a:effectLst/>
                  <a:uLnTx/>
                  <a:uFillTx/>
                  <a:latin typeface="Funnel Sans"/>
                  <a:ea typeface="+mn-ea"/>
                  <a:cs typeface="+mn-cs"/>
                </a:rPr>
                <a:t> are more frequently positive for KLK2 vs PSMA</a:t>
              </a:r>
            </a:p>
          </p:txBody>
        </p:sp>
      </p:grpSp>
      <p:grpSp>
        <p:nvGrpSpPr>
          <p:cNvPr id="2" name="Group 1">
            <a:extLst>
              <a:ext uri="{FF2B5EF4-FFF2-40B4-BE49-F238E27FC236}">
                <a16:creationId xmlns:a16="http://schemas.microsoft.com/office/drawing/2014/main" id="{9B5AFAFC-6696-881D-49F6-16DA3F35F601}"/>
              </a:ext>
            </a:extLst>
          </p:cNvPr>
          <p:cNvGrpSpPr/>
          <p:nvPr/>
        </p:nvGrpSpPr>
        <p:grpSpPr>
          <a:xfrm>
            <a:off x="6062849" y="2862856"/>
            <a:ext cx="5586430" cy="1941634"/>
            <a:chOff x="5919013" y="2862856"/>
            <a:chExt cx="5586430" cy="1941634"/>
          </a:xfrm>
        </p:grpSpPr>
        <p:pic>
          <p:nvPicPr>
            <p:cNvPr id="3" name="Picture 2" descr="A diagram of different types of type of type of type of type of type of type of type of type of type of type of type of type of type of type of type of type of type&#10;&#10;AI-generated content may be incorrect.">
              <a:extLst>
                <a:ext uri="{FF2B5EF4-FFF2-40B4-BE49-F238E27FC236}">
                  <a16:creationId xmlns:a16="http://schemas.microsoft.com/office/drawing/2014/main" id="{2E810000-E425-5BD7-8944-8A511B26E268}"/>
                </a:ext>
              </a:extLst>
            </p:cNvPr>
            <p:cNvPicPr>
              <a:picLocks noChangeAspect="1"/>
            </p:cNvPicPr>
            <p:nvPr/>
          </p:nvPicPr>
          <p:blipFill>
            <a:blip r:embed="rId6"/>
            <a:srcRect l="808" t="-94" r="282" b="17372"/>
            <a:stretch>
              <a:fillRect/>
            </a:stretch>
          </p:blipFill>
          <p:spPr>
            <a:xfrm>
              <a:off x="5935890" y="2872641"/>
              <a:ext cx="5569553" cy="1931849"/>
            </a:xfrm>
            <a:prstGeom prst="rect">
              <a:avLst/>
            </a:prstGeom>
          </p:spPr>
        </p:pic>
        <p:sp>
          <p:nvSpPr>
            <p:cNvPr id="35" name="Rectangle 34">
              <a:extLst>
                <a:ext uri="{FF2B5EF4-FFF2-40B4-BE49-F238E27FC236}">
                  <a16:creationId xmlns:a16="http://schemas.microsoft.com/office/drawing/2014/main" id="{6495C9F4-E5FF-DB2F-3C0D-9546F0574B47}"/>
                </a:ext>
              </a:extLst>
            </p:cNvPr>
            <p:cNvSpPr/>
            <p:nvPr/>
          </p:nvSpPr>
          <p:spPr>
            <a:xfrm>
              <a:off x="5919013" y="2862856"/>
              <a:ext cx="265223" cy="4151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grpSp>
      <p:sp>
        <p:nvSpPr>
          <p:cNvPr id="37" name="TextBox 36">
            <a:extLst>
              <a:ext uri="{FF2B5EF4-FFF2-40B4-BE49-F238E27FC236}">
                <a16:creationId xmlns:a16="http://schemas.microsoft.com/office/drawing/2014/main" id="{39E5BF44-AABB-26E5-F9F2-C2420F694122}"/>
              </a:ext>
            </a:extLst>
          </p:cNvPr>
          <p:cNvSpPr txBox="1"/>
          <p:nvPr/>
        </p:nvSpPr>
        <p:spPr>
          <a:xfrm>
            <a:off x="8128546" y="4922983"/>
            <a:ext cx="149831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mn-ea"/>
                <a:cs typeface="+mn-cs"/>
              </a:rPr>
              <a:t>86% KLK2+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mn-ea"/>
                <a:cs typeface="+mn-cs"/>
              </a:rPr>
              <a:t>64% PSMA+</a:t>
            </a:r>
          </a:p>
        </p:txBody>
      </p:sp>
      <p:sp>
        <p:nvSpPr>
          <p:cNvPr id="38" name="TextBox 37">
            <a:extLst>
              <a:ext uri="{FF2B5EF4-FFF2-40B4-BE49-F238E27FC236}">
                <a16:creationId xmlns:a16="http://schemas.microsoft.com/office/drawing/2014/main" id="{DDDC9CE3-25B4-ADBC-3BAE-BE8FC3508BF6}"/>
              </a:ext>
            </a:extLst>
          </p:cNvPr>
          <p:cNvSpPr txBox="1"/>
          <p:nvPr/>
        </p:nvSpPr>
        <p:spPr>
          <a:xfrm>
            <a:off x="10005509" y="4922983"/>
            <a:ext cx="1498316"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mn-ea"/>
                <a:cs typeface="+mn-cs"/>
              </a:rPr>
              <a:t>41% KLK2+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Funnel Sans"/>
                <a:ea typeface="+mn-ea"/>
                <a:cs typeface="+mn-cs"/>
              </a:rPr>
              <a:t>41% PSMA+</a:t>
            </a:r>
          </a:p>
        </p:txBody>
      </p:sp>
      <p:sp>
        <p:nvSpPr>
          <p:cNvPr id="39" name="Rectangle 38">
            <a:extLst>
              <a:ext uri="{FF2B5EF4-FFF2-40B4-BE49-F238E27FC236}">
                <a16:creationId xmlns:a16="http://schemas.microsoft.com/office/drawing/2014/main" id="{11A78598-ED8A-C1B7-1E29-E2585E8D0177}"/>
              </a:ext>
            </a:extLst>
          </p:cNvPr>
          <p:cNvSpPr/>
          <p:nvPr/>
        </p:nvSpPr>
        <p:spPr>
          <a:xfrm>
            <a:off x="9298701" y="5775537"/>
            <a:ext cx="293196" cy="261610"/>
          </a:xfrm>
          <a:prstGeom prst="rect">
            <a:avLst/>
          </a:prstGeom>
          <a:solidFill>
            <a:srgbClr val="CEAF2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5486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E2841"/>
                </a:solidFill>
                <a:effectLst/>
                <a:uLnTx/>
                <a:uFillTx/>
                <a:latin typeface="Funnel Sans"/>
                <a:ea typeface="+mn-ea"/>
                <a:cs typeface="+mn-cs"/>
              </a:rPr>
              <a:t>KLK2 – PSMA +</a:t>
            </a:r>
          </a:p>
        </p:txBody>
      </p:sp>
      <p:sp>
        <p:nvSpPr>
          <p:cNvPr id="40" name="Rectangle 39">
            <a:extLst>
              <a:ext uri="{FF2B5EF4-FFF2-40B4-BE49-F238E27FC236}">
                <a16:creationId xmlns:a16="http://schemas.microsoft.com/office/drawing/2014/main" id="{D5F06F05-ACA2-2019-FBCD-69F1AA843C68}"/>
              </a:ext>
            </a:extLst>
          </p:cNvPr>
          <p:cNvSpPr/>
          <p:nvPr/>
        </p:nvSpPr>
        <p:spPr>
          <a:xfrm>
            <a:off x="9298701" y="6235676"/>
            <a:ext cx="293196" cy="261610"/>
          </a:xfrm>
          <a:prstGeom prst="rect">
            <a:avLst/>
          </a:prstGeom>
          <a:solidFill>
            <a:srgbClr val="C6C6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5486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E2841"/>
                </a:solidFill>
                <a:effectLst/>
                <a:uLnTx/>
                <a:uFillTx/>
                <a:latin typeface="Funnel Sans"/>
                <a:ea typeface="+mn-ea"/>
                <a:cs typeface="+mn-cs"/>
              </a:rPr>
              <a:t>KLK2 – PSMA – </a:t>
            </a:r>
          </a:p>
        </p:txBody>
      </p:sp>
      <p:sp>
        <p:nvSpPr>
          <p:cNvPr id="41" name="Rectangle 40">
            <a:extLst>
              <a:ext uri="{FF2B5EF4-FFF2-40B4-BE49-F238E27FC236}">
                <a16:creationId xmlns:a16="http://schemas.microsoft.com/office/drawing/2014/main" id="{E29151A2-BB73-92AD-EE58-EBAAD1B69467}"/>
              </a:ext>
            </a:extLst>
          </p:cNvPr>
          <p:cNvSpPr/>
          <p:nvPr/>
        </p:nvSpPr>
        <p:spPr>
          <a:xfrm>
            <a:off x="6854144" y="5775537"/>
            <a:ext cx="293196" cy="261610"/>
          </a:xfrm>
          <a:prstGeom prst="rect">
            <a:avLst/>
          </a:prstGeom>
          <a:solidFill>
            <a:srgbClr val="87CB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5486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E2841"/>
                </a:solidFill>
                <a:effectLst/>
                <a:uLnTx/>
                <a:uFillTx/>
                <a:latin typeface="Funnel Sans"/>
                <a:ea typeface="+mn-ea"/>
                <a:cs typeface="+mn-cs"/>
              </a:rPr>
              <a:t>KLK2 + PSMA +</a:t>
            </a:r>
          </a:p>
        </p:txBody>
      </p:sp>
      <p:sp>
        <p:nvSpPr>
          <p:cNvPr id="42" name="Rectangle 41">
            <a:extLst>
              <a:ext uri="{FF2B5EF4-FFF2-40B4-BE49-F238E27FC236}">
                <a16:creationId xmlns:a16="http://schemas.microsoft.com/office/drawing/2014/main" id="{2DCBBDFB-3BA7-8788-292C-A45A1643331D}"/>
              </a:ext>
            </a:extLst>
          </p:cNvPr>
          <p:cNvSpPr/>
          <p:nvPr/>
        </p:nvSpPr>
        <p:spPr>
          <a:xfrm>
            <a:off x="6854144" y="6235676"/>
            <a:ext cx="293196" cy="261610"/>
          </a:xfrm>
          <a:prstGeom prst="rect">
            <a:avLst/>
          </a:prstGeom>
          <a:solidFill>
            <a:srgbClr val="39658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54864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E2841"/>
                </a:solidFill>
                <a:effectLst/>
                <a:uLnTx/>
                <a:uFillTx/>
                <a:latin typeface="Funnel Sans"/>
                <a:ea typeface="+mn-ea"/>
                <a:cs typeface="+mn-cs"/>
              </a:rPr>
              <a:t>KLK2 + PSMA – </a:t>
            </a:r>
          </a:p>
        </p:txBody>
      </p:sp>
    </p:spTree>
    <p:extLst>
      <p:ext uri="{BB962C8B-B14F-4D97-AF65-F5344CB8AC3E}">
        <p14:creationId xmlns:p14="http://schemas.microsoft.com/office/powerpoint/2010/main" val="3308848419"/>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34FE8EF1-7E30-BA13-F91E-5442CB6F6E56}"/>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 name="Shape 19">
            <a:extLst>
              <a:ext uri="{FF2B5EF4-FFF2-40B4-BE49-F238E27FC236}">
                <a16:creationId xmlns:a16="http://schemas.microsoft.com/office/drawing/2014/main" id="{F5539DB8-A878-E4BE-2A73-E0B47FF84B40}"/>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5" name="Image 3" descr="preencoded.png">
            <a:extLst>
              <a:ext uri="{FF2B5EF4-FFF2-40B4-BE49-F238E27FC236}">
                <a16:creationId xmlns:a16="http://schemas.microsoft.com/office/drawing/2014/main" id="{541923C9-390B-EB57-73AE-D3097BC48A4A}"/>
              </a:ext>
            </a:extLst>
          </p:cNvPr>
          <p:cNvPicPr>
            <a:picLocks noChangeAspect="1"/>
          </p:cNvPicPr>
          <p:nvPr/>
        </p:nvPicPr>
        <p:blipFill>
          <a:blip r:embed="rId3"/>
          <a:stretch>
            <a:fillRect/>
          </a:stretch>
        </p:blipFill>
        <p:spPr>
          <a:xfrm>
            <a:off x="323503" y="254000"/>
            <a:ext cx="156939" cy="191368"/>
          </a:xfrm>
          <a:prstGeom prst="rect">
            <a:avLst/>
          </a:prstGeom>
        </p:spPr>
      </p:pic>
      <p:pic>
        <p:nvPicPr>
          <p:cNvPr id="6" name="Image 4" descr="preencoded.png">
            <a:extLst>
              <a:ext uri="{FF2B5EF4-FFF2-40B4-BE49-F238E27FC236}">
                <a16:creationId xmlns:a16="http://schemas.microsoft.com/office/drawing/2014/main" id="{43FA9F35-7EB7-048F-B129-6BFAC889CD00}"/>
              </a:ext>
            </a:extLst>
          </p:cNvPr>
          <p:cNvPicPr>
            <a:picLocks noChangeAspect="1"/>
          </p:cNvPicPr>
          <p:nvPr/>
        </p:nvPicPr>
        <p:blipFill>
          <a:blip r:embed="rId4"/>
          <a:stretch>
            <a:fillRect/>
          </a:stretch>
        </p:blipFill>
        <p:spPr>
          <a:xfrm>
            <a:off x="387028" y="459541"/>
            <a:ext cx="968" cy="4"/>
          </a:xfrm>
          <a:prstGeom prst="rect">
            <a:avLst/>
          </a:prstGeom>
        </p:spPr>
      </p:pic>
      <p:pic>
        <p:nvPicPr>
          <p:cNvPr id="7" name="Image 5" descr="preencoded.png">
            <a:extLst>
              <a:ext uri="{FF2B5EF4-FFF2-40B4-BE49-F238E27FC236}">
                <a16:creationId xmlns:a16="http://schemas.microsoft.com/office/drawing/2014/main" id="{3904C137-570A-8DA1-4DB4-B7757317AD2E}"/>
              </a:ext>
            </a:extLst>
          </p:cNvPr>
          <p:cNvPicPr>
            <a:picLocks noChangeAspect="1"/>
          </p:cNvPicPr>
          <p:nvPr/>
        </p:nvPicPr>
        <p:blipFill>
          <a:blip r:embed="rId4"/>
          <a:stretch>
            <a:fillRect/>
          </a:stretch>
        </p:blipFill>
        <p:spPr>
          <a:xfrm>
            <a:off x="386756" y="459546"/>
            <a:ext cx="297" cy="4"/>
          </a:xfrm>
          <a:prstGeom prst="rect">
            <a:avLst/>
          </a:prstGeom>
        </p:spPr>
      </p:pic>
      <p:pic>
        <p:nvPicPr>
          <p:cNvPr id="8" name="Image 6" descr="preencoded.png">
            <a:extLst>
              <a:ext uri="{FF2B5EF4-FFF2-40B4-BE49-F238E27FC236}">
                <a16:creationId xmlns:a16="http://schemas.microsoft.com/office/drawing/2014/main" id="{AC123491-4B34-9C72-F7DE-D01A6AB9AE8B}"/>
              </a:ext>
            </a:extLst>
          </p:cNvPr>
          <p:cNvPicPr>
            <a:picLocks noChangeAspect="1"/>
          </p:cNvPicPr>
          <p:nvPr/>
        </p:nvPicPr>
        <p:blipFill>
          <a:blip r:embed="rId4"/>
          <a:stretch>
            <a:fillRect/>
          </a:stretch>
        </p:blipFill>
        <p:spPr>
          <a:xfrm>
            <a:off x="389261" y="473634"/>
            <a:ext cx="471" cy="4"/>
          </a:xfrm>
          <a:prstGeom prst="rect">
            <a:avLst/>
          </a:prstGeom>
        </p:spPr>
      </p:pic>
      <p:pic>
        <p:nvPicPr>
          <p:cNvPr id="9" name="Image 7" descr="preencoded.png">
            <a:extLst>
              <a:ext uri="{FF2B5EF4-FFF2-40B4-BE49-F238E27FC236}">
                <a16:creationId xmlns:a16="http://schemas.microsoft.com/office/drawing/2014/main" id="{08BE2842-BDEE-33A0-B3FB-4A0E0B64A947}"/>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0" name="Image 8" descr="preencoded.png">
            <a:extLst>
              <a:ext uri="{FF2B5EF4-FFF2-40B4-BE49-F238E27FC236}">
                <a16:creationId xmlns:a16="http://schemas.microsoft.com/office/drawing/2014/main" id="{9FF9656D-FF36-5420-89EA-78FF22DF41A0}"/>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1" name="Image 9" descr="preencoded.png">
            <a:extLst>
              <a:ext uri="{FF2B5EF4-FFF2-40B4-BE49-F238E27FC236}">
                <a16:creationId xmlns:a16="http://schemas.microsoft.com/office/drawing/2014/main" id="{6AE9F711-49FB-6E03-42F3-5A937AD007F3}"/>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2" name="Image 10" descr="preencoded.png">
            <a:extLst>
              <a:ext uri="{FF2B5EF4-FFF2-40B4-BE49-F238E27FC236}">
                <a16:creationId xmlns:a16="http://schemas.microsoft.com/office/drawing/2014/main" id="{2222B85A-D098-D2F3-883F-C5EBD916DBA1}"/>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3" name="Image 11" descr="preencoded.png">
            <a:extLst>
              <a:ext uri="{FF2B5EF4-FFF2-40B4-BE49-F238E27FC236}">
                <a16:creationId xmlns:a16="http://schemas.microsoft.com/office/drawing/2014/main" id="{6C341813-4EC3-1669-9C6A-122DCA7ABCA9}"/>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4" name="Image 12" descr="preencoded.png">
            <a:extLst>
              <a:ext uri="{FF2B5EF4-FFF2-40B4-BE49-F238E27FC236}">
                <a16:creationId xmlns:a16="http://schemas.microsoft.com/office/drawing/2014/main" id="{735AEDAB-8D89-07A9-E119-14A9385C43EB}"/>
              </a:ext>
            </a:extLst>
          </p:cNvPr>
          <p:cNvPicPr>
            <a:picLocks noChangeAspect="1"/>
          </p:cNvPicPr>
          <p:nvPr/>
        </p:nvPicPr>
        <p:blipFill>
          <a:blip r:embed="rId10"/>
          <a:stretch>
            <a:fillRect/>
          </a:stretch>
        </p:blipFill>
        <p:spPr>
          <a:xfrm>
            <a:off x="254000" y="376361"/>
            <a:ext cx="174501" cy="157575"/>
          </a:xfrm>
          <a:prstGeom prst="rect">
            <a:avLst/>
          </a:prstGeom>
        </p:spPr>
      </p:pic>
      <p:sp>
        <p:nvSpPr>
          <p:cNvPr id="15" name="Text 28">
            <a:extLst>
              <a:ext uri="{FF2B5EF4-FFF2-40B4-BE49-F238E27FC236}">
                <a16:creationId xmlns:a16="http://schemas.microsoft.com/office/drawing/2014/main" id="{909A9466-63F6-2318-6DD7-2E68B6042050}"/>
              </a:ext>
            </a:extLst>
          </p:cNvPr>
          <p:cNvSpPr/>
          <p:nvPr/>
        </p:nvSpPr>
        <p:spPr>
          <a:xfrm>
            <a:off x="253999" y="635564"/>
            <a:ext cx="11390243"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KLK2 is expressed in prostate epithelial cells, overexpressed in prostate cancer cells, and absent in other healthy tissues</a:t>
            </a: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16" name="Shape 1">
            <a:extLst>
              <a:ext uri="{FF2B5EF4-FFF2-40B4-BE49-F238E27FC236}">
                <a16:creationId xmlns:a16="http://schemas.microsoft.com/office/drawing/2014/main" id="{55C492D1-7739-FA86-1F7E-4B9B27293167}"/>
              </a:ext>
            </a:extLst>
          </p:cNvPr>
          <p:cNvSpPr/>
          <p:nvPr/>
        </p:nvSpPr>
        <p:spPr>
          <a:xfrm>
            <a:off x="254001" y="1505360"/>
            <a:ext cx="11684001"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graphicFrame>
        <p:nvGraphicFramePr>
          <p:cNvPr id="17" name="Table 16">
            <a:extLst>
              <a:ext uri="{FF2B5EF4-FFF2-40B4-BE49-F238E27FC236}">
                <a16:creationId xmlns:a16="http://schemas.microsoft.com/office/drawing/2014/main" id="{781C066A-C181-F149-F5AF-5C9656E98473}"/>
              </a:ext>
            </a:extLst>
          </p:cNvPr>
          <p:cNvGraphicFramePr>
            <a:graphicFrameLocks noGrp="1"/>
          </p:cNvGraphicFramePr>
          <p:nvPr/>
        </p:nvGraphicFramePr>
        <p:xfrm>
          <a:off x="323503" y="2055544"/>
          <a:ext cx="11614494" cy="1925320"/>
        </p:xfrm>
        <a:graphic>
          <a:graphicData uri="http://schemas.openxmlformats.org/drawingml/2006/table">
            <a:tbl>
              <a:tblPr firstRow="1" bandRow="1">
                <a:tableStyleId>{5C22544A-7EE6-4342-B048-85BDC9FD1C3A}</a:tableStyleId>
              </a:tblPr>
              <a:tblGrid>
                <a:gridCol w="1092342">
                  <a:extLst>
                    <a:ext uri="{9D8B030D-6E8A-4147-A177-3AD203B41FA5}">
                      <a16:colId xmlns:a16="http://schemas.microsoft.com/office/drawing/2014/main" val="544434787"/>
                    </a:ext>
                  </a:extLst>
                </a:gridCol>
                <a:gridCol w="1386349">
                  <a:extLst>
                    <a:ext uri="{9D8B030D-6E8A-4147-A177-3AD203B41FA5}">
                      <a16:colId xmlns:a16="http://schemas.microsoft.com/office/drawing/2014/main" val="3701184376"/>
                    </a:ext>
                  </a:extLst>
                </a:gridCol>
                <a:gridCol w="2193636">
                  <a:extLst>
                    <a:ext uri="{9D8B030D-6E8A-4147-A177-3AD203B41FA5}">
                      <a16:colId xmlns:a16="http://schemas.microsoft.com/office/drawing/2014/main" val="3241637152"/>
                    </a:ext>
                  </a:extLst>
                </a:gridCol>
                <a:gridCol w="4619268">
                  <a:extLst>
                    <a:ext uri="{9D8B030D-6E8A-4147-A177-3AD203B41FA5}">
                      <a16:colId xmlns:a16="http://schemas.microsoft.com/office/drawing/2014/main" val="2413661414"/>
                    </a:ext>
                  </a:extLst>
                </a:gridCol>
                <a:gridCol w="2322899">
                  <a:extLst>
                    <a:ext uri="{9D8B030D-6E8A-4147-A177-3AD203B41FA5}">
                      <a16:colId xmlns:a16="http://schemas.microsoft.com/office/drawing/2014/main" val="2720780949"/>
                    </a:ext>
                  </a:extLst>
                </a:gridCol>
              </a:tblGrid>
              <a:tr h="370840">
                <a:tc>
                  <a:txBody>
                    <a:bodyPr/>
                    <a:lstStyle/>
                    <a:p>
                      <a:r>
                        <a:rPr lang="en-US" sz="1400" b="0">
                          <a:solidFill>
                            <a:schemeClr val="tx1"/>
                          </a:solidFill>
                        </a:rPr>
                        <a:t>Type</a:t>
                      </a:r>
                    </a:p>
                  </a:txBody>
                  <a:tcPr>
                    <a:solidFill>
                      <a:srgbClr val="C6DCCD"/>
                    </a:solidFill>
                  </a:tcPr>
                </a:tc>
                <a:tc>
                  <a:txBody>
                    <a:bodyPr/>
                    <a:lstStyle/>
                    <a:p>
                      <a:r>
                        <a:rPr lang="en-US" sz="1400" b="0">
                          <a:solidFill>
                            <a:schemeClr val="tx1"/>
                          </a:solidFill>
                        </a:rPr>
                        <a:t>Method</a:t>
                      </a:r>
                    </a:p>
                  </a:txBody>
                  <a:tcPr>
                    <a:solidFill>
                      <a:srgbClr val="C6DCCD"/>
                    </a:solidFill>
                  </a:tcPr>
                </a:tc>
                <a:tc>
                  <a:txBody>
                    <a:bodyPr/>
                    <a:lstStyle/>
                    <a:p>
                      <a:r>
                        <a:rPr lang="en-US" sz="1400" b="0">
                          <a:solidFill>
                            <a:schemeClr val="tx1"/>
                          </a:solidFill>
                        </a:rPr>
                        <a:t>Criteria</a:t>
                      </a:r>
                    </a:p>
                  </a:txBody>
                  <a:tcPr>
                    <a:solidFill>
                      <a:srgbClr val="C6DCCD"/>
                    </a:solidFill>
                  </a:tcPr>
                </a:tc>
                <a:tc>
                  <a:txBody>
                    <a:bodyPr/>
                    <a:lstStyle/>
                    <a:p>
                      <a:r>
                        <a:rPr lang="en-US" sz="1400" b="0">
                          <a:solidFill>
                            <a:schemeClr val="tx1"/>
                          </a:solidFill>
                        </a:rPr>
                        <a:t>Value</a:t>
                      </a:r>
                    </a:p>
                  </a:txBody>
                  <a:tcPr>
                    <a:solidFill>
                      <a:srgbClr val="C6DCCD"/>
                    </a:solidFill>
                  </a:tcPr>
                </a:tc>
                <a:tc>
                  <a:txBody>
                    <a:bodyPr/>
                    <a:lstStyle/>
                    <a:p>
                      <a:r>
                        <a:rPr lang="en-US" sz="1400" b="0">
                          <a:solidFill>
                            <a:schemeClr val="tx1"/>
                          </a:solidFill>
                        </a:rPr>
                        <a:t>Source</a:t>
                      </a:r>
                    </a:p>
                  </a:txBody>
                  <a:tcPr>
                    <a:solidFill>
                      <a:srgbClr val="C6DCCD"/>
                    </a:solidFill>
                  </a:tcPr>
                </a:tc>
                <a:extLst>
                  <a:ext uri="{0D108BD9-81ED-4DB2-BD59-A6C34878D82A}">
                    <a16:rowId xmlns:a16="http://schemas.microsoft.com/office/drawing/2014/main" val="3281024351"/>
                  </a:ext>
                </a:extLst>
              </a:tr>
              <a:tr h="370840">
                <a:tc>
                  <a:txBody>
                    <a:bodyPr/>
                    <a:lstStyle/>
                    <a:p>
                      <a:r>
                        <a:rPr lang="en-US" sz="1200"/>
                        <a:t>Protein</a:t>
                      </a:r>
                    </a:p>
                  </a:txBody>
                  <a:tcPr>
                    <a:lnB w="12700" cap="flat" cmpd="sng" algn="ctr">
                      <a:solidFill>
                        <a:schemeClr val="bg2"/>
                      </a:solidFill>
                      <a:prstDash val="solid"/>
                      <a:round/>
                      <a:headEnd type="none" w="med" len="med"/>
                      <a:tailEnd type="none" w="med" len="med"/>
                    </a:lnB>
                    <a:noFill/>
                  </a:tcPr>
                </a:tc>
                <a:tc>
                  <a:txBody>
                    <a:bodyPr/>
                    <a:lstStyle/>
                    <a:p>
                      <a:r>
                        <a:rPr lang="en-US" sz="1200"/>
                        <a:t>IHC</a:t>
                      </a:r>
                    </a:p>
                  </a:txBody>
                  <a:tcPr>
                    <a:lnB w="12700" cap="flat" cmpd="sng" algn="ctr">
                      <a:solidFill>
                        <a:schemeClr val="bg2"/>
                      </a:solidFill>
                      <a:prstDash val="solid"/>
                      <a:round/>
                      <a:headEnd type="none" w="med" len="med"/>
                      <a:tailEnd type="none" w="med" len="med"/>
                    </a:lnB>
                    <a:noFill/>
                  </a:tcPr>
                </a:tc>
                <a:tc>
                  <a:txBody>
                    <a:bodyPr/>
                    <a:lstStyle/>
                    <a:p>
                      <a:pPr lvl="0">
                        <a:buNone/>
                      </a:pPr>
                      <a:r>
                        <a:rPr lang="en-US" sz="1200" b="0" i="0" u="none" strike="noStrike" noProof="0">
                          <a:solidFill>
                            <a:srgbClr val="000000"/>
                          </a:solidFill>
                          <a:latin typeface="Funnel Sans"/>
                        </a:rPr>
                        <a:t>IHC staining intensity score = 3 in tumors</a:t>
                      </a:r>
                      <a:endParaRPr lang="en-US" sz="1200"/>
                    </a:p>
                  </a:txBody>
                  <a:tcPr>
                    <a:lnB w="12700" cap="flat" cmpd="sng" algn="ctr">
                      <a:solidFill>
                        <a:schemeClr val="bg2"/>
                      </a:solidFill>
                      <a:prstDash val="solid"/>
                      <a:round/>
                      <a:headEnd type="none" w="med" len="med"/>
                      <a:tailEnd type="none" w="med" len="med"/>
                    </a:lnB>
                    <a:noFill/>
                  </a:tcPr>
                </a:tc>
                <a:tc>
                  <a:txBody>
                    <a:bodyPr/>
                    <a:lstStyle/>
                    <a:p>
                      <a:pPr marL="0" marR="0" lvl="0" indent="0" algn="l">
                        <a:lnSpc>
                          <a:spcPct val="100000"/>
                        </a:lnSpc>
                        <a:spcBef>
                          <a:spcPts val="0"/>
                        </a:spcBef>
                        <a:spcAft>
                          <a:spcPts val="0"/>
                        </a:spcAft>
                        <a:buNone/>
                      </a:pPr>
                      <a:r>
                        <a:rPr lang="en-US" sz="1200" b="0" i="0" u="none" strike="noStrike" noProof="0">
                          <a:solidFill>
                            <a:srgbClr val="000000"/>
                          </a:solidFill>
                        </a:rPr>
                        <a:t> patients with </a:t>
                      </a:r>
                      <a:r>
                        <a:rPr lang="en-US" sz="1200" b="1" i="0" u="none" strike="noStrike" noProof="0">
                          <a:solidFill>
                            <a:srgbClr val="000000"/>
                          </a:solidFill>
                        </a:rPr>
                        <a:t>LPC</a:t>
                      </a:r>
                      <a:r>
                        <a:rPr lang="en-US" sz="1200" b="0" i="0" u="none" strike="noStrike" noProof="0">
                          <a:solidFill>
                            <a:srgbClr val="000000"/>
                          </a:solidFill>
                        </a:rPr>
                        <a:t> 91% (91/100), </a:t>
                      </a:r>
                      <a:r>
                        <a:rPr lang="en-US" sz="1200" b="1" i="0" u="none" strike="noStrike" noProof="0" err="1">
                          <a:solidFill>
                            <a:srgbClr val="000000"/>
                          </a:solidFill>
                        </a:rPr>
                        <a:t>mCSPC</a:t>
                      </a:r>
                      <a:r>
                        <a:rPr lang="en-US" sz="1200" b="0" i="0" u="none" strike="noStrike" noProof="0">
                          <a:solidFill>
                            <a:srgbClr val="000000"/>
                          </a:solidFill>
                        </a:rPr>
                        <a:t> 82% (81.98), and </a:t>
                      </a:r>
                      <a:r>
                        <a:rPr lang="en-US" sz="1200" b="1" i="0" u="none" strike="noStrike" noProof="0" err="1">
                          <a:solidFill>
                            <a:srgbClr val="000000"/>
                          </a:solidFill>
                        </a:rPr>
                        <a:t>mCRPC</a:t>
                      </a:r>
                      <a:r>
                        <a:rPr lang="en-US" sz="1200" b="0" i="0" u="none" strike="noStrike" noProof="0">
                          <a:solidFill>
                            <a:srgbClr val="000000"/>
                          </a:solidFill>
                        </a:rPr>
                        <a:t> 75.5%(34/45)  </a:t>
                      </a:r>
                      <a:endParaRPr lang="en-US" sz="1200"/>
                    </a:p>
                  </a:txBody>
                  <a:tcPr>
                    <a:lnB w="12700" cap="flat" cmpd="sng" algn="ctr">
                      <a:solidFill>
                        <a:schemeClr val="bg2"/>
                      </a:solidFill>
                      <a:prstDash val="solid"/>
                      <a:round/>
                      <a:headEnd type="none" w="med" len="med"/>
                      <a:tailEnd type="none" w="med" len="med"/>
                    </a:lnB>
                    <a:noFill/>
                  </a:tcPr>
                </a:tc>
                <a:tc>
                  <a:txBody>
                    <a:bodyPr/>
                    <a:lstStyle/>
                    <a:p>
                      <a:pPr lvl="0">
                        <a:buNone/>
                      </a:pPr>
                      <a:r>
                        <a:rPr lang="en-US" sz="1200" b="0" i="0" u="none" strike="noStrike" noProof="0">
                          <a:latin typeface="Funnel Sans"/>
                          <a:hlinkClick r:id="rId11"/>
                        </a:rPr>
                        <a:t>Shen et al. Clin Cancer Res 2025 </a:t>
                      </a:r>
                      <a:endParaRPr lang="en-US" sz="1200"/>
                    </a:p>
                  </a:txBody>
                  <a:tcPr>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67172331"/>
                  </a:ext>
                </a:extLst>
              </a:tr>
              <a:tr h="370839">
                <a:tc>
                  <a:txBody>
                    <a:bodyPr/>
                    <a:lstStyle/>
                    <a:p>
                      <a:pPr lvl="0">
                        <a:buNone/>
                      </a:pPr>
                      <a:r>
                        <a:rPr lang="en-US" sz="1200"/>
                        <a:t>Protein</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200"/>
                        <a:t>IHC</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GB" sz="1200"/>
                        <a:t>Positive staining weak, moderate and strong.</a:t>
                      </a:r>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marL="0" lvl="0" indent="0" algn="l">
                        <a:lnSpc>
                          <a:spcPct val="100000"/>
                        </a:lnSpc>
                        <a:spcBef>
                          <a:spcPts val="0"/>
                        </a:spcBef>
                        <a:spcAft>
                          <a:spcPts val="0"/>
                        </a:spcAft>
                        <a:buNone/>
                      </a:pPr>
                      <a:r>
                        <a:rPr lang="en-US" sz="1200" b="1" i="0" u="none" strike="noStrike" noProof="0">
                          <a:solidFill>
                            <a:srgbClr val="000000"/>
                          </a:solidFill>
                          <a:highlight>
                            <a:srgbClr val="FFFFFF"/>
                          </a:highlight>
                          <a:latin typeface="Funnel Sans"/>
                        </a:rPr>
                        <a:t>77% total positive in </a:t>
                      </a:r>
                      <a:r>
                        <a:rPr lang="en-US" sz="1200" b="1" i="0" u="none" strike="noStrike" noProof="0" err="1">
                          <a:solidFill>
                            <a:srgbClr val="000000"/>
                          </a:solidFill>
                          <a:highlight>
                            <a:srgbClr val="FFFFFF"/>
                          </a:highlight>
                          <a:latin typeface="Funnel Sans"/>
                        </a:rPr>
                        <a:t>PCa</a:t>
                      </a:r>
                      <a:r>
                        <a:rPr lang="en-US" sz="1200" b="0" i="0" u="none" strike="noStrike" noProof="0">
                          <a:solidFill>
                            <a:srgbClr val="000000"/>
                          </a:solidFill>
                          <a:highlight>
                            <a:srgbClr val="FFFFFF"/>
                          </a:highlight>
                          <a:latin typeface="Funnel Sans"/>
                        </a:rPr>
                        <a:t>, weak in 38%, moderate in 35%, and strong in 4% of 9576 analyzable cancers.</a:t>
                      </a:r>
                      <a:endParaRPr lang="en-US" sz="1200">
                        <a:latin typeface="Funnel Sans"/>
                      </a:endParaRPr>
                    </a:p>
                  </a:txBody>
                  <a:tcPr>
                    <a:lnT w="12700" cap="flat" cmpd="sng" algn="ctr">
                      <a:solidFill>
                        <a:schemeClr val="bg2"/>
                      </a:solidFill>
                      <a:prstDash val="solid"/>
                      <a:round/>
                      <a:headEnd type="none" w="med" len="med"/>
                      <a:tailEnd type="none" w="med" len="med"/>
                    </a:lnT>
                    <a:lnB w="12700">
                      <a:solidFill>
                        <a:schemeClr val="bg2"/>
                      </a:solidFill>
                    </a:lnB>
                    <a:noFill/>
                  </a:tcPr>
                </a:tc>
                <a:tc>
                  <a:txBody>
                    <a:bodyPr/>
                    <a:lstStyle/>
                    <a:p>
                      <a:pPr lvl="0">
                        <a:buNone/>
                      </a:pPr>
                      <a:r>
                        <a:rPr lang="en-GB" sz="1200" b="0" i="0" u="none" strike="noStrike" noProof="0">
                          <a:latin typeface="Funnel Sans"/>
                          <a:hlinkClick r:id="rId12"/>
                        </a:rPr>
                        <a:t>Bonk et. al, The Prostate, 2020</a:t>
                      </a:r>
                      <a:endParaRPr lang="en-GB" sz="1200" b="0" i="0" u="none" strike="noStrike" noProof="0">
                        <a:latin typeface="Funnel Sans"/>
                      </a:endParaRPr>
                    </a:p>
                  </a:txBody>
                  <a:tcPr>
                    <a:lnT w="12700" cap="flat" cmpd="sng" algn="ctr">
                      <a:solidFill>
                        <a:schemeClr val="bg2"/>
                      </a:solidFill>
                      <a:prstDash val="solid"/>
                      <a:round/>
                      <a:headEnd type="none" w="med" len="med"/>
                      <a:tailEnd type="none" w="med" len="med"/>
                    </a:lnT>
                    <a:lnB w="12700">
                      <a:solidFill>
                        <a:schemeClr val="bg2"/>
                      </a:solidFill>
                    </a:lnB>
                    <a:noFill/>
                  </a:tcPr>
                </a:tc>
                <a:extLst>
                  <a:ext uri="{0D108BD9-81ED-4DB2-BD59-A6C34878D82A}">
                    <a16:rowId xmlns:a16="http://schemas.microsoft.com/office/drawing/2014/main" val="544239888"/>
                  </a:ext>
                </a:extLst>
              </a:tr>
              <a:tr h="623454">
                <a:tc>
                  <a:txBody>
                    <a:bodyPr/>
                    <a:lstStyle/>
                    <a:p>
                      <a:r>
                        <a:rPr lang="en-US" sz="1200"/>
                        <a:t>mRNA</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US" sz="1200" err="1"/>
                        <a:t>RNAseq</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r>
                        <a:rPr lang="en-GB" sz="1200"/>
                        <a:t>&gt;1.4 fold change</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200" b="0" i="0" u="none" strike="noStrike" baseline="0" noProof="0" dirty="0">
                          <a:solidFill>
                            <a:srgbClr val="000000"/>
                          </a:solidFill>
                          <a:latin typeface="Funnel Sans"/>
                        </a:rPr>
                        <a:t>KLK2 was highly expressed in PRAD compared with non-transformed tissue (5956.5 and 4175.26 transcripts per million (TPM), respectively), which comprised a &gt;1.4-fold change.</a:t>
                      </a:r>
                      <a:endParaRPr lang="en-US" sz="1200" dirty="0"/>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lvl="0">
                        <a:buNone/>
                      </a:pPr>
                      <a:r>
                        <a:rPr lang="en-US" sz="1200" b="0" i="0" u="none" strike="noStrike" noProof="0" dirty="0">
                          <a:latin typeface="Funnel Sans"/>
                          <a:hlinkClick r:id="rId13"/>
                        </a:rPr>
                        <a:t>Paniagua-Herranz et al, Int J Mol Sci 2024</a:t>
                      </a:r>
                      <a:r>
                        <a:rPr lang="en-US" sz="1200" b="0" i="0" u="none" strike="noStrike" noProof="0" dirty="0">
                          <a:latin typeface="Funnel Sans"/>
                        </a:rPr>
                        <a:t> </a:t>
                      </a:r>
                      <a:r>
                        <a:rPr lang="en-US" sz="1200" b="0" i="1" u="none" strike="noStrike" noProof="0" dirty="0">
                          <a:latin typeface="Funnel Sans"/>
                        </a:rPr>
                        <a:t>(using GTEX database)</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553894309"/>
                  </a:ext>
                </a:extLst>
              </a:tr>
            </a:tbl>
          </a:graphicData>
        </a:graphic>
      </p:graphicFrame>
      <p:sp>
        <p:nvSpPr>
          <p:cNvPr id="18" name="Text 33">
            <a:extLst>
              <a:ext uri="{FF2B5EF4-FFF2-40B4-BE49-F238E27FC236}">
                <a16:creationId xmlns:a16="http://schemas.microsoft.com/office/drawing/2014/main" id="{D68CD21F-2B7D-5A9A-22B9-694B2F6EC333}"/>
              </a:ext>
            </a:extLst>
          </p:cNvPr>
          <p:cNvSpPr/>
          <p:nvPr/>
        </p:nvSpPr>
        <p:spPr>
          <a:xfrm>
            <a:off x="254001" y="1805238"/>
            <a:ext cx="4170515" cy="199507"/>
          </a:xfrm>
          <a:prstGeom prst="rect">
            <a:avLst/>
          </a:prstGeom>
          <a:noFill/>
          <a:ln/>
        </p:spPr>
        <p:txBody>
          <a:bodyPr wrap="square"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600" b="1" i="0" u="none" strike="noStrike" kern="0" cap="none" spc="-12" normalizeH="0" baseline="0" noProof="0">
                <a:ln>
                  <a:noFill/>
                </a:ln>
                <a:solidFill>
                  <a:srgbClr val="000000">
                    <a:alpha val="99000"/>
                  </a:srgbClr>
                </a:solidFill>
                <a:effectLst/>
                <a:uLnTx/>
                <a:uFillTx/>
                <a:latin typeface="Funnel Sans" pitchFamily="34" charset="0"/>
                <a:ea typeface="+mn-ea"/>
                <a:cs typeface="+mn-cs"/>
              </a:rPr>
              <a:t>Prostate Cancer </a:t>
            </a:r>
            <a:r>
              <a:rPr kumimoji="0" lang="en-US" sz="1600" b="0" i="0" u="none" strike="noStrike" kern="0" cap="none" spc="-12" normalizeH="0" baseline="0" noProof="0">
                <a:ln>
                  <a:noFill/>
                </a:ln>
                <a:solidFill>
                  <a:srgbClr val="000000">
                    <a:alpha val="99000"/>
                  </a:srgbClr>
                </a:solidFill>
                <a:effectLst/>
                <a:uLnTx/>
                <a:uFillTx/>
                <a:latin typeface="Funnel Sans" pitchFamily="34" charset="0"/>
                <a:ea typeface="+mn-ea"/>
                <a:cs typeface="+mn-cs"/>
              </a:rPr>
              <a:t>Expression</a:t>
            </a:r>
            <a:endParaRPr kumimoji="0" lang="en-US" sz="1600" b="0" i="0" u="none" strike="noStrike" kern="1200" cap="none" spc="0" normalizeH="0" baseline="0" noProof="0">
              <a:ln>
                <a:noFill/>
              </a:ln>
              <a:solidFill>
                <a:prstClr val="black"/>
              </a:solidFill>
              <a:effectLst/>
              <a:uLnTx/>
              <a:uFillTx/>
              <a:latin typeface="Funnel Sans"/>
              <a:ea typeface="+mn-ea"/>
              <a:cs typeface="+mn-cs"/>
            </a:endParaRPr>
          </a:p>
        </p:txBody>
      </p:sp>
      <p:graphicFrame>
        <p:nvGraphicFramePr>
          <p:cNvPr id="3" name="Table 2">
            <a:extLst>
              <a:ext uri="{FF2B5EF4-FFF2-40B4-BE49-F238E27FC236}">
                <a16:creationId xmlns:a16="http://schemas.microsoft.com/office/drawing/2014/main" id="{000667A5-0938-1EAB-8E45-5090A8BA4CB1}"/>
              </a:ext>
            </a:extLst>
          </p:cNvPr>
          <p:cNvGraphicFramePr>
            <a:graphicFrameLocks noGrp="1"/>
          </p:cNvGraphicFramePr>
          <p:nvPr/>
        </p:nvGraphicFramePr>
        <p:xfrm>
          <a:off x="323502" y="4952715"/>
          <a:ext cx="11614494" cy="1400469"/>
        </p:xfrm>
        <a:graphic>
          <a:graphicData uri="http://schemas.openxmlformats.org/drawingml/2006/table">
            <a:tbl>
              <a:tblPr firstRow="1" bandRow="1">
                <a:tableStyleId>{5C22544A-7EE6-4342-B048-85BDC9FD1C3A}</a:tableStyleId>
              </a:tblPr>
              <a:tblGrid>
                <a:gridCol w="1136925">
                  <a:extLst>
                    <a:ext uri="{9D8B030D-6E8A-4147-A177-3AD203B41FA5}">
                      <a16:colId xmlns:a16="http://schemas.microsoft.com/office/drawing/2014/main" val="544434787"/>
                    </a:ext>
                  </a:extLst>
                </a:gridCol>
                <a:gridCol w="1307691">
                  <a:extLst>
                    <a:ext uri="{9D8B030D-6E8A-4147-A177-3AD203B41FA5}">
                      <a16:colId xmlns:a16="http://schemas.microsoft.com/office/drawing/2014/main" val="3701184376"/>
                    </a:ext>
                  </a:extLst>
                </a:gridCol>
                <a:gridCol w="2470727">
                  <a:extLst>
                    <a:ext uri="{9D8B030D-6E8A-4147-A177-3AD203B41FA5}">
                      <a16:colId xmlns:a16="http://schemas.microsoft.com/office/drawing/2014/main" val="3241637152"/>
                    </a:ext>
                  </a:extLst>
                </a:gridCol>
                <a:gridCol w="4376252">
                  <a:extLst>
                    <a:ext uri="{9D8B030D-6E8A-4147-A177-3AD203B41FA5}">
                      <a16:colId xmlns:a16="http://schemas.microsoft.com/office/drawing/2014/main" val="2413661414"/>
                    </a:ext>
                  </a:extLst>
                </a:gridCol>
                <a:gridCol w="2322899">
                  <a:extLst>
                    <a:ext uri="{9D8B030D-6E8A-4147-A177-3AD203B41FA5}">
                      <a16:colId xmlns:a16="http://schemas.microsoft.com/office/drawing/2014/main" val="2720780949"/>
                    </a:ext>
                  </a:extLst>
                </a:gridCol>
              </a:tblGrid>
              <a:tr h="263927">
                <a:tc>
                  <a:txBody>
                    <a:bodyPr/>
                    <a:lstStyle/>
                    <a:p>
                      <a:r>
                        <a:rPr lang="en-US" sz="1400" b="0">
                          <a:solidFill>
                            <a:schemeClr val="tx1"/>
                          </a:solidFill>
                        </a:rPr>
                        <a:t>Type</a:t>
                      </a:r>
                    </a:p>
                  </a:txBody>
                  <a:tcPr>
                    <a:solidFill>
                      <a:schemeClr val="bg2"/>
                    </a:solidFill>
                  </a:tcPr>
                </a:tc>
                <a:tc>
                  <a:txBody>
                    <a:bodyPr/>
                    <a:lstStyle/>
                    <a:p>
                      <a:r>
                        <a:rPr lang="en-US" sz="1400" b="0">
                          <a:solidFill>
                            <a:schemeClr val="tx1"/>
                          </a:solidFill>
                        </a:rPr>
                        <a:t>Method</a:t>
                      </a:r>
                    </a:p>
                  </a:txBody>
                  <a:tcPr>
                    <a:solidFill>
                      <a:schemeClr val="bg2"/>
                    </a:solidFill>
                  </a:tcPr>
                </a:tc>
                <a:tc>
                  <a:txBody>
                    <a:bodyPr/>
                    <a:lstStyle/>
                    <a:p>
                      <a:r>
                        <a:rPr lang="en-US" sz="1400" b="0">
                          <a:solidFill>
                            <a:schemeClr val="tx1"/>
                          </a:solidFill>
                        </a:rPr>
                        <a:t>Criteria</a:t>
                      </a:r>
                    </a:p>
                  </a:txBody>
                  <a:tcPr>
                    <a:solidFill>
                      <a:schemeClr val="bg2"/>
                    </a:solidFill>
                  </a:tcPr>
                </a:tc>
                <a:tc>
                  <a:txBody>
                    <a:bodyPr/>
                    <a:lstStyle/>
                    <a:p>
                      <a:r>
                        <a:rPr lang="en-US" sz="1400" b="0">
                          <a:solidFill>
                            <a:schemeClr val="tx1"/>
                          </a:solidFill>
                        </a:rPr>
                        <a:t>Value</a:t>
                      </a:r>
                    </a:p>
                  </a:txBody>
                  <a:tcPr>
                    <a:solidFill>
                      <a:schemeClr val="bg2"/>
                    </a:solidFill>
                  </a:tcPr>
                </a:tc>
                <a:tc>
                  <a:txBody>
                    <a:bodyPr/>
                    <a:lstStyle/>
                    <a:p>
                      <a:r>
                        <a:rPr lang="en-US" sz="1400" b="0">
                          <a:solidFill>
                            <a:schemeClr val="tx1"/>
                          </a:solidFill>
                        </a:rPr>
                        <a:t>Source</a:t>
                      </a:r>
                    </a:p>
                  </a:txBody>
                  <a:tcPr>
                    <a:solidFill>
                      <a:schemeClr val="bg2"/>
                    </a:solidFill>
                  </a:tcPr>
                </a:tc>
                <a:extLst>
                  <a:ext uri="{0D108BD9-81ED-4DB2-BD59-A6C34878D82A}">
                    <a16:rowId xmlns:a16="http://schemas.microsoft.com/office/drawing/2014/main" val="3281024351"/>
                  </a:ext>
                </a:extLst>
              </a:tr>
              <a:tr h="547835">
                <a:tc>
                  <a:txBody>
                    <a:bodyPr/>
                    <a:lstStyle/>
                    <a:p>
                      <a:r>
                        <a:rPr lang="en-US" sz="1200"/>
                        <a:t>Protein</a:t>
                      </a:r>
                    </a:p>
                  </a:txBody>
                  <a:tcPr>
                    <a:lnB w="12700" cap="flat" cmpd="sng" algn="ctr">
                      <a:solidFill>
                        <a:schemeClr val="bg2"/>
                      </a:solidFill>
                      <a:prstDash val="solid"/>
                      <a:round/>
                      <a:headEnd type="none" w="med" len="med"/>
                      <a:tailEnd type="none" w="med" len="med"/>
                    </a:lnB>
                    <a:noFill/>
                  </a:tcPr>
                </a:tc>
                <a:tc>
                  <a:txBody>
                    <a:bodyPr/>
                    <a:lstStyle/>
                    <a:p>
                      <a:r>
                        <a:rPr lang="en-US" sz="1200"/>
                        <a:t>IHC</a:t>
                      </a:r>
                    </a:p>
                  </a:txBody>
                  <a:tcPr>
                    <a:lnB w="12700" cap="flat" cmpd="sng" algn="ctr">
                      <a:solidFill>
                        <a:schemeClr val="bg2"/>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Minimal or absent staining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 &lt;1–10%)​</a:t>
                      </a:r>
                    </a:p>
                  </a:txBody>
                  <a:tcPr>
                    <a:lnB w="12700" cap="flat" cmpd="sng" algn="ctr">
                      <a:solidFill>
                        <a:schemeClr val="bg2"/>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GB" sz="1200"/>
                        <a:t>Only prostate shows high staining in 3/3 samples</a:t>
                      </a:r>
                    </a:p>
                  </a:txBody>
                  <a:tcPr>
                    <a:lnB w="12700" cap="flat" cmpd="sng" algn="ctr">
                      <a:solidFill>
                        <a:schemeClr val="bg2"/>
                      </a:solidFill>
                      <a:prstDash val="solid"/>
                      <a:round/>
                      <a:headEnd type="none" w="med" len="med"/>
                      <a:tailEnd type="none" w="med" len="med"/>
                    </a:lnB>
                    <a:noFill/>
                  </a:tcPr>
                </a:tc>
                <a:tc>
                  <a:txBody>
                    <a:bodyPr/>
                    <a:lstStyle/>
                    <a:p>
                      <a:pPr lvl="0">
                        <a:buNone/>
                      </a:pPr>
                      <a:r>
                        <a:rPr lang="en-GB" sz="1200" b="0" i="0" u="none" strike="noStrike" noProof="0">
                          <a:latin typeface="Funnel Sans"/>
                          <a:hlinkClick r:id="rId14"/>
                        </a:rPr>
                        <a:t>Human protein atlas</a:t>
                      </a:r>
                      <a:endParaRPr lang="en-US" sz="1200">
                        <a:hlinkClick r:id="rId14"/>
                      </a:endParaRPr>
                    </a:p>
                  </a:txBody>
                  <a:tcPr>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367172331"/>
                  </a:ext>
                </a:extLst>
              </a:tr>
              <a:tr h="547834">
                <a:tc>
                  <a:txBody>
                    <a:bodyPr/>
                    <a:lstStyle/>
                    <a:p>
                      <a:pPr marL="0" lvl="0" algn="l" defTabSz="914400" rtl="0" eaLnBrk="1" latinLnBrk="0" hangingPunct="1">
                        <a:buNone/>
                      </a:pPr>
                      <a:r>
                        <a:rPr lang="en-US" sz="1200" kern="1200">
                          <a:solidFill>
                            <a:schemeClr val="dk1"/>
                          </a:solidFill>
                          <a:latin typeface="+mn-lt"/>
                          <a:ea typeface="+mn-ea"/>
                          <a:cs typeface="+mn-cs"/>
                        </a:rPr>
                        <a:t>mRNA</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lvl="0" algn="l" defTabSz="914400" rtl="0" eaLnBrk="1" latinLnBrk="0" hangingPunct="1">
                        <a:buNone/>
                      </a:pPr>
                      <a:r>
                        <a:rPr lang="en-US" sz="1200" kern="1200" err="1">
                          <a:solidFill>
                            <a:schemeClr val="dk1"/>
                          </a:solidFill>
                          <a:latin typeface="+mn-lt"/>
                          <a:ea typeface="+mn-ea"/>
                          <a:cs typeface="+mn-cs"/>
                        </a:rPr>
                        <a:t>RNAseq</a:t>
                      </a:r>
                      <a:endParaRPr lang="en-US" sz="1200" kern="1200">
                        <a:solidFill>
                          <a:schemeClr val="dk1"/>
                        </a:solidFill>
                        <a:latin typeface="+mn-lt"/>
                        <a:ea typeface="+mn-ea"/>
                        <a:cs typeface="+mn-cs"/>
                      </a:endParaRP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lvl="0" indent="0" algn="l" defTabSz="914400" rtl="0" eaLnBrk="1" latinLnBrk="0" hangingPunct="1">
                        <a:lnSpc>
                          <a:spcPct val="100000"/>
                        </a:lnSpc>
                        <a:spcBef>
                          <a:spcPts val="0"/>
                        </a:spcBef>
                        <a:spcAft>
                          <a:spcPts val="0"/>
                        </a:spcAft>
                        <a:buNone/>
                        <a:tabLst/>
                        <a:defRPr/>
                      </a:pPr>
                      <a:endParaRPr lang="en-GB" sz="1200" kern="1200" dirty="0">
                        <a:solidFill>
                          <a:schemeClr val="dk1"/>
                        </a:solidFill>
                        <a:latin typeface="+mn-lt"/>
                        <a:ea typeface="+mn-ea"/>
                        <a:cs typeface="+mn-cs"/>
                      </a:endParaRP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lvl="0" indent="0" algn="l" defTabSz="914400" rtl="0" eaLnBrk="1" latinLnBrk="0" hangingPunct="1">
                        <a:lnSpc>
                          <a:spcPct val="100000"/>
                        </a:lnSpc>
                        <a:spcBef>
                          <a:spcPts val="0"/>
                        </a:spcBef>
                        <a:spcAft>
                          <a:spcPts val="0"/>
                        </a:spcAft>
                        <a:buNone/>
                      </a:pPr>
                      <a:r>
                        <a:rPr lang="en-GB" sz="1200" kern="1200">
                          <a:solidFill>
                            <a:schemeClr val="dk1"/>
                          </a:solidFill>
                          <a:latin typeface="+mn-lt"/>
                          <a:ea typeface="+mn-ea"/>
                          <a:cs typeface="+mn-cs"/>
                        </a:rPr>
                        <a:t>KLK2 expression in normal prostate at </a:t>
                      </a:r>
                      <a:r>
                        <a:rPr lang="en-GB" sz="1200" kern="1200" err="1">
                          <a:solidFill>
                            <a:schemeClr val="dk1"/>
                          </a:solidFill>
                          <a:latin typeface="+mn-lt"/>
                          <a:ea typeface="+mn-ea"/>
                          <a:cs typeface="+mn-cs"/>
                        </a:rPr>
                        <a:t>nTPM</a:t>
                      </a:r>
                      <a:r>
                        <a:rPr lang="en-GB" sz="1200" kern="1200">
                          <a:solidFill>
                            <a:schemeClr val="dk1"/>
                          </a:solidFill>
                          <a:latin typeface="+mn-lt"/>
                          <a:ea typeface="+mn-ea"/>
                          <a:cs typeface="+mn-cs"/>
                        </a:rPr>
                        <a:t> ~360 while all other tissues show less than 5nTPM</a:t>
                      </a: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marL="0" lvl="0" algn="l" defTabSz="914400" rtl="0" eaLnBrk="1" latinLnBrk="0" hangingPunct="1">
                        <a:buNone/>
                      </a:pPr>
                      <a:r>
                        <a:rPr lang="en-GB" sz="1200" kern="1200" noProof="0" dirty="0">
                          <a:solidFill>
                            <a:schemeClr val="accent3"/>
                          </a:solidFill>
                          <a:latin typeface="+mn-lt"/>
                          <a:ea typeface="+mn-ea"/>
                          <a:cs typeface="+mn-cs"/>
                          <a:hlinkClick r:id="rId14">
                            <a:extLst>
                              <a:ext uri="{A12FA001-AC4F-418D-AE19-62706E023703}">
                                <ahyp:hlinkClr xmlns:ahyp="http://schemas.microsoft.com/office/drawing/2018/hyperlinkcolor" val="tx"/>
                              </a:ext>
                            </a:extLst>
                          </a:hlinkClick>
                        </a:rPr>
                        <a:t>Human protein atlas</a:t>
                      </a:r>
                      <a:r>
                        <a:rPr lang="en-GB" sz="1200" kern="1200" noProof="0" dirty="0">
                          <a:solidFill>
                            <a:schemeClr val="accent3"/>
                          </a:solidFill>
                          <a:latin typeface="+mn-lt"/>
                          <a:ea typeface="+mn-ea"/>
                          <a:cs typeface="+mn-cs"/>
                        </a:rPr>
                        <a:t> </a:t>
                      </a:r>
                      <a:r>
                        <a:rPr lang="en-GB" sz="1200" kern="1200" noProof="0" dirty="0">
                          <a:solidFill>
                            <a:schemeClr val="dk1"/>
                          </a:solidFill>
                          <a:latin typeface="+mn-lt"/>
                          <a:ea typeface="+mn-ea"/>
                          <a:cs typeface="+mn-cs"/>
                        </a:rPr>
                        <a:t>(GTEX)</a:t>
                      </a:r>
                      <a:endParaRPr lang="en-US" sz="1200" kern="1200" dirty="0">
                        <a:solidFill>
                          <a:schemeClr val="dk1"/>
                        </a:solidFill>
                        <a:latin typeface="+mn-lt"/>
                        <a:ea typeface="+mn-ea"/>
                        <a:cs typeface="+mn-cs"/>
                      </a:endParaRPr>
                    </a:p>
                  </a:txBody>
                  <a:tcP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209249595"/>
                  </a:ext>
                </a:extLst>
              </a:tr>
            </a:tbl>
          </a:graphicData>
        </a:graphic>
      </p:graphicFrame>
      <p:sp>
        <p:nvSpPr>
          <p:cNvPr id="19" name="Text 33">
            <a:extLst>
              <a:ext uri="{FF2B5EF4-FFF2-40B4-BE49-F238E27FC236}">
                <a16:creationId xmlns:a16="http://schemas.microsoft.com/office/drawing/2014/main" id="{8D261986-201A-FB21-B14C-6FF8F5509091}"/>
              </a:ext>
            </a:extLst>
          </p:cNvPr>
          <p:cNvSpPr/>
          <p:nvPr/>
        </p:nvSpPr>
        <p:spPr>
          <a:xfrm>
            <a:off x="254000" y="4749718"/>
            <a:ext cx="4170515" cy="199507"/>
          </a:xfrm>
          <a:prstGeom prst="rect">
            <a:avLst/>
          </a:prstGeom>
          <a:noFill/>
          <a:ln/>
        </p:spPr>
        <p:txBody>
          <a:bodyPr wrap="square"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600" b="1" i="0" u="none" strike="noStrike" kern="0" cap="none" spc="-12" normalizeH="0" baseline="0" noProof="0">
                <a:ln>
                  <a:noFill/>
                </a:ln>
                <a:solidFill>
                  <a:srgbClr val="000000">
                    <a:alpha val="99000"/>
                  </a:srgbClr>
                </a:solidFill>
                <a:effectLst/>
                <a:uLnTx/>
                <a:uFillTx/>
                <a:latin typeface="Funnel Sans" pitchFamily="34" charset="0"/>
                <a:ea typeface="+mn-ea"/>
                <a:cs typeface="+mn-cs"/>
              </a:rPr>
              <a:t>Healthy</a:t>
            </a:r>
            <a:r>
              <a:rPr kumimoji="0" lang="en-US" sz="1600" b="0" i="0" u="none" strike="noStrike" kern="0" cap="none" spc="-12" normalizeH="0" baseline="0" noProof="0">
                <a:ln>
                  <a:noFill/>
                </a:ln>
                <a:solidFill>
                  <a:srgbClr val="000000">
                    <a:alpha val="99000"/>
                  </a:srgbClr>
                </a:solidFill>
                <a:effectLst/>
                <a:uLnTx/>
                <a:uFillTx/>
                <a:latin typeface="Funnel Sans" pitchFamily="34" charset="0"/>
                <a:ea typeface="+mn-ea"/>
                <a:cs typeface="+mn-cs"/>
              </a:rPr>
              <a:t> Cell Expression</a:t>
            </a:r>
            <a:endParaRPr kumimoji="0" lang="en-US" sz="1600" b="0" i="0" u="none" strike="noStrike" kern="1200" cap="none" spc="0" normalizeH="0" baseline="0" noProof="0">
              <a:ln>
                <a:noFill/>
              </a:ln>
              <a:solidFill>
                <a:prstClr val="black"/>
              </a:solidFill>
              <a:effectLst/>
              <a:uLnTx/>
              <a:uFillTx/>
              <a:latin typeface="Funnel Sans"/>
              <a:ea typeface="+mn-ea"/>
              <a:cs typeface="+mn-cs"/>
            </a:endParaRPr>
          </a:p>
        </p:txBody>
      </p:sp>
      <p:sp>
        <p:nvSpPr>
          <p:cNvPr id="21" name="Rectangle: Rounded Corners 20">
            <a:extLst>
              <a:ext uri="{FF2B5EF4-FFF2-40B4-BE49-F238E27FC236}">
                <a16:creationId xmlns:a16="http://schemas.microsoft.com/office/drawing/2014/main" id="{9935BD4E-3AB1-0E27-D8CD-3A4E754E360B}"/>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Expression</a:t>
            </a:r>
          </a:p>
        </p:txBody>
      </p:sp>
      <p:sp>
        <p:nvSpPr>
          <p:cNvPr id="20" name="TextBox 19">
            <a:extLst>
              <a:ext uri="{FF2B5EF4-FFF2-40B4-BE49-F238E27FC236}">
                <a16:creationId xmlns:a16="http://schemas.microsoft.com/office/drawing/2014/main" id="{7A791C61-7603-0A79-6FBB-AAD1B3C1B6B8}"/>
              </a:ext>
            </a:extLst>
          </p:cNvPr>
          <p:cNvSpPr txBox="1"/>
          <p:nvPr/>
        </p:nvSpPr>
        <p:spPr>
          <a:xfrm>
            <a:off x="11075917" y="6611779"/>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35791432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B6257-5661-8BB7-6816-AB2B987D0D2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F827FF3-6260-6673-B79B-088189982E93}"/>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 name="Shape 19">
            <a:extLst>
              <a:ext uri="{FF2B5EF4-FFF2-40B4-BE49-F238E27FC236}">
                <a16:creationId xmlns:a16="http://schemas.microsoft.com/office/drawing/2014/main" id="{9E3CBFC8-54A4-EFCE-9637-59E77C03E17F}"/>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4" name="Image 3" descr="preencoded.png">
            <a:extLst>
              <a:ext uri="{FF2B5EF4-FFF2-40B4-BE49-F238E27FC236}">
                <a16:creationId xmlns:a16="http://schemas.microsoft.com/office/drawing/2014/main" id="{BD453A56-6418-25EA-D200-A1F805CD8214}"/>
              </a:ext>
            </a:extLst>
          </p:cNvPr>
          <p:cNvPicPr>
            <a:picLocks noChangeAspect="1"/>
          </p:cNvPicPr>
          <p:nvPr/>
        </p:nvPicPr>
        <p:blipFill>
          <a:blip r:embed="rId2"/>
          <a:stretch>
            <a:fillRect/>
          </a:stretch>
        </p:blipFill>
        <p:spPr>
          <a:xfrm>
            <a:off x="323503" y="254000"/>
            <a:ext cx="156939" cy="191368"/>
          </a:xfrm>
          <a:prstGeom prst="rect">
            <a:avLst/>
          </a:prstGeom>
        </p:spPr>
      </p:pic>
      <p:pic>
        <p:nvPicPr>
          <p:cNvPr id="5" name="Image 4" descr="preencoded.png">
            <a:extLst>
              <a:ext uri="{FF2B5EF4-FFF2-40B4-BE49-F238E27FC236}">
                <a16:creationId xmlns:a16="http://schemas.microsoft.com/office/drawing/2014/main" id="{898B79CE-DAA3-9A9F-D24F-C8B89EE1EF27}"/>
              </a:ext>
            </a:extLst>
          </p:cNvPr>
          <p:cNvPicPr>
            <a:picLocks noChangeAspect="1"/>
          </p:cNvPicPr>
          <p:nvPr/>
        </p:nvPicPr>
        <p:blipFill>
          <a:blip r:embed="rId3"/>
          <a:stretch>
            <a:fillRect/>
          </a:stretch>
        </p:blipFill>
        <p:spPr>
          <a:xfrm>
            <a:off x="387028" y="459541"/>
            <a:ext cx="968" cy="4"/>
          </a:xfrm>
          <a:prstGeom prst="rect">
            <a:avLst/>
          </a:prstGeom>
        </p:spPr>
      </p:pic>
      <p:pic>
        <p:nvPicPr>
          <p:cNvPr id="6" name="Image 5" descr="preencoded.png">
            <a:extLst>
              <a:ext uri="{FF2B5EF4-FFF2-40B4-BE49-F238E27FC236}">
                <a16:creationId xmlns:a16="http://schemas.microsoft.com/office/drawing/2014/main" id="{AFC5BDCE-FB91-0269-4CBC-58A5B58973FA}"/>
              </a:ext>
            </a:extLst>
          </p:cNvPr>
          <p:cNvPicPr>
            <a:picLocks noChangeAspect="1"/>
          </p:cNvPicPr>
          <p:nvPr/>
        </p:nvPicPr>
        <p:blipFill>
          <a:blip r:embed="rId3"/>
          <a:stretch>
            <a:fillRect/>
          </a:stretch>
        </p:blipFill>
        <p:spPr>
          <a:xfrm>
            <a:off x="386756" y="459546"/>
            <a:ext cx="297" cy="4"/>
          </a:xfrm>
          <a:prstGeom prst="rect">
            <a:avLst/>
          </a:prstGeom>
        </p:spPr>
      </p:pic>
      <p:pic>
        <p:nvPicPr>
          <p:cNvPr id="7" name="Image 6" descr="preencoded.png">
            <a:extLst>
              <a:ext uri="{FF2B5EF4-FFF2-40B4-BE49-F238E27FC236}">
                <a16:creationId xmlns:a16="http://schemas.microsoft.com/office/drawing/2014/main" id="{522A983C-EEF3-7D1A-041B-B01402435852}"/>
              </a:ext>
            </a:extLst>
          </p:cNvPr>
          <p:cNvPicPr>
            <a:picLocks noChangeAspect="1"/>
          </p:cNvPicPr>
          <p:nvPr/>
        </p:nvPicPr>
        <p:blipFill>
          <a:blip r:embed="rId3"/>
          <a:stretch>
            <a:fillRect/>
          </a:stretch>
        </p:blipFill>
        <p:spPr>
          <a:xfrm>
            <a:off x="389261" y="473634"/>
            <a:ext cx="471" cy="4"/>
          </a:xfrm>
          <a:prstGeom prst="rect">
            <a:avLst/>
          </a:prstGeom>
        </p:spPr>
      </p:pic>
      <p:pic>
        <p:nvPicPr>
          <p:cNvPr id="8" name="Image 7" descr="preencoded.png">
            <a:extLst>
              <a:ext uri="{FF2B5EF4-FFF2-40B4-BE49-F238E27FC236}">
                <a16:creationId xmlns:a16="http://schemas.microsoft.com/office/drawing/2014/main" id="{2654A384-A110-97BD-71C3-0BB3BCA30055}"/>
              </a:ext>
            </a:extLst>
          </p:cNvPr>
          <p:cNvPicPr>
            <a:picLocks noChangeAspect="1"/>
          </p:cNvPicPr>
          <p:nvPr/>
        </p:nvPicPr>
        <p:blipFill>
          <a:blip r:embed="rId4"/>
          <a:stretch>
            <a:fillRect/>
          </a:stretch>
        </p:blipFill>
        <p:spPr>
          <a:xfrm>
            <a:off x="600300" y="305277"/>
            <a:ext cx="137641" cy="202443"/>
          </a:xfrm>
          <a:prstGeom prst="rect">
            <a:avLst/>
          </a:prstGeom>
        </p:spPr>
      </p:pic>
      <p:pic>
        <p:nvPicPr>
          <p:cNvPr id="9" name="Image 8" descr="preencoded.png">
            <a:extLst>
              <a:ext uri="{FF2B5EF4-FFF2-40B4-BE49-F238E27FC236}">
                <a16:creationId xmlns:a16="http://schemas.microsoft.com/office/drawing/2014/main" id="{1E1A4E11-AF31-BF61-BD54-E52E26C6A081}"/>
              </a:ext>
            </a:extLst>
          </p:cNvPr>
          <p:cNvPicPr>
            <a:picLocks noChangeAspect="1"/>
          </p:cNvPicPr>
          <p:nvPr/>
        </p:nvPicPr>
        <p:blipFill>
          <a:blip r:embed="rId5"/>
          <a:stretch>
            <a:fillRect/>
          </a:stretch>
        </p:blipFill>
        <p:spPr>
          <a:xfrm>
            <a:off x="743372" y="360473"/>
            <a:ext cx="126579" cy="147243"/>
          </a:xfrm>
          <a:prstGeom prst="rect">
            <a:avLst/>
          </a:prstGeom>
        </p:spPr>
      </p:pic>
      <p:pic>
        <p:nvPicPr>
          <p:cNvPr id="10" name="Image 9" descr="preencoded.png">
            <a:extLst>
              <a:ext uri="{FF2B5EF4-FFF2-40B4-BE49-F238E27FC236}">
                <a16:creationId xmlns:a16="http://schemas.microsoft.com/office/drawing/2014/main" id="{78028B19-37BF-423D-A4CF-08584A68DD86}"/>
              </a:ext>
            </a:extLst>
          </p:cNvPr>
          <p:cNvPicPr>
            <a:picLocks noChangeAspect="1"/>
          </p:cNvPicPr>
          <p:nvPr/>
        </p:nvPicPr>
        <p:blipFill>
          <a:blip r:embed="rId6"/>
          <a:stretch>
            <a:fillRect/>
          </a:stretch>
        </p:blipFill>
        <p:spPr>
          <a:xfrm>
            <a:off x="872928" y="360456"/>
            <a:ext cx="131737" cy="198345"/>
          </a:xfrm>
          <a:prstGeom prst="rect">
            <a:avLst/>
          </a:prstGeom>
        </p:spPr>
      </p:pic>
      <p:pic>
        <p:nvPicPr>
          <p:cNvPr id="11" name="Image 10" descr="preencoded.png">
            <a:extLst>
              <a:ext uri="{FF2B5EF4-FFF2-40B4-BE49-F238E27FC236}">
                <a16:creationId xmlns:a16="http://schemas.microsoft.com/office/drawing/2014/main" id="{3A3E56E8-D75E-FA5F-B2A7-301788E53699}"/>
              </a:ext>
            </a:extLst>
          </p:cNvPr>
          <p:cNvPicPr>
            <a:picLocks noChangeAspect="1"/>
          </p:cNvPicPr>
          <p:nvPr/>
        </p:nvPicPr>
        <p:blipFill>
          <a:blip r:embed="rId7"/>
          <a:stretch>
            <a:fillRect/>
          </a:stretch>
        </p:blipFill>
        <p:spPr>
          <a:xfrm>
            <a:off x="1001142" y="360468"/>
            <a:ext cx="135508" cy="147243"/>
          </a:xfrm>
          <a:prstGeom prst="rect">
            <a:avLst/>
          </a:prstGeom>
        </p:spPr>
      </p:pic>
      <p:pic>
        <p:nvPicPr>
          <p:cNvPr id="12" name="Image 11" descr="preencoded.png">
            <a:extLst>
              <a:ext uri="{FF2B5EF4-FFF2-40B4-BE49-F238E27FC236}">
                <a16:creationId xmlns:a16="http://schemas.microsoft.com/office/drawing/2014/main" id="{576AA910-22D6-002D-6569-3698BF0168E8}"/>
              </a:ext>
            </a:extLst>
          </p:cNvPr>
          <p:cNvPicPr>
            <a:picLocks noChangeAspect="1"/>
          </p:cNvPicPr>
          <p:nvPr/>
        </p:nvPicPr>
        <p:blipFill>
          <a:blip r:embed="rId8"/>
          <a:stretch>
            <a:fillRect/>
          </a:stretch>
        </p:blipFill>
        <p:spPr>
          <a:xfrm>
            <a:off x="375419" y="376364"/>
            <a:ext cx="174501" cy="157568"/>
          </a:xfrm>
          <a:prstGeom prst="rect">
            <a:avLst/>
          </a:prstGeom>
        </p:spPr>
      </p:pic>
      <p:pic>
        <p:nvPicPr>
          <p:cNvPr id="13" name="Image 12" descr="preencoded.png">
            <a:extLst>
              <a:ext uri="{FF2B5EF4-FFF2-40B4-BE49-F238E27FC236}">
                <a16:creationId xmlns:a16="http://schemas.microsoft.com/office/drawing/2014/main" id="{0E179B82-2251-37F0-D62E-3DA1348CBBBF}"/>
              </a:ext>
            </a:extLst>
          </p:cNvPr>
          <p:cNvPicPr>
            <a:picLocks noChangeAspect="1"/>
          </p:cNvPicPr>
          <p:nvPr/>
        </p:nvPicPr>
        <p:blipFill>
          <a:blip r:embed="rId9"/>
          <a:stretch>
            <a:fillRect/>
          </a:stretch>
        </p:blipFill>
        <p:spPr>
          <a:xfrm>
            <a:off x="254000" y="376361"/>
            <a:ext cx="174501" cy="157575"/>
          </a:xfrm>
          <a:prstGeom prst="rect">
            <a:avLst/>
          </a:prstGeom>
        </p:spPr>
      </p:pic>
      <p:sp>
        <p:nvSpPr>
          <p:cNvPr id="14" name="Text 28">
            <a:extLst>
              <a:ext uri="{FF2B5EF4-FFF2-40B4-BE49-F238E27FC236}">
                <a16:creationId xmlns:a16="http://schemas.microsoft.com/office/drawing/2014/main" id="{D8DD1B88-A790-7E16-FFA0-AFE29D9ABCC8}"/>
              </a:ext>
            </a:extLst>
          </p:cNvPr>
          <p:cNvSpPr/>
          <p:nvPr/>
        </p:nvSpPr>
        <p:spPr>
          <a:xfrm>
            <a:off x="322252" y="477413"/>
            <a:ext cx="11492939" cy="778747"/>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Imaging studies confirm KLK2 as a strong candidate for peptide RLT</a:t>
            </a:r>
          </a:p>
        </p:txBody>
      </p:sp>
      <p:sp>
        <p:nvSpPr>
          <p:cNvPr id="18" name="TextBox 17">
            <a:extLst>
              <a:ext uri="{FF2B5EF4-FFF2-40B4-BE49-F238E27FC236}">
                <a16:creationId xmlns:a16="http://schemas.microsoft.com/office/drawing/2014/main" id="{2F53D4E8-A051-324E-A5CD-D0BE839D347A}"/>
              </a:ext>
            </a:extLst>
          </p:cNvPr>
          <p:cNvSpPr txBox="1"/>
          <p:nvPr/>
        </p:nvSpPr>
        <p:spPr>
          <a:xfrm>
            <a:off x="0" y="6542506"/>
            <a:ext cx="9637251" cy="400110"/>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Sources: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0"/>
              </a:rPr>
              <a:t>Pandit-</a:t>
            </a:r>
            <a:r>
              <a:rPr kumimoji="0" lang="en-US" sz="1000" b="0" i="0" u="none" strike="noStrike" kern="1200" cap="none" spc="0" normalizeH="0" baseline="0" noProof="0" err="1">
                <a:ln>
                  <a:noFill/>
                </a:ln>
                <a:solidFill>
                  <a:prstClr val="black"/>
                </a:solidFill>
                <a:effectLst/>
                <a:uLnTx/>
                <a:uFillTx/>
                <a:latin typeface="Funnel Sans"/>
                <a:ea typeface="+mn-lt"/>
                <a:cs typeface="+mn-lt"/>
                <a:hlinkClick r:id="rId10"/>
              </a:rPr>
              <a:t>Taskar</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0"/>
              </a:rPr>
              <a:t> et al. J </a:t>
            </a:r>
            <a:r>
              <a:rPr kumimoji="0" lang="en-US" sz="1000" b="0" i="0" u="none" strike="noStrike" kern="1200" cap="none" spc="0" normalizeH="0" baseline="0" noProof="0" err="1">
                <a:ln>
                  <a:noFill/>
                </a:ln>
                <a:solidFill>
                  <a:prstClr val="black"/>
                </a:solidFill>
                <a:effectLst/>
                <a:uLnTx/>
                <a:uFillTx/>
                <a:latin typeface="Funnel Sans"/>
                <a:ea typeface="+mn-lt"/>
                <a:cs typeface="+mn-lt"/>
                <a:hlinkClick r:id="rId10"/>
              </a:rPr>
              <a:t>Nucl</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0"/>
              </a:rPr>
              <a:t> Med. 2024 </a:t>
            </a:r>
            <a:r>
              <a:rPr kumimoji="0" lang="en-US" sz="1000" b="0" i="0" u="none" strike="noStrike" kern="1200" cap="none" spc="0" normalizeH="0" baseline="0" noProof="0">
                <a:ln>
                  <a:noFill/>
                </a:ln>
                <a:solidFill>
                  <a:prstClr val="black"/>
                </a:solidFill>
                <a:effectLst/>
                <a:uLnTx/>
                <a:uFillTx/>
                <a:latin typeface="Funnel Sans"/>
                <a:ea typeface="+mn-lt"/>
                <a:cs typeface="+mn-lt"/>
              </a:rPr>
              <a:t>, </a:t>
            </a:r>
            <a:r>
              <a:rPr kumimoji="0" lang="en-US" sz="1000" b="0" i="0" u="none" strike="noStrike" kern="1200" cap="none" spc="0" normalizeH="0" baseline="0" noProof="0">
                <a:ln>
                  <a:noFill/>
                </a:ln>
                <a:solidFill>
                  <a:prstClr val="black"/>
                </a:solidFill>
                <a:effectLst/>
                <a:uLnTx/>
                <a:uFillTx/>
                <a:latin typeface="Funnel Sans"/>
                <a:ea typeface="+mn-lt"/>
                <a:cs typeface="+mn-lt"/>
                <a:hlinkClick r:id="rId11"/>
              </a:rPr>
              <a:t>JNJ ASCO 2024 NCT04644770</a:t>
            </a:r>
            <a:endParaRPr kumimoji="0" lang="en-US" sz="1000" b="0" i="0" u="none" strike="noStrike" kern="1200" cap="none" spc="0" normalizeH="0" baseline="0" noProof="0">
              <a:ln>
                <a:noFill/>
              </a:ln>
              <a:solidFill>
                <a:prstClr val="black"/>
              </a:solidFill>
              <a:effectLst/>
              <a:uLnTx/>
              <a:uFillTx/>
              <a:latin typeface="Funnel Sans"/>
              <a:ea typeface="+mn-lt"/>
              <a:cs typeface="+mn-l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17" name="Rectangle: Rounded Corners 16">
            <a:extLst>
              <a:ext uri="{FF2B5EF4-FFF2-40B4-BE49-F238E27FC236}">
                <a16:creationId xmlns:a16="http://schemas.microsoft.com/office/drawing/2014/main" id="{B3AA314A-C838-4CA4-D584-F96E4EC30B52}"/>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Expression</a:t>
            </a:r>
          </a:p>
        </p:txBody>
      </p:sp>
      <p:sp>
        <p:nvSpPr>
          <p:cNvPr id="16" name="TextBox 15">
            <a:extLst>
              <a:ext uri="{FF2B5EF4-FFF2-40B4-BE49-F238E27FC236}">
                <a16:creationId xmlns:a16="http://schemas.microsoft.com/office/drawing/2014/main" id="{FCD17D97-6A61-2EEA-E91D-DE33C644D18D}"/>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29" name="TextBox 28">
            <a:extLst>
              <a:ext uri="{FF2B5EF4-FFF2-40B4-BE49-F238E27FC236}">
                <a16:creationId xmlns:a16="http://schemas.microsoft.com/office/drawing/2014/main" id="{EB20908F-CD00-1B3A-6D2E-D5BE579CFCE4}"/>
              </a:ext>
            </a:extLst>
          </p:cNvPr>
          <p:cNvSpPr txBox="1"/>
          <p:nvPr/>
        </p:nvSpPr>
        <p:spPr>
          <a:xfrm>
            <a:off x="339895" y="1377148"/>
            <a:ext cx="5960437"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30000" noProof="0">
                <a:ln>
                  <a:noFill/>
                </a:ln>
                <a:solidFill>
                  <a:srgbClr val="1B1B1B"/>
                </a:solidFill>
                <a:effectLst/>
                <a:uLnTx/>
                <a:uFillTx/>
                <a:latin typeface="Funnel Sans"/>
                <a:ea typeface="+mn-ea"/>
                <a:cs typeface="+mn-cs"/>
              </a:rPr>
              <a:t>111</a:t>
            </a:r>
            <a:r>
              <a:rPr kumimoji="0" lang="en-US" sz="1600" b="0" i="0" u="none" strike="noStrike" kern="1200" cap="none" spc="0" normalizeH="0" baseline="0" noProof="0">
                <a:ln>
                  <a:noFill/>
                </a:ln>
                <a:solidFill>
                  <a:srgbClr val="1B1B1B"/>
                </a:solidFill>
                <a:effectLst/>
                <a:uLnTx/>
                <a:uFillTx/>
                <a:latin typeface="Funnel Sans"/>
                <a:ea typeface="+mn-ea"/>
                <a:cs typeface="+mn-cs"/>
              </a:rPr>
              <a:t>In-DOTA-h11B6 antibody SPECT showed tumor uptake with little target mediated uptake in healthy tissues, unlike PSMA</a:t>
            </a:r>
            <a:endParaRPr kumimoji="0" lang="en-US" sz="1200" b="0" i="0" u="none" strike="noStrike" kern="1200" cap="none" spc="0" normalizeH="0" baseline="0" noProof="0">
              <a:ln>
                <a:noFill/>
              </a:ln>
              <a:solidFill>
                <a:prstClr val="black"/>
              </a:solidFill>
              <a:effectLst/>
              <a:uLnTx/>
              <a:uFillTx/>
              <a:latin typeface="Funnel Sans"/>
              <a:ea typeface="+mn-ea"/>
              <a:cs typeface="+mn-cs"/>
            </a:endParaRPr>
          </a:p>
        </p:txBody>
      </p:sp>
      <p:sp>
        <p:nvSpPr>
          <p:cNvPr id="31" name="TextBox 30">
            <a:extLst>
              <a:ext uri="{FF2B5EF4-FFF2-40B4-BE49-F238E27FC236}">
                <a16:creationId xmlns:a16="http://schemas.microsoft.com/office/drawing/2014/main" id="{C65A543A-B4D0-A90E-1BD0-45E2E9BCAD24}"/>
              </a:ext>
            </a:extLst>
          </p:cNvPr>
          <p:cNvSpPr txBox="1"/>
          <p:nvPr/>
        </p:nvSpPr>
        <p:spPr>
          <a:xfrm>
            <a:off x="4048586" y="6289086"/>
            <a:ext cx="2055091" cy="253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1B1B"/>
                </a:solidFill>
                <a:effectLst/>
                <a:uLnTx/>
                <a:uFillTx/>
                <a:latin typeface="Funnel Sans"/>
                <a:ea typeface="+mn-ea"/>
                <a:cs typeface="+mn-cs"/>
              </a:rPr>
              <a:t>Arrows denote lesions</a:t>
            </a:r>
            <a:endParaRPr kumimoji="0" lang="en-US" sz="1800" b="0" i="0" u="none" strike="noStrike" kern="1200" cap="none" spc="0" normalizeH="0" baseline="0" noProof="0">
              <a:ln>
                <a:noFill/>
              </a:ln>
              <a:solidFill>
                <a:prstClr val="black"/>
              </a:solidFill>
              <a:effectLst/>
              <a:uLnTx/>
              <a:uFillTx/>
              <a:latin typeface="Funnel Sans"/>
              <a:ea typeface="+mn-ea"/>
              <a:cs typeface="+mn-cs"/>
            </a:endParaRPr>
          </a:p>
        </p:txBody>
      </p:sp>
      <p:sp>
        <p:nvSpPr>
          <p:cNvPr id="19" name="Shape 1">
            <a:extLst>
              <a:ext uri="{FF2B5EF4-FFF2-40B4-BE49-F238E27FC236}">
                <a16:creationId xmlns:a16="http://schemas.microsoft.com/office/drawing/2014/main" id="{FB993A37-4165-1AAA-9C45-AB4354109B9A}"/>
              </a:ext>
            </a:extLst>
          </p:cNvPr>
          <p:cNvSpPr/>
          <p:nvPr/>
        </p:nvSpPr>
        <p:spPr>
          <a:xfrm>
            <a:off x="183478" y="1232518"/>
            <a:ext cx="11684001"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grpSp>
        <p:nvGrpSpPr>
          <p:cNvPr id="32" name="Group 31">
            <a:extLst>
              <a:ext uri="{FF2B5EF4-FFF2-40B4-BE49-F238E27FC236}">
                <a16:creationId xmlns:a16="http://schemas.microsoft.com/office/drawing/2014/main" id="{CBC9EC67-3636-6FB4-26E2-094ECEC5EAEE}"/>
              </a:ext>
            </a:extLst>
          </p:cNvPr>
          <p:cNvGrpSpPr/>
          <p:nvPr/>
        </p:nvGrpSpPr>
        <p:grpSpPr>
          <a:xfrm>
            <a:off x="3740884" y="2332971"/>
            <a:ext cx="2093048" cy="3905274"/>
            <a:chOff x="6796424" y="1607717"/>
            <a:chExt cx="2386416" cy="4452651"/>
          </a:xfrm>
        </p:grpSpPr>
        <p:pic>
          <p:nvPicPr>
            <p:cNvPr id="22" name="Picture 21" descr="A close-up of a scan of a brain&#10;&#10;AI-generated content may be incorrect.">
              <a:extLst>
                <a:ext uri="{FF2B5EF4-FFF2-40B4-BE49-F238E27FC236}">
                  <a16:creationId xmlns:a16="http://schemas.microsoft.com/office/drawing/2014/main" id="{B20D9545-E128-10B2-9D35-3F001F04269A}"/>
                </a:ext>
              </a:extLst>
            </p:cNvPr>
            <p:cNvPicPr>
              <a:picLocks noChangeAspect="1"/>
            </p:cNvPicPr>
            <p:nvPr/>
          </p:nvPicPr>
          <p:blipFill>
            <a:blip r:embed="rId12"/>
            <a:stretch>
              <a:fillRect/>
            </a:stretch>
          </p:blipFill>
          <p:spPr>
            <a:xfrm>
              <a:off x="6883557" y="1607717"/>
              <a:ext cx="2299283" cy="4452651"/>
            </a:xfrm>
            <a:prstGeom prst="rect">
              <a:avLst/>
            </a:prstGeom>
          </p:spPr>
        </p:pic>
        <p:sp>
          <p:nvSpPr>
            <p:cNvPr id="23" name="TextBox 22">
              <a:extLst>
                <a:ext uri="{FF2B5EF4-FFF2-40B4-BE49-F238E27FC236}">
                  <a16:creationId xmlns:a16="http://schemas.microsoft.com/office/drawing/2014/main" id="{FDB994EF-7D22-B814-8F2D-729EE675EE20}"/>
                </a:ext>
              </a:extLst>
            </p:cNvPr>
            <p:cNvSpPr txBox="1"/>
            <p:nvPr/>
          </p:nvSpPr>
          <p:spPr>
            <a:xfrm>
              <a:off x="6796424" y="2880096"/>
              <a:ext cx="9120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E8E8E8"/>
                  </a:solidFill>
                  <a:effectLst/>
                  <a:uLnTx/>
                  <a:uFillTx/>
                  <a:latin typeface="Funnel Sans"/>
                  <a:ea typeface="Funnel Sans"/>
                  <a:cs typeface="+mn-cs"/>
                </a:rPr>
                <a:t>2mg</a:t>
              </a:r>
            </a:p>
          </p:txBody>
        </p:sp>
        <p:sp>
          <p:nvSpPr>
            <p:cNvPr id="25" name="TextBox 24">
              <a:extLst>
                <a:ext uri="{FF2B5EF4-FFF2-40B4-BE49-F238E27FC236}">
                  <a16:creationId xmlns:a16="http://schemas.microsoft.com/office/drawing/2014/main" id="{CFA123D1-1655-B2D2-2012-B6B5744DE9C6}"/>
                </a:ext>
              </a:extLst>
            </p:cNvPr>
            <p:cNvSpPr txBox="1"/>
            <p:nvPr/>
          </p:nvSpPr>
          <p:spPr>
            <a:xfrm>
              <a:off x="6796424" y="4411793"/>
              <a:ext cx="9120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E8E8E8"/>
                  </a:solidFill>
                  <a:effectLst/>
                  <a:uLnTx/>
                  <a:uFillTx/>
                  <a:latin typeface="Funnel Sans"/>
                  <a:ea typeface="Funnel Sans"/>
                  <a:cs typeface="+mn-cs"/>
                </a:rPr>
                <a:t>2mg</a:t>
              </a:r>
            </a:p>
          </p:txBody>
        </p:sp>
        <p:sp>
          <p:nvSpPr>
            <p:cNvPr id="28" name="TextBox 27">
              <a:extLst>
                <a:ext uri="{FF2B5EF4-FFF2-40B4-BE49-F238E27FC236}">
                  <a16:creationId xmlns:a16="http://schemas.microsoft.com/office/drawing/2014/main" id="{34D9D2A6-2990-A8CF-F751-8044D8FE7D38}"/>
                </a:ext>
              </a:extLst>
            </p:cNvPr>
            <p:cNvSpPr txBox="1"/>
            <p:nvPr/>
          </p:nvSpPr>
          <p:spPr>
            <a:xfrm>
              <a:off x="6796424" y="5674097"/>
              <a:ext cx="9120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E8E8E8"/>
                  </a:solidFill>
                  <a:effectLst/>
                  <a:uLnTx/>
                  <a:uFillTx/>
                  <a:latin typeface="Funnel Sans"/>
                  <a:ea typeface="Funnel Sans"/>
                  <a:cs typeface="+mn-cs"/>
                </a:rPr>
                <a:t>10mg</a:t>
              </a:r>
            </a:p>
          </p:txBody>
        </p:sp>
      </p:grpSp>
      <p:grpSp>
        <p:nvGrpSpPr>
          <p:cNvPr id="38" name="Group 37">
            <a:extLst>
              <a:ext uri="{FF2B5EF4-FFF2-40B4-BE49-F238E27FC236}">
                <a16:creationId xmlns:a16="http://schemas.microsoft.com/office/drawing/2014/main" id="{E09F72DA-2431-66A7-FAE1-52ED456EB4EF}"/>
              </a:ext>
            </a:extLst>
          </p:cNvPr>
          <p:cNvGrpSpPr/>
          <p:nvPr/>
        </p:nvGrpSpPr>
        <p:grpSpPr>
          <a:xfrm>
            <a:off x="1233796" y="1963842"/>
            <a:ext cx="1971798" cy="4497845"/>
            <a:chOff x="3447794" y="1475677"/>
            <a:chExt cx="2112062" cy="4487706"/>
          </a:xfrm>
        </p:grpSpPr>
        <p:pic>
          <p:nvPicPr>
            <p:cNvPr id="21" name="Picture 20" descr="A close-up of x-ray images&#10;&#10;AI-generated content may be incorrect.">
              <a:extLst>
                <a:ext uri="{FF2B5EF4-FFF2-40B4-BE49-F238E27FC236}">
                  <a16:creationId xmlns:a16="http://schemas.microsoft.com/office/drawing/2014/main" id="{0792149D-AF8B-4C3F-EDE9-6366AFB8C2F5}"/>
                </a:ext>
              </a:extLst>
            </p:cNvPr>
            <p:cNvPicPr>
              <a:picLocks noChangeAspect="1"/>
            </p:cNvPicPr>
            <p:nvPr/>
          </p:nvPicPr>
          <p:blipFill>
            <a:blip r:embed="rId13"/>
            <a:srcRect l="49969" t="-248" r="26799" b="53306"/>
            <a:stretch>
              <a:fillRect/>
            </a:stretch>
          </p:blipFill>
          <p:spPr>
            <a:xfrm>
              <a:off x="3447794" y="1475677"/>
              <a:ext cx="1917030" cy="4355915"/>
            </a:xfrm>
            <a:prstGeom prst="rect">
              <a:avLst/>
            </a:prstGeom>
          </p:spPr>
        </p:pic>
        <p:grpSp>
          <p:nvGrpSpPr>
            <p:cNvPr id="34" name="Group 33">
              <a:extLst>
                <a:ext uri="{FF2B5EF4-FFF2-40B4-BE49-F238E27FC236}">
                  <a16:creationId xmlns:a16="http://schemas.microsoft.com/office/drawing/2014/main" id="{070DE3D1-F87E-4F1E-C45D-18B24C0C934C}"/>
                </a:ext>
              </a:extLst>
            </p:cNvPr>
            <p:cNvGrpSpPr/>
            <p:nvPr/>
          </p:nvGrpSpPr>
          <p:grpSpPr>
            <a:xfrm>
              <a:off x="3450339" y="3224539"/>
              <a:ext cx="2109517" cy="2738844"/>
              <a:chOff x="3450339" y="3224539"/>
              <a:chExt cx="2109517" cy="2738844"/>
            </a:xfrm>
          </p:grpSpPr>
          <p:sp>
            <p:nvSpPr>
              <p:cNvPr id="36" name="TextBox 35">
                <a:extLst>
                  <a:ext uri="{FF2B5EF4-FFF2-40B4-BE49-F238E27FC236}">
                    <a16:creationId xmlns:a16="http://schemas.microsoft.com/office/drawing/2014/main" id="{73015936-684B-24E4-3F99-309DC43454EA}"/>
                  </a:ext>
                </a:extLst>
              </p:cNvPr>
              <p:cNvSpPr txBox="1"/>
              <p:nvPr/>
            </p:nvSpPr>
            <p:spPr>
              <a:xfrm>
                <a:off x="3450339" y="3224539"/>
                <a:ext cx="1649077" cy="3377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Funnel Sans"/>
                    <a:ea typeface="Funnel Sans"/>
                    <a:cs typeface="+mn-cs"/>
                  </a:rPr>
                  <a:t>2mg SPECT</a:t>
                </a:r>
              </a:p>
            </p:txBody>
          </p:sp>
          <p:sp>
            <p:nvSpPr>
              <p:cNvPr id="37" name="TextBox 36">
                <a:extLst>
                  <a:ext uri="{FF2B5EF4-FFF2-40B4-BE49-F238E27FC236}">
                    <a16:creationId xmlns:a16="http://schemas.microsoft.com/office/drawing/2014/main" id="{B5B263CD-324B-8FFF-B55E-573CE7F91E19}"/>
                  </a:ext>
                </a:extLst>
              </p:cNvPr>
              <p:cNvSpPr txBox="1"/>
              <p:nvPr/>
            </p:nvSpPr>
            <p:spPr>
              <a:xfrm>
                <a:off x="3530692" y="5240976"/>
                <a:ext cx="1708833" cy="3377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Funnel Sans"/>
                    <a:ea typeface="Funnel Sans"/>
                    <a:cs typeface="+mn-cs"/>
                  </a:rPr>
                  <a:t>10mg SPECT</a:t>
                </a:r>
              </a:p>
            </p:txBody>
          </p:sp>
          <p:sp>
            <p:nvSpPr>
              <p:cNvPr id="24" name="TextBox 23">
                <a:extLst>
                  <a:ext uri="{FF2B5EF4-FFF2-40B4-BE49-F238E27FC236}">
                    <a16:creationId xmlns:a16="http://schemas.microsoft.com/office/drawing/2014/main" id="{C50024A2-9529-4075-5D5C-6C19A88280EB}"/>
                  </a:ext>
                </a:extLst>
              </p:cNvPr>
              <p:cNvSpPr txBox="1"/>
              <p:nvPr/>
            </p:nvSpPr>
            <p:spPr>
              <a:xfrm>
                <a:off x="3534075" y="5686384"/>
                <a:ext cx="103769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Funnel Sans"/>
                    <a:cs typeface="+mn-cs"/>
                  </a:rPr>
                  <a:t>anterior</a:t>
                </a:r>
              </a:p>
            </p:txBody>
          </p:sp>
          <p:sp>
            <p:nvSpPr>
              <p:cNvPr id="26" name="TextBox 25">
                <a:extLst>
                  <a:ext uri="{FF2B5EF4-FFF2-40B4-BE49-F238E27FC236}">
                    <a16:creationId xmlns:a16="http://schemas.microsoft.com/office/drawing/2014/main" id="{DF72C155-2972-50A4-3513-327875DB372A}"/>
                  </a:ext>
                </a:extLst>
              </p:cNvPr>
              <p:cNvSpPr txBox="1"/>
              <p:nvPr/>
            </p:nvSpPr>
            <p:spPr>
              <a:xfrm>
                <a:off x="4522162" y="5686384"/>
                <a:ext cx="103769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Funnel Sans"/>
                    <a:ea typeface="Funnel Sans"/>
                    <a:cs typeface="+mn-cs"/>
                  </a:rPr>
                  <a:t>posterior</a:t>
                </a:r>
              </a:p>
            </p:txBody>
          </p:sp>
        </p:grpSp>
      </p:grpSp>
      <p:pic>
        <p:nvPicPr>
          <p:cNvPr id="1026" name="Picture 2">
            <a:extLst>
              <a:ext uri="{FF2B5EF4-FFF2-40B4-BE49-F238E27FC236}">
                <a16:creationId xmlns:a16="http://schemas.microsoft.com/office/drawing/2014/main" id="{3441819F-EEB3-A231-C15E-ECD9295A2AC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052823" y="2554431"/>
            <a:ext cx="4548100" cy="3601135"/>
          </a:xfrm>
          <a:prstGeom prst="rect">
            <a:avLst/>
          </a:prstGeom>
          <a:noFill/>
          <a:extLst>
            <a:ext uri="{909E8E84-426E-40DD-AFC4-6F175D3DCCD1}">
              <a14:hiddenFill xmlns:a14="http://schemas.microsoft.com/office/drawing/2010/main">
                <a:solidFill>
                  <a:srgbClr val="FFFFFF"/>
                </a:solidFill>
              </a14:hiddenFill>
            </a:ext>
          </a:extLst>
        </p:spPr>
      </p:pic>
      <p:cxnSp>
        <p:nvCxnSpPr>
          <p:cNvPr id="40" name="Straight Arrow Connector 39">
            <a:extLst>
              <a:ext uri="{FF2B5EF4-FFF2-40B4-BE49-F238E27FC236}">
                <a16:creationId xmlns:a16="http://schemas.microsoft.com/office/drawing/2014/main" id="{47A83947-D131-CF52-D00D-4E8338F6156F}"/>
              </a:ext>
            </a:extLst>
          </p:cNvPr>
          <p:cNvCxnSpPr>
            <a:cxnSpLocks/>
          </p:cNvCxnSpPr>
          <p:nvPr/>
        </p:nvCxnSpPr>
        <p:spPr>
          <a:xfrm>
            <a:off x="1321582" y="3429000"/>
            <a:ext cx="31807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DC90C9E5-E965-1D33-C450-D3EC258887F4}"/>
              </a:ext>
            </a:extLst>
          </p:cNvPr>
          <p:cNvCxnSpPr>
            <a:cxnSpLocks/>
          </p:cNvCxnSpPr>
          <p:nvPr/>
        </p:nvCxnSpPr>
        <p:spPr>
          <a:xfrm>
            <a:off x="1321582" y="5590309"/>
            <a:ext cx="31807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9E1690D7-6EC8-9250-60FA-592C1FF62150}"/>
              </a:ext>
            </a:extLst>
          </p:cNvPr>
          <p:cNvSpPr txBox="1"/>
          <p:nvPr/>
        </p:nvSpPr>
        <p:spPr>
          <a:xfrm>
            <a:off x="2666890" y="2503068"/>
            <a:ext cx="1145501"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Funnel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Funnel Sans"/>
                <a:ea typeface="+mn-ea"/>
                <a:cs typeface="+mn-cs"/>
              </a:rPr>
              <a:t>Ab blood pool &amp; liver catabolism</a:t>
            </a:r>
            <a:endParaRPr kumimoji="0" lang="en-US" sz="1100" b="0" i="0" u="none" strike="noStrike" kern="1200" cap="none" spc="0" normalizeH="0" baseline="0" noProof="0">
              <a:ln>
                <a:noFill/>
              </a:ln>
              <a:solidFill>
                <a:prstClr val="black"/>
              </a:solidFill>
              <a:effectLst/>
              <a:uLnTx/>
              <a:uFillTx/>
              <a:latin typeface="Funnel Sans"/>
              <a:ea typeface="+mn-ea"/>
              <a:cs typeface="+mn-cs"/>
            </a:endParaRPr>
          </a:p>
        </p:txBody>
      </p:sp>
      <p:cxnSp>
        <p:nvCxnSpPr>
          <p:cNvPr id="44" name="Straight Connector 43">
            <a:extLst>
              <a:ext uri="{FF2B5EF4-FFF2-40B4-BE49-F238E27FC236}">
                <a16:creationId xmlns:a16="http://schemas.microsoft.com/office/drawing/2014/main" id="{32437ED6-9695-046C-360E-050FA3AA646C}"/>
              </a:ext>
            </a:extLst>
          </p:cNvPr>
          <p:cNvCxnSpPr/>
          <p:nvPr/>
        </p:nvCxnSpPr>
        <p:spPr>
          <a:xfrm>
            <a:off x="6516459" y="1363936"/>
            <a:ext cx="0" cy="5074770"/>
          </a:xfrm>
          <a:prstGeom prst="line">
            <a:avLst/>
          </a:prstGeom>
          <a:ln w="28575"/>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CA956FFF-BCAE-2961-E990-1D430CFC9CBE}"/>
              </a:ext>
            </a:extLst>
          </p:cNvPr>
          <p:cNvSpPr txBox="1"/>
          <p:nvPr/>
        </p:nvSpPr>
        <p:spPr>
          <a:xfrm>
            <a:off x="6713045" y="1386917"/>
            <a:ext cx="5235386"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1B1B1B"/>
                </a:solidFill>
                <a:effectLst/>
                <a:uLnTx/>
                <a:uFillTx/>
                <a:latin typeface="Funnel Sans"/>
                <a:ea typeface="+mn-ea"/>
                <a:cs typeface="+mn-cs"/>
              </a:rPr>
              <a:t>However, JNJ reported two Grade 5 adverse events of ILD for </a:t>
            </a:r>
            <a:r>
              <a:rPr kumimoji="0" lang="en-US" sz="1600" b="0" i="0" u="none" strike="noStrike" kern="1200" cap="none" spc="0" normalizeH="0" baseline="30000" noProof="0">
                <a:ln>
                  <a:noFill/>
                </a:ln>
                <a:solidFill>
                  <a:srgbClr val="1B1B1B"/>
                </a:solidFill>
                <a:effectLst/>
                <a:uLnTx/>
                <a:uFillTx/>
                <a:latin typeface="Funnel Sans"/>
                <a:ea typeface="+mn-ea"/>
                <a:cs typeface="+mn-cs"/>
              </a:rPr>
              <a:t>225</a:t>
            </a:r>
            <a:r>
              <a:rPr kumimoji="0" lang="en-US" sz="1600" b="0" i="0" u="none" strike="noStrike" kern="1200" cap="none" spc="0" normalizeH="0" baseline="0" noProof="0">
                <a:ln>
                  <a:noFill/>
                </a:ln>
                <a:solidFill>
                  <a:srgbClr val="1B1B1B"/>
                </a:solidFill>
                <a:effectLst/>
                <a:uLnTx/>
                <a:uFillTx/>
                <a:latin typeface="Funnel Sans"/>
                <a:ea typeface="+mn-ea"/>
                <a:cs typeface="+mn-cs"/>
              </a:rPr>
              <a:t>Ac-DOTA-h11B6 RIT, likely due to </a:t>
            </a:r>
            <a:r>
              <a:rPr kumimoji="0" lang="en-US" sz="1600" b="0" i="0" u="none" strike="noStrike" kern="1200" cap="none" spc="0" normalizeH="0" baseline="0" noProof="0" err="1">
                <a:ln>
                  <a:noFill/>
                </a:ln>
                <a:solidFill>
                  <a:srgbClr val="1B1B1B"/>
                </a:solidFill>
                <a:effectLst/>
                <a:uLnTx/>
                <a:uFillTx/>
                <a:latin typeface="Funnel Sans"/>
                <a:ea typeface="+mn-ea"/>
                <a:cs typeface="+mn-cs"/>
              </a:rPr>
              <a:t>mAb</a:t>
            </a:r>
            <a:r>
              <a:rPr kumimoji="0" lang="en-US" sz="1600" b="0" i="0" u="none" strike="noStrike" kern="1200" cap="none" spc="0" normalizeH="0" baseline="0" noProof="0">
                <a:ln>
                  <a:noFill/>
                </a:ln>
                <a:solidFill>
                  <a:srgbClr val="1B1B1B"/>
                </a:solidFill>
                <a:effectLst/>
                <a:uLnTx/>
                <a:uFillTx/>
                <a:latin typeface="Funnel Sans"/>
                <a:ea typeface="+mn-ea"/>
                <a:cs typeface="+mn-cs"/>
              </a:rPr>
              <a:t> accumulation – not a liability for peptide RLT</a:t>
            </a:r>
            <a:endParaRPr kumimoji="0" lang="en-US" sz="12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1936441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010CD-6F49-1E13-E10B-3F14FDA2E2DA}"/>
            </a:ext>
          </a:extLst>
        </p:cNvPr>
        <p:cNvGrpSpPr/>
        <p:nvPr/>
      </p:nvGrpSpPr>
      <p:grpSpPr>
        <a:xfrm>
          <a:off x="0" y="0"/>
          <a:ext cx="0" cy="0"/>
          <a:chOff x="0" y="0"/>
          <a:chExt cx="0" cy="0"/>
        </a:xfrm>
      </p:grpSpPr>
      <p:sp>
        <p:nvSpPr>
          <p:cNvPr id="40" name="Shape 5">
            <a:extLst>
              <a:ext uri="{FF2B5EF4-FFF2-40B4-BE49-F238E27FC236}">
                <a16:creationId xmlns:a16="http://schemas.microsoft.com/office/drawing/2014/main" id="{663CFEAF-A94A-BB23-1222-CB5CBFCD279E}"/>
              </a:ext>
            </a:extLst>
          </p:cNvPr>
          <p:cNvSpPr/>
          <p:nvPr/>
        </p:nvSpPr>
        <p:spPr>
          <a:xfrm rot="10800000">
            <a:off x="640004" y="1707501"/>
            <a:ext cx="6007378" cy="4816700"/>
          </a:xfrm>
          <a:prstGeom prst="round2SameRect">
            <a:avLst>
              <a:gd name="adj1" fmla="val 5880"/>
              <a:gd name="adj2" fmla="val 0"/>
            </a:avLst>
          </a:prstGeom>
          <a:solidFill>
            <a:schemeClr val="bg2">
              <a:alpha val="7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30" name="Shape 5">
            <a:extLst>
              <a:ext uri="{FF2B5EF4-FFF2-40B4-BE49-F238E27FC236}">
                <a16:creationId xmlns:a16="http://schemas.microsoft.com/office/drawing/2014/main" id="{3B8D4D06-A46F-7367-5271-53970F9AEF83}"/>
              </a:ext>
            </a:extLst>
          </p:cNvPr>
          <p:cNvSpPr/>
          <p:nvPr/>
        </p:nvSpPr>
        <p:spPr>
          <a:xfrm rot="10800000">
            <a:off x="6840509" y="3772171"/>
            <a:ext cx="4379976" cy="2721451"/>
          </a:xfrm>
          <a:prstGeom prst="round2SameRect">
            <a:avLst>
              <a:gd name="adj1" fmla="val 5880"/>
              <a:gd name="adj2" fmla="val 0"/>
            </a:avLst>
          </a:prstGeom>
          <a:solidFill>
            <a:schemeClr val="bg2">
              <a:alpha val="7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9" name="Shape 5">
            <a:extLst>
              <a:ext uri="{FF2B5EF4-FFF2-40B4-BE49-F238E27FC236}">
                <a16:creationId xmlns:a16="http://schemas.microsoft.com/office/drawing/2014/main" id="{5A5467B4-03B5-3CC6-15B1-97C90CB15F51}"/>
              </a:ext>
            </a:extLst>
          </p:cNvPr>
          <p:cNvSpPr/>
          <p:nvPr/>
        </p:nvSpPr>
        <p:spPr>
          <a:xfrm rot="10800000">
            <a:off x="6843963" y="1615444"/>
            <a:ext cx="4387112" cy="1594529"/>
          </a:xfrm>
          <a:prstGeom prst="round2SameRect">
            <a:avLst>
              <a:gd name="adj1" fmla="val 5880"/>
              <a:gd name="adj2" fmla="val 0"/>
            </a:avLst>
          </a:prstGeom>
          <a:solidFill>
            <a:schemeClr val="bg2">
              <a:alpha val="70000"/>
            </a:schemeClr>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5" name="Shape 0">
            <a:extLst>
              <a:ext uri="{FF2B5EF4-FFF2-40B4-BE49-F238E27FC236}">
                <a16:creationId xmlns:a16="http://schemas.microsoft.com/office/drawing/2014/main" id="{BFBFBD28-2ABD-BF7E-D30E-D11CAB1B1780}"/>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6" name="Shape 19">
            <a:extLst>
              <a:ext uri="{FF2B5EF4-FFF2-40B4-BE49-F238E27FC236}">
                <a16:creationId xmlns:a16="http://schemas.microsoft.com/office/drawing/2014/main" id="{DAB859FC-D5C9-7222-23C8-7453A4DE237D}"/>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7" name="Image 3" descr="preencoded.png">
            <a:extLst>
              <a:ext uri="{FF2B5EF4-FFF2-40B4-BE49-F238E27FC236}">
                <a16:creationId xmlns:a16="http://schemas.microsoft.com/office/drawing/2014/main" id="{C6EE4C6C-A9F4-C137-2F9A-AC8F221E023B}"/>
              </a:ext>
            </a:extLst>
          </p:cNvPr>
          <p:cNvPicPr>
            <a:picLocks noChangeAspect="1"/>
          </p:cNvPicPr>
          <p:nvPr/>
        </p:nvPicPr>
        <p:blipFill>
          <a:blip r:embed="rId2"/>
          <a:stretch>
            <a:fillRect/>
          </a:stretch>
        </p:blipFill>
        <p:spPr>
          <a:xfrm>
            <a:off x="323503" y="254000"/>
            <a:ext cx="156939" cy="191368"/>
          </a:xfrm>
          <a:prstGeom prst="rect">
            <a:avLst/>
          </a:prstGeom>
        </p:spPr>
      </p:pic>
      <p:pic>
        <p:nvPicPr>
          <p:cNvPr id="8" name="Image 4" descr="preencoded.png">
            <a:extLst>
              <a:ext uri="{FF2B5EF4-FFF2-40B4-BE49-F238E27FC236}">
                <a16:creationId xmlns:a16="http://schemas.microsoft.com/office/drawing/2014/main" id="{BF86D920-7E66-8089-C1D0-FD2256C95A27}"/>
              </a:ext>
            </a:extLst>
          </p:cNvPr>
          <p:cNvPicPr>
            <a:picLocks noChangeAspect="1"/>
          </p:cNvPicPr>
          <p:nvPr/>
        </p:nvPicPr>
        <p:blipFill>
          <a:blip r:embed="rId3"/>
          <a:stretch>
            <a:fillRect/>
          </a:stretch>
        </p:blipFill>
        <p:spPr>
          <a:xfrm>
            <a:off x="387028" y="459541"/>
            <a:ext cx="968" cy="4"/>
          </a:xfrm>
          <a:prstGeom prst="rect">
            <a:avLst/>
          </a:prstGeom>
        </p:spPr>
      </p:pic>
      <p:pic>
        <p:nvPicPr>
          <p:cNvPr id="9" name="Image 5" descr="preencoded.png">
            <a:extLst>
              <a:ext uri="{FF2B5EF4-FFF2-40B4-BE49-F238E27FC236}">
                <a16:creationId xmlns:a16="http://schemas.microsoft.com/office/drawing/2014/main" id="{4C3F8769-8475-CB47-1553-A61AE7D5C4B5}"/>
              </a:ext>
            </a:extLst>
          </p:cNvPr>
          <p:cNvPicPr>
            <a:picLocks noChangeAspect="1"/>
          </p:cNvPicPr>
          <p:nvPr/>
        </p:nvPicPr>
        <p:blipFill>
          <a:blip r:embed="rId3"/>
          <a:stretch>
            <a:fillRect/>
          </a:stretch>
        </p:blipFill>
        <p:spPr>
          <a:xfrm>
            <a:off x="386756" y="459546"/>
            <a:ext cx="297" cy="4"/>
          </a:xfrm>
          <a:prstGeom prst="rect">
            <a:avLst/>
          </a:prstGeom>
        </p:spPr>
      </p:pic>
      <p:pic>
        <p:nvPicPr>
          <p:cNvPr id="10" name="Image 6" descr="preencoded.png">
            <a:extLst>
              <a:ext uri="{FF2B5EF4-FFF2-40B4-BE49-F238E27FC236}">
                <a16:creationId xmlns:a16="http://schemas.microsoft.com/office/drawing/2014/main" id="{3CD4C14F-849E-75AD-A336-4A163484BC8B}"/>
              </a:ext>
            </a:extLst>
          </p:cNvPr>
          <p:cNvPicPr>
            <a:picLocks noChangeAspect="1"/>
          </p:cNvPicPr>
          <p:nvPr/>
        </p:nvPicPr>
        <p:blipFill>
          <a:blip r:embed="rId3"/>
          <a:stretch>
            <a:fillRect/>
          </a:stretch>
        </p:blipFill>
        <p:spPr>
          <a:xfrm>
            <a:off x="389261" y="473634"/>
            <a:ext cx="471" cy="4"/>
          </a:xfrm>
          <a:prstGeom prst="rect">
            <a:avLst/>
          </a:prstGeom>
        </p:spPr>
      </p:pic>
      <p:pic>
        <p:nvPicPr>
          <p:cNvPr id="11" name="Image 7" descr="preencoded.png">
            <a:extLst>
              <a:ext uri="{FF2B5EF4-FFF2-40B4-BE49-F238E27FC236}">
                <a16:creationId xmlns:a16="http://schemas.microsoft.com/office/drawing/2014/main" id="{83837416-3466-8F76-E093-8BC753A01007}"/>
              </a:ext>
            </a:extLst>
          </p:cNvPr>
          <p:cNvPicPr>
            <a:picLocks noChangeAspect="1"/>
          </p:cNvPicPr>
          <p:nvPr/>
        </p:nvPicPr>
        <p:blipFill>
          <a:blip r:embed="rId4"/>
          <a:stretch>
            <a:fillRect/>
          </a:stretch>
        </p:blipFill>
        <p:spPr>
          <a:xfrm>
            <a:off x="600300" y="305277"/>
            <a:ext cx="137641" cy="202443"/>
          </a:xfrm>
          <a:prstGeom prst="rect">
            <a:avLst/>
          </a:prstGeom>
        </p:spPr>
      </p:pic>
      <p:pic>
        <p:nvPicPr>
          <p:cNvPr id="12" name="Image 8" descr="preencoded.png">
            <a:extLst>
              <a:ext uri="{FF2B5EF4-FFF2-40B4-BE49-F238E27FC236}">
                <a16:creationId xmlns:a16="http://schemas.microsoft.com/office/drawing/2014/main" id="{02C6312F-F23D-A49A-0447-79A54DA32068}"/>
              </a:ext>
            </a:extLst>
          </p:cNvPr>
          <p:cNvPicPr>
            <a:picLocks noChangeAspect="1"/>
          </p:cNvPicPr>
          <p:nvPr/>
        </p:nvPicPr>
        <p:blipFill>
          <a:blip r:embed="rId5"/>
          <a:stretch>
            <a:fillRect/>
          </a:stretch>
        </p:blipFill>
        <p:spPr>
          <a:xfrm>
            <a:off x="743372" y="360473"/>
            <a:ext cx="126579" cy="147243"/>
          </a:xfrm>
          <a:prstGeom prst="rect">
            <a:avLst/>
          </a:prstGeom>
        </p:spPr>
      </p:pic>
      <p:pic>
        <p:nvPicPr>
          <p:cNvPr id="13" name="Image 9" descr="preencoded.png">
            <a:extLst>
              <a:ext uri="{FF2B5EF4-FFF2-40B4-BE49-F238E27FC236}">
                <a16:creationId xmlns:a16="http://schemas.microsoft.com/office/drawing/2014/main" id="{62D30AB8-D5C3-EB96-7F61-06C76EBADBA4}"/>
              </a:ext>
            </a:extLst>
          </p:cNvPr>
          <p:cNvPicPr>
            <a:picLocks noChangeAspect="1"/>
          </p:cNvPicPr>
          <p:nvPr/>
        </p:nvPicPr>
        <p:blipFill>
          <a:blip r:embed="rId6"/>
          <a:stretch>
            <a:fillRect/>
          </a:stretch>
        </p:blipFill>
        <p:spPr>
          <a:xfrm>
            <a:off x="872928" y="360456"/>
            <a:ext cx="131737" cy="198345"/>
          </a:xfrm>
          <a:prstGeom prst="rect">
            <a:avLst/>
          </a:prstGeom>
        </p:spPr>
      </p:pic>
      <p:pic>
        <p:nvPicPr>
          <p:cNvPr id="14" name="Image 10" descr="preencoded.png">
            <a:extLst>
              <a:ext uri="{FF2B5EF4-FFF2-40B4-BE49-F238E27FC236}">
                <a16:creationId xmlns:a16="http://schemas.microsoft.com/office/drawing/2014/main" id="{FA60858D-4C22-278B-7E0C-E5B8FA635800}"/>
              </a:ext>
            </a:extLst>
          </p:cNvPr>
          <p:cNvPicPr>
            <a:picLocks noChangeAspect="1"/>
          </p:cNvPicPr>
          <p:nvPr/>
        </p:nvPicPr>
        <p:blipFill>
          <a:blip r:embed="rId7"/>
          <a:stretch>
            <a:fillRect/>
          </a:stretch>
        </p:blipFill>
        <p:spPr>
          <a:xfrm>
            <a:off x="1001142" y="360468"/>
            <a:ext cx="135508" cy="147243"/>
          </a:xfrm>
          <a:prstGeom prst="rect">
            <a:avLst/>
          </a:prstGeom>
        </p:spPr>
      </p:pic>
      <p:pic>
        <p:nvPicPr>
          <p:cNvPr id="15" name="Image 11" descr="preencoded.png">
            <a:extLst>
              <a:ext uri="{FF2B5EF4-FFF2-40B4-BE49-F238E27FC236}">
                <a16:creationId xmlns:a16="http://schemas.microsoft.com/office/drawing/2014/main" id="{04CB4EA7-7D28-9B20-DE12-1CC24D56768B}"/>
              </a:ext>
            </a:extLst>
          </p:cNvPr>
          <p:cNvPicPr>
            <a:picLocks noChangeAspect="1"/>
          </p:cNvPicPr>
          <p:nvPr/>
        </p:nvPicPr>
        <p:blipFill>
          <a:blip r:embed="rId8"/>
          <a:stretch>
            <a:fillRect/>
          </a:stretch>
        </p:blipFill>
        <p:spPr>
          <a:xfrm>
            <a:off x="375419" y="376364"/>
            <a:ext cx="174501" cy="157568"/>
          </a:xfrm>
          <a:prstGeom prst="rect">
            <a:avLst/>
          </a:prstGeom>
        </p:spPr>
      </p:pic>
      <p:pic>
        <p:nvPicPr>
          <p:cNvPr id="16" name="Image 12" descr="preencoded.png">
            <a:extLst>
              <a:ext uri="{FF2B5EF4-FFF2-40B4-BE49-F238E27FC236}">
                <a16:creationId xmlns:a16="http://schemas.microsoft.com/office/drawing/2014/main" id="{3C031CB2-114B-3DC1-6BB2-FAC1877D0915}"/>
              </a:ext>
            </a:extLst>
          </p:cNvPr>
          <p:cNvPicPr>
            <a:picLocks noChangeAspect="1"/>
          </p:cNvPicPr>
          <p:nvPr/>
        </p:nvPicPr>
        <p:blipFill>
          <a:blip r:embed="rId9"/>
          <a:stretch>
            <a:fillRect/>
          </a:stretch>
        </p:blipFill>
        <p:spPr>
          <a:xfrm>
            <a:off x="254000" y="376361"/>
            <a:ext cx="174501" cy="157575"/>
          </a:xfrm>
          <a:prstGeom prst="rect">
            <a:avLst/>
          </a:prstGeom>
        </p:spPr>
      </p:pic>
      <p:sp>
        <p:nvSpPr>
          <p:cNvPr id="17" name="Text 28">
            <a:extLst>
              <a:ext uri="{FF2B5EF4-FFF2-40B4-BE49-F238E27FC236}">
                <a16:creationId xmlns:a16="http://schemas.microsoft.com/office/drawing/2014/main" id="{53832548-7131-CF87-C7CD-3DBD8161E5F1}"/>
              </a:ext>
            </a:extLst>
          </p:cNvPr>
          <p:cNvSpPr/>
          <p:nvPr/>
        </p:nvSpPr>
        <p:spPr>
          <a:xfrm>
            <a:off x="341626" y="478614"/>
            <a:ext cx="10977446" cy="801076"/>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dirty="0">
                <a:ln>
                  <a:noFill/>
                </a:ln>
                <a:solidFill>
                  <a:srgbClr val="000000">
                    <a:alpha val="99000"/>
                  </a:srgbClr>
                </a:solidFill>
                <a:effectLst/>
                <a:uLnTx/>
                <a:uFillTx/>
                <a:latin typeface="Funnel Sans"/>
                <a:ea typeface="+mn-ea"/>
                <a:cs typeface="+mn-cs"/>
              </a:rPr>
              <a:t>Surface location, structure and low secretion make KLK2 an appealing target</a:t>
            </a:r>
            <a:endParaRPr kumimoji="0" lang="en-US" sz="2400" b="0" i="0" u="none" strike="noStrike" kern="1200" cap="none" spc="0" normalizeH="0" baseline="0" noProof="0" dirty="0">
              <a:ln>
                <a:noFill/>
              </a:ln>
              <a:solidFill>
                <a:prstClr val="black"/>
              </a:solidFill>
              <a:effectLst/>
              <a:uLnTx/>
              <a:uFillTx/>
              <a:latin typeface="Funnel Sans"/>
              <a:ea typeface="+mn-ea"/>
              <a:cs typeface="+mn-cs"/>
            </a:endParaRPr>
          </a:p>
        </p:txBody>
      </p:sp>
      <p:sp>
        <p:nvSpPr>
          <p:cNvPr id="2" name="Shape 2">
            <a:extLst>
              <a:ext uri="{FF2B5EF4-FFF2-40B4-BE49-F238E27FC236}">
                <a16:creationId xmlns:a16="http://schemas.microsoft.com/office/drawing/2014/main" id="{1BA3397C-5409-3443-0B05-8BEEB77D6013}"/>
              </a:ext>
            </a:extLst>
          </p:cNvPr>
          <p:cNvSpPr/>
          <p:nvPr/>
        </p:nvSpPr>
        <p:spPr>
          <a:xfrm>
            <a:off x="6840210" y="1234579"/>
            <a:ext cx="4388531" cy="544145"/>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1" name="Shape 3">
            <a:extLst>
              <a:ext uri="{FF2B5EF4-FFF2-40B4-BE49-F238E27FC236}">
                <a16:creationId xmlns:a16="http://schemas.microsoft.com/office/drawing/2014/main" id="{5BAE9E14-26E7-D05C-4A29-EEEB19329B43}"/>
              </a:ext>
            </a:extLst>
          </p:cNvPr>
          <p:cNvSpPr/>
          <p:nvPr/>
        </p:nvSpPr>
        <p:spPr>
          <a:xfrm>
            <a:off x="6842090" y="3413069"/>
            <a:ext cx="4376815" cy="548640"/>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5" name="Shape 17">
            <a:extLst>
              <a:ext uri="{FF2B5EF4-FFF2-40B4-BE49-F238E27FC236}">
                <a16:creationId xmlns:a16="http://schemas.microsoft.com/office/drawing/2014/main" id="{89A8AEE9-9357-849C-BCCE-E0DA1DDF3134}"/>
              </a:ext>
            </a:extLst>
          </p:cNvPr>
          <p:cNvSpPr/>
          <p:nvPr/>
        </p:nvSpPr>
        <p:spPr>
          <a:xfrm>
            <a:off x="638297" y="1243682"/>
            <a:ext cx="6008652" cy="545881"/>
          </a:xfrm>
          <a:prstGeom prst="round2SameRect">
            <a:avLst/>
          </a:prstGeom>
          <a:solidFill>
            <a:srgbClr val="C6DCC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6" name="Text 35">
            <a:extLst>
              <a:ext uri="{FF2B5EF4-FFF2-40B4-BE49-F238E27FC236}">
                <a16:creationId xmlns:a16="http://schemas.microsoft.com/office/drawing/2014/main" id="{15928297-E053-38A4-5E80-19BE50A381CC}"/>
              </a:ext>
            </a:extLst>
          </p:cNvPr>
          <p:cNvSpPr/>
          <p:nvPr/>
        </p:nvSpPr>
        <p:spPr>
          <a:xfrm>
            <a:off x="6895534" y="3567433"/>
            <a:ext cx="1644838" cy="27021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alpha val="99000"/>
                  </a:srgbClr>
                </a:solidFill>
                <a:effectLst/>
                <a:uLnTx/>
                <a:uFillTx/>
                <a:latin typeface="Funnel Sans"/>
                <a:ea typeface="Funnel Sans"/>
                <a:cs typeface="Funnel Sans" pitchFamily="34" charset="-120"/>
              </a:rPr>
              <a:t>Secretion</a:t>
            </a:r>
            <a:endParaRPr kumimoji="0" lang="en-US" sz="1400" b="1" i="0" u="none" strike="noStrike" kern="1200" cap="none" spc="0" normalizeH="0" baseline="0" noProof="0">
              <a:ln>
                <a:noFill/>
              </a:ln>
              <a:solidFill>
                <a:prstClr val="black"/>
              </a:solidFill>
              <a:effectLst/>
              <a:uLnTx/>
              <a:uFillTx/>
              <a:latin typeface="Funnel Sans"/>
              <a:ea typeface="+mn-ea"/>
              <a:cs typeface="+mn-cs"/>
            </a:endParaRPr>
          </a:p>
        </p:txBody>
      </p:sp>
      <p:sp>
        <p:nvSpPr>
          <p:cNvPr id="27" name="Text 36">
            <a:extLst>
              <a:ext uri="{FF2B5EF4-FFF2-40B4-BE49-F238E27FC236}">
                <a16:creationId xmlns:a16="http://schemas.microsoft.com/office/drawing/2014/main" id="{BBA83E98-F0B4-FE4B-BA7D-AD216CB7E3BF}"/>
              </a:ext>
            </a:extLst>
          </p:cNvPr>
          <p:cNvSpPr/>
          <p:nvPr/>
        </p:nvSpPr>
        <p:spPr>
          <a:xfrm>
            <a:off x="6895534" y="1361359"/>
            <a:ext cx="4225681" cy="295374"/>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alpha val="99000"/>
                  </a:srgbClr>
                </a:solidFill>
                <a:effectLst/>
                <a:uLnTx/>
                <a:uFillTx/>
                <a:latin typeface="Funnel Sans"/>
                <a:ea typeface="Funnel Sans" pitchFamily="34" charset="-122"/>
                <a:cs typeface="Funnel Sans" pitchFamily="34" charset="-120"/>
              </a:rPr>
              <a:t> Internalization </a:t>
            </a:r>
            <a:endParaRPr kumimoji="0" lang="en-US" sz="1400" b="1" i="0" u="none" strike="noStrike" kern="1200" cap="none" spc="0" normalizeH="0" baseline="0" noProof="0">
              <a:ln>
                <a:noFill/>
              </a:ln>
              <a:solidFill>
                <a:prstClr val="black"/>
              </a:solidFill>
              <a:effectLst/>
              <a:uLnTx/>
              <a:uFillTx/>
              <a:latin typeface="Funnel Sans"/>
              <a:ea typeface="+mn-ea"/>
              <a:cs typeface="+mn-cs"/>
            </a:endParaRPr>
          </a:p>
        </p:txBody>
      </p:sp>
      <p:sp>
        <p:nvSpPr>
          <p:cNvPr id="28" name="Text 42">
            <a:extLst>
              <a:ext uri="{FF2B5EF4-FFF2-40B4-BE49-F238E27FC236}">
                <a16:creationId xmlns:a16="http://schemas.microsoft.com/office/drawing/2014/main" id="{B32103B8-4F7C-794A-9D90-5C53A2474A1F}"/>
              </a:ext>
            </a:extLst>
          </p:cNvPr>
          <p:cNvSpPr/>
          <p:nvPr/>
        </p:nvSpPr>
        <p:spPr>
          <a:xfrm>
            <a:off x="641490" y="1387210"/>
            <a:ext cx="2258387" cy="274320"/>
          </a:xfrm>
          <a:prstGeom prst="rect">
            <a:avLst/>
          </a:prstGeom>
          <a:noFill/>
          <a:ln/>
        </p:spPr>
        <p:txBody>
          <a:bodyPr wrap="square"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400" b="1" i="0" u="none" strike="noStrike" kern="1200" cap="none" spc="0" normalizeH="0" baseline="0" noProof="0">
                <a:ln>
                  <a:noFill/>
                </a:ln>
                <a:solidFill>
                  <a:srgbClr val="000000">
                    <a:alpha val="99000"/>
                  </a:srgbClr>
                </a:solidFill>
                <a:effectLst/>
                <a:uLnTx/>
                <a:uFillTx/>
                <a:latin typeface="Funnel Sans" pitchFamily="34" charset="0"/>
                <a:ea typeface="Funnel Sans" pitchFamily="34" charset="-122"/>
                <a:cs typeface="Funnel Sans" pitchFamily="34" charset="-120"/>
              </a:rPr>
              <a:t>Structure &amp; Function</a:t>
            </a:r>
            <a:endParaRPr kumimoji="0" lang="en-US" sz="1400" b="1" i="0" u="none" strike="noStrike" kern="1200" cap="none" spc="0" normalizeH="0" baseline="0" noProof="0">
              <a:ln>
                <a:noFill/>
              </a:ln>
              <a:solidFill>
                <a:prstClr val="black"/>
              </a:solidFill>
              <a:effectLst/>
              <a:uLnTx/>
              <a:uFillTx/>
              <a:latin typeface="Funnel Sans"/>
              <a:ea typeface="+mn-ea"/>
              <a:cs typeface="+mn-cs"/>
            </a:endParaRPr>
          </a:p>
        </p:txBody>
      </p:sp>
      <p:sp>
        <p:nvSpPr>
          <p:cNvPr id="32" name="TextBox 31">
            <a:extLst>
              <a:ext uri="{FF2B5EF4-FFF2-40B4-BE49-F238E27FC236}">
                <a16:creationId xmlns:a16="http://schemas.microsoft.com/office/drawing/2014/main" id="{523A6D29-19BD-F062-9CBD-2BD03A5EBF7A}"/>
              </a:ext>
            </a:extLst>
          </p:cNvPr>
          <p:cNvSpPr txBox="1"/>
          <p:nvPr/>
        </p:nvSpPr>
        <p:spPr>
          <a:xfrm>
            <a:off x="6988992" y="4018798"/>
            <a:ext cx="4093216" cy="2220933"/>
          </a:xfrm>
          <a:prstGeom prst="rect">
            <a:avLst/>
          </a:prstGeom>
          <a:noFill/>
        </p:spPr>
        <p:txBody>
          <a:bodyPr wrap="square" lIns="91440" tIns="45720" rIns="91440" bIns="45720" rtlCol="0" anchor="t">
            <a:noAutofit/>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400" b="1" i="0" u="none" strike="noStrike" kern="1200" cap="none" spc="0" normalizeH="0" baseline="0" noProof="0" dirty="0">
                <a:ln>
                  <a:noFill/>
                </a:ln>
                <a:solidFill>
                  <a:prstClr val="black"/>
                </a:solidFill>
                <a:effectLst/>
                <a:uLnTx/>
                <a:uFillTx/>
                <a:latin typeface="Funnel Sans"/>
                <a:ea typeface="+mn-ea"/>
                <a:cs typeface="+mn-cs"/>
              </a:rPr>
              <a:t>Quantities</a:t>
            </a:r>
            <a:r>
              <a:rPr kumimoji="0" lang="en-US" sz="1400" b="0" i="0" u="none" strike="noStrike" kern="1200" cap="none" spc="0" normalizeH="0" baseline="0" noProof="0" dirty="0">
                <a:ln>
                  <a:noFill/>
                </a:ln>
                <a:solidFill>
                  <a:prstClr val="black"/>
                </a:solidFill>
                <a:effectLst/>
                <a:uLnTx/>
                <a:uFillTx/>
                <a:latin typeface="Funnel Sans"/>
                <a:ea typeface="+mn-ea"/>
                <a:cs typeface="+mn-cs"/>
              </a:rPr>
              <a:t>: </a:t>
            </a:r>
            <a:r>
              <a:rPr kumimoji="0" lang="en-US" sz="1400" b="0" i="0" u="none" strike="noStrike" kern="1200" cap="none" spc="0" normalizeH="0" baseline="0" noProof="0" dirty="0">
                <a:ln>
                  <a:noFill/>
                </a:ln>
                <a:solidFill>
                  <a:prstClr val="black"/>
                </a:solidFill>
                <a:effectLst/>
                <a:uLnTx/>
                <a:uFillTx/>
                <a:latin typeface="Funnel Sans"/>
                <a:ea typeface="+mn-lt"/>
                <a:cs typeface="Times New Roman"/>
              </a:rPr>
              <a:t>M</a:t>
            </a:r>
            <a:r>
              <a:rPr kumimoji="0" lang="en-US" sz="1400" b="0" i="0" u="none" strike="noStrike" kern="1200" cap="none" spc="0" normalizeH="0" baseline="0" noProof="0" dirty="0">
                <a:ln>
                  <a:noFill/>
                </a:ln>
                <a:solidFill>
                  <a:prstClr val="black"/>
                </a:solidFill>
                <a:effectLst/>
                <a:uLnTx/>
                <a:uFillTx/>
                <a:latin typeface="Funnel Sans"/>
                <a:ea typeface="+mn-lt"/>
                <a:cs typeface="+mn-lt"/>
              </a:rPr>
              <a:t>edian hK2 concentration in plasma 0.079 ng/ml (0.0015-16.2 ng/ml)</a:t>
            </a:r>
            <a:r>
              <a:rPr kumimoji="0" lang="en-US" sz="1400" b="0" i="0" u="none" strike="noStrike" kern="1200" cap="none" spc="0" normalizeH="0" baseline="0" noProof="0" dirty="0">
                <a:ln>
                  <a:noFill/>
                </a:ln>
                <a:solidFill>
                  <a:prstClr val="black"/>
                </a:solidFill>
                <a:effectLst/>
                <a:uLnTx/>
                <a:uFillTx/>
                <a:latin typeface="Funnel Sans"/>
                <a:ea typeface="+mn-ea"/>
                <a:cs typeface="Times New Roman"/>
              </a:rPr>
              <a:t>. This amount  is expected to minimally affect therapeutic efficacy</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en-US" sz="1400" b="0" i="0" u="none" strike="noStrike" kern="1200" cap="none" spc="0" normalizeH="0" baseline="0" noProof="0" dirty="0">
              <a:ln>
                <a:noFill/>
              </a:ln>
              <a:solidFill>
                <a:prstClr val="black"/>
              </a:solidFill>
              <a:effectLst/>
              <a:uLnTx/>
              <a:uFillTx/>
              <a:latin typeface="Funnel Sans"/>
              <a:ea typeface="+mn-ea"/>
              <a:cs typeface="Times New Roman"/>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400" b="1" i="0" u="none" strike="noStrike" kern="1200" cap="none" spc="0" normalizeH="0" baseline="0" noProof="0" dirty="0">
                <a:ln>
                  <a:noFill/>
                </a:ln>
                <a:solidFill>
                  <a:prstClr val="black"/>
                </a:solidFill>
                <a:effectLst/>
                <a:uLnTx/>
                <a:uFillTx/>
                <a:latin typeface="Funnel Sans"/>
                <a:ea typeface="+mn-ea"/>
                <a:cs typeface="Times New Roman"/>
              </a:rPr>
              <a:t>Half-life: </a:t>
            </a:r>
            <a:r>
              <a:rPr kumimoji="0" lang="en-US" sz="1400" b="0" i="0" u="none" strike="noStrike" kern="1200" cap="none" spc="0" normalizeH="0" baseline="0" noProof="0" dirty="0">
                <a:ln>
                  <a:noFill/>
                </a:ln>
                <a:solidFill>
                  <a:prstClr val="black"/>
                </a:solidFill>
                <a:effectLst/>
                <a:uLnTx/>
                <a:uFillTx/>
                <a:latin typeface="Funnel Sans"/>
                <a:ea typeface="+mn-ea"/>
                <a:cs typeface="Times New Roman"/>
              </a:rPr>
              <a:t>not characterized</a:t>
            </a:r>
            <a:endParaRPr kumimoji="0" lang="en-US" sz="1400" b="0" i="0" u="none" strike="noStrike" kern="1200" cap="none" spc="0" normalizeH="0" baseline="0" noProof="0" dirty="0">
              <a:ln>
                <a:noFill/>
              </a:ln>
              <a:solidFill>
                <a:prstClr val="black"/>
              </a:solidFill>
              <a:effectLst/>
              <a:uLnTx/>
              <a:uFillTx/>
              <a:latin typeface="Funnel Sans"/>
              <a:ea typeface="Funnel Sans"/>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Funnel Sans"/>
              <a:ea typeface="+mn-ea"/>
              <a:cs typeface="+mn-cs"/>
            </a:endParaRPr>
          </a:p>
        </p:txBody>
      </p:sp>
      <p:sp>
        <p:nvSpPr>
          <p:cNvPr id="3" name="TextBox 2">
            <a:extLst>
              <a:ext uri="{FF2B5EF4-FFF2-40B4-BE49-F238E27FC236}">
                <a16:creationId xmlns:a16="http://schemas.microsoft.com/office/drawing/2014/main" id="{5E1F9917-32E8-9FA2-1554-875C0077F988}"/>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22" name="Rectangle: Rounded Corners 21">
            <a:extLst>
              <a:ext uri="{FF2B5EF4-FFF2-40B4-BE49-F238E27FC236}">
                <a16:creationId xmlns:a16="http://schemas.microsoft.com/office/drawing/2014/main" id="{74621BDD-4743-799D-E9F9-102F2796C58F}"/>
              </a:ext>
            </a:extLst>
          </p:cNvPr>
          <p:cNvSpPr/>
          <p:nvPr/>
        </p:nvSpPr>
        <p:spPr>
          <a:xfrm>
            <a:off x="2011123" y="4993412"/>
            <a:ext cx="1180076" cy="566979"/>
          </a:xfrm>
          <a:prstGeom prst="roundRect">
            <a:avLst/>
          </a:prstGeom>
          <a:solidFill>
            <a:srgbClr val="C6DCCD"/>
          </a:solidFill>
          <a:ln w="63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Funnel Sans"/>
                <a:ea typeface="+mn-ea"/>
                <a:cs typeface="+mn-cs"/>
              </a:rPr>
              <a:t>Known small molecule binding sites</a:t>
            </a:r>
          </a:p>
        </p:txBody>
      </p:sp>
      <p:sp>
        <p:nvSpPr>
          <p:cNvPr id="4" name="TextBox 3">
            <a:extLst>
              <a:ext uri="{FF2B5EF4-FFF2-40B4-BE49-F238E27FC236}">
                <a16:creationId xmlns:a16="http://schemas.microsoft.com/office/drawing/2014/main" id="{F3FE1422-F680-6874-07D3-48F0E5D83167}"/>
              </a:ext>
            </a:extLst>
          </p:cNvPr>
          <p:cNvSpPr txBox="1"/>
          <p:nvPr/>
        </p:nvSpPr>
        <p:spPr>
          <a:xfrm>
            <a:off x="6852871" y="1844702"/>
            <a:ext cx="4375914"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400" b="0" i="0" u="none" strike="noStrike" kern="1200" cap="none" spc="0" normalizeH="0" baseline="0" noProof="0">
                <a:ln>
                  <a:noFill/>
                </a:ln>
                <a:solidFill>
                  <a:prstClr val="black"/>
                </a:solidFill>
                <a:effectLst/>
                <a:uLnTx/>
                <a:uFillTx/>
                <a:latin typeface="Funnel Sans"/>
                <a:ea typeface="Funnel Sans"/>
                <a:cs typeface="+mn-cs"/>
              </a:rPr>
              <a:t>There is no evidence of native internalization. Internalization occurs with Ab binding </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en-US" sz="1400" b="0" i="0" u="none" strike="noStrike" kern="1200" cap="none" spc="0" normalizeH="0" baseline="0" noProof="0">
              <a:ln>
                <a:noFill/>
              </a:ln>
              <a:solidFill>
                <a:prstClr val="black"/>
              </a:solidFill>
              <a:effectLst/>
              <a:uLnTx/>
              <a:uFillTx/>
              <a:latin typeface="Funnel Sans"/>
              <a:ea typeface="Funnel Sans"/>
              <a:cs typeface="+mn-c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400" b="0" i="0" u="none" strike="noStrike" kern="1200" cap="none" spc="0" normalizeH="0" baseline="0" noProof="0">
                <a:ln>
                  <a:noFill/>
                </a:ln>
                <a:solidFill>
                  <a:prstClr val="black"/>
                </a:solidFill>
                <a:effectLst/>
                <a:uLnTx/>
                <a:uFillTx/>
                <a:latin typeface="Funnel Sans"/>
                <a:ea typeface="Funnel Sans"/>
                <a:cs typeface="+mn-cs"/>
              </a:rPr>
              <a:t>Our strategy will be to select for internalizing peptides</a:t>
            </a:r>
          </a:p>
        </p:txBody>
      </p:sp>
      <p:sp>
        <p:nvSpPr>
          <p:cNvPr id="20" name="TextBox 19">
            <a:extLst>
              <a:ext uri="{FF2B5EF4-FFF2-40B4-BE49-F238E27FC236}">
                <a16:creationId xmlns:a16="http://schemas.microsoft.com/office/drawing/2014/main" id="{D9D8FEDD-C5D0-2253-F566-A252A2868A6C}"/>
              </a:ext>
            </a:extLst>
          </p:cNvPr>
          <p:cNvSpPr txBox="1"/>
          <p:nvPr/>
        </p:nvSpPr>
        <p:spPr>
          <a:xfrm>
            <a:off x="643590" y="1875569"/>
            <a:ext cx="5916091" cy="45858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400" b="0" i="0" u="none" strike="noStrike" kern="1200" cap="none" spc="0" normalizeH="0" baseline="0" noProof="0">
                <a:ln>
                  <a:noFill/>
                </a:ln>
                <a:solidFill>
                  <a:prstClr val="black"/>
                </a:solidFill>
                <a:effectLst/>
                <a:uLnTx/>
                <a:uFillTx/>
                <a:latin typeface="Funnel Sans"/>
                <a:ea typeface="+mn-lt"/>
                <a:cs typeface="+mn-lt"/>
              </a:rPr>
              <a:t>KLK2 is a serine protease closely related to PSA (KLK3) and activates pro-PSA. KLK2 cleaves seminal plasma substrates contributing to semen liquefaction</a:t>
            </a:r>
            <a:endParaRPr kumimoji="0" lang="en-US" sz="1400" b="0" i="0" u="none" strike="noStrike" kern="1200" cap="none" spc="0" normalizeH="0" baseline="0" noProof="0">
              <a:ln>
                <a:noFill/>
              </a:ln>
              <a:solidFill>
                <a:prstClr val="black"/>
              </a:solidFill>
              <a:effectLst/>
              <a:uLnTx/>
              <a:uFillTx/>
              <a:latin typeface="Funnel Sans"/>
              <a:ea typeface="Funnel Sans"/>
              <a:cs typeface="+mn-c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en-US" sz="1400" b="0" i="0" u="none" strike="noStrike" kern="1200" cap="none" spc="0" normalizeH="0" baseline="0" noProof="0">
              <a:ln>
                <a:noFill/>
              </a:ln>
              <a:solidFill>
                <a:prstClr val="black"/>
              </a:solidFill>
              <a:effectLst/>
              <a:uLnTx/>
              <a:uFillTx/>
              <a:latin typeface="Funnel Sans"/>
              <a:ea typeface="+mn-lt"/>
              <a:cs typeface="+mn-lt"/>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400" b="0" i="0" u="none" strike="noStrike" kern="1200" cap="none" spc="0" normalizeH="0" baseline="0" noProof="0">
                <a:ln>
                  <a:noFill/>
                </a:ln>
                <a:solidFill>
                  <a:prstClr val="black"/>
                </a:solidFill>
                <a:effectLst/>
                <a:uLnTx/>
                <a:uFillTx/>
                <a:latin typeface="Funnel Sans"/>
                <a:ea typeface="+mn-lt"/>
                <a:cs typeface="+mn-lt"/>
              </a:rPr>
              <a:t>KLK2 retained at the cell surface</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en-US" sz="1400" b="0" i="0" u="none" strike="noStrike" kern="1200" cap="none" spc="0" normalizeH="0" baseline="0" noProof="0">
              <a:ln>
                <a:noFill/>
              </a:ln>
              <a:solidFill>
                <a:prstClr val="black"/>
              </a:solidFill>
              <a:effectLst/>
              <a:uLnTx/>
              <a:uFillTx/>
              <a:latin typeface="Funnel Sans"/>
              <a:ea typeface="Funnel Sans"/>
              <a:cs typeface="+mn-c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en-US" sz="1400" b="0" i="0" u="none" strike="noStrike" kern="1200" cap="none" spc="0" normalizeH="0" baseline="0" noProof="0">
              <a:ln>
                <a:noFill/>
              </a:ln>
              <a:solidFill>
                <a:prstClr val="black"/>
              </a:solidFill>
              <a:effectLst/>
              <a:uLnTx/>
              <a:uFillTx/>
              <a:latin typeface="Funnel Sans"/>
              <a:ea typeface="Funnel Sans"/>
              <a:cs typeface="+mn-c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en-US" sz="1400" b="0" i="0" u="none" strike="noStrike" kern="1200" cap="none" spc="0" normalizeH="0" baseline="0" noProof="0">
              <a:ln>
                <a:noFill/>
              </a:ln>
              <a:solidFill>
                <a:prstClr val="black"/>
              </a:solidFill>
              <a:effectLst/>
              <a:uLnTx/>
              <a:uFillTx/>
              <a:latin typeface="Funnel Sans"/>
              <a:ea typeface="Funnel Sans"/>
              <a:cs typeface="+mn-c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en-US" sz="1400" b="0" i="0" u="none" strike="noStrike" kern="1200" cap="none" spc="0" normalizeH="0" baseline="0" noProof="0">
              <a:ln>
                <a:noFill/>
              </a:ln>
              <a:solidFill>
                <a:prstClr val="black"/>
              </a:solidFill>
              <a:effectLst/>
              <a:uLnTx/>
              <a:uFillTx/>
              <a:latin typeface="Funnel Sans"/>
              <a:ea typeface="Funnel Sans"/>
              <a:cs typeface="+mn-c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en-US" sz="1400" b="0" i="0" u="none" strike="noStrike" kern="1200" cap="none" spc="0" normalizeH="0" baseline="0" noProof="0">
              <a:ln>
                <a:noFill/>
              </a:ln>
              <a:solidFill>
                <a:prstClr val="black"/>
              </a:solidFill>
              <a:effectLst/>
              <a:uLnTx/>
              <a:uFillTx/>
              <a:latin typeface="Funnel Sans"/>
              <a:ea typeface="Funnel Sans"/>
              <a:cs typeface="+mn-c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en-US" sz="1400" b="0" i="0" u="none" strike="noStrike" kern="1200" cap="none" spc="0" normalizeH="0" baseline="0" noProof="0">
              <a:ln>
                <a:noFill/>
              </a:ln>
              <a:solidFill>
                <a:prstClr val="black"/>
              </a:solidFill>
              <a:effectLst/>
              <a:uLnTx/>
              <a:uFillTx/>
              <a:latin typeface="Funnel Sans"/>
              <a:ea typeface="Funnel Sans"/>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Funnel Sans"/>
              <a:ea typeface="Funnel Sans"/>
              <a:cs typeface="+mn-c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400" b="0" i="0" u="none" strike="noStrike" kern="1200" cap="none" spc="0" normalizeH="0" baseline="0" noProof="0">
                <a:ln>
                  <a:noFill/>
                </a:ln>
                <a:solidFill>
                  <a:prstClr val="black"/>
                </a:solidFill>
                <a:effectLst/>
                <a:uLnTx/>
                <a:uFillTx/>
                <a:latin typeface="Funnel Sans"/>
                <a:ea typeface="Funnel Sans"/>
                <a:cs typeface="+mn-cs"/>
              </a:rPr>
              <a:t>KLK has defined structure with known small molecule binding site</a:t>
            </a: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en-US" sz="1400" b="0" i="0" u="none" strike="noStrike" kern="1200" cap="none" spc="0" normalizeH="0" baseline="0" noProof="0">
              <a:ln>
                <a:noFill/>
              </a:ln>
              <a:solidFill>
                <a:prstClr val="black"/>
              </a:solidFill>
              <a:effectLst/>
              <a:uLnTx/>
              <a:uFillTx/>
              <a:latin typeface="Funnel Sans"/>
              <a:ea typeface="Funnel Sans"/>
              <a:cs typeface="+mn-c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en-US" sz="1400" b="0" i="0" u="none" strike="noStrike" kern="1200" cap="none" spc="0" normalizeH="0" baseline="0" noProof="0">
              <a:ln>
                <a:noFill/>
              </a:ln>
              <a:solidFill>
                <a:prstClr val="black"/>
              </a:solidFill>
              <a:effectLst/>
              <a:uLnTx/>
              <a:uFillTx/>
              <a:latin typeface="Funnel Sans"/>
              <a:ea typeface="Funnel Sans"/>
              <a:cs typeface="+mn-c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en-US" sz="1400" b="0" i="0" u="none" strike="noStrike" kern="1200" cap="none" spc="0" normalizeH="0" baseline="0" noProof="0">
              <a:ln>
                <a:noFill/>
              </a:ln>
              <a:solidFill>
                <a:prstClr val="black"/>
              </a:solidFill>
              <a:effectLst/>
              <a:uLnTx/>
              <a:uFillTx/>
              <a:latin typeface="Funnel Sans"/>
              <a:ea typeface="Funnel Sans"/>
              <a:cs typeface="+mn-c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en-US" sz="1400" b="0" i="0" u="none" strike="noStrike" kern="1200" cap="none" spc="0" normalizeH="0" baseline="0" noProof="0">
              <a:ln>
                <a:noFill/>
              </a:ln>
              <a:solidFill>
                <a:prstClr val="black"/>
              </a:solidFill>
              <a:effectLst/>
              <a:uLnTx/>
              <a:uFillTx/>
              <a:latin typeface="Funnel Sans"/>
              <a:ea typeface="Funnel Sans"/>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Funnel Sans"/>
              <a:ea typeface="Funnel Sans"/>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Funnel Sans"/>
              <a:ea typeface="Funnel Sans"/>
              <a:cs typeface="+mn-cs"/>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r>
              <a:rPr kumimoji="0" lang="en-US" sz="1400" b="0" i="0" u="none" strike="noStrike" kern="1200" cap="none" spc="0" normalizeH="0" baseline="0" noProof="0" dirty="0">
                <a:ln>
                  <a:noFill/>
                </a:ln>
                <a:solidFill>
                  <a:prstClr val="black"/>
                </a:solidFill>
                <a:effectLst/>
                <a:uLnTx/>
                <a:uFillTx/>
                <a:latin typeface="Funnel Sans"/>
                <a:ea typeface="+mn-lt"/>
                <a:cs typeface="+mn-lt"/>
              </a:rPr>
              <a:t>AR upregulation is known to upregulate KLK2 expression in response to the development of </a:t>
            </a:r>
            <a:r>
              <a:rPr kumimoji="0" lang="en-US" sz="1400" b="0" i="0" u="none" strike="noStrike" kern="1200" cap="none" spc="0" normalizeH="0" baseline="0" noProof="0" dirty="0" err="1">
                <a:ln>
                  <a:noFill/>
                </a:ln>
                <a:solidFill>
                  <a:prstClr val="black"/>
                </a:solidFill>
                <a:effectLst/>
                <a:uLnTx/>
                <a:uFillTx/>
                <a:latin typeface="Funnel Sans"/>
                <a:ea typeface="+mn-lt"/>
                <a:cs typeface="+mn-lt"/>
              </a:rPr>
              <a:t>ARPi</a:t>
            </a:r>
            <a:r>
              <a:rPr kumimoji="0" lang="en-US" sz="1400" b="0" i="0" u="none" strike="noStrike" kern="1200" cap="none" spc="0" normalizeH="0" baseline="0" noProof="0" dirty="0">
                <a:ln>
                  <a:noFill/>
                </a:ln>
                <a:solidFill>
                  <a:prstClr val="black"/>
                </a:solidFill>
                <a:effectLst/>
                <a:uLnTx/>
                <a:uFillTx/>
                <a:latin typeface="Funnel Sans"/>
                <a:ea typeface="+mn-lt"/>
                <a:cs typeface="+mn-lt"/>
              </a:rPr>
              <a:t> resistance and targeted radiotherapy</a:t>
            </a:r>
            <a:endParaRPr lang="en-US" sz="1400" b="0" i="0" u="none" strike="noStrike" kern="1200" cap="none" spc="0" normalizeH="0" baseline="0" noProof="0" dirty="0">
              <a:ln>
                <a:noFill/>
              </a:ln>
              <a:solidFill>
                <a:prstClr val="black"/>
              </a:solidFill>
              <a:effectLst/>
              <a:uLnTx/>
              <a:uFillTx/>
              <a:latin typeface="Funnel Sans"/>
              <a:ea typeface="+mn-lt"/>
              <a:cs typeface="+mn-lt"/>
            </a:endParaRPr>
          </a:p>
          <a:p>
            <a:pPr marL="171450" marR="0" lvl="0" indent="-171450" algn="l" defTabSz="914400" rtl="0" eaLnBrk="1" fontAlgn="auto" latinLnBrk="0" hangingPunct="1">
              <a:lnSpc>
                <a:spcPct val="100000"/>
              </a:lnSpc>
              <a:spcBef>
                <a:spcPts val="0"/>
              </a:spcBef>
              <a:spcAft>
                <a:spcPts val="0"/>
              </a:spcAft>
              <a:buClrTx/>
              <a:buSzTx/>
              <a:buFont typeface="Arial"/>
              <a:buChar char="•"/>
              <a:tabLst/>
              <a:defRPr/>
            </a:pPr>
            <a:endParaRPr kumimoji="0" lang="en-US" sz="1400" b="0" i="0" u="none" strike="noStrike" kern="1200" cap="none" spc="0" normalizeH="0" baseline="0" noProof="0">
              <a:ln>
                <a:noFill/>
              </a:ln>
              <a:solidFill>
                <a:prstClr val="black"/>
              </a:solidFill>
              <a:effectLst/>
              <a:uLnTx/>
              <a:uFillTx/>
              <a:latin typeface="Funnel Sans"/>
              <a:ea typeface="Funnel Sans"/>
              <a:cs typeface="+mn-cs"/>
            </a:endParaRPr>
          </a:p>
        </p:txBody>
      </p:sp>
      <p:sp>
        <p:nvSpPr>
          <p:cNvPr id="39" name="TextBox 38">
            <a:extLst>
              <a:ext uri="{FF2B5EF4-FFF2-40B4-BE49-F238E27FC236}">
                <a16:creationId xmlns:a16="http://schemas.microsoft.com/office/drawing/2014/main" id="{15BBA4AA-E7D2-D126-B543-76D94F6A4B64}"/>
              </a:ext>
            </a:extLst>
          </p:cNvPr>
          <p:cNvSpPr txBox="1"/>
          <p:nvPr/>
        </p:nvSpPr>
        <p:spPr>
          <a:xfrm>
            <a:off x="-53142" y="6499337"/>
            <a:ext cx="9280768"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Funnel Sans"/>
                <a:ea typeface="+mn-ea"/>
                <a:cs typeface="+mn-cs"/>
              </a:rPr>
              <a:t>Source: 1.  </a:t>
            </a:r>
            <a:r>
              <a:rPr kumimoji="0" lang="en-US" sz="1000" b="0" i="0" u="none" strike="noStrike" kern="1200" cap="none" spc="0" normalizeH="0" baseline="0" noProof="0" dirty="0">
                <a:ln>
                  <a:noFill/>
                </a:ln>
                <a:solidFill>
                  <a:prstClr val="black"/>
                </a:solidFill>
                <a:effectLst/>
                <a:uLnTx/>
                <a:uFillTx/>
                <a:latin typeface="Funnel Sans"/>
                <a:ea typeface="+mn-ea"/>
                <a:cs typeface="+mn-cs"/>
                <a:hlinkClick r:id="rId10"/>
              </a:rPr>
              <a:t>Shen et al. Clin Cancer Res 2025</a:t>
            </a:r>
            <a:r>
              <a:rPr kumimoji="0" lang="en-US" sz="1000" b="0" i="0" u="none" strike="noStrike" kern="1200" cap="none" spc="0" normalizeH="0" baseline="0" noProof="0" dirty="0">
                <a:ln>
                  <a:noFill/>
                </a:ln>
                <a:solidFill>
                  <a:prstClr val="black"/>
                </a:solidFill>
                <a:effectLst/>
                <a:uLnTx/>
                <a:uFillTx/>
                <a:latin typeface="Funnel Sans"/>
                <a:ea typeface="+mn-ea"/>
                <a:cs typeface="+mn-cs"/>
              </a:rPr>
              <a:t> </a:t>
            </a:r>
            <a:r>
              <a:rPr kumimoji="0" lang="en-US" sz="1000" b="0" i="0" u="none" strike="noStrike" kern="1200" cap="none" spc="0" normalizeH="0" baseline="0" noProof="0" dirty="0">
                <a:ln>
                  <a:noFill/>
                </a:ln>
                <a:solidFill>
                  <a:prstClr val="black"/>
                </a:solidFill>
                <a:effectLst/>
                <a:uLnTx/>
                <a:uFillTx/>
                <a:latin typeface="Funnel Sans"/>
                <a:ea typeface="+mn-lt"/>
                <a:cs typeface="+mn-lt"/>
              </a:rPr>
              <a:t>2.</a:t>
            </a:r>
            <a:r>
              <a:rPr kumimoji="0" lang="en-US" sz="1000" b="0" i="0" u="none" strike="noStrike" kern="1200" cap="none" spc="0" normalizeH="0" baseline="0" noProof="0" dirty="0">
                <a:ln>
                  <a:noFill/>
                </a:ln>
                <a:solidFill>
                  <a:prstClr val="black"/>
                </a:solidFill>
                <a:effectLst/>
                <a:uLnTx/>
                <a:uFillTx/>
                <a:latin typeface="Funnel Sans"/>
                <a:ea typeface="+mn-lt"/>
                <a:cs typeface="+mn-lt"/>
                <a:hlinkClick r:id="rId11"/>
              </a:rPr>
              <a:t>McDevitt et al Nature Communications 2018</a:t>
            </a:r>
            <a:r>
              <a:rPr kumimoji="0" lang="en-US" sz="1000" b="0" i="0" u="none" strike="noStrike" kern="1200" cap="none" spc="0" normalizeH="0" baseline="0" noProof="0" dirty="0">
                <a:ln>
                  <a:noFill/>
                </a:ln>
                <a:solidFill>
                  <a:prstClr val="black"/>
                </a:solidFill>
                <a:effectLst/>
                <a:uLnTx/>
                <a:uFillTx/>
                <a:latin typeface="Funnel Sans"/>
                <a:ea typeface="+mn-lt"/>
                <a:cs typeface="+mn-lt"/>
              </a:rPr>
              <a:t> 3. </a:t>
            </a:r>
            <a:r>
              <a:rPr kumimoji="0" lang="en-US" sz="1000" b="0" i="0" u="none" strike="noStrike" kern="1200" cap="none" spc="0" normalizeH="0" baseline="0" noProof="0" dirty="0" err="1">
                <a:ln>
                  <a:noFill/>
                </a:ln>
                <a:solidFill>
                  <a:prstClr val="black"/>
                </a:solidFill>
                <a:effectLst/>
                <a:uLnTx/>
                <a:uFillTx/>
                <a:latin typeface="Funnel Sans"/>
                <a:ea typeface="+mn-lt"/>
                <a:cs typeface="+mn-lt"/>
                <a:hlinkClick r:id="rId12"/>
              </a:rPr>
              <a:t>Vaisanen</a:t>
            </a:r>
            <a:r>
              <a:rPr kumimoji="0" lang="en-US" sz="1000" b="0" i="0" u="none" strike="noStrike" kern="1200" cap="none" spc="0" normalizeH="0" baseline="0" noProof="0" dirty="0">
                <a:ln>
                  <a:noFill/>
                </a:ln>
                <a:solidFill>
                  <a:prstClr val="black"/>
                </a:solidFill>
                <a:effectLst/>
                <a:uLnTx/>
                <a:uFillTx/>
                <a:latin typeface="Funnel Sans"/>
                <a:ea typeface="+mn-lt"/>
                <a:cs typeface="+mn-lt"/>
                <a:hlinkClick r:id="rId12"/>
              </a:rPr>
              <a:t> et al, Clinical Chemistry 2004</a:t>
            </a:r>
            <a:r>
              <a:rPr kumimoji="0" lang="en-US" sz="1000" b="0" i="0" u="none" strike="noStrike" kern="1200" cap="none" spc="0" normalizeH="0" baseline="0" noProof="0" dirty="0">
                <a:ln>
                  <a:noFill/>
                </a:ln>
                <a:solidFill>
                  <a:prstClr val="black"/>
                </a:solidFill>
                <a:effectLst/>
                <a:uLnTx/>
                <a:uFillTx/>
                <a:latin typeface="Funnel Sans"/>
                <a:ea typeface="+mn-lt"/>
                <a:cs typeface="+mn-lt"/>
              </a:rPr>
              <a:t> 4. </a:t>
            </a:r>
            <a:r>
              <a:rPr kumimoji="0" lang="en-US" sz="1000" b="0" i="0" u="none" strike="noStrike" kern="1200" cap="none" spc="0" normalizeH="0" baseline="0" noProof="0" dirty="0">
                <a:ln>
                  <a:noFill/>
                </a:ln>
                <a:solidFill>
                  <a:prstClr val="black"/>
                </a:solidFill>
                <a:effectLst/>
                <a:uLnTx/>
                <a:uFillTx/>
                <a:latin typeface="Funnel Sans"/>
                <a:ea typeface="+mn-lt"/>
                <a:cs typeface="+mn-lt"/>
                <a:hlinkClick r:id="rId13"/>
              </a:rPr>
              <a:t>Structure-function analyses of human kallikrein-related peptidase 2 establish the 99-loop as master regulator of activity - PubMed</a:t>
            </a:r>
            <a:r>
              <a:rPr kumimoji="0" lang="en-US" sz="1000" b="0" i="0" u="none" strike="noStrike" kern="1200" cap="none" spc="0" normalizeH="0" baseline="0" noProof="0" dirty="0">
                <a:ln>
                  <a:noFill/>
                </a:ln>
                <a:solidFill>
                  <a:prstClr val="black"/>
                </a:solidFill>
                <a:effectLst/>
                <a:uLnTx/>
                <a:uFillTx/>
                <a:latin typeface="Funnel Sans"/>
                <a:ea typeface="+mn-lt"/>
                <a:cs typeface="+mn-lt"/>
              </a:rPr>
              <a:t>, </a:t>
            </a:r>
            <a:r>
              <a:rPr kumimoji="0" lang="en-US" sz="1000" b="0" i="0" u="none" strike="noStrike" kern="1200" cap="none" spc="0" normalizeH="0" baseline="0" noProof="0" dirty="0">
                <a:ln>
                  <a:noFill/>
                </a:ln>
                <a:solidFill>
                  <a:prstClr val="black"/>
                </a:solidFill>
                <a:effectLst/>
                <a:uLnTx/>
                <a:uFillTx/>
                <a:latin typeface="Funnel Sans"/>
                <a:ea typeface="+mn-lt"/>
                <a:cs typeface="+mn-lt"/>
                <a:hlinkClick r:id="rId14"/>
              </a:rPr>
              <a:t>Jacob et al, Cancers 2021</a:t>
            </a:r>
            <a:endParaRPr kumimoji="0" lang="en-US" sz="1000" b="0" i="0" u="none" strike="noStrike" kern="1200" cap="none" spc="0" normalizeH="0" baseline="0" noProof="0" dirty="0">
              <a:ln>
                <a:noFill/>
              </a:ln>
              <a:solidFill>
                <a:prstClr val="black"/>
              </a:solidFill>
              <a:effectLst/>
              <a:uLnTx/>
              <a:uFillTx/>
              <a:latin typeface="Funnel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Funnel Sans"/>
              <a:ea typeface="+mn-ea"/>
              <a:cs typeface="+mn-cs"/>
            </a:endParaRPr>
          </a:p>
        </p:txBody>
      </p:sp>
      <p:grpSp>
        <p:nvGrpSpPr>
          <p:cNvPr id="42" name="Group 41">
            <a:extLst>
              <a:ext uri="{FF2B5EF4-FFF2-40B4-BE49-F238E27FC236}">
                <a16:creationId xmlns:a16="http://schemas.microsoft.com/office/drawing/2014/main" id="{AE2D96A7-BF35-251C-0749-0194000462C3}"/>
              </a:ext>
            </a:extLst>
          </p:cNvPr>
          <p:cNvGrpSpPr/>
          <p:nvPr/>
        </p:nvGrpSpPr>
        <p:grpSpPr>
          <a:xfrm>
            <a:off x="3291596" y="4754512"/>
            <a:ext cx="1362382" cy="1071149"/>
            <a:chOff x="2219192" y="5330037"/>
            <a:chExt cx="1362382" cy="1071149"/>
          </a:xfrm>
        </p:grpSpPr>
        <p:pic>
          <p:nvPicPr>
            <p:cNvPr id="35" name="Picture 34" descr="A close-up of a structure&#10;&#10;AI-generated content may be incorrect.">
              <a:extLst>
                <a:ext uri="{FF2B5EF4-FFF2-40B4-BE49-F238E27FC236}">
                  <a16:creationId xmlns:a16="http://schemas.microsoft.com/office/drawing/2014/main" id="{92268887-9590-F315-122A-35580C680F6D}"/>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10000" b="90000" l="10000" r="90000"/>
                      </a14:imgEffect>
                    </a14:imgLayer>
                  </a14:imgProps>
                </a:ext>
              </a:extLst>
            </a:blip>
            <a:srcRect l="41610" t="17507" r="29678" b="18380"/>
            <a:stretch>
              <a:fillRect/>
            </a:stretch>
          </p:blipFill>
          <p:spPr>
            <a:xfrm>
              <a:off x="2219192" y="5404584"/>
              <a:ext cx="1194835" cy="996602"/>
            </a:xfrm>
            <a:prstGeom prst="rect">
              <a:avLst/>
            </a:prstGeom>
          </p:spPr>
        </p:pic>
        <p:sp>
          <p:nvSpPr>
            <p:cNvPr id="36" name="Rectangle 35">
              <a:extLst>
                <a:ext uri="{FF2B5EF4-FFF2-40B4-BE49-F238E27FC236}">
                  <a16:creationId xmlns:a16="http://schemas.microsoft.com/office/drawing/2014/main" id="{93A48A14-4854-C05D-7880-24F5B32D24AA}"/>
                </a:ext>
              </a:extLst>
            </p:cNvPr>
            <p:cNvSpPr/>
            <p:nvPr/>
          </p:nvSpPr>
          <p:spPr>
            <a:xfrm>
              <a:off x="3243980" y="5330037"/>
              <a:ext cx="337594" cy="327949"/>
            </a:xfrm>
            <a:prstGeom prst="rect">
              <a:avLst/>
            </a:prstGeom>
            <a:solidFill>
              <a:srgbClr val="EFEFE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grpSp>
      <p:cxnSp>
        <p:nvCxnSpPr>
          <p:cNvPr id="33" name="Straight Arrow Connector 32">
            <a:extLst>
              <a:ext uri="{FF2B5EF4-FFF2-40B4-BE49-F238E27FC236}">
                <a16:creationId xmlns:a16="http://schemas.microsoft.com/office/drawing/2014/main" id="{1D9613E1-CE5E-E934-31C8-D6A22ABE477C}"/>
              </a:ext>
            </a:extLst>
          </p:cNvPr>
          <p:cNvCxnSpPr>
            <a:cxnSpLocks/>
          </p:cNvCxnSpPr>
          <p:nvPr/>
        </p:nvCxnSpPr>
        <p:spPr>
          <a:xfrm>
            <a:off x="3188572" y="5149536"/>
            <a:ext cx="421336" cy="166083"/>
          </a:xfrm>
          <a:prstGeom prst="straightConnector1">
            <a:avLst/>
          </a:prstGeom>
          <a:ln w="57150">
            <a:solidFill>
              <a:srgbClr val="C5DCCD"/>
            </a:solidFill>
            <a:tailEnd type="triangle"/>
          </a:ln>
        </p:spPr>
        <p:style>
          <a:lnRef idx="2">
            <a:schemeClr val="accent1"/>
          </a:lnRef>
          <a:fillRef idx="0">
            <a:schemeClr val="accent1"/>
          </a:fillRef>
          <a:effectRef idx="1">
            <a:schemeClr val="accent1"/>
          </a:effectRef>
          <a:fontRef idx="minor">
            <a:schemeClr val="tx1"/>
          </a:fontRef>
        </p:style>
      </p:cxnSp>
      <p:grpSp>
        <p:nvGrpSpPr>
          <p:cNvPr id="48" name="Group 47">
            <a:extLst>
              <a:ext uri="{FF2B5EF4-FFF2-40B4-BE49-F238E27FC236}">
                <a16:creationId xmlns:a16="http://schemas.microsoft.com/office/drawing/2014/main" id="{D2260664-7AF5-4FB3-C292-381A9699EADE}"/>
              </a:ext>
            </a:extLst>
          </p:cNvPr>
          <p:cNvGrpSpPr/>
          <p:nvPr/>
        </p:nvGrpSpPr>
        <p:grpSpPr>
          <a:xfrm>
            <a:off x="2222501" y="3046761"/>
            <a:ext cx="2766785" cy="1333499"/>
            <a:chOff x="1070428" y="3233964"/>
            <a:chExt cx="2766785" cy="1333499"/>
          </a:xfrm>
        </p:grpSpPr>
        <p:sp>
          <p:nvSpPr>
            <p:cNvPr id="46" name="Rectangle 45">
              <a:extLst>
                <a:ext uri="{FF2B5EF4-FFF2-40B4-BE49-F238E27FC236}">
                  <a16:creationId xmlns:a16="http://schemas.microsoft.com/office/drawing/2014/main" id="{7C1F7A01-1AC8-8509-3DC5-E603566B9C97}"/>
                </a:ext>
              </a:extLst>
            </p:cNvPr>
            <p:cNvSpPr/>
            <p:nvPr/>
          </p:nvSpPr>
          <p:spPr>
            <a:xfrm>
              <a:off x="1070428" y="3233964"/>
              <a:ext cx="2766785" cy="13334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pic>
          <p:nvPicPr>
            <p:cNvPr id="34" name="Picture 33" descr="A collage of different colored cells&#10;&#10;AI-generated content may be incorrect.">
              <a:extLst>
                <a:ext uri="{FF2B5EF4-FFF2-40B4-BE49-F238E27FC236}">
                  <a16:creationId xmlns:a16="http://schemas.microsoft.com/office/drawing/2014/main" id="{DA1422C2-A48F-0676-D458-3107CF3A1F2D}"/>
                </a:ext>
              </a:extLst>
            </p:cNvPr>
            <p:cNvPicPr>
              <a:picLocks noChangeAspect="1"/>
            </p:cNvPicPr>
            <p:nvPr/>
          </p:nvPicPr>
          <p:blipFill>
            <a:blip r:embed="rId17"/>
            <a:srcRect l="62970" t="8952" r="3539" b="53070"/>
            <a:stretch>
              <a:fillRect/>
            </a:stretch>
          </p:blipFill>
          <p:spPr>
            <a:xfrm>
              <a:off x="2033418" y="3293339"/>
              <a:ext cx="1727869" cy="904356"/>
            </a:xfrm>
            <a:prstGeom prst="rect">
              <a:avLst/>
            </a:prstGeom>
          </p:spPr>
        </p:pic>
        <p:pic>
          <p:nvPicPr>
            <p:cNvPr id="43" name="Picture 42" descr="A collage of different colored cells&#10;&#10;AI-generated content may be incorrect.">
              <a:extLst>
                <a:ext uri="{FF2B5EF4-FFF2-40B4-BE49-F238E27FC236}">
                  <a16:creationId xmlns:a16="http://schemas.microsoft.com/office/drawing/2014/main" id="{CE313A54-E3A8-3532-B315-CA5023F905EC}"/>
                </a:ext>
              </a:extLst>
            </p:cNvPr>
            <p:cNvPicPr>
              <a:picLocks noChangeAspect="1"/>
            </p:cNvPicPr>
            <p:nvPr/>
          </p:nvPicPr>
          <p:blipFill>
            <a:blip r:embed="rId17"/>
            <a:srcRect l="61241" t="87676" r="2602" b="-593"/>
            <a:stretch>
              <a:fillRect/>
            </a:stretch>
          </p:blipFill>
          <p:spPr>
            <a:xfrm>
              <a:off x="1950469" y="4197690"/>
              <a:ext cx="1865460" cy="307582"/>
            </a:xfrm>
            <a:prstGeom prst="rect">
              <a:avLst/>
            </a:prstGeom>
          </p:spPr>
        </p:pic>
        <p:pic>
          <p:nvPicPr>
            <p:cNvPr id="44" name="Picture 43" descr="A collage of different colored cells&#10;&#10;AI-generated content may be incorrect.">
              <a:extLst>
                <a:ext uri="{FF2B5EF4-FFF2-40B4-BE49-F238E27FC236}">
                  <a16:creationId xmlns:a16="http://schemas.microsoft.com/office/drawing/2014/main" id="{F890F61E-F760-57D2-AE89-AC79E32B65D9}"/>
                </a:ext>
              </a:extLst>
            </p:cNvPr>
            <p:cNvPicPr>
              <a:picLocks noChangeAspect="1"/>
            </p:cNvPicPr>
            <p:nvPr/>
          </p:nvPicPr>
          <p:blipFill>
            <a:blip r:embed="rId17"/>
            <a:srcRect l="28008" t="8571" r="55546" b="52762"/>
            <a:stretch>
              <a:fillRect/>
            </a:stretch>
          </p:blipFill>
          <p:spPr>
            <a:xfrm>
              <a:off x="1160658" y="3284268"/>
              <a:ext cx="848507" cy="920748"/>
            </a:xfrm>
            <a:prstGeom prst="rect">
              <a:avLst/>
            </a:prstGeom>
          </p:spPr>
        </p:pic>
        <p:pic>
          <p:nvPicPr>
            <p:cNvPr id="45" name="Picture 44" descr="A collage of different colored cells&#10;&#10;AI-generated content may be incorrect.">
              <a:extLst>
                <a:ext uri="{FF2B5EF4-FFF2-40B4-BE49-F238E27FC236}">
                  <a16:creationId xmlns:a16="http://schemas.microsoft.com/office/drawing/2014/main" id="{8B9F1A73-21AE-D0A9-76DF-2421A132BFFA}"/>
                </a:ext>
              </a:extLst>
            </p:cNvPr>
            <p:cNvPicPr>
              <a:picLocks noChangeAspect="1"/>
            </p:cNvPicPr>
            <p:nvPr/>
          </p:nvPicPr>
          <p:blipFill>
            <a:blip r:embed="rId17"/>
            <a:srcRect l="31074" t="87810" r="54702" b="-762"/>
            <a:stretch>
              <a:fillRect/>
            </a:stretch>
          </p:blipFill>
          <p:spPr>
            <a:xfrm>
              <a:off x="1295963" y="4206761"/>
              <a:ext cx="733850" cy="308442"/>
            </a:xfrm>
            <a:prstGeom prst="rect">
              <a:avLst/>
            </a:prstGeom>
          </p:spPr>
        </p:pic>
      </p:grpSp>
      <p:sp>
        <p:nvSpPr>
          <p:cNvPr id="59" name="Rectangle: Rounded Corners 58">
            <a:extLst>
              <a:ext uri="{FF2B5EF4-FFF2-40B4-BE49-F238E27FC236}">
                <a16:creationId xmlns:a16="http://schemas.microsoft.com/office/drawing/2014/main" id="{907F70BF-2AF2-C8B4-AD85-57A89F500FCB}"/>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Biology</a:t>
            </a:r>
          </a:p>
        </p:txBody>
      </p:sp>
    </p:spTree>
    <p:extLst>
      <p:ext uri="{BB962C8B-B14F-4D97-AF65-F5344CB8AC3E}">
        <p14:creationId xmlns:p14="http://schemas.microsoft.com/office/powerpoint/2010/main" val="540144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CA7545F-9147-3B11-0083-6B6697DD9AC8}"/>
              </a:ext>
            </a:extLst>
          </p:cNvPr>
          <p:cNvSpPr/>
          <p:nvPr/>
        </p:nvSpPr>
        <p:spPr>
          <a:xfrm>
            <a:off x="2281083" y="2965523"/>
            <a:ext cx="9429134" cy="715616"/>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Funnel Sans"/>
              <a:ea typeface="+mn-ea"/>
              <a:cs typeface="+mn-cs"/>
            </a:endParaRPr>
          </a:p>
        </p:txBody>
      </p:sp>
      <p:sp>
        <p:nvSpPr>
          <p:cNvPr id="2" name="Rectangle: Rounded Corners 1">
            <a:extLst>
              <a:ext uri="{FF2B5EF4-FFF2-40B4-BE49-F238E27FC236}">
                <a16:creationId xmlns:a16="http://schemas.microsoft.com/office/drawing/2014/main" id="{8073B9EC-C28D-2BD8-22B0-FB7B6F04168E}"/>
              </a:ext>
            </a:extLst>
          </p:cNvPr>
          <p:cNvSpPr/>
          <p:nvPr/>
        </p:nvSpPr>
        <p:spPr>
          <a:xfrm>
            <a:off x="2525757" y="2447560"/>
            <a:ext cx="1510748" cy="715617"/>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Funnel Sans"/>
                <a:ea typeface="+mn-ea"/>
                <a:cs typeface="+mn-cs"/>
              </a:rPr>
              <a:t>Localized </a:t>
            </a:r>
            <a:r>
              <a:rPr kumimoji="0" lang="en-US" sz="1600" b="0" i="0" u="none" strike="noStrike" kern="1200" cap="none" spc="0" normalizeH="0" baseline="0" noProof="0" err="1">
                <a:ln>
                  <a:noFill/>
                </a:ln>
                <a:solidFill>
                  <a:prstClr val="white"/>
                </a:solidFill>
                <a:effectLst/>
                <a:uLnTx/>
                <a:uFillTx/>
                <a:latin typeface="Funnel Sans"/>
                <a:ea typeface="+mn-ea"/>
                <a:cs typeface="+mn-cs"/>
              </a:rPr>
              <a:t>PCa</a:t>
            </a:r>
            <a:endParaRPr kumimoji="0" lang="en-US" sz="1600" b="0" i="0" u="none" strike="noStrike" kern="1200" cap="none" spc="0" normalizeH="0" baseline="0" noProof="0">
              <a:ln>
                <a:noFill/>
              </a:ln>
              <a:solidFill>
                <a:prstClr val="white"/>
              </a:solidFill>
              <a:effectLst/>
              <a:uLnTx/>
              <a:uFillTx/>
              <a:latin typeface="Funnel Sans"/>
              <a:ea typeface="+mn-ea"/>
              <a:cs typeface="+mn-cs"/>
            </a:endParaRPr>
          </a:p>
        </p:txBody>
      </p:sp>
      <p:sp>
        <p:nvSpPr>
          <p:cNvPr id="3" name="Rectangle: Rounded Corners 2">
            <a:extLst>
              <a:ext uri="{FF2B5EF4-FFF2-40B4-BE49-F238E27FC236}">
                <a16:creationId xmlns:a16="http://schemas.microsoft.com/office/drawing/2014/main" id="{F243E1AB-ECDF-ACB7-ED61-9C120E2DDF60}"/>
              </a:ext>
            </a:extLst>
          </p:cNvPr>
          <p:cNvSpPr/>
          <p:nvPr/>
        </p:nvSpPr>
        <p:spPr>
          <a:xfrm>
            <a:off x="4443532" y="2447560"/>
            <a:ext cx="1510748" cy="715617"/>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white"/>
                </a:solidFill>
                <a:effectLst/>
                <a:uLnTx/>
                <a:uFillTx/>
                <a:latin typeface="Funnel Sans"/>
                <a:ea typeface="+mn-ea"/>
                <a:cs typeface="+mn-cs"/>
              </a:rPr>
              <a:t>Systemic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prstClr val="white"/>
                </a:solidFill>
                <a:effectLst/>
                <a:uLnTx/>
                <a:uFillTx/>
                <a:latin typeface="Funnel Sans"/>
                <a:ea typeface="+mn-ea"/>
                <a:cs typeface="+mn-cs"/>
              </a:rPr>
              <a:t>Biochemical recurrence (BCR)</a:t>
            </a:r>
          </a:p>
        </p:txBody>
      </p:sp>
      <p:sp>
        <p:nvSpPr>
          <p:cNvPr id="4" name="Rectangle: Rounded Corners 3">
            <a:extLst>
              <a:ext uri="{FF2B5EF4-FFF2-40B4-BE49-F238E27FC236}">
                <a16:creationId xmlns:a16="http://schemas.microsoft.com/office/drawing/2014/main" id="{E5A17C44-8D1F-4089-01C4-409C30F474B0}"/>
              </a:ext>
            </a:extLst>
          </p:cNvPr>
          <p:cNvSpPr/>
          <p:nvPr/>
        </p:nvSpPr>
        <p:spPr>
          <a:xfrm>
            <a:off x="6301220" y="2447560"/>
            <a:ext cx="1510748" cy="715617"/>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err="1">
                <a:ln>
                  <a:noFill/>
                </a:ln>
                <a:solidFill>
                  <a:prstClr val="white"/>
                </a:solidFill>
                <a:effectLst/>
                <a:uLnTx/>
                <a:uFillTx/>
                <a:latin typeface="Funnel Sans"/>
                <a:ea typeface="+mn-ea"/>
                <a:cs typeface="+mn-cs"/>
              </a:rPr>
              <a:t>nmHSPC</a:t>
            </a:r>
            <a:endParaRPr kumimoji="0" lang="en-US" sz="1600" b="0" i="0" u="none" strike="noStrike" kern="1200" cap="none" spc="0" normalizeH="0" baseline="0" noProof="0">
              <a:ln>
                <a:noFill/>
              </a:ln>
              <a:solidFill>
                <a:prstClr val="white"/>
              </a:solidFill>
              <a:effectLst/>
              <a:uLnTx/>
              <a:uFillTx/>
              <a:latin typeface="Funnel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prstClr val="white"/>
                </a:solidFill>
                <a:effectLst/>
                <a:uLnTx/>
                <a:uFillTx/>
                <a:latin typeface="Funnel Sans"/>
                <a:ea typeface="+mn-ea"/>
                <a:cs typeface="+mn-cs"/>
              </a:rPr>
              <a:t>Non-metastatic hormone sensitive</a:t>
            </a:r>
          </a:p>
        </p:txBody>
      </p:sp>
      <p:sp>
        <p:nvSpPr>
          <p:cNvPr id="5" name="Rectangle: Rounded Corners 4">
            <a:extLst>
              <a:ext uri="{FF2B5EF4-FFF2-40B4-BE49-F238E27FC236}">
                <a16:creationId xmlns:a16="http://schemas.microsoft.com/office/drawing/2014/main" id="{7ADE355A-0173-FD49-5EB8-F76917AEB5CB}"/>
              </a:ext>
            </a:extLst>
          </p:cNvPr>
          <p:cNvSpPr/>
          <p:nvPr/>
        </p:nvSpPr>
        <p:spPr>
          <a:xfrm>
            <a:off x="8158908" y="2447560"/>
            <a:ext cx="1510748" cy="715617"/>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err="1">
                <a:ln>
                  <a:noFill/>
                </a:ln>
                <a:solidFill>
                  <a:prstClr val="white"/>
                </a:solidFill>
                <a:effectLst/>
                <a:uLnTx/>
                <a:uFillTx/>
                <a:latin typeface="Funnel Sans"/>
                <a:ea typeface="+mn-ea"/>
                <a:cs typeface="+mn-cs"/>
              </a:rPr>
              <a:t>nmCRPC</a:t>
            </a:r>
            <a:endParaRPr kumimoji="0" lang="en-US" sz="1600" b="0" i="0" u="none" strike="noStrike" kern="1200" cap="none" spc="0" normalizeH="0" baseline="0" noProof="0">
              <a:ln>
                <a:noFill/>
              </a:ln>
              <a:solidFill>
                <a:prstClr val="white"/>
              </a:solidFill>
              <a:effectLst/>
              <a:uLnTx/>
              <a:uFillTx/>
              <a:latin typeface="Funnel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prstClr val="white"/>
                </a:solidFill>
                <a:effectLst/>
                <a:uLnTx/>
                <a:uFillTx/>
                <a:latin typeface="Funnel Sans"/>
                <a:ea typeface="+mn-ea"/>
                <a:cs typeface="+mn-cs"/>
              </a:rPr>
              <a:t>Non-metastatic castration resistant</a:t>
            </a:r>
          </a:p>
        </p:txBody>
      </p:sp>
      <p:sp>
        <p:nvSpPr>
          <p:cNvPr id="6" name="Rectangle: Rounded Corners 5">
            <a:extLst>
              <a:ext uri="{FF2B5EF4-FFF2-40B4-BE49-F238E27FC236}">
                <a16:creationId xmlns:a16="http://schemas.microsoft.com/office/drawing/2014/main" id="{3464CEAF-B7BC-8BF5-D376-4D1AC2BAEB8C}"/>
              </a:ext>
            </a:extLst>
          </p:cNvPr>
          <p:cNvSpPr/>
          <p:nvPr/>
        </p:nvSpPr>
        <p:spPr>
          <a:xfrm>
            <a:off x="10076683" y="2447560"/>
            <a:ext cx="1510748" cy="715617"/>
          </a:xfrm>
          <a:prstGeom prst="roundRect">
            <a:avLst/>
          </a:prstGeom>
          <a:solidFill>
            <a:srgbClr val="184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err="1">
                <a:ln>
                  <a:noFill/>
                </a:ln>
                <a:solidFill>
                  <a:prstClr val="white"/>
                </a:solidFill>
                <a:effectLst/>
                <a:uLnTx/>
                <a:uFillTx/>
                <a:latin typeface="Funnel Sans"/>
                <a:ea typeface="+mn-ea"/>
                <a:cs typeface="+mn-cs"/>
              </a:rPr>
              <a:t>mCRPC</a:t>
            </a:r>
            <a:endParaRPr kumimoji="0" lang="en-US" sz="1600" b="0" i="0" u="none" strike="noStrike" kern="1200" cap="none" spc="0" normalizeH="0" baseline="0" noProof="0">
              <a:ln>
                <a:noFill/>
              </a:ln>
              <a:solidFill>
                <a:prstClr val="white"/>
              </a:solidFill>
              <a:effectLst/>
              <a:uLnTx/>
              <a:uFillTx/>
              <a:latin typeface="Funnel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prstClr val="white"/>
                </a:solidFill>
                <a:effectLst/>
                <a:uLnTx/>
                <a:uFillTx/>
                <a:latin typeface="Funnel Sans"/>
                <a:ea typeface="+mn-ea"/>
                <a:cs typeface="+mn-cs"/>
              </a:rPr>
              <a:t>Metastatic castration resistant</a:t>
            </a:r>
          </a:p>
        </p:txBody>
      </p:sp>
      <p:graphicFrame>
        <p:nvGraphicFramePr>
          <p:cNvPr id="7" name="Table 6">
            <a:extLst>
              <a:ext uri="{FF2B5EF4-FFF2-40B4-BE49-F238E27FC236}">
                <a16:creationId xmlns:a16="http://schemas.microsoft.com/office/drawing/2014/main" id="{275BE6DC-8FC9-F2E8-B9C5-37B06289346D}"/>
              </a:ext>
            </a:extLst>
          </p:cNvPr>
          <p:cNvGraphicFramePr>
            <a:graphicFrameLocks noGrp="1"/>
          </p:cNvGraphicFramePr>
          <p:nvPr/>
        </p:nvGraphicFramePr>
        <p:xfrm>
          <a:off x="648929" y="3673318"/>
          <a:ext cx="11061288" cy="1899919"/>
        </p:xfrm>
        <a:graphic>
          <a:graphicData uri="http://schemas.openxmlformats.org/drawingml/2006/table">
            <a:tbl>
              <a:tblPr firstRow="1" bandRow="1">
                <a:tableStyleId>{D27102A9-8310-4765-A935-A1911B00CA55}</a:tableStyleId>
              </a:tblPr>
              <a:tblGrid>
                <a:gridCol w="1632154">
                  <a:extLst>
                    <a:ext uri="{9D8B030D-6E8A-4147-A177-3AD203B41FA5}">
                      <a16:colId xmlns:a16="http://schemas.microsoft.com/office/drawing/2014/main" val="773938304"/>
                    </a:ext>
                  </a:extLst>
                </a:gridCol>
                <a:gridCol w="2054942">
                  <a:extLst>
                    <a:ext uri="{9D8B030D-6E8A-4147-A177-3AD203B41FA5}">
                      <a16:colId xmlns:a16="http://schemas.microsoft.com/office/drawing/2014/main" val="796710748"/>
                    </a:ext>
                  </a:extLst>
                </a:gridCol>
                <a:gridCol w="1843548">
                  <a:extLst>
                    <a:ext uri="{9D8B030D-6E8A-4147-A177-3AD203B41FA5}">
                      <a16:colId xmlns:a16="http://schemas.microsoft.com/office/drawing/2014/main" val="3110358787"/>
                    </a:ext>
                  </a:extLst>
                </a:gridCol>
                <a:gridCol w="1843548">
                  <a:extLst>
                    <a:ext uri="{9D8B030D-6E8A-4147-A177-3AD203B41FA5}">
                      <a16:colId xmlns:a16="http://schemas.microsoft.com/office/drawing/2014/main" val="3507760086"/>
                    </a:ext>
                  </a:extLst>
                </a:gridCol>
                <a:gridCol w="1843548">
                  <a:extLst>
                    <a:ext uri="{9D8B030D-6E8A-4147-A177-3AD203B41FA5}">
                      <a16:colId xmlns:a16="http://schemas.microsoft.com/office/drawing/2014/main" val="1036757963"/>
                    </a:ext>
                  </a:extLst>
                </a:gridCol>
                <a:gridCol w="1843548">
                  <a:extLst>
                    <a:ext uri="{9D8B030D-6E8A-4147-A177-3AD203B41FA5}">
                      <a16:colId xmlns:a16="http://schemas.microsoft.com/office/drawing/2014/main" val="1780501928"/>
                    </a:ext>
                  </a:extLst>
                </a:gridCol>
              </a:tblGrid>
              <a:tr h="370840">
                <a:tc>
                  <a:txBody>
                    <a:bodyPr/>
                    <a:lstStyle/>
                    <a:p>
                      <a:r>
                        <a:rPr lang="en-US" sz="1600"/>
                        <a:t>Prevalent pts</a:t>
                      </a:r>
                    </a:p>
                  </a:txBody>
                  <a:tcPr>
                    <a:lnL>
                      <a:noFill/>
                    </a:lnL>
                    <a:lnR w="6350" cap="flat" cmpd="sng" algn="ctr">
                      <a:solidFill>
                        <a:schemeClr val="bg1">
                          <a:lumMod val="75000"/>
                        </a:schemeClr>
                      </a:solidFill>
                      <a:prstDash val="sysDot"/>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CD"/>
                    </a:solidFill>
                  </a:tcPr>
                </a:tc>
                <a:tc>
                  <a:txBody>
                    <a:bodyPr/>
                    <a:lstStyle/>
                    <a:p>
                      <a:pPr algn="ctr"/>
                      <a:r>
                        <a:rPr lang="en-US" sz="1600"/>
                        <a:t>2.5-3M</a:t>
                      </a:r>
                    </a:p>
                  </a:txBody>
                  <a:tcP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CD"/>
                    </a:solidFill>
                  </a:tcPr>
                </a:tc>
                <a:tc>
                  <a:txBody>
                    <a:bodyPr/>
                    <a:lstStyle/>
                    <a:p>
                      <a:pPr algn="ctr"/>
                      <a:r>
                        <a:rPr lang="en-US" sz="1600"/>
                        <a:t>300-600K</a:t>
                      </a:r>
                    </a:p>
                  </a:txBody>
                  <a:tcP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CD"/>
                    </a:solidFill>
                  </a:tcPr>
                </a:tc>
                <a:tc>
                  <a:txBody>
                    <a:bodyPr/>
                    <a:lstStyle/>
                    <a:p>
                      <a:pPr algn="ctr"/>
                      <a:r>
                        <a:rPr lang="en-US" sz="1600"/>
                        <a:t>100K</a:t>
                      </a:r>
                    </a:p>
                  </a:txBody>
                  <a:tcP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CD"/>
                    </a:solidFill>
                  </a:tcPr>
                </a:tc>
                <a:tc>
                  <a:txBody>
                    <a:bodyPr/>
                    <a:lstStyle/>
                    <a:p>
                      <a:pPr algn="ctr"/>
                      <a:r>
                        <a:rPr lang="en-US" sz="1600"/>
                        <a:t>60-80K</a:t>
                      </a:r>
                    </a:p>
                  </a:txBody>
                  <a:tcP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CD"/>
                    </a:solidFill>
                  </a:tcPr>
                </a:tc>
                <a:tc>
                  <a:txBody>
                    <a:bodyPr/>
                    <a:lstStyle/>
                    <a:p>
                      <a:pPr algn="ctr"/>
                      <a:r>
                        <a:rPr lang="en-US" sz="1600"/>
                        <a:t>45-60K</a:t>
                      </a:r>
                    </a:p>
                  </a:txBody>
                  <a:tcP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C6DCCD"/>
                    </a:solidFill>
                  </a:tcPr>
                </a:tc>
                <a:extLst>
                  <a:ext uri="{0D108BD9-81ED-4DB2-BD59-A6C34878D82A}">
                    <a16:rowId xmlns:a16="http://schemas.microsoft.com/office/drawing/2014/main" val="2325543775"/>
                  </a:ext>
                </a:extLst>
              </a:tr>
              <a:tr h="370840">
                <a:tc>
                  <a:txBody>
                    <a:bodyPr/>
                    <a:lstStyle/>
                    <a:p>
                      <a:pPr algn="ctr"/>
                      <a:r>
                        <a:rPr lang="en-US" sz="1600"/>
                        <a:t>PSMA Positive</a:t>
                      </a:r>
                    </a:p>
                    <a:p>
                      <a:pPr algn="ctr"/>
                      <a:r>
                        <a:rPr lang="en-US" sz="1600"/>
                        <a:t>(PET)</a:t>
                      </a:r>
                    </a:p>
                  </a:txBody>
                  <a:tcPr anchor="ctr">
                    <a:lnL>
                      <a:noFill/>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~50%</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~70-80%</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~85%</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~85%</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a:t>85-90% </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64911048"/>
                  </a:ext>
                </a:extLst>
              </a:tr>
              <a:tr h="370840">
                <a:tc>
                  <a:txBody>
                    <a:bodyPr/>
                    <a:lstStyle/>
                    <a:p>
                      <a:pPr algn="ctr"/>
                      <a:r>
                        <a:rPr lang="en-US" sz="1600"/>
                        <a:t>KLK2 Positive</a:t>
                      </a:r>
                    </a:p>
                    <a:p>
                      <a:pPr algn="ctr"/>
                      <a:r>
                        <a:rPr lang="en-US" sz="1600"/>
                        <a:t>(IHC)</a:t>
                      </a:r>
                    </a:p>
                  </a:txBody>
                  <a:tcPr anchor="ctr">
                    <a:lnL>
                      <a:noFill/>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a:t>~90%</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600"/>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600"/>
                        <a:t>~82%</a:t>
                      </a:r>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a:lnSpc>
                          <a:spcPct val="100000"/>
                        </a:lnSpc>
                        <a:spcBef>
                          <a:spcPts val="0"/>
                        </a:spcBef>
                        <a:spcAft>
                          <a:spcPts val="0"/>
                        </a:spcAft>
                        <a:buNone/>
                        <a:tabLst/>
                        <a:defRPr/>
                      </a:pPr>
                      <a:r>
                        <a:rPr lang="en-US" sz="1800" b="0" i="0" u="none" strike="noStrike" noProof="0">
                          <a:solidFill>
                            <a:srgbClr val="000000"/>
                          </a:solidFill>
                          <a:latin typeface="Funnel Sans"/>
                        </a:rPr>
                        <a:t>75%</a:t>
                      </a:r>
                      <a:endParaRPr lang="en-US"/>
                    </a:p>
                  </a:txBody>
                  <a:tcPr anchor="ctr">
                    <a:lnL w="6350" cap="flat" cmpd="sng" algn="ctr">
                      <a:solidFill>
                        <a:schemeClr val="bg1">
                          <a:lumMod val="75000"/>
                        </a:schemeClr>
                      </a:solidFill>
                      <a:prstDash val="sysDot"/>
                      <a:round/>
                      <a:headEnd type="none" w="med" len="med"/>
                      <a:tailEnd type="none" w="med" len="med"/>
                    </a:lnL>
                    <a:lnR w="6350" cap="flat" cmpd="sng" algn="ctr">
                      <a:solidFill>
                        <a:schemeClr val="bg1">
                          <a:lumMod val="75000"/>
                        </a:schemeClr>
                      </a:solidFill>
                      <a:prstDash val="sysDot"/>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075089"/>
                  </a:ext>
                </a:extLst>
              </a:tr>
              <a:tr h="370839">
                <a:tc>
                  <a:txBody>
                    <a:bodyPr/>
                    <a:lstStyle/>
                    <a:p>
                      <a:pPr lvl="0" algn="ctr">
                        <a:buNone/>
                      </a:pPr>
                      <a:endParaRPr lang="en-US" sz="1600"/>
                    </a:p>
                  </a:txBody>
                  <a:tcPr anchor="ctr">
                    <a:lnL w="0">
                      <a:noFill/>
                    </a:lnL>
                    <a:lnR w="6350">
                      <a:solidFill>
                        <a:schemeClr val="bg1">
                          <a:lumMod val="75000"/>
                        </a:schemeClr>
                      </a:solidFill>
                    </a:lnR>
                    <a:lnT w="6350">
                      <a:solidFill>
                        <a:schemeClr val="tx1"/>
                      </a:solidFill>
                    </a:lnT>
                    <a:lnB w="6350">
                      <a:solidFill>
                        <a:schemeClr val="tx1"/>
                      </a:solidFill>
                    </a:lnB>
                    <a:lnTlToBr w="0">
                      <a:noFill/>
                    </a:lnTlToBr>
                    <a:lnBlToTr w="0">
                      <a:noFill/>
                    </a:lnBlToTr>
                  </a:tcPr>
                </a:tc>
                <a:tc>
                  <a:txBody>
                    <a:bodyPr/>
                    <a:lstStyle/>
                    <a:p>
                      <a:pPr lvl="0" algn="ctr">
                        <a:buNone/>
                      </a:pPr>
                      <a:endParaRPr lang="en-US" sz="1600"/>
                    </a:p>
                  </a:txBody>
                  <a:tcPr anchor="ctr">
                    <a:lnL w="6350">
                      <a:solidFill>
                        <a:schemeClr val="bg1">
                          <a:lumMod val="75000"/>
                        </a:schemeClr>
                      </a:solidFill>
                    </a:lnL>
                    <a:lnR w="6350">
                      <a:solidFill>
                        <a:schemeClr val="bg1">
                          <a:lumMod val="75000"/>
                        </a:schemeClr>
                      </a:solidFill>
                    </a:lnR>
                    <a:lnT w="6350">
                      <a:solidFill>
                        <a:schemeClr val="tx1"/>
                      </a:solidFill>
                    </a:lnT>
                    <a:lnB w="6350">
                      <a:solidFill>
                        <a:schemeClr val="tx1"/>
                      </a:solidFill>
                    </a:lnB>
                    <a:lnTlToBr w="0">
                      <a:noFill/>
                    </a:lnTlToBr>
                    <a:lnBlToTr w="0">
                      <a:noFill/>
                    </a:lnBlToTr>
                  </a:tcPr>
                </a:tc>
                <a:tc>
                  <a:txBody>
                    <a:bodyPr/>
                    <a:lstStyle/>
                    <a:p>
                      <a:pPr lvl="0" algn="ctr">
                        <a:buNone/>
                      </a:pPr>
                      <a:endParaRPr lang="en-US" sz="1600"/>
                    </a:p>
                  </a:txBody>
                  <a:tcPr anchor="ctr">
                    <a:lnL w="6350">
                      <a:solidFill>
                        <a:schemeClr val="bg1">
                          <a:lumMod val="75000"/>
                        </a:schemeClr>
                      </a:solidFill>
                    </a:lnL>
                    <a:lnR w="6350">
                      <a:solidFill>
                        <a:schemeClr val="bg1">
                          <a:lumMod val="75000"/>
                        </a:schemeClr>
                      </a:solidFill>
                    </a:lnR>
                    <a:lnT w="6350">
                      <a:solidFill>
                        <a:schemeClr val="tx1"/>
                      </a:solidFill>
                    </a:lnT>
                    <a:lnB w="6350">
                      <a:solidFill>
                        <a:schemeClr val="tx1"/>
                      </a:solidFill>
                    </a:lnB>
                    <a:lnTlToBr w="0">
                      <a:noFill/>
                    </a:lnTlToBr>
                    <a:lnBlToTr w="0">
                      <a:noFill/>
                    </a:lnBlToTr>
                  </a:tcPr>
                </a:tc>
                <a:tc>
                  <a:txBody>
                    <a:bodyPr/>
                    <a:lstStyle/>
                    <a:p>
                      <a:pPr lvl="0" algn="ctr">
                        <a:buNone/>
                      </a:pPr>
                      <a:endParaRPr lang="en-US" sz="1600"/>
                    </a:p>
                  </a:txBody>
                  <a:tcPr anchor="ctr">
                    <a:lnL w="6350">
                      <a:solidFill>
                        <a:schemeClr val="bg1">
                          <a:lumMod val="75000"/>
                        </a:schemeClr>
                      </a:solidFill>
                    </a:lnL>
                    <a:lnR w="6350">
                      <a:solidFill>
                        <a:schemeClr val="bg1">
                          <a:lumMod val="75000"/>
                        </a:schemeClr>
                      </a:solidFill>
                    </a:lnR>
                    <a:lnT w="6350">
                      <a:solidFill>
                        <a:schemeClr val="tx1"/>
                      </a:solidFill>
                    </a:lnT>
                    <a:lnB w="6350">
                      <a:solidFill>
                        <a:schemeClr val="tx1"/>
                      </a:solidFill>
                    </a:lnB>
                    <a:lnTlToBr w="0">
                      <a:noFill/>
                    </a:lnTlToBr>
                    <a:lnBlToTr w="0">
                      <a:noFill/>
                    </a:lnBlToTr>
                  </a:tcPr>
                </a:tc>
                <a:tc>
                  <a:txBody>
                    <a:bodyPr/>
                    <a:lstStyle/>
                    <a:p>
                      <a:pPr marL="0" lvl="0" indent="0" algn="ctr" defTabSz="914400">
                        <a:lnSpc>
                          <a:spcPct val="100000"/>
                        </a:lnSpc>
                        <a:spcBef>
                          <a:spcPts val="0"/>
                        </a:spcBef>
                        <a:spcAft>
                          <a:spcPts val="0"/>
                        </a:spcAft>
                        <a:buNone/>
                        <a:tabLst/>
                        <a:defRPr/>
                      </a:pPr>
                      <a:endParaRPr lang="en-US" sz="1600"/>
                    </a:p>
                  </a:txBody>
                  <a:tcPr anchor="ctr">
                    <a:lnL w="6350">
                      <a:solidFill>
                        <a:schemeClr val="bg1">
                          <a:lumMod val="75000"/>
                        </a:schemeClr>
                      </a:solidFill>
                    </a:lnL>
                    <a:lnR w="6350">
                      <a:solidFill>
                        <a:schemeClr val="bg1">
                          <a:lumMod val="75000"/>
                        </a:schemeClr>
                      </a:solidFill>
                    </a:lnR>
                    <a:lnT w="6350">
                      <a:solidFill>
                        <a:schemeClr val="tx1"/>
                      </a:solidFill>
                    </a:lnT>
                    <a:lnB w="6350">
                      <a:solidFill>
                        <a:schemeClr val="tx1"/>
                      </a:solidFill>
                    </a:lnB>
                    <a:lnTlToBr w="0">
                      <a:noFill/>
                    </a:lnTlToBr>
                    <a:lnBlToTr w="0">
                      <a:noFill/>
                    </a:lnBlToTr>
                  </a:tcPr>
                </a:tc>
                <a:tc>
                  <a:txBody>
                    <a:bodyPr/>
                    <a:lstStyle/>
                    <a:p>
                      <a:pPr marL="0" lvl="0" indent="0" algn="ctr" defTabSz="914400">
                        <a:lnSpc>
                          <a:spcPct val="100000"/>
                        </a:lnSpc>
                        <a:spcBef>
                          <a:spcPts val="0"/>
                        </a:spcBef>
                        <a:spcAft>
                          <a:spcPts val="0"/>
                        </a:spcAft>
                        <a:buNone/>
                        <a:tabLst/>
                        <a:defRPr/>
                      </a:pPr>
                      <a:endParaRPr lang="en-US" sz="1600"/>
                    </a:p>
                  </a:txBody>
                  <a:tcPr anchor="ctr">
                    <a:lnL w="6350">
                      <a:solidFill>
                        <a:schemeClr val="bg1">
                          <a:lumMod val="75000"/>
                        </a:schemeClr>
                      </a:solidFill>
                    </a:lnL>
                    <a:lnR w="6350">
                      <a:solidFill>
                        <a:schemeClr val="bg1">
                          <a:lumMod val="75000"/>
                        </a:schemeClr>
                      </a:solidFill>
                    </a:lnR>
                    <a:lnT w="6350">
                      <a:solidFill>
                        <a:schemeClr val="tx1"/>
                      </a:solidFill>
                    </a:lnT>
                    <a:lnB w="6350">
                      <a:solidFill>
                        <a:schemeClr val="tx1"/>
                      </a:solidFill>
                    </a:lnB>
                    <a:lnTlToBr w="0">
                      <a:noFill/>
                    </a:lnTlToBr>
                    <a:lnBlToTr w="0">
                      <a:noFill/>
                    </a:lnBlToTr>
                  </a:tcPr>
                </a:tc>
                <a:extLst>
                  <a:ext uri="{0D108BD9-81ED-4DB2-BD59-A6C34878D82A}">
                    <a16:rowId xmlns:a16="http://schemas.microsoft.com/office/drawing/2014/main" val="4024692868"/>
                  </a:ext>
                </a:extLst>
              </a:tr>
            </a:tbl>
          </a:graphicData>
        </a:graphic>
      </p:graphicFrame>
      <p:sp>
        <p:nvSpPr>
          <p:cNvPr id="10" name="TextBox 9">
            <a:extLst>
              <a:ext uri="{FF2B5EF4-FFF2-40B4-BE49-F238E27FC236}">
                <a16:creationId xmlns:a16="http://schemas.microsoft.com/office/drawing/2014/main" id="{44A0313F-1281-0D9C-0F6A-89BAB9AA18C6}"/>
              </a:ext>
            </a:extLst>
          </p:cNvPr>
          <p:cNvSpPr txBox="1"/>
          <p:nvPr/>
        </p:nvSpPr>
        <p:spPr>
          <a:xfrm>
            <a:off x="2525757" y="3268269"/>
            <a:ext cx="1510748"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99% 5yr survival</a:t>
            </a:r>
          </a:p>
        </p:txBody>
      </p:sp>
      <p:cxnSp>
        <p:nvCxnSpPr>
          <p:cNvPr id="12" name="Straight Arrow Connector 11">
            <a:extLst>
              <a:ext uri="{FF2B5EF4-FFF2-40B4-BE49-F238E27FC236}">
                <a16:creationId xmlns:a16="http://schemas.microsoft.com/office/drawing/2014/main" id="{188EF52C-8032-55B8-9E1E-88271BEE6C74}"/>
              </a:ext>
            </a:extLst>
          </p:cNvPr>
          <p:cNvCxnSpPr>
            <a:cxnSpLocks/>
          </p:cNvCxnSpPr>
          <p:nvPr/>
        </p:nvCxnSpPr>
        <p:spPr>
          <a:xfrm>
            <a:off x="4036505" y="2805368"/>
            <a:ext cx="40702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Connector: Elbow 16">
            <a:extLst>
              <a:ext uri="{FF2B5EF4-FFF2-40B4-BE49-F238E27FC236}">
                <a16:creationId xmlns:a16="http://schemas.microsoft.com/office/drawing/2014/main" id="{F790F8A2-FF6D-BC25-CF70-D4C19D6B37E9}"/>
              </a:ext>
            </a:extLst>
          </p:cNvPr>
          <p:cNvCxnSpPr>
            <a:stCxn id="3" idx="0"/>
            <a:endCxn id="4" idx="0"/>
          </p:cNvCxnSpPr>
          <p:nvPr/>
        </p:nvCxnSpPr>
        <p:spPr>
          <a:xfrm rot="5400000" flipH="1" flipV="1">
            <a:off x="6127750" y="1518716"/>
            <a:ext cx="12700" cy="1857688"/>
          </a:xfrm>
          <a:prstGeom prst="bentConnector3">
            <a:avLst>
              <a:gd name="adj1" fmla="val 1800000"/>
            </a:avLst>
          </a:prstGeom>
          <a:ln w="6350">
            <a:tailEnd type="triangle"/>
          </a:ln>
        </p:spPr>
        <p:style>
          <a:lnRef idx="2">
            <a:schemeClr val="dk1"/>
          </a:lnRef>
          <a:fillRef idx="0">
            <a:schemeClr val="dk1"/>
          </a:fillRef>
          <a:effectRef idx="1">
            <a:schemeClr val="dk1"/>
          </a:effectRef>
          <a:fontRef idx="minor">
            <a:schemeClr val="tx1"/>
          </a:fontRef>
        </p:style>
      </p:cxnSp>
      <p:cxnSp>
        <p:nvCxnSpPr>
          <p:cNvPr id="18" name="Connector: Elbow 17">
            <a:extLst>
              <a:ext uri="{FF2B5EF4-FFF2-40B4-BE49-F238E27FC236}">
                <a16:creationId xmlns:a16="http://schemas.microsoft.com/office/drawing/2014/main" id="{1637E81B-47CC-01F4-DEE9-27169247FC3E}"/>
              </a:ext>
            </a:extLst>
          </p:cNvPr>
          <p:cNvCxnSpPr>
            <a:cxnSpLocks/>
            <a:stCxn id="3" idx="0"/>
            <a:endCxn id="5" idx="0"/>
          </p:cNvCxnSpPr>
          <p:nvPr/>
        </p:nvCxnSpPr>
        <p:spPr>
          <a:xfrm rot="5400000" flipH="1" flipV="1">
            <a:off x="7056594" y="589872"/>
            <a:ext cx="12700" cy="3715376"/>
          </a:xfrm>
          <a:prstGeom prst="bentConnector3">
            <a:avLst>
              <a:gd name="adj1" fmla="val 1800000"/>
            </a:avLst>
          </a:prstGeom>
          <a:ln w="6350">
            <a:tailEnd type="triangle"/>
          </a:ln>
        </p:spPr>
        <p:style>
          <a:lnRef idx="2">
            <a:schemeClr val="dk1"/>
          </a:lnRef>
          <a:fillRef idx="0">
            <a:schemeClr val="dk1"/>
          </a:fillRef>
          <a:effectRef idx="1">
            <a:schemeClr val="dk1"/>
          </a:effectRef>
          <a:fontRef idx="minor">
            <a:schemeClr val="tx1"/>
          </a:fontRef>
        </p:style>
      </p:cxnSp>
      <p:cxnSp>
        <p:nvCxnSpPr>
          <p:cNvPr id="21" name="Straight Arrow Connector 20">
            <a:extLst>
              <a:ext uri="{FF2B5EF4-FFF2-40B4-BE49-F238E27FC236}">
                <a16:creationId xmlns:a16="http://schemas.microsoft.com/office/drawing/2014/main" id="{B15A6DD0-D1E5-3FBC-4C64-277111857AEB}"/>
              </a:ext>
            </a:extLst>
          </p:cNvPr>
          <p:cNvCxnSpPr>
            <a:cxnSpLocks/>
          </p:cNvCxnSpPr>
          <p:nvPr/>
        </p:nvCxnSpPr>
        <p:spPr>
          <a:xfrm>
            <a:off x="9669656" y="2805368"/>
            <a:ext cx="40702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904A2357-FF63-76DD-A3D1-4A0FCFB88703}"/>
              </a:ext>
            </a:extLst>
          </p:cNvPr>
          <p:cNvSpPr txBox="1"/>
          <p:nvPr/>
        </p:nvSpPr>
        <p:spPr>
          <a:xfrm>
            <a:off x="4265447" y="3268269"/>
            <a:ext cx="185768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30% recurrence rate</a:t>
            </a:r>
          </a:p>
        </p:txBody>
      </p:sp>
      <p:sp>
        <p:nvSpPr>
          <p:cNvPr id="26" name="TextBox 25">
            <a:extLst>
              <a:ext uri="{FF2B5EF4-FFF2-40B4-BE49-F238E27FC236}">
                <a16:creationId xmlns:a16="http://schemas.microsoft.com/office/drawing/2014/main" id="{29F660CD-F02B-9755-EFF3-1FFA04AA38CD}"/>
              </a:ext>
            </a:extLst>
          </p:cNvPr>
          <p:cNvSpPr txBox="1"/>
          <p:nvPr/>
        </p:nvSpPr>
        <p:spPr>
          <a:xfrm>
            <a:off x="9903213" y="3305096"/>
            <a:ext cx="1857688"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Funnel Sans"/>
                <a:ea typeface="+mn-ea"/>
                <a:cs typeface="+mn-cs"/>
              </a:rPr>
              <a:t>~30% 5yr survival </a:t>
            </a:r>
          </a:p>
        </p:txBody>
      </p:sp>
      <p:sp>
        <p:nvSpPr>
          <p:cNvPr id="28" name="TextBox 27">
            <a:extLst>
              <a:ext uri="{FF2B5EF4-FFF2-40B4-BE49-F238E27FC236}">
                <a16:creationId xmlns:a16="http://schemas.microsoft.com/office/drawing/2014/main" id="{6C220AC2-7B31-E312-9AC9-15D78DBCA79D}"/>
              </a:ext>
            </a:extLst>
          </p:cNvPr>
          <p:cNvSpPr txBox="1"/>
          <p:nvPr/>
        </p:nvSpPr>
        <p:spPr>
          <a:xfrm>
            <a:off x="253999" y="1545322"/>
            <a:ext cx="1161295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a:ln>
                  <a:noFill/>
                </a:ln>
                <a:solidFill>
                  <a:prstClr val="black"/>
                </a:solidFill>
                <a:effectLst/>
                <a:uLnTx/>
                <a:uFillTx/>
                <a:latin typeface="Funnel Sans"/>
                <a:ea typeface="+mn-ea"/>
                <a:cs typeface="+mn-cs"/>
              </a:rPr>
              <a:t>There are 313K new cases, 35K deaths from prostate cancer per year in the US</a:t>
            </a:r>
          </a:p>
        </p:txBody>
      </p:sp>
      <p:sp>
        <p:nvSpPr>
          <p:cNvPr id="32" name="Shape 0">
            <a:extLst>
              <a:ext uri="{FF2B5EF4-FFF2-40B4-BE49-F238E27FC236}">
                <a16:creationId xmlns:a16="http://schemas.microsoft.com/office/drawing/2014/main" id="{72C1BEBE-0709-1A38-EDCA-66E5A18FE084}"/>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34" name="Image 3" descr="preencoded.png">
            <a:extLst>
              <a:ext uri="{FF2B5EF4-FFF2-40B4-BE49-F238E27FC236}">
                <a16:creationId xmlns:a16="http://schemas.microsoft.com/office/drawing/2014/main" id="{11E68039-7856-22C8-FEC6-25B56824BFC0}"/>
              </a:ext>
            </a:extLst>
          </p:cNvPr>
          <p:cNvPicPr>
            <a:picLocks noChangeAspect="1"/>
          </p:cNvPicPr>
          <p:nvPr/>
        </p:nvPicPr>
        <p:blipFill>
          <a:blip r:embed="rId3"/>
          <a:stretch>
            <a:fillRect/>
          </a:stretch>
        </p:blipFill>
        <p:spPr>
          <a:xfrm>
            <a:off x="323503" y="254000"/>
            <a:ext cx="156939" cy="191368"/>
          </a:xfrm>
          <a:prstGeom prst="rect">
            <a:avLst/>
          </a:prstGeom>
        </p:spPr>
      </p:pic>
      <p:pic>
        <p:nvPicPr>
          <p:cNvPr id="35" name="Image 4" descr="preencoded.png">
            <a:extLst>
              <a:ext uri="{FF2B5EF4-FFF2-40B4-BE49-F238E27FC236}">
                <a16:creationId xmlns:a16="http://schemas.microsoft.com/office/drawing/2014/main" id="{C06B126B-A057-6CBF-F67F-D5E741FED090}"/>
              </a:ext>
            </a:extLst>
          </p:cNvPr>
          <p:cNvPicPr>
            <a:picLocks noChangeAspect="1"/>
          </p:cNvPicPr>
          <p:nvPr/>
        </p:nvPicPr>
        <p:blipFill>
          <a:blip r:embed="rId4"/>
          <a:stretch>
            <a:fillRect/>
          </a:stretch>
        </p:blipFill>
        <p:spPr>
          <a:xfrm>
            <a:off x="387028" y="459541"/>
            <a:ext cx="968" cy="4"/>
          </a:xfrm>
          <a:prstGeom prst="rect">
            <a:avLst/>
          </a:prstGeom>
        </p:spPr>
      </p:pic>
      <p:pic>
        <p:nvPicPr>
          <p:cNvPr id="36" name="Image 5" descr="preencoded.png">
            <a:extLst>
              <a:ext uri="{FF2B5EF4-FFF2-40B4-BE49-F238E27FC236}">
                <a16:creationId xmlns:a16="http://schemas.microsoft.com/office/drawing/2014/main" id="{3FCB76E0-5974-DE55-BE7D-2E33EA73DB68}"/>
              </a:ext>
            </a:extLst>
          </p:cNvPr>
          <p:cNvPicPr>
            <a:picLocks noChangeAspect="1"/>
          </p:cNvPicPr>
          <p:nvPr/>
        </p:nvPicPr>
        <p:blipFill>
          <a:blip r:embed="rId4"/>
          <a:stretch>
            <a:fillRect/>
          </a:stretch>
        </p:blipFill>
        <p:spPr>
          <a:xfrm>
            <a:off x="386756" y="459546"/>
            <a:ext cx="297" cy="4"/>
          </a:xfrm>
          <a:prstGeom prst="rect">
            <a:avLst/>
          </a:prstGeom>
        </p:spPr>
      </p:pic>
      <p:pic>
        <p:nvPicPr>
          <p:cNvPr id="37" name="Image 6" descr="preencoded.png">
            <a:extLst>
              <a:ext uri="{FF2B5EF4-FFF2-40B4-BE49-F238E27FC236}">
                <a16:creationId xmlns:a16="http://schemas.microsoft.com/office/drawing/2014/main" id="{3B347A32-C80D-1F11-4D7F-87EC306A4E6D}"/>
              </a:ext>
            </a:extLst>
          </p:cNvPr>
          <p:cNvPicPr>
            <a:picLocks noChangeAspect="1"/>
          </p:cNvPicPr>
          <p:nvPr/>
        </p:nvPicPr>
        <p:blipFill>
          <a:blip r:embed="rId4"/>
          <a:stretch>
            <a:fillRect/>
          </a:stretch>
        </p:blipFill>
        <p:spPr>
          <a:xfrm>
            <a:off x="389261" y="473634"/>
            <a:ext cx="471" cy="4"/>
          </a:xfrm>
          <a:prstGeom prst="rect">
            <a:avLst/>
          </a:prstGeom>
        </p:spPr>
      </p:pic>
      <p:pic>
        <p:nvPicPr>
          <p:cNvPr id="38" name="Image 7" descr="preencoded.png">
            <a:extLst>
              <a:ext uri="{FF2B5EF4-FFF2-40B4-BE49-F238E27FC236}">
                <a16:creationId xmlns:a16="http://schemas.microsoft.com/office/drawing/2014/main" id="{6FA4ABD2-886B-4730-781E-017BB27C3278}"/>
              </a:ext>
            </a:extLst>
          </p:cNvPr>
          <p:cNvPicPr>
            <a:picLocks noChangeAspect="1"/>
          </p:cNvPicPr>
          <p:nvPr/>
        </p:nvPicPr>
        <p:blipFill>
          <a:blip r:embed="rId5"/>
          <a:stretch>
            <a:fillRect/>
          </a:stretch>
        </p:blipFill>
        <p:spPr>
          <a:xfrm>
            <a:off x="600300" y="305277"/>
            <a:ext cx="137641" cy="202443"/>
          </a:xfrm>
          <a:prstGeom prst="rect">
            <a:avLst/>
          </a:prstGeom>
        </p:spPr>
      </p:pic>
      <p:pic>
        <p:nvPicPr>
          <p:cNvPr id="39" name="Image 8" descr="preencoded.png">
            <a:extLst>
              <a:ext uri="{FF2B5EF4-FFF2-40B4-BE49-F238E27FC236}">
                <a16:creationId xmlns:a16="http://schemas.microsoft.com/office/drawing/2014/main" id="{D87CAC8B-A2FF-9726-D5EB-0EC9F474A944}"/>
              </a:ext>
            </a:extLst>
          </p:cNvPr>
          <p:cNvPicPr>
            <a:picLocks noChangeAspect="1"/>
          </p:cNvPicPr>
          <p:nvPr/>
        </p:nvPicPr>
        <p:blipFill>
          <a:blip r:embed="rId6"/>
          <a:stretch>
            <a:fillRect/>
          </a:stretch>
        </p:blipFill>
        <p:spPr>
          <a:xfrm>
            <a:off x="743372" y="360473"/>
            <a:ext cx="126579" cy="147243"/>
          </a:xfrm>
          <a:prstGeom prst="rect">
            <a:avLst/>
          </a:prstGeom>
        </p:spPr>
      </p:pic>
      <p:pic>
        <p:nvPicPr>
          <p:cNvPr id="40" name="Image 9" descr="preencoded.png">
            <a:extLst>
              <a:ext uri="{FF2B5EF4-FFF2-40B4-BE49-F238E27FC236}">
                <a16:creationId xmlns:a16="http://schemas.microsoft.com/office/drawing/2014/main" id="{1215B377-56F6-4025-492E-3043A52954CC}"/>
              </a:ext>
            </a:extLst>
          </p:cNvPr>
          <p:cNvPicPr>
            <a:picLocks noChangeAspect="1"/>
          </p:cNvPicPr>
          <p:nvPr/>
        </p:nvPicPr>
        <p:blipFill>
          <a:blip r:embed="rId7"/>
          <a:stretch>
            <a:fillRect/>
          </a:stretch>
        </p:blipFill>
        <p:spPr>
          <a:xfrm>
            <a:off x="872928" y="360456"/>
            <a:ext cx="131737" cy="198345"/>
          </a:xfrm>
          <a:prstGeom prst="rect">
            <a:avLst/>
          </a:prstGeom>
        </p:spPr>
      </p:pic>
      <p:pic>
        <p:nvPicPr>
          <p:cNvPr id="41" name="Image 10" descr="preencoded.png">
            <a:extLst>
              <a:ext uri="{FF2B5EF4-FFF2-40B4-BE49-F238E27FC236}">
                <a16:creationId xmlns:a16="http://schemas.microsoft.com/office/drawing/2014/main" id="{1EEB2756-AC48-1207-C741-812B711EAFA7}"/>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42" name="Image 11" descr="preencoded.png">
            <a:extLst>
              <a:ext uri="{FF2B5EF4-FFF2-40B4-BE49-F238E27FC236}">
                <a16:creationId xmlns:a16="http://schemas.microsoft.com/office/drawing/2014/main" id="{41426BC8-F7FD-FC75-3370-88FF9455ED80}"/>
              </a:ext>
            </a:extLst>
          </p:cNvPr>
          <p:cNvPicPr>
            <a:picLocks noChangeAspect="1"/>
          </p:cNvPicPr>
          <p:nvPr/>
        </p:nvPicPr>
        <p:blipFill>
          <a:blip r:embed="rId9"/>
          <a:stretch>
            <a:fillRect/>
          </a:stretch>
        </p:blipFill>
        <p:spPr>
          <a:xfrm>
            <a:off x="375419" y="376364"/>
            <a:ext cx="174501" cy="157568"/>
          </a:xfrm>
          <a:prstGeom prst="rect">
            <a:avLst/>
          </a:prstGeom>
        </p:spPr>
      </p:pic>
      <p:pic>
        <p:nvPicPr>
          <p:cNvPr id="43" name="Image 12" descr="preencoded.png">
            <a:extLst>
              <a:ext uri="{FF2B5EF4-FFF2-40B4-BE49-F238E27FC236}">
                <a16:creationId xmlns:a16="http://schemas.microsoft.com/office/drawing/2014/main" id="{306A3E0F-EACE-2306-9234-81F072E941DC}"/>
              </a:ext>
            </a:extLst>
          </p:cNvPr>
          <p:cNvPicPr>
            <a:picLocks noChangeAspect="1"/>
          </p:cNvPicPr>
          <p:nvPr/>
        </p:nvPicPr>
        <p:blipFill>
          <a:blip r:embed="rId10"/>
          <a:stretch>
            <a:fillRect/>
          </a:stretch>
        </p:blipFill>
        <p:spPr>
          <a:xfrm>
            <a:off x="254000" y="376361"/>
            <a:ext cx="174501" cy="157575"/>
          </a:xfrm>
          <a:prstGeom prst="rect">
            <a:avLst/>
          </a:prstGeom>
        </p:spPr>
      </p:pic>
      <p:sp>
        <p:nvSpPr>
          <p:cNvPr id="44" name="Text 28">
            <a:extLst>
              <a:ext uri="{FF2B5EF4-FFF2-40B4-BE49-F238E27FC236}">
                <a16:creationId xmlns:a16="http://schemas.microsoft.com/office/drawing/2014/main" id="{1487D468-9F7B-48FE-E411-2124660242A4}"/>
              </a:ext>
            </a:extLst>
          </p:cNvPr>
          <p:cNvSpPr/>
          <p:nvPr/>
        </p:nvSpPr>
        <p:spPr>
          <a:xfrm>
            <a:off x="254000" y="635564"/>
            <a:ext cx="11684000"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KLK2 positivity across stages &amp; risk levels in </a:t>
            </a:r>
            <a:r>
              <a:rPr kumimoji="0" lang="en-US" sz="2400" b="0" i="0" u="none" strike="noStrike" kern="0" cap="none" spc="-24" normalizeH="0" baseline="0" noProof="0" err="1">
                <a:ln>
                  <a:noFill/>
                </a:ln>
                <a:solidFill>
                  <a:srgbClr val="000000">
                    <a:alpha val="99000"/>
                  </a:srgbClr>
                </a:solidFill>
                <a:effectLst/>
                <a:uLnTx/>
                <a:uFillTx/>
                <a:latin typeface="Funnel Sans"/>
                <a:ea typeface="+mn-ea"/>
                <a:cs typeface="+mn-cs"/>
              </a:rPr>
              <a:t>PCa</a:t>
            </a: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 translates to multiple clinical opportunities, from typical </a:t>
            </a:r>
            <a:r>
              <a:rPr kumimoji="0" lang="en-US" sz="2400" b="0" i="0" u="none" strike="noStrike" kern="0" cap="none" spc="-24" normalizeH="0" baseline="0" noProof="0" err="1">
                <a:ln>
                  <a:noFill/>
                </a:ln>
                <a:solidFill>
                  <a:srgbClr val="000000">
                    <a:alpha val="99000"/>
                  </a:srgbClr>
                </a:solidFill>
                <a:effectLst/>
                <a:uLnTx/>
                <a:uFillTx/>
                <a:latin typeface="Funnel Sans"/>
                <a:ea typeface="+mn-ea"/>
                <a:cs typeface="+mn-cs"/>
              </a:rPr>
              <a:t>mCRPC</a:t>
            </a: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 to earlier lines</a:t>
            </a: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7" name="Shape 1">
            <a:extLst>
              <a:ext uri="{FF2B5EF4-FFF2-40B4-BE49-F238E27FC236}">
                <a16:creationId xmlns:a16="http://schemas.microsoft.com/office/drawing/2014/main" id="{6CEE5E8A-BABF-CC88-D9F7-67D141249308}"/>
              </a:ext>
            </a:extLst>
          </p:cNvPr>
          <p:cNvSpPr/>
          <p:nvPr/>
        </p:nvSpPr>
        <p:spPr>
          <a:xfrm>
            <a:off x="254001" y="1505360"/>
            <a:ext cx="11684001"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49" name="Rectangle: Rounded Corners 48">
            <a:extLst>
              <a:ext uri="{FF2B5EF4-FFF2-40B4-BE49-F238E27FC236}">
                <a16:creationId xmlns:a16="http://schemas.microsoft.com/office/drawing/2014/main" id="{565D985B-863F-3646-F406-DFC9A598B337}"/>
              </a:ext>
            </a:extLst>
          </p:cNvPr>
          <p:cNvSpPr/>
          <p:nvPr/>
        </p:nvSpPr>
        <p:spPr>
          <a:xfrm>
            <a:off x="9787973" y="5671197"/>
            <a:ext cx="2069805" cy="510179"/>
          </a:xfrm>
          <a:prstGeom prst="roundRect">
            <a:avLst/>
          </a:prstGeom>
          <a:solidFill>
            <a:srgbClr val="D3ED9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PSMA-RLT $2B+ sales in </a:t>
            </a:r>
            <a:r>
              <a:rPr kumimoji="0" lang="en-US" sz="1400" b="0" i="0" u="none" strike="noStrike" kern="1200" cap="none" spc="0" normalizeH="0" baseline="0" noProof="0" err="1">
                <a:ln>
                  <a:noFill/>
                </a:ln>
                <a:solidFill>
                  <a:sysClr val="windowText" lastClr="000000"/>
                </a:solidFill>
                <a:effectLst/>
                <a:uLnTx/>
                <a:uFillTx/>
                <a:latin typeface="Funnel Sans"/>
                <a:ea typeface="+mn-ea"/>
                <a:cs typeface="+mn-cs"/>
              </a:rPr>
              <a:t>mCRPC</a:t>
            </a: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 alone</a:t>
            </a:r>
          </a:p>
        </p:txBody>
      </p:sp>
      <p:sp>
        <p:nvSpPr>
          <p:cNvPr id="50" name="Rectangle: Rounded Corners 49">
            <a:extLst>
              <a:ext uri="{FF2B5EF4-FFF2-40B4-BE49-F238E27FC236}">
                <a16:creationId xmlns:a16="http://schemas.microsoft.com/office/drawing/2014/main" id="{13480F22-A39F-37BE-978E-A29FB6BE6DA9}"/>
              </a:ext>
            </a:extLst>
          </p:cNvPr>
          <p:cNvSpPr/>
          <p:nvPr/>
        </p:nvSpPr>
        <p:spPr>
          <a:xfrm>
            <a:off x="4302171" y="5671197"/>
            <a:ext cx="5394374" cy="510179"/>
          </a:xfrm>
          <a:prstGeom prst="roundRect">
            <a:avLst/>
          </a:prstGeom>
          <a:solidFill>
            <a:srgbClr val="D3ED9E"/>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KLK2-RLT could capture </a:t>
            </a:r>
            <a:r>
              <a:rPr kumimoji="0" lang="en-US" sz="1400" b="0" i="0" u="none" strike="noStrike" kern="1200" cap="none" spc="0" normalizeH="0" baseline="0" noProof="0" err="1">
                <a:ln>
                  <a:noFill/>
                </a:ln>
                <a:solidFill>
                  <a:sysClr val="windowText" lastClr="000000"/>
                </a:solidFill>
                <a:effectLst/>
                <a:uLnTx/>
                <a:uFillTx/>
                <a:latin typeface="Funnel Sans"/>
                <a:ea typeface="+mn-ea"/>
                <a:cs typeface="+mn-cs"/>
              </a:rPr>
              <a:t>mCRPC</a:t>
            </a: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 and earlier stages of disease, based on high tumor and low off-tumor expression profile</a:t>
            </a:r>
          </a:p>
        </p:txBody>
      </p:sp>
      <p:sp>
        <p:nvSpPr>
          <p:cNvPr id="51" name="Rectangle: Rounded Corners 50">
            <a:extLst>
              <a:ext uri="{FF2B5EF4-FFF2-40B4-BE49-F238E27FC236}">
                <a16:creationId xmlns:a16="http://schemas.microsoft.com/office/drawing/2014/main" id="{9748AC4C-8738-589F-C004-C2C9A2756398}"/>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Landscape</a:t>
            </a:r>
          </a:p>
        </p:txBody>
      </p:sp>
      <p:sp>
        <p:nvSpPr>
          <p:cNvPr id="11" name="TextBox 10">
            <a:extLst>
              <a:ext uri="{FF2B5EF4-FFF2-40B4-BE49-F238E27FC236}">
                <a16:creationId xmlns:a16="http://schemas.microsoft.com/office/drawing/2014/main" id="{23CFA20E-19EA-FE41-30C7-8126EA177DED}"/>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
        <p:nvSpPr>
          <p:cNvPr id="9" name="TextBox 8">
            <a:extLst>
              <a:ext uri="{FF2B5EF4-FFF2-40B4-BE49-F238E27FC236}">
                <a16:creationId xmlns:a16="http://schemas.microsoft.com/office/drawing/2014/main" id="{902DB40A-2BED-1F50-941A-0B34CEE715F3}"/>
              </a:ext>
            </a:extLst>
          </p:cNvPr>
          <p:cNvSpPr txBox="1"/>
          <p:nvPr/>
        </p:nvSpPr>
        <p:spPr>
          <a:xfrm>
            <a:off x="0" y="6302566"/>
            <a:ext cx="11705421"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sng" strike="noStrike" kern="1200" cap="none" spc="0" normalizeH="0" baseline="0" noProof="0">
                <a:ln>
                  <a:noFill/>
                </a:ln>
                <a:solidFill>
                  <a:srgbClr val="000000"/>
                </a:solidFill>
                <a:effectLst/>
                <a:uLnTx/>
                <a:uFillTx/>
                <a:latin typeface="Funnel Sans"/>
                <a:ea typeface="Segoe UI"/>
                <a:cs typeface="Segoe UI"/>
                <a:hlinkClick r:id="rId11">
                  <a:extLst>
                    <a:ext uri="{A12FA001-AC4F-418D-AE19-62706E023703}">
                      <ahyp:hlinkClr xmlns:ahyp="http://schemas.microsoft.com/office/drawing/2018/hyperlinkcolor" val="tx"/>
                    </a:ext>
                  </a:extLst>
                </a:hlinkClick>
              </a:rPr>
              <a:t>Sources: </a:t>
            </a:r>
            <a:r>
              <a:rPr kumimoji="0" lang="en-US" sz="1000" b="0" i="0" u="sng" strike="noStrike" kern="1200" cap="none" spc="0" normalizeH="0" baseline="0" noProof="0">
                <a:ln>
                  <a:noFill/>
                </a:ln>
                <a:solidFill>
                  <a:srgbClr val="7A9F8F"/>
                </a:solidFill>
                <a:effectLst/>
                <a:uLnTx/>
                <a:uFillTx/>
                <a:latin typeface="Funnel Sans"/>
                <a:ea typeface="Segoe UI"/>
                <a:cs typeface="Segoe UI"/>
                <a:hlinkClick r:id="rId11"/>
              </a:rPr>
              <a:t>Seer PC statistics, 2025</a:t>
            </a:r>
            <a:r>
              <a:rPr kumimoji="0" lang="en-US" sz="1000" b="0" i="0" u="none" strike="noStrike" kern="1200" cap="none" spc="0" normalizeH="0" baseline="0" noProof="0">
                <a:ln>
                  <a:noFill/>
                </a:ln>
                <a:solidFill>
                  <a:srgbClr val="7A9F8F"/>
                </a:solidFill>
                <a:effectLst/>
                <a:uLnTx/>
                <a:uFillTx/>
                <a:latin typeface="Funnel Sans"/>
                <a:ea typeface="+mn-ea"/>
                <a:cs typeface="+mn-cs"/>
              </a:rPr>
              <a:t>, </a:t>
            </a:r>
            <a:r>
              <a:rPr kumimoji="0" lang="en-US" sz="1000" b="0" i="0" u="sng" strike="noStrike" kern="1200" cap="none" spc="0" normalizeH="0" baseline="0" noProof="0">
                <a:ln>
                  <a:noFill/>
                </a:ln>
                <a:solidFill>
                  <a:srgbClr val="7A9F8F"/>
                </a:solidFill>
                <a:effectLst/>
                <a:uLnTx/>
                <a:uFillTx/>
                <a:latin typeface="Funnel Sans"/>
                <a:ea typeface="Segoe UI"/>
                <a:cs typeface="Segoe UI"/>
                <a:hlinkClick r:id="rId12"/>
              </a:rPr>
              <a:t>Scher Plos One 2015</a:t>
            </a:r>
            <a:r>
              <a:rPr kumimoji="0" lang="en-US" sz="1000" b="0" i="0" u="none" strike="noStrike" kern="1200" cap="none" spc="0" normalizeH="0" baseline="0" noProof="0">
                <a:ln>
                  <a:noFill/>
                </a:ln>
                <a:solidFill>
                  <a:srgbClr val="7A9F8F"/>
                </a:solidFill>
                <a:effectLst/>
                <a:uLnTx/>
                <a:uFillTx/>
                <a:latin typeface="Funnel Sans"/>
                <a:ea typeface="+mn-ea"/>
                <a:cs typeface="+mn-cs"/>
              </a:rPr>
              <a:t>, </a:t>
            </a:r>
            <a:r>
              <a:rPr kumimoji="0" lang="en-US" sz="1000" b="0" i="0" u="sng" strike="noStrike" kern="1200" cap="none" spc="0" normalizeH="0" baseline="0" noProof="0">
                <a:ln>
                  <a:noFill/>
                </a:ln>
                <a:solidFill>
                  <a:srgbClr val="7A9F8F"/>
                </a:solidFill>
                <a:effectLst/>
                <a:uLnTx/>
                <a:uFillTx/>
                <a:latin typeface="Funnel Sans"/>
                <a:ea typeface="Segoe UI"/>
                <a:cs typeface="Segoe UI"/>
                <a:hlinkClick r:id="rId13"/>
              </a:rPr>
              <a:t>ACS Prostate Cancer Statistics</a:t>
            </a:r>
            <a:r>
              <a:rPr kumimoji="0" lang="en-US" sz="1000" b="0" i="0" u="none" strike="noStrike" kern="1200" cap="none" spc="0" normalizeH="0" baseline="0" noProof="0">
                <a:ln>
                  <a:noFill/>
                </a:ln>
                <a:solidFill>
                  <a:srgbClr val="7A9F8F"/>
                </a:solidFill>
                <a:effectLst/>
                <a:uLnTx/>
                <a:uFillTx/>
                <a:latin typeface="Funnel Sans"/>
                <a:ea typeface="+mn-ea"/>
                <a:cs typeface="+mn-cs"/>
              </a:rPr>
              <a:t>, </a:t>
            </a:r>
            <a:r>
              <a:rPr kumimoji="0" lang="en-US" sz="1000" b="0" i="0" u="sng" strike="noStrike" kern="1200" cap="none" spc="0" normalizeH="0" baseline="0" noProof="0">
                <a:ln>
                  <a:noFill/>
                </a:ln>
                <a:solidFill>
                  <a:srgbClr val="7A9F8F"/>
                </a:solidFill>
                <a:effectLst/>
                <a:uLnTx/>
                <a:uFillTx/>
                <a:latin typeface="Funnel Sans"/>
                <a:ea typeface="Segoe UI"/>
                <a:cs typeface="Segoe UI"/>
                <a:hlinkClick r:id="rId14"/>
              </a:rPr>
              <a:t>Gultekin et al Urol J</a:t>
            </a:r>
            <a:r>
              <a:rPr kumimoji="0" lang="en-US" sz="1000" b="0" i="0" u="none" strike="noStrike" kern="1200" cap="none" spc="0" normalizeH="0" baseline="0" noProof="0">
                <a:ln>
                  <a:noFill/>
                </a:ln>
                <a:solidFill>
                  <a:srgbClr val="7A9F8F"/>
                </a:solidFill>
                <a:effectLst/>
                <a:uLnTx/>
                <a:uFillTx/>
                <a:latin typeface="Funnel Sans"/>
                <a:ea typeface="+mn-ea"/>
                <a:cs typeface="+mn-cs"/>
              </a:rPr>
              <a:t> 2020, </a:t>
            </a:r>
            <a:r>
              <a:rPr kumimoji="0" lang="en-GB" sz="1000" b="0" i="0" u="sng" strike="noStrike" kern="1200" cap="none" spc="0" normalizeH="0" baseline="0" noProof="0">
                <a:ln>
                  <a:noFill/>
                </a:ln>
                <a:solidFill>
                  <a:srgbClr val="7A9F8F"/>
                </a:solidFill>
                <a:effectLst/>
                <a:uLnTx/>
                <a:uFillTx/>
                <a:latin typeface="Funnel Sans"/>
                <a:ea typeface="Segoe UI"/>
                <a:cs typeface="Segoe UI"/>
                <a:hlinkClick r:id="rId15"/>
              </a:rPr>
              <a:t>Holzgreve et al JAMA Netw Open 2025</a:t>
            </a:r>
            <a:r>
              <a:rPr kumimoji="0" lang="en-GB" sz="1000" b="0" i="0" u="none" strike="noStrike" kern="1200" cap="none" spc="0" normalizeH="0" baseline="0" noProof="0">
                <a:ln>
                  <a:noFill/>
                </a:ln>
                <a:solidFill>
                  <a:prstClr val="black"/>
                </a:solidFill>
                <a:effectLst/>
                <a:uLnTx/>
                <a:uFillTx/>
                <a:latin typeface="Funnel Sans"/>
                <a:ea typeface="+mn-ea"/>
                <a:cs typeface="+mn-cs"/>
              </a:rPr>
              <a:t>, </a:t>
            </a:r>
            <a:r>
              <a:rPr kumimoji="0" lang="en-GB" sz="1000" b="0" i="0" u="sng" strike="noStrike" kern="1200" cap="none" spc="0" normalizeH="0" baseline="0" noProof="0">
                <a:ln>
                  <a:noFill/>
                </a:ln>
                <a:solidFill>
                  <a:srgbClr val="7A9F8F"/>
                </a:solidFill>
                <a:effectLst/>
                <a:uLnTx/>
                <a:uFillTx/>
                <a:latin typeface="Funnel Sans"/>
                <a:ea typeface="Segoe UI"/>
                <a:cs typeface="Segoe UI"/>
                <a:hlinkClick r:id="rId16"/>
              </a:rPr>
              <a:t>Hotta et al JNM 2022</a:t>
            </a:r>
            <a:r>
              <a:rPr kumimoji="0" lang="en-GB" sz="1000" b="0" i="0" u="none" strike="noStrike" kern="1200" cap="none" spc="0" normalizeH="0" baseline="0" noProof="0">
                <a:ln>
                  <a:noFill/>
                </a:ln>
                <a:solidFill>
                  <a:prstClr val="black"/>
                </a:solidFill>
                <a:effectLst/>
                <a:uLnTx/>
                <a:uFillTx/>
                <a:latin typeface="Funnel Sans"/>
                <a:ea typeface="+mn-ea"/>
                <a:cs typeface="+mn-cs"/>
              </a:rPr>
              <a:t>, </a:t>
            </a:r>
            <a:r>
              <a:rPr kumimoji="0" lang="en-GB" sz="1000" b="0" i="0" u="sng" strike="noStrike" kern="1200" cap="none" spc="0" normalizeH="0" baseline="0" noProof="0">
                <a:ln>
                  <a:noFill/>
                </a:ln>
                <a:solidFill>
                  <a:srgbClr val="7A9F8F"/>
                </a:solidFill>
                <a:effectLst/>
                <a:uLnTx/>
                <a:uFillTx/>
                <a:latin typeface="Funnel Sans"/>
                <a:ea typeface="Segoe UI"/>
                <a:cs typeface="Segoe UI"/>
                <a:hlinkClick r:id="rId11"/>
              </a:rPr>
              <a:t>Tribian et al, Diagnostics 2023</a:t>
            </a:r>
            <a:r>
              <a:rPr kumimoji="0" lang="en-GB" sz="1000" b="0" i="0" u="none" strike="noStrike" kern="1200" cap="none" spc="0" normalizeH="0" baseline="0" noProof="0">
                <a:ln>
                  <a:noFill/>
                </a:ln>
                <a:solidFill>
                  <a:prstClr val="black"/>
                </a:solidFill>
                <a:effectLst/>
                <a:uLnTx/>
                <a:uFillTx/>
                <a:latin typeface="Funnel Sans"/>
                <a:ea typeface="+mn-ea"/>
                <a:cs typeface="+mn-cs"/>
              </a:rPr>
              <a:t>, </a:t>
            </a:r>
            <a:r>
              <a:rPr kumimoji="0" lang="en-GB" sz="1000" b="0" i="0" u="sng" strike="noStrike" kern="1200" cap="none" spc="0" normalizeH="0" baseline="0" noProof="0">
                <a:ln>
                  <a:noFill/>
                </a:ln>
                <a:solidFill>
                  <a:srgbClr val="7A9F8F"/>
                </a:solidFill>
                <a:effectLst/>
                <a:uLnTx/>
                <a:uFillTx/>
                <a:latin typeface="Funnel Sans"/>
                <a:ea typeface="Segoe UI"/>
                <a:cs typeface="Segoe UI"/>
                <a:hlinkClick r:id="rId17"/>
              </a:rPr>
              <a:t>Falagario Jama Netw Open 2023</a:t>
            </a:r>
            <a:r>
              <a:rPr kumimoji="0" lang="en-GB" sz="1000" b="0" i="0" u="none" strike="noStrike" kern="1200" cap="none" spc="0" normalizeH="0" baseline="0" noProof="0">
                <a:ln>
                  <a:noFill/>
                </a:ln>
                <a:solidFill>
                  <a:prstClr val="black"/>
                </a:solidFill>
                <a:effectLst/>
                <a:uLnTx/>
                <a:uFillTx/>
                <a:latin typeface="Funnel Sans"/>
                <a:ea typeface="+mn-ea"/>
                <a:cs typeface="+mn-cs"/>
              </a:rPr>
              <a:t>, </a:t>
            </a:r>
            <a:r>
              <a:rPr kumimoji="0" lang="en-GB" sz="1000" b="0" i="0" u="sng" strike="noStrike" kern="1200" cap="none" spc="0" normalizeH="0" baseline="0" noProof="0">
                <a:ln>
                  <a:noFill/>
                </a:ln>
                <a:solidFill>
                  <a:srgbClr val="7A9F8F"/>
                </a:solidFill>
                <a:effectLst/>
                <a:uLnTx/>
                <a:uFillTx/>
                <a:latin typeface="Funnel Sans"/>
                <a:ea typeface="Segoe UI"/>
                <a:cs typeface="Segoe UI"/>
                <a:hlinkClick r:id="rId18"/>
              </a:rPr>
              <a:t>Hird et al Clin Genitourin Cancer 2023</a:t>
            </a:r>
            <a:r>
              <a:rPr kumimoji="0" sz="1000" b="0" i="0" u="none" strike="noStrike" kern="1200" cap="none" spc="0" normalizeH="0" baseline="0" noProof="0">
                <a:ln>
                  <a:noFill/>
                </a:ln>
                <a:solidFill>
                  <a:prstClr val="black"/>
                </a:solidFill>
                <a:effectLst/>
                <a:uLnTx/>
                <a:uFillTx/>
                <a:latin typeface="Funnel Sans"/>
                <a:ea typeface="Funnel Sans"/>
                <a:cs typeface="Funnel Sans"/>
              </a:rPr>
              <a:t>​</a:t>
            </a:r>
            <a:endParaRPr kumimoji="0" lang="en-US" sz="1800" b="0" i="0" u="none" strike="noStrike" kern="1200" cap="none" spc="0" normalizeH="0" baseline="0" noProof="0">
              <a:ln>
                <a:noFill/>
              </a:ln>
              <a:solidFill>
                <a:prstClr val="black"/>
              </a:solidFill>
              <a:effectLst/>
              <a:uLnTx/>
              <a:uFillTx/>
              <a:latin typeface="Funnel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4008063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37A94-1358-D1DD-043F-F0745E1ADA10}"/>
            </a:ext>
          </a:extLst>
        </p:cNvPr>
        <p:cNvGrpSpPr/>
        <p:nvPr/>
      </p:nvGrpSpPr>
      <p:grpSpPr>
        <a:xfrm>
          <a:off x="0" y="0"/>
          <a:ext cx="0" cy="0"/>
          <a:chOff x="0" y="0"/>
          <a:chExt cx="0" cy="0"/>
        </a:xfrm>
      </p:grpSpPr>
      <p:sp>
        <p:nvSpPr>
          <p:cNvPr id="32" name="Shape 0">
            <a:extLst>
              <a:ext uri="{FF2B5EF4-FFF2-40B4-BE49-F238E27FC236}">
                <a16:creationId xmlns:a16="http://schemas.microsoft.com/office/drawing/2014/main" id="{4D7DAC56-3BC9-ECC5-CF5E-49FADA0708C4}"/>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34" name="Image 3" descr="preencoded.png">
            <a:extLst>
              <a:ext uri="{FF2B5EF4-FFF2-40B4-BE49-F238E27FC236}">
                <a16:creationId xmlns:a16="http://schemas.microsoft.com/office/drawing/2014/main" id="{4D49272C-CFBD-2D7D-07F7-76D4D528157E}"/>
              </a:ext>
            </a:extLst>
          </p:cNvPr>
          <p:cNvPicPr>
            <a:picLocks noChangeAspect="1"/>
          </p:cNvPicPr>
          <p:nvPr/>
        </p:nvPicPr>
        <p:blipFill>
          <a:blip r:embed="rId2"/>
          <a:stretch>
            <a:fillRect/>
          </a:stretch>
        </p:blipFill>
        <p:spPr>
          <a:xfrm>
            <a:off x="323503" y="254000"/>
            <a:ext cx="156939" cy="191368"/>
          </a:xfrm>
          <a:prstGeom prst="rect">
            <a:avLst/>
          </a:prstGeom>
        </p:spPr>
      </p:pic>
      <p:pic>
        <p:nvPicPr>
          <p:cNvPr id="35" name="Image 4" descr="preencoded.png">
            <a:extLst>
              <a:ext uri="{FF2B5EF4-FFF2-40B4-BE49-F238E27FC236}">
                <a16:creationId xmlns:a16="http://schemas.microsoft.com/office/drawing/2014/main" id="{F4BDAFAB-D76F-9505-90E4-533FF5F7A808}"/>
              </a:ext>
            </a:extLst>
          </p:cNvPr>
          <p:cNvPicPr>
            <a:picLocks noChangeAspect="1"/>
          </p:cNvPicPr>
          <p:nvPr/>
        </p:nvPicPr>
        <p:blipFill>
          <a:blip r:embed="rId3"/>
          <a:stretch>
            <a:fillRect/>
          </a:stretch>
        </p:blipFill>
        <p:spPr>
          <a:xfrm>
            <a:off x="387028" y="459541"/>
            <a:ext cx="968" cy="4"/>
          </a:xfrm>
          <a:prstGeom prst="rect">
            <a:avLst/>
          </a:prstGeom>
        </p:spPr>
      </p:pic>
      <p:pic>
        <p:nvPicPr>
          <p:cNvPr id="36" name="Image 5" descr="preencoded.png">
            <a:extLst>
              <a:ext uri="{FF2B5EF4-FFF2-40B4-BE49-F238E27FC236}">
                <a16:creationId xmlns:a16="http://schemas.microsoft.com/office/drawing/2014/main" id="{E374BAA2-71B2-110A-D4E2-68F3E6FA3AD9}"/>
              </a:ext>
            </a:extLst>
          </p:cNvPr>
          <p:cNvPicPr>
            <a:picLocks noChangeAspect="1"/>
          </p:cNvPicPr>
          <p:nvPr/>
        </p:nvPicPr>
        <p:blipFill>
          <a:blip r:embed="rId3"/>
          <a:stretch>
            <a:fillRect/>
          </a:stretch>
        </p:blipFill>
        <p:spPr>
          <a:xfrm>
            <a:off x="386756" y="459546"/>
            <a:ext cx="297" cy="4"/>
          </a:xfrm>
          <a:prstGeom prst="rect">
            <a:avLst/>
          </a:prstGeom>
        </p:spPr>
      </p:pic>
      <p:pic>
        <p:nvPicPr>
          <p:cNvPr id="37" name="Image 6" descr="preencoded.png">
            <a:extLst>
              <a:ext uri="{FF2B5EF4-FFF2-40B4-BE49-F238E27FC236}">
                <a16:creationId xmlns:a16="http://schemas.microsoft.com/office/drawing/2014/main" id="{2888264A-A25C-5D9B-4653-C8EBC192DD49}"/>
              </a:ext>
            </a:extLst>
          </p:cNvPr>
          <p:cNvPicPr>
            <a:picLocks noChangeAspect="1"/>
          </p:cNvPicPr>
          <p:nvPr/>
        </p:nvPicPr>
        <p:blipFill>
          <a:blip r:embed="rId3"/>
          <a:stretch>
            <a:fillRect/>
          </a:stretch>
        </p:blipFill>
        <p:spPr>
          <a:xfrm>
            <a:off x="389261" y="473634"/>
            <a:ext cx="471" cy="4"/>
          </a:xfrm>
          <a:prstGeom prst="rect">
            <a:avLst/>
          </a:prstGeom>
        </p:spPr>
      </p:pic>
      <p:pic>
        <p:nvPicPr>
          <p:cNvPr id="38" name="Image 7" descr="preencoded.png">
            <a:extLst>
              <a:ext uri="{FF2B5EF4-FFF2-40B4-BE49-F238E27FC236}">
                <a16:creationId xmlns:a16="http://schemas.microsoft.com/office/drawing/2014/main" id="{ABCF7210-899C-1FB2-102B-89EF8876849C}"/>
              </a:ext>
            </a:extLst>
          </p:cNvPr>
          <p:cNvPicPr>
            <a:picLocks noChangeAspect="1"/>
          </p:cNvPicPr>
          <p:nvPr/>
        </p:nvPicPr>
        <p:blipFill>
          <a:blip r:embed="rId4"/>
          <a:stretch>
            <a:fillRect/>
          </a:stretch>
        </p:blipFill>
        <p:spPr>
          <a:xfrm>
            <a:off x="600300" y="305277"/>
            <a:ext cx="137641" cy="202443"/>
          </a:xfrm>
          <a:prstGeom prst="rect">
            <a:avLst/>
          </a:prstGeom>
        </p:spPr>
      </p:pic>
      <p:pic>
        <p:nvPicPr>
          <p:cNvPr id="39" name="Image 8" descr="preencoded.png">
            <a:extLst>
              <a:ext uri="{FF2B5EF4-FFF2-40B4-BE49-F238E27FC236}">
                <a16:creationId xmlns:a16="http://schemas.microsoft.com/office/drawing/2014/main" id="{7D1FF4DA-BCDB-5B53-6153-7A957BFA2396}"/>
              </a:ext>
            </a:extLst>
          </p:cNvPr>
          <p:cNvPicPr>
            <a:picLocks noChangeAspect="1"/>
          </p:cNvPicPr>
          <p:nvPr/>
        </p:nvPicPr>
        <p:blipFill>
          <a:blip r:embed="rId5"/>
          <a:stretch>
            <a:fillRect/>
          </a:stretch>
        </p:blipFill>
        <p:spPr>
          <a:xfrm>
            <a:off x="743372" y="360473"/>
            <a:ext cx="126579" cy="147243"/>
          </a:xfrm>
          <a:prstGeom prst="rect">
            <a:avLst/>
          </a:prstGeom>
        </p:spPr>
      </p:pic>
      <p:pic>
        <p:nvPicPr>
          <p:cNvPr id="40" name="Image 9" descr="preencoded.png">
            <a:extLst>
              <a:ext uri="{FF2B5EF4-FFF2-40B4-BE49-F238E27FC236}">
                <a16:creationId xmlns:a16="http://schemas.microsoft.com/office/drawing/2014/main" id="{62088191-C811-89DA-4E77-5A6A62B05272}"/>
              </a:ext>
            </a:extLst>
          </p:cNvPr>
          <p:cNvPicPr>
            <a:picLocks noChangeAspect="1"/>
          </p:cNvPicPr>
          <p:nvPr/>
        </p:nvPicPr>
        <p:blipFill>
          <a:blip r:embed="rId6"/>
          <a:stretch>
            <a:fillRect/>
          </a:stretch>
        </p:blipFill>
        <p:spPr>
          <a:xfrm>
            <a:off x="872928" y="360456"/>
            <a:ext cx="131737" cy="198345"/>
          </a:xfrm>
          <a:prstGeom prst="rect">
            <a:avLst/>
          </a:prstGeom>
        </p:spPr>
      </p:pic>
      <p:pic>
        <p:nvPicPr>
          <p:cNvPr id="41" name="Image 10" descr="preencoded.png">
            <a:extLst>
              <a:ext uri="{FF2B5EF4-FFF2-40B4-BE49-F238E27FC236}">
                <a16:creationId xmlns:a16="http://schemas.microsoft.com/office/drawing/2014/main" id="{77559785-26AB-4B8F-6D3B-0C2BEE50CFD4}"/>
              </a:ext>
            </a:extLst>
          </p:cNvPr>
          <p:cNvPicPr>
            <a:picLocks noChangeAspect="1"/>
          </p:cNvPicPr>
          <p:nvPr/>
        </p:nvPicPr>
        <p:blipFill>
          <a:blip r:embed="rId7"/>
          <a:stretch>
            <a:fillRect/>
          </a:stretch>
        </p:blipFill>
        <p:spPr>
          <a:xfrm>
            <a:off x="1001142" y="360468"/>
            <a:ext cx="135508" cy="147243"/>
          </a:xfrm>
          <a:prstGeom prst="rect">
            <a:avLst/>
          </a:prstGeom>
        </p:spPr>
      </p:pic>
      <p:pic>
        <p:nvPicPr>
          <p:cNvPr id="42" name="Image 11" descr="preencoded.png">
            <a:extLst>
              <a:ext uri="{FF2B5EF4-FFF2-40B4-BE49-F238E27FC236}">
                <a16:creationId xmlns:a16="http://schemas.microsoft.com/office/drawing/2014/main" id="{8EFC5BE0-A644-8E58-FF27-C33C12435E49}"/>
              </a:ext>
            </a:extLst>
          </p:cNvPr>
          <p:cNvPicPr>
            <a:picLocks noChangeAspect="1"/>
          </p:cNvPicPr>
          <p:nvPr/>
        </p:nvPicPr>
        <p:blipFill>
          <a:blip r:embed="rId8"/>
          <a:stretch>
            <a:fillRect/>
          </a:stretch>
        </p:blipFill>
        <p:spPr>
          <a:xfrm>
            <a:off x="375419" y="376364"/>
            <a:ext cx="174501" cy="157568"/>
          </a:xfrm>
          <a:prstGeom prst="rect">
            <a:avLst/>
          </a:prstGeom>
        </p:spPr>
      </p:pic>
      <p:pic>
        <p:nvPicPr>
          <p:cNvPr id="43" name="Image 12" descr="preencoded.png">
            <a:extLst>
              <a:ext uri="{FF2B5EF4-FFF2-40B4-BE49-F238E27FC236}">
                <a16:creationId xmlns:a16="http://schemas.microsoft.com/office/drawing/2014/main" id="{41779C78-0FB9-62B7-8DFA-E629EA265A72}"/>
              </a:ext>
            </a:extLst>
          </p:cNvPr>
          <p:cNvPicPr>
            <a:picLocks noChangeAspect="1"/>
          </p:cNvPicPr>
          <p:nvPr/>
        </p:nvPicPr>
        <p:blipFill>
          <a:blip r:embed="rId9"/>
          <a:stretch>
            <a:fillRect/>
          </a:stretch>
        </p:blipFill>
        <p:spPr>
          <a:xfrm>
            <a:off x="254000" y="376361"/>
            <a:ext cx="174501" cy="157575"/>
          </a:xfrm>
          <a:prstGeom prst="rect">
            <a:avLst/>
          </a:prstGeom>
        </p:spPr>
      </p:pic>
      <p:sp>
        <p:nvSpPr>
          <p:cNvPr id="44" name="Text 28">
            <a:extLst>
              <a:ext uri="{FF2B5EF4-FFF2-40B4-BE49-F238E27FC236}">
                <a16:creationId xmlns:a16="http://schemas.microsoft.com/office/drawing/2014/main" id="{194594D2-BF98-CA0C-BBCB-BC8A09482356}"/>
              </a:ext>
            </a:extLst>
          </p:cNvPr>
          <p:cNvSpPr/>
          <p:nvPr/>
        </p:nvSpPr>
        <p:spPr>
          <a:xfrm>
            <a:off x="254000" y="635564"/>
            <a:ext cx="11684000"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Example Target Product Profile for KLK2 RLT in </a:t>
            </a:r>
            <a:r>
              <a:rPr kumimoji="0" lang="en-US" sz="2400" b="0" i="0" u="none" strike="noStrike" kern="0" cap="none" spc="-24" normalizeH="0" baseline="0" noProof="0" err="1">
                <a:ln>
                  <a:noFill/>
                </a:ln>
                <a:solidFill>
                  <a:srgbClr val="000000">
                    <a:alpha val="99000"/>
                  </a:srgbClr>
                </a:solidFill>
                <a:effectLst/>
                <a:uLnTx/>
                <a:uFillTx/>
                <a:latin typeface="Funnel Sans"/>
                <a:ea typeface="+mn-ea"/>
                <a:cs typeface="+mn-cs"/>
              </a:rPr>
              <a:t>mCRPC</a:t>
            </a:r>
            <a:endPar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endParaRPr>
          </a:p>
        </p:txBody>
      </p:sp>
      <p:sp>
        <p:nvSpPr>
          <p:cNvPr id="51" name="Rectangle: Rounded Corners 50">
            <a:extLst>
              <a:ext uri="{FF2B5EF4-FFF2-40B4-BE49-F238E27FC236}">
                <a16:creationId xmlns:a16="http://schemas.microsoft.com/office/drawing/2014/main" id="{000F972D-7B6D-ED5A-5E96-D566A43CEF56}"/>
              </a:ext>
            </a:extLst>
          </p:cNvPr>
          <p:cNvSpPr/>
          <p:nvPr/>
        </p:nvSpPr>
        <p:spPr>
          <a:xfrm>
            <a:off x="10972800" y="88490"/>
            <a:ext cx="1101213"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Landscape</a:t>
            </a:r>
          </a:p>
        </p:txBody>
      </p:sp>
      <p:sp>
        <p:nvSpPr>
          <p:cNvPr id="11" name="TextBox 10">
            <a:extLst>
              <a:ext uri="{FF2B5EF4-FFF2-40B4-BE49-F238E27FC236}">
                <a16:creationId xmlns:a16="http://schemas.microsoft.com/office/drawing/2014/main" id="{9E24DB49-C49A-3DD9-D0A6-EEE240F83F9B}"/>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graphicFrame>
        <p:nvGraphicFramePr>
          <p:cNvPr id="16" name="Table 15">
            <a:extLst>
              <a:ext uri="{FF2B5EF4-FFF2-40B4-BE49-F238E27FC236}">
                <a16:creationId xmlns:a16="http://schemas.microsoft.com/office/drawing/2014/main" id="{24E4F316-ABC1-C788-E09B-B360FEE25BAA}"/>
              </a:ext>
            </a:extLst>
          </p:cNvPr>
          <p:cNvGraphicFramePr>
            <a:graphicFrameLocks noGrp="1"/>
          </p:cNvGraphicFramePr>
          <p:nvPr/>
        </p:nvGraphicFramePr>
        <p:xfrm>
          <a:off x="324678" y="1749286"/>
          <a:ext cx="11325295" cy="4297680"/>
        </p:xfrm>
        <a:graphic>
          <a:graphicData uri="http://schemas.openxmlformats.org/drawingml/2006/table">
            <a:tbl>
              <a:tblPr bandRow="1">
                <a:tableStyleId>{5C22544A-7EE6-4342-B048-85BDC9FD1C3A}</a:tableStyleId>
              </a:tblPr>
              <a:tblGrid>
                <a:gridCol w="2497180">
                  <a:extLst>
                    <a:ext uri="{9D8B030D-6E8A-4147-A177-3AD203B41FA5}">
                      <a16:colId xmlns:a16="http://schemas.microsoft.com/office/drawing/2014/main" val="635467938"/>
                    </a:ext>
                  </a:extLst>
                </a:gridCol>
                <a:gridCol w="3093787">
                  <a:extLst>
                    <a:ext uri="{9D8B030D-6E8A-4147-A177-3AD203B41FA5}">
                      <a16:colId xmlns:a16="http://schemas.microsoft.com/office/drawing/2014/main" val="3845916860"/>
                    </a:ext>
                  </a:extLst>
                </a:gridCol>
                <a:gridCol w="2867164">
                  <a:extLst>
                    <a:ext uri="{9D8B030D-6E8A-4147-A177-3AD203B41FA5}">
                      <a16:colId xmlns:a16="http://schemas.microsoft.com/office/drawing/2014/main" val="159078053"/>
                    </a:ext>
                  </a:extLst>
                </a:gridCol>
                <a:gridCol w="2867164">
                  <a:extLst>
                    <a:ext uri="{9D8B030D-6E8A-4147-A177-3AD203B41FA5}">
                      <a16:colId xmlns:a16="http://schemas.microsoft.com/office/drawing/2014/main" val="2644021605"/>
                    </a:ext>
                  </a:extLst>
                </a:gridCol>
              </a:tblGrid>
              <a:tr h="258698">
                <a:tc>
                  <a:txBody>
                    <a:bodyPr/>
                    <a:lstStyle/>
                    <a:p>
                      <a:pPr algn="l" fontAlgn="base">
                        <a:lnSpc>
                          <a:spcPct val="100000"/>
                        </a:lnSpc>
                        <a:buNone/>
                      </a:pPr>
                      <a:r>
                        <a:rPr lang="en-US" sz="1200" b="1">
                          <a:effectLst/>
                          <a:latin typeface="+mn-lt"/>
                        </a:rPr>
                        <a:t>Mechanism / Mode of Action</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a:latin typeface="+mn-lt"/>
                        </a:rPr>
                        <a:t>KLK2-targeted, peptide ligand conjugated to chelated </a:t>
                      </a:r>
                      <a:r>
                        <a:rPr lang="en-US" sz="1200" baseline="30000">
                          <a:latin typeface="+mn-lt"/>
                        </a:rPr>
                        <a:t>225</a:t>
                      </a:r>
                      <a:r>
                        <a:rPr lang="en-US" sz="1200">
                          <a:latin typeface="+mn-lt"/>
                        </a:rPr>
                        <a:t>Ac</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a:p>
                  </a:txBody>
                  <a:tcP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rgbClr val="71B787"/>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6DCCD"/>
                    </a:solidFill>
                  </a:tcPr>
                </a:tc>
                <a:tc hMerge="1">
                  <a:txBody>
                    <a:bodyPr/>
                    <a:lstStyle/>
                    <a:p>
                      <a:endParaRPr/>
                    </a:p>
                  </a:txBody>
                  <a:tcP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12700" cap="flat" cmpd="sng" algn="ctr">
                      <a:solidFill>
                        <a:srgbClr val="71B787"/>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C6DCCD"/>
                    </a:solidFill>
                  </a:tcPr>
                </a:tc>
                <a:extLst>
                  <a:ext uri="{0D108BD9-81ED-4DB2-BD59-A6C34878D82A}">
                    <a16:rowId xmlns:a16="http://schemas.microsoft.com/office/drawing/2014/main" val="1734815720"/>
                  </a:ext>
                </a:extLst>
              </a:tr>
              <a:tr h="246378">
                <a:tc>
                  <a:txBody>
                    <a:bodyPr/>
                    <a:lstStyle/>
                    <a:p>
                      <a:pPr algn="l" fontAlgn="base">
                        <a:lnSpc>
                          <a:spcPct val="100000"/>
                        </a:lnSpc>
                        <a:buNone/>
                      </a:pPr>
                      <a:r>
                        <a:rPr lang="en-US" sz="1200" b="1">
                          <a:effectLst/>
                          <a:latin typeface="+mn-lt"/>
                        </a:rPr>
                        <a:t>Clinical Trial Design</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baseline="0">
                          <a:latin typeface="+mn-lt"/>
                        </a:rPr>
                        <a:t>Randomized, Phase 3, open-label study of KLK2-RLT to improve survival in </a:t>
                      </a:r>
                      <a:r>
                        <a:rPr lang="en-US" sz="1200" baseline="0" err="1">
                          <a:latin typeface="+mn-lt"/>
                        </a:rPr>
                        <a:t>mCPRC</a:t>
                      </a:r>
                      <a:r>
                        <a:rPr lang="en-US" sz="1200" baseline="0">
                          <a:latin typeface="+mn-lt"/>
                        </a:rPr>
                        <a:t> vs. standard of care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5960074"/>
                  </a:ext>
                </a:extLst>
              </a:tr>
              <a:tr h="246378">
                <a:tc>
                  <a:txBody>
                    <a:bodyPr/>
                    <a:lstStyle/>
                    <a:p>
                      <a:pPr algn="l" fontAlgn="base">
                        <a:lnSpc>
                          <a:spcPct val="100000"/>
                        </a:lnSpc>
                        <a:buNone/>
                      </a:pPr>
                      <a:r>
                        <a:rPr lang="en-US" sz="1200" b="1">
                          <a:effectLst/>
                          <a:latin typeface="+mn-lt"/>
                        </a:rPr>
                        <a:t>Indication / Target Patients</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a:latin typeface="+mn-lt"/>
                        </a:rPr>
                        <a:t>KLK2 positive, patients with metastatic, castration resistant disease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lvl="0" algn="ctr">
                        <a:lnSpc>
                          <a:spcPts val="1950"/>
                        </a:lnSpc>
                        <a:buNone/>
                      </a:pPr>
                      <a:endParaRPr lang="en-US" sz="1400" baseline="30000">
                        <a:effectLst/>
                        <a:latin typeface="Funnel Sans"/>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pPr lvl="0" algn="ctr">
                        <a:lnSpc>
                          <a:spcPts val="1950"/>
                        </a:lnSpc>
                        <a:buNone/>
                      </a:pPr>
                      <a:endParaRPr lang="en-US" sz="1400" baseline="3000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8005740"/>
                  </a:ext>
                </a:extLst>
              </a:tr>
              <a:tr h="246378">
                <a:tc>
                  <a:txBody>
                    <a:bodyPr/>
                    <a:lstStyle/>
                    <a:p>
                      <a:pPr algn="l" fontAlgn="base">
                        <a:lnSpc>
                          <a:spcPct val="100000"/>
                        </a:lnSpc>
                        <a:buNone/>
                      </a:pPr>
                      <a:r>
                        <a:rPr lang="en-US" sz="1200" b="1">
                          <a:effectLst/>
                          <a:latin typeface="+mn-lt"/>
                        </a:rPr>
                        <a:t>Dosing Regimen &amp; Administration</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a:latin typeface="+mn-lt"/>
                        </a:rPr>
                        <a:t>Intravenous infusion of KLK2-RLT for 4 doses, 4 weeks apart and 2 doses every six months following initial cycle until progression</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lvl="0" algn="ctr">
                        <a:lnSpc>
                          <a:spcPts val="1950"/>
                        </a:lnSpc>
                        <a:buNone/>
                      </a:pPr>
                      <a:endParaRPr lang="en-US" sz="1400" baseline="30000">
                        <a:effectLst/>
                        <a:latin typeface="Funnel Sans"/>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pPr lvl="0" algn="ctr">
                        <a:lnSpc>
                          <a:spcPts val="1950"/>
                        </a:lnSpc>
                        <a:buNone/>
                      </a:pPr>
                      <a:endParaRPr lang="en-US" sz="1400" baseline="3000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90418151"/>
                  </a:ext>
                </a:extLst>
              </a:tr>
              <a:tr h="542034">
                <a:tc>
                  <a:txBody>
                    <a:bodyPr/>
                    <a:lstStyle/>
                    <a:p>
                      <a:pPr algn="l" fontAlgn="base">
                        <a:lnSpc>
                          <a:spcPct val="100000"/>
                        </a:lnSpc>
                        <a:buNone/>
                      </a:pPr>
                      <a:r>
                        <a:rPr lang="en-US" sz="1200" b="1">
                          <a:effectLst/>
                          <a:latin typeface="+mn-lt"/>
                        </a:rPr>
                        <a:t>Clinical Endpoints</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gridSpan="3">
                  <a:txBody>
                    <a:bodyPr/>
                    <a:lstStyle/>
                    <a:p>
                      <a:pPr marL="0" lvl="0" indent="0" algn="l">
                        <a:lnSpc>
                          <a:spcPct val="100000"/>
                        </a:lnSpc>
                        <a:buFont typeface="Arial" panose="020B0604020202020204" pitchFamily="34" charset="0"/>
                        <a:buNone/>
                      </a:pPr>
                      <a:r>
                        <a:rPr lang="en-US" sz="1200">
                          <a:latin typeface="+mn-lt"/>
                        </a:rPr>
                        <a:t>Primary Endpoints</a:t>
                      </a:r>
                    </a:p>
                    <a:p>
                      <a:pPr marL="285750" lvl="0" indent="-285750" algn="l">
                        <a:lnSpc>
                          <a:spcPct val="100000"/>
                        </a:lnSpc>
                        <a:buFont typeface="Arial" panose="020B0604020202020204" pitchFamily="34" charset="0"/>
                        <a:buChar char="•"/>
                      </a:pPr>
                      <a:r>
                        <a:rPr lang="en-US" sz="1200">
                          <a:latin typeface="+mn-lt"/>
                        </a:rPr>
                        <a:t>Radiographic progression free survival (</a:t>
                      </a:r>
                      <a:r>
                        <a:rPr lang="en-US" sz="1200" err="1">
                          <a:latin typeface="+mn-lt"/>
                        </a:rPr>
                        <a:t>rPFS</a:t>
                      </a:r>
                      <a:r>
                        <a:rPr lang="en-US" sz="1200">
                          <a:latin typeface="+mn-lt"/>
                        </a:rPr>
                        <a:t>)</a:t>
                      </a:r>
                    </a:p>
                    <a:p>
                      <a:pPr marL="285750" lvl="0" indent="-285750" algn="l">
                        <a:lnSpc>
                          <a:spcPct val="100000"/>
                        </a:lnSpc>
                        <a:buFont typeface="Arial" panose="020B0604020202020204" pitchFamily="34" charset="0"/>
                        <a:buChar char="•"/>
                      </a:pPr>
                      <a:r>
                        <a:rPr lang="en-US" sz="1200">
                          <a:latin typeface="+mn-lt"/>
                        </a:rPr>
                        <a:t>Overall survival (OS)</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hMerge="1">
                  <a:txBody>
                    <a:bodyPr/>
                    <a:lstStyle/>
                    <a:p>
                      <a:pPr lvl="0" algn="ctr">
                        <a:lnSpc>
                          <a:spcPts val="1950"/>
                        </a:lnSpc>
                        <a:buNone/>
                      </a:pPr>
                      <a:endParaRPr lang="en-US" sz="1400" baseline="30000">
                        <a:effectLst/>
                        <a:latin typeface="Funnel Sans"/>
                      </a:endParaRPr>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pPr lvl="0" algn="ctr">
                        <a:lnSpc>
                          <a:spcPts val="1950"/>
                        </a:lnSpc>
                        <a:buNone/>
                      </a:pPr>
                      <a:endParaRPr lang="en-US" sz="1400" baseline="30000"/>
                    </a:p>
                  </a:txBody>
                  <a:tcPr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19416583"/>
                  </a:ext>
                </a:extLst>
              </a:tr>
              <a:tr h="246378">
                <a:tc rowSpan="5">
                  <a:txBody>
                    <a:bodyPr/>
                    <a:lstStyle/>
                    <a:p>
                      <a:pPr algn="l" fontAlgn="base">
                        <a:lnSpc>
                          <a:spcPct val="100000"/>
                        </a:lnSpc>
                        <a:buNone/>
                      </a:pPr>
                      <a:r>
                        <a:rPr lang="en-US" sz="1200" b="1">
                          <a:effectLst/>
                          <a:latin typeface="+mn-lt"/>
                        </a:rPr>
                        <a:t>Efficacy</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lvl="0" algn="ctr">
                        <a:lnSpc>
                          <a:spcPct val="100000"/>
                        </a:lnSpc>
                        <a:buNone/>
                      </a:pPr>
                      <a:endParaRPr lang="en-US" sz="1200">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1" baseline="0">
                          <a:effectLst/>
                          <a:latin typeface="+mn-lt"/>
                        </a:rPr>
                        <a:t>KLK2 RLT</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1" strike="noStrike" err="1">
                          <a:effectLst/>
                          <a:latin typeface="+mn-lt"/>
                        </a:rPr>
                        <a:t>Pluvicto</a:t>
                      </a:r>
                      <a:endParaRPr lang="en-US" sz="1200" b="1" strike="noStrike">
                        <a:effectLst/>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2044083919"/>
                  </a:ext>
                </a:extLst>
              </a:tr>
              <a:tr h="394205">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ct val="100000"/>
                        </a:lnSpc>
                        <a:buNone/>
                      </a:pPr>
                      <a:r>
                        <a:rPr lang="en-US" sz="1200">
                          <a:latin typeface="+mn-lt"/>
                        </a:rPr>
                        <a:t>Dosing Schedule</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4 doses. 4 weeks apart and 2 doses every 6 months until progression</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strike="noStrike">
                          <a:effectLst/>
                          <a:latin typeface="+mn-lt"/>
                        </a:rPr>
                        <a:t>6 doses, every 6 weeks</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36053593"/>
                  </a:ext>
                </a:extLst>
              </a:tr>
              <a:tr h="246378">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ct val="100000"/>
                        </a:lnSpc>
                        <a:buNone/>
                      </a:pPr>
                      <a:r>
                        <a:rPr lang="en-US" sz="1200">
                          <a:latin typeface="+mn-lt"/>
                        </a:rPr>
                        <a:t>OS </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25.8mo (HR 0.95)</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strike="noStrike">
                          <a:effectLst/>
                          <a:latin typeface="+mn-lt"/>
                        </a:rPr>
                        <a:t>24.5mo</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455538"/>
                  </a:ext>
                </a:extLst>
              </a:tr>
              <a:tr h="246378">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ct val="100000"/>
                        </a:lnSpc>
                        <a:buNone/>
                      </a:pPr>
                      <a:r>
                        <a:rPr lang="en-US" sz="1200" err="1">
                          <a:latin typeface="+mn-lt"/>
                        </a:rPr>
                        <a:t>rPFS</a:t>
                      </a:r>
                      <a:endParaRPr lang="en-US" sz="1200">
                        <a:latin typeface="+mn-lt"/>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aseline="0">
                          <a:effectLst/>
                          <a:latin typeface="+mn-lt"/>
                        </a:rPr>
                        <a:t>14.1mo </a:t>
                      </a:r>
                      <a:r>
                        <a:rPr lang="en-US" sz="1200">
                          <a:latin typeface="+mn-lt"/>
                        </a:rPr>
                        <a:t>(HR 0.85)</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strike="noStrike">
                          <a:effectLst/>
                          <a:latin typeface="+mn-lt"/>
                        </a:rPr>
                        <a:t>12mo</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4108569"/>
                  </a:ext>
                </a:extLst>
              </a:tr>
              <a:tr h="246378">
                <a:tc vMerge="1">
                  <a:txBody>
                    <a:bodyPr/>
                    <a:lstStyle/>
                    <a:p>
                      <a:pPr algn="l" fontAlgn="base">
                        <a:lnSpc>
                          <a:spcPct val="100000"/>
                        </a:lnSpc>
                        <a:buNone/>
                      </a:pPr>
                      <a:endParaRPr lang="en-US" sz="900">
                        <a:effectLst/>
                        <a:latin typeface="+mn-lt"/>
                      </a:endParaRP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lvl="0" algn="ctr">
                        <a:lnSpc>
                          <a:spcPct val="100000"/>
                        </a:lnSpc>
                        <a:buNone/>
                      </a:pPr>
                      <a:r>
                        <a:rPr lang="en-US" sz="1200">
                          <a:latin typeface="+mn-lt"/>
                        </a:rPr>
                        <a:t>QOL (FACT-P)</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&gt;8mo</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strike="noStrike">
                          <a:effectLst/>
                          <a:latin typeface="+mn-lt"/>
                        </a:rPr>
                        <a:t>7.5mo</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6674925"/>
                  </a:ext>
                </a:extLst>
              </a:tr>
              <a:tr h="689861">
                <a:tc>
                  <a:txBody>
                    <a:bodyPr/>
                    <a:lstStyle/>
                    <a:p>
                      <a:pPr algn="l" fontAlgn="base">
                        <a:lnSpc>
                          <a:spcPct val="100000"/>
                        </a:lnSpc>
                        <a:buNone/>
                      </a:pPr>
                      <a:r>
                        <a:rPr lang="en-US" sz="1200" b="1">
                          <a:effectLst/>
                          <a:latin typeface="+mn-lt"/>
                        </a:rPr>
                        <a:t>Safety / Tolerability</a:t>
                      </a:r>
                    </a:p>
                  </a:txBody>
                  <a:tcPr marL="45720" marR="45720" anchor="ctr">
                    <a:lnL w="12700" cap="flat" cmpd="sng" algn="ctr">
                      <a:solidFill>
                        <a:srgbClr val="FFFFFF"/>
                      </a:solidFill>
                      <a:prstDash val="solid"/>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40000"/>
                        <a:lumOff val="60000"/>
                      </a:schemeClr>
                    </a:solidFill>
                  </a:tcPr>
                </a:tc>
                <a:tc>
                  <a:txBody>
                    <a:bodyPr/>
                    <a:lstStyle/>
                    <a:p>
                      <a:pPr marL="0" lvl="0" indent="0" algn="ctr">
                        <a:lnSpc>
                          <a:spcPct val="100000"/>
                        </a:lnSpc>
                        <a:buNone/>
                      </a:pPr>
                      <a:r>
                        <a:rPr lang="en-US" sz="1200" b="0" i="0" u="none" strike="noStrike" baseline="0" noProof="0">
                          <a:solidFill>
                            <a:srgbClr val="000000"/>
                          </a:solidFill>
                          <a:latin typeface="Funnel Sans"/>
                        </a:rPr>
                        <a:t>Grade ≥3 TEAEs</a:t>
                      </a:r>
                    </a:p>
                    <a:p>
                      <a:pPr marL="0" lvl="0" indent="0" algn="ctr">
                        <a:lnSpc>
                          <a:spcPct val="100000"/>
                        </a:lnSpc>
                        <a:buNone/>
                      </a:pPr>
                      <a:r>
                        <a:rPr lang="en-US" sz="1200" b="0" i="0" u="none" strike="noStrike" baseline="0" noProof="0">
                          <a:solidFill>
                            <a:srgbClr val="000000"/>
                          </a:solidFill>
                          <a:latin typeface="Funnel Sans"/>
                        </a:rPr>
                        <a:t>All grades dry mouth</a:t>
                      </a:r>
                    </a:p>
                    <a:p>
                      <a:pPr marL="0" lvl="0" indent="0" algn="ctr">
                        <a:lnSpc>
                          <a:spcPct val="100000"/>
                        </a:lnSpc>
                        <a:buNone/>
                      </a:pPr>
                      <a:r>
                        <a:rPr lang="en-US" sz="1200" b="0" i="0" u="none" strike="noStrike" baseline="0" noProof="0">
                          <a:solidFill>
                            <a:srgbClr val="000000"/>
                          </a:solidFill>
                          <a:latin typeface="+mn-lt"/>
                        </a:rPr>
                        <a:t>All grades anemia (Grade ≥3)</a:t>
                      </a:r>
                      <a:endParaRPr lang="en-US" sz="1200" b="0" i="0" u="none" strike="noStrike" baseline="0" noProof="0">
                        <a:solidFill>
                          <a:srgbClr val="000000"/>
                        </a:solidFill>
                        <a:latin typeface="Funnel Sans"/>
                      </a:endParaRPr>
                    </a:p>
                    <a:p>
                      <a:pPr marL="0" lvl="0" indent="0" algn="ctr">
                        <a:lnSpc>
                          <a:spcPct val="100000"/>
                        </a:lnSpc>
                        <a:buNone/>
                      </a:pPr>
                      <a:r>
                        <a:rPr lang="en-US" sz="1200" b="0" i="0" u="none" strike="noStrike" baseline="0" noProof="0">
                          <a:solidFill>
                            <a:srgbClr val="000000"/>
                          </a:solidFill>
                          <a:latin typeface="+mn-lt"/>
                        </a:rPr>
                        <a:t>All grades thrombocytopenia (Grade ≥3)</a:t>
                      </a:r>
                      <a:endParaRPr lang="en-US" sz="1200" b="0" i="0" u="none" strike="noStrike" baseline="0" noProof="0">
                        <a:solidFill>
                          <a:srgbClr val="000000"/>
                        </a:solidFill>
                        <a:latin typeface="Funnel Sans"/>
                      </a:endParaRP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lvl="0" algn="ctr">
                        <a:lnSpc>
                          <a:spcPct val="100000"/>
                        </a:lnSpc>
                        <a:buNone/>
                      </a:pPr>
                      <a:r>
                        <a:rPr lang="en-US" sz="1200" baseline="0">
                          <a:effectLst/>
                          <a:latin typeface="+mn-lt"/>
                        </a:rPr>
                        <a:t>36%</a:t>
                      </a:r>
                    </a:p>
                    <a:p>
                      <a:pPr lvl="0" algn="ctr">
                        <a:lnSpc>
                          <a:spcPct val="100000"/>
                        </a:lnSpc>
                        <a:buNone/>
                      </a:pPr>
                      <a:r>
                        <a:rPr lang="en-US" sz="1200" baseline="0">
                          <a:effectLst/>
                          <a:latin typeface="+mn-lt"/>
                        </a:rPr>
                        <a:t>&lt;5%</a:t>
                      </a:r>
                    </a:p>
                    <a:p>
                      <a:pPr lvl="0" algn="ctr">
                        <a:lnSpc>
                          <a:spcPct val="100000"/>
                        </a:lnSpc>
                        <a:buNone/>
                      </a:pPr>
                      <a:r>
                        <a:rPr lang="en-US" sz="1200" baseline="0">
                          <a:effectLst/>
                          <a:latin typeface="+mn-lt"/>
                        </a:rPr>
                        <a:t>&lt;27.3%</a:t>
                      </a:r>
                    </a:p>
                    <a:p>
                      <a:pPr lvl="0" algn="ctr">
                        <a:lnSpc>
                          <a:spcPct val="100000"/>
                        </a:lnSpc>
                        <a:buNone/>
                      </a:pPr>
                      <a:r>
                        <a:rPr lang="en-US" sz="1200" baseline="0">
                          <a:effectLst/>
                          <a:latin typeface="+mn-lt"/>
                        </a:rPr>
                        <a:t>&lt;10%</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lvl="0" algn="ctr">
                        <a:lnSpc>
                          <a:spcPct val="100000"/>
                        </a:lnSpc>
                        <a:buNone/>
                      </a:pPr>
                      <a:r>
                        <a:rPr lang="en-US" sz="1200" strike="noStrike">
                          <a:effectLst/>
                          <a:latin typeface="+mn-lt"/>
                        </a:rPr>
                        <a:t>36%</a:t>
                      </a:r>
                    </a:p>
                    <a:p>
                      <a:pPr lvl="0" algn="ctr">
                        <a:lnSpc>
                          <a:spcPct val="100000"/>
                        </a:lnSpc>
                        <a:buNone/>
                      </a:pPr>
                      <a:r>
                        <a:rPr lang="en-US" sz="1200" strike="noStrike">
                          <a:effectLst/>
                          <a:latin typeface="+mn-lt"/>
                        </a:rPr>
                        <a:t>59.5%</a:t>
                      </a:r>
                    </a:p>
                    <a:p>
                      <a:pPr lvl="0" algn="ctr">
                        <a:lnSpc>
                          <a:spcPct val="100000"/>
                        </a:lnSpc>
                        <a:buNone/>
                      </a:pPr>
                      <a:r>
                        <a:rPr lang="en-US" sz="1200" strike="noStrike">
                          <a:effectLst/>
                          <a:latin typeface="+mn-lt"/>
                        </a:rPr>
                        <a:t>27.3% (6.2%)</a:t>
                      </a:r>
                    </a:p>
                    <a:p>
                      <a:pPr lvl="0" algn="ctr">
                        <a:lnSpc>
                          <a:spcPct val="100000"/>
                        </a:lnSpc>
                        <a:buNone/>
                      </a:pPr>
                      <a:r>
                        <a:rPr lang="en-US" sz="1200" strike="noStrike">
                          <a:effectLst/>
                          <a:latin typeface="+mn-lt"/>
                        </a:rPr>
                        <a:t>10% (2%)</a:t>
                      </a:r>
                    </a:p>
                  </a:txBody>
                  <a:tcPr marL="45720" marR="45720" anchor="ctr">
                    <a:lnL w="9525" cap="flat" cmpd="sng" algn="ctr">
                      <a:solidFill>
                        <a:srgbClr val="BFBFBF"/>
                      </a:solidFill>
                      <a:prstDash val="dot"/>
                      <a:round/>
                      <a:headEnd type="none" w="med" len="med"/>
                      <a:tailEnd type="none" w="med" len="med"/>
                    </a:lnL>
                    <a:lnR w="9525" cap="flat" cmpd="sng" algn="ctr">
                      <a:solidFill>
                        <a:srgbClr val="BFBFBF"/>
                      </a:solidFill>
                      <a:prstDash val="dot"/>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13364161"/>
                  </a:ext>
                </a:extLst>
              </a:tr>
            </a:tbl>
          </a:graphicData>
        </a:graphic>
      </p:graphicFrame>
      <p:sp>
        <p:nvSpPr>
          <p:cNvPr id="3" name="Shape 1">
            <a:extLst>
              <a:ext uri="{FF2B5EF4-FFF2-40B4-BE49-F238E27FC236}">
                <a16:creationId xmlns:a16="http://schemas.microsoft.com/office/drawing/2014/main" id="{AD804EB2-A6BC-85F2-57B3-5C0FF77CC044}"/>
              </a:ext>
            </a:extLst>
          </p:cNvPr>
          <p:cNvSpPr/>
          <p:nvPr/>
        </p:nvSpPr>
        <p:spPr>
          <a:xfrm>
            <a:off x="323502" y="1447750"/>
            <a:ext cx="11403773" cy="0"/>
          </a:xfrm>
          <a:prstGeom prst="line">
            <a:avLst/>
          </a:prstGeom>
          <a:noFill/>
          <a:ln w="12700">
            <a:solidFill>
              <a:srgbClr val="CFCFC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362108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DBB7D-D10E-BD1E-A58F-1408FED9A3A9}"/>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426B0199-A693-1F4A-CF8F-5732ECDB68B3}"/>
              </a:ext>
            </a:extLst>
          </p:cNvPr>
          <p:cNvGraphicFramePr>
            <a:graphicFrameLocks noGrp="1"/>
          </p:cNvGraphicFramePr>
          <p:nvPr/>
        </p:nvGraphicFramePr>
        <p:xfrm>
          <a:off x="428500" y="1588626"/>
          <a:ext cx="11209317" cy="4908854"/>
        </p:xfrm>
        <a:graphic>
          <a:graphicData uri="http://schemas.openxmlformats.org/drawingml/2006/table">
            <a:tbl>
              <a:tblPr/>
              <a:tblGrid>
                <a:gridCol w="1991277">
                  <a:extLst>
                    <a:ext uri="{9D8B030D-6E8A-4147-A177-3AD203B41FA5}">
                      <a16:colId xmlns:a16="http://schemas.microsoft.com/office/drawing/2014/main" val="4068440047"/>
                    </a:ext>
                  </a:extLst>
                </a:gridCol>
                <a:gridCol w="4609020">
                  <a:extLst>
                    <a:ext uri="{9D8B030D-6E8A-4147-A177-3AD203B41FA5}">
                      <a16:colId xmlns:a16="http://schemas.microsoft.com/office/drawing/2014/main" val="3956450263"/>
                    </a:ext>
                  </a:extLst>
                </a:gridCol>
                <a:gridCol w="4609020">
                  <a:extLst>
                    <a:ext uri="{9D8B030D-6E8A-4147-A177-3AD203B41FA5}">
                      <a16:colId xmlns:a16="http://schemas.microsoft.com/office/drawing/2014/main" val="1661182243"/>
                    </a:ext>
                  </a:extLst>
                </a:gridCol>
              </a:tblGrid>
              <a:tr h="398809">
                <a:tc>
                  <a:txBody>
                    <a:bodyPr/>
                    <a:lstStyle/>
                    <a:p>
                      <a:pPr>
                        <a:buNone/>
                      </a:pPr>
                      <a:endParaRPr lang="en-US" sz="1400"/>
                    </a:p>
                  </a:txBody>
                  <a:tcPr anchor="ctr">
                    <a:lnL>
                      <a:noFill/>
                    </a:lnL>
                    <a:lnR>
                      <a:noFill/>
                    </a:lnR>
                    <a:lnT>
                      <a:noFill/>
                    </a:lnT>
                    <a:lnB>
                      <a:noFill/>
                    </a:lnB>
                    <a:noFill/>
                  </a:tcPr>
                </a:tc>
                <a:tc gridSpan="2">
                  <a:txBody>
                    <a:bodyPr/>
                    <a:lstStyle/>
                    <a:p>
                      <a:pPr algn="ctr">
                        <a:buNone/>
                      </a:pPr>
                      <a:r>
                        <a:rPr lang="en-US" sz="1400" b="1">
                          <a:solidFill>
                            <a:schemeClr val="bg1"/>
                          </a:solidFill>
                        </a:rPr>
                        <a:t>Sego’s Approaches</a:t>
                      </a:r>
                    </a:p>
                  </a:txBody>
                  <a:tcPr anchor="ctr">
                    <a:lnL w="28575" cap="flat" cmpd="sng" algn="ctr">
                      <a:noFill/>
                      <a:prstDash val="solid"/>
                      <a:round/>
                      <a:headEnd type="none" w="med" len="med"/>
                      <a:tailEnd type="none" w="med" len="med"/>
                    </a:lnL>
                    <a:lnR>
                      <a:noFill/>
                    </a:lnR>
                    <a:lnT>
                      <a:noFill/>
                    </a:lnT>
                    <a:lnB w="28575" cap="flat" cmpd="sng" algn="ctr">
                      <a:solidFill>
                        <a:schemeClr val="bg1"/>
                      </a:solidFill>
                      <a:prstDash val="solid"/>
                      <a:round/>
                      <a:headEnd type="none" w="med" len="med"/>
                      <a:tailEnd type="none" w="med" len="med"/>
                    </a:lnB>
                    <a:solidFill>
                      <a:srgbClr val="184141"/>
                    </a:solidFill>
                  </a:tcPr>
                </a:tc>
                <a:tc hMerge="1">
                  <a:txBody>
                    <a:bodyPr/>
                    <a:lstStyle/>
                    <a:p>
                      <a:pPr>
                        <a:buNone/>
                      </a:pPr>
                      <a:endParaRPr lang="en-US" sz="1400" b="1"/>
                    </a:p>
                  </a:txBody>
                  <a:tcPr anchor="ctr">
                    <a:lnL>
                      <a:noFill/>
                    </a:lnL>
                    <a:lnR>
                      <a:noFill/>
                    </a:lnR>
                    <a:lnT>
                      <a:noFill/>
                    </a:lnT>
                    <a:lnB>
                      <a:noFill/>
                    </a:lnB>
                    <a:solidFill>
                      <a:schemeClr val="accent5"/>
                    </a:solidFill>
                  </a:tcPr>
                </a:tc>
                <a:extLst>
                  <a:ext uri="{0D108BD9-81ED-4DB2-BD59-A6C34878D82A}">
                    <a16:rowId xmlns:a16="http://schemas.microsoft.com/office/drawing/2014/main" val="1090321364"/>
                  </a:ext>
                </a:extLst>
              </a:tr>
              <a:tr h="468721">
                <a:tc>
                  <a:txBody>
                    <a:bodyPr/>
                    <a:lstStyle/>
                    <a:p>
                      <a:pPr>
                        <a:buNone/>
                      </a:pPr>
                      <a:endParaRPr lang="en-US" sz="1400"/>
                    </a:p>
                  </a:txBody>
                  <a:tcPr anchor="ctr">
                    <a:lnL>
                      <a:noFill/>
                    </a:lnL>
                    <a:lnR>
                      <a:noFill/>
                    </a:lnR>
                    <a:lnT>
                      <a:noFill/>
                    </a:lnT>
                    <a:lnB>
                      <a:noFill/>
                    </a:lnB>
                    <a:noFill/>
                  </a:tcPr>
                </a:tc>
                <a:tc>
                  <a:txBody>
                    <a:bodyPr/>
                    <a:lstStyle/>
                    <a:p>
                      <a:pPr algn="ctr">
                        <a:buNone/>
                      </a:pPr>
                      <a:r>
                        <a:rPr lang="en-US" sz="1400" b="1">
                          <a:solidFill>
                            <a:schemeClr val="tx1"/>
                          </a:solidFill>
                        </a:rPr>
                        <a:t>Internalized cyclic peptide</a:t>
                      </a:r>
                    </a:p>
                  </a:txBody>
                  <a:tcPr anchor="ctr">
                    <a:lnL w="28575" cap="flat" cmpd="sng" algn="ctr">
                      <a:no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a:noFill/>
                    </a:lnB>
                    <a:solidFill>
                      <a:srgbClr val="C6DCCD"/>
                    </a:solidFill>
                  </a:tcPr>
                </a:tc>
                <a:tc>
                  <a:txBody>
                    <a:bodyPr/>
                    <a:lstStyle/>
                    <a:p>
                      <a:pPr algn="ctr">
                        <a:buNone/>
                      </a:pPr>
                      <a:r>
                        <a:rPr lang="en-US" sz="1400" b="1">
                          <a:solidFill>
                            <a:schemeClr val="tx1"/>
                          </a:solidFill>
                        </a:rPr>
                        <a:t>Bis-KLK2 Approach</a:t>
                      </a:r>
                    </a:p>
                  </a:txBody>
                  <a:tcPr anchor="ctr">
                    <a:lnL w="28575" cap="flat" cmpd="sng" algn="ctr">
                      <a:solidFill>
                        <a:schemeClr val="bg1"/>
                      </a:solidFill>
                      <a:prstDash val="solid"/>
                      <a:round/>
                      <a:headEnd type="none" w="med" len="med"/>
                      <a:tailEnd type="none" w="med" len="med"/>
                    </a:lnL>
                    <a:lnR>
                      <a:noFill/>
                    </a:lnR>
                    <a:lnT w="28575" cap="flat" cmpd="sng" algn="ctr">
                      <a:solidFill>
                        <a:schemeClr val="bg1"/>
                      </a:solidFill>
                      <a:prstDash val="solid"/>
                      <a:round/>
                      <a:headEnd type="none" w="med" len="med"/>
                      <a:tailEnd type="none" w="med" len="med"/>
                    </a:lnT>
                    <a:lnB>
                      <a:noFill/>
                    </a:lnB>
                    <a:solidFill>
                      <a:srgbClr val="C6DCCD"/>
                    </a:solidFill>
                  </a:tcPr>
                </a:tc>
                <a:extLst>
                  <a:ext uri="{0D108BD9-81ED-4DB2-BD59-A6C34878D82A}">
                    <a16:rowId xmlns:a16="http://schemas.microsoft.com/office/drawing/2014/main" val="2780418511"/>
                  </a:ext>
                </a:extLst>
              </a:tr>
              <a:tr h="774451">
                <a:tc>
                  <a:txBody>
                    <a:bodyPr/>
                    <a:lstStyle/>
                    <a:p>
                      <a:pPr>
                        <a:buNone/>
                      </a:pPr>
                      <a:r>
                        <a:rPr lang="en-US" sz="1400" b="1"/>
                        <a:t>Modality</a:t>
                      </a:r>
                    </a:p>
                  </a:txBody>
                  <a:tcPr anchor="ctr">
                    <a:lnL>
                      <a:noFill/>
                    </a:lnL>
                    <a:lnR>
                      <a:noFill/>
                    </a:lnR>
                    <a:lnT>
                      <a:noFill/>
                    </a:lnT>
                    <a:lnB w="12700" cap="flat" cmpd="sng" algn="ctr">
                      <a:solidFill>
                        <a:schemeClr val="bg2"/>
                      </a:solidFill>
                      <a:prstDash val="solid"/>
                      <a:round/>
                      <a:headEnd type="none" w="med" len="med"/>
                      <a:tailEnd type="none" w="med" len="med"/>
                    </a:lnB>
                    <a:noFill/>
                  </a:tcPr>
                </a:tc>
                <a:tc>
                  <a:txBody>
                    <a:bodyPr/>
                    <a:lstStyle/>
                    <a:p>
                      <a:pPr algn="ctr">
                        <a:buNone/>
                      </a:pPr>
                      <a:r>
                        <a:rPr lang="en-US" sz="1400" b="0"/>
                        <a:t>Cyclic peptide targeting KLK2</a:t>
                      </a:r>
                    </a:p>
                  </a:txBody>
                  <a:tcPr anchor="ctr">
                    <a:lnL>
                      <a:noFill/>
                    </a:lnL>
                    <a:lnR>
                      <a:noFill/>
                    </a:lnR>
                    <a:lnT>
                      <a:noFill/>
                    </a:lnT>
                    <a:lnB w="12700" cap="flat" cmpd="sng" algn="ctr">
                      <a:solidFill>
                        <a:schemeClr val="bg2"/>
                      </a:solidFill>
                      <a:prstDash val="solid"/>
                      <a:round/>
                      <a:headEnd type="none" w="med" len="med"/>
                      <a:tailEnd type="none" w="med" len="med"/>
                    </a:lnB>
                    <a:noFill/>
                  </a:tcPr>
                </a:tc>
                <a:tc>
                  <a:txBody>
                    <a:bodyPr/>
                    <a:lstStyle/>
                    <a:p>
                      <a:pPr algn="ctr">
                        <a:buNone/>
                      </a:pPr>
                      <a:r>
                        <a:rPr lang="en-US" sz="1400"/>
                        <a:t>Peptide dimer (2x peptides for KLK2)</a:t>
                      </a:r>
                    </a:p>
                  </a:txBody>
                  <a:tcPr anchor="ctr">
                    <a:lnL>
                      <a:noFill/>
                    </a:lnL>
                    <a:lnR>
                      <a:noFill/>
                    </a:lnR>
                    <a:lnT>
                      <a:noFill/>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511685032"/>
                  </a:ext>
                </a:extLst>
              </a:tr>
              <a:tr h="774451">
                <a:tc>
                  <a:txBody>
                    <a:bodyPr/>
                    <a:lstStyle/>
                    <a:p>
                      <a:pPr>
                        <a:buNone/>
                      </a:pPr>
                      <a:r>
                        <a:rPr lang="en-US" sz="1400" b="1"/>
                        <a:t>Isotope</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baseline="30000"/>
                        <a:t>225</a:t>
                      </a:r>
                      <a:r>
                        <a:rPr lang="en-US" sz="1400"/>
                        <a:t>Ac or </a:t>
                      </a:r>
                      <a:r>
                        <a:rPr lang="en-US" sz="1400" baseline="30000"/>
                        <a:t>161</a:t>
                      </a:r>
                      <a:r>
                        <a:rPr lang="en-US" sz="1400"/>
                        <a:t>Tb</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baseline="30000"/>
                        <a:t>225</a:t>
                      </a:r>
                      <a:r>
                        <a:rPr lang="en-US" sz="1400"/>
                        <a:t>Ac or </a:t>
                      </a:r>
                      <a:r>
                        <a:rPr lang="en-US" sz="1400" baseline="30000"/>
                        <a:t>161</a:t>
                      </a:r>
                      <a:r>
                        <a:rPr lang="en-US" sz="1400"/>
                        <a:t>Tb</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2972914581"/>
                  </a:ext>
                </a:extLst>
              </a:tr>
              <a:tr h="1119784">
                <a:tc>
                  <a:txBody>
                    <a:bodyPr/>
                    <a:lstStyle/>
                    <a:p>
                      <a:pPr>
                        <a:buNone/>
                      </a:pPr>
                      <a:r>
                        <a:rPr lang="en-US" sz="1400" b="1"/>
                        <a:t>Internalization</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Select for internalizing peptides to utilize increased cytotoxicity with internalized alpha and auger emitters</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Both internalizing and non internalizing peptides would be explored in the bis strategy</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1369339733"/>
                  </a:ext>
                </a:extLst>
              </a:tr>
              <a:tr h="1372638">
                <a:tc>
                  <a:txBody>
                    <a:bodyPr/>
                    <a:lstStyle/>
                    <a:p>
                      <a:pPr>
                        <a:buNone/>
                      </a:pPr>
                      <a:r>
                        <a:rPr lang="en-US" sz="1400" b="1"/>
                        <a:t>Advantage</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Improved tumor retention &amp; ability to localize isotope intracellularly. Ability to leverage more cytotoxic isotopes with internalization.</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tc>
                  <a:txBody>
                    <a:bodyPr/>
                    <a:lstStyle/>
                    <a:p>
                      <a:pPr algn="ctr">
                        <a:buNone/>
                      </a:pPr>
                      <a:r>
                        <a:rPr lang="en-US" sz="1400"/>
                        <a:t>Improved K</a:t>
                      </a:r>
                      <a:r>
                        <a:rPr lang="en-US" sz="1400" baseline="-25000"/>
                        <a:t>D</a:t>
                      </a:r>
                      <a:r>
                        <a:rPr lang="en-US" sz="1400"/>
                        <a:t> and tumor uptake/retention due to bis-peptide design, hypothetical better efficacy and potential lower doses required. May allow for use of lower affinity monomeric peptide.</a:t>
                      </a:r>
                    </a:p>
                  </a:txBody>
                  <a:tcPr anchor="ctr">
                    <a:lnL>
                      <a:noFill/>
                    </a:lnL>
                    <a:lnR>
                      <a:noFill/>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noFill/>
                  </a:tcPr>
                </a:tc>
                <a:extLst>
                  <a:ext uri="{0D108BD9-81ED-4DB2-BD59-A6C34878D82A}">
                    <a16:rowId xmlns:a16="http://schemas.microsoft.com/office/drawing/2014/main" val="3703356369"/>
                  </a:ext>
                </a:extLst>
              </a:tr>
            </a:tbl>
          </a:graphicData>
        </a:graphic>
      </p:graphicFrame>
      <p:sp>
        <p:nvSpPr>
          <p:cNvPr id="5" name="Shape 0">
            <a:extLst>
              <a:ext uri="{FF2B5EF4-FFF2-40B4-BE49-F238E27FC236}">
                <a16:creationId xmlns:a16="http://schemas.microsoft.com/office/drawing/2014/main" id="{EB68A6A1-31D5-1F45-94AE-117F9F8A8AAA}"/>
              </a:ext>
            </a:extLst>
          </p:cNvPr>
          <p:cNvSpPr/>
          <p:nvPr/>
        </p:nvSpPr>
        <p:spPr>
          <a:xfrm>
            <a:off x="254000" y="254000"/>
            <a:ext cx="882651" cy="3048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6" name="Shape 19">
            <a:extLst>
              <a:ext uri="{FF2B5EF4-FFF2-40B4-BE49-F238E27FC236}">
                <a16:creationId xmlns:a16="http://schemas.microsoft.com/office/drawing/2014/main" id="{D221FFE9-5252-86BD-492D-F4839D9438F7}"/>
              </a:ext>
            </a:extLst>
          </p:cNvPr>
          <p:cNvSpPr/>
          <p:nvPr/>
        </p:nvSpPr>
        <p:spPr>
          <a:xfrm>
            <a:off x="2082801" y="330201"/>
            <a:ext cx="139700" cy="114300"/>
          </a:xfrm>
          <a:prstGeom prst="rect">
            <a:avLst/>
          </a:prstGeom>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pic>
        <p:nvPicPr>
          <p:cNvPr id="7" name="Image 3" descr="preencoded.png">
            <a:extLst>
              <a:ext uri="{FF2B5EF4-FFF2-40B4-BE49-F238E27FC236}">
                <a16:creationId xmlns:a16="http://schemas.microsoft.com/office/drawing/2014/main" id="{755EF556-1FF3-8BD6-4A1D-7DBB7D68FB23}"/>
              </a:ext>
            </a:extLst>
          </p:cNvPr>
          <p:cNvPicPr>
            <a:picLocks noChangeAspect="1"/>
          </p:cNvPicPr>
          <p:nvPr/>
        </p:nvPicPr>
        <p:blipFill>
          <a:blip r:embed="rId3"/>
          <a:stretch>
            <a:fillRect/>
          </a:stretch>
        </p:blipFill>
        <p:spPr>
          <a:xfrm>
            <a:off x="323503" y="254000"/>
            <a:ext cx="156939" cy="191368"/>
          </a:xfrm>
          <a:prstGeom prst="rect">
            <a:avLst/>
          </a:prstGeom>
        </p:spPr>
      </p:pic>
      <p:pic>
        <p:nvPicPr>
          <p:cNvPr id="8" name="Image 4" descr="preencoded.png">
            <a:extLst>
              <a:ext uri="{FF2B5EF4-FFF2-40B4-BE49-F238E27FC236}">
                <a16:creationId xmlns:a16="http://schemas.microsoft.com/office/drawing/2014/main" id="{54B9DF1B-F0E1-01F6-2E58-1CA671EC9C1A}"/>
              </a:ext>
            </a:extLst>
          </p:cNvPr>
          <p:cNvPicPr>
            <a:picLocks noChangeAspect="1"/>
          </p:cNvPicPr>
          <p:nvPr/>
        </p:nvPicPr>
        <p:blipFill>
          <a:blip r:embed="rId4"/>
          <a:stretch>
            <a:fillRect/>
          </a:stretch>
        </p:blipFill>
        <p:spPr>
          <a:xfrm>
            <a:off x="387028" y="459541"/>
            <a:ext cx="968" cy="4"/>
          </a:xfrm>
          <a:prstGeom prst="rect">
            <a:avLst/>
          </a:prstGeom>
        </p:spPr>
      </p:pic>
      <p:pic>
        <p:nvPicPr>
          <p:cNvPr id="9" name="Image 5" descr="preencoded.png">
            <a:extLst>
              <a:ext uri="{FF2B5EF4-FFF2-40B4-BE49-F238E27FC236}">
                <a16:creationId xmlns:a16="http://schemas.microsoft.com/office/drawing/2014/main" id="{0A72160D-81F1-353F-0E42-4E585A41C467}"/>
              </a:ext>
            </a:extLst>
          </p:cNvPr>
          <p:cNvPicPr>
            <a:picLocks noChangeAspect="1"/>
          </p:cNvPicPr>
          <p:nvPr/>
        </p:nvPicPr>
        <p:blipFill>
          <a:blip r:embed="rId4"/>
          <a:stretch>
            <a:fillRect/>
          </a:stretch>
        </p:blipFill>
        <p:spPr>
          <a:xfrm>
            <a:off x="386756" y="459546"/>
            <a:ext cx="297" cy="4"/>
          </a:xfrm>
          <a:prstGeom prst="rect">
            <a:avLst/>
          </a:prstGeom>
        </p:spPr>
      </p:pic>
      <p:pic>
        <p:nvPicPr>
          <p:cNvPr id="10" name="Image 6" descr="preencoded.png">
            <a:extLst>
              <a:ext uri="{FF2B5EF4-FFF2-40B4-BE49-F238E27FC236}">
                <a16:creationId xmlns:a16="http://schemas.microsoft.com/office/drawing/2014/main" id="{02B210E9-E3D8-CA99-593D-F38B3066964F}"/>
              </a:ext>
            </a:extLst>
          </p:cNvPr>
          <p:cNvPicPr>
            <a:picLocks noChangeAspect="1"/>
          </p:cNvPicPr>
          <p:nvPr/>
        </p:nvPicPr>
        <p:blipFill>
          <a:blip r:embed="rId4"/>
          <a:stretch>
            <a:fillRect/>
          </a:stretch>
        </p:blipFill>
        <p:spPr>
          <a:xfrm>
            <a:off x="389261" y="473634"/>
            <a:ext cx="471" cy="4"/>
          </a:xfrm>
          <a:prstGeom prst="rect">
            <a:avLst/>
          </a:prstGeom>
        </p:spPr>
      </p:pic>
      <p:pic>
        <p:nvPicPr>
          <p:cNvPr id="11" name="Image 7" descr="preencoded.png">
            <a:extLst>
              <a:ext uri="{FF2B5EF4-FFF2-40B4-BE49-F238E27FC236}">
                <a16:creationId xmlns:a16="http://schemas.microsoft.com/office/drawing/2014/main" id="{DCAFF278-178B-8292-6968-F4C119A20393}"/>
              </a:ext>
            </a:extLst>
          </p:cNvPr>
          <p:cNvPicPr>
            <a:picLocks noChangeAspect="1"/>
          </p:cNvPicPr>
          <p:nvPr/>
        </p:nvPicPr>
        <p:blipFill>
          <a:blip r:embed="rId5"/>
          <a:stretch>
            <a:fillRect/>
          </a:stretch>
        </p:blipFill>
        <p:spPr>
          <a:xfrm>
            <a:off x="600300" y="305277"/>
            <a:ext cx="137641" cy="202443"/>
          </a:xfrm>
          <a:prstGeom prst="rect">
            <a:avLst/>
          </a:prstGeom>
        </p:spPr>
      </p:pic>
      <p:pic>
        <p:nvPicPr>
          <p:cNvPr id="12" name="Image 8" descr="preencoded.png">
            <a:extLst>
              <a:ext uri="{FF2B5EF4-FFF2-40B4-BE49-F238E27FC236}">
                <a16:creationId xmlns:a16="http://schemas.microsoft.com/office/drawing/2014/main" id="{B0B9E8AD-8766-F4BF-79D9-5980BE835F3D}"/>
              </a:ext>
            </a:extLst>
          </p:cNvPr>
          <p:cNvPicPr>
            <a:picLocks noChangeAspect="1"/>
          </p:cNvPicPr>
          <p:nvPr/>
        </p:nvPicPr>
        <p:blipFill>
          <a:blip r:embed="rId6"/>
          <a:stretch>
            <a:fillRect/>
          </a:stretch>
        </p:blipFill>
        <p:spPr>
          <a:xfrm>
            <a:off x="743372" y="360473"/>
            <a:ext cx="126579" cy="147243"/>
          </a:xfrm>
          <a:prstGeom prst="rect">
            <a:avLst/>
          </a:prstGeom>
        </p:spPr>
      </p:pic>
      <p:pic>
        <p:nvPicPr>
          <p:cNvPr id="13" name="Image 9" descr="preencoded.png">
            <a:extLst>
              <a:ext uri="{FF2B5EF4-FFF2-40B4-BE49-F238E27FC236}">
                <a16:creationId xmlns:a16="http://schemas.microsoft.com/office/drawing/2014/main" id="{6FD66749-8A51-B202-AE9C-17C54E218078}"/>
              </a:ext>
            </a:extLst>
          </p:cNvPr>
          <p:cNvPicPr>
            <a:picLocks noChangeAspect="1"/>
          </p:cNvPicPr>
          <p:nvPr/>
        </p:nvPicPr>
        <p:blipFill>
          <a:blip r:embed="rId7"/>
          <a:stretch>
            <a:fillRect/>
          </a:stretch>
        </p:blipFill>
        <p:spPr>
          <a:xfrm>
            <a:off x="872928" y="360456"/>
            <a:ext cx="131737" cy="198345"/>
          </a:xfrm>
          <a:prstGeom prst="rect">
            <a:avLst/>
          </a:prstGeom>
        </p:spPr>
      </p:pic>
      <p:pic>
        <p:nvPicPr>
          <p:cNvPr id="14" name="Image 10" descr="preencoded.png">
            <a:extLst>
              <a:ext uri="{FF2B5EF4-FFF2-40B4-BE49-F238E27FC236}">
                <a16:creationId xmlns:a16="http://schemas.microsoft.com/office/drawing/2014/main" id="{0491D03B-3601-22DE-447F-8726171B75FA}"/>
              </a:ext>
            </a:extLst>
          </p:cNvPr>
          <p:cNvPicPr>
            <a:picLocks noChangeAspect="1"/>
          </p:cNvPicPr>
          <p:nvPr/>
        </p:nvPicPr>
        <p:blipFill>
          <a:blip r:embed="rId8"/>
          <a:stretch>
            <a:fillRect/>
          </a:stretch>
        </p:blipFill>
        <p:spPr>
          <a:xfrm>
            <a:off x="1001142" y="360468"/>
            <a:ext cx="135508" cy="147243"/>
          </a:xfrm>
          <a:prstGeom prst="rect">
            <a:avLst/>
          </a:prstGeom>
        </p:spPr>
      </p:pic>
      <p:pic>
        <p:nvPicPr>
          <p:cNvPr id="15" name="Image 11" descr="preencoded.png">
            <a:extLst>
              <a:ext uri="{FF2B5EF4-FFF2-40B4-BE49-F238E27FC236}">
                <a16:creationId xmlns:a16="http://schemas.microsoft.com/office/drawing/2014/main" id="{51D8F9C0-AB9C-8C24-8AB0-22F04114B9D6}"/>
              </a:ext>
            </a:extLst>
          </p:cNvPr>
          <p:cNvPicPr>
            <a:picLocks noChangeAspect="1"/>
          </p:cNvPicPr>
          <p:nvPr/>
        </p:nvPicPr>
        <p:blipFill>
          <a:blip r:embed="rId9"/>
          <a:stretch>
            <a:fillRect/>
          </a:stretch>
        </p:blipFill>
        <p:spPr>
          <a:xfrm>
            <a:off x="375419" y="376364"/>
            <a:ext cx="174501" cy="157568"/>
          </a:xfrm>
          <a:prstGeom prst="rect">
            <a:avLst/>
          </a:prstGeom>
        </p:spPr>
      </p:pic>
      <p:pic>
        <p:nvPicPr>
          <p:cNvPr id="16" name="Image 12" descr="preencoded.png">
            <a:extLst>
              <a:ext uri="{FF2B5EF4-FFF2-40B4-BE49-F238E27FC236}">
                <a16:creationId xmlns:a16="http://schemas.microsoft.com/office/drawing/2014/main" id="{BB904ECF-48B0-5659-71F1-ED0E60AAD6D6}"/>
              </a:ext>
            </a:extLst>
          </p:cNvPr>
          <p:cNvPicPr>
            <a:picLocks noChangeAspect="1"/>
          </p:cNvPicPr>
          <p:nvPr/>
        </p:nvPicPr>
        <p:blipFill>
          <a:blip r:embed="rId10"/>
          <a:stretch>
            <a:fillRect/>
          </a:stretch>
        </p:blipFill>
        <p:spPr>
          <a:xfrm>
            <a:off x="254000" y="376361"/>
            <a:ext cx="174501" cy="157575"/>
          </a:xfrm>
          <a:prstGeom prst="rect">
            <a:avLst/>
          </a:prstGeom>
        </p:spPr>
      </p:pic>
      <p:sp>
        <p:nvSpPr>
          <p:cNvPr id="17" name="Text 28">
            <a:extLst>
              <a:ext uri="{FF2B5EF4-FFF2-40B4-BE49-F238E27FC236}">
                <a16:creationId xmlns:a16="http://schemas.microsoft.com/office/drawing/2014/main" id="{0F493750-1C67-0198-A1FD-F1D3A440280A}"/>
              </a:ext>
            </a:extLst>
          </p:cNvPr>
          <p:cNvSpPr/>
          <p:nvPr/>
        </p:nvSpPr>
        <p:spPr>
          <a:xfrm>
            <a:off x="254000" y="635564"/>
            <a:ext cx="9057147" cy="762000"/>
          </a:xfrm>
          <a:prstGeom prst="rect">
            <a:avLst/>
          </a:prstGeom>
          <a:noFill/>
          <a:ln/>
        </p:spPr>
        <p:txBody>
          <a:bodyPr wrap="square" lIns="91440" tIns="45720" rIns="91440" bIns="45720" rtlCol="0" anchor="ctr"/>
          <a:lstStyle/>
          <a:p>
            <a:pPr marL="0" marR="0" lvl="0" indent="0" algn="l" defTabSz="914400" rtl="0" eaLnBrk="1" fontAlgn="auto" latinLnBrk="0" hangingPunct="1">
              <a:lnSpc>
                <a:spcPts val="3000"/>
              </a:lnSpc>
              <a:spcBef>
                <a:spcPts val="0"/>
              </a:spcBef>
              <a:spcAft>
                <a:spcPts val="0"/>
              </a:spcAft>
              <a:buClrTx/>
              <a:buSzTx/>
              <a:buFontTx/>
              <a:buNone/>
              <a:tabLst/>
              <a:defRPr/>
            </a:pPr>
            <a:r>
              <a:rPr kumimoji="0" lang="en-US" sz="2400" b="0" i="0" u="none" strike="noStrike" kern="0" cap="none" spc="-24" normalizeH="0" baseline="0" noProof="0">
                <a:ln>
                  <a:noFill/>
                </a:ln>
                <a:solidFill>
                  <a:srgbClr val="000000">
                    <a:alpha val="99000"/>
                  </a:srgbClr>
                </a:solidFill>
                <a:effectLst/>
                <a:uLnTx/>
                <a:uFillTx/>
                <a:latin typeface="Funnel Sans"/>
                <a:ea typeface="+mn-ea"/>
                <a:cs typeface="+mn-cs"/>
              </a:rPr>
              <a:t>Sego’s differentiated approach to KLK2  </a:t>
            </a:r>
            <a:endParaRPr kumimoji="0" lang="en-US" sz="2400" b="0" i="0" u="none" strike="noStrike" kern="1200" cap="none" spc="0" normalizeH="0" baseline="0" noProof="0">
              <a:ln>
                <a:noFill/>
              </a:ln>
              <a:solidFill>
                <a:prstClr val="black"/>
              </a:solidFill>
              <a:effectLst/>
              <a:uLnTx/>
              <a:uFillTx/>
              <a:latin typeface="Funnel Sans"/>
              <a:ea typeface="+mn-ea"/>
              <a:cs typeface="+mn-cs"/>
            </a:endParaRPr>
          </a:p>
        </p:txBody>
      </p:sp>
      <p:sp>
        <p:nvSpPr>
          <p:cNvPr id="20" name="Rectangle: Rounded Corners 19">
            <a:extLst>
              <a:ext uri="{FF2B5EF4-FFF2-40B4-BE49-F238E27FC236}">
                <a16:creationId xmlns:a16="http://schemas.microsoft.com/office/drawing/2014/main" id="{6746F4A0-FB62-1CAE-5134-0F2DA38EDB68}"/>
              </a:ext>
            </a:extLst>
          </p:cNvPr>
          <p:cNvSpPr/>
          <p:nvPr/>
        </p:nvSpPr>
        <p:spPr>
          <a:xfrm>
            <a:off x="10884311" y="88490"/>
            <a:ext cx="1278192" cy="304795"/>
          </a:xfrm>
          <a:prstGeom prst="roundRect">
            <a:avLst/>
          </a:prstGeom>
          <a:solidFill>
            <a:srgbClr val="C6DCC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ysClr val="windowText" lastClr="000000"/>
                </a:solidFill>
                <a:effectLst/>
                <a:uLnTx/>
                <a:uFillTx/>
                <a:latin typeface="Funnel Sans"/>
                <a:ea typeface="+mn-ea"/>
                <a:cs typeface="+mn-cs"/>
              </a:rPr>
              <a:t>Opportunity</a:t>
            </a:r>
          </a:p>
        </p:txBody>
      </p:sp>
      <p:sp>
        <p:nvSpPr>
          <p:cNvPr id="2" name="TextBox 1">
            <a:extLst>
              <a:ext uri="{FF2B5EF4-FFF2-40B4-BE49-F238E27FC236}">
                <a16:creationId xmlns:a16="http://schemas.microsoft.com/office/drawing/2014/main" id="{2DC62CDE-4895-2951-E1D1-BD6D819A6103}"/>
              </a:ext>
            </a:extLst>
          </p:cNvPr>
          <p:cNvSpPr txBox="1"/>
          <p:nvPr/>
        </p:nvSpPr>
        <p:spPr>
          <a:xfrm>
            <a:off x="11055350" y="6614136"/>
            <a:ext cx="1136650" cy="246221"/>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Funnel Sans"/>
                <a:ea typeface="+mn-ea"/>
                <a:cs typeface="+mn-cs"/>
              </a:rPr>
              <a:t>Confidential </a:t>
            </a:r>
            <a:fld id="{F55465F9-4A58-45DB-8234-396342B5FF6F}" type="slidenum">
              <a:rPr kumimoji="0" lang="en-US" sz="1000" b="0" i="0" u="none" strike="noStrike" kern="1200" cap="none" spc="0" normalizeH="0" baseline="0" noProof="0" smtClean="0">
                <a:ln>
                  <a:noFill/>
                </a:ln>
                <a:solidFill>
                  <a:prstClr val="black"/>
                </a:solidFill>
                <a:effectLst/>
                <a:uLnTx/>
                <a:uFillTx/>
                <a:latin typeface="Funnel Sans"/>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a:ln>
                <a:noFill/>
              </a:ln>
              <a:solidFill>
                <a:prstClr val="black"/>
              </a:solidFill>
              <a:effectLst/>
              <a:uLnTx/>
              <a:uFillTx/>
              <a:latin typeface="Funnel Sans"/>
              <a:ea typeface="+mn-ea"/>
              <a:cs typeface="+mn-cs"/>
            </a:endParaRPr>
          </a:p>
        </p:txBody>
      </p:sp>
    </p:spTree>
    <p:extLst>
      <p:ext uri="{BB962C8B-B14F-4D97-AF65-F5344CB8AC3E}">
        <p14:creationId xmlns:p14="http://schemas.microsoft.com/office/powerpoint/2010/main" val="316945552"/>
      </p:ext>
    </p:extLst>
  </p:cSld>
  <p:clrMapOvr>
    <a:masterClrMapping/>
  </p:clrMapOvr>
</p:sld>
</file>

<file path=ppt/theme/theme1.xml><?xml version="1.0" encoding="utf-8"?>
<a:theme xmlns:a="http://schemas.openxmlformats.org/drawingml/2006/main" name="Becca's Sego Temp Theme">
  <a:themeElements>
    <a:clrScheme name="Becca's Sego Temp Theme">
      <a:dk1>
        <a:sysClr val="windowText" lastClr="000000"/>
      </a:dk1>
      <a:lt1>
        <a:sysClr val="window" lastClr="FFFFFF"/>
      </a:lt1>
      <a:dk2>
        <a:srgbClr val="0E2841"/>
      </a:dk2>
      <a:lt2>
        <a:srgbClr val="E8E8E8"/>
      </a:lt2>
      <a:accent1>
        <a:srgbClr val="1A4141"/>
      </a:accent1>
      <a:accent2>
        <a:srgbClr val="456464"/>
      </a:accent2>
      <a:accent3>
        <a:srgbClr val="7A9F8F"/>
      </a:accent3>
      <a:accent4>
        <a:srgbClr val="71B787"/>
      </a:accent4>
      <a:accent5>
        <a:srgbClr val="D5ED99"/>
      </a:accent5>
      <a:accent6>
        <a:srgbClr val="F3F1EF"/>
      </a:accent6>
      <a:hlink>
        <a:srgbClr val="7A9F8F"/>
      </a:hlink>
      <a:folHlink>
        <a:srgbClr val="96607D"/>
      </a:folHlink>
    </a:clrScheme>
    <a:fontScheme name="Sego Font">
      <a:majorFont>
        <a:latin typeface="Funnel Sans"/>
        <a:ea typeface=""/>
        <a:cs typeface=""/>
      </a:majorFont>
      <a:minorFont>
        <a:latin typeface="Funne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Becca's Sego Temp Theme" id="{4A842F55-7C6A-43E5-B4AB-63AC50CBC6DB}" vid="{965FBD5D-36C6-4D68-9EF4-1748213BBE67}"/>
    </a:ext>
  </a:extLst>
</a:theme>
</file>

<file path=ppt/theme/theme2.xml><?xml version="1.0" encoding="utf-8"?>
<a:theme xmlns:a="http://schemas.openxmlformats.org/drawingml/2006/main" name="1_Office Theme">
  <a:themeElements>
    <a:clrScheme name="Office">
      <a:dk1>
        <a:srgbClr val="000000"/>
      </a:dk1>
      <a:lt1>
        <a:sysClr val="window" lastClr="FFFFFF"/>
      </a:lt1>
      <a:dk2>
        <a:srgbClr val="656670"/>
      </a:dk2>
      <a:lt2>
        <a:srgbClr val="F6F3F2"/>
      </a:lt2>
      <a:accent1>
        <a:srgbClr val="002924"/>
      </a:accent1>
      <a:accent2>
        <a:srgbClr val="B1C8B0"/>
      </a:accent2>
      <a:accent3>
        <a:srgbClr val="61896E"/>
      </a:accent3>
      <a:accent4>
        <a:srgbClr val="D5ED99"/>
      </a:accent4>
      <a:accent5>
        <a:srgbClr val="DED6D3"/>
      </a:accent5>
      <a:accent6>
        <a:srgbClr val="8F1A43"/>
      </a:accent6>
      <a:hlink>
        <a:srgbClr val="002924"/>
      </a:hlink>
      <a:folHlink>
        <a:srgbClr val="B1C8B0"/>
      </a:folHlink>
    </a:clrScheme>
    <a:fontScheme name="Sego">
      <a:majorFont>
        <a:latin typeface="Funnel Sans Light"/>
        <a:ea typeface=""/>
        <a:cs typeface=""/>
      </a:majorFont>
      <a:minorFont>
        <a:latin typeface="Funnel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dirty="0" smtClean="0">
            <a:solidFill>
              <a:srgbClr val="FF0000"/>
            </a:solidFill>
            <a:latin typeface="+mj-lt"/>
          </a:defRPr>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CA77038FD8B0E4290AC2C78A81B96B0" ma:contentTypeVersion="10" ma:contentTypeDescription="Create a new document." ma:contentTypeScope="" ma:versionID="116237f45c3876c638621d484ff54e8e">
  <xsd:schema xmlns:xsd="http://www.w3.org/2001/XMLSchema" xmlns:xs="http://www.w3.org/2001/XMLSchema" xmlns:p="http://schemas.microsoft.com/office/2006/metadata/properties" xmlns:ns2="883290e6-3317-4731-a933-606cdb1c21ba" xmlns:ns3="9b41257d-d9f1-45d2-83fb-79c2dd89ff18" targetNamespace="http://schemas.microsoft.com/office/2006/metadata/properties" ma:root="true" ma:fieldsID="9cd05f4572e11dc9c3dcb5915d0bb547" ns2:_="" ns3:_="">
    <xsd:import namespace="883290e6-3317-4731-a933-606cdb1c21ba"/>
    <xsd:import namespace="9b41257d-d9f1-45d2-83fb-79c2dd89ff1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3290e6-3317-4731-a933-606cdb1c21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d5e21b9-9a91-448a-b7da-1ab90cd0a9b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b41257d-d9f1-45d2-83fb-79c2dd89ff1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b56a1f0-8357-4b64-86fd-fd0a5fd73875}" ma:internalName="TaxCatchAll" ma:showField="CatchAllData" ma:web="9b41257d-d9f1-45d2-83fb-79c2dd89ff1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9b41257d-d9f1-45d2-83fb-79c2dd89ff18" xsi:nil="true"/>
    <lcf76f155ced4ddcb4097134ff3c332f xmlns="883290e6-3317-4731-a933-606cdb1c21b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572C09AD-C45C-4D36-A6D0-039655F26BAB}">
  <ds:schemaRefs>
    <ds:schemaRef ds:uri="http://schemas.microsoft.com/sharepoint/v3/contenttype/forms"/>
  </ds:schemaRefs>
</ds:datastoreItem>
</file>

<file path=customXml/itemProps2.xml><?xml version="1.0" encoding="utf-8"?>
<ds:datastoreItem xmlns:ds="http://schemas.openxmlformats.org/officeDocument/2006/customXml" ds:itemID="{63B682DA-BC07-4575-9FC6-4C57285F0B0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83290e6-3317-4731-a933-606cdb1c21ba"/>
    <ds:schemaRef ds:uri="9b41257d-d9f1-45d2-83fb-79c2dd89ff1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ED6AA1E-E047-40BB-BF7B-43E4CE19145E}">
  <ds:schemaRefs>
    <ds:schemaRef ds:uri="http://schemas.microsoft.com/office/2006/metadata/properties"/>
    <ds:schemaRef ds:uri="http://schemas.microsoft.com/office/infopath/2007/PartnerControls"/>
    <ds:schemaRef ds:uri="9b41257d-d9f1-45d2-83fb-79c2dd89ff18"/>
    <ds:schemaRef ds:uri="883290e6-3317-4731-a933-606cdb1c21ba"/>
  </ds:schemaRefs>
</ds:datastoreItem>
</file>

<file path=docProps/app.xml><?xml version="1.0" encoding="utf-8"?>
<Properties xmlns="http://schemas.openxmlformats.org/officeDocument/2006/extended-properties" xmlns:vt="http://schemas.openxmlformats.org/officeDocument/2006/docPropsVTypes">
  <TotalTime>5</TotalTime>
  <Words>1866</Words>
  <Application>Microsoft Office PowerPoint</Application>
  <PresentationFormat>Widescreen</PresentationFormat>
  <Paragraphs>280</Paragraphs>
  <Slides>11</Slides>
  <Notes>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11</vt:i4>
      </vt:variant>
    </vt:vector>
  </HeadingPairs>
  <TitlesOfParts>
    <vt:vector size="19" baseType="lpstr">
      <vt:lpstr>Aptos</vt:lpstr>
      <vt:lpstr>Arial</vt:lpstr>
      <vt:lpstr>Calibri</vt:lpstr>
      <vt:lpstr>Funnel Sans</vt:lpstr>
      <vt:lpstr>Funnel Sans Light</vt:lpstr>
      <vt:lpstr>Funnel Sans Medium</vt:lpstr>
      <vt:lpstr>Becca's Sego Temp Theme</vt:lpstr>
      <vt:lpstr>1_Office Theme</vt:lpstr>
      <vt:lpstr>KLK2 Target Evaluation</vt:lpstr>
      <vt:lpstr>Prostate: KLK2 positivity across stages &amp; risk levels creates broad RLT opportunity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Becca Levin</dc:creator>
  <cp:lastModifiedBy>Edie Mitchell</cp:lastModifiedBy>
  <cp:revision>32</cp:revision>
  <dcterms:created xsi:type="dcterms:W3CDTF">2026-04-07T17:06:29Z</dcterms:created>
  <dcterms:modified xsi:type="dcterms:W3CDTF">2026-04-08T16:45:48Z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0x0101006CA77038FD8B0E4290AC2C78A81B96B0</vt:lpwstr>
  </property>
  <property fmtid="{D5CDD505-2E9C-101B-9397-08002B2CF9AE}" pid="3" name="MediaServiceImageTags">
    <vt:lpwstr/>
  </property>
</Properties>
</file>