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258_5FA5C0F6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7" r:id="rId5"/>
  </p:sldMasterIdLst>
  <p:notesMasterIdLst>
    <p:notesMasterId r:id="rId18"/>
  </p:notesMasterIdLst>
  <p:sldIdLst>
    <p:sldId id="509" r:id="rId6"/>
    <p:sldId id="595" r:id="rId7"/>
    <p:sldId id="600" r:id="rId8"/>
    <p:sldId id="601" r:id="rId9"/>
    <p:sldId id="517" r:id="rId10"/>
    <p:sldId id="350" r:id="rId11"/>
    <p:sldId id="351" r:id="rId12"/>
    <p:sldId id="514" r:id="rId13"/>
    <p:sldId id="516" r:id="rId14"/>
    <p:sldId id="368" r:id="rId15"/>
    <p:sldId id="530" r:id="rId16"/>
    <p:sldId id="5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E7231E-D65A-7660-884F-A801964A74DA}" name="Becca Levin" initials="BL" userId="S::BLevin@segotx.com::08c76d0b-4d1f-44f5-8508-8653b2f54768" providerId="AD"/>
  <p188:author id="{94445064-71B3-532D-7356-63484D79DF55}" name="Kirstin Zettlitz" initials="KZ" userId="S::kzettlitz@segotx.com::ed94187f-4964-42f1-b936-14a5f47aff4a" providerId="AD"/>
  <p188:author id="{EE43B0AF-ADC2-B733-F9CA-50A0C930E760}" name="Jeevan Virk" initials="JV" userId="S::JVirk@segotx.com::e4151d08-4059-4e88-b62d-4ccc0b7bab83" providerId="AD"/>
  <p188:author id="{1B2CCED9-E761-A789-87FA-8A8BE5E75A61}" name="Greg Mullen" initials="GM" userId="S::gmullen@segotx.com::15d9f696-28c4-4111-b985-4ee728509f13" providerId="AD"/>
  <p188:author id="{3A8A40E7-F32A-5E2C-0845-7C9503997434}" name="Greg Mullen" initials="GM" userId="S::GMullen@segotx.com::15d9f696-28c4-4111-b985-4ee728509f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1337E-0A02-554D-B26B-5B730E08CD31}" v="4" dt="2026-04-08T15:14:48.357"/>
    <p1510:client id="{A4FE1EC0-2978-6AC5-BC46-E47E70A58BF1}" v="5" dt="2026-04-08T14:58:38.237"/>
    <p1510:client id="{CFB6173D-14DA-5496-FD6F-E13AAFFC57BF}" v="4" dt="2026-04-08T11:02:17.557"/>
    <p1510:client id="{D64BA640-5EFC-4167-9DC0-CD383F2289E4}" v="9" dt="2026-04-08T19:07:11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ca Levin" userId="08c76d0b-4d1f-44f5-8508-8653b2f54768" providerId="ADAL" clId="{5AA3B8CE-AFEA-44FA-ACCD-448CA31DFD0A}"/>
    <pc:docChg chg="addSld modSld sldOrd">
      <pc:chgData name="Becca Levin" userId="08c76d0b-4d1f-44f5-8508-8653b2f54768" providerId="ADAL" clId="{5AA3B8CE-AFEA-44FA-ACCD-448CA31DFD0A}" dt="2026-04-08T19:07:54.680" v="212" actId="20577"/>
      <pc:docMkLst>
        <pc:docMk/>
      </pc:docMkLst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1103111161" sldId="350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628834466" sldId="351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2747823463" sldId="368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3221521723" sldId="509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3004262430" sldId="514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2177958418" sldId="516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586882314" sldId="517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3717460487" sldId="518"/>
        </pc:sldMkLst>
      </pc:sldChg>
      <pc:sldChg chg="add">
        <pc:chgData name="Becca Levin" userId="08c76d0b-4d1f-44f5-8508-8653b2f54768" providerId="ADAL" clId="{5AA3B8CE-AFEA-44FA-ACCD-448CA31DFD0A}" dt="2026-04-07T17:46:07.690" v="0"/>
        <pc:sldMkLst>
          <pc:docMk/>
          <pc:sldMk cId="3833638545" sldId="530"/>
        </pc:sldMkLst>
      </pc:sldChg>
      <pc:sldChg chg="add">
        <pc:chgData name="Becca Levin" userId="08c76d0b-4d1f-44f5-8508-8653b2f54768" providerId="ADAL" clId="{5AA3B8CE-AFEA-44FA-ACCD-448CA31DFD0A}" dt="2026-04-07T17:46:31.360" v="1"/>
        <pc:sldMkLst>
          <pc:docMk/>
          <pc:sldMk cId="1345244246" sldId="595"/>
        </pc:sldMkLst>
      </pc:sldChg>
      <pc:sldChg chg="addSp modSp add mod ord modCm">
        <pc:chgData name="Becca Levin" userId="08c76d0b-4d1f-44f5-8508-8653b2f54768" providerId="ADAL" clId="{5AA3B8CE-AFEA-44FA-ACCD-448CA31DFD0A}" dt="2026-04-08T19:07:54.680" v="212" actId="20577"/>
        <pc:sldMkLst>
          <pc:docMk/>
          <pc:sldMk cId="1604698358" sldId="600"/>
        </pc:sldMkLst>
        <pc:spChg chg="add mod">
          <ac:chgData name="Becca Levin" userId="08c76d0b-4d1f-44f5-8508-8653b2f54768" providerId="ADAL" clId="{5AA3B8CE-AFEA-44FA-ACCD-448CA31DFD0A}" dt="2026-04-07T18:18:19.868" v="27"/>
          <ac:spMkLst>
            <pc:docMk/>
            <pc:sldMk cId="1604698358" sldId="600"/>
            <ac:spMk id="2" creationId="{425E4CA7-DEEE-4223-D207-6ED06D476A87}"/>
          </ac:spMkLst>
        </pc:spChg>
        <pc:spChg chg="mod">
          <ac:chgData name="Becca Levin" userId="08c76d0b-4d1f-44f5-8508-8653b2f54768" providerId="ADAL" clId="{5AA3B8CE-AFEA-44FA-ACCD-448CA31DFD0A}" dt="2026-04-07T18:18:28.488" v="29" actId="20577"/>
          <ac:spMkLst>
            <pc:docMk/>
            <pc:sldMk cId="1604698358" sldId="600"/>
            <ac:spMk id="14" creationId="{DDD0CAB0-FD76-B052-FF47-146C6618ABF3}"/>
          </ac:spMkLst>
        </pc:spChg>
        <pc:spChg chg="mod">
          <ac:chgData name="Becca Levin" userId="08c76d0b-4d1f-44f5-8508-8653b2f54768" providerId="ADAL" clId="{5AA3B8CE-AFEA-44FA-ACCD-448CA31DFD0A}" dt="2026-04-07T18:18:06.770" v="26" actId="207"/>
          <ac:spMkLst>
            <pc:docMk/>
            <pc:sldMk cId="1604698358" sldId="600"/>
            <ac:spMk id="15" creationId="{D31F5FDD-EB16-6230-F808-1E53ACDB3C91}"/>
          </ac:spMkLst>
        </pc:spChg>
        <pc:spChg chg="mod">
          <ac:chgData name="Becca Levin" userId="08c76d0b-4d1f-44f5-8508-8653b2f54768" providerId="ADAL" clId="{5AA3B8CE-AFEA-44FA-ACCD-448CA31DFD0A}" dt="2026-04-07T21:22:22.509" v="39" actId="20577"/>
          <ac:spMkLst>
            <pc:docMk/>
            <pc:sldMk cId="1604698358" sldId="600"/>
            <ac:spMk id="17" creationId="{BDBF3473-107F-D704-F1E5-92E248D02FEC}"/>
          </ac:spMkLst>
        </pc:spChg>
        <pc:spChg chg="mod">
          <ac:chgData name="Becca Levin" userId="08c76d0b-4d1f-44f5-8508-8653b2f54768" providerId="ADAL" clId="{5AA3B8CE-AFEA-44FA-ACCD-448CA31DFD0A}" dt="2026-04-07T22:17:11.987" v="81" actId="20577"/>
          <ac:spMkLst>
            <pc:docMk/>
            <pc:sldMk cId="1604698358" sldId="600"/>
            <ac:spMk id="202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4-08T19:07:12.840" v="161" actId="20577"/>
          <ac:spMkLst>
            <pc:docMk/>
            <pc:sldMk cId="1604698358" sldId="600"/>
            <ac:spMk id="212" creationId="{00000000-0000-0000-0000-000000000000}"/>
          </ac:spMkLst>
        </pc:spChg>
        <pc:spChg chg="mod">
          <ac:chgData name="Becca Levin" userId="08c76d0b-4d1f-44f5-8508-8653b2f54768" providerId="ADAL" clId="{5AA3B8CE-AFEA-44FA-ACCD-448CA31DFD0A}" dt="2026-04-08T19:07:54.680" v="212" actId="20577"/>
          <ac:spMkLst>
            <pc:docMk/>
            <pc:sldMk cId="1604698358" sldId="600"/>
            <ac:spMk id="222" creationId="{00000000-0000-0000-0000-000000000000}"/>
          </ac:spMkLst>
        </pc:sp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3" creationId="{49649FD3-B1D8-A911-9F0E-5896636F9213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4" creationId="{CFD3B800-138E-C539-55E0-ACACE732008F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5" creationId="{1F289C7C-1360-E9A9-7CCD-42F673B83656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6" creationId="{DEA06EC8-F0DA-0F7E-EA5F-DC152C1BA242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7" creationId="{4D00C4F4-8BD6-1CC6-408B-7E476A2EC44C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8" creationId="{524ABCAD-E301-CC0B-B054-BE69E6FD6D04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9" creationId="{2C3563F8-1964-4C1B-DDEB-145A0C057A44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10" creationId="{5E927C9F-2CC4-C141-15AA-B79691BC41E8}"/>
          </ac:picMkLst>
        </pc:picChg>
        <pc:picChg chg="add mod">
          <ac:chgData name="Becca Levin" userId="08c76d0b-4d1f-44f5-8508-8653b2f54768" providerId="ADAL" clId="{5AA3B8CE-AFEA-44FA-ACCD-448CA31DFD0A}" dt="2026-04-07T18:18:19.868" v="27"/>
          <ac:picMkLst>
            <pc:docMk/>
            <pc:sldMk cId="1604698358" sldId="600"/>
            <ac:picMk id="11" creationId="{A9EB8F65-CAB6-FA27-215C-910C6C3A1F1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Becca Levin" userId="08c76d0b-4d1f-44f5-8508-8653b2f54768" providerId="ADAL" clId="{5AA3B8CE-AFEA-44FA-ACCD-448CA31DFD0A}" dt="2026-04-08T19:07:54.680" v="212" actId="20577"/>
              <pc2:cmMkLst xmlns:pc2="http://schemas.microsoft.com/office/powerpoint/2019/9/main/command">
                <pc:docMk/>
                <pc:sldMk cId="1604698358" sldId="600"/>
                <pc2:cmMk id="{DC074764-1725-4A1A-97EC-82EE946A6145}"/>
              </pc2:cmMkLst>
            </pc226:cmChg>
          </p:ext>
        </pc:extLst>
      </pc:sldChg>
      <pc:sldChg chg="modSp add mod">
        <pc:chgData name="Becca Levin" userId="08c76d0b-4d1f-44f5-8508-8653b2f54768" providerId="ADAL" clId="{5AA3B8CE-AFEA-44FA-ACCD-448CA31DFD0A}" dt="2026-04-07T21:22:58.451" v="61" actId="20577"/>
        <pc:sldMkLst>
          <pc:docMk/>
          <pc:sldMk cId="4111076975" sldId="601"/>
        </pc:sldMkLst>
        <pc:spChg chg="mod">
          <ac:chgData name="Becca Levin" userId="08c76d0b-4d1f-44f5-8508-8653b2f54768" providerId="ADAL" clId="{5AA3B8CE-AFEA-44FA-ACCD-448CA31DFD0A}" dt="2026-04-07T21:22:58.451" v="61" actId="20577"/>
          <ac:spMkLst>
            <pc:docMk/>
            <pc:sldMk cId="4111076975" sldId="601"/>
            <ac:spMk id="2" creationId="{743761E5-E90B-C8B5-A799-51CB1D95D615}"/>
          </ac:spMkLst>
        </pc:spChg>
      </pc:sldChg>
    </pc:docChg>
  </pc:docChgLst>
  <pc:docChgLst>
    <pc:chgData name="Kirstin Zettlitz" userId="S::kzettlitz@segotx.com::ed94187f-4964-42f1-b936-14a5f47aff4a" providerId="AD" clId="Web-{A4FE1EC0-2978-6AC5-BC46-E47E70A58BF1}"/>
    <pc:docChg chg="mod">
      <pc:chgData name="Kirstin Zettlitz" userId="S::kzettlitz@segotx.com::ed94187f-4964-42f1-b936-14a5f47aff4a" providerId="AD" clId="Web-{A4FE1EC0-2978-6AC5-BC46-E47E70A58BF1}" dt="2026-04-08T14:52:40.798" v="0"/>
      <pc:docMkLst>
        <pc:docMk/>
      </pc:docMkLst>
    </pc:docChg>
  </pc:docChgLst>
  <pc:docChgLst>
    <pc:chgData name="Greg Mullen" userId="S::gmullen@segotx.com::15d9f696-28c4-4111-b985-4ee728509f13" providerId="AD" clId="Web-{CFB6173D-14DA-5496-FD6F-E13AAFFC57BF}"/>
    <pc:docChg chg="mod">
      <pc:chgData name="Greg Mullen" userId="S::gmullen@segotx.com::15d9f696-28c4-4111-b985-4ee728509f13" providerId="AD" clId="Web-{CFB6173D-14DA-5496-FD6F-E13AAFFC57BF}" dt="2026-04-08T10:57:32.694" v="0"/>
      <pc:docMkLst>
        <pc:docMk/>
      </pc:docMkLst>
    </pc:docChg>
  </pc:docChgLst>
  <pc:docChgLst>
    <pc:chgData name="Kirstin Zettlitz" userId="ed94187f-4964-42f1-b936-14a5f47aff4a" providerId="ADAL" clId="{1058E6FE-068C-51C5-8910-E308FEC7BF85}"/>
    <pc:docChg chg="modSld">
      <pc:chgData name="Kirstin Zettlitz" userId="ed94187f-4964-42f1-b936-14a5f47aff4a" providerId="ADAL" clId="{1058E6FE-068C-51C5-8910-E308FEC7BF85}" dt="2026-04-08T15:14:48.357" v="3" actId="113"/>
      <pc:docMkLst>
        <pc:docMk/>
      </pc:docMkLst>
      <pc:sldChg chg="modSp mod">
        <pc:chgData name="Kirstin Zettlitz" userId="ed94187f-4964-42f1-b936-14a5f47aff4a" providerId="ADAL" clId="{1058E6FE-068C-51C5-8910-E308FEC7BF85}" dt="2026-04-08T15:14:48.357" v="3" actId="113"/>
        <pc:sldMkLst>
          <pc:docMk/>
          <pc:sldMk cId="3004262430" sldId="514"/>
        </pc:sldMkLst>
        <pc:graphicFrameChg chg="modGraphic">
          <ac:chgData name="Kirstin Zettlitz" userId="ed94187f-4964-42f1-b936-14a5f47aff4a" providerId="ADAL" clId="{1058E6FE-068C-51C5-8910-E308FEC7BF85}" dt="2026-04-08T15:14:48.357" v="3" actId="113"/>
          <ac:graphicFrameMkLst>
            <pc:docMk/>
            <pc:sldMk cId="3004262430" sldId="514"/>
            <ac:graphicFrameMk id="17" creationId="{781C066A-C181-F149-F5AF-5C9656E98473}"/>
          </ac:graphicFrameMkLst>
        </pc:graphicFrameChg>
      </pc:sldChg>
      <pc:sldChg chg="modSp mod modNotesTx">
        <pc:chgData name="Kirstin Zettlitz" userId="ed94187f-4964-42f1-b936-14a5f47aff4a" providerId="ADAL" clId="{1058E6FE-068C-51C5-8910-E308FEC7BF85}" dt="2026-04-08T15:12:36.393" v="2" actId="20577"/>
        <pc:sldMkLst>
          <pc:docMk/>
          <pc:sldMk cId="586882314" sldId="517"/>
        </pc:sldMkLst>
        <pc:spChg chg="mod">
          <ac:chgData name="Kirstin Zettlitz" userId="ed94187f-4964-42f1-b936-14a5f47aff4a" providerId="ADAL" clId="{1058E6FE-068C-51C5-8910-E308FEC7BF85}" dt="2026-04-08T15:12:36.393" v="2" actId="20577"/>
          <ac:spMkLst>
            <pc:docMk/>
            <pc:sldMk cId="586882314" sldId="517"/>
            <ac:spMk id="26" creationId="{6BB7D78B-070B-59EB-F2BF-464E69B07EB7}"/>
          </ac:spMkLst>
        </pc:spChg>
      </pc:sldChg>
    </pc:docChg>
  </pc:docChgLst>
</pc:chgInfo>
</file>

<file path=ppt/comments/modernComment_258_5FA5C0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074764-1725-4A1A-97EC-82EE946A6145}" authorId="{1B2CCED9-E761-A789-87FA-8A8BE5E75A61}" status="resolved" created="2026-04-08T11:01:35.0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04698358" sldId="600"/>
      <ac:spMk id="222" creationId="{00000000-0000-0000-0000-000000000000}"/>
      <ac:txMk cp="373" len="187">
        <ac:context len="721" hash="541058087"/>
      </ac:txMk>
    </ac:txMkLst>
    <p188:pos x="3396867" y="2515518"/>
    <p188:replyLst>
      <p188:reply id="{51ADA467-44D3-4E7C-9D48-A3747530C959}" authorId="{94445064-71B3-532D-7356-63484D79DF55}" created="2026-04-08T14:52:40.798">
        <p188:txBody>
          <a:bodyPr/>
          <a:lstStyle/>
          <a:p>
            <a:r>
              <a:rPr lang="en-US"/>
              <a:t>Targeting the anchored C-terminal subunit MUC1-C, rather than the shed, circulating N-terminal domain, achieves higher therapeutic efficacy.</a:t>
            </a:r>
          </a:p>
        </p188:txBody>
      </p188:reply>
    </p188:replyLst>
    <p188:txBody>
      <a:bodyPr/>
      <a:lstStyle/>
      <a:p>
        <a:r>
          <a:rPr lang="en-GB"/>
          <a:t>On one hand we want to use safety data from full length MUC1 and then here we state MUC1-C is differentiated because its cryptic in health tissue </a:t>
        </a:r>
      </a:p>
    </p188:txBody>
  </p188:cm>
  <p188:cm id="{6C4B78EF-96A6-49BB-BB78-A2E1CF723A3F}" authorId="{1B2CCED9-E761-A789-87FA-8A8BE5E75A61}" status="resolved" created="2026-04-08T11:02:17.55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04698358" sldId="600"/>
      <ac:spMk id="222" creationId="{00000000-0000-0000-0000-000000000000}"/>
    </ac:deMkLst>
    <p188:txBody>
      <a:bodyPr/>
      <a:lstStyle/>
      <a:p>
        <a:r>
          <a:rPr lang="en-GB"/>
          <a:t>The final bullet point in the last comment is applicable to across all of our targets</a:t>
        </a:r>
      </a:p>
    </p188:txBody>
  </p188:cm>
  <p188:cm id="{3BD1C97D-A8D6-4028-AA4B-1BAC6F2B60EC}" authorId="{94445064-71B3-532D-7356-63484D79DF55}" status="resolved" created="2026-04-08T14:58:28.37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04698358" sldId="600"/>
      <ac:spMk id="222" creationId="{00000000-0000-0000-0000-000000000000}"/>
    </ac:deMkLst>
    <p188:txBody>
      <a:bodyPr/>
      <a:lstStyle/>
      <a:p>
        <a:r>
          <a:rPr lang="en-US"/>
          <a:t>Targeting the oncogenic MUC1-C can reduce drug resistance, EMT, and immune evasion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F674F-6F19-41E7-90FE-D346E901631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D8C6A-0FDB-4CEB-A3FF-937A72BCF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4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03A3D8-CA18-4489-9241-CA705B00537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540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1B56-115B-3887-FFEC-607C22CA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384C3-D207-14D1-4425-677930FE5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5B03E-D755-E3CC-0D43-45A4AECEB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7F44-0B2B-157A-05CF-06BACEA23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37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E927-A836-5939-91DE-8CEA6C5C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B9967-1B14-D890-070A-625E69DC2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4F1B9-430F-FBEB-8A7D-0F626DFF2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IHC: MUC1 or Muc1C</a:t>
            </a:r>
          </a:p>
          <a:p>
            <a:r>
              <a:rPr lang="en-US"/>
              <a:t>Homodimerization and internalization</a:t>
            </a:r>
          </a:p>
          <a:p>
            <a:endParaRPr lang="en-US"/>
          </a:p>
          <a:p>
            <a:r>
              <a:rPr lang="en-US"/>
              <a:t>Similar to some of the previous targets, MUC1-C expression is tumor-selective; in healthy tissue MUC1-C expression is restricted to the Apical membrane – meaning it is not accessible for RLT</a:t>
            </a:r>
          </a:p>
          <a:p>
            <a:endParaRPr lang="en-US"/>
          </a:p>
          <a:p>
            <a:r>
              <a:rPr lang="en-US"/>
              <a:t>During malignant transformation, cells lose polarization, MUC1 gets overexpressed on the entire cell</a:t>
            </a:r>
          </a:p>
          <a:p>
            <a:pPr marL="171450" indent="-171450">
              <a:buFontTx/>
              <a:buChar char="-"/>
            </a:pPr>
            <a:r>
              <a:rPr lang="en-US"/>
              <a:t>The N-terminal subunit gets </a:t>
            </a:r>
            <a:r>
              <a:rPr lang="en-US" err="1"/>
              <a:t>shedd</a:t>
            </a:r>
            <a:r>
              <a:rPr lang="en-US"/>
              <a:t> and the membrane anchored MUC1-C is know exposed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That allows MUC1-C to homodimerize and internalize/ recycle</a:t>
            </a:r>
          </a:p>
          <a:p>
            <a:pPr marL="171450" indent="-171450">
              <a:buFontTx/>
              <a:buChar char="-"/>
            </a:pPr>
            <a:r>
              <a:rPr lang="en-US"/>
              <a:t>Act as a oncoprotein to promote proliferation</a:t>
            </a:r>
          </a:p>
          <a:p>
            <a:pPr marL="171450" indent="-171450">
              <a:buFontTx/>
              <a:buChar char="-"/>
            </a:pPr>
            <a:r>
              <a:rPr lang="en-US"/>
              <a:t>Resistance to TKI</a:t>
            </a:r>
          </a:p>
          <a:p>
            <a:pPr marL="171450" indent="-171450">
              <a:buFontTx/>
              <a:buChar char="-"/>
            </a:pPr>
            <a:r>
              <a:rPr lang="en-US"/>
              <a:t>Immune evasion (upregulate PD-L1) and suppress INF-gamma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Right: IHC of invasive breast carcinoma, to illustrate the apical expression in healthy duct – would not be accessible for RLT</a:t>
            </a:r>
          </a:p>
          <a:p>
            <a:pPr marL="171450" indent="-171450">
              <a:buFontTx/>
              <a:buChar char="-"/>
            </a:pPr>
            <a:r>
              <a:rPr lang="en-US"/>
              <a:t>And the depolarized overexpression in the carcinoma that would be accessible for RLT</a:t>
            </a:r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958D6-3433-6319-5D83-4363FB874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33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C4E8-A1EF-A7C4-96F7-E1C90811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30C11-6B4F-D383-AC37-180E40EA8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A1D8A-AF8C-C995-4E29-F7A49932D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Lots of IHC data on overexpression of MUC1 in cancers, very high in lung, breast and ovarian cancer</a:t>
            </a:r>
          </a:p>
          <a:p>
            <a:r>
              <a:rPr lang="en-US"/>
              <a:t>however it is not always clear if the N, the C or the intracellular domain is targeted, </a:t>
            </a:r>
          </a:p>
          <a:p>
            <a:r>
              <a:rPr lang="en-US"/>
              <a:t>however, there are also studies looking specifically at MUC1-C that show that the expression patterns correlate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F9D1-56CE-36D0-7594-EDAF8A68A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048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stomach (998.2), lung (309.6),</a:t>
            </a:r>
          </a:p>
          <a:p>
            <a:endParaRPr lang="en-US"/>
          </a:p>
          <a:p>
            <a:r>
              <a:rPr lang="en-US"/>
              <a:t>So this table summarizes both MUC1 and mUC1-C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722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BF154-21C4-74C1-47B5-F1E888CB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B1349-37FF-77AD-C7BA-75CF32527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2A4B5-470A-670F-86CB-A4390F40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pPr rtl="0"/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MUC1-C is a premier candidate for radioligand therapy (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RLT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rtl="0"/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its biological profile resolves the two greatest hurdles in nuclear medicine: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accessibility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biological stability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And internalization</a:t>
            </a:r>
          </a:p>
          <a:p>
            <a:endParaRPr lang="en-US" sz="1200" b="0" i="0" u="none" strike="noStrike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 provides the opportunity for RLT synergy with immunotherapy or TKI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6BF61-E444-0D65-1F9D-6E3B1B7D0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85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C615-762E-8F01-9E3C-1D694EA6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9A848-F347-65E2-E187-2916899AD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2AC28-D438-B046-A0BB-F2716EAFA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Metastatic LUAD without a driver mutation: PD-L1 status dictates SOC</a:t>
            </a:r>
          </a:p>
          <a:p>
            <a:endParaRPr lang="en-US"/>
          </a:p>
          <a:p>
            <a:r>
              <a:rPr lang="en-US"/>
              <a:t>MUC1-C is a driver for resistance to TKI</a:t>
            </a:r>
          </a:p>
          <a:p>
            <a:r>
              <a:rPr lang="en-US"/>
              <a:t>MUC1-C upregulates PD-L1 and suppresses INF-gamma – synergy with IO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86A45-F328-7332-67A9-A13386AE9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21A958-E166-4D17-A7E8-44AF4287EA4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129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Summarize: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3EC38-1E33-4A22-8A2A-5A6B4EED2B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030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DB6738-640A-285C-80F7-EBA40DE8F0C0}"/>
              </a:ext>
            </a:extLst>
          </p:cNvPr>
          <p:cNvSpPr/>
          <p:nvPr/>
        </p:nvSpPr>
        <p:spPr>
          <a:xfrm>
            <a:off x="-198582" y="-692727"/>
            <a:ext cx="12589164" cy="693651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204C1-E901-AD77-DE7C-59D21226D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15" y="1122363"/>
            <a:ext cx="10038485" cy="1870219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26440-34FF-6B8F-F8AA-3CB4F6F9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C4D9-2245-6A45-3A6B-9AC657259F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6E66945E-E29C-4A10-8917-9BE476573A98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5429-B4D5-78E5-BD9B-CC1E613A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9ECA2-FE9B-B45C-BC7B-112303A0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36AE9BE-8563-C614-00B9-06D671AECD41}"/>
              </a:ext>
            </a:extLst>
          </p:cNvPr>
          <p:cNvSpPr/>
          <p:nvPr/>
        </p:nvSpPr>
        <p:spPr>
          <a:xfrm>
            <a:off x="457200" y="457200"/>
            <a:ext cx="871538" cy="300038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52968D7F-126F-2166-45E4-5006D0BF4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23" y="457200"/>
            <a:ext cx="154974" cy="188378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4C8A8BD-F576-4C5F-081D-87C0BB3B6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8" y="659529"/>
            <a:ext cx="959" cy="5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1E7B4B12-C9E4-E155-3993-625F6FB1E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4" y="659533"/>
            <a:ext cx="287" cy="5"/>
          </a:xfrm>
          <a:prstGeom prst="rect">
            <a:avLst/>
          </a:prstGeom>
        </p:spPr>
      </p:pic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92E9DCB-F21C-04F7-5F55-34618D476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7" y="673402"/>
            <a:ext cx="465" cy="5"/>
          </a:xfrm>
          <a:prstGeom prst="rect">
            <a:avLst/>
          </a:prstGeom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2B422FB9-16AE-8A52-AFD0-F5C0D4C9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43" y="507676"/>
            <a:ext cx="135918" cy="199280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0AE362E8-2180-4F33-99E9-3A63658A5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16" y="562009"/>
            <a:ext cx="124990" cy="144942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05260289-CF13-CF9A-74AC-86175E6B5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347" y="561991"/>
            <a:ext cx="130069" cy="195247"/>
          </a:xfrm>
          <a:prstGeom prst="rect">
            <a:avLst/>
          </a:prstGeom>
        </p:spPr>
      </p:pic>
      <p:pic>
        <p:nvPicPr>
          <p:cNvPr id="16" name="Image 7" descr="preencoded.png">
            <a:extLst>
              <a:ext uri="{FF2B5EF4-FFF2-40B4-BE49-F238E27FC236}">
                <a16:creationId xmlns:a16="http://schemas.microsoft.com/office/drawing/2014/main" id="{58C28360-A6BE-8081-38E0-A8C32A75C7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934" y="562005"/>
            <a:ext cx="133799" cy="144942"/>
          </a:xfrm>
          <a:prstGeom prst="rect">
            <a:avLst/>
          </a:prstGeom>
        </p:spPr>
      </p:pic>
      <p:pic>
        <p:nvPicPr>
          <p:cNvPr id="17" name="Image 8" descr="preencoded.png">
            <a:extLst>
              <a:ext uri="{FF2B5EF4-FFF2-40B4-BE49-F238E27FC236}">
                <a16:creationId xmlns:a16="http://schemas.microsoft.com/office/drawing/2014/main" id="{ECBAAB9E-CDC2-0FF4-C755-D815B2BB5F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092" y="577653"/>
            <a:ext cx="172315" cy="155106"/>
          </a:xfrm>
          <a:prstGeom prst="rect">
            <a:avLst/>
          </a:prstGeom>
        </p:spPr>
      </p:pic>
      <p:pic>
        <p:nvPicPr>
          <p:cNvPr id="18" name="Image 9" descr="preencoded.png">
            <a:extLst>
              <a:ext uri="{FF2B5EF4-FFF2-40B4-BE49-F238E27FC236}">
                <a16:creationId xmlns:a16="http://schemas.microsoft.com/office/drawing/2014/main" id="{58320A9F-196A-AE77-A484-B6E5D507A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77648"/>
            <a:ext cx="172315" cy="15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93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91E4-0767-757A-6C26-F8C974F5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BE57-1EB4-8357-C896-4AAAD6BC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FE290-1BA8-4866-A227-485B2A53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9728-BA0F-E899-0CAD-26BC1506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309DD90-9BA0-57EA-6D6E-750F1C324FC8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B77A0BCF-864C-10EA-E989-AF59B941C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21522D1E-FB95-FAF3-8759-A99853816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AA1C6DF3-B2B0-D505-0322-4A74DD28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74BB9666-7E16-7635-EFAA-9FE0AADA9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7B200AFC-D38E-A7C9-8B60-2AA285B6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B4489371-CEE9-45CF-DAB8-D9E30AE77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073A8A60-1964-06AA-7C7B-D0BF86024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5" name="Image 10" descr="preencoded.png">
            <a:extLst>
              <a:ext uri="{FF2B5EF4-FFF2-40B4-BE49-F238E27FC236}">
                <a16:creationId xmlns:a16="http://schemas.microsoft.com/office/drawing/2014/main" id="{4413C882-A29F-0E1B-F4E6-DE194B6491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599359B0-BC5A-2798-D3EE-E906C8FE4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7" name="Image 12" descr="preencoded.png">
            <a:extLst>
              <a:ext uri="{FF2B5EF4-FFF2-40B4-BE49-F238E27FC236}">
                <a16:creationId xmlns:a16="http://schemas.microsoft.com/office/drawing/2014/main" id="{1CAF3264-0793-6CDC-24D3-58AF8DEB37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2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4616-8561-6A16-EBE9-6E1A3F96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BEDDA-A7B8-93FA-FC2B-91CA7DFAF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46D9C-A2DA-90FE-6625-B23D1A90E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95ACC-39E6-3AC4-3A85-0CF2D69C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74000-D324-1C4F-B0DE-8390683A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ADAABF8-6644-3F36-4FAC-E26B71106E25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D6819D18-280A-59B9-5A82-3AA527A0A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B3DB3EC3-97C7-8E1A-1C58-F2AB50263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986AD692-BF7B-E30E-AF4B-29E73B37A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2" name="Image 6" descr="preencoded.png">
            <a:extLst>
              <a:ext uri="{FF2B5EF4-FFF2-40B4-BE49-F238E27FC236}">
                <a16:creationId xmlns:a16="http://schemas.microsoft.com/office/drawing/2014/main" id="{1E4B8F00-D927-A3D7-DF8B-9621664C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8BE371D4-51AA-A4CA-BCA7-C17F586C3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4" name="Image 8" descr="preencoded.png">
            <a:extLst>
              <a:ext uri="{FF2B5EF4-FFF2-40B4-BE49-F238E27FC236}">
                <a16:creationId xmlns:a16="http://schemas.microsoft.com/office/drawing/2014/main" id="{5ECEAA31-DC84-C536-9A68-FCA883D9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5" name="Image 9" descr="preencoded.png">
            <a:extLst>
              <a:ext uri="{FF2B5EF4-FFF2-40B4-BE49-F238E27FC236}">
                <a16:creationId xmlns:a16="http://schemas.microsoft.com/office/drawing/2014/main" id="{62428B7B-F60F-2474-60E5-441970913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CD30214C-33F4-EF4D-4A77-2669C3D859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7" name="Image 11" descr="preencoded.png">
            <a:extLst>
              <a:ext uri="{FF2B5EF4-FFF2-40B4-BE49-F238E27FC236}">
                <a16:creationId xmlns:a16="http://schemas.microsoft.com/office/drawing/2014/main" id="{F652379B-9CF4-1AD1-870C-8D3C19ADC6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8" name="Image 12" descr="preencoded.png">
            <a:extLst>
              <a:ext uri="{FF2B5EF4-FFF2-40B4-BE49-F238E27FC236}">
                <a16:creationId xmlns:a16="http://schemas.microsoft.com/office/drawing/2014/main" id="{AAB9CA5D-C147-316E-9EA9-CFAF15793D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4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1E4E-8467-05AB-4B28-24FC6515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3AF16-3B94-1554-ADEF-F4AB2AADE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5CBF1-893D-CA3B-1E82-E42BA520A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764CD-180A-9677-3337-000001CB5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CCF24-889B-BC14-970F-2418CF066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345D6-958F-BEFC-B6F2-D7DC3D40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E3341-5AE8-5BA8-0437-602286D4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280E1E3-FBB0-BB01-80DF-10AE73698015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996FDED8-EDA6-9343-D0A1-84BEBDD3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D83BCB30-36D8-4C72-14EE-F3E2E8F57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13" name="Image 5" descr="preencoded.png">
            <a:extLst>
              <a:ext uri="{FF2B5EF4-FFF2-40B4-BE49-F238E27FC236}">
                <a16:creationId xmlns:a16="http://schemas.microsoft.com/office/drawing/2014/main" id="{B1AD6F6F-B20E-8D32-FAAB-369A5465E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4" name="Image 6" descr="preencoded.png">
            <a:extLst>
              <a:ext uri="{FF2B5EF4-FFF2-40B4-BE49-F238E27FC236}">
                <a16:creationId xmlns:a16="http://schemas.microsoft.com/office/drawing/2014/main" id="{FBDDC6D6-2BEB-31DC-B298-E66E991D5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5" name="Image 7" descr="preencoded.png">
            <a:extLst>
              <a:ext uri="{FF2B5EF4-FFF2-40B4-BE49-F238E27FC236}">
                <a16:creationId xmlns:a16="http://schemas.microsoft.com/office/drawing/2014/main" id="{59255BD3-C3BE-9A85-5AF2-9BB924428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6" name="Image 8" descr="preencoded.png">
            <a:extLst>
              <a:ext uri="{FF2B5EF4-FFF2-40B4-BE49-F238E27FC236}">
                <a16:creationId xmlns:a16="http://schemas.microsoft.com/office/drawing/2014/main" id="{05589A3A-6BE4-FDF1-77D1-F2E573CBF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7" name="Image 9" descr="preencoded.png">
            <a:extLst>
              <a:ext uri="{FF2B5EF4-FFF2-40B4-BE49-F238E27FC236}">
                <a16:creationId xmlns:a16="http://schemas.microsoft.com/office/drawing/2014/main" id="{BB7959B2-981C-3C8F-4F27-DBABC1988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8" name="Image 10" descr="preencoded.png">
            <a:extLst>
              <a:ext uri="{FF2B5EF4-FFF2-40B4-BE49-F238E27FC236}">
                <a16:creationId xmlns:a16="http://schemas.microsoft.com/office/drawing/2014/main" id="{FC3F9996-F09C-CD6B-EFCB-DA8BC9C28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9" name="Image 11" descr="preencoded.png">
            <a:extLst>
              <a:ext uri="{FF2B5EF4-FFF2-40B4-BE49-F238E27FC236}">
                <a16:creationId xmlns:a16="http://schemas.microsoft.com/office/drawing/2014/main" id="{2ED1A265-4A95-F6BF-055E-6E7DF38089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20" name="Image 12" descr="preencoded.png">
            <a:extLst>
              <a:ext uri="{FF2B5EF4-FFF2-40B4-BE49-F238E27FC236}">
                <a16:creationId xmlns:a16="http://schemas.microsoft.com/office/drawing/2014/main" id="{8AA81C56-C7C1-8192-BB96-2EAF5E6E65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90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2E9C-AC2F-598A-971D-CB008C39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22642-A407-B802-D9EF-445D10F6B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86E38B-EAD0-FDED-82A1-3CE01F79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16C830E-A360-7AC5-875D-9D5222451EAF}"/>
              </a:ext>
            </a:extLst>
          </p:cNvPr>
          <p:cNvSpPr/>
          <p:nvPr/>
        </p:nvSpPr>
        <p:spPr>
          <a:xfrm>
            <a:off x="190500" y="190500"/>
            <a:ext cx="661988" cy="228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6FA7C61D-AC3B-A5A8-802C-38559A5BC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4" y="190500"/>
            <a:ext cx="117713" cy="143526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6211D501-648C-ABA1-7828-3399D9673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75" y="344655"/>
            <a:ext cx="728" cy="3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453193C3-E143-90F7-FFAF-FAE6FF0F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59" y="344659"/>
            <a:ext cx="216" cy="3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CD7967F3-83BC-6097-0C75-DA5DAC583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7" y="355225"/>
            <a:ext cx="352" cy="3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55401895-E400-1D7F-43FA-D0FB891E3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7" y="228958"/>
            <a:ext cx="103239" cy="151832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62A5EDCF-DDE8-6DE0-1CC8-819ABA4DB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2" y="270355"/>
            <a:ext cx="94938" cy="110432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BBD93823-B957-25BB-C99E-9354F1688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04" y="270341"/>
            <a:ext cx="98795" cy="148759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EBB4ED86-D056-E708-2D02-AE316C12A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55" y="270351"/>
            <a:ext cx="101629" cy="110432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BDE3193F-5748-17EB-FB7F-C12EC5E806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565" y="282273"/>
            <a:ext cx="130884" cy="118176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32D52360-BAE5-033B-1495-439B02227C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82270"/>
            <a:ext cx="130884" cy="1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9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05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0910-A0C0-68BB-7B53-15FDAD26F0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258" y="3225776"/>
            <a:ext cx="5070017" cy="82806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4FF15-ACE1-BC40-45CB-34D1B57152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EC72E-7D93-4BA5-9C9F-9730CC1FCB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Date Placeholder 21" hidden="1">
            <a:extLst>
              <a:ext uri="{FF2B5EF4-FFF2-40B4-BE49-F238E27FC236}">
                <a16:creationId xmlns:a16="http://schemas.microsoft.com/office/drawing/2014/main" id="{538CCEA6-28D6-432F-620A-5FA841D9A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28045" y="6492240"/>
            <a:ext cx="906780" cy="10977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800" spc="-39" smtClean="0">
                <a:solidFill>
                  <a:schemeClr val="tx1"/>
                </a:solidFill>
              </a:defRPr>
            </a:lvl1pPr>
          </a:lstStyle>
          <a:p>
            <a:fld id="{BC01B09E-BD2E-4777-B4D4-F6B540230C58}" type="datetime6">
              <a:rPr lang="en-GB" smtClean="0"/>
              <a:pPr/>
              <a:t>April 26</a:t>
            </a:fld>
            <a:endParaRPr lang="en-GB" sz="80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CB562FDC-03F1-5521-89C7-C4C12E07C6DB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2791912A-744B-425D-F110-EFB13F6FAEE4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89270859-3F16-2104-574D-74236AD8FD59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983165A3-2236-5DED-D823-B998BA612380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F43ADFC-C7F7-447E-7528-B2D251DE959F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5E1AB878-C85A-B38C-3580-5EE82627FBF3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1061D67-2C92-6676-B691-D0C3162E6895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2C5BED9F-A69D-4C82-E00C-5A9A9FD9EC99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E26B4A-0E89-9545-CF71-72B0B21E751A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DA25754-0125-9425-59B1-7FEC7D4AAAF3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EB2E4AC9-D18F-9818-11E5-9FAF5E9141FF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620E3FC0-F13B-4AA1-8445-8E35E2CF193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2926186"/>
            <a:ext cx="507001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9002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42BA4-469A-ACDB-3C72-111476EA42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D306-214C-DFDE-1E4C-3120B3984D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2F3CB05-B71F-2304-36F3-1D328DDB162C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30B7A793-96DD-718F-6C53-3ED56F3EC0D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E4A4D229-A539-9666-C803-E715831FCB80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649BA90A-AFC7-6552-715F-EB24799740AA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FDB49AB-05C6-830A-79E4-659B4384A3D7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CA1B60CB-DCD7-8B10-E27A-06BFF887A080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59E0B493-3501-EF31-42E0-75A5F876ED0D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3DE3EBE-2D35-17A6-7194-22B9C028797B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865A8686-D0E9-5DE2-D5AF-9469D8DFC27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E79BEBE-4F28-1B64-3229-278A2A0FCA0C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C6D91C27-5113-D6F8-DD50-545A13EBBEA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55FB519E-F037-3DA4-A1C7-8F1520479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5501" y="3268448"/>
            <a:ext cx="8945261" cy="40134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.</a:t>
            </a:r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A1371C9-0DD0-D675-51AF-9B5EDD28DB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7178" y="306761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bg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One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13899FB2-FBD1-4075-123F-B4536AB49C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78" y="336095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Two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D2431CCB-56DE-6E4B-FFA1-297FA4232D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178" y="3654297"/>
            <a:ext cx="1144588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6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Section Three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64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3D0F0-7052-5160-A771-5119F33D0F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DDD5D-8453-021D-0AFE-5BD4B5D97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E650826-C49B-4E4D-633C-3F0654915E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9" y="1091036"/>
            <a:ext cx="10131425" cy="158693"/>
          </a:xfrm>
        </p:spPr>
        <p:txBody>
          <a:bodyPr/>
          <a:lstStyle>
            <a:lvl1pPr marL="0" indent="0" algn="l">
              <a:buNone/>
              <a:defRPr sz="1200" spc="-10">
                <a:solidFill>
                  <a:schemeClr val="bg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Agenda or Date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45FB2E71-CF98-96CB-FAEB-10749E7CDB00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257179" y="1396445"/>
            <a:ext cx="10131425" cy="3835400"/>
          </a:xfrm>
        </p:spPr>
        <p:txBody>
          <a:bodyPr/>
          <a:lstStyle/>
          <a:p>
            <a:endParaRPr lang="en-GB"/>
          </a:p>
        </p:txBody>
      </p:sp>
      <p:grpSp>
        <p:nvGrpSpPr>
          <p:cNvPr id="2" name="Graphic 8">
            <a:extLst>
              <a:ext uri="{FF2B5EF4-FFF2-40B4-BE49-F238E27FC236}">
                <a16:creationId xmlns:a16="http://schemas.microsoft.com/office/drawing/2014/main" id="{90A17A9B-0C48-1515-ED38-C14C78957454}"/>
              </a:ext>
            </a:extLst>
          </p:cNvPr>
          <p:cNvGrpSpPr/>
          <p:nvPr userDrawn="1"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chemeClr val="bg1"/>
          </a:solidFill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B92FA4EC-976C-DA82-9504-58AF70C402D3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D4B48300-E7E6-EC2C-F589-F5BBD059681E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EA2FCC75-9BAA-C54B-469C-5E1CD96B6EF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1D0F2D6-F69A-C4D1-35DD-13FBD7B25F12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81FE0DA3-BFBB-5A05-D3B9-D06A9C5F5B8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34C3D3FD-92BD-87C8-7BEF-78648536719E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914ED9B-9040-1DAC-207F-44855782ED81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EA545CE9-1F2E-C4DF-A288-6E0D73E2ABC7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D93B2B45-E164-0EA4-0C09-6DCA12389939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D24F9729-F8E5-AF5F-4B62-28C93CE603C4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grpFill/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8561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44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with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9B797-C20F-9FA8-DAAE-469DD3EC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1AEAF-E1EB-8682-46B5-C49864784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54DAC0B-862D-B90A-DC42-00D38DC467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344" y="1859280"/>
            <a:ext cx="6917619" cy="4895778"/>
          </a:xfrm>
          <a:custGeom>
            <a:avLst/>
            <a:gdLst>
              <a:gd name="connsiteX0" fmla="*/ 640714 w 6917619"/>
              <a:gd name="connsiteY0" fmla="*/ 0 h 4895778"/>
              <a:gd name="connsiteX1" fmla="*/ 6917619 w 6917619"/>
              <a:gd name="connsiteY1" fmla="*/ 0 h 4895778"/>
              <a:gd name="connsiteX2" fmla="*/ 6917619 w 6917619"/>
              <a:gd name="connsiteY2" fmla="*/ 4252461 h 4895778"/>
              <a:gd name="connsiteX3" fmla="*/ 6276905 w 6917619"/>
              <a:gd name="connsiteY3" fmla="*/ 4895778 h 4895778"/>
              <a:gd name="connsiteX4" fmla="*/ 640714 w 6917619"/>
              <a:gd name="connsiteY4" fmla="*/ 4895778 h 4895778"/>
              <a:gd name="connsiteX5" fmla="*/ 0 w 6917619"/>
              <a:gd name="connsiteY5" fmla="*/ 4252461 h 4895778"/>
              <a:gd name="connsiteX6" fmla="*/ 0 w 6917619"/>
              <a:gd name="connsiteY6" fmla="*/ 643317 h 4895778"/>
              <a:gd name="connsiteX7" fmla="*/ 640714 w 6917619"/>
              <a:gd name="connsiteY7" fmla="*/ 0 h 489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7619" h="4895778">
                <a:moveTo>
                  <a:pt x="640714" y="0"/>
                </a:moveTo>
                <a:lnTo>
                  <a:pt x="6917619" y="0"/>
                </a:lnTo>
                <a:lnTo>
                  <a:pt x="6917619" y="4252461"/>
                </a:lnTo>
                <a:cubicBezTo>
                  <a:pt x="6917619" y="4607513"/>
                  <a:pt x="6630521" y="4895778"/>
                  <a:pt x="6276905" y="4895778"/>
                </a:cubicBezTo>
                <a:lnTo>
                  <a:pt x="640714" y="4895778"/>
                </a:lnTo>
                <a:cubicBezTo>
                  <a:pt x="287099" y="4895778"/>
                  <a:pt x="0" y="4607513"/>
                  <a:pt x="0" y="4252461"/>
                </a:cubicBezTo>
                <a:lnTo>
                  <a:pt x="0" y="643317"/>
                </a:lnTo>
                <a:cubicBezTo>
                  <a:pt x="0" y="288265"/>
                  <a:pt x="287099" y="0"/>
                  <a:pt x="6407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1AD52E-1789-01A1-2BBB-C4BD46A5C6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9556" y="1907516"/>
            <a:ext cx="3498564" cy="1186204"/>
          </a:xfrm>
        </p:spPr>
        <p:txBody>
          <a:bodyPr/>
          <a:lstStyle>
            <a:lvl1pPr>
              <a:lnSpc>
                <a:spcPct val="100952"/>
              </a:lnSpc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An example quote or statement that’s paired with the left image.</a:t>
            </a:r>
            <a:endParaRPr lang="en-GB"/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F5FB426E-22B9-2183-4B0B-A78B89CDDD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9555" y="3395374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Name</a:t>
            </a:r>
            <a:endParaRPr lang="en-GB"/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2A367706-A504-DD7D-152D-F9949108D1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29555" y="3611410"/>
            <a:ext cx="3498563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2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Presenter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307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624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with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9761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for slide with two images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5770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B780EE7-8B48-AE2D-938E-E4D65084B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1313" y="2687320"/>
            <a:ext cx="7909560" cy="4101878"/>
          </a:xfrm>
          <a:custGeom>
            <a:avLst/>
            <a:gdLst>
              <a:gd name="connsiteX0" fmla="*/ 640856 w 7909560"/>
              <a:gd name="connsiteY0" fmla="*/ 0 h 4101878"/>
              <a:gd name="connsiteX1" fmla="*/ 7909560 w 7909560"/>
              <a:gd name="connsiteY1" fmla="*/ 0 h 4101878"/>
              <a:gd name="connsiteX2" fmla="*/ 7909560 w 7909560"/>
              <a:gd name="connsiteY2" fmla="*/ 3461353 h 4101878"/>
              <a:gd name="connsiteX3" fmla="*/ 7268704 w 7909560"/>
              <a:gd name="connsiteY3" fmla="*/ 4101878 h 4101878"/>
              <a:gd name="connsiteX4" fmla="*/ 640856 w 7909560"/>
              <a:gd name="connsiteY4" fmla="*/ 4101878 h 4101878"/>
              <a:gd name="connsiteX5" fmla="*/ 0 w 7909560"/>
              <a:gd name="connsiteY5" fmla="*/ 3461353 h 4101878"/>
              <a:gd name="connsiteX6" fmla="*/ 0 w 7909560"/>
              <a:gd name="connsiteY6" fmla="*/ 640525 h 4101878"/>
              <a:gd name="connsiteX7" fmla="*/ 640856 w 7909560"/>
              <a:gd name="connsiteY7" fmla="*/ 0 h 4101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9560" h="4101878">
                <a:moveTo>
                  <a:pt x="640856" y="0"/>
                </a:moveTo>
                <a:lnTo>
                  <a:pt x="7909560" y="0"/>
                </a:lnTo>
                <a:lnTo>
                  <a:pt x="7909560" y="3461353"/>
                </a:lnTo>
                <a:cubicBezTo>
                  <a:pt x="7909560" y="3814847"/>
                  <a:pt x="7622380" y="4101878"/>
                  <a:pt x="7268704" y="4101878"/>
                </a:cubicBezTo>
                <a:lnTo>
                  <a:pt x="640856" y="4101878"/>
                </a:lnTo>
                <a:cubicBezTo>
                  <a:pt x="287180" y="4101878"/>
                  <a:pt x="0" y="3814847"/>
                  <a:pt x="0" y="3461353"/>
                </a:cubicBezTo>
                <a:lnTo>
                  <a:pt x="0" y="640525"/>
                </a:lnTo>
                <a:cubicBezTo>
                  <a:pt x="0" y="287031"/>
                  <a:pt x="287180" y="0"/>
                  <a:pt x="6408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17AD81-D334-8CCB-130E-2510F2DB65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5632" y="2687320"/>
            <a:ext cx="3975183" cy="4101813"/>
          </a:xfrm>
          <a:custGeom>
            <a:avLst/>
            <a:gdLst>
              <a:gd name="connsiteX0" fmla="*/ 0 w 3975183"/>
              <a:gd name="connsiteY0" fmla="*/ 0 h 4101813"/>
              <a:gd name="connsiteX1" fmla="*/ 3325754 w 3975183"/>
              <a:gd name="connsiteY1" fmla="*/ 0 h 4101813"/>
              <a:gd name="connsiteX2" fmla="*/ 3975183 w 3975183"/>
              <a:gd name="connsiteY2" fmla="*/ 649429 h 4101813"/>
              <a:gd name="connsiteX3" fmla="*/ 3975183 w 3975183"/>
              <a:gd name="connsiteY3" fmla="*/ 3452384 h 4101813"/>
              <a:gd name="connsiteX4" fmla="*/ 3325754 w 3975183"/>
              <a:gd name="connsiteY4" fmla="*/ 4101813 h 4101813"/>
              <a:gd name="connsiteX5" fmla="*/ 649429 w 3975183"/>
              <a:gd name="connsiteY5" fmla="*/ 4101813 h 4101813"/>
              <a:gd name="connsiteX6" fmla="*/ 0 w 3975183"/>
              <a:gd name="connsiteY6" fmla="*/ 3452384 h 41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5183" h="4101813">
                <a:moveTo>
                  <a:pt x="0" y="0"/>
                </a:moveTo>
                <a:lnTo>
                  <a:pt x="3325754" y="0"/>
                </a:lnTo>
                <a:cubicBezTo>
                  <a:pt x="3684209" y="0"/>
                  <a:pt x="3975183" y="290974"/>
                  <a:pt x="3975183" y="649429"/>
                </a:cubicBezTo>
                <a:lnTo>
                  <a:pt x="3975183" y="3452384"/>
                </a:lnTo>
                <a:cubicBezTo>
                  <a:pt x="3975183" y="3810839"/>
                  <a:pt x="3684209" y="4101813"/>
                  <a:pt x="3325754" y="4101813"/>
                </a:cubicBezTo>
                <a:lnTo>
                  <a:pt x="649429" y="4101813"/>
                </a:lnTo>
                <a:cubicBezTo>
                  <a:pt x="290974" y="4101813"/>
                  <a:pt x="0" y="3810839"/>
                  <a:pt x="0" y="345238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879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578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&amp; Body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992FF23-EEEA-EC59-C320-07847EF7C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2929573"/>
            <a:ext cx="3753993" cy="36712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/>
            </a:lvl1pPr>
            <a:lvl2pPr>
              <a:lnSpc>
                <a:spcPct val="103000"/>
              </a:lnSpc>
              <a:spcBef>
                <a:spcPts val="1000"/>
              </a:spcBef>
              <a:defRPr sz="1400" spc="-17"/>
            </a:lvl2pPr>
            <a:lvl3pPr>
              <a:lnSpc>
                <a:spcPct val="103000"/>
              </a:lnSpc>
              <a:spcBef>
                <a:spcPts val="1000"/>
              </a:spcBef>
              <a:defRPr sz="1400" spc="-17"/>
            </a:lvl3pPr>
            <a:lvl4pPr>
              <a:lnSpc>
                <a:spcPct val="103000"/>
              </a:lnSpc>
              <a:spcBef>
                <a:spcPts val="1000"/>
              </a:spcBef>
              <a:defRPr sz="1400" spc="-17"/>
            </a:lvl4pPr>
            <a:lvl5pPr>
              <a:lnSpc>
                <a:spcPct val="103000"/>
              </a:lnSpc>
              <a:spcBef>
                <a:spcPts val="1000"/>
              </a:spcBef>
              <a:defRPr sz="1400" spc="-1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7431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&amp; Body with Imag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0318-95A4-0902-F794-678773D63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2" y="1389952"/>
            <a:ext cx="3753871" cy="1170367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a headline and body copy paired with an image on the right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CBB53-1041-7DAB-E7B6-97645F7A27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8B73-9AC3-F0D9-9171-EF6C63353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75564C8-82EE-7E06-BE0C-6D70300B4A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0" y="1088496"/>
            <a:ext cx="3753872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A13FF3-B687-67A4-23E7-265ABB0E99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3127" y="1079261"/>
            <a:ext cx="6936481" cy="5681757"/>
          </a:xfrm>
          <a:custGeom>
            <a:avLst/>
            <a:gdLst>
              <a:gd name="connsiteX0" fmla="*/ 738074 w 6945717"/>
              <a:gd name="connsiteY0" fmla="*/ 0 h 5722013"/>
              <a:gd name="connsiteX1" fmla="*/ 6945717 w 6945717"/>
              <a:gd name="connsiteY1" fmla="*/ 0 h 5722013"/>
              <a:gd name="connsiteX2" fmla="*/ 6945717 w 6945717"/>
              <a:gd name="connsiteY2" fmla="*/ 4984557 h 5722013"/>
              <a:gd name="connsiteX3" fmla="*/ 6207643 w 6945717"/>
              <a:gd name="connsiteY3" fmla="*/ 5722013 h 5722013"/>
              <a:gd name="connsiteX4" fmla="*/ 738074 w 6945717"/>
              <a:gd name="connsiteY4" fmla="*/ 5722013 h 5722013"/>
              <a:gd name="connsiteX5" fmla="*/ 0 w 6945717"/>
              <a:gd name="connsiteY5" fmla="*/ 4984557 h 5722013"/>
              <a:gd name="connsiteX6" fmla="*/ 0 w 6945717"/>
              <a:gd name="connsiteY6" fmla="*/ 737456 h 5722013"/>
              <a:gd name="connsiteX7" fmla="*/ 738074 w 6945717"/>
              <a:gd name="connsiteY7" fmla="*/ 0 h 572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45717" h="5722013">
                <a:moveTo>
                  <a:pt x="738074" y="0"/>
                </a:moveTo>
                <a:lnTo>
                  <a:pt x="6945717" y="0"/>
                </a:lnTo>
                <a:lnTo>
                  <a:pt x="6945717" y="4984557"/>
                </a:lnTo>
                <a:cubicBezTo>
                  <a:pt x="6945717" y="5391542"/>
                  <a:pt x="6614968" y="5722013"/>
                  <a:pt x="6207643" y="5722013"/>
                </a:cubicBezTo>
                <a:lnTo>
                  <a:pt x="738074" y="5722013"/>
                </a:lnTo>
                <a:cubicBezTo>
                  <a:pt x="330748" y="5722013"/>
                  <a:pt x="0" y="5391542"/>
                  <a:pt x="0" y="4984557"/>
                </a:cubicBezTo>
                <a:lnTo>
                  <a:pt x="0" y="737456"/>
                </a:lnTo>
                <a:cubicBezTo>
                  <a:pt x="0" y="330472"/>
                  <a:pt x="330748" y="0"/>
                  <a:pt x="7380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CA6B0C59-8056-303C-E693-D8259BDDE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3299031"/>
            <a:ext cx="3753993" cy="3301794"/>
          </a:xfrm>
        </p:spPr>
        <p:txBody>
          <a:bodyPr/>
          <a:lstStyle>
            <a:lvl1pPr marL="237744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1pPr>
            <a:lvl2pPr marL="40233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2pPr>
            <a:lvl3pPr marL="58521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3pPr>
            <a:lvl4pPr marL="76809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4pPr>
            <a:lvl5pPr marL="950976">
              <a:lnSpc>
                <a:spcPct val="93000"/>
              </a:lnSpc>
              <a:spcBef>
                <a:spcPts val="1000"/>
              </a:spcBef>
              <a:defRPr sz="12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6E77B6E7-D661-181A-C34B-26EF05233E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80" y="2938535"/>
            <a:ext cx="3753871" cy="158693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31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475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Image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5CCA-5D37-E7FD-CCAE-12717F2D4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1" y="1389953"/>
            <a:ext cx="7736679" cy="414463"/>
          </a:xfrm>
        </p:spPr>
        <p:txBody>
          <a:bodyPr/>
          <a:lstStyle>
            <a:lvl1pPr>
              <a:defRPr spc="-26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73D17-CFDE-020B-1330-4EC91B5840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68210-59C1-2532-0C3A-020785A34F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F5AE32F-DE82-2DBA-EC62-5CC5CA08FE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7742686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82B53A0F-9769-BFF4-2FB4-C73782AF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178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44FE4434-42C1-8BF3-BAA6-94B7EF00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178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5C89FC96-610E-E710-FD59-5C6C4E45C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94141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B5B3D3B-C4B0-1E8B-C229-72FF828AB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4141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A7182F27-B965-0E1E-DE4D-C6A3690AAC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31104" y="2712495"/>
            <a:ext cx="3803717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A5796F65-7D98-EAE7-B767-CEEB4AA474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1104" y="3081901"/>
            <a:ext cx="3803717" cy="36958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95857"/>
              </a:lnSpc>
              <a:buNone/>
              <a:defRPr lang="en-GB" sz="1200" spc="-16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br>
              <a:rPr lang="en-US"/>
            </a:br>
            <a:r>
              <a:rPr lang="en-US"/>
              <a:t>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endParaRPr lang="en-GB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59A2748-5765-3F1C-D7FC-C9C2898E6DC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7D97A640-D804-0F5B-92BA-4FF2AA9F178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33C8B42-5CD4-4659-31F0-5175AEA6C24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3695700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561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Images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087A9-08E7-6C44-BF3A-F150866106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9407-E72F-B7C0-5F24-2EB64881A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EC308B-3AA4-6AD2-F3B3-058F2A2865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78" y="1088496"/>
            <a:ext cx="3803647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Our Values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E0117899-3E76-D3F5-0D23-B952DA5767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7175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33">
            <a:extLst>
              <a:ext uri="{FF2B5EF4-FFF2-40B4-BE49-F238E27FC236}">
                <a16:creationId xmlns:a16="http://schemas.microsoft.com/office/drawing/2014/main" id="{47E5F4DB-7207-C400-8FC3-3AF767281D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57175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33">
            <a:extLst>
              <a:ext uri="{FF2B5EF4-FFF2-40B4-BE49-F238E27FC236}">
                <a16:creationId xmlns:a16="http://schemas.microsoft.com/office/drawing/2014/main" id="{AC2F4AC6-1718-66CC-B3E7-9C6D2CFE59D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19414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836F6D11-A1CF-A88C-B5A0-6A0A4E3FAE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31171" y="1879599"/>
            <a:ext cx="3803650" cy="2908300"/>
          </a:xfrm>
          <a:prstGeom prst="roundRect">
            <a:avLst>
              <a:gd name="adj" fmla="val 3567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B23F71E5-5599-C507-0217-57BC661E72F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4141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62143D84-C449-472E-13E7-11DD5B73948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1107" y="4996873"/>
            <a:ext cx="3803650" cy="1603952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193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4738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8907C-A293-A24F-523C-5514B8DCF6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BDE1-1549-02AE-0796-64039E1E8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15E787-00FA-16DF-09F6-81048AA45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four columns of information with icons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8FDF0A5-B915-C040-7FB2-B05758D073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79" name="Text Placeholder 24">
            <a:extLst>
              <a:ext uri="{FF2B5EF4-FFF2-40B4-BE49-F238E27FC236}">
                <a16:creationId xmlns:a16="http://schemas.microsoft.com/office/drawing/2014/main" id="{A0369386-5491-B34C-6363-951903233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id="{54BA11C3-44D1-0024-87F6-1334B5D0AF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1" name="Text Placeholder 24">
            <a:extLst>
              <a:ext uri="{FF2B5EF4-FFF2-40B4-BE49-F238E27FC236}">
                <a16:creationId xmlns:a16="http://schemas.microsoft.com/office/drawing/2014/main" id="{AF394668-C890-66A2-CEB8-9580654AF0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4204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5DCB598D-3D78-24FF-514B-2D325AFFFE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4204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3" name="Text Placeholder 24">
            <a:extLst>
              <a:ext uri="{FF2B5EF4-FFF2-40B4-BE49-F238E27FC236}">
                <a16:creationId xmlns:a16="http://schemas.microsoft.com/office/drawing/2014/main" id="{BD0630B3-E95F-2FE2-AF86-AA84BF2D87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6504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F8313115-A112-3FE0-6FB9-7D4DD314938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504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5" name="Text Placeholder 24">
            <a:extLst>
              <a:ext uri="{FF2B5EF4-FFF2-40B4-BE49-F238E27FC236}">
                <a16:creationId xmlns:a16="http://schemas.microsoft.com/office/drawing/2014/main" id="{8EBDB70F-A626-208F-4EED-1D636825EF5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5886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86" name="Text Placeholder 18">
            <a:extLst>
              <a:ext uri="{FF2B5EF4-FFF2-40B4-BE49-F238E27FC236}">
                <a16:creationId xmlns:a16="http://schemas.microsoft.com/office/drawing/2014/main" id="{30268815-D602-794A-3F1C-7DA8ABFD6B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15886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311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52366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for three columns of information with icons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363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363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36D3AC0F-9CCE-BDEB-91EC-43E4BC5CB1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0365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D7DE6A89-B9BA-2BC0-5715-AD30DD39E0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00365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B96FE59-26F5-1285-5BE3-7FA0E4844B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7371" y="3891754"/>
            <a:ext cx="2608450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2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BD02C11-4BCB-8B90-A0FE-FB87EDDC4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7371" y="4261104"/>
            <a:ext cx="2608447" cy="2327483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25558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1081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 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19762" y="1098656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19763" y="1508760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02DE45A7-F0D6-9AE9-EEAE-33D9CAF4B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9762" y="2720075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22502C5A-341A-BA01-1E99-66D29F7CE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9763" y="3130179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0A402D78-651B-49D4-8CB0-D8BB60B2C4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9762" y="4336414"/>
            <a:ext cx="4711129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C3EFA1-D458-DCCA-B07C-3DF36495AE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19763" y="4746518"/>
            <a:ext cx="4711124" cy="947971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1686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582737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four</a:t>
            </a:r>
            <a:br>
              <a:rPr lang="en-US"/>
            </a:br>
            <a:r>
              <a:rPr lang="en-US"/>
              <a:t>sections of text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531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E7B860E8-17F5-1CC5-033A-E998F80617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7531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650890D0-27EF-EEA5-0CBD-BCC3C1B147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12627" y="129967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DB2E498E-FC14-A65E-9456-10AFF30225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12627" y="170977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13C5BA7-39B1-76D6-B614-954B5847D3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7531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CB74D52F-7941-DED7-3799-706AF0DB8A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7531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F225D206-8F03-0CC0-4677-1C3237B30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627" y="3727020"/>
            <a:ext cx="2876486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9" dirty="0">
                <a:solidFill>
                  <a:schemeClr val="tx1"/>
                </a:solidFill>
                <a:latin typeface="Funnel Sans Medium" pitchFamily="2" charset="0"/>
              </a:defRPr>
            </a:lvl1pPr>
          </a:lstStyle>
          <a:p>
            <a:pPr marL="0" lvl="0" indent="0">
              <a:buNone/>
            </a:pPr>
            <a:r>
              <a:rPr lang="en-US"/>
              <a:t>Subhead</a:t>
            </a:r>
            <a:endParaRPr lang="en-GB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4FBE3359-784B-AF8D-8324-03D79D8516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12627" y="4137124"/>
            <a:ext cx="2876483" cy="1378866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386754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eces of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671EB-1366-5A12-5AB6-F1347BBCC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pc="0"/>
            </a:lvl1pPr>
          </a:lstStyle>
          <a:p>
            <a:r>
              <a:rPr lang="en-US"/>
              <a:t>Confidential</a:t>
            </a:r>
            <a:endParaRPr lang="en-GB" spc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607D4-DC4A-5910-0CEB-DA151C689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A687B793-7A0E-F04C-2C67-CA196864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13" y="1389953"/>
            <a:ext cx="4028947" cy="797984"/>
          </a:xfrm>
        </p:spPr>
        <p:txBody>
          <a:bodyPr/>
          <a:lstStyle>
            <a:lvl1pPr>
              <a:lnSpc>
                <a:spcPct val="102381"/>
              </a:lnSpc>
              <a:defRPr spc="-22">
                <a:solidFill>
                  <a:schemeClr val="tx1"/>
                </a:solidFill>
              </a:defRPr>
            </a:lvl1pPr>
          </a:lstStyle>
          <a:p>
            <a:r>
              <a:rPr lang="en-US"/>
              <a:t>A template with three</a:t>
            </a:r>
            <a:br>
              <a:rPr lang="en-US"/>
            </a:br>
            <a:r>
              <a:rPr lang="en-US"/>
              <a:t>pieces of data</a:t>
            </a:r>
            <a:endParaRPr lang="en-GB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5543C33-7787-DA7D-4DB0-7F9982E0C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7181" y="1088496"/>
            <a:ext cx="4028948" cy="158693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Funnel Sans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Label</a:t>
            </a:r>
            <a:endParaRPr lang="en-GB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3D3B87E0-DD3B-ADBE-2468-C2B064F6EE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7809" y="1355663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32AC2A8-0CD2-B276-6ECA-49CF1F7D95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7181" y="2395728"/>
            <a:ext cx="4028947" cy="3239654"/>
          </a:xfrm>
        </p:spPr>
        <p:txBody>
          <a:bodyPr/>
          <a:lstStyle>
            <a:lvl1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1pPr>
            <a:lvl2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2pPr>
            <a:lvl3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chemeClr val="tx2"/>
                </a:solidFill>
              </a:defRPr>
            </a:lvl3pPr>
            <a:lvl4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4pPr>
            <a:lvl5pPr>
              <a:lnSpc>
                <a:spcPct val="103000"/>
              </a:lnSpc>
              <a:spcBef>
                <a:spcPts val="1000"/>
              </a:spcBef>
              <a:defRPr sz="1400" spc="-17">
                <a:solidFill>
                  <a:srgbClr val="FF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EAA277A7-7321-7A88-5F93-190B60652E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7809" y="2149184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13238D00-3EAE-DC62-E521-5E63FD0B9B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7809" y="2992341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8CF5F73C-4783-7687-CD38-BDAE755336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7809" y="3785862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5D47E480-92FD-B068-A30D-AB1FCD626A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7809" y="4623196"/>
            <a:ext cx="3803078" cy="644587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4900" spc="-121" dirty="0">
                <a:solidFill>
                  <a:schemeClr val="tx1"/>
                </a:solidFill>
                <a:latin typeface="+mj-lt"/>
                <a:ea typeface="Season Mix-TRIAL" panose="020E0504070406020203" pitchFamily="34" charset="0"/>
                <a:cs typeface="Season Mix-TRIAL" panose="020E0504070406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XXX%</a:t>
            </a:r>
            <a:endParaRPr lang="en-GB"/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331C8AFE-CB23-661B-7C14-586A53BBD6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7809" y="5416717"/>
            <a:ext cx="3803078" cy="218665"/>
          </a:xfrm>
        </p:spPr>
        <p:txBody>
          <a:bodyPr vert="horz" lIns="0" tIns="0" rIns="0" bIns="0" rtlCol="0">
            <a:noAutofit/>
          </a:bodyPr>
          <a:lstStyle>
            <a:lvl1pPr>
              <a:buNone/>
              <a:defRPr lang="en-GB" sz="1400" spc="-17" dirty="0"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da-DK"/>
              <a:t>Lorem ipsum dolor sit amet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0873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EFC1-1303-072F-1268-89AE9D9D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DFD45-BBA2-0FD1-6247-2B24FE11A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3A8C-033D-5957-3864-393DC98EAF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28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33642-E6A3-4C5F-3A36-9FEF361F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D7D81-BE25-A6F1-3032-60F7A1E4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E0BC-72C0-DE90-5A98-38BAC9CA3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36855-D560-7AF2-9CB7-00E82541D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FF174-0C8B-41F2-9A46-1C3276C99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4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317050-C30C-E74C-C1F5-1B4FC8F3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89953"/>
            <a:ext cx="11673713" cy="7741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9E737-7895-43E7-91EE-24C98766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111" y="2335371"/>
            <a:ext cx="11673712" cy="37098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EB-5441-53CA-2FEE-EBCF971E1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08812" y="255984"/>
            <a:ext cx="871608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900" spc="-39">
                <a:solidFill>
                  <a:schemeClr val="tx2"/>
                </a:solidFill>
              </a:defRPr>
            </a:lvl1pPr>
          </a:lstStyle>
          <a:p>
            <a:r>
              <a:rPr lang="en-US"/>
              <a:t>Confidential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6E8A7-6991-B8DA-83B1-EBCD0C2AD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8119" y="255984"/>
            <a:ext cx="306703" cy="1339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en-GB" sz="900" spc="-39" smtClean="0">
                <a:solidFill>
                  <a:schemeClr val="tx2"/>
                </a:solidFill>
              </a:defRPr>
            </a:lvl1pPr>
          </a:lstStyle>
          <a:p>
            <a:fld id="{F41E5F93-45D3-472F-9EA1-BCB47A04FF6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aphic 8">
            <a:extLst>
              <a:ext uri="{FF2B5EF4-FFF2-40B4-BE49-F238E27FC236}">
                <a16:creationId xmlns:a16="http://schemas.microsoft.com/office/drawing/2014/main" id="{D8A8E73E-4DB6-FA58-001E-2368A417CCAB}"/>
              </a:ext>
            </a:extLst>
          </p:cNvPr>
          <p:cNvGrpSpPr/>
          <p:nvPr/>
        </p:nvGrpSpPr>
        <p:grpSpPr>
          <a:xfrm>
            <a:off x="257178" y="255588"/>
            <a:ext cx="895347" cy="306976"/>
            <a:chOff x="257178" y="255588"/>
            <a:chExt cx="895347" cy="306976"/>
          </a:xfrm>
          <a:solidFill>
            <a:srgbClr val="00000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EB496F3-A661-4DBF-0232-FCB4C123B869}"/>
                </a:ext>
              </a:extLst>
            </p:cNvPr>
            <p:cNvSpPr/>
            <p:nvPr/>
          </p:nvSpPr>
          <p:spPr>
            <a:xfrm>
              <a:off x="327676" y="255588"/>
              <a:ext cx="159207" cy="192734"/>
            </a:xfrm>
            <a:custGeom>
              <a:avLst/>
              <a:gdLst>
                <a:gd name="connsiteX0" fmla="*/ 158895 w 159207"/>
                <a:gd name="connsiteY0" fmla="*/ 106567 h 192734"/>
                <a:gd name="connsiteX1" fmla="*/ 129009 w 159207"/>
                <a:gd name="connsiteY1" fmla="*/ 48240 h 192734"/>
                <a:gd name="connsiteX2" fmla="*/ 79602 w 159207"/>
                <a:gd name="connsiteY2" fmla="*/ 0 h 192734"/>
                <a:gd name="connsiteX3" fmla="*/ 53905 w 159207"/>
                <a:gd name="connsiteY3" fmla="*/ 23666 h 192734"/>
                <a:gd name="connsiteX4" fmla="*/ 30194 w 159207"/>
                <a:gd name="connsiteY4" fmla="*/ 48240 h 192734"/>
                <a:gd name="connsiteX5" fmla="*/ 308 w 159207"/>
                <a:gd name="connsiteY5" fmla="*/ 106567 h 192734"/>
                <a:gd name="connsiteX6" fmla="*/ 78866 w 159207"/>
                <a:gd name="connsiteY6" fmla="*/ 192728 h 192734"/>
                <a:gd name="connsiteX7" fmla="*/ 81251 w 159207"/>
                <a:gd name="connsiteY7" fmla="*/ 192728 h 192734"/>
                <a:gd name="connsiteX8" fmla="*/ 81699 w 159207"/>
                <a:gd name="connsiteY8" fmla="*/ 192728 h 192734"/>
                <a:gd name="connsiteX9" fmla="*/ 158900 w 159207"/>
                <a:gd name="connsiteY9" fmla="*/ 106567 h 192734"/>
                <a:gd name="connsiteX10" fmla="*/ 158895 w 159207"/>
                <a:gd name="connsiteY10" fmla="*/ 106567 h 192734"/>
                <a:gd name="connsiteX11" fmla="*/ 81308 w 159207"/>
                <a:gd name="connsiteY11" fmla="*/ 179399 h 192734"/>
                <a:gd name="connsiteX12" fmla="*/ 80063 w 159207"/>
                <a:gd name="connsiteY12" fmla="*/ 179399 h 192734"/>
                <a:gd name="connsiteX13" fmla="*/ 79140 w 159207"/>
                <a:gd name="connsiteY13" fmla="*/ 179399 h 192734"/>
                <a:gd name="connsiteX14" fmla="*/ 78866 w 159207"/>
                <a:gd name="connsiteY14" fmla="*/ 179399 h 192734"/>
                <a:gd name="connsiteX15" fmla="*/ 17138 w 159207"/>
                <a:gd name="connsiteY15" fmla="*/ 108254 h 192734"/>
                <a:gd name="connsiteX16" fmla="*/ 43900 w 159207"/>
                <a:gd name="connsiteY16" fmla="*/ 65072 h 192734"/>
                <a:gd name="connsiteX17" fmla="*/ 79606 w 159207"/>
                <a:gd name="connsiteY17" fmla="*/ 29806 h 192734"/>
                <a:gd name="connsiteX18" fmla="*/ 115304 w 159207"/>
                <a:gd name="connsiteY18" fmla="*/ 65072 h 192734"/>
                <a:gd name="connsiteX19" fmla="*/ 142069 w 159207"/>
                <a:gd name="connsiteY19" fmla="*/ 108254 h 192734"/>
                <a:gd name="connsiteX20" fmla="*/ 81312 w 159207"/>
                <a:gd name="connsiteY20" fmla="*/ 179395 h 192734"/>
                <a:gd name="connsiteX21" fmla="*/ 81308 w 159207"/>
                <a:gd name="connsiteY21" fmla="*/ 179399 h 192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207" h="192734">
                  <a:moveTo>
                    <a:pt x="158895" y="106567"/>
                  </a:moveTo>
                  <a:cubicBezTo>
                    <a:pt x="157656" y="83945"/>
                    <a:pt x="144539" y="66206"/>
                    <a:pt x="129009" y="48240"/>
                  </a:cubicBezTo>
                  <a:cubicBezTo>
                    <a:pt x="114399" y="31347"/>
                    <a:pt x="96852" y="15678"/>
                    <a:pt x="79602" y="0"/>
                  </a:cubicBezTo>
                  <a:cubicBezTo>
                    <a:pt x="70972" y="7837"/>
                    <a:pt x="62272" y="15678"/>
                    <a:pt x="53905" y="23666"/>
                  </a:cubicBezTo>
                  <a:cubicBezTo>
                    <a:pt x="45539" y="31654"/>
                    <a:pt x="37499" y="39798"/>
                    <a:pt x="30194" y="48240"/>
                  </a:cubicBezTo>
                  <a:cubicBezTo>
                    <a:pt x="14664" y="66206"/>
                    <a:pt x="1547" y="83945"/>
                    <a:pt x="308" y="106567"/>
                  </a:cubicBezTo>
                  <a:cubicBezTo>
                    <a:pt x="-3811" y="151328"/>
                    <a:pt x="33997" y="193305"/>
                    <a:pt x="78866" y="192728"/>
                  </a:cubicBezTo>
                  <a:lnTo>
                    <a:pt x="81251" y="192728"/>
                  </a:lnTo>
                  <a:cubicBezTo>
                    <a:pt x="81402" y="192728"/>
                    <a:pt x="81548" y="192728"/>
                    <a:pt x="81699" y="192728"/>
                  </a:cubicBezTo>
                  <a:cubicBezTo>
                    <a:pt x="125974" y="192454"/>
                    <a:pt x="162977" y="150874"/>
                    <a:pt x="158900" y="106567"/>
                  </a:cubicBezTo>
                  <a:lnTo>
                    <a:pt x="158895" y="106567"/>
                  </a:lnTo>
                  <a:close/>
                  <a:moveTo>
                    <a:pt x="81308" y="179399"/>
                  </a:moveTo>
                  <a:cubicBezTo>
                    <a:pt x="80898" y="179399"/>
                    <a:pt x="80478" y="179399"/>
                    <a:pt x="80063" y="179399"/>
                  </a:cubicBezTo>
                  <a:lnTo>
                    <a:pt x="79140" y="179399"/>
                  </a:lnTo>
                  <a:cubicBezTo>
                    <a:pt x="79045" y="179399"/>
                    <a:pt x="78956" y="179399"/>
                    <a:pt x="78866" y="179399"/>
                  </a:cubicBezTo>
                  <a:cubicBezTo>
                    <a:pt x="42353" y="179518"/>
                    <a:pt x="11345" y="144512"/>
                    <a:pt x="17138" y="108254"/>
                  </a:cubicBezTo>
                  <a:cubicBezTo>
                    <a:pt x="19189" y="90355"/>
                    <a:pt x="27672" y="81652"/>
                    <a:pt x="43900" y="65072"/>
                  </a:cubicBezTo>
                  <a:cubicBezTo>
                    <a:pt x="56116" y="52589"/>
                    <a:pt x="68488" y="41963"/>
                    <a:pt x="79606" y="29806"/>
                  </a:cubicBezTo>
                  <a:cubicBezTo>
                    <a:pt x="90720" y="41968"/>
                    <a:pt x="103092" y="52593"/>
                    <a:pt x="115304" y="65072"/>
                  </a:cubicBezTo>
                  <a:cubicBezTo>
                    <a:pt x="131536" y="81658"/>
                    <a:pt x="140020" y="90359"/>
                    <a:pt x="142069" y="108254"/>
                  </a:cubicBezTo>
                  <a:cubicBezTo>
                    <a:pt x="147810" y="144186"/>
                    <a:pt x="117406" y="178899"/>
                    <a:pt x="81312" y="179395"/>
                  </a:cubicBezTo>
                  <a:lnTo>
                    <a:pt x="81308" y="179399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5404865-E213-33CC-D712-771E46F7FD66}"/>
                </a:ext>
              </a:extLst>
            </p:cNvPr>
            <p:cNvSpPr/>
            <p:nvPr/>
          </p:nvSpPr>
          <p:spPr>
            <a:xfrm>
              <a:off x="380344" y="378826"/>
              <a:ext cx="177022" cy="158693"/>
            </a:xfrm>
            <a:custGeom>
              <a:avLst/>
              <a:gdLst>
                <a:gd name="connsiteX0" fmla="*/ 11643 w 177022"/>
                <a:gd name="connsiteY0" fmla="*/ 37789 h 158693"/>
                <a:gd name="connsiteX1" fmla="*/ 11416 w 177022"/>
                <a:gd name="connsiteY1" fmla="*/ 38176 h 158693"/>
                <a:gd name="connsiteX2" fmla="*/ 10224 w 177022"/>
                <a:gd name="connsiteY2" fmla="*/ 40246 h 158693"/>
                <a:gd name="connsiteX3" fmla="*/ 45346 w 177022"/>
                <a:gd name="connsiteY3" fmla="*/ 151559 h 158693"/>
                <a:gd name="connsiteX4" fmla="*/ 110657 w 177022"/>
                <a:gd name="connsiteY4" fmla="*/ 154768 h 158693"/>
                <a:gd name="connsiteX5" fmla="*/ 143738 w 177022"/>
                <a:gd name="connsiteY5" fmla="*/ 146459 h 158693"/>
                <a:gd name="connsiteX6" fmla="*/ 177022 w 177022"/>
                <a:gd name="connsiteY6" fmla="*/ 135975 h 158693"/>
                <a:gd name="connsiteX7" fmla="*/ 160069 w 177022"/>
                <a:gd name="connsiteY7" fmla="*/ 68937 h 158693"/>
                <a:gd name="connsiteX8" fmla="*/ 124645 w 177022"/>
                <a:gd name="connsiteY8" fmla="*/ 13820 h 158693"/>
                <a:gd name="connsiteX9" fmla="*/ 11643 w 177022"/>
                <a:gd name="connsiteY9" fmla="*/ 37789 h 158693"/>
                <a:gd name="connsiteX10" fmla="*/ 114771 w 177022"/>
                <a:gd name="connsiteY10" fmla="*/ 27593 h 158693"/>
                <a:gd name="connsiteX11" fmla="*/ 138681 w 177022"/>
                <a:gd name="connsiteY11" fmla="*/ 72430 h 158693"/>
                <a:gd name="connsiteX12" fmla="*/ 151288 w 177022"/>
                <a:gd name="connsiteY12" fmla="*/ 121067 h 158693"/>
                <a:gd name="connsiteX13" fmla="*/ 102978 w 177022"/>
                <a:gd name="connsiteY13" fmla="*/ 134444 h 158693"/>
                <a:gd name="connsiteX14" fmla="*/ 52308 w 177022"/>
                <a:gd name="connsiteY14" fmla="*/ 136093 h 158693"/>
                <a:gd name="connsiteX15" fmla="*/ 21733 w 177022"/>
                <a:gd name="connsiteY15" fmla="*/ 46911 h 158693"/>
                <a:gd name="connsiteX16" fmla="*/ 21875 w 177022"/>
                <a:gd name="connsiteY16" fmla="*/ 46675 h 158693"/>
                <a:gd name="connsiteX17" fmla="*/ 22336 w 177022"/>
                <a:gd name="connsiteY17" fmla="*/ 45871 h 158693"/>
                <a:gd name="connsiteX18" fmla="*/ 22959 w 177022"/>
                <a:gd name="connsiteY18" fmla="*/ 44789 h 158693"/>
                <a:gd name="connsiteX19" fmla="*/ 114771 w 177022"/>
                <a:gd name="connsiteY19" fmla="*/ 27589 h 158693"/>
                <a:gd name="connsiteX20" fmla="*/ 114771 w 177022"/>
                <a:gd name="connsiteY20" fmla="*/ 27593 h 158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022" h="158693">
                  <a:moveTo>
                    <a:pt x="11643" y="37789"/>
                  </a:moveTo>
                  <a:cubicBezTo>
                    <a:pt x="11562" y="37917"/>
                    <a:pt x="11492" y="38044"/>
                    <a:pt x="11416" y="38176"/>
                  </a:cubicBezTo>
                  <a:lnTo>
                    <a:pt x="10224" y="40246"/>
                  </a:lnTo>
                  <a:cubicBezTo>
                    <a:pt x="-12710" y="78934"/>
                    <a:pt x="4634" y="132756"/>
                    <a:pt x="45346" y="151559"/>
                  </a:cubicBezTo>
                  <a:cubicBezTo>
                    <a:pt x="65500" y="161792"/>
                    <a:pt x="87378" y="159272"/>
                    <a:pt x="110657" y="154768"/>
                  </a:cubicBezTo>
                  <a:cubicBezTo>
                    <a:pt x="121600" y="152646"/>
                    <a:pt x="132653" y="149734"/>
                    <a:pt x="143738" y="146459"/>
                  </a:cubicBezTo>
                  <a:cubicBezTo>
                    <a:pt x="154818" y="143183"/>
                    <a:pt x="165942" y="139549"/>
                    <a:pt x="177022" y="135975"/>
                  </a:cubicBezTo>
                  <a:cubicBezTo>
                    <a:pt x="172111" y="113145"/>
                    <a:pt x="167351" y="90075"/>
                    <a:pt x="160069" y="68937"/>
                  </a:cubicBezTo>
                  <a:cubicBezTo>
                    <a:pt x="152320" y="46472"/>
                    <a:pt x="143559" y="26209"/>
                    <a:pt x="124645" y="13820"/>
                  </a:cubicBezTo>
                  <a:cubicBezTo>
                    <a:pt x="88419" y="-11874"/>
                    <a:pt x="34016" y="-525"/>
                    <a:pt x="11643" y="37789"/>
                  </a:cubicBezTo>
                  <a:close/>
                  <a:moveTo>
                    <a:pt x="114771" y="27593"/>
                  </a:moveTo>
                  <a:cubicBezTo>
                    <a:pt x="129202" y="38323"/>
                    <a:pt x="132474" y="50040"/>
                    <a:pt x="138681" y="72430"/>
                  </a:cubicBezTo>
                  <a:cubicBezTo>
                    <a:pt x="143352" y="89276"/>
                    <a:pt x="146339" y="105337"/>
                    <a:pt x="151288" y="121067"/>
                  </a:cubicBezTo>
                  <a:cubicBezTo>
                    <a:pt x="135226" y="124640"/>
                    <a:pt x="119866" y="130076"/>
                    <a:pt x="102978" y="134444"/>
                  </a:cubicBezTo>
                  <a:cubicBezTo>
                    <a:pt x="80544" y="140243"/>
                    <a:pt x="68790" y="143259"/>
                    <a:pt x="52308" y="136093"/>
                  </a:cubicBezTo>
                  <a:cubicBezTo>
                    <a:pt x="18099" y="122996"/>
                    <a:pt x="3376" y="78561"/>
                    <a:pt x="21733" y="46911"/>
                  </a:cubicBezTo>
                  <a:cubicBezTo>
                    <a:pt x="21776" y="46835"/>
                    <a:pt x="21823" y="46755"/>
                    <a:pt x="21875" y="46675"/>
                  </a:cubicBezTo>
                  <a:lnTo>
                    <a:pt x="22336" y="45871"/>
                  </a:lnTo>
                  <a:cubicBezTo>
                    <a:pt x="22539" y="45507"/>
                    <a:pt x="22747" y="45148"/>
                    <a:pt x="22959" y="44789"/>
                  </a:cubicBezTo>
                  <a:cubicBezTo>
                    <a:pt x="41434" y="13692"/>
                    <a:pt x="86610" y="4636"/>
                    <a:pt x="114771" y="27589"/>
                  </a:cubicBezTo>
                  <a:lnTo>
                    <a:pt x="114771" y="27593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6CFE573-0387-CB48-F17A-213B6C9CA169}"/>
                </a:ext>
              </a:extLst>
            </p:cNvPr>
            <p:cNvSpPr/>
            <p:nvPr/>
          </p:nvSpPr>
          <p:spPr>
            <a:xfrm>
              <a:off x="257178" y="378821"/>
              <a:ext cx="177022" cy="158699"/>
            </a:xfrm>
            <a:custGeom>
              <a:avLst/>
              <a:gdLst>
                <a:gd name="connsiteX0" fmla="*/ 52377 w 177022"/>
                <a:gd name="connsiteY0" fmla="*/ 13825 h 158699"/>
                <a:gd name="connsiteX1" fmla="*/ 16953 w 177022"/>
                <a:gd name="connsiteY1" fmla="*/ 68942 h 158699"/>
                <a:gd name="connsiteX2" fmla="*/ 0 w 177022"/>
                <a:gd name="connsiteY2" fmla="*/ 135975 h 158699"/>
                <a:gd name="connsiteX3" fmla="*/ 33284 w 177022"/>
                <a:gd name="connsiteY3" fmla="*/ 146464 h 158699"/>
                <a:gd name="connsiteX4" fmla="*/ 66366 w 177022"/>
                <a:gd name="connsiteY4" fmla="*/ 154773 h 158699"/>
                <a:gd name="connsiteX5" fmla="*/ 131676 w 177022"/>
                <a:gd name="connsiteY5" fmla="*/ 151564 h 158699"/>
                <a:gd name="connsiteX6" fmla="*/ 166798 w 177022"/>
                <a:gd name="connsiteY6" fmla="*/ 40251 h 158699"/>
                <a:gd name="connsiteX7" fmla="*/ 165606 w 177022"/>
                <a:gd name="connsiteY7" fmla="*/ 38177 h 158699"/>
                <a:gd name="connsiteX8" fmla="*/ 165380 w 177022"/>
                <a:gd name="connsiteY8" fmla="*/ 37789 h 158699"/>
                <a:gd name="connsiteX9" fmla="*/ 52377 w 177022"/>
                <a:gd name="connsiteY9" fmla="*/ 13820 h 158699"/>
                <a:gd name="connsiteX10" fmla="*/ 52377 w 177022"/>
                <a:gd name="connsiteY10" fmla="*/ 13825 h 158699"/>
                <a:gd name="connsiteX11" fmla="*/ 154068 w 177022"/>
                <a:gd name="connsiteY11" fmla="*/ 44798 h 158699"/>
                <a:gd name="connsiteX12" fmla="*/ 154690 w 177022"/>
                <a:gd name="connsiteY12" fmla="*/ 45881 h 158699"/>
                <a:gd name="connsiteX13" fmla="*/ 155152 w 177022"/>
                <a:gd name="connsiteY13" fmla="*/ 46684 h 158699"/>
                <a:gd name="connsiteX14" fmla="*/ 155293 w 177022"/>
                <a:gd name="connsiteY14" fmla="*/ 46921 h 158699"/>
                <a:gd name="connsiteX15" fmla="*/ 124719 w 177022"/>
                <a:gd name="connsiteY15" fmla="*/ 136102 h 158699"/>
                <a:gd name="connsiteX16" fmla="*/ 74048 w 177022"/>
                <a:gd name="connsiteY16" fmla="*/ 134453 h 158699"/>
                <a:gd name="connsiteX17" fmla="*/ 25738 w 177022"/>
                <a:gd name="connsiteY17" fmla="*/ 121077 h 158699"/>
                <a:gd name="connsiteX18" fmla="*/ 38346 w 177022"/>
                <a:gd name="connsiteY18" fmla="*/ 72440 h 158699"/>
                <a:gd name="connsiteX19" fmla="*/ 62256 w 177022"/>
                <a:gd name="connsiteY19" fmla="*/ 27603 h 158699"/>
                <a:gd name="connsiteX20" fmla="*/ 154068 w 177022"/>
                <a:gd name="connsiteY20" fmla="*/ 44803 h 158699"/>
                <a:gd name="connsiteX21" fmla="*/ 154068 w 177022"/>
                <a:gd name="connsiteY21" fmla="*/ 44798 h 158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7022" h="158699">
                  <a:moveTo>
                    <a:pt x="52377" y="13825"/>
                  </a:moveTo>
                  <a:cubicBezTo>
                    <a:pt x="33463" y="26213"/>
                    <a:pt x="24702" y="46476"/>
                    <a:pt x="16953" y="68942"/>
                  </a:cubicBezTo>
                  <a:cubicBezTo>
                    <a:pt x="9671" y="90080"/>
                    <a:pt x="4911" y="113150"/>
                    <a:pt x="0" y="135975"/>
                  </a:cubicBezTo>
                  <a:cubicBezTo>
                    <a:pt x="11081" y="139553"/>
                    <a:pt x="22204" y="143188"/>
                    <a:pt x="33284" y="146464"/>
                  </a:cubicBezTo>
                  <a:cubicBezTo>
                    <a:pt x="44365" y="149739"/>
                    <a:pt x="55417" y="152650"/>
                    <a:pt x="66366" y="154773"/>
                  </a:cubicBezTo>
                  <a:cubicBezTo>
                    <a:pt x="89644" y="159277"/>
                    <a:pt x="111518" y="161801"/>
                    <a:pt x="131676" y="151564"/>
                  </a:cubicBezTo>
                  <a:cubicBezTo>
                    <a:pt x="172388" y="132761"/>
                    <a:pt x="189732" y="78934"/>
                    <a:pt x="166798" y="40251"/>
                  </a:cubicBezTo>
                  <a:lnTo>
                    <a:pt x="165606" y="38177"/>
                  </a:lnTo>
                  <a:cubicBezTo>
                    <a:pt x="165530" y="38044"/>
                    <a:pt x="165459" y="37916"/>
                    <a:pt x="165380" y="37789"/>
                  </a:cubicBezTo>
                  <a:cubicBezTo>
                    <a:pt x="143006" y="-525"/>
                    <a:pt x="88598" y="-11874"/>
                    <a:pt x="52377" y="13820"/>
                  </a:cubicBezTo>
                  <a:lnTo>
                    <a:pt x="52377" y="13825"/>
                  </a:lnTo>
                  <a:close/>
                  <a:moveTo>
                    <a:pt x="154068" y="44798"/>
                  </a:moveTo>
                  <a:cubicBezTo>
                    <a:pt x="154275" y="45153"/>
                    <a:pt x="154488" y="45517"/>
                    <a:pt x="154690" y="45881"/>
                  </a:cubicBezTo>
                  <a:lnTo>
                    <a:pt x="155152" y="46684"/>
                  </a:lnTo>
                  <a:cubicBezTo>
                    <a:pt x="155204" y="46765"/>
                    <a:pt x="155251" y="46845"/>
                    <a:pt x="155293" y="46921"/>
                  </a:cubicBezTo>
                  <a:cubicBezTo>
                    <a:pt x="173651" y="78570"/>
                    <a:pt x="158927" y="123005"/>
                    <a:pt x="124719" y="136102"/>
                  </a:cubicBezTo>
                  <a:cubicBezTo>
                    <a:pt x="108237" y="143273"/>
                    <a:pt x="96483" y="140258"/>
                    <a:pt x="74048" y="134453"/>
                  </a:cubicBezTo>
                  <a:cubicBezTo>
                    <a:pt x="57161" y="130086"/>
                    <a:pt x="41801" y="124650"/>
                    <a:pt x="25738" y="121077"/>
                  </a:cubicBezTo>
                  <a:cubicBezTo>
                    <a:pt x="30683" y="105347"/>
                    <a:pt x="33671" y="89285"/>
                    <a:pt x="38346" y="72440"/>
                  </a:cubicBezTo>
                  <a:cubicBezTo>
                    <a:pt x="44553" y="50049"/>
                    <a:pt x="47824" y="38333"/>
                    <a:pt x="62256" y="27603"/>
                  </a:cubicBezTo>
                  <a:cubicBezTo>
                    <a:pt x="90417" y="4650"/>
                    <a:pt x="135593" y="13702"/>
                    <a:pt x="154068" y="44803"/>
                  </a:cubicBezTo>
                  <a:lnTo>
                    <a:pt x="154068" y="44798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7BB9D01A-1C1B-7B67-291A-A8524BBF96BB}"/>
                </a:ext>
              </a:extLst>
            </p:cNvPr>
            <p:cNvSpPr/>
            <p:nvPr/>
          </p:nvSpPr>
          <p:spPr>
            <a:xfrm>
              <a:off x="392123" y="462596"/>
              <a:ext cx="984" cy="4"/>
            </a:xfrm>
            <a:custGeom>
              <a:avLst/>
              <a:gdLst>
                <a:gd name="connsiteX0" fmla="*/ 985 w 984"/>
                <a:gd name="connsiteY0" fmla="*/ 4 h 4"/>
                <a:gd name="connsiteX1" fmla="*/ 0 w 984"/>
                <a:gd name="connsiteY1" fmla="*/ 4 h 4"/>
                <a:gd name="connsiteX2" fmla="*/ 490 w 984"/>
                <a:gd name="connsiteY2" fmla="*/ 0 h 4"/>
                <a:gd name="connsiteX3" fmla="*/ 985 w 984"/>
                <a:gd name="connsiteY3" fmla="*/ 4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" h="4">
                  <a:moveTo>
                    <a:pt x="985" y="4"/>
                  </a:moveTo>
                  <a:lnTo>
                    <a:pt x="0" y="4"/>
                  </a:lnTo>
                  <a:cubicBezTo>
                    <a:pt x="160" y="4"/>
                    <a:pt x="325" y="0"/>
                    <a:pt x="490" y="0"/>
                  </a:cubicBezTo>
                  <a:cubicBezTo>
                    <a:pt x="655" y="4"/>
                    <a:pt x="820" y="4"/>
                    <a:pt x="985" y="4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3403EE07-5ED7-8C84-947B-7AE4F4EF6F56}"/>
                </a:ext>
              </a:extLst>
            </p:cNvPr>
            <p:cNvSpPr/>
            <p:nvPr/>
          </p:nvSpPr>
          <p:spPr>
            <a:xfrm>
              <a:off x="603750" y="307231"/>
              <a:ext cx="139631" cy="203888"/>
            </a:xfrm>
            <a:custGeom>
              <a:avLst/>
              <a:gdLst>
                <a:gd name="connsiteX0" fmla="*/ 26064 w 139631"/>
                <a:gd name="connsiteY0" fmla="*/ 191362 h 203888"/>
                <a:gd name="connsiteX1" fmla="*/ 0 w 139631"/>
                <a:gd name="connsiteY1" fmla="*/ 159032 h 203888"/>
                <a:gd name="connsiteX2" fmla="*/ 15092 w 139631"/>
                <a:gd name="connsiteY2" fmla="*/ 142248 h 203888"/>
                <a:gd name="connsiteX3" fmla="*/ 17288 w 139631"/>
                <a:gd name="connsiteY3" fmla="*/ 142522 h 203888"/>
                <a:gd name="connsiteX4" fmla="*/ 35942 w 139631"/>
                <a:gd name="connsiteY4" fmla="*/ 177329 h 203888"/>
                <a:gd name="connsiteX5" fmla="*/ 71612 w 139631"/>
                <a:gd name="connsiteY5" fmla="*/ 190398 h 203888"/>
                <a:gd name="connsiteX6" fmla="*/ 105768 w 139631"/>
                <a:gd name="connsiteY6" fmla="*/ 179669 h 203888"/>
                <a:gd name="connsiteX7" fmla="*/ 118800 w 139631"/>
                <a:gd name="connsiteY7" fmla="*/ 151054 h 203888"/>
                <a:gd name="connsiteX8" fmla="*/ 110156 w 139631"/>
                <a:gd name="connsiteY8" fmla="*/ 126017 h 203888"/>
                <a:gd name="connsiteX9" fmla="*/ 84502 w 139631"/>
                <a:gd name="connsiteY9" fmla="*/ 111161 h 203888"/>
                <a:gd name="connsiteX10" fmla="*/ 53773 w 139631"/>
                <a:gd name="connsiteY10" fmla="*/ 101807 h 203888"/>
                <a:gd name="connsiteX11" fmla="*/ 19475 w 139631"/>
                <a:gd name="connsiteY11" fmla="*/ 82546 h 203888"/>
                <a:gd name="connsiteX12" fmla="*/ 7678 w 139631"/>
                <a:gd name="connsiteY12" fmla="*/ 51180 h 203888"/>
                <a:gd name="connsiteX13" fmla="*/ 15770 w 139631"/>
                <a:gd name="connsiteY13" fmla="*/ 24215 h 203888"/>
                <a:gd name="connsiteX14" fmla="*/ 38130 w 139631"/>
                <a:gd name="connsiteY14" fmla="*/ 6329 h 203888"/>
                <a:gd name="connsiteX15" fmla="*/ 70777 w 139631"/>
                <a:gd name="connsiteY15" fmla="*/ 0 h 203888"/>
                <a:gd name="connsiteX16" fmla="*/ 110971 w 139631"/>
                <a:gd name="connsiteY16" fmla="*/ 10181 h 203888"/>
                <a:gd name="connsiteX17" fmla="*/ 134702 w 139631"/>
                <a:gd name="connsiteY17" fmla="*/ 36872 h 203888"/>
                <a:gd name="connsiteX18" fmla="*/ 120982 w 139631"/>
                <a:gd name="connsiteY18" fmla="*/ 53382 h 203888"/>
                <a:gd name="connsiteX19" fmla="*/ 118786 w 139631"/>
                <a:gd name="connsiteY19" fmla="*/ 53108 h 203888"/>
                <a:gd name="connsiteX20" fmla="*/ 101912 w 139631"/>
                <a:gd name="connsiteY20" fmla="*/ 24082 h 203888"/>
                <a:gd name="connsiteX21" fmla="*/ 70773 w 139631"/>
                <a:gd name="connsiteY21" fmla="*/ 13490 h 203888"/>
                <a:gd name="connsiteX22" fmla="*/ 39496 w 139631"/>
                <a:gd name="connsiteY22" fmla="*/ 22707 h 203888"/>
                <a:gd name="connsiteX23" fmla="*/ 27699 w 139631"/>
                <a:gd name="connsiteY23" fmla="*/ 47333 h 203888"/>
                <a:gd name="connsiteX24" fmla="*/ 35928 w 139631"/>
                <a:gd name="connsiteY24" fmla="*/ 68243 h 203888"/>
                <a:gd name="connsiteX25" fmla="*/ 60621 w 139631"/>
                <a:gd name="connsiteY25" fmla="*/ 81175 h 203888"/>
                <a:gd name="connsiteX26" fmla="*/ 92170 w 139631"/>
                <a:gd name="connsiteY26" fmla="*/ 91082 h 203888"/>
                <a:gd name="connsiteX27" fmla="*/ 127425 w 139631"/>
                <a:gd name="connsiteY27" fmla="*/ 111856 h 203888"/>
                <a:gd name="connsiteX28" fmla="*/ 139632 w 139631"/>
                <a:gd name="connsiteY28" fmla="*/ 147211 h 203888"/>
                <a:gd name="connsiteX29" fmla="*/ 130988 w 139631"/>
                <a:gd name="connsiteY29" fmla="*/ 176790 h 203888"/>
                <a:gd name="connsiteX30" fmla="*/ 106706 w 139631"/>
                <a:gd name="connsiteY30" fmla="*/ 196736 h 203888"/>
                <a:gd name="connsiteX31" fmla="*/ 71314 w 139631"/>
                <a:gd name="connsiteY31" fmla="*/ 203888 h 203888"/>
                <a:gd name="connsiteX32" fmla="*/ 26045 w 139631"/>
                <a:gd name="connsiteY32" fmla="*/ 191367 h 203888"/>
                <a:gd name="connsiteX33" fmla="*/ 26064 w 139631"/>
                <a:gd name="connsiteY33" fmla="*/ 191362 h 203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31" h="203888">
                  <a:moveTo>
                    <a:pt x="26064" y="191362"/>
                  </a:moveTo>
                  <a:cubicBezTo>
                    <a:pt x="12711" y="183015"/>
                    <a:pt x="4020" y="172238"/>
                    <a:pt x="0" y="159032"/>
                  </a:cubicBezTo>
                  <a:lnTo>
                    <a:pt x="15092" y="142248"/>
                  </a:lnTo>
                  <a:lnTo>
                    <a:pt x="17288" y="142522"/>
                  </a:lnTo>
                  <a:cubicBezTo>
                    <a:pt x="19663" y="157014"/>
                    <a:pt x="25884" y="168618"/>
                    <a:pt x="35942" y="177329"/>
                  </a:cubicBezTo>
                  <a:cubicBezTo>
                    <a:pt x="46000" y="186045"/>
                    <a:pt x="57892" y="190398"/>
                    <a:pt x="71612" y="190398"/>
                  </a:cubicBezTo>
                  <a:cubicBezTo>
                    <a:pt x="85332" y="190398"/>
                    <a:pt x="97081" y="186820"/>
                    <a:pt x="105768" y="179669"/>
                  </a:cubicBezTo>
                  <a:cubicBezTo>
                    <a:pt x="114454" y="172513"/>
                    <a:pt x="118800" y="162979"/>
                    <a:pt x="118800" y="151054"/>
                  </a:cubicBezTo>
                  <a:cubicBezTo>
                    <a:pt x="118800" y="140783"/>
                    <a:pt x="115920" y="132440"/>
                    <a:pt x="110156" y="126017"/>
                  </a:cubicBezTo>
                  <a:cubicBezTo>
                    <a:pt x="104396" y="119598"/>
                    <a:pt x="95842" y="114645"/>
                    <a:pt x="84502" y="111161"/>
                  </a:cubicBezTo>
                  <a:lnTo>
                    <a:pt x="53773" y="101807"/>
                  </a:lnTo>
                  <a:cubicBezTo>
                    <a:pt x="38770" y="97038"/>
                    <a:pt x="27341" y="90619"/>
                    <a:pt x="19475" y="82546"/>
                  </a:cubicBezTo>
                  <a:cubicBezTo>
                    <a:pt x="11609" y="74477"/>
                    <a:pt x="7678" y="64022"/>
                    <a:pt x="7678" y="51180"/>
                  </a:cubicBezTo>
                  <a:cubicBezTo>
                    <a:pt x="7678" y="40909"/>
                    <a:pt x="10374" y="31919"/>
                    <a:pt x="15770" y="24215"/>
                  </a:cubicBezTo>
                  <a:cubicBezTo>
                    <a:pt x="21162" y="16510"/>
                    <a:pt x="28619" y="10550"/>
                    <a:pt x="38130" y="6329"/>
                  </a:cubicBezTo>
                  <a:cubicBezTo>
                    <a:pt x="47636" y="2113"/>
                    <a:pt x="58523" y="0"/>
                    <a:pt x="70777" y="0"/>
                  </a:cubicBezTo>
                  <a:cubicBezTo>
                    <a:pt x="85775" y="0"/>
                    <a:pt x="99174" y="3398"/>
                    <a:pt x="110971" y="10181"/>
                  </a:cubicBezTo>
                  <a:cubicBezTo>
                    <a:pt x="122768" y="16969"/>
                    <a:pt x="130677" y="25864"/>
                    <a:pt x="134702" y="36872"/>
                  </a:cubicBezTo>
                  <a:lnTo>
                    <a:pt x="120982" y="53382"/>
                  </a:lnTo>
                  <a:lnTo>
                    <a:pt x="118786" y="53108"/>
                  </a:lnTo>
                  <a:cubicBezTo>
                    <a:pt x="116042" y="40819"/>
                    <a:pt x="110419" y="31144"/>
                    <a:pt x="101912" y="24082"/>
                  </a:cubicBezTo>
                  <a:cubicBezTo>
                    <a:pt x="93405" y="17021"/>
                    <a:pt x="83022" y="13490"/>
                    <a:pt x="70773" y="13490"/>
                  </a:cubicBezTo>
                  <a:cubicBezTo>
                    <a:pt x="57783" y="13490"/>
                    <a:pt x="47357" y="16562"/>
                    <a:pt x="39496" y="22707"/>
                  </a:cubicBezTo>
                  <a:cubicBezTo>
                    <a:pt x="31630" y="28856"/>
                    <a:pt x="27699" y="37062"/>
                    <a:pt x="27699" y="47333"/>
                  </a:cubicBezTo>
                  <a:cubicBezTo>
                    <a:pt x="27699" y="55959"/>
                    <a:pt x="30442" y="62926"/>
                    <a:pt x="35928" y="68243"/>
                  </a:cubicBezTo>
                  <a:cubicBezTo>
                    <a:pt x="41414" y="73566"/>
                    <a:pt x="49648" y="77871"/>
                    <a:pt x="60621" y="81175"/>
                  </a:cubicBezTo>
                  <a:lnTo>
                    <a:pt x="92170" y="91082"/>
                  </a:lnTo>
                  <a:cubicBezTo>
                    <a:pt x="107535" y="95856"/>
                    <a:pt x="119285" y="102776"/>
                    <a:pt x="127425" y="111856"/>
                  </a:cubicBezTo>
                  <a:cubicBezTo>
                    <a:pt x="135559" y="120936"/>
                    <a:pt x="139632" y="132724"/>
                    <a:pt x="139632" y="147211"/>
                  </a:cubicBezTo>
                  <a:cubicBezTo>
                    <a:pt x="139632" y="158403"/>
                    <a:pt x="136752" y="168259"/>
                    <a:pt x="130988" y="176790"/>
                  </a:cubicBezTo>
                  <a:cubicBezTo>
                    <a:pt x="125224" y="185322"/>
                    <a:pt x="117131" y="191972"/>
                    <a:pt x="106706" y="196736"/>
                  </a:cubicBezTo>
                  <a:cubicBezTo>
                    <a:pt x="96280" y="201506"/>
                    <a:pt x="84483" y="203888"/>
                    <a:pt x="71314" y="203888"/>
                  </a:cubicBezTo>
                  <a:cubicBezTo>
                    <a:pt x="54484" y="203888"/>
                    <a:pt x="39393" y="199719"/>
                    <a:pt x="26045" y="191367"/>
                  </a:cubicBezTo>
                  <a:lnTo>
                    <a:pt x="26064" y="191362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32F9F18C-FA01-2F12-DDEF-7C2431B88C17}"/>
                </a:ext>
              </a:extLst>
            </p:cNvPr>
            <p:cNvSpPr/>
            <p:nvPr/>
          </p:nvSpPr>
          <p:spPr>
            <a:xfrm>
              <a:off x="753597" y="362822"/>
              <a:ext cx="128404" cy="148293"/>
            </a:xfrm>
            <a:custGeom>
              <a:avLst/>
              <a:gdLst>
                <a:gd name="connsiteX0" fmla="*/ 27713 w 128404"/>
                <a:gd name="connsiteY0" fmla="*/ 104128 h 148293"/>
                <a:gd name="connsiteX1" fmla="*/ 45821 w 128404"/>
                <a:gd name="connsiteY1" fmla="*/ 125038 h 148293"/>
                <a:gd name="connsiteX2" fmla="*/ 71338 w 128404"/>
                <a:gd name="connsiteY2" fmla="*/ 132332 h 148293"/>
                <a:gd name="connsiteX3" fmla="*/ 117154 w 128404"/>
                <a:gd name="connsiteY3" fmla="*/ 97388 h 148293"/>
                <a:gd name="connsiteX4" fmla="*/ 128405 w 128404"/>
                <a:gd name="connsiteY4" fmla="*/ 100966 h 148293"/>
                <a:gd name="connsiteX5" fmla="*/ 106865 w 128404"/>
                <a:gd name="connsiteY5" fmla="*/ 135499 h 148293"/>
                <a:gd name="connsiteX6" fmla="*/ 67770 w 128404"/>
                <a:gd name="connsiteY6" fmla="*/ 148293 h 148293"/>
                <a:gd name="connsiteX7" fmla="*/ 32516 w 128404"/>
                <a:gd name="connsiteY7" fmla="*/ 138665 h 148293"/>
                <a:gd name="connsiteX8" fmla="*/ 8507 w 128404"/>
                <a:gd name="connsiteY8" fmla="*/ 112115 h 148293"/>
                <a:gd name="connsiteX9" fmla="*/ 0 w 128404"/>
                <a:gd name="connsiteY9" fmla="*/ 74009 h 148293"/>
                <a:gd name="connsiteX10" fmla="*/ 8229 w 128404"/>
                <a:gd name="connsiteY10" fmla="*/ 36178 h 148293"/>
                <a:gd name="connsiteX11" fmla="*/ 31413 w 128404"/>
                <a:gd name="connsiteY11" fmla="*/ 9628 h 148293"/>
                <a:gd name="connsiteX12" fmla="*/ 66121 w 128404"/>
                <a:gd name="connsiteY12" fmla="*/ 0 h 148293"/>
                <a:gd name="connsiteX13" fmla="*/ 102199 w 128404"/>
                <a:gd name="connsiteY13" fmla="*/ 10044 h 148293"/>
                <a:gd name="connsiteX14" fmla="*/ 122230 w 128404"/>
                <a:gd name="connsiteY14" fmla="*/ 36182 h 148293"/>
                <a:gd name="connsiteX15" fmla="*/ 127033 w 128404"/>
                <a:gd name="connsiteY15" fmla="*/ 70436 h 148293"/>
                <a:gd name="connsiteX16" fmla="*/ 21129 w 128404"/>
                <a:gd name="connsiteY16" fmla="*/ 70436 h 148293"/>
                <a:gd name="connsiteX17" fmla="*/ 21129 w 128404"/>
                <a:gd name="connsiteY17" fmla="*/ 72360 h 148293"/>
                <a:gd name="connsiteX18" fmla="*/ 27713 w 128404"/>
                <a:gd name="connsiteY18" fmla="*/ 104142 h 148293"/>
                <a:gd name="connsiteX19" fmla="*/ 27713 w 128404"/>
                <a:gd name="connsiteY19" fmla="*/ 104128 h 148293"/>
                <a:gd name="connsiteX20" fmla="*/ 105909 w 128404"/>
                <a:gd name="connsiteY20" fmla="*/ 58865 h 148293"/>
                <a:gd name="connsiteX21" fmla="*/ 94386 w 128404"/>
                <a:gd name="connsiteY21" fmla="*/ 25297 h 148293"/>
                <a:gd name="connsiteX22" fmla="*/ 66125 w 128404"/>
                <a:gd name="connsiteY22" fmla="*/ 11817 h 148293"/>
                <a:gd name="connsiteX23" fmla="*/ 36904 w 128404"/>
                <a:gd name="connsiteY23" fmla="*/ 25022 h 148293"/>
                <a:gd name="connsiteX24" fmla="*/ 22227 w 128404"/>
                <a:gd name="connsiteY24" fmla="*/ 58865 h 148293"/>
                <a:gd name="connsiteX25" fmla="*/ 105909 w 128404"/>
                <a:gd name="connsiteY25" fmla="*/ 58865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8404" h="148293">
                  <a:moveTo>
                    <a:pt x="27713" y="104128"/>
                  </a:moveTo>
                  <a:cubicBezTo>
                    <a:pt x="32101" y="113208"/>
                    <a:pt x="38139" y="120179"/>
                    <a:pt x="45821" y="125038"/>
                  </a:cubicBezTo>
                  <a:cubicBezTo>
                    <a:pt x="53503" y="129902"/>
                    <a:pt x="62010" y="132332"/>
                    <a:pt x="71338" y="132332"/>
                  </a:cubicBezTo>
                  <a:cubicBezTo>
                    <a:pt x="93834" y="132332"/>
                    <a:pt x="109104" y="120685"/>
                    <a:pt x="117154" y="97388"/>
                  </a:cubicBezTo>
                  <a:lnTo>
                    <a:pt x="128405" y="100966"/>
                  </a:lnTo>
                  <a:cubicBezTo>
                    <a:pt x="124742" y="115458"/>
                    <a:pt x="117569" y="126967"/>
                    <a:pt x="106865" y="135499"/>
                  </a:cubicBezTo>
                  <a:cubicBezTo>
                    <a:pt x="96167" y="144025"/>
                    <a:pt x="83135" y="148293"/>
                    <a:pt x="67770" y="148293"/>
                  </a:cubicBezTo>
                  <a:cubicBezTo>
                    <a:pt x="54601" y="148293"/>
                    <a:pt x="42847" y="145084"/>
                    <a:pt x="32516" y="138665"/>
                  </a:cubicBezTo>
                  <a:cubicBezTo>
                    <a:pt x="22180" y="132247"/>
                    <a:pt x="14177" y="123393"/>
                    <a:pt x="8507" y="112115"/>
                  </a:cubicBezTo>
                  <a:cubicBezTo>
                    <a:pt x="2837" y="100833"/>
                    <a:pt x="0" y="88133"/>
                    <a:pt x="0" y="74009"/>
                  </a:cubicBezTo>
                  <a:cubicBezTo>
                    <a:pt x="0" y="59887"/>
                    <a:pt x="2743" y="47460"/>
                    <a:pt x="8229" y="36178"/>
                  </a:cubicBezTo>
                  <a:cubicBezTo>
                    <a:pt x="13715" y="24895"/>
                    <a:pt x="21440" y="16047"/>
                    <a:pt x="31413" y="9628"/>
                  </a:cubicBezTo>
                  <a:cubicBezTo>
                    <a:pt x="41381" y="3209"/>
                    <a:pt x="52952" y="0"/>
                    <a:pt x="66121" y="0"/>
                  </a:cubicBezTo>
                  <a:cubicBezTo>
                    <a:pt x="80750" y="0"/>
                    <a:pt x="92778" y="3351"/>
                    <a:pt x="102199" y="10044"/>
                  </a:cubicBezTo>
                  <a:cubicBezTo>
                    <a:pt x="111616" y="16742"/>
                    <a:pt x="118295" y="25453"/>
                    <a:pt x="122230" y="36182"/>
                  </a:cubicBezTo>
                  <a:cubicBezTo>
                    <a:pt x="126161" y="46912"/>
                    <a:pt x="127759" y="58331"/>
                    <a:pt x="127033" y="70436"/>
                  </a:cubicBezTo>
                  <a:lnTo>
                    <a:pt x="21129" y="70436"/>
                  </a:lnTo>
                  <a:lnTo>
                    <a:pt x="21129" y="72360"/>
                  </a:lnTo>
                  <a:cubicBezTo>
                    <a:pt x="21129" y="84465"/>
                    <a:pt x="23325" y="95062"/>
                    <a:pt x="27713" y="104142"/>
                  </a:cubicBezTo>
                  <a:lnTo>
                    <a:pt x="27713" y="104128"/>
                  </a:lnTo>
                  <a:close/>
                  <a:moveTo>
                    <a:pt x="105909" y="58865"/>
                  </a:moveTo>
                  <a:cubicBezTo>
                    <a:pt x="105362" y="45480"/>
                    <a:pt x="101521" y="34287"/>
                    <a:pt x="94386" y="25297"/>
                  </a:cubicBezTo>
                  <a:cubicBezTo>
                    <a:pt x="87254" y="16311"/>
                    <a:pt x="77828" y="11817"/>
                    <a:pt x="66125" y="11817"/>
                  </a:cubicBezTo>
                  <a:cubicBezTo>
                    <a:pt x="54422" y="11817"/>
                    <a:pt x="44680" y="16217"/>
                    <a:pt x="36904" y="25022"/>
                  </a:cubicBezTo>
                  <a:cubicBezTo>
                    <a:pt x="29127" y="33828"/>
                    <a:pt x="24235" y="45106"/>
                    <a:pt x="22227" y="58865"/>
                  </a:cubicBezTo>
                  <a:lnTo>
                    <a:pt x="105909" y="58865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78A5A8A2-DE91-8B1C-6FF3-41BEF31A4D88}"/>
                </a:ext>
              </a:extLst>
            </p:cNvPr>
            <p:cNvSpPr/>
            <p:nvPr/>
          </p:nvSpPr>
          <p:spPr>
            <a:xfrm>
              <a:off x="885962" y="362801"/>
              <a:ext cx="133622" cy="199762"/>
            </a:xfrm>
            <a:custGeom>
              <a:avLst/>
              <a:gdLst>
                <a:gd name="connsiteX0" fmla="*/ 17144 w 133622"/>
                <a:gd name="connsiteY0" fmla="*/ 190408 h 199762"/>
                <a:gd name="connsiteX1" fmla="*/ 0 w 133622"/>
                <a:gd name="connsiteY1" fmla="*/ 162067 h 199762"/>
                <a:gd name="connsiteX2" fmla="*/ 5901 w 133622"/>
                <a:gd name="connsiteY2" fmla="*/ 144734 h 199762"/>
                <a:gd name="connsiteX3" fmla="*/ 21947 w 133622"/>
                <a:gd name="connsiteY3" fmla="*/ 132903 h 199762"/>
                <a:gd name="connsiteX4" fmla="*/ 5764 w 133622"/>
                <a:gd name="connsiteY4" fmla="*/ 110064 h 199762"/>
                <a:gd name="connsiteX5" fmla="*/ 25247 w 133622"/>
                <a:gd name="connsiteY5" fmla="*/ 81723 h 199762"/>
                <a:gd name="connsiteX6" fmla="*/ 13722 w 133622"/>
                <a:gd name="connsiteY6" fmla="*/ 66589 h 199762"/>
                <a:gd name="connsiteX7" fmla="*/ 9606 w 133622"/>
                <a:gd name="connsiteY7" fmla="*/ 47328 h 199762"/>
                <a:gd name="connsiteX8" fmla="*/ 16325 w 133622"/>
                <a:gd name="connsiteY8" fmla="*/ 22565 h 199762"/>
                <a:gd name="connsiteX9" fmla="*/ 35262 w 133622"/>
                <a:gd name="connsiteY9" fmla="*/ 5918 h 199762"/>
                <a:gd name="connsiteX10" fmla="*/ 63107 w 133622"/>
                <a:gd name="connsiteY10" fmla="*/ 0 h 199762"/>
                <a:gd name="connsiteX11" fmla="*/ 88893 w 133622"/>
                <a:gd name="connsiteY11" fmla="*/ 4954 h 199762"/>
                <a:gd name="connsiteX12" fmla="*/ 130322 w 133622"/>
                <a:gd name="connsiteY12" fmla="*/ 1101 h 199762"/>
                <a:gd name="connsiteX13" fmla="*/ 130872 w 133622"/>
                <a:gd name="connsiteY13" fmla="*/ 15409 h 199762"/>
                <a:gd name="connsiteX14" fmla="*/ 103980 w 133622"/>
                <a:gd name="connsiteY14" fmla="*/ 15409 h 199762"/>
                <a:gd name="connsiteX15" fmla="*/ 116329 w 133622"/>
                <a:gd name="connsiteY15" fmla="*/ 47328 h 199762"/>
                <a:gd name="connsiteX16" fmla="*/ 109608 w 133622"/>
                <a:gd name="connsiteY16" fmla="*/ 71680 h 199762"/>
                <a:gd name="connsiteX17" fmla="*/ 90812 w 133622"/>
                <a:gd name="connsiteY17" fmla="*/ 88190 h 199762"/>
                <a:gd name="connsiteX18" fmla="*/ 63107 w 133622"/>
                <a:gd name="connsiteY18" fmla="*/ 94107 h 199762"/>
                <a:gd name="connsiteX19" fmla="*/ 34296 w 133622"/>
                <a:gd name="connsiteY19" fmla="*/ 87504 h 199762"/>
                <a:gd name="connsiteX20" fmla="*/ 22503 w 133622"/>
                <a:gd name="connsiteY20" fmla="*/ 105938 h 199762"/>
                <a:gd name="connsiteX21" fmla="*/ 27850 w 133622"/>
                <a:gd name="connsiteY21" fmla="*/ 115429 h 199762"/>
                <a:gd name="connsiteX22" fmla="*/ 44177 w 133622"/>
                <a:gd name="connsiteY22" fmla="*/ 118317 h 199762"/>
                <a:gd name="connsiteX23" fmla="*/ 86706 w 133622"/>
                <a:gd name="connsiteY23" fmla="*/ 118317 h 199762"/>
                <a:gd name="connsiteX24" fmla="*/ 120998 w 133622"/>
                <a:gd name="connsiteY24" fmla="*/ 128087 h 199762"/>
                <a:gd name="connsiteX25" fmla="*/ 133622 w 133622"/>
                <a:gd name="connsiteY25" fmla="*/ 155738 h 199762"/>
                <a:gd name="connsiteX26" fmla="*/ 115517 w 133622"/>
                <a:gd name="connsiteY26" fmla="*/ 188205 h 199762"/>
                <a:gd name="connsiteX27" fmla="*/ 65307 w 133622"/>
                <a:gd name="connsiteY27" fmla="*/ 199762 h 199762"/>
                <a:gd name="connsiteX28" fmla="*/ 17157 w 133622"/>
                <a:gd name="connsiteY28" fmla="*/ 190408 h 199762"/>
                <a:gd name="connsiteX29" fmla="*/ 17144 w 133622"/>
                <a:gd name="connsiteY29" fmla="*/ 190408 h 199762"/>
                <a:gd name="connsiteX30" fmla="*/ 30331 w 133622"/>
                <a:gd name="connsiteY30" fmla="*/ 180775 h 199762"/>
                <a:gd name="connsiteX31" fmla="*/ 64354 w 133622"/>
                <a:gd name="connsiteY31" fmla="*/ 187652 h 199762"/>
                <a:gd name="connsiteX32" fmla="*/ 101255 w 133622"/>
                <a:gd name="connsiteY32" fmla="*/ 179947 h 199762"/>
                <a:gd name="connsiteX33" fmla="*/ 114283 w 133622"/>
                <a:gd name="connsiteY33" fmla="*/ 158484 h 199762"/>
                <a:gd name="connsiteX34" fmla="*/ 106877 w 133622"/>
                <a:gd name="connsiteY34" fmla="*/ 142253 h 199762"/>
                <a:gd name="connsiteX35" fmla="*/ 84928 w 133622"/>
                <a:gd name="connsiteY35" fmla="*/ 136751 h 199762"/>
                <a:gd name="connsiteX36" fmla="*/ 45693 w 133622"/>
                <a:gd name="connsiteY36" fmla="*/ 136751 h 199762"/>
                <a:gd name="connsiteX37" fmla="*/ 35268 w 133622"/>
                <a:gd name="connsiteY37" fmla="*/ 136203 h 199762"/>
                <a:gd name="connsiteX38" fmla="*/ 22235 w 133622"/>
                <a:gd name="connsiteY38" fmla="*/ 146247 h 199762"/>
                <a:gd name="connsiteX39" fmla="*/ 17707 w 133622"/>
                <a:gd name="connsiteY39" fmla="*/ 161244 h 199762"/>
                <a:gd name="connsiteX40" fmla="*/ 30331 w 133622"/>
                <a:gd name="connsiteY40" fmla="*/ 180779 h 199762"/>
                <a:gd name="connsiteX41" fmla="*/ 30331 w 133622"/>
                <a:gd name="connsiteY41" fmla="*/ 180775 h 199762"/>
                <a:gd name="connsiteX42" fmla="*/ 85753 w 133622"/>
                <a:gd name="connsiteY42" fmla="*/ 72918 h 199762"/>
                <a:gd name="connsiteX43" fmla="*/ 94534 w 133622"/>
                <a:gd name="connsiteY43" fmla="*/ 47328 h 199762"/>
                <a:gd name="connsiteX44" fmla="*/ 85612 w 133622"/>
                <a:gd name="connsiteY44" fmla="*/ 21601 h 199762"/>
                <a:gd name="connsiteX45" fmla="*/ 62154 w 133622"/>
                <a:gd name="connsiteY45" fmla="*/ 11831 h 199762"/>
                <a:gd name="connsiteX46" fmla="*/ 38428 w 133622"/>
                <a:gd name="connsiteY46" fmla="*/ 21322 h 199762"/>
                <a:gd name="connsiteX47" fmla="*/ 29506 w 133622"/>
                <a:gd name="connsiteY47" fmla="*/ 47049 h 199762"/>
                <a:gd name="connsiteX48" fmla="*/ 38428 w 133622"/>
                <a:gd name="connsiteY48" fmla="*/ 72502 h 199762"/>
                <a:gd name="connsiteX49" fmla="*/ 62154 w 133622"/>
                <a:gd name="connsiteY49" fmla="*/ 82272 h 199762"/>
                <a:gd name="connsiteX50" fmla="*/ 85753 w 133622"/>
                <a:gd name="connsiteY50" fmla="*/ 72918 h 1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33622" h="199762">
                  <a:moveTo>
                    <a:pt x="17144" y="190408"/>
                  </a:moveTo>
                  <a:cubicBezTo>
                    <a:pt x="5712" y="184168"/>
                    <a:pt x="0" y="174725"/>
                    <a:pt x="0" y="162067"/>
                  </a:cubicBezTo>
                  <a:cubicBezTo>
                    <a:pt x="0" y="155643"/>
                    <a:pt x="1966" y="149868"/>
                    <a:pt x="5901" y="144734"/>
                  </a:cubicBezTo>
                  <a:cubicBezTo>
                    <a:pt x="9832" y="139601"/>
                    <a:pt x="15181" y="135655"/>
                    <a:pt x="21947" y="132903"/>
                  </a:cubicBezTo>
                  <a:cubicBezTo>
                    <a:pt x="11158" y="128688"/>
                    <a:pt x="5764" y="121073"/>
                    <a:pt x="5764" y="110064"/>
                  </a:cubicBezTo>
                  <a:cubicBezTo>
                    <a:pt x="5764" y="99056"/>
                    <a:pt x="12252" y="90165"/>
                    <a:pt x="25247" y="81723"/>
                  </a:cubicBezTo>
                  <a:cubicBezTo>
                    <a:pt x="20303" y="77508"/>
                    <a:pt x="16466" y="72464"/>
                    <a:pt x="13722" y="66589"/>
                  </a:cubicBezTo>
                  <a:cubicBezTo>
                    <a:pt x="10979" y="60719"/>
                    <a:pt x="9606" y="54300"/>
                    <a:pt x="9606" y="47328"/>
                  </a:cubicBezTo>
                  <a:cubicBezTo>
                    <a:pt x="9606" y="37974"/>
                    <a:pt x="11842" y="29717"/>
                    <a:pt x="16325" y="22565"/>
                  </a:cubicBezTo>
                  <a:cubicBezTo>
                    <a:pt x="20809" y="15413"/>
                    <a:pt x="27114" y="9865"/>
                    <a:pt x="35262" y="5918"/>
                  </a:cubicBezTo>
                  <a:cubicBezTo>
                    <a:pt x="43397" y="1976"/>
                    <a:pt x="52676" y="0"/>
                    <a:pt x="63107" y="0"/>
                  </a:cubicBezTo>
                  <a:cubicBezTo>
                    <a:pt x="72617" y="0"/>
                    <a:pt x="81212" y="1649"/>
                    <a:pt x="88893" y="4954"/>
                  </a:cubicBezTo>
                  <a:lnTo>
                    <a:pt x="130322" y="1101"/>
                  </a:lnTo>
                  <a:lnTo>
                    <a:pt x="130872" y="15409"/>
                  </a:lnTo>
                  <a:lnTo>
                    <a:pt x="103980" y="15409"/>
                  </a:lnTo>
                  <a:cubicBezTo>
                    <a:pt x="112211" y="23661"/>
                    <a:pt x="116329" y="34301"/>
                    <a:pt x="116329" y="47328"/>
                  </a:cubicBezTo>
                  <a:cubicBezTo>
                    <a:pt x="116329" y="56502"/>
                    <a:pt x="114084" y="64618"/>
                    <a:pt x="109608" y="71680"/>
                  </a:cubicBezTo>
                  <a:cubicBezTo>
                    <a:pt x="105125" y="78741"/>
                    <a:pt x="98864" y="84248"/>
                    <a:pt x="90812" y="88190"/>
                  </a:cubicBezTo>
                  <a:cubicBezTo>
                    <a:pt x="82760" y="92136"/>
                    <a:pt x="73532" y="94107"/>
                    <a:pt x="63107" y="94107"/>
                  </a:cubicBezTo>
                  <a:cubicBezTo>
                    <a:pt x="51941" y="94107"/>
                    <a:pt x="42342" y="91905"/>
                    <a:pt x="34296" y="87504"/>
                  </a:cubicBezTo>
                  <a:cubicBezTo>
                    <a:pt x="26430" y="93374"/>
                    <a:pt x="22503" y="99519"/>
                    <a:pt x="22503" y="105938"/>
                  </a:cubicBezTo>
                  <a:cubicBezTo>
                    <a:pt x="22503" y="110339"/>
                    <a:pt x="24281" y="113506"/>
                    <a:pt x="27850" y="115429"/>
                  </a:cubicBezTo>
                  <a:cubicBezTo>
                    <a:pt x="31418" y="117358"/>
                    <a:pt x="36854" y="118317"/>
                    <a:pt x="44177" y="118317"/>
                  </a:cubicBezTo>
                  <a:lnTo>
                    <a:pt x="86706" y="118317"/>
                  </a:lnTo>
                  <a:cubicBezTo>
                    <a:pt x="101147" y="118317"/>
                    <a:pt x="112582" y="121574"/>
                    <a:pt x="120998" y="128087"/>
                  </a:cubicBezTo>
                  <a:cubicBezTo>
                    <a:pt x="129414" y="134601"/>
                    <a:pt x="133622" y="143818"/>
                    <a:pt x="133622" y="155738"/>
                  </a:cubicBezTo>
                  <a:cubicBezTo>
                    <a:pt x="133622" y="169677"/>
                    <a:pt x="127585" y="180501"/>
                    <a:pt x="115517" y="188205"/>
                  </a:cubicBezTo>
                  <a:cubicBezTo>
                    <a:pt x="103443" y="195910"/>
                    <a:pt x="86706" y="199762"/>
                    <a:pt x="65307" y="199762"/>
                  </a:cubicBezTo>
                  <a:cubicBezTo>
                    <a:pt x="43902" y="199762"/>
                    <a:pt x="28585" y="196642"/>
                    <a:pt x="17157" y="190408"/>
                  </a:cubicBezTo>
                  <a:lnTo>
                    <a:pt x="17144" y="190408"/>
                  </a:lnTo>
                  <a:close/>
                  <a:moveTo>
                    <a:pt x="30331" y="180775"/>
                  </a:moveTo>
                  <a:cubicBezTo>
                    <a:pt x="38747" y="185360"/>
                    <a:pt x="50086" y="187652"/>
                    <a:pt x="64354" y="187652"/>
                  </a:cubicBezTo>
                  <a:cubicBezTo>
                    <a:pt x="80266" y="187652"/>
                    <a:pt x="92564" y="185081"/>
                    <a:pt x="101255" y="179947"/>
                  </a:cubicBezTo>
                  <a:cubicBezTo>
                    <a:pt x="109940" y="174810"/>
                    <a:pt x="114283" y="167659"/>
                    <a:pt x="114283" y="158484"/>
                  </a:cubicBezTo>
                  <a:cubicBezTo>
                    <a:pt x="114283" y="151333"/>
                    <a:pt x="111814" y="145916"/>
                    <a:pt x="106877" y="142253"/>
                  </a:cubicBezTo>
                  <a:cubicBezTo>
                    <a:pt x="101933" y="138589"/>
                    <a:pt x="94623" y="136751"/>
                    <a:pt x="84928" y="136751"/>
                  </a:cubicBezTo>
                  <a:lnTo>
                    <a:pt x="45693" y="136751"/>
                  </a:lnTo>
                  <a:cubicBezTo>
                    <a:pt x="43128" y="136751"/>
                    <a:pt x="39656" y="136572"/>
                    <a:pt x="35268" y="136203"/>
                  </a:cubicBezTo>
                  <a:cubicBezTo>
                    <a:pt x="29596" y="138405"/>
                    <a:pt x="25253" y="141752"/>
                    <a:pt x="22235" y="146247"/>
                  </a:cubicBezTo>
                  <a:cubicBezTo>
                    <a:pt x="19222" y="150737"/>
                    <a:pt x="17707" y="155738"/>
                    <a:pt x="17707" y="161244"/>
                  </a:cubicBezTo>
                  <a:cubicBezTo>
                    <a:pt x="17707" y="169682"/>
                    <a:pt x="21909" y="176195"/>
                    <a:pt x="30331" y="180779"/>
                  </a:cubicBezTo>
                  <a:lnTo>
                    <a:pt x="30331" y="180775"/>
                  </a:lnTo>
                  <a:close/>
                  <a:moveTo>
                    <a:pt x="85753" y="72918"/>
                  </a:moveTo>
                  <a:cubicBezTo>
                    <a:pt x="91605" y="66683"/>
                    <a:pt x="94534" y="58157"/>
                    <a:pt x="94534" y="47328"/>
                  </a:cubicBezTo>
                  <a:cubicBezTo>
                    <a:pt x="94534" y="36499"/>
                    <a:pt x="91560" y="28114"/>
                    <a:pt x="85612" y="21601"/>
                  </a:cubicBezTo>
                  <a:cubicBezTo>
                    <a:pt x="79665" y="15092"/>
                    <a:pt x="71850" y="11831"/>
                    <a:pt x="62154" y="11831"/>
                  </a:cubicBezTo>
                  <a:cubicBezTo>
                    <a:pt x="52465" y="11831"/>
                    <a:pt x="44363" y="14993"/>
                    <a:pt x="38428" y="21322"/>
                  </a:cubicBezTo>
                  <a:cubicBezTo>
                    <a:pt x="32480" y="27651"/>
                    <a:pt x="29506" y="36230"/>
                    <a:pt x="29506" y="47049"/>
                  </a:cubicBezTo>
                  <a:cubicBezTo>
                    <a:pt x="29506" y="57868"/>
                    <a:pt x="32480" y="65993"/>
                    <a:pt x="38428" y="72502"/>
                  </a:cubicBezTo>
                  <a:cubicBezTo>
                    <a:pt x="44369" y="79015"/>
                    <a:pt x="52286" y="82272"/>
                    <a:pt x="62154" y="82272"/>
                  </a:cubicBezTo>
                  <a:cubicBezTo>
                    <a:pt x="72029" y="82272"/>
                    <a:pt x="79895" y="79157"/>
                    <a:pt x="85753" y="72918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BDD56E3-1929-5137-04FF-F77B9406C158}"/>
                </a:ext>
              </a:extLst>
            </p:cNvPr>
            <p:cNvSpPr/>
            <p:nvPr/>
          </p:nvSpPr>
          <p:spPr>
            <a:xfrm>
              <a:off x="1015070" y="362815"/>
              <a:ext cx="137454" cy="148293"/>
            </a:xfrm>
            <a:custGeom>
              <a:avLst/>
              <a:gdLst>
                <a:gd name="connsiteX0" fmla="*/ 33198 w 137454"/>
                <a:gd name="connsiteY0" fmla="*/ 138666 h 148293"/>
                <a:gd name="connsiteX1" fmla="*/ 8781 w 137454"/>
                <a:gd name="connsiteY1" fmla="*/ 112116 h 148293"/>
                <a:gd name="connsiteX2" fmla="*/ 0 w 137454"/>
                <a:gd name="connsiteY2" fmla="*/ 74009 h 148293"/>
                <a:gd name="connsiteX3" fmla="*/ 8781 w 137454"/>
                <a:gd name="connsiteY3" fmla="*/ 36041 h 148293"/>
                <a:gd name="connsiteX4" fmla="*/ 33332 w 137454"/>
                <a:gd name="connsiteY4" fmla="*/ 9628 h 148293"/>
                <a:gd name="connsiteX5" fmla="*/ 68590 w 137454"/>
                <a:gd name="connsiteY5" fmla="*/ 0 h 148293"/>
                <a:gd name="connsiteX6" fmla="*/ 103982 w 137454"/>
                <a:gd name="connsiteY6" fmla="*/ 9628 h 148293"/>
                <a:gd name="connsiteX7" fmla="*/ 128533 w 137454"/>
                <a:gd name="connsiteY7" fmla="*/ 36041 h 148293"/>
                <a:gd name="connsiteX8" fmla="*/ 137455 w 137454"/>
                <a:gd name="connsiteY8" fmla="*/ 74009 h 148293"/>
                <a:gd name="connsiteX9" fmla="*/ 128533 w 137454"/>
                <a:gd name="connsiteY9" fmla="*/ 112116 h 148293"/>
                <a:gd name="connsiteX10" fmla="*/ 103982 w 137454"/>
                <a:gd name="connsiteY10" fmla="*/ 138666 h 148293"/>
                <a:gd name="connsiteX11" fmla="*/ 68590 w 137454"/>
                <a:gd name="connsiteY11" fmla="*/ 148294 h 148293"/>
                <a:gd name="connsiteX12" fmla="*/ 33198 w 137454"/>
                <a:gd name="connsiteY12" fmla="*/ 138666 h 148293"/>
                <a:gd name="connsiteX13" fmla="*/ 93007 w 137454"/>
                <a:gd name="connsiteY13" fmla="*/ 127936 h 148293"/>
                <a:gd name="connsiteX14" fmla="*/ 110153 w 137454"/>
                <a:gd name="connsiteY14" fmla="*/ 105924 h 148293"/>
                <a:gd name="connsiteX15" fmla="*/ 116331 w 137454"/>
                <a:gd name="connsiteY15" fmla="*/ 74005 h 148293"/>
                <a:gd name="connsiteX16" fmla="*/ 110153 w 137454"/>
                <a:gd name="connsiteY16" fmla="*/ 42086 h 148293"/>
                <a:gd name="connsiteX17" fmla="*/ 93007 w 137454"/>
                <a:gd name="connsiteY17" fmla="*/ 20211 h 148293"/>
                <a:gd name="connsiteX18" fmla="*/ 68590 w 137454"/>
                <a:gd name="connsiteY18" fmla="*/ 12370 h 148293"/>
                <a:gd name="connsiteX19" fmla="*/ 44307 w 137454"/>
                <a:gd name="connsiteY19" fmla="*/ 20211 h 148293"/>
                <a:gd name="connsiteX20" fmla="*/ 27295 w 137454"/>
                <a:gd name="connsiteY20" fmla="*/ 42223 h 148293"/>
                <a:gd name="connsiteX21" fmla="*/ 21124 w 137454"/>
                <a:gd name="connsiteY21" fmla="*/ 74005 h 148293"/>
                <a:gd name="connsiteX22" fmla="*/ 27295 w 137454"/>
                <a:gd name="connsiteY22" fmla="*/ 105924 h 148293"/>
                <a:gd name="connsiteX23" fmla="*/ 44307 w 137454"/>
                <a:gd name="connsiteY23" fmla="*/ 127936 h 148293"/>
                <a:gd name="connsiteX24" fmla="*/ 68590 w 137454"/>
                <a:gd name="connsiteY24" fmla="*/ 135914 h 148293"/>
                <a:gd name="connsiteX25" fmla="*/ 93007 w 137454"/>
                <a:gd name="connsiteY25" fmla="*/ 127936 h 148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454" h="148293">
                  <a:moveTo>
                    <a:pt x="33198" y="138666"/>
                  </a:moveTo>
                  <a:cubicBezTo>
                    <a:pt x="22774" y="132247"/>
                    <a:pt x="14632" y="123393"/>
                    <a:pt x="8781" y="112116"/>
                  </a:cubicBezTo>
                  <a:cubicBezTo>
                    <a:pt x="2923" y="100833"/>
                    <a:pt x="0" y="88133"/>
                    <a:pt x="0" y="74009"/>
                  </a:cubicBezTo>
                  <a:cubicBezTo>
                    <a:pt x="0" y="59887"/>
                    <a:pt x="2923" y="47228"/>
                    <a:pt x="8781" y="36041"/>
                  </a:cubicBezTo>
                  <a:cubicBezTo>
                    <a:pt x="14632" y="24853"/>
                    <a:pt x="22812" y="16052"/>
                    <a:pt x="33332" y="9628"/>
                  </a:cubicBezTo>
                  <a:cubicBezTo>
                    <a:pt x="43853" y="3209"/>
                    <a:pt x="55601" y="0"/>
                    <a:pt x="68590" y="0"/>
                  </a:cubicBezTo>
                  <a:cubicBezTo>
                    <a:pt x="81579" y="0"/>
                    <a:pt x="93557" y="3209"/>
                    <a:pt x="103982" y="9628"/>
                  </a:cubicBezTo>
                  <a:cubicBezTo>
                    <a:pt x="114406" y="16052"/>
                    <a:pt x="122586" y="24857"/>
                    <a:pt x="128533" y="36041"/>
                  </a:cubicBezTo>
                  <a:cubicBezTo>
                    <a:pt x="134481" y="47233"/>
                    <a:pt x="137455" y="59887"/>
                    <a:pt x="137455" y="74009"/>
                  </a:cubicBezTo>
                  <a:cubicBezTo>
                    <a:pt x="137455" y="88133"/>
                    <a:pt x="134481" y="100838"/>
                    <a:pt x="128533" y="112116"/>
                  </a:cubicBezTo>
                  <a:cubicBezTo>
                    <a:pt x="122586" y="123398"/>
                    <a:pt x="114406" y="132247"/>
                    <a:pt x="103982" y="138666"/>
                  </a:cubicBezTo>
                  <a:cubicBezTo>
                    <a:pt x="93557" y="145089"/>
                    <a:pt x="81758" y="148294"/>
                    <a:pt x="68590" y="148294"/>
                  </a:cubicBezTo>
                  <a:cubicBezTo>
                    <a:pt x="55422" y="148294"/>
                    <a:pt x="43623" y="145084"/>
                    <a:pt x="33198" y="138666"/>
                  </a:cubicBezTo>
                  <a:close/>
                  <a:moveTo>
                    <a:pt x="93007" y="127936"/>
                  </a:moveTo>
                  <a:cubicBezTo>
                    <a:pt x="100324" y="122618"/>
                    <a:pt x="106041" y="115278"/>
                    <a:pt x="110153" y="105924"/>
                  </a:cubicBezTo>
                  <a:cubicBezTo>
                    <a:pt x="114272" y="96570"/>
                    <a:pt x="116331" y="85935"/>
                    <a:pt x="116331" y="74005"/>
                  </a:cubicBezTo>
                  <a:cubicBezTo>
                    <a:pt x="116331" y="62075"/>
                    <a:pt x="114272" y="51445"/>
                    <a:pt x="110153" y="42086"/>
                  </a:cubicBezTo>
                  <a:cubicBezTo>
                    <a:pt x="106041" y="32732"/>
                    <a:pt x="100317" y="25439"/>
                    <a:pt x="93007" y="20211"/>
                  </a:cubicBezTo>
                  <a:cubicBezTo>
                    <a:pt x="85691" y="14984"/>
                    <a:pt x="77550" y="12370"/>
                    <a:pt x="68590" y="12370"/>
                  </a:cubicBezTo>
                  <a:cubicBezTo>
                    <a:pt x="59630" y="12370"/>
                    <a:pt x="51534" y="14984"/>
                    <a:pt x="44307" y="20211"/>
                  </a:cubicBezTo>
                  <a:cubicBezTo>
                    <a:pt x="37080" y="25439"/>
                    <a:pt x="31414" y="32779"/>
                    <a:pt x="27295" y="42223"/>
                  </a:cubicBezTo>
                  <a:cubicBezTo>
                    <a:pt x="23183" y="51672"/>
                    <a:pt x="21124" y="62264"/>
                    <a:pt x="21124" y="74005"/>
                  </a:cubicBezTo>
                  <a:cubicBezTo>
                    <a:pt x="21124" y="85746"/>
                    <a:pt x="23183" y="96565"/>
                    <a:pt x="27295" y="105924"/>
                  </a:cubicBezTo>
                  <a:cubicBezTo>
                    <a:pt x="31414" y="115278"/>
                    <a:pt x="37080" y="122618"/>
                    <a:pt x="44307" y="127936"/>
                  </a:cubicBezTo>
                  <a:cubicBezTo>
                    <a:pt x="51534" y="133258"/>
                    <a:pt x="59624" y="135914"/>
                    <a:pt x="68590" y="135914"/>
                  </a:cubicBezTo>
                  <a:cubicBezTo>
                    <a:pt x="77556" y="135914"/>
                    <a:pt x="85691" y="133258"/>
                    <a:pt x="93007" y="127936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75D71F2B-6D4E-D00D-1133-C56670C78B58}"/>
                </a:ext>
              </a:extLst>
            </p:cNvPr>
            <p:cNvSpPr/>
            <p:nvPr/>
          </p:nvSpPr>
          <p:spPr>
            <a:xfrm>
              <a:off x="391829" y="462601"/>
              <a:ext cx="292" cy="4"/>
            </a:xfrm>
            <a:custGeom>
              <a:avLst/>
              <a:gdLst>
                <a:gd name="connsiteX0" fmla="*/ 0 w 292"/>
                <a:gd name="connsiteY0" fmla="*/ 0 h 4"/>
                <a:gd name="connsiteX1" fmla="*/ 292 w 292"/>
                <a:gd name="connsiteY1" fmla="*/ 0 h 4"/>
                <a:gd name="connsiteX2" fmla="*/ 0 w 292"/>
                <a:gd name="connsiteY2" fmla="*/ 4 h 4"/>
                <a:gd name="connsiteX3" fmla="*/ 0 w 292"/>
                <a:gd name="connsiteY3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" h="4">
                  <a:moveTo>
                    <a:pt x="0" y="0"/>
                  </a:moveTo>
                  <a:lnTo>
                    <a:pt x="292" y="0"/>
                  </a:lnTo>
                  <a:cubicBezTo>
                    <a:pt x="193" y="4"/>
                    <a:pt x="94" y="4"/>
                    <a:pt x="0" y="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593D9C17-8D66-0E81-4046-4F54E2BC65A0}"/>
                </a:ext>
              </a:extLst>
            </p:cNvPr>
            <p:cNvSpPr/>
            <p:nvPr/>
          </p:nvSpPr>
          <p:spPr>
            <a:xfrm>
              <a:off x="394371" y="476789"/>
              <a:ext cx="476" cy="4"/>
            </a:xfrm>
            <a:custGeom>
              <a:avLst/>
              <a:gdLst>
                <a:gd name="connsiteX0" fmla="*/ 476 w 476"/>
                <a:gd name="connsiteY0" fmla="*/ 0 h 4"/>
                <a:gd name="connsiteX1" fmla="*/ 0 w 476"/>
                <a:gd name="connsiteY1" fmla="*/ 4 h 4"/>
                <a:gd name="connsiteX2" fmla="*/ 476 w 476"/>
                <a:gd name="connsiteY2" fmla="*/ 0 h 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" h="4">
                  <a:moveTo>
                    <a:pt x="476" y="0"/>
                  </a:moveTo>
                  <a:lnTo>
                    <a:pt x="0" y="4"/>
                  </a:lnTo>
                  <a:cubicBezTo>
                    <a:pt x="161" y="4"/>
                    <a:pt x="316" y="4"/>
                    <a:pt x="476" y="0"/>
                  </a:cubicBezTo>
                  <a:close/>
                </a:path>
              </a:pathLst>
            </a:custGeom>
            <a:solidFill>
              <a:srgbClr val="000000"/>
            </a:solidFill>
            <a:ln w="63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6561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</p:sldLayoutIdLst>
  <p:hf hdr="0"/>
  <p:txStyles>
    <p:titleStyle>
      <a:lvl1pPr algn="l" defTabSz="914400" rtl="0" eaLnBrk="1" latinLnBrk="0" hangingPunct="1">
        <a:lnSpc>
          <a:spcPct val="96000"/>
        </a:lnSpc>
        <a:spcBef>
          <a:spcPts val="100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-14630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32004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50292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868680" indent="-14630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462901"/>
          </p15:clr>
        </p15:guide>
        <p15:guide id="2" pos="7680">
          <p15:clr>
            <a:srgbClr val="462901"/>
          </p15:clr>
        </p15:guide>
        <p15:guide id="3" pos="161">
          <p15:clr>
            <a:srgbClr val="462901"/>
          </p15:clr>
        </p15:guide>
        <p15:guide id="4" pos="1935">
          <p15:clr>
            <a:srgbClr val="462901"/>
          </p15:clr>
        </p15:guide>
        <p15:guide id="5" pos="2022">
          <p15:clr>
            <a:srgbClr val="462901"/>
          </p15:clr>
        </p15:guide>
        <p15:guide id="6" pos="3796">
          <p15:clr>
            <a:srgbClr val="462901"/>
          </p15:clr>
        </p15:guide>
        <p15:guide id="7" pos="3883">
          <p15:clr>
            <a:srgbClr val="462901"/>
          </p15:clr>
        </p15:guide>
        <p15:guide id="8" pos="5657">
          <p15:clr>
            <a:srgbClr val="462901"/>
          </p15:clr>
        </p15:guide>
        <p15:guide id="9" pos="5744">
          <p15:clr>
            <a:srgbClr val="462901"/>
          </p15:clr>
        </p15:guide>
        <p15:guide id="10" pos="7518">
          <p15:clr>
            <a:srgbClr val="462901"/>
          </p15:clr>
        </p15:guide>
        <p15:guide id="11" orient="horz">
          <p15:clr>
            <a:srgbClr val="462901"/>
          </p15:clr>
        </p15:guide>
        <p15:guide id="12" orient="horz" pos="4320">
          <p15:clr>
            <a:srgbClr val="462901"/>
          </p15:clr>
        </p15:guide>
        <p15:guide id="13" orient="horz" pos="161">
          <p15:clr>
            <a:srgbClr val="462901"/>
          </p15:clr>
        </p15:guide>
        <p15:guide id="14" orient="horz" pos="755">
          <p15:clr>
            <a:srgbClr val="462901"/>
          </p15:clr>
        </p15:guide>
        <p15:guide id="15" orient="horz" pos="841">
          <p15:clr>
            <a:srgbClr val="462901"/>
          </p15:clr>
        </p15:guide>
        <p15:guide id="16" orient="horz" pos="1436">
          <p15:clr>
            <a:srgbClr val="462901"/>
          </p15:clr>
        </p15:guide>
        <p15:guide id="17" orient="horz" pos="1522">
          <p15:clr>
            <a:srgbClr val="462901"/>
          </p15:clr>
        </p15:guide>
        <p15:guide id="18" orient="horz" pos="2116">
          <p15:clr>
            <a:srgbClr val="462901"/>
          </p15:clr>
        </p15:guide>
        <p15:guide id="19" orient="horz" pos="2203">
          <p15:clr>
            <a:srgbClr val="462901"/>
          </p15:clr>
        </p15:guide>
        <p15:guide id="20" orient="horz" pos="2797">
          <p15:clr>
            <a:srgbClr val="462901"/>
          </p15:clr>
        </p15:guide>
        <p15:guide id="21" orient="horz" pos="2883">
          <p15:clr>
            <a:srgbClr val="462901"/>
          </p15:clr>
        </p15:guide>
        <p15:guide id="22" orient="horz" pos="3478">
          <p15:clr>
            <a:srgbClr val="462901"/>
          </p15:clr>
        </p15:guide>
        <p15:guide id="23" orient="horz" pos="3564">
          <p15:clr>
            <a:srgbClr val="462901"/>
          </p15:clr>
        </p15:guide>
        <p15:guide id="24" orient="horz" pos="4158">
          <p15:clr>
            <a:srgbClr val="46290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proteinatlas.org/ENSG00000185499-MUC1/cancer/breast+cancer#img" TargetMode="External"/><Relationship Id="rId7" Type="http://schemas.openxmlformats.org/officeDocument/2006/relationships/hyperlink" Target="https://aacrjournals.org/clincancerres/article/26/9/2188/83190/A-Novel-GUCY2C-CD3-T-Cell-Engaging-Bispecifi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mc.ncbi.nlm.nih.gov/articles/PMC6124453/" TargetMode="External"/><Relationship Id="rId11" Type="http://schemas.openxmlformats.org/officeDocument/2006/relationships/image" Target="../media/image19.png"/><Relationship Id="rId5" Type="http://schemas.openxmlformats.org/officeDocument/2006/relationships/hyperlink" Target="https://poseida.com/wp-content/uploads/2023/04/Society-for-Immunotherapy-of-Cancer-SITC-Annual-Meeting-2022_MUC1C-Phase-1-study.pdf" TargetMode="External"/><Relationship Id="rId10" Type="http://schemas.openxmlformats.org/officeDocument/2006/relationships/image" Target="../media/image18.png"/><Relationship Id="rId4" Type="http://schemas.openxmlformats.org/officeDocument/2006/relationships/hyperlink" Target="https://www.ncbi.nlm.nih.gov/pubmed/22580612" TargetMode="External"/><Relationship Id="rId9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microsoft.com/office/2018/10/relationships/comments" Target="../comments/modernComment_258_5FA5C0F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www.ncbi.nlm.nih.gov/pubmed/40604087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s://www.ncbi.nlm.nih.gov/pubmed/2258061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hyperlink" Target="https://www.proteinatlas.org/ENSG00000185499-MUC1/cancer/breast+cancer#img" TargetMode="External"/><Relationship Id="rId5" Type="http://schemas.openxmlformats.org/officeDocument/2006/relationships/image" Target="../media/image21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www.ncbi.nlm.nih.gov/pubmed/40604087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s://www.ncbi.nlm.nih.gov/pubmed/22580612" TargetMode="External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hyperlink" Target="https://www.proteinatlas.org/ENSG00000185499-MUC1/cancer/breast+cancer#img" TargetMode="External"/><Relationship Id="rId5" Type="http://schemas.openxmlformats.org/officeDocument/2006/relationships/image" Target="../media/image21.png"/><Relationship Id="rId15" Type="http://schemas.openxmlformats.org/officeDocument/2006/relationships/hyperlink" Target="https://aacrjournals.org/clincancerres/article/26/9/2188/83190/A-Novel-GUCY2C-CD3-T-Cell-Engaging-Bispecific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poseida.com/wp-content/uploads/2023/04/Society-for-Immunotherapy-of-Cancer-SITC-Annual-Meeting-2022_MUC1C-Phase-1-study.pdf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www.atsjournals.org/doi/epdf/10.1165/ajrcmb.24.1.4294?role=tab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s://www.ncbi.nlm.nih.gov/pubmed/39664199" TargetMode="External"/><Relationship Id="rId17" Type="http://schemas.openxmlformats.org/officeDocument/2006/relationships/hyperlink" Target="https://www.proteinatlas.org/ENSG00000185499-MUC1/tissue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ncbi.nlm.nih.gov/pubmed/29290794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hyperlink" Target="https://poseida.com/wp-content/uploads/2023/04/Society-for-Immunotherapy-of-Cancer-SITC-Annual-Meeting-2022_MUC1C-Phase-1-study.pdf" TargetMode="External"/><Relationship Id="rId5" Type="http://schemas.openxmlformats.org/officeDocument/2006/relationships/image" Target="../media/image21.png"/><Relationship Id="rId15" Type="http://schemas.openxmlformats.org/officeDocument/2006/relationships/hyperlink" Target="https://aacrjournals.org/clincancerres/article/26/9/2188/83190/A-Novel-GUCY2C-CD3-T-Cell-Engaging-Bispecific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www.ncbi.nlm.nih.gov/pubmed/25319180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www.ncbi.nlm.nih.gov/pubmed/38164273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s://www.ncbi.nlm.nih.gov/pubmed/40604087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hyperlink" Target="https://www.ncbi.nlm.nih.gov/pubmed/32710608" TargetMode="External"/><Relationship Id="rId5" Type="http://schemas.openxmlformats.org/officeDocument/2006/relationships/image" Target="../media/image21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www.ncbi.nlm.nih.gov/pubmed/34207342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www.cancer.org/cancer/types/colon-rectal-cancer/about/key-statistics.html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hyperlink" Target="https://www.cancer.org/cancer/types/breast-cancer/about/how-common-is-breast-cancer" TargetMode="External"/><Relationship Id="rId17" Type="http://schemas.openxmlformats.org/officeDocument/2006/relationships/hyperlink" Target="https://pubmed.ncbi.nlm.nih.gov/28465170/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pubmed.ncbi.nlm.nih.gov/39842245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hyperlink" Target="https://www.cancer.org/cancer/types/lung-cancer/about/key-statistics.html" TargetMode="External"/><Relationship Id="rId5" Type="http://schemas.openxmlformats.org/officeDocument/2006/relationships/image" Target="../media/image21.png"/><Relationship Id="rId15" Type="http://schemas.openxmlformats.org/officeDocument/2006/relationships/hyperlink" Target="https://www.cancertherapyadvisor.com/news/non-small-cell-lung-cancer-nsclc-many-patients-do-not-survive-first-line-therapy/?utm_source=chatgpt.com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hyperlink" Target="https://www.cdc.gov/united-states-cancer-statistics/publications/breast-cancer-stat-bite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1A93A-40E2-B92A-4E46-31DB6A7AE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MUC1-C Target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40B64-41AD-D710-7364-8782E77C6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37B8E-E4ED-3F09-2AF4-8E6581AB79FF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521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8FF3-E71F-6216-7D13-F66A9F037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A913DAAD-0BB3-07EE-531E-1676C18F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1" y="1377921"/>
            <a:ext cx="11608727" cy="414463"/>
          </a:xfrm>
        </p:spPr>
        <p:txBody>
          <a:bodyPr/>
          <a:lstStyle/>
          <a:p>
            <a:r>
              <a:rPr lang="en-US"/>
              <a:t>Multi-Cancer: MUC1-C </a:t>
            </a:r>
            <a:r>
              <a:rPr lang="en-US" kern="0" spc="-24">
                <a:solidFill>
                  <a:srgbClr val="000000">
                    <a:alpha val="99000"/>
                  </a:srgbClr>
                </a:solidFill>
              </a:rPr>
              <a:t>tumor-selective antigen exposure &amp; tumor-specific accessibility</a:t>
            </a:r>
            <a:br>
              <a:rPr lang="en-US" kern="0" spc="-24">
                <a:solidFill>
                  <a:srgbClr val="000000">
                    <a:alpha val="99000"/>
                  </a:srgbClr>
                </a:solidFill>
                <a:latin typeface="Funnel Sans"/>
              </a:rPr>
            </a:b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0EAC73-984D-239F-EFE7-1742C77944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</a:t>
            </a: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E35A44-6981-E358-9DC1-062B816E8A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1E5F93-45D3-472F-9EA1-BCB47A04FF6B}" type="slidenum">
              <a:rPr kumimoji="0" lang="en-GB" sz="900" b="0" i="0" u="none" strike="noStrike" kern="1200" cap="none" spc="-39" normalizeH="0" baseline="0" noProof="0" smtClean="0">
                <a:ln>
                  <a:noFill/>
                </a:ln>
                <a:solidFill>
                  <a:srgbClr val="65667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900" b="0" i="0" u="none" strike="noStrike" kern="1200" cap="none" spc="-39" normalizeH="0" baseline="0" noProof="0">
              <a:ln>
                <a:noFill/>
              </a:ln>
              <a:solidFill>
                <a:srgbClr val="65667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DBA72C00-921D-CD74-AF62-D0086D6C9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Target Selection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EC416D-4DDF-69DB-6FE9-42531276B7A9}"/>
              </a:ext>
            </a:extLst>
          </p:cNvPr>
          <p:cNvGrpSpPr/>
          <p:nvPr/>
        </p:nvGrpSpPr>
        <p:grpSpPr>
          <a:xfrm>
            <a:off x="257178" y="1992420"/>
            <a:ext cx="6523518" cy="4576212"/>
            <a:chOff x="3527298" y="2509627"/>
            <a:chExt cx="3423291" cy="4576212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2EB8EAA-6824-35FD-BA27-D6012EAF3CF1}"/>
                </a:ext>
              </a:extLst>
            </p:cNvPr>
            <p:cNvSpPr/>
            <p:nvPr/>
          </p:nvSpPr>
          <p:spPr>
            <a:xfrm>
              <a:off x="3527298" y="2509627"/>
              <a:ext cx="3423291" cy="307028"/>
            </a:xfrm>
            <a:prstGeom prst="round2SameRect">
              <a:avLst>
                <a:gd name="adj1" fmla="val 32721"/>
                <a:gd name="adj2" fmla="val 0"/>
              </a:avLst>
            </a:prstGeom>
            <a:solidFill>
              <a:schemeClr val="accent2"/>
            </a:solidFill>
            <a:ln/>
          </p:spPr>
          <p:txBody>
            <a:bodyPr tIns="18288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Expression</a:t>
              </a:r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6CA20E45-996B-598C-39F5-7CF534900619}"/>
                </a:ext>
              </a:extLst>
            </p:cNvPr>
            <p:cNvSpPr/>
            <p:nvPr/>
          </p:nvSpPr>
          <p:spPr>
            <a:xfrm rot="10800000">
              <a:off x="3527298" y="2816654"/>
              <a:ext cx="3423291" cy="4269185"/>
            </a:xfrm>
            <a:prstGeom prst="round2SameRect">
              <a:avLst>
                <a:gd name="adj1" fmla="val 9436"/>
                <a:gd name="adj2" fmla="val 0"/>
              </a:avLst>
            </a:prstGeom>
            <a:solidFill>
              <a:srgbClr val="FFFFFF"/>
            </a:solidFill>
            <a:ln/>
          </p:spPr>
          <p:txBody>
            <a:bodyPr lIns="91440" tIns="45720" rIns="91440" bIns="4572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36DF2B-614E-9B25-8866-C1D4A9C775CF}"/>
              </a:ext>
            </a:extLst>
          </p:cNvPr>
          <p:cNvGrpSpPr/>
          <p:nvPr/>
        </p:nvGrpSpPr>
        <p:grpSpPr>
          <a:xfrm>
            <a:off x="7112641" y="1992420"/>
            <a:ext cx="4703880" cy="2442064"/>
            <a:chOff x="3527297" y="2509627"/>
            <a:chExt cx="3423292" cy="2294930"/>
          </a:xfrm>
        </p:grpSpPr>
        <p:sp>
          <p:nvSpPr>
            <p:cNvPr id="33" name="Shape 2">
              <a:extLst>
                <a:ext uri="{FF2B5EF4-FFF2-40B4-BE49-F238E27FC236}">
                  <a16:creationId xmlns:a16="http://schemas.microsoft.com/office/drawing/2014/main" id="{027AB55A-2DB8-FCA9-B464-47CDBCD81685}"/>
                </a:ext>
              </a:extLst>
            </p:cNvPr>
            <p:cNvSpPr/>
            <p:nvPr/>
          </p:nvSpPr>
          <p:spPr>
            <a:xfrm>
              <a:off x="3527298" y="2509627"/>
              <a:ext cx="3423291" cy="307028"/>
            </a:xfrm>
            <a:prstGeom prst="round2SameRect">
              <a:avLst>
                <a:gd name="adj1" fmla="val 32721"/>
                <a:gd name="adj2" fmla="val 0"/>
              </a:avLst>
            </a:prstGeom>
            <a:solidFill>
              <a:schemeClr val="accent2"/>
            </a:solidFill>
            <a:ln/>
          </p:spPr>
          <p:txBody>
            <a:bodyPr tIns="18288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Biology &amp; Feasibility</a:t>
              </a:r>
            </a:p>
          </p:txBody>
        </p:sp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445045F9-FC04-02BA-87A9-D07DD95552A0}"/>
                </a:ext>
              </a:extLst>
            </p:cNvPr>
            <p:cNvSpPr/>
            <p:nvPr/>
          </p:nvSpPr>
          <p:spPr>
            <a:xfrm rot="10800000">
              <a:off x="3527297" y="2816654"/>
              <a:ext cx="3423291" cy="1987903"/>
            </a:xfrm>
            <a:prstGeom prst="round2SameRect">
              <a:avLst>
                <a:gd name="adj1" fmla="val 9436"/>
                <a:gd name="adj2" fmla="val 0"/>
              </a:avLst>
            </a:prstGeom>
            <a:solidFill>
              <a:srgbClr val="FFFFFF"/>
            </a:solidFill>
            <a:ln/>
          </p:spPr>
          <p:txBody>
            <a:bodyPr lIns="91440" tIns="45720" rIns="91440" bIns="4572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2DD10E8-F502-8B07-16EA-C9D8FABE77BE}"/>
              </a:ext>
            </a:extLst>
          </p:cNvPr>
          <p:cNvGrpSpPr/>
          <p:nvPr/>
        </p:nvGrpSpPr>
        <p:grpSpPr>
          <a:xfrm>
            <a:off x="7112641" y="4513241"/>
            <a:ext cx="4703880" cy="715080"/>
            <a:chOff x="3527297" y="2509627"/>
            <a:chExt cx="3423292" cy="715080"/>
          </a:xfrm>
        </p:grpSpPr>
        <p:sp>
          <p:nvSpPr>
            <p:cNvPr id="36" name="Shape 2">
              <a:extLst>
                <a:ext uri="{FF2B5EF4-FFF2-40B4-BE49-F238E27FC236}">
                  <a16:creationId xmlns:a16="http://schemas.microsoft.com/office/drawing/2014/main" id="{822C7A91-9ED1-3EA1-19E8-33DEA1249CBD}"/>
                </a:ext>
              </a:extLst>
            </p:cNvPr>
            <p:cNvSpPr/>
            <p:nvPr/>
          </p:nvSpPr>
          <p:spPr>
            <a:xfrm>
              <a:off x="3527298" y="2509627"/>
              <a:ext cx="3423291" cy="307028"/>
            </a:xfrm>
            <a:prstGeom prst="round2SameRect">
              <a:avLst>
                <a:gd name="adj1" fmla="val 32721"/>
                <a:gd name="adj2" fmla="val 0"/>
              </a:avLst>
            </a:prstGeom>
            <a:solidFill>
              <a:schemeClr val="accent2"/>
            </a:solidFill>
            <a:ln/>
          </p:spPr>
          <p:txBody>
            <a:bodyPr tIns="18288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Landscape</a:t>
              </a:r>
            </a:p>
          </p:txBody>
        </p:sp>
        <p:sp>
          <p:nvSpPr>
            <p:cNvPr id="37" name="Shape 5">
              <a:extLst>
                <a:ext uri="{FF2B5EF4-FFF2-40B4-BE49-F238E27FC236}">
                  <a16:creationId xmlns:a16="http://schemas.microsoft.com/office/drawing/2014/main" id="{C6800384-59F5-80C1-C97D-C2FAC29E81AA}"/>
                </a:ext>
              </a:extLst>
            </p:cNvPr>
            <p:cNvSpPr/>
            <p:nvPr/>
          </p:nvSpPr>
          <p:spPr>
            <a:xfrm rot="10800000">
              <a:off x="3527297" y="2816654"/>
              <a:ext cx="3423291" cy="408053"/>
            </a:xfrm>
            <a:prstGeom prst="round2SameRect">
              <a:avLst>
                <a:gd name="adj1" fmla="val 9436"/>
                <a:gd name="adj2" fmla="val 0"/>
              </a:avLst>
            </a:prstGeom>
            <a:solidFill>
              <a:srgbClr val="FFFFFF"/>
            </a:solidFill>
            <a:ln/>
          </p:spPr>
          <p:txBody>
            <a:bodyPr lIns="91440" tIns="45720" rIns="91440" bIns="4572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23A23AD-629C-B296-339A-510D0513216E}"/>
              </a:ext>
            </a:extLst>
          </p:cNvPr>
          <p:cNvGrpSpPr/>
          <p:nvPr/>
        </p:nvGrpSpPr>
        <p:grpSpPr>
          <a:xfrm>
            <a:off x="7112643" y="5353699"/>
            <a:ext cx="4703879" cy="1214933"/>
            <a:chOff x="3527298" y="2509627"/>
            <a:chExt cx="3423291" cy="1214933"/>
          </a:xfrm>
        </p:grpSpPr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735017A-A735-9649-8664-21BA1BA42EF4}"/>
                </a:ext>
              </a:extLst>
            </p:cNvPr>
            <p:cNvSpPr/>
            <p:nvPr/>
          </p:nvSpPr>
          <p:spPr>
            <a:xfrm>
              <a:off x="3527298" y="2509627"/>
              <a:ext cx="3423291" cy="307028"/>
            </a:xfrm>
            <a:prstGeom prst="round2SameRect">
              <a:avLst>
                <a:gd name="adj1" fmla="val 32721"/>
                <a:gd name="adj2" fmla="val 0"/>
              </a:avLst>
            </a:prstGeom>
            <a:solidFill>
              <a:schemeClr val="accent4"/>
            </a:solidFill>
            <a:ln/>
          </p:spPr>
          <p:txBody>
            <a:bodyPr tIns="18288" bIns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 Medium" pitchFamily="2" charset="0"/>
                  <a:ea typeface="+mn-ea"/>
                  <a:cs typeface="+mn-cs"/>
                </a:rPr>
                <a:t>Sego’s Approach</a:t>
              </a:r>
            </a:p>
          </p:txBody>
        </p:sp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0E1E1B72-32FA-92FA-9BBA-AFB8018EA82A}"/>
                </a:ext>
              </a:extLst>
            </p:cNvPr>
            <p:cNvSpPr/>
            <p:nvPr/>
          </p:nvSpPr>
          <p:spPr>
            <a:xfrm rot="10800000">
              <a:off x="3527298" y="2816652"/>
              <a:ext cx="3423291" cy="907908"/>
            </a:xfrm>
            <a:prstGeom prst="round2SameRect">
              <a:avLst>
                <a:gd name="adj1" fmla="val 9436"/>
                <a:gd name="adj2" fmla="val 0"/>
              </a:avLst>
            </a:prstGeom>
            <a:solidFill>
              <a:srgbClr val="FFFFFF"/>
            </a:solidFill>
            <a:ln/>
          </p:spPr>
          <p:txBody>
            <a:bodyPr lIns="91440" tIns="45720" rIns="91440" bIns="4572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C6B914E-2473-5D13-9D67-BD326F07E40A}"/>
              </a:ext>
            </a:extLst>
          </p:cNvPr>
          <p:cNvSpPr txBox="1"/>
          <p:nvPr/>
        </p:nvSpPr>
        <p:spPr>
          <a:xfrm>
            <a:off x="0" y="6647389"/>
            <a:ext cx="96372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Sources: : :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3"/>
              </a:rPr>
              <a:t>www.proteinatlas.org MUC1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4"/>
              </a:rPr>
              <a:t>Kufe 2013 Oncogene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5"/>
              </a:rPr>
              <a:t>Henry 2022, SITC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6"/>
              </a:rPr>
              <a:t>Panchamoorthy et al 2018 JCI Insight</a:t>
            </a:r>
            <a:endParaRPr kumimoji="0" lang="en-US" sz="800" b="0" i="0" u="sng" strike="noStrike" kern="1200" cap="none" spc="0" normalizeH="0" baseline="0" noProof="0">
              <a:ln>
                <a:noFill/>
              </a:ln>
              <a:solidFill>
                <a:srgbClr val="002924"/>
              </a:solidFill>
              <a:effectLst/>
              <a:uLnTx/>
              <a:uFillTx/>
              <a:latin typeface="Funnel Sans"/>
              <a:ea typeface="+mn-ea"/>
              <a:cs typeface="+mn-cs"/>
              <a:hlinkClick r:id="rId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B40A0A-0F89-86E6-651A-A0A57311D5C8}"/>
              </a:ext>
            </a:extLst>
          </p:cNvPr>
          <p:cNvSpPr txBox="1"/>
          <p:nvPr/>
        </p:nvSpPr>
        <p:spPr>
          <a:xfrm>
            <a:off x="8737047" y="3622716"/>
            <a:ext cx="1035845" cy="5993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F1B8C9-4B41-58E6-10E3-5EDD53A9D1A7}"/>
              </a:ext>
            </a:extLst>
          </p:cNvPr>
          <p:cNvSpPr txBox="1"/>
          <p:nvPr/>
        </p:nvSpPr>
        <p:spPr>
          <a:xfrm>
            <a:off x="7243010" y="4915521"/>
            <a:ext cx="4524957" cy="5290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No MUC1-C RLT in development, to our knowledge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E794C9-0AA2-71B2-A410-8A54B349EDC8}"/>
              </a:ext>
            </a:extLst>
          </p:cNvPr>
          <p:cNvGraphicFramePr>
            <a:graphicFrameLocks noGrp="1"/>
          </p:cNvGraphicFramePr>
          <p:nvPr/>
        </p:nvGraphicFramePr>
        <p:xfrm>
          <a:off x="7218813" y="2378640"/>
          <a:ext cx="3180051" cy="19876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371">
                  <a:extLst>
                    <a:ext uri="{9D8B030D-6E8A-4147-A177-3AD203B41FA5}">
                      <a16:colId xmlns:a16="http://schemas.microsoft.com/office/drawing/2014/main" val="234264494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7546687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461637697"/>
                    </a:ext>
                  </a:extLst>
                </a:gridCol>
              </a:tblGrid>
              <a:tr h="575785"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Funnel Sans Medium" pitchFamily="2" charset="0"/>
                        </a:rPr>
                        <a:t>Tumor-specific accessibility</a:t>
                      </a:r>
                    </a:p>
                  </a:txBody>
                  <a:tcPr marL="4572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✓</a:t>
                      </a:r>
                    </a:p>
                  </a:txBody>
                  <a:tcPr marL="4572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Tumor-specific antigen &amp; accessibility</a:t>
                      </a:r>
                    </a:p>
                  </a:txBody>
                  <a:tcPr marL="4572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77722"/>
                  </a:ext>
                </a:extLst>
              </a:tr>
              <a:tr h="345472"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Funnel Sans Medium" pitchFamily="2" charset="0"/>
                        </a:rPr>
                        <a:t>Internalization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✓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Natively internalized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785566"/>
                  </a:ext>
                </a:extLst>
              </a:tr>
              <a:tr h="490575"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Funnel Sans Medium" pitchFamily="2" charset="0"/>
                        </a:rPr>
                        <a:t>Secretion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/>
                        <a:t>✓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/>
                        <a:t>Retained on cell surface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988676"/>
                  </a:ext>
                </a:extLst>
              </a:tr>
              <a:tr h="575785">
                <a:tc>
                  <a:txBody>
                    <a:bodyPr/>
                    <a:lstStyle/>
                    <a:p>
                      <a:r>
                        <a:rPr lang="en-US" sz="1200" b="0" err="1">
                          <a:latin typeface="Funnel Sans Medium" pitchFamily="2" charset="0"/>
                        </a:rPr>
                        <a:t>Ligandability</a:t>
                      </a:r>
                      <a:endParaRPr lang="en-US" sz="1200" b="0">
                        <a:latin typeface="Funnel Sans Medium" pitchFamily="2" charset="0"/>
                      </a:endParaRP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/>
                        <a:t>✓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err="1"/>
                        <a:t>mAb</a:t>
                      </a:r>
                      <a:r>
                        <a:rPr lang="en-US" sz="1200" b="0"/>
                        <a:t> binding site can be used for peptide design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7830281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F74A94A-2F97-5D36-2D35-2F2D76209215}"/>
              </a:ext>
            </a:extLst>
          </p:cNvPr>
          <p:cNvGraphicFramePr>
            <a:graphicFrameLocks noGrp="1"/>
          </p:cNvGraphicFramePr>
          <p:nvPr/>
        </p:nvGraphicFramePr>
        <p:xfrm>
          <a:off x="7188485" y="5681492"/>
          <a:ext cx="4552190" cy="840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1273">
                  <a:extLst>
                    <a:ext uri="{9D8B030D-6E8A-4147-A177-3AD203B41FA5}">
                      <a16:colId xmlns:a16="http://schemas.microsoft.com/office/drawing/2014/main" val="2342644943"/>
                    </a:ext>
                  </a:extLst>
                </a:gridCol>
                <a:gridCol w="3620917">
                  <a:extLst>
                    <a:ext uri="{9D8B030D-6E8A-4147-A177-3AD203B41FA5}">
                      <a16:colId xmlns:a16="http://schemas.microsoft.com/office/drawing/2014/main" val="1461637697"/>
                    </a:ext>
                  </a:extLst>
                </a:gridCol>
              </a:tblGrid>
              <a:tr h="317973"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Funnel Sans Medium" pitchFamily="2" charset="0"/>
                        </a:rPr>
                        <a:t>Modality</a:t>
                      </a:r>
                    </a:p>
                  </a:txBody>
                  <a:tcPr marL="4572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MUC1-C peptide RLT</a:t>
                      </a:r>
                      <a:endParaRPr lang="en-US" sz="1200" b="0"/>
                    </a:p>
                  </a:txBody>
                  <a:tcPr marL="45720" anchor="ctr"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77722"/>
                  </a:ext>
                </a:extLst>
              </a:tr>
              <a:tr h="522485"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Funnel Sans Medium" pitchFamily="2" charset="0"/>
                        </a:rPr>
                        <a:t>Positioning</a:t>
                      </a:r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2L metastatic LUAD with the goal of replacing current salvage </a:t>
                      </a:r>
                      <a:r>
                        <a:rPr lang="en-US" sz="1200" err="1"/>
                        <a:t>tx</a:t>
                      </a:r>
                      <a:r>
                        <a:rPr lang="en-US" sz="1200"/>
                        <a:t>. May combine with PD-(L)1.</a:t>
                      </a:r>
                      <a:endParaRPr lang="en-US" sz="1200" b="0"/>
                    </a:p>
                  </a:txBody>
                  <a:tcPr marL="45720" anchor="ctr"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78556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D1A32EC-38ED-B8EF-DC2E-ECC6B7753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681" y="4434040"/>
            <a:ext cx="2776359" cy="1893605"/>
          </a:xfrm>
          <a:prstGeom prst="rect">
            <a:avLst/>
          </a:prstGeom>
        </p:spPr>
      </p:pic>
      <p:pic>
        <p:nvPicPr>
          <p:cNvPr id="6" name="Picture 5" descr="Figure 2.">
            <a:extLst>
              <a:ext uri="{FF2B5EF4-FFF2-40B4-BE49-F238E27FC236}">
                <a16:creationId xmlns:a16="http://schemas.microsoft.com/office/drawing/2014/main" id="{A1E6B52E-6CFA-8EB7-DA66-13F3108DB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30046" r="4306" b="34255"/>
          <a:stretch>
            <a:fillRect/>
          </a:stretch>
        </p:blipFill>
        <p:spPr bwMode="auto">
          <a:xfrm>
            <a:off x="1566546" y="2402704"/>
            <a:ext cx="3478499" cy="155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7D3932-64C9-F2F7-5E12-165068BAE2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3845" y="4493034"/>
            <a:ext cx="2567074" cy="16976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2D7B659-49F2-FB16-D546-4579C671FEAE}"/>
              </a:ext>
            </a:extLst>
          </p:cNvPr>
          <p:cNvGrpSpPr>
            <a:grpSpLocks noChangeAspect="1"/>
          </p:cNvGrpSpPr>
          <p:nvPr/>
        </p:nvGrpSpPr>
        <p:grpSpPr>
          <a:xfrm>
            <a:off x="10274853" y="3004453"/>
            <a:ext cx="1541667" cy="907909"/>
            <a:chOff x="4314965" y="4325803"/>
            <a:chExt cx="3285584" cy="19349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700D68-B4C2-0E3A-E27E-90F501CD7AD2}"/>
                </a:ext>
              </a:extLst>
            </p:cNvPr>
            <p:cNvGrpSpPr/>
            <p:nvPr/>
          </p:nvGrpSpPr>
          <p:grpSpPr>
            <a:xfrm>
              <a:off x="4314965" y="4325803"/>
              <a:ext cx="3285584" cy="1934926"/>
              <a:chOff x="4314965" y="4325803"/>
              <a:chExt cx="3285584" cy="1934926"/>
            </a:xfrm>
          </p:grpSpPr>
          <p:pic>
            <p:nvPicPr>
              <p:cNvPr id="12" name="Picture 11" descr="A diagram of a protein&#10;&#10;AI-generated content may be incorrect.">
                <a:extLst>
                  <a:ext uri="{FF2B5EF4-FFF2-40B4-BE49-F238E27FC236}">
                    <a16:creationId xmlns:a16="http://schemas.microsoft.com/office/drawing/2014/main" id="{562FD139-21FE-259F-6D42-BFEBA3069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14125" y="4325803"/>
                <a:ext cx="2886424" cy="193492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F2A992-A4D6-5563-D121-C99644F78E2F}"/>
                  </a:ext>
                </a:extLst>
              </p:cNvPr>
              <p:cNvSpPr txBox="1"/>
              <p:nvPr/>
            </p:nvSpPr>
            <p:spPr>
              <a:xfrm>
                <a:off x="4314965" y="4940609"/>
                <a:ext cx="910994" cy="4614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mAb</a:t>
                </a:r>
                <a:r>
                  <a:rPr kumimoji="0" 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 binding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BC824E-5000-AF27-A378-984EE943D225}"/>
                </a:ext>
              </a:extLst>
            </p:cNvPr>
            <p:cNvSpPr txBox="1"/>
            <p:nvPr/>
          </p:nvSpPr>
          <p:spPr>
            <a:xfrm>
              <a:off x="4444387" y="4342431"/>
              <a:ext cx="1563144" cy="2204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MUC1-C Structure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A7EBC0-6554-CA78-48A6-8AF4B06995E6}"/>
              </a:ext>
            </a:extLst>
          </p:cNvPr>
          <p:cNvCxnSpPr>
            <a:cxnSpLocks/>
          </p:cNvCxnSpPr>
          <p:nvPr/>
        </p:nvCxnSpPr>
        <p:spPr>
          <a:xfrm>
            <a:off x="3735775" y="3973660"/>
            <a:ext cx="2823214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452AE8-7C94-8785-612B-980B160154FC}"/>
              </a:ext>
            </a:extLst>
          </p:cNvPr>
          <p:cNvCxnSpPr>
            <a:cxnSpLocks/>
          </p:cNvCxnSpPr>
          <p:nvPr/>
        </p:nvCxnSpPr>
        <p:spPr>
          <a:xfrm>
            <a:off x="399923" y="3973660"/>
            <a:ext cx="3019874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71DAAD8-21A9-A326-6A02-AB4DBBFC5E16}"/>
              </a:ext>
            </a:extLst>
          </p:cNvPr>
          <p:cNvSpPr txBox="1"/>
          <p:nvPr/>
        </p:nvSpPr>
        <p:spPr>
          <a:xfrm>
            <a:off x="209048" y="2664101"/>
            <a:ext cx="1580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Apical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membranous expression in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healthy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secretory epithelial cells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760522-4ECF-2DFD-FA70-5DEB47B731F5}"/>
              </a:ext>
            </a:extLst>
          </p:cNvPr>
          <p:cNvSpPr txBox="1"/>
          <p:nvPr/>
        </p:nvSpPr>
        <p:spPr>
          <a:xfrm>
            <a:off x="4990096" y="2554540"/>
            <a:ext cx="198707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Upon malignant transformation: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1. Loss of polarization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2. Overexpression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3. Shedding of MUC1-N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4. Exposure of MUC1-C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5. MUC1-C internalization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010CE5-FA5C-56DD-FAFA-AC09BCADC8FA}"/>
              </a:ext>
            </a:extLst>
          </p:cNvPr>
          <p:cNvSpPr txBox="1"/>
          <p:nvPr/>
        </p:nvSpPr>
        <p:spPr>
          <a:xfrm>
            <a:off x="383652" y="4104646"/>
            <a:ext cx="30524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overexpression in epithelial cancers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710F23-49F8-9CBE-A8A6-21B1B743FF51}"/>
              </a:ext>
            </a:extLst>
          </p:cNvPr>
          <p:cNvSpPr txBox="1"/>
          <p:nvPr/>
        </p:nvSpPr>
        <p:spPr>
          <a:xfrm>
            <a:off x="3621174" y="4104646"/>
            <a:ext cx="30524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expression in Breast Cancer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910E53-5612-2DF5-9C91-12EC9AE0E409}"/>
              </a:ext>
            </a:extLst>
          </p:cNvPr>
          <p:cNvSpPr txBox="1"/>
          <p:nvPr/>
        </p:nvSpPr>
        <p:spPr>
          <a:xfrm>
            <a:off x="3345655" y="6003879"/>
            <a:ext cx="1683782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Apical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membranous expression in glandular cells of the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normal breast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F307BD-F496-020A-0E3F-EB7C7E37E94C}"/>
              </a:ext>
            </a:extLst>
          </p:cNvPr>
          <p:cNvSpPr txBox="1"/>
          <p:nvPr/>
        </p:nvSpPr>
        <p:spPr>
          <a:xfrm>
            <a:off x="5019383" y="6003879"/>
            <a:ext cx="175699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Diffuse membranous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and cytoplasmic expression in breast duct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carcinoma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2A7B2C7-48F1-4D85-CC65-6E55265D9DCB}"/>
              </a:ext>
            </a:extLst>
          </p:cNvPr>
          <p:cNvCxnSpPr>
            <a:cxnSpLocks/>
          </p:cNvCxnSpPr>
          <p:nvPr/>
        </p:nvCxnSpPr>
        <p:spPr>
          <a:xfrm flipV="1">
            <a:off x="4432429" y="5352918"/>
            <a:ext cx="605794" cy="65731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A970E33-68B3-1849-020A-652D6E45D435}"/>
              </a:ext>
            </a:extLst>
          </p:cNvPr>
          <p:cNvCxnSpPr>
            <a:cxnSpLocks/>
            <a:stCxn id="62" idx="0"/>
          </p:cNvCxnSpPr>
          <p:nvPr/>
        </p:nvCxnSpPr>
        <p:spPr>
          <a:xfrm flipH="1" flipV="1">
            <a:off x="5441576" y="4949333"/>
            <a:ext cx="456304" cy="105454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24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1688-8895-54A4-E57E-DDBAADFC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28">
            <a:extLst>
              <a:ext uri="{FF2B5EF4-FFF2-40B4-BE49-F238E27FC236}">
                <a16:creationId xmlns:a16="http://schemas.microsoft.com/office/drawing/2014/main" id="{DDD0CAB0-FD76-B052-FF47-146C6618ABF3}"/>
              </a:ext>
            </a:extLst>
          </p:cNvPr>
          <p:cNvSpPr/>
          <p:nvPr/>
        </p:nvSpPr>
        <p:spPr>
          <a:xfrm>
            <a:off x="254000" y="635564"/>
            <a:ext cx="11684000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ts val="3000"/>
              </a:lnSpc>
            </a:pPr>
            <a:r>
              <a:rPr lang="en-US" sz="2400" kern="0" spc="-24">
                <a:solidFill>
                  <a:srgbClr val="000000">
                    <a:alpha val="99000"/>
                  </a:srgbClr>
                </a:solidFill>
              </a:rPr>
              <a:t>MUC1 programs across modalities validate the target and inform RLT development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BF3473-107F-D704-F1E5-92E248D02FEC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ysClr val="windowText" lastClr="000000"/>
                </a:solidFill>
              </a:rPr>
              <a:t>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ADCA0-8F9A-AA6D-E70E-EAB505293F5A}"/>
              </a:ext>
            </a:extLst>
          </p:cNvPr>
          <p:cNvSpPr txBox="1"/>
          <p:nvPr/>
        </p:nvSpPr>
        <p:spPr>
          <a:xfrm>
            <a:off x="11055350" y="6540500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Confidential </a:t>
            </a:r>
            <a:fld id="{F55465F9-4A58-45DB-8234-396342B5FF6F}" type="slidenum">
              <a:rPr lang="en-US" sz="1000" smtClean="0"/>
              <a:pPr algn="r"/>
              <a:t>3</a:t>
            </a:fld>
            <a:endParaRPr lang="en-US" sz="1000"/>
          </a:p>
        </p:txBody>
      </p:sp>
      <p:cxnSp>
        <p:nvCxnSpPr>
          <p:cNvPr id="100" name="Line 99"/>
          <p:cNvCxnSpPr/>
          <p:nvPr/>
        </p:nvCxnSpPr>
        <p:spPr>
          <a:xfrm>
            <a:off x="254000" y="1422400"/>
            <a:ext cx="11684000" cy="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200" name="Card 200"/>
          <p:cNvSpPr/>
          <p:nvPr/>
        </p:nvSpPr>
        <p:spPr>
          <a:xfrm>
            <a:off x="254000" y="1651000"/>
            <a:ext cx="3810000" cy="4889500"/>
          </a:xfrm>
          <a:prstGeom prst="roundRect">
            <a:avLst>
              <a:gd name="adj" fmla="val 4802"/>
            </a:avLst>
          </a:prstGeom>
          <a:solidFill>
            <a:srgbClr val="F7F6F4"/>
          </a:solidFill>
          <a:ln w="6350">
            <a:noFill/>
          </a:ln>
        </p:spPr>
        <p:txBody>
          <a:bodyPr wrap="square" lIns="0" tIns="0" rIns="0" bIns="0" anchor="t"/>
          <a:lstStyle/>
          <a:p>
            <a:endParaRPr lang="en-US" sz="1400"/>
          </a:p>
        </p:txBody>
      </p:sp>
      <p:sp>
        <p:nvSpPr>
          <p:cNvPr id="201" name="Header 201"/>
          <p:cNvSpPr/>
          <p:nvPr/>
        </p:nvSpPr>
        <p:spPr>
          <a:xfrm>
            <a:off x="254000" y="1651000"/>
            <a:ext cx="3810000" cy="508000"/>
          </a:xfrm>
          <a:prstGeom prst="roundRect">
            <a:avLst>
              <a:gd name="adj" fmla="val 16667"/>
            </a:avLst>
          </a:prstGeom>
          <a:solidFill>
            <a:srgbClr val="1A4141"/>
          </a:solidFill>
          <a:ln>
            <a:noFill/>
          </a:ln>
        </p:spPr>
        <p:txBody>
          <a:bodyPr wrap="square" lIns="108000" tIns="54000" rIns="108000" bIns="5400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Funnel Sans"/>
                <a:ea typeface="Funnel Sans"/>
              </a:rPr>
              <a:t>CAR-T &amp; immunotherapy programs</a:t>
            </a:r>
          </a:p>
        </p:txBody>
      </p:sp>
      <p:sp>
        <p:nvSpPr>
          <p:cNvPr id="202" name="Body 202"/>
          <p:cNvSpPr/>
          <p:nvPr/>
        </p:nvSpPr>
        <p:spPr>
          <a:xfrm>
            <a:off x="381000" y="2286000"/>
            <a:ext cx="3556000" cy="4127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36000" anchor="t"/>
          <a:lstStyle/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err="1">
                <a:solidFill>
                  <a:srgbClr val="000000"/>
                </a:solidFill>
                <a:latin typeface="Funnel Sans"/>
                <a:ea typeface="Funnel Sans"/>
              </a:rPr>
              <a:t>Poseida</a:t>
            </a:r>
            <a:r>
              <a:rPr lang="en-US" sz="1200" b="1">
                <a:solidFill>
                  <a:srgbClr val="000000"/>
                </a:solidFill>
                <a:latin typeface="Funnel Sans"/>
                <a:ea typeface="Funnel Sans"/>
              </a:rPr>
              <a:t> P-MUC1C-ALLO1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>
                <a:solidFill>
                  <a:srgbClr val="555555"/>
                </a:solidFill>
                <a:latin typeface="Funnel Sans"/>
                <a:ea typeface="Funnel Sans"/>
              </a:rPr>
              <a:t>Targets MUC1-C.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Allogeneic CAR-T; Ph 1 in solid tumors; CRS Gr 1-2 dominant AE; no epithelial toxicity reported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Funnel Sans"/>
                <a:ea typeface="Funnel Sans"/>
              </a:rPr>
              <a:t>Minerva huMNC2-CAR44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>
                <a:solidFill>
                  <a:srgbClr val="555555"/>
                </a:solidFill>
                <a:latin typeface="Funnel Sans"/>
                <a:ea typeface="Funnel Sans"/>
              </a:rPr>
              <a:t>Targets MUC1* (cleaved form).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Autologous CAR-T; Ph 1/2 in breast, ovarian, NSCLC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Funnel Sans"/>
                <a:ea typeface="Funnel Sans"/>
              </a:rPr>
              <a:t>PDS Bio PDS0103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>
                <a:solidFill>
                  <a:srgbClr val="555555"/>
                </a:solidFill>
                <a:latin typeface="Funnel Sans"/>
                <a:ea typeface="Funnel Sans"/>
              </a:rPr>
              <a:t>Targets TA-MUC1 (full-length).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Versamune immunotherapy; IND cleared; breast/ovarian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000000"/>
                </a:solidFill>
                <a:latin typeface="Funnel Sans"/>
                <a:ea typeface="Funnel Sans"/>
              </a:rPr>
              <a:t>Key signal:</a:t>
            </a:r>
            <a:r>
              <a:rPr lang="en-US" sz="1200">
                <a:solidFill>
                  <a:srgbClr val="000000"/>
                </a:solidFill>
                <a:latin typeface="Funnel Sans"/>
                <a:ea typeface="Funnel Sans"/>
              </a:rPr>
              <a:t> MUC1-C CAR-T shows predictable immune toxicity (CRS, cytopenias) without on-target epithelial toxicities — favorable for RLT</a:t>
            </a:r>
          </a:p>
        </p:txBody>
      </p:sp>
      <p:sp>
        <p:nvSpPr>
          <p:cNvPr id="210" name="Card 210"/>
          <p:cNvSpPr/>
          <p:nvPr/>
        </p:nvSpPr>
        <p:spPr>
          <a:xfrm>
            <a:off x="4216400" y="1651000"/>
            <a:ext cx="3810000" cy="4889500"/>
          </a:xfrm>
          <a:prstGeom prst="roundRect">
            <a:avLst>
              <a:gd name="adj" fmla="val 5341"/>
            </a:avLst>
          </a:prstGeom>
          <a:solidFill>
            <a:srgbClr val="F7F6F4"/>
          </a:solidFill>
          <a:ln w="6350">
            <a:noFill/>
          </a:ln>
        </p:spPr>
        <p:txBody>
          <a:bodyPr wrap="square" lIns="0" tIns="0" rIns="0" bIns="0" anchor="t"/>
          <a:lstStyle/>
          <a:p>
            <a:endParaRPr lang="en-US" sz="1400"/>
          </a:p>
        </p:txBody>
      </p:sp>
      <p:sp>
        <p:nvSpPr>
          <p:cNvPr id="211" name="Header 211"/>
          <p:cNvSpPr/>
          <p:nvPr/>
        </p:nvSpPr>
        <p:spPr>
          <a:xfrm>
            <a:off x="4216400" y="1651000"/>
            <a:ext cx="3810000" cy="508000"/>
          </a:xfrm>
          <a:prstGeom prst="roundRect">
            <a:avLst>
              <a:gd name="adj" fmla="val 16667"/>
            </a:avLst>
          </a:prstGeom>
          <a:solidFill>
            <a:srgbClr val="256765"/>
          </a:solidFill>
          <a:ln>
            <a:noFill/>
          </a:ln>
        </p:spPr>
        <p:txBody>
          <a:bodyPr wrap="square" lIns="108000" tIns="54000" rIns="108000" bIns="5400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Funnel Sans"/>
                <a:ea typeface="Funnel Sans"/>
              </a:rPr>
              <a:t>ADC programs (clinical &amp; preclinical)</a:t>
            </a:r>
          </a:p>
        </p:txBody>
      </p:sp>
      <p:sp>
        <p:nvSpPr>
          <p:cNvPr id="212" name="Body 212"/>
          <p:cNvSpPr/>
          <p:nvPr/>
        </p:nvSpPr>
        <p:spPr>
          <a:xfrm>
            <a:off x="4343400" y="2286000"/>
            <a:ext cx="3556000" cy="4127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36000" anchor="t"/>
          <a:lstStyle/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0000"/>
                </a:solidFill>
                <a:ea typeface="Funnel Sans"/>
              </a:rPr>
              <a:t>Biocytogen</a:t>
            </a:r>
            <a:r>
              <a:rPr lang="en-US" sz="1200" b="1" dirty="0">
                <a:solidFill>
                  <a:srgbClr val="000000"/>
                </a:solidFill>
                <a:ea typeface="Funnel Sans"/>
              </a:rPr>
              <a:t> DM002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ea typeface="Funnel Sans"/>
              </a:rPr>
              <a:t>Targets MUC1-C/ED.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HER3×MUC1 bispecific ADC; Ph 1 initiated late 2024; MMAE payload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0000"/>
                </a:solidFill>
                <a:ea typeface="Funnel Sans"/>
              </a:rPr>
              <a:t>XYone</a:t>
            </a:r>
            <a:r>
              <a:rPr lang="en-US" sz="1200" b="1" dirty="0">
                <a:solidFill>
                  <a:srgbClr val="000000"/>
                </a:solidFill>
                <a:ea typeface="Funnel Sans"/>
              </a:rPr>
              <a:t> 3D1-MMAE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ea typeface="Funnel Sans"/>
              </a:rPr>
              <a:t>Targets MUC1-C.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Selective ADC; preclinical; no toxicity in MUC1-transgenic mouse models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Daiichi DS-3939a (</a:t>
            </a:r>
            <a:r>
              <a:rPr lang="en-US" sz="1200" b="1" dirty="0" err="1">
                <a:solidFill>
                  <a:srgbClr val="000000"/>
                </a:solidFill>
                <a:latin typeface="Funnel Sans"/>
                <a:ea typeface="Funnel Sans"/>
              </a:rPr>
              <a:t>DXd</a:t>
            </a: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latin typeface="Funnel Sans"/>
                <a:ea typeface="Funnel Sans"/>
              </a:rPr>
              <a:t>Targets TA-MUC1 (full-length).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Ph 1/2; ILD ~10% (payload-driven); neutropenia, GI toxicity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ea typeface="Funnel Sans"/>
              </a:rPr>
              <a:t>Merck/Sutro M1231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ea typeface="Funnel Sans"/>
              </a:rPr>
              <a:t>Targets TA-MUC1 (full-length).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 MUC1×EGFR bispecific ADC; </a:t>
            </a:r>
            <a:r>
              <a:rPr lang="en-US" sz="1200" dirty="0" err="1">
                <a:solidFill>
                  <a:srgbClr val="000000"/>
                </a:solidFill>
                <a:ea typeface="Funnel Sans"/>
              </a:rPr>
              <a:t>hemiasterlin</a:t>
            </a:r>
            <a:r>
              <a:rPr lang="en-US" sz="1200" dirty="0">
                <a:solidFill>
                  <a:srgbClr val="000000"/>
                </a:solidFill>
                <a:ea typeface="Funnel Sans"/>
              </a:rPr>
              <a:t>; NSCLC, ESCC</a:t>
            </a:r>
            <a:endParaRPr lang="en-US" sz="1200" dirty="0">
              <a:solidFill>
                <a:srgbClr val="000000"/>
              </a:solidFill>
              <a:latin typeface="Funnel Sans"/>
              <a:ea typeface="Funnel Sans"/>
            </a:endParaRP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SPARC SBO-154 (MMAE)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latin typeface="Funnel Sans"/>
                <a:ea typeface="Funnel Sans"/>
              </a:rPr>
              <a:t>Targets MUC1-SEA (full-length).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Ph 1 dose escalation underway; advanced solid tumors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DAC DXC-005 (</a:t>
            </a:r>
            <a:r>
              <a:rPr lang="en-US" sz="1200" b="1" dirty="0" err="1">
                <a:solidFill>
                  <a:srgbClr val="000000"/>
                </a:solidFill>
                <a:latin typeface="Funnel Sans"/>
                <a:ea typeface="Funnel Sans"/>
              </a:rPr>
              <a:t>Tubulysin</a:t>
            </a: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</a:t>
            </a:r>
            <a:r>
              <a:rPr lang="en-US" sz="1200" i="1" dirty="0">
                <a:solidFill>
                  <a:srgbClr val="555555"/>
                </a:solidFill>
                <a:latin typeface="Funnel Sans"/>
                <a:ea typeface="Funnel Sans"/>
              </a:rPr>
              <a:t>Targets full-length MUC1.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Ph 1 in China</a:t>
            </a:r>
          </a:p>
        </p:txBody>
      </p:sp>
      <p:sp>
        <p:nvSpPr>
          <p:cNvPr id="220" name="Card 220"/>
          <p:cNvSpPr/>
          <p:nvPr/>
        </p:nvSpPr>
        <p:spPr>
          <a:xfrm>
            <a:off x="8178800" y="1651000"/>
            <a:ext cx="3810000" cy="4889500"/>
          </a:xfrm>
          <a:prstGeom prst="roundRect">
            <a:avLst>
              <a:gd name="adj" fmla="val 6959"/>
            </a:avLst>
          </a:prstGeom>
          <a:solidFill>
            <a:srgbClr val="F7F6F4"/>
          </a:solidFill>
          <a:ln w="6350">
            <a:noFill/>
          </a:ln>
        </p:spPr>
        <p:txBody>
          <a:bodyPr wrap="square" lIns="0" tIns="0" rIns="0" bIns="0" anchor="t"/>
          <a:lstStyle/>
          <a:p>
            <a:endParaRPr lang="en-US" sz="1400"/>
          </a:p>
        </p:txBody>
      </p:sp>
      <p:sp>
        <p:nvSpPr>
          <p:cNvPr id="221" name="Header 221"/>
          <p:cNvSpPr/>
          <p:nvPr/>
        </p:nvSpPr>
        <p:spPr>
          <a:xfrm>
            <a:off x="8178800" y="1651000"/>
            <a:ext cx="3810000" cy="508000"/>
          </a:xfrm>
          <a:prstGeom prst="roundRect">
            <a:avLst>
              <a:gd name="adj" fmla="val 16667"/>
            </a:avLst>
          </a:prstGeom>
          <a:solidFill>
            <a:srgbClr val="C6DCCD"/>
          </a:solidFill>
          <a:ln>
            <a:noFill/>
          </a:ln>
        </p:spPr>
        <p:txBody>
          <a:bodyPr wrap="square" lIns="108000" tIns="54000" rIns="108000" bIns="54000" anchor="ctr"/>
          <a:lstStyle/>
          <a:p>
            <a:pPr algn="ctr"/>
            <a:r>
              <a:rPr lang="en-US" sz="1400" b="1">
                <a:latin typeface="Funnel Sans"/>
                <a:ea typeface="Funnel Sans"/>
              </a:rPr>
              <a:t>Lessons for RLT from safety data</a:t>
            </a:r>
          </a:p>
        </p:txBody>
      </p:sp>
      <p:sp>
        <p:nvSpPr>
          <p:cNvPr id="222" name="Body 222"/>
          <p:cNvSpPr/>
          <p:nvPr/>
        </p:nvSpPr>
        <p:spPr>
          <a:xfrm>
            <a:off x="8305800" y="2286000"/>
            <a:ext cx="3556000" cy="4127500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36000" anchor="t"/>
          <a:lstStyle/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No obvious epithelial toxicities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— across all MUC1 modalities (ADC, CAR-T, </a:t>
            </a:r>
            <a:r>
              <a:rPr lang="en-US" sz="1200" dirty="0" err="1">
                <a:solidFill>
                  <a:srgbClr val="000000"/>
                </a:solidFill>
                <a:latin typeface="Funnel Sans"/>
                <a:ea typeface="Funnel Sans"/>
              </a:rPr>
              <a:t>bispecifics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), no clinical evidence of on-target epithelial toxicity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ADC toxicities are largely payload-driven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hematologic AEs, ILD, and GI effects track with payload class (</a:t>
            </a:r>
            <a:r>
              <a:rPr lang="en-US" sz="1200" dirty="0" err="1">
                <a:solidFill>
                  <a:srgbClr val="000000"/>
                </a:solidFill>
                <a:latin typeface="Funnel Sans"/>
                <a:ea typeface="Funnel Sans"/>
              </a:rPr>
              <a:t>DXd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, MMAE), not with MUC1 binding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CRS dominates immune formats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Gr 1-2 CRS is manageable; not expected to translate to RLT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MUC1-C has differentiated therapeutic window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— Targeting the anchored C-terminal subunit MUC1-C, rather than the shed, circulating N-terminal domain, achieves higher therapeutic efficacy.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Funnel Sans"/>
                <a:ea typeface="Funnel Sans"/>
              </a:rPr>
              <a:t>RLT advantage: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radiation payload avoids payload-class ADC toxicities (no ILD, no </a:t>
            </a:r>
            <a:r>
              <a:rPr lang="en-US" sz="1200" dirty="0" err="1">
                <a:solidFill>
                  <a:srgbClr val="000000"/>
                </a:solidFill>
                <a:latin typeface="Funnel Sans"/>
                <a:ea typeface="Funnel Sans"/>
              </a:rPr>
              <a:t>hematotoxicity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 from MMAE/</a:t>
            </a:r>
            <a:r>
              <a:rPr lang="en-US" sz="1200" dirty="0" err="1">
                <a:solidFill>
                  <a:srgbClr val="000000"/>
                </a:solidFill>
                <a:latin typeface="Funnel Sans"/>
                <a:ea typeface="Funnel Sans"/>
              </a:rPr>
              <a:t>DXd</a:t>
            </a:r>
            <a:r>
              <a:rPr lang="en-US" sz="1200" dirty="0">
                <a:solidFill>
                  <a:srgbClr val="000000"/>
                </a:solidFill>
                <a:latin typeface="Funnel Sans"/>
                <a:ea typeface="Funnel Sans"/>
              </a:rPr>
              <a:t>); MUC1-C selectivity limits off-tumor irradiation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F5FDD-EB16-6230-F808-1E53ACDB3C91}"/>
              </a:ext>
            </a:extLst>
          </p:cNvPr>
          <p:cNvSpPr txBox="1"/>
          <p:nvPr/>
        </p:nvSpPr>
        <p:spPr>
          <a:xfrm>
            <a:off x="6518" y="6608921"/>
            <a:ext cx="11617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Funnel Sans"/>
              </a:rPr>
              <a:t>Sources: ClinicalTrials.gov; Company disclosures; </a:t>
            </a:r>
            <a:r>
              <a:rPr lang="en-US" sz="900" err="1">
                <a:latin typeface="Funnel Sans"/>
              </a:rPr>
              <a:t>Biochem</a:t>
            </a:r>
            <a:r>
              <a:rPr lang="en-US" sz="900">
                <a:latin typeface="Funnel Sans"/>
              </a:rPr>
              <a:t> PEG MUC1 ADC landscape (2025); JCI Insight (2018); AACR 2024-2025, Beacon Intelligence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25E4CA7-DEEE-4223-D207-6ED06D476A87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49649FD3-B1D8-A911-9F0E-5896636F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CFD3B800-138E-C539-55E0-ACACE7320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1F289C7C-1360-E9A9-7CCD-42F673B83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6" name="Image 6" descr="preencoded.png">
            <a:extLst>
              <a:ext uri="{FF2B5EF4-FFF2-40B4-BE49-F238E27FC236}">
                <a16:creationId xmlns:a16="http://schemas.microsoft.com/office/drawing/2014/main" id="{DEA06EC8-F0DA-0F7E-EA5F-DC152C1BA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7" name="Image 7" descr="preencoded.png">
            <a:extLst>
              <a:ext uri="{FF2B5EF4-FFF2-40B4-BE49-F238E27FC236}">
                <a16:creationId xmlns:a16="http://schemas.microsoft.com/office/drawing/2014/main" id="{4D00C4F4-8BD6-1CC6-408B-7E476A2EC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8" name="Image 8" descr="preencoded.png">
            <a:extLst>
              <a:ext uri="{FF2B5EF4-FFF2-40B4-BE49-F238E27FC236}">
                <a16:creationId xmlns:a16="http://schemas.microsoft.com/office/drawing/2014/main" id="{524ABCAD-E301-CC0B-B054-BE69E6FD6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9" name="Image 9" descr="preencoded.png">
            <a:extLst>
              <a:ext uri="{FF2B5EF4-FFF2-40B4-BE49-F238E27FC236}">
                <a16:creationId xmlns:a16="http://schemas.microsoft.com/office/drawing/2014/main" id="{2C3563F8-1964-4C1B-DDEB-145A0C057A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5E927C9F-2CC4-C141-15AA-B79691BC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1" name="Image 11" descr="preencoded.png">
            <a:extLst>
              <a:ext uri="{FF2B5EF4-FFF2-40B4-BE49-F238E27FC236}">
                <a16:creationId xmlns:a16="http://schemas.microsoft.com/office/drawing/2014/main" id="{A9EB8F65-CAB6-FA27-215C-910C6C3A1F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2" name="Image 12" descr="preencoded.png">
            <a:extLst>
              <a:ext uri="{FF2B5EF4-FFF2-40B4-BE49-F238E27FC236}">
                <a16:creationId xmlns:a16="http://schemas.microsoft.com/office/drawing/2014/main" id="{4D40502A-2843-8E0B-6F67-F2CE37CA79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6983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9F9F-D759-ECA9-E070-626CF3AC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61E5-E90B-C8B5-A799-51CB1D95D6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MUC1-C Detailed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1CDD7-A6BA-D392-1B0A-E37232864B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24CF7-9DDD-52D1-9C58-2EA67ADC6112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107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9362-4654-5B34-7BC7-C08D26F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96847F9-085A-B12B-0C35-6A13C8A4BAD0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BF6DC31-5E7C-0A41-6A05-BCBF72D4B66B}"/>
              </a:ext>
            </a:extLst>
          </p:cNvPr>
          <p:cNvSpPr/>
          <p:nvPr/>
        </p:nvSpPr>
        <p:spPr>
          <a:xfrm>
            <a:off x="254001" y="1475863"/>
            <a:ext cx="11338231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" name="Shape 19">
            <a:extLst>
              <a:ext uri="{FF2B5EF4-FFF2-40B4-BE49-F238E27FC236}">
                <a16:creationId xmlns:a16="http://schemas.microsoft.com/office/drawing/2014/main" id="{CC23BB69-B963-0B62-3731-86BE031B9B77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54EDAFAE-F1BD-C3AE-3F9F-D3B95A3FA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DF5ED5CD-2549-F82C-C67D-447842C26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97847D6A-CF89-9937-F445-B3B3075B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473EEBA9-1717-4F64-5BA5-9C5C9BF3D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EDA72585-8A43-C407-737B-97695661E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51AC55AD-820F-B1C4-0B15-93888FA95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B2658C8C-8B52-AA76-96F5-FF47206965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C969B6D8-B957-6837-01D7-30D516C0C5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0657AC9E-A588-5EF1-B387-3AEBE1F98C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5" name="Image 12" descr="preencoded.png">
            <a:extLst>
              <a:ext uri="{FF2B5EF4-FFF2-40B4-BE49-F238E27FC236}">
                <a16:creationId xmlns:a16="http://schemas.microsoft.com/office/drawing/2014/main" id="{3BEBB5E8-161A-77B2-EBE7-01C34935A1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6" name="Text 28">
            <a:extLst>
              <a:ext uri="{FF2B5EF4-FFF2-40B4-BE49-F238E27FC236}">
                <a16:creationId xmlns:a16="http://schemas.microsoft.com/office/drawing/2014/main" id="{99376A01-F813-F379-FBC4-CD9E746DF12F}"/>
              </a:ext>
            </a:extLst>
          </p:cNvPr>
          <p:cNvSpPr/>
          <p:nvPr/>
        </p:nvSpPr>
        <p:spPr>
          <a:xfrm>
            <a:off x="254000" y="635564"/>
            <a:ext cx="11938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Summary: High tumor specificity makes MUC1-C an exceptional target for RLT 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D5613-68A6-8567-CFF3-54EAEC5689C5}"/>
              </a:ext>
            </a:extLst>
          </p:cNvPr>
          <p:cNvSpPr txBox="1"/>
          <p:nvPr/>
        </p:nvSpPr>
        <p:spPr>
          <a:xfrm>
            <a:off x="232848" y="1739854"/>
            <a:ext cx="1105631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Biology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B7D78B-070B-59EB-F2BF-464E69B07EB7}"/>
              </a:ext>
            </a:extLst>
          </p:cNvPr>
          <p:cNvSpPr txBox="1"/>
          <p:nvPr/>
        </p:nvSpPr>
        <p:spPr>
          <a:xfrm>
            <a:off x="1610861" y="1679666"/>
            <a:ext cx="102376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Mucin-1 (MUC1) is a heterodimeric transmembrane protein of the mucin family, heavily glycosylated and protecting epithelial surfaces. MUC1-N, the N-terminal subunit, contains variable 20-aa tandem repeats, modified by O-linked glycans. The C-terminal subunit (MUC1-C) includes a small extracellular domain, a TM domain, and a cytoplasmic tail. On the cell surface, MUC1-N is tethered to MUC1-C via hydrophobic interactions.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 is usually located on the apical membrane of secretory epithelial cells in the lung, GI tract, breast, and female reproductive tissues. Malignant transformation causes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loss of cell polarity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, shedding of MUC1-N into mucus,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exposure of MUC1-C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, and redistribution of MUC1-C from the apical surface to the entire cell membrane. MUC1-C is overexpressed and depolarized in many epithelial cancers 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lung, breast, prostate, GI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).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subunit can be bound specifically by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mAbs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and peptides (e.g., peptidomimetic SAG602). The MUC1-C extracellular domain (ED) has been crystallized in complex with antibodies, making the development of peptide binders to the MUC1-C ED highly feasible.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Lung cancer is projected to be the leading cause of cancer death, ~105,000, in the US. Lung Adenocarcinoma (LUAD) accounts for ~45% of all lung cancer cases. Roughly 40% to 60% of all metastatic NSCLC patients (including LUAD) do not currently have a clinically "actionable" driver mutation. Because MUC1-C is overexpressed in ~87% of these cases and drives resistance to standard agents, it is a high-priority target. Therapeutic approaches: CAR T cells and vaccines.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755F57-3814-0056-66D8-84D650366B54}"/>
              </a:ext>
            </a:extLst>
          </p:cNvPr>
          <p:cNvCxnSpPr>
            <a:cxnSpLocks/>
          </p:cNvCxnSpPr>
          <p:nvPr/>
        </p:nvCxnSpPr>
        <p:spPr>
          <a:xfrm>
            <a:off x="1463273" y="2837807"/>
            <a:ext cx="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966C57C-F779-4D32-0F61-93DDF9E6B196}"/>
              </a:ext>
            </a:extLst>
          </p:cNvPr>
          <p:cNvSpPr txBox="1"/>
          <p:nvPr/>
        </p:nvSpPr>
        <p:spPr>
          <a:xfrm>
            <a:off x="266336" y="2850269"/>
            <a:ext cx="1105631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Expression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D1447D0-1634-F146-85FB-8EBE2C5D6D45}"/>
              </a:ext>
            </a:extLst>
          </p:cNvPr>
          <p:cNvCxnSpPr>
            <a:cxnSpLocks/>
          </p:cNvCxnSpPr>
          <p:nvPr/>
        </p:nvCxnSpPr>
        <p:spPr>
          <a:xfrm flipH="1">
            <a:off x="1463273" y="3905409"/>
            <a:ext cx="2472" cy="608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3F04424-B4E8-F9FE-0A5A-C2E1EB80F4FE}"/>
              </a:ext>
            </a:extLst>
          </p:cNvPr>
          <p:cNvSpPr txBox="1"/>
          <p:nvPr/>
        </p:nvSpPr>
        <p:spPr>
          <a:xfrm>
            <a:off x="294447" y="4759797"/>
            <a:ext cx="1105631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Landscape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B5BA090-B2CA-1D6C-0320-2284BD07B7D8}"/>
              </a:ext>
            </a:extLst>
          </p:cNvPr>
          <p:cNvCxnSpPr>
            <a:cxnSpLocks/>
          </p:cNvCxnSpPr>
          <p:nvPr/>
        </p:nvCxnSpPr>
        <p:spPr>
          <a:xfrm>
            <a:off x="1465745" y="4759797"/>
            <a:ext cx="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1CC4B79-6FC7-3C23-2FC1-28DDF6F2F709}"/>
              </a:ext>
            </a:extLst>
          </p:cNvPr>
          <p:cNvSpPr txBox="1"/>
          <p:nvPr/>
        </p:nvSpPr>
        <p:spPr>
          <a:xfrm>
            <a:off x="232848" y="3895135"/>
            <a:ext cx="1105631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Feasibility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E3A52C1-8F79-223C-FB90-6B9C8C7D0860}"/>
              </a:ext>
            </a:extLst>
          </p:cNvPr>
          <p:cNvSpPr/>
          <p:nvPr/>
        </p:nvSpPr>
        <p:spPr>
          <a:xfrm>
            <a:off x="637272" y="5883682"/>
            <a:ext cx="11124093" cy="665313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3055EA2-7542-C385-5A26-B70B4648A687}"/>
              </a:ext>
            </a:extLst>
          </p:cNvPr>
          <p:cNvSpPr/>
          <p:nvPr/>
        </p:nvSpPr>
        <p:spPr>
          <a:xfrm>
            <a:off x="399316" y="5875496"/>
            <a:ext cx="1945303" cy="665313"/>
          </a:xfrm>
          <a:prstGeom prst="roundRect">
            <a:avLst/>
          </a:prstGeom>
          <a:solidFill>
            <a:srgbClr val="18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Sego’s Opportunity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032477-619C-E5CA-B1B8-03CE3043E459}"/>
              </a:ext>
            </a:extLst>
          </p:cNvPr>
          <p:cNvSpPr txBox="1"/>
          <p:nvPr/>
        </p:nvSpPr>
        <p:spPr>
          <a:xfrm>
            <a:off x="2367088" y="5955032"/>
            <a:ext cx="9481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 MUC1-C specific peptide RLT that is effectively internalized and accumulated to achieve high tumor uptake and retention, resulting in superior antitumor efficacy against a tumor-selective, consistently overexpressed target.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E2B53-082B-4FC1-4A37-A20D73767513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452A04-A32F-B11D-69D4-106950062339}"/>
              </a:ext>
            </a:extLst>
          </p:cNvPr>
          <p:cNvCxnSpPr>
            <a:cxnSpLocks/>
          </p:cNvCxnSpPr>
          <p:nvPr/>
        </p:nvCxnSpPr>
        <p:spPr>
          <a:xfrm>
            <a:off x="1465745" y="1729580"/>
            <a:ext cx="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88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0163-93D5-31F3-C5B0-9F3BF40C9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3D6A57-901E-EE8B-8553-2A91E3DD7528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1B96E06F-9EAD-0755-57AE-5ADC81994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4" name="Image 4" descr="preencoded.png">
            <a:extLst>
              <a:ext uri="{FF2B5EF4-FFF2-40B4-BE49-F238E27FC236}">
                <a16:creationId xmlns:a16="http://schemas.microsoft.com/office/drawing/2014/main" id="{D5F1CB2B-640D-BE08-1602-5577B132D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0F069B26-5AFC-5949-D666-F2FC4F720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6" name="Image 6" descr="preencoded.png">
            <a:extLst>
              <a:ext uri="{FF2B5EF4-FFF2-40B4-BE49-F238E27FC236}">
                <a16:creationId xmlns:a16="http://schemas.microsoft.com/office/drawing/2014/main" id="{154E4FB3-57DF-0F61-62A6-EB668668B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7" name="Image 7" descr="preencoded.png">
            <a:extLst>
              <a:ext uri="{FF2B5EF4-FFF2-40B4-BE49-F238E27FC236}">
                <a16:creationId xmlns:a16="http://schemas.microsoft.com/office/drawing/2014/main" id="{93AD01AA-4323-10C0-28C4-6934A21CD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8" name="Image 8" descr="preencoded.png">
            <a:extLst>
              <a:ext uri="{FF2B5EF4-FFF2-40B4-BE49-F238E27FC236}">
                <a16:creationId xmlns:a16="http://schemas.microsoft.com/office/drawing/2014/main" id="{FADFB99A-304F-BB6A-E288-62FE77011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9" name="Image 9" descr="preencoded.png">
            <a:extLst>
              <a:ext uri="{FF2B5EF4-FFF2-40B4-BE49-F238E27FC236}">
                <a16:creationId xmlns:a16="http://schemas.microsoft.com/office/drawing/2014/main" id="{8D5C77FF-036D-222E-A7B3-85B44827F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0" name="Image 10" descr="preencoded.png">
            <a:extLst>
              <a:ext uri="{FF2B5EF4-FFF2-40B4-BE49-F238E27FC236}">
                <a16:creationId xmlns:a16="http://schemas.microsoft.com/office/drawing/2014/main" id="{BA9F1FF2-75D8-CAC2-5CDE-05842BEA3D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1" name="Image 11" descr="preencoded.png">
            <a:extLst>
              <a:ext uri="{FF2B5EF4-FFF2-40B4-BE49-F238E27FC236}">
                <a16:creationId xmlns:a16="http://schemas.microsoft.com/office/drawing/2014/main" id="{8698E78F-A10C-EA5C-6C3F-142ECC452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2" name="Image 12" descr="preencoded.png">
            <a:extLst>
              <a:ext uri="{FF2B5EF4-FFF2-40B4-BE49-F238E27FC236}">
                <a16:creationId xmlns:a16="http://schemas.microsoft.com/office/drawing/2014/main" id="{DBD16FA4-88A3-2333-53C6-507CFCAC79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47EFE4A-BC1F-CC79-399A-5A168BB19123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Biology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C0BC2-FB3F-5620-EE7A-586BAA4D86C9}"/>
              </a:ext>
            </a:extLst>
          </p:cNvPr>
          <p:cNvSpPr txBox="1"/>
          <p:nvPr/>
        </p:nvSpPr>
        <p:spPr>
          <a:xfrm>
            <a:off x="11075917" y="6611779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49718741-3663-EFF3-9DD5-78321B3D9331}"/>
              </a:ext>
            </a:extLst>
          </p:cNvPr>
          <p:cNvSpPr/>
          <p:nvPr/>
        </p:nvSpPr>
        <p:spPr>
          <a:xfrm>
            <a:off x="254000" y="635564"/>
            <a:ext cx="11660495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MUC1-C: tumor-selective antigen expression and tumor-specific accessibility</a:t>
            </a: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D47281BF-8662-C8BB-5004-1FC9DD24F55F}"/>
              </a:ext>
            </a:extLst>
          </p:cNvPr>
          <p:cNvSpPr/>
          <p:nvPr/>
        </p:nvSpPr>
        <p:spPr>
          <a:xfrm>
            <a:off x="323502" y="1447750"/>
            <a:ext cx="11403773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97B08-05B2-1865-29C5-73EDCF652D66}"/>
              </a:ext>
            </a:extLst>
          </p:cNvPr>
          <p:cNvSpPr txBox="1"/>
          <p:nvPr/>
        </p:nvSpPr>
        <p:spPr>
          <a:xfrm>
            <a:off x="0" y="6611779"/>
            <a:ext cx="1206552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Adapted from: 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1"/>
              </a:rPr>
              <a:t>www.proteinatlas.org MUC1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2"/>
              </a:rPr>
              <a:t>Kufe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2"/>
              </a:rPr>
              <a:t> 2013 Oncogene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Grewal and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Kurzrock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 2025 NPJ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PecisOncol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</a:t>
            </a:r>
          </a:p>
        </p:txBody>
      </p:sp>
      <p:pic>
        <p:nvPicPr>
          <p:cNvPr id="17" name="Picture 16" descr="Figure 2.">
            <a:extLst>
              <a:ext uri="{FF2B5EF4-FFF2-40B4-BE49-F238E27FC236}">
                <a16:creationId xmlns:a16="http://schemas.microsoft.com/office/drawing/2014/main" id="{6C2A7037-F21C-6B9A-16F5-45F20F61FD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30046" r="4306" b="34255"/>
          <a:stretch>
            <a:fillRect/>
          </a:stretch>
        </p:blipFill>
        <p:spPr bwMode="auto">
          <a:xfrm>
            <a:off x="323502" y="3302110"/>
            <a:ext cx="6300076" cy="282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6F1E7FD-791D-33D9-5BB4-628E2E274074}"/>
              </a:ext>
            </a:extLst>
          </p:cNvPr>
          <p:cNvSpPr txBox="1"/>
          <p:nvPr/>
        </p:nvSpPr>
        <p:spPr>
          <a:xfrm>
            <a:off x="6965855" y="1634285"/>
            <a:ext cx="22326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Apical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membranous expression in glandular cells of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normal breast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0CA6C-FB10-5AA4-E569-487B33640265}"/>
              </a:ext>
            </a:extLst>
          </p:cNvPr>
          <p:cNvSpPr txBox="1"/>
          <p:nvPr/>
        </p:nvSpPr>
        <p:spPr>
          <a:xfrm>
            <a:off x="9448345" y="1634285"/>
            <a:ext cx="2370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Diffuse membranous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and cytoplasmic expression in breast duct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carcinoma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E08F23-2EFB-009D-5535-14601E49D0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0640" y="3026278"/>
            <a:ext cx="4475791" cy="295987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9A5727-D652-57D2-5287-41C56D6967EB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8082196" y="2711503"/>
            <a:ext cx="698011" cy="169612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28D879-713B-44DC-951E-0E16C302F40B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706832" y="2711503"/>
            <a:ext cx="926926" cy="41014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9E6BE02-FAB8-4CD9-85F9-827F619462DB}"/>
              </a:ext>
            </a:extLst>
          </p:cNvPr>
          <p:cNvSpPr txBox="1"/>
          <p:nvPr/>
        </p:nvSpPr>
        <p:spPr>
          <a:xfrm>
            <a:off x="6909270" y="5986157"/>
            <a:ext cx="4930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Foci of breast carcinoma cells surrounding normal ducts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8CFBA5-1D8C-C7DE-1DC3-02577820FDB4}"/>
              </a:ext>
            </a:extLst>
          </p:cNvPr>
          <p:cNvSpPr txBox="1"/>
          <p:nvPr/>
        </p:nvSpPr>
        <p:spPr>
          <a:xfrm>
            <a:off x="797608" y="1634285"/>
            <a:ext cx="23708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Apical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membranous expression in secretory epithelial cells of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healthy tissue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3778A4-04D1-7970-928D-DE19DA493E4A}"/>
              </a:ext>
            </a:extLst>
          </p:cNvPr>
          <p:cNvSpPr txBox="1"/>
          <p:nvPr/>
        </p:nvSpPr>
        <p:spPr>
          <a:xfrm>
            <a:off x="3444201" y="1634285"/>
            <a:ext cx="31259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Upon malignant transformation: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1. Loss of polarization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2. Overexpression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3. Shedding of MUC1-N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4. Exposure of MUC1-C</a:t>
            </a:r>
          </a:p>
        </p:txBody>
      </p:sp>
    </p:spTree>
    <p:extLst>
      <p:ext uri="{BB962C8B-B14F-4D97-AF65-F5344CB8AC3E}">
        <p14:creationId xmlns:p14="http://schemas.microsoft.com/office/powerpoint/2010/main" val="110311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C052-4FC7-D7E2-DBE1-AE93402B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7">
            <a:extLst>
              <a:ext uri="{FF2B5EF4-FFF2-40B4-BE49-F238E27FC236}">
                <a16:creationId xmlns:a16="http://schemas.microsoft.com/office/drawing/2014/main" id="{9F039BF0-32DF-7A93-B8D9-ED5B387218C2}"/>
              </a:ext>
            </a:extLst>
          </p:cNvPr>
          <p:cNvSpPr/>
          <p:nvPr/>
        </p:nvSpPr>
        <p:spPr>
          <a:xfrm>
            <a:off x="429832" y="1672417"/>
            <a:ext cx="5490444" cy="458909"/>
          </a:xfrm>
          <a:prstGeom prst="round2SameRect">
            <a:avLst/>
          </a:prstGeom>
          <a:solidFill>
            <a:srgbClr val="C6DCC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7C3A023-F7D5-5DDB-E0FA-60E2EC4DC84C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84C50417-DA85-C69A-8A7F-6D40E71964FE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1F59D9F-4A9B-43E3-1A3B-3233A8BC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4C78424-65BA-C2F1-BE44-CCEF13F33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4A129F5-095E-4935-5F45-934B81070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A87D1FE1-E7B6-46E9-D9BC-3AC3FD981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59569697-7B56-E786-08C2-145EC5FD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6C591099-26BF-58BE-412F-828168D2FB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A1CAB3FE-B978-4FEF-FA4A-26B189C5C6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C079E79E-3F57-674E-9683-A48FF863FC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AEB059A2-C545-24E7-E0DE-562810BABC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D19ED250-99E5-18F4-EACD-9211B8C6DE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5" name="Text 28">
            <a:extLst>
              <a:ext uri="{FF2B5EF4-FFF2-40B4-BE49-F238E27FC236}">
                <a16:creationId xmlns:a16="http://schemas.microsoft.com/office/drawing/2014/main" id="{27F08AE7-A686-9705-5EA8-E00F094EA2E8}"/>
              </a:ext>
            </a:extLst>
          </p:cNvPr>
          <p:cNvSpPr/>
          <p:nvPr/>
        </p:nvSpPr>
        <p:spPr>
          <a:xfrm>
            <a:off x="253999" y="635564"/>
            <a:ext cx="11390243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overexpression creates treatment opportunities in lung and beyond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8734BF-A8B8-BED6-8471-9809B0E456AD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Expression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B1C5A-A1C7-9149-CD57-A0999C0369C3}"/>
              </a:ext>
            </a:extLst>
          </p:cNvPr>
          <p:cNvSpPr txBox="1"/>
          <p:nvPr/>
        </p:nvSpPr>
        <p:spPr>
          <a:xfrm>
            <a:off x="11075917" y="6611779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6AA7A798-115B-96AD-3EA9-1C7D7EDF7168}"/>
              </a:ext>
            </a:extLst>
          </p:cNvPr>
          <p:cNvSpPr/>
          <p:nvPr/>
        </p:nvSpPr>
        <p:spPr>
          <a:xfrm>
            <a:off x="323502" y="1447750"/>
            <a:ext cx="11403773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97516E-5169-E7C9-3180-B1ABFBE98473}"/>
              </a:ext>
            </a:extLst>
          </p:cNvPr>
          <p:cNvSpPr txBox="1"/>
          <p:nvPr/>
        </p:nvSpPr>
        <p:spPr>
          <a:xfrm>
            <a:off x="0" y="6566323"/>
            <a:ext cx="12065520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Sources: 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1"/>
              </a:rPr>
              <a:t>www.proteinatlas.org MUC1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2"/>
              </a:rPr>
              <a:t>Kufe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2"/>
              </a:rPr>
              <a:t> 2013 Oncogene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Grewal and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Kurzrock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 2025 NPJ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PecisOncol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4"/>
              </a:rPr>
              <a:t>Henry 2022, SITC</a:t>
            </a:r>
            <a:endParaRPr kumimoji="0" lang="en-US" sz="10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nnel Sans"/>
              <a:ea typeface="+mn-ea"/>
              <a:cs typeface="+mn-cs"/>
              <a:hlinkClick r:id="rId15"/>
            </a:endParaRPr>
          </a:p>
        </p:txBody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3D86938E-0F8E-47E0-4431-F9E5270B0A77}"/>
              </a:ext>
            </a:extLst>
          </p:cNvPr>
          <p:cNvSpPr/>
          <p:nvPr/>
        </p:nvSpPr>
        <p:spPr>
          <a:xfrm>
            <a:off x="447580" y="1764712"/>
            <a:ext cx="5490444" cy="27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 (full-length) is overexpressed in epithelial cancers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6836DE-E824-DECB-E29D-53DAA0BBD69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1078"/>
          <a:stretch>
            <a:fillRect/>
          </a:stretch>
        </p:blipFill>
        <p:spPr>
          <a:xfrm>
            <a:off x="194398" y="2245628"/>
            <a:ext cx="4556446" cy="423683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67E8939-641D-5DF0-7FC4-5642B1B37110}"/>
              </a:ext>
            </a:extLst>
          </p:cNvPr>
          <p:cNvSpPr txBox="1"/>
          <p:nvPr/>
        </p:nvSpPr>
        <p:spPr>
          <a:xfrm>
            <a:off x="4281159" y="2336061"/>
            <a:ext cx="17742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86% of lung AC, 94% of TNBC, 100% of ovarian cancers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BD950A6-61EE-4FD7-C923-9DE0E9203E6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50641" y="2336060"/>
            <a:ext cx="5019131" cy="3423279"/>
          </a:xfrm>
          <a:prstGeom prst="rect">
            <a:avLst/>
          </a:prstGeom>
        </p:spPr>
      </p:pic>
      <p:sp>
        <p:nvSpPr>
          <p:cNvPr id="28" name="Shape 17">
            <a:extLst>
              <a:ext uri="{FF2B5EF4-FFF2-40B4-BE49-F238E27FC236}">
                <a16:creationId xmlns:a16="http://schemas.microsoft.com/office/drawing/2014/main" id="{D5604693-1013-174E-1F6A-EF666B6207A9}"/>
              </a:ext>
            </a:extLst>
          </p:cNvPr>
          <p:cNvSpPr/>
          <p:nvPr/>
        </p:nvSpPr>
        <p:spPr>
          <a:xfrm>
            <a:off x="6709697" y="1672417"/>
            <a:ext cx="5040876" cy="458909"/>
          </a:xfrm>
          <a:prstGeom prst="round2SameRect">
            <a:avLst/>
          </a:prstGeom>
          <a:solidFill>
            <a:srgbClr val="C6DCC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9" name="Text 42">
            <a:extLst>
              <a:ext uri="{FF2B5EF4-FFF2-40B4-BE49-F238E27FC236}">
                <a16:creationId xmlns:a16="http://schemas.microsoft.com/office/drawing/2014/main" id="{D843ED9E-4449-1745-8953-411ED33E41D8}"/>
              </a:ext>
            </a:extLst>
          </p:cNvPr>
          <p:cNvSpPr/>
          <p:nvPr/>
        </p:nvSpPr>
        <p:spPr>
          <a:xfrm>
            <a:off x="6727444" y="1783450"/>
            <a:ext cx="4851513" cy="236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expression profile is consistent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5D2C0-DDC0-ECE2-7A58-4EDE2A59EDB8}"/>
              </a:ext>
            </a:extLst>
          </p:cNvPr>
          <p:cNvSpPr txBox="1"/>
          <p:nvPr/>
        </p:nvSpPr>
        <p:spPr>
          <a:xfrm>
            <a:off x="6750641" y="5759339"/>
            <a:ext cx="542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Stained with MUC1-C specific scFv</a:t>
            </a:r>
          </a:p>
        </p:txBody>
      </p:sp>
    </p:spTree>
    <p:extLst>
      <p:ext uri="{BB962C8B-B14F-4D97-AF65-F5344CB8AC3E}">
        <p14:creationId xmlns:p14="http://schemas.microsoft.com/office/powerpoint/2010/main" val="62883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FE8EF1-7E30-BA13-F91E-5442CB6F6E56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F5539DB8-A878-E4BE-2A73-E0B47FF84B40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41923C9-390B-EB57-73AE-D3097BC4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3FA9F35-7EB7-048F-B129-6BFAC889C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3904C137-570A-8DA1-4DB4-B7757317A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AC123491-4B34-9C72-F7DE-D01A6AB9A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08BE2842-BDEE-33A0-B3FB-4A0E0B64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9FF9656D-FF36-5420-89EA-78FF22DF4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6AE9F711-49FB-6E03-42F3-5A937AD00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2222B85A-D098-D2F3-883F-C5EBD916DB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6C341813-4EC3-1669-9C6A-122DCA7ABC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735AEDAB-8D89-07A9-E119-14A9385C43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5" name="Text 28">
            <a:extLst>
              <a:ext uri="{FF2B5EF4-FFF2-40B4-BE49-F238E27FC236}">
                <a16:creationId xmlns:a16="http://schemas.microsoft.com/office/drawing/2014/main" id="{909A9466-63F6-2318-6DD7-2E68B6042050}"/>
              </a:ext>
            </a:extLst>
          </p:cNvPr>
          <p:cNvSpPr/>
          <p:nvPr/>
        </p:nvSpPr>
        <p:spPr>
          <a:xfrm>
            <a:off x="253999" y="635564"/>
            <a:ext cx="11390243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is consistently &amp; frequently overexpressed in epithelial cancers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81C066A-C181-F149-F5AF-5C9656E98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260059"/>
              </p:ext>
            </p:extLst>
          </p:nvPr>
        </p:nvGraphicFramePr>
        <p:xfrm>
          <a:off x="357535" y="1704973"/>
          <a:ext cx="11614486" cy="33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188">
                  <a:extLst>
                    <a:ext uri="{9D8B030D-6E8A-4147-A177-3AD203B41FA5}">
                      <a16:colId xmlns:a16="http://schemas.microsoft.com/office/drawing/2014/main" val="1030885511"/>
                    </a:ext>
                  </a:extLst>
                </a:gridCol>
                <a:gridCol w="988904">
                  <a:extLst>
                    <a:ext uri="{9D8B030D-6E8A-4147-A177-3AD203B41FA5}">
                      <a16:colId xmlns:a16="http://schemas.microsoft.com/office/drawing/2014/main" val="544434787"/>
                    </a:ext>
                  </a:extLst>
                </a:gridCol>
                <a:gridCol w="1014609">
                  <a:extLst>
                    <a:ext uri="{9D8B030D-6E8A-4147-A177-3AD203B41FA5}">
                      <a16:colId xmlns:a16="http://schemas.microsoft.com/office/drawing/2014/main" val="3701184376"/>
                    </a:ext>
                  </a:extLst>
                </a:gridCol>
                <a:gridCol w="2267211">
                  <a:extLst>
                    <a:ext uri="{9D8B030D-6E8A-4147-A177-3AD203B41FA5}">
                      <a16:colId xmlns:a16="http://schemas.microsoft.com/office/drawing/2014/main" val="3241637152"/>
                    </a:ext>
                  </a:extLst>
                </a:gridCol>
                <a:gridCol w="4259796">
                  <a:extLst>
                    <a:ext uri="{9D8B030D-6E8A-4147-A177-3AD203B41FA5}">
                      <a16:colId xmlns:a16="http://schemas.microsoft.com/office/drawing/2014/main" val="2413661414"/>
                    </a:ext>
                  </a:extLst>
                </a:gridCol>
                <a:gridCol w="1962778">
                  <a:extLst>
                    <a:ext uri="{9D8B030D-6E8A-4147-A177-3AD203B41FA5}">
                      <a16:colId xmlns:a16="http://schemas.microsoft.com/office/drawing/2014/main" val="2720780949"/>
                    </a:ext>
                  </a:extLst>
                </a:gridCol>
              </a:tblGrid>
              <a:tr h="1867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Indication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C6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024351"/>
                  </a:ext>
                </a:extLst>
              </a:tr>
              <a:tr h="2800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LUAD</a:t>
                      </a:r>
                    </a:p>
                  </a:txBody>
                  <a:tcPr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Protein/ MUC1-C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latin typeface="Funnel Sans"/>
                        </a:rPr>
                        <a:t>Percent positive and intensity (score 1-4)</a:t>
                      </a:r>
                    </a:p>
                  </a:txBody>
                  <a:tcPr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81% lung, n=82</a:t>
                      </a:r>
                      <a:r>
                        <a:rPr lang="en-US" sz="1200" b="0"/>
                        <a:t>; ~90% breast, n=105; 88% ovary, n=135; 81% renal, n=42 </a:t>
                      </a:r>
                      <a:endParaRPr lang="en-US" sz="1200" b="1"/>
                    </a:p>
                  </a:txBody>
                  <a:tcPr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accent3"/>
                          </a:solidFill>
                          <a:latin typeface="Funnel Sans"/>
                          <a:hlinkClick r:id="rId11"/>
                        </a:rPr>
                        <a:t>Henry 2022 SITC</a:t>
                      </a:r>
                      <a:endParaRPr lang="en-US" sz="1200" b="0" i="0" u="none" strike="noStrike" noProof="0">
                        <a:solidFill>
                          <a:schemeClr val="accent3"/>
                        </a:solidFill>
                        <a:latin typeface="Funnel Sans"/>
                      </a:endParaRPr>
                    </a:p>
                  </a:txBody>
                  <a:tcPr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683763"/>
                  </a:ext>
                </a:extLst>
              </a:tr>
              <a:tr h="2800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LUAD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Protein / MUC1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H-score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100% pos, H-score: 285.9; n=64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accent3"/>
                          </a:solidFill>
                          <a:latin typeface="Funnel Sans"/>
                          <a:hlinkClick r:id="rId12"/>
                        </a:rPr>
                        <a:t>Cui 2024 Front Oncol</a:t>
                      </a:r>
                      <a:endParaRPr lang="en-US" sz="1200" b="0" i="0" u="none" strike="noStrike" noProof="0">
                        <a:solidFill>
                          <a:schemeClr val="accent3"/>
                        </a:solidFill>
                        <a:latin typeface="Funnel Sans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195812"/>
                  </a:ext>
                </a:extLst>
              </a:tr>
              <a:tr h="2800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LUAD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Protein/ MUC1 TR 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Positive case/no of cases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100% pos, n=13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chemeClr val="accent3"/>
                          </a:solidFill>
                          <a:latin typeface="Funnel Sans"/>
                          <a:hlinkClick r:id="rId13"/>
                        </a:rPr>
                        <a:t>Lopez-Ferrer 2001 Am.J.Respir.</a:t>
                      </a:r>
                      <a:endParaRPr lang="en-US" sz="1200" b="0" i="0" u="none" strike="noStrike" noProof="0">
                        <a:solidFill>
                          <a:schemeClr val="accent3"/>
                        </a:solidFill>
                        <a:latin typeface="Funnel Sans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309560"/>
                  </a:ext>
                </a:extLst>
              </a:tr>
              <a:tr h="24274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Protein/ MUC1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% positive cases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87%, n=31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sng" strike="noStrike" noProof="0">
                          <a:solidFill>
                            <a:srgbClr val="000000"/>
                          </a:solidFill>
                          <a:hlinkClick r:id="rId14"/>
                        </a:rPr>
                        <a:t>Lakshmanan 2015, J Thorac Oncol</a:t>
                      </a:r>
                      <a:endParaRPr lang="en-US" sz="1200" b="0" i="0" u="sng" strike="noStrike" noProof="0">
                        <a:solidFill>
                          <a:srgbClr val="000000"/>
                        </a:solidFill>
                        <a:hlinkClick r:id="rId15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894309"/>
                  </a:ext>
                </a:extLst>
              </a:tr>
              <a:tr h="2427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Breast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Protein/ MUC1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% of tumor cells positive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/>
                        <a:t>76.2% MUC1 positive; </a:t>
                      </a:r>
                      <a:r>
                        <a:rPr lang="en-US" sz="1200"/>
                        <a:t>24% ≥75% pos; 24% =50-75% pos; 29% =11-49% pos; n=21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sng" strike="noStrike" noProof="0">
                          <a:solidFill>
                            <a:srgbClr val="000000"/>
                          </a:solidFill>
                          <a:hlinkClick r:id="rId16"/>
                        </a:rPr>
                        <a:t>Wu 2018 Theranostics</a:t>
                      </a:r>
                      <a:endParaRPr lang="en-US" sz="1200" b="0" i="0" u="sng" strike="noStrike" noProof="0">
                        <a:solidFill>
                          <a:srgbClr val="000000"/>
                        </a:solidFill>
                        <a:hlinkClick r:id="rId15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578245"/>
                  </a:ext>
                </a:extLst>
              </a:tr>
              <a:tr h="2800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H-score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100% pos; h-score: 249.6; n=20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accent3"/>
                          </a:solidFill>
                          <a:latin typeface="+mn-lt"/>
                          <a:hlinkClick r:id="rId12"/>
                        </a:rPr>
                        <a:t>Cui 2024 Front Oncol</a:t>
                      </a:r>
                      <a:endParaRPr lang="en-US" sz="1200" b="0" i="0" u="none" strike="noStrike" noProof="0">
                        <a:solidFill>
                          <a:schemeClr val="accent3"/>
                        </a:solidFill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830048"/>
                  </a:ext>
                </a:extLst>
              </a:tr>
              <a:tr h="2800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CRC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Protein/ MUC1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IHC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H-score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97.6% pos, h-score: 158.3; n=83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chemeClr val="accent3"/>
                          </a:solidFill>
                          <a:latin typeface="+mn-lt"/>
                          <a:hlinkClick r:id="rId12"/>
                        </a:rPr>
                        <a:t>Cui 2024 Front Oncol</a:t>
                      </a:r>
                      <a:endParaRPr lang="en-US" sz="1200" b="0" i="0" u="none" strike="noStrike" noProof="0">
                        <a:solidFill>
                          <a:schemeClr val="accent3"/>
                        </a:solidFill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35264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0667A5-0938-1EAB-8E45-5090A8BA4CB1}"/>
              </a:ext>
            </a:extLst>
          </p:cNvPr>
          <p:cNvGraphicFramePr>
            <a:graphicFrameLocks noGrp="1"/>
          </p:cNvGraphicFramePr>
          <p:nvPr/>
        </p:nvGraphicFramePr>
        <p:xfrm>
          <a:off x="357530" y="5515037"/>
          <a:ext cx="1161449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555">
                  <a:extLst>
                    <a:ext uri="{9D8B030D-6E8A-4147-A177-3AD203B41FA5}">
                      <a16:colId xmlns:a16="http://schemas.microsoft.com/office/drawing/2014/main" val="1736257133"/>
                    </a:ext>
                  </a:extLst>
                </a:gridCol>
                <a:gridCol w="1035555">
                  <a:extLst>
                    <a:ext uri="{9D8B030D-6E8A-4147-A177-3AD203B41FA5}">
                      <a16:colId xmlns:a16="http://schemas.microsoft.com/office/drawing/2014/main" val="544434787"/>
                    </a:ext>
                  </a:extLst>
                </a:gridCol>
                <a:gridCol w="973320">
                  <a:extLst>
                    <a:ext uri="{9D8B030D-6E8A-4147-A177-3AD203B41FA5}">
                      <a16:colId xmlns:a16="http://schemas.microsoft.com/office/drawing/2014/main" val="3701184376"/>
                    </a:ext>
                  </a:extLst>
                </a:gridCol>
                <a:gridCol w="1465007">
                  <a:extLst>
                    <a:ext uri="{9D8B030D-6E8A-4147-A177-3AD203B41FA5}">
                      <a16:colId xmlns:a16="http://schemas.microsoft.com/office/drawing/2014/main" val="3241637152"/>
                    </a:ext>
                  </a:extLst>
                </a:gridCol>
                <a:gridCol w="5117872">
                  <a:extLst>
                    <a:ext uri="{9D8B030D-6E8A-4147-A177-3AD203B41FA5}">
                      <a16:colId xmlns:a16="http://schemas.microsoft.com/office/drawing/2014/main" val="2413661414"/>
                    </a:ext>
                  </a:extLst>
                </a:gridCol>
                <a:gridCol w="1987182">
                  <a:extLst>
                    <a:ext uri="{9D8B030D-6E8A-4147-A177-3AD203B41FA5}">
                      <a16:colId xmlns:a16="http://schemas.microsoft.com/office/drawing/2014/main" val="27207809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Criteria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chemeClr val="tx1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02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All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Protein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IHC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HPA Medium or High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Glandular cells and respiratory epithelial cells. Cytoplasmic and apical membrane expression. </a:t>
                      </a: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Funnel Sans"/>
                          <a:hlinkClick r:id="rId17"/>
                        </a:rPr>
                        <a:t>www.proteinatlas.org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Funnel Sans"/>
                      </a:endParaRPr>
                    </a:p>
                  </a:txBody>
                  <a:tcPr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172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All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mRNA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RNAseq</a:t>
                      </a:r>
                      <a:endParaRPr lang="en-US" sz="1200"/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GB" sz="1200" err="1"/>
                        <a:t>nPTM</a:t>
                      </a:r>
                      <a:r>
                        <a:rPr lang="en-GB" sz="1200"/>
                        <a:t>&gt;10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GB" sz="1200"/>
                        <a:t>High in stomach (998.2), lung (309.6) and kidney (416.9)</a:t>
                      </a: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  <a:hlinkClick r:id="rId17"/>
                        </a:rPr>
                        <a:t>www.proteinatlas.org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bg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01811"/>
                  </a:ext>
                </a:extLst>
              </a:tr>
            </a:tbl>
          </a:graphicData>
        </a:graphic>
      </p:graphicFrame>
      <p:sp>
        <p:nvSpPr>
          <p:cNvPr id="19" name="Text 33">
            <a:extLst>
              <a:ext uri="{FF2B5EF4-FFF2-40B4-BE49-F238E27FC236}">
                <a16:creationId xmlns:a16="http://schemas.microsoft.com/office/drawing/2014/main" id="{8D261986-201A-FB21-B14C-6FF8F5509091}"/>
              </a:ext>
            </a:extLst>
          </p:cNvPr>
          <p:cNvSpPr/>
          <p:nvPr/>
        </p:nvSpPr>
        <p:spPr>
          <a:xfrm>
            <a:off x="288704" y="5299234"/>
            <a:ext cx="4170515" cy="199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2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Healthy</a:t>
            </a:r>
            <a:r>
              <a:rPr kumimoji="0" lang="en-US" sz="1400" b="0" i="0" u="none" strike="noStrike" kern="0" cap="none" spc="-12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 tissue expression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935BD4E-3AB1-0E27-D8CD-3A4E754E360B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Expression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791C61-7603-0A79-6FBB-AAD1B3C1B6B8}"/>
              </a:ext>
            </a:extLst>
          </p:cNvPr>
          <p:cNvSpPr txBox="1"/>
          <p:nvPr/>
        </p:nvSpPr>
        <p:spPr>
          <a:xfrm>
            <a:off x="11075917" y="6611779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2" name="Text 33">
            <a:extLst>
              <a:ext uri="{FF2B5EF4-FFF2-40B4-BE49-F238E27FC236}">
                <a16:creationId xmlns:a16="http://schemas.microsoft.com/office/drawing/2014/main" id="{1A11BEC8-9346-8A2E-23F9-E69929D12BAB}"/>
              </a:ext>
            </a:extLst>
          </p:cNvPr>
          <p:cNvSpPr/>
          <p:nvPr/>
        </p:nvSpPr>
        <p:spPr>
          <a:xfrm>
            <a:off x="288704" y="1461293"/>
            <a:ext cx="4170515" cy="199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2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Tumor </a:t>
            </a:r>
            <a:r>
              <a:rPr kumimoji="0" lang="en-US" sz="1400" b="0" i="0" u="none" strike="noStrike" kern="0" cap="none" spc="-12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expression levels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26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BD3B-4832-5E6F-A0AC-448F9076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1F05BF5-7466-EBB8-656B-6DAB9A2AC063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60574E9E-36BB-02B4-95BF-01726937AEA9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EB8120EC-D340-E860-31DA-2E0F53A43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D51A836C-FED6-F08E-C215-C8847C97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481164D-C333-C395-B6C1-A760946E4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71844B5E-1621-B7B7-2038-2EAFC2D79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723332C3-02D0-28E3-2E4B-C11A90A1A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DBE45140-EC06-8B57-F233-D11599E10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7189DA0E-F5A0-ECD7-7C4C-01C2249CF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B4EAB6C1-14C5-3829-2A77-F875AEC3A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8ACB2F3C-A5EA-6DD3-8019-91432339C7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14B30EC0-EE87-A743-D270-8F035E2856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7" name="Text 28">
            <a:extLst>
              <a:ext uri="{FF2B5EF4-FFF2-40B4-BE49-F238E27FC236}">
                <a16:creationId xmlns:a16="http://schemas.microsoft.com/office/drawing/2014/main" id="{833C93A4-EA53-A07F-D3A5-023429A205CB}"/>
              </a:ext>
            </a:extLst>
          </p:cNvPr>
          <p:cNvSpPr/>
          <p:nvPr/>
        </p:nvSpPr>
        <p:spPr>
          <a:xfrm>
            <a:off x="254000" y="635564"/>
            <a:ext cx="9596056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MUC1-C biology provides a strong rationale for radioligand targeting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AE1AFA-921C-E573-8169-DF05F4B08B0B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Biology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8C9285-7F46-0D94-6804-634D84AE628A}"/>
              </a:ext>
            </a:extLst>
          </p:cNvPr>
          <p:cNvSpPr txBox="1"/>
          <p:nvPr/>
        </p:nvSpPr>
        <p:spPr>
          <a:xfrm>
            <a:off x="0" y="6611779"/>
            <a:ext cx="12065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Sources: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1"/>
              </a:rPr>
              <a:t>Kufe 2020 Carcinogenesis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2"/>
              </a:rPr>
              <a:t>Grewal and Kurzrozk 2025 NPJ Precis Oncol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3"/>
              </a:rPr>
              <a:t>Tong 2024 J Cancer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;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  <a:hlinkClick r:id="rId14"/>
              </a:rPr>
              <a:t>Chen 2021 Int J Mol Sci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26B3B533-B5EF-123E-16C1-5088FD96ADD4}"/>
              </a:ext>
            </a:extLst>
          </p:cNvPr>
          <p:cNvSpPr/>
          <p:nvPr/>
        </p:nvSpPr>
        <p:spPr>
          <a:xfrm>
            <a:off x="4704661" y="1595455"/>
            <a:ext cx="6871005" cy="495300"/>
          </a:xfrm>
          <a:prstGeom prst="round2SameRect">
            <a:avLst/>
          </a:prstGeom>
          <a:solidFill>
            <a:srgbClr val="C6DCC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A518DAD-A95B-A4AF-5D0D-3035A4D0E3DB}"/>
              </a:ext>
            </a:extLst>
          </p:cNvPr>
          <p:cNvSpPr/>
          <p:nvPr/>
        </p:nvSpPr>
        <p:spPr>
          <a:xfrm>
            <a:off x="7815356" y="4222891"/>
            <a:ext cx="3760314" cy="495300"/>
          </a:xfrm>
          <a:prstGeom prst="round2SameRect">
            <a:avLst/>
          </a:prstGeom>
          <a:solidFill>
            <a:srgbClr val="C6DCC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7BE2F1A2-0761-CD13-AD06-CD9C657DF750}"/>
              </a:ext>
            </a:extLst>
          </p:cNvPr>
          <p:cNvSpPr/>
          <p:nvPr/>
        </p:nvSpPr>
        <p:spPr>
          <a:xfrm>
            <a:off x="574227" y="1584534"/>
            <a:ext cx="3918243" cy="495300"/>
          </a:xfrm>
          <a:prstGeom prst="round2SameRect">
            <a:avLst/>
          </a:prstGeom>
          <a:solidFill>
            <a:srgbClr val="C6DCC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6" name="Text 35">
            <a:extLst>
              <a:ext uri="{FF2B5EF4-FFF2-40B4-BE49-F238E27FC236}">
                <a16:creationId xmlns:a16="http://schemas.microsoft.com/office/drawing/2014/main" id="{C92D03D0-40CA-551E-B40E-D9CBEFFB1B57}"/>
              </a:ext>
            </a:extLst>
          </p:cNvPr>
          <p:cNvSpPr/>
          <p:nvPr/>
        </p:nvSpPr>
        <p:spPr>
          <a:xfrm>
            <a:off x="8291323" y="1716384"/>
            <a:ext cx="3038777" cy="24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7" name="Text 36">
            <a:extLst>
              <a:ext uri="{FF2B5EF4-FFF2-40B4-BE49-F238E27FC236}">
                <a16:creationId xmlns:a16="http://schemas.microsoft.com/office/drawing/2014/main" id="{00D432B3-6118-F008-0E68-91B094686A46}"/>
              </a:ext>
            </a:extLst>
          </p:cNvPr>
          <p:cNvSpPr/>
          <p:nvPr/>
        </p:nvSpPr>
        <p:spPr>
          <a:xfrm>
            <a:off x="4888693" y="1719807"/>
            <a:ext cx="3302554" cy="275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MUC1-C Internalization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B492A8AB-132C-5D7B-B4E8-60C9DB27D5FC}"/>
              </a:ext>
            </a:extLst>
          </p:cNvPr>
          <p:cNvSpPr/>
          <p:nvPr/>
        </p:nvSpPr>
        <p:spPr>
          <a:xfrm>
            <a:off x="693495" y="1716384"/>
            <a:ext cx="23840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Structure &amp; Function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6DD913E8-2A82-CA91-809B-16A9D74C6425}"/>
              </a:ext>
            </a:extLst>
          </p:cNvPr>
          <p:cNvSpPr/>
          <p:nvPr/>
        </p:nvSpPr>
        <p:spPr>
          <a:xfrm rot="10800000">
            <a:off x="4704659" y="2079826"/>
            <a:ext cx="6871004" cy="1987893"/>
          </a:xfrm>
          <a:prstGeom prst="round2SameRect">
            <a:avLst>
              <a:gd name="adj1" fmla="val 5880"/>
              <a:gd name="adj2" fmla="val 0"/>
            </a:avLst>
          </a:prstGeom>
          <a:solidFill>
            <a:schemeClr val="bg2">
              <a:alpha val="7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83AC884D-469B-A3D0-05D5-C7DE1045124C}"/>
              </a:ext>
            </a:extLst>
          </p:cNvPr>
          <p:cNvSpPr/>
          <p:nvPr/>
        </p:nvSpPr>
        <p:spPr>
          <a:xfrm rot="10800000">
            <a:off x="7815354" y="4705659"/>
            <a:ext cx="3760313" cy="1620980"/>
          </a:xfrm>
          <a:prstGeom prst="round2SameRect">
            <a:avLst>
              <a:gd name="adj1" fmla="val 5880"/>
              <a:gd name="adj2" fmla="val 0"/>
            </a:avLst>
          </a:prstGeom>
          <a:solidFill>
            <a:schemeClr val="bg2">
              <a:alpha val="7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C4EB6-31CE-615A-B519-C8AEF8BF1350}"/>
              </a:ext>
            </a:extLst>
          </p:cNvPr>
          <p:cNvSpPr txBox="1"/>
          <p:nvPr/>
        </p:nvSpPr>
        <p:spPr>
          <a:xfrm>
            <a:off x="4888693" y="2168286"/>
            <a:ext cx="3606510" cy="178536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Malignant cells internalize MUC1-C.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MUC1-N shedding is a key pathological event in cancer, leaving the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subunit behind 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membrane-bound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The loss of MUC1-N leaves MUC1-C free to homodimerize, internalize and activate oncogenic pathways.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68D4E-65C5-ECAD-1A94-F6D97AFAB498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4ABC81D1-229F-01AA-992C-C8FFA9F31D5F}"/>
              </a:ext>
            </a:extLst>
          </p:cNvPr>
          <p:cNvSpPr/>
          <p:nvPr/>
        </p:nvSpPr>
        <p:spPr>
          <a:xfrm rot="10800000">
            <a:off x="574222" y="2081337"/>
            <a:ext cx="3918248" cy="4277435"/>
          </a:xfrm>
          <a:prstGeom prst="round2SameRect">
            <a:avLst>
              <a:gd name="adj1" fmla="val 5880"/>
              <a:gd name="adj2" fmla="val 0"/>
            </a:avLst>
          </a:prstGeom>
          <a:solidFill>
            <a:schemeClr val="bg2">
              <a:alpha val="7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3A7F34-6893-B98B-6387-B35BD13D0DE5}"/>
              </a:ext>
            </a:extLst>
          </p:cNvPr>
          <p:cNvSpPr txBox="1"/>
          <p:nvPr/>
        </p:nvSpPr>
        <p:spPr>
          <a:xfrm>
            <a:off x="598031" y="2169044"/>
            <a:ext cx="3832189" cy="35138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Mucin 1 (MUC1) is a type I-transmembrane glycoprotein that is cleaved into two distinct subunits, which remain linked as a heterodimer on the cell surface.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C-terminal subunit; extracellular region, transmembrane domain, and cytoplasmic tail.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MUC1-N, highly glycosylated extracellular subunit, variable number of tandem repeats (VNTRs).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Normal epithelial cells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express MUC1 at low levels, localized exclusively to the apical surface.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Cancer cells: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overexpression, loss of polarization, and release of MUC1-N make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a tumor-specific epitope.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is minimally glycosylated and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retained on the cell membrane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, distributed over the entire cell surface.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4F6895-0F8D-B334-AE12-8D8F7AA7D4B2}"/>
              </a:ext>
            </a:extLst>
          </p:cNvPr>
          <p:cNvSpPr txBox="1"/>
          <p:nvPr/>
        </p:nvSpPr>
        <p:spPr>
          <a:xfrm>
            <a:off x="7900569" y="4741341"/>
            <a:ext cx="3530279" cy="4741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Function: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promotes survival, proliferation, and invasion.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EED94AB-B9AE-60F0-F89D-D5835F40F9F2}"/>
              </a:ext>
            </a:extLst>
          </p:cNvPr>
          <p:cNvGrpSpPr>
            <a:grpSpLocks noChangeAspect="1"/>
          </p:cNvGrpSpPr>
          <p:nvPr/>
        </p:nvGrpSpPr>
        <p:grpSpPr>
          <a:xfrm>
            <a:off x="4704661" y="4430020"/>
            <a:ext cx="2764394" cy="1716233"/>
            <a:chOff x="4300753" y="4212099"/>
            <a:chExt cx="3299796" cy="204863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01832D3-F12E-D991-F200-52C58A815D39}"/>
                </a:ext>
              </a:extLst>
            </p:cNvPr>
            <p:cNvGrpSpPr/>
            <p:nvPr/>
          </p:nvGrpSpPr>
          <p:grpSpPr>
            <a:xfrm>
              <a:off x="4300753" y="4325803"/>
              <a:ext cx="3299796" cy="1934926"/>
              <a:chOff x="4300753" y="4325803"/>
              <a:chExt cx="3299796" cy="1934926"/>
            </a:xfrm>
          </p:grpSpPr>
          <p:pic>
            <p:nvPicPr>
              <p:cNvPr id="20" name="Picture 19" descr="A diagram of a protein&#10;&#10;AI-generated content may be incorrect.">
                <a:extLst>
                  <a:ext uri="{FF2B5EF4-FFF2-40B4-BE49-F238E27FC236}">
                    <a16:creationId xmlns:a16="http://schemas.microsoft.com/office/drawing/2014/main" id="{1440D887-21E1-58E9-58A4-B07891150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14125" y="4325803"/>
                <a:ext cx="2886424" cy="1934926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05738AB-5A82-3599-5BB4-44A1EE55DD5E}"/>
                  </a:ext>
                </a:extLst>
              </p:cNvPr>
              <p:cNvSpPr txBox="1"/>
              <p:nvPr/>
            </p:nvSpPr>
            <p:spPr>
              <a:xfrm>
                <a:off x="4300753" y="4867616"/>
                <a:ext cx="931002" cy="55107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mAb</a:t>
                </a: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nnel Sans"/>
                    <a:ea typeface="+mn-ea"/>
                    <a:cs typeface="+mn-cs"/>
                  </a:rPr>
                  <a:t> binding 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1FC3BA-7E37-D991-C405-BC1E7730549D}"/>
                </a:ext>
              </a:extLst>
            </p:cNvPr>
            <p:cNvSpPr txBox="1"/>
            <p:nvPr/>
          </p:nvSpPr>
          <p:spPr>
            <a:xfrm>
              <a:off x="4664035" y="4212099"/>
              <a:ext cx="156314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nnel Sans"/>
                  <a:ea typeface="+mn-ea"/>
                  <a:cs typeface="+mn-cs"/>
                </a:rPr>
                <a:t>MUC1-C Structure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C87B928-7F29-170C-FFAA-1B30CC954BFD}"/>
              </a:ext>
            </a:extLst>
          </p:cNvPr>
          <p:cNvSpPr txBox="1"/>
          <p:nvPr/>
        </p:nvSpPr>
        <p:spPr>
          <a:xfrm>
            <a:off x="7900569" y="5203850"/>
            <a:ext cx="3530279" cy="1022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MUC1-C is a driver of resistance to EGFR inhibitors (e.g., Osimertinib) and immune evasion (upregulation of PD-L1, suppression of IFN-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ɣ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RLT has a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combination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 potential.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61DD70A-A7EF-2B2D-FA29-07FAE36550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69645" y="1726963"/>
            <a:ext cx="2360166" cy="2258871"/>
          </a:xfrm>
          <a:prstGeom prst="rect">
            <a:avLst/>
          </a:prstGeom>
        </p:spPr>
      </p:pic>
      <p:sp>
        <p:nvSpPr>
          <p:cNvPr id="39" name="Text 36">
            <a:extLst>
              <a:ext uri="{FF2B5EF4-FFF2-40B4-BE49-F238E27FC236}">
                <a16:creationId xmlns:a16="http://schemas.microsoft.com/office/drawing/2014/main" id="{3C4DF940-891B-3E3E-9A3A-D402AEDC5144}"/>
              </a:ext>
            </a:extLst>
          </p:cNvPr>
          <p:cNvSpPr/>
          <p:nvPr/>
        </p:nvSpPr>
        <p:spPr>
          <a:xfrm>
            <a:off x="7882725" y="4365652"/>
            <a:ext cx="3548123" cy="265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MUC1-C oncoprotein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7958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8CD0-9AC2-878A-2F92-B1DF2234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764B8B5C-13C6-C2EB-C74D-B8191A945307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FCA7F872-BFC6-44CF-1673-1D8430F74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D188B5EB-B6ED-22A2-4D62-BF918143F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CC015A93-F702-5468-6A0A-20E28069C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29A33BE2-AD11-C4CC-0145-A9CB99792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38" name="Image 7" descr="preencoded.png">
            <a:extLst>
              <a:ext uri="{FF2B5EF4-FFF2-40B4-BE49-F238E27FC236}">
                <a16:creationId xmlns:a16="http://schemas.microsoft.com/office/drawing/2014/main" id="{0D43E1E4-D414-C60D-F263-969E184DE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332934BA-F23D-B2B5-9B40-722E26CDB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40" name="Image 9" descr="preencoded.png">
            <a:extLst>
              <a:ext uri="{FF2B5EF4-FFF2-40B4-BE49-F238E27FC236}">
                <a16:creationId xmlns:a16="http://schemas.microsoft.com/office/drawing/2014/main" id="{48CE27D0-6E9E-18B6-0813-D9792E187A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41" name="Image 10" descr="preencoded.png">
            <a:extLst>
              <a:ext uri="{FF2B5EF4-FFF2-40B4-BE49-F238E27FC236}">
                <a16:creationId xmlns:a16="http://schemas.microsoft.com/office/drawing/2014/main" id="{FED5C144-205E-7F91-7DC1-E1BD3AA9E5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0C2FEC5B-75AE-828C-CDE1-69EDC79A39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43" name="Image 12" descr="preencoded.png">
            <a:extLst>
              <a:ext uri="{FF2B5EF4-FFF2-40B4-BE49-F238E27FC236}">
                <a16:creationId xmlns:a16="http://schemas.microsoft.com/office/drawing/2014/main" id="{4F70FEFE-052A-F16F-AC1B-B4BFFC94A9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D25602A-2B2B-2990-4043-80C877F9DDFB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Landscape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E99EBF-D55A-FD86-F37D-F3CB1D6ABAE3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04A84-8EDF-32E8-CEB6-57DFC7C308F8}"/>
              </a:ext>
            </a:extLst>
          </p:cNvPr>
          <p:cNvSpPr/>
          <p:nvPr/>
        </p:nvSpPr>
        <p:spPr>
          <a:xfrm>
            <a:off x="2522343" y="2213708"/>
            <a:ext cx="9187873" cy="7156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9A0447-4AF2-B25E-6759-85323DC9B61B}"/>
              </a:ext>
            </a:extLst>
          </p:cNvPr>
          <p:cNvSpPr/>
          <p:nvPr/>
        </p:nvSpPr>
        <p:spPr>
          <a:xfrm>
            <a:off x="2653553" y="1915285"/>
            <a:ext cx="1969226" cy="804976"/>
          </a:xfrm>
          <a:prstGeom prst="roundRect">
            <a:avLst/>
          </a:prstGeom>
          <a:solidFill>
            <a:srgbClr val="18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Lung Adenocarcinoma  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BC9AA3-B43C-822F-A050-EE7D05FDDA38}"/>
              </a:ext>
            </a:extLst>
          </p:cNvPr>
          <p:cNvSpPr/>
          <p:nvPr/>
        </p:nvSpPr>
        <p:spPr>
          <a:xfrm>
            <a:off x="5040709" y="1907465"/>
            <a:ext cx="1808648" cy="804976"/>
          </a:xfrm>
          <a:prstGeom prst="roundRect">
            <a:avLst/>
          </a:prstGeom>
          <a:solidFill>
            <a:srgbClr val="18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Breast HR+/HER2-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D6C637-A7FB-F9F3-B55B-DDCBE9EDA315}"/>
              </a:ext>
            </a:extLst>
          </p:cNvPr>
          <p:cNvSpPr/>
          <p:nvPr/>
        </p:nvSpPr>
        <p:spPr>
          <a:xfrm>
            <a:off x="7351108" y="1907465"/>
            <a:ext cx="1808648" cy="804976"/>
          </a:xfrm>
          <a:prstGeom prst="roundRect">
            <a:avLst/>
          </a:prstGeom>
          <a:solidFill>
            <a:srgbClr val="18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Breast TNBC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3D64CC-9249-9639-88B4-767CC1E240F6}"/>
              </a:ext>
            </a:extLst>
          </p:cNvPr>
          <p:cNvSpPr/>
          <p:nvPr/>
        </p:nvSpPr>
        <p:spPr>
          <a:xfrm>
            <a:off x="9669656" y="1907465"/>
            <a:ext cx="1808648" cy="804976"/>
          </a:xfrm>
          <a:prstGeom prst="roundRect">
            <a:avLst/>
          </a:prstGeom>
          <a:solidFill>
            <a:srgbClr val="18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CRC 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9C3F41-85A8-419E-B59E-E6F90E594173}"/>
              </a:ext>
            </a:extLst>
          </p:cNvPr>
          <p:cNvGraphicFramePr>
            <a:graphicFrameLocks noGrp="1"/>
          </p:cNvGraphicFramePr>
          <p:nvPr/>
        </p:nvGraphicFramePr>
        <p:xfrm>
          <a:off x="379141" y="2921503"/>
          <a:ext cx="11331076" cy="30581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75216">
                  <a:extLst>
                    <a:ext uri="{9D8B030D-6E8A-4147-A177-3AD203B41FA5}">
                      <a16:colId xmlns:a16="http://schemas.microsoft.com/office/drawing/2014/main" val="773938304"/>
                    </a:ext>
                  </a:extLst>
                </a:gridCol>
                <a:gridCol w="2288965">
                  <a:extLst>
                    <a:ext uri="{9D8B030D-6E8A-4147-A177-3AD203B41FA5}">
                      <a16:colId xmlns:a16="http://schemas.microsoft.com/office/drawing/2014/main" val="796710748"/>
                    </a:ext>
                  </a:extLst>
                </a:gridCol>
                <a:gridCol w="2288965">
                  <a:extLst>
                    <a:ext uri="{9D8B030D-6E8A-4147-A177-3AD203B41FA5}">
                      <a16:colId xmlns:a16="http://schemas.microsoft.com/office/drawing/2014/main" val="3110358787"/>
                    </a:ext>
                  </a:extLst>
                </a:gridCol>
                <a:gridCol w="2288965">
                  <a:extLst>
                    <a:ext uri="{9D8B030D-6E8A-4147-A177-3AD203B41FA5}">
                      <a16:colId xmlns:a16="http://schemas.microsoft.com/office/drawing/2014/main" val="3507760086"/>
                    </a:ext>
                  </a:extLst>
                </a:gridCol>
                <a:gridCol w="2288965">
                  <a:extLst>
                    <a:ext uri="{9D8B030D-6E8A-4147-A177-3AD203B41FA5}">
                      <a16:colId xmlns:a16="http://schemas.microsoft.com/office/drawing/2014/main" val="1036757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Incident Pts (US)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105,000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225,000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34,000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C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154,000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54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% Metastatic at diagnosis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~50%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~31%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~21%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91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No actional driver mutations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50-60%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n/a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n/a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n/a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73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Advance to 2L therapy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91%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87%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74%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98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% MUC1C positive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87%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76%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76%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97%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TAM estimate: MUC1C RLT patients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~11,000*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~48,000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/>
                        <a:t>~4,700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~66,000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16405"/>
                  </a:ext>
                </a:extLst>
              </a:tr>
            </a:tbl>
          </a:graphicData>
        </a:graphic>
      </p:graphicFrame>
      <p:sp>
        <p:nvSpPr>
          <p:cNvPr id="54" name="Text 28">
            <a:extLst>
              <a:ext uri="{FF2B5EF4-FFF2-40B4-BE49-F238E27FC236}">
                <a16:creationId xmlns:a16="http://schemas.microsoft.com/office/drawing/2014/main" id="{8B994D57-37D5-AC8B-8DAC-7A140B4CC86F}"/>
              </a:ext>
            </a:extLst>
          </p:cNvPr>
          <p:cNvSpPr/>
          <p:nvPr/>
        </p:nvSpPr>
        <p:spPr>
          <a:xfrm>
            <a:off x="227264" y="711101"/>
            <a:ext cx="11496658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Significant market opportunity for a MUC1-C RLT across diverse set of indications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5" name="Shape 1">
            <a:extLst>
              <a:ext uri="{FF2B5EF4-FFF2-40B4-BE49-F238E27FC236}">
                <a16:creationId xmlns:a16="http://schemas.microsoft.com/office/drawing/2014/main" id="{E037235E-BCB0-6458-B4A3-A80EC43D8E8C}"/>
              </a:ext>
            </a:extLst>
          </p:cNvPr>
          <p:cNvSpPr/>
          <p:nvPr/>
        </p:nvSpPr>
        <p:spPr>
          <a:xfrm>
            <a:off x="227264" y="1508776"/>
            <a:ext cx="11757078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C141FA-B502-7B0F-3677-2E5FDF278753}"/>
              </a:ext>
            </a:extLst>
          </p:cNvPr>
          <p:cNvSpPr txBox="1"/>
          <p:nvPr/>
        </p:nvSpPr>
        <p:spPr>
          <a:xfrm>
            <a:off x="9802" y="6552723"/>
            <a:ext cx="105281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nnel Sans"/>
                <a:ea typeface="Funnel Sans"/>
                <a:cs typeface="Funnel Sans"/>
              </a:rPr>
              <a:t>Sources: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SEER,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1"/>
              </a:rPr>
              <a:t>ACS Lung Stats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2"/>
              </a:rPr>
              <a:t>ACS Breast Cancer Stats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3"/>
              </a:rPr>
              <a:t>ACS CRC Stats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4"/>
              </a:rPr>
              <a:t>CDC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5"/>
              </a:rPr>
              <a:t>Cancer Advisor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6"/>
              </a:rPr>
              <a:t>Blondeaux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6"/>
              </a:rPr>
              <a:t> 2025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7"/>
              </a:rPr>
              <a:t>Tampellini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lt"/>
                <a:cs typeface="+mn-lt"/>
                <a:hlinkClick r:id="rId17"/>
              </a:rPr>
              <a:t> 2017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2BB98-2608-12EA-CBFF-52866925AB7E}"/>
              </a:ext>
            </a:extLst>
          </p:cNvPr>
          <p:cNvSpPr txBox="1"/>
          <p:nvPr/>
        </p:nvSpPr>
        <p:spPr>
          <a:xfrm>
            <a:off x="304289" y="5969027"/>
            <a:ext cx="11480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*Incident metastatic pts only. Does not include recurrent metastatic patients, which would increase TAM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n/a: Not shown for general estimate, will be evaluated as clinical strategy evolves</a:t>
            </a:r>
          </a:p>
        </p:txBody>
      </p:sp>
    </p:spTree>
    <p:extLst>
      <p:ext uri="{BB962C8B-B14F-4D97-AF65-F5344CB8AC3E}">
        <p14:creationId xmlns:p14="http://schemas.microsoft.com/office/powerpoint/2010/main" val="274782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7A94-1358-D1DD-043F-F0745E1AD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>
            <a:extLst>
              <a:ext uri="{FF2B5EF4-FFF2-40B4-BE49-F238E27FC236}">
                <a16:creationId xmlns:a16="http://schemas.microsoft.com/office/drawing/2014/main" id="{4D7DAC56-3BC9-ECC5-CF5E-49FADA0708C4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4D49272C-CFBD-2D7D-07F7-76D4D528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F4BDAFAB-D76F-9505-90E4-533FF5F7A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E374BAA2-71B2-110A-D4E2-68F3E6FA3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37" name="Image 6" descr="preencoded.png">
            <a:extLst>
              <a:ext uri="{FF2B5EF4-FFF2-40B4-BE49-F238E27FC236}">
                <a16:creationId xmlns:a16="http://schemas.microsoft.com/office/drawing/2014/main" id="{2888264A-A25C-5D9B-4653-C8EBC192D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38" name="Image 7" descr="preencoded.png">
            <a:extLst>
              <a:ext uri="{FF2B5EF4-FFF2-40B4-BE49-F238E27FC236}">
                <a16:creationId xmlns:a16="http://schemas.microsoft.com/office/drawing/2014/main" id="{ABCF7210-899C-1FB2-102B-89EF88768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7D1FF4DA-BCDB-5B53-6153-7A957BFA2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40" name="Image 9" descr="preencoded.png">
            <a:extLst>
              <a:ext uri="{FF2B5EF4-FFF2-40B4-BE49-F238E27FC236}">
                <a16:creationId xmlns:a16="http://schemas.microsoft.com/office/drawing/2014/main" id="{62088191-C811-89DA-4E77-5A6A62B05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41" name="Image 10" descr="preencoded.png">
            <a:extLst>
              <a:ext uri="{FF2B5EF4-FFF2-40B4-BE49-F238E27FC236}">
                <a16:creationId xmlns:a16="http://schemas.microsoft.com/office/drawing/2014/main" id="{77559785-26AB-4B8F-6D3B-0C2BEE50C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42" name="Image 11" descr="preencoded.png">
            <a:extLst>
              <a:ext uri="{FF2B5EF4-FFF2-40B4-BE49-F238E27FC236}">
                <a16:creationId xmlns:a16="http://schemas.microsoft.com/office/drawing/2014/main" id="{8EFC5BE0-A644-8E58-FF27-C33C12435E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43" name="Image 12" descr="preencoded.png">
            <a:extLst>
              <a:ext uri="{FF2B5EF4-FFF2-40B4-BE49-F238E27FC236}">
                <a16:creationId xmlns:a16="http://schemas.microsoft.com/office/drawing/2014/main" id="{41779C78-0FB9-62B7-8DFA-E629EA265A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44" name="Text 28">
            <a:extLst>
              <a:ext uri="{FF2B5EF4-FFF2-40B4-BE49-F238E27FC236}">
                <a16:creationId xmlns:a16="http://schemas.microsoft.com/office/drawing/2014/main" id="{194594D2-BF98-CA0C-BBCB-BC8A09482356}"/>
              </a:ext>
            </a:extLst>
          </p:cNvPr>
          <p:cNvSpPr/>
          <p:nvPr/>
        </p:nvSpPr>
        <p:spPr>
          <a:xfrm>
            <a:off x="254000" y="635564"/>
            <a:ext cx="11684000" cy="762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Example Target Product Profile for MUC1-C RLT in Lung Adenocarcinoma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00F972D-7B6D-ED5A-5E96-D566A43CEF56}"/>
              </a:ext>
            </a:extLst>
          </p:cNvPr>
          <p:cNvSpPr/>
          <p:nvPr/>
        </p:nvSpPr>
        <p:spPr>
          <a:xfrm>
            <a:off x="10972800" y="88490"/>
            <a:ext cx="1101213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Landscape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4DB49-C49A-3DD9-D0A6-EEE240F83F9B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E4F316-ABC1-C788-E09B-B360FEE25BAA}"/>
              </a:ext>
            </a:extLst>
          </p:cNvPr>
          <p:cNvGraphicFramePr>
            <a:graphicFrameLocks noGrp="1"/>
          </p:cNvGraphicFramePr>
          <p:nvPr/>
        </p:nvGraphicFramePr>
        <p:xfrm>
          <a:off x="324678" y="1749286"/>
          <a:ext cx="11325295" cy="450239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97180">
                  <a:extLst>
                    <a:ext uri="{9D8B030D-6E8A-4147-A177-3AD203B41FA5}">
                      <a16:colId xmlns:a16="http://schemas.microsoft.com/office/drawing/2014/main" val="635467938"/>
                    </a:ext>
                  </a:extLst>
                </a:gridCol>
                <a:gridCol w="3093787">
                  <a:extLst>
                    <a:ext uri="{9D8B030D-6E8A-4147-A177-3AD203B41FA5}">
                      <a16:colId xmlns:a16="http://schemas.microsoft.com/office/drawing/2014/main" val="3845916860"/>
                    </a:ext>
                  </a:extLst>
                </a:gridCol>
                <a:gridCol w="2867164">
                  <a:extLst>
                    <a:ext uri="{9D8B030D-6E8A-4147-A177-3AD203B41FA5}">
                      <a16:colId xmlns:a16="http://schemas.microsoft.com/office/drawing/2014/main" val="159078053"/>
                    </a:ext>
                  </a:extLst>
                </a:gridCol>
                <a:gridCol w="2867164">
                  <a:extLst>
                    <a:ext uri="{9D8B030D-6E8A-4147-A177-3AD203B41FA5}">
                      <a16:colId xmlns:a16="http://schemas.microsoft.com/office/drawing/2014/main" val="2644021605"/>
                    </a:ext>
                  </a:extLst>
                </a:gridCol>
              </a:tblGrid>
              <a:tr h="258698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Mechanism / Mode of Action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MUC1-C targeted peptide ligand conjugated to chelated </a:t>
                      </a:r>
                      <a:r>
                        <a:rPr lang="en-US" sz="800" b="0" i="0" u="none" strike="noStrike" baseline="30000" noProof="0">
                          <a:solidFill>
                            <a:srgbClr val="000000"/>
                          </a:solidFill>
                          <a:latin typeface="+mn-lt"/>
                        </a:rPr>
                        <a:t>225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Ac, delivering targeted alpha radiation post 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</a:rPr>
                        <a:t>1L IO + platinum chemotherapy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B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C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B7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15720"/>
                  </a:ext>
                </a:extLst>
              </a:tr>
              <a:tr h="246378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Clinical Trial Design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</a:rPr>
                        <a:t>Randomized Phase III. MUC1-C-RLT vs. standard chemotherapy</a:t>
                      </a:r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960074"/>
                  </a:ext>
                </a:extLst>
              </a:tr>
              <a:tr h="246378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Indication / Target Patients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noProof="0"/>
                        <a:t>Advanced/metastatic NSCLC patients with rwDOR ≤6 months on 1L IO +/- platinum chemo (exclude those with actionable driver mutations)</a:t>
                      </a:r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>
                        <a:effectLst/>
                        <a:latin typeface="Funnel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/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05740"/>
                  </a:ext>
                </a:extLst>
              </a:tr>
              <a:tr h="246378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Dosing Regimen &amp; Administration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Intravenous infusion of MUC1-C RLT for 4 doses, 4 weeks apart, and 2 doses every six months following the initial cycle until progression</a:t>
                      </a:r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>
                        <a:effectLst/>
                        <a:latin typeface="Funnel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/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418151"/>
                  </a:ext>
                </a:extLst>
              </a:tr>
              <a:tr h="542034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Clinical Endpoints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noProof="0"/>
                        <a:t>Median OS &gt;8.3 months (vs 5.1-5.2 months in primary resisters)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noProof="0">
                          <a:latin typeface="Funnel Sans"/>
                        </a:rPr>
                        <a:t>Improved mOS, PFS, ORR vs standard chemotherapy</a:t>
                      </a:r>
                      <a:endParaRPr lang="en-US"/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>
                        <a:effectLst/>
                        <a:latin typeface="Funnel San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1950"/>
                        </a:lnSpc>
                        <a:buNone/>
                      </a:pPr>
                      <a:endParaRPr lang="en-US" sz="1400" baseline="30000"/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416583"/>
                  </a:ext>
                </a:extLst>
              </a:tr>
              <a:tr h="246378">
                <a:tc rowSpan="5"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Efficacy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baseline="0">
                          <a:effectLst/>
                          <a:latin typeface="+mn-lt"/>
                        </a:rPr>
                        <a:t>MUC1-C RLT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Docetaxel ± ramucirumab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83919"/>
                  </a:ext>
                </a:extLst>
              </a:tr>
              <a:tr h="394205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900"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Dosing Schedule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aseline="0">
                          <a:effectLst/>
                          <a:latin typeface="+mn-lt"/>
                        </a:rPr>
                        <a:t>See above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21 Days, Medical 4 cycles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053593"/>
                  </a:ext>
                </a:extLst>
              </a:tr>
              <a:tr h="246378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900"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aseline="0">
                          <a:effectLst/>
                          <a:latin typeface="+mn-lt"/>
                        </a:rPr>
                        <a:t>&gt;8.3 months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5.2 months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55538"/>
                  </a:ext>
                </a:extLst>
              </a:tr>
              <a:tr h="246378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900"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latin typeface="+mn-lt"/>
                        </a:rPr>
                        <a:t>DOR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+mn-lt"/>
                        </a:rPr>
                        <a:t>&gt;8 months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6.4 months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08569"/>
                  </a:ext>
                </a:extLst>
              </a:tr>
              <a:tr h="246378">
                <a:tc vMerge="1"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endParaRPr lang="en-US" sz="900"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latin typeface="+mn-lt"/>
                        </a:rPr>
                        <a:t>ORR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aseline="0">
                          <a:effectLst/>
                          <a:latin typeface="+mn-lt"/>
                        </a:rPr>
                        <a:t>&gt; 30%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22.9%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674925"/>
                  </a:ext>
                </a:extLst>
              </a:tr>
              <a:tr h="68986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Safety / Tolerability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Grade 3-4 neutropenia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noProof="0">
                          <a:solidFill>
                            <a:srgbClr val="000000"/>
                          </a:solidFill>
                          <a:latin typeface="+mn-lt"/>
                        </a:rPr>
                        <a:t>Grade ≥3 TEAEs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Treatment discontinuation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Grade 3-4 neuropathy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GB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≤25%</a:t>
                      </a:r>
                    </a:p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GB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≤50%</a:t>
                      </a:r>
                    </a:p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GB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≤8%</a:t>
                      </a:r>
                    </a:p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GB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≤2%</a:t>
                      </a:r>
                      <a:endParaRPr lang="en-US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55%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80%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18-22%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7-10%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364161"/>
                  </a:ext>
                </a:extLst>
              </a:tr>
            </a:tbl>
          </a:graphicData>
        </a:graphic>
      </p:graphicFrame>
      <p:sp>
        <p:nvSpPr>
          <p:cNvPr id="3" name="Shape 1">
            <a:extLst>
              <a:ext uri="{FF2B5EF4-FFF2-40B4-BE49-F238E27FC236}">
                <a16:creationId xmlns:a16="http://schemas.microsoft.com/office/drawing/2014/main" id="{AD804EB2-A6BC-85F2-57B3-5C0FF77CC044}"/>
              </a:ext>
            </a:extLst>
          </p:cNvPr>
          <p:cNvSpPr/>
          <p:nvPr/>
        </p:nvSpPr>
        <p:spPr>
          <a:xfrm>
            <a:off x="323502" y="1447750"/>
            <a:ext cx="11403773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3638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BB7D-D10E-BD1E-A58F-1408FED9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6B0199-A693-1F4A-CF8F-5732ECDB68B3}"/>
              </a:ext>
            </a:extLst>
          </p:cNvPr>
          <p:cNvGraphicFramePr>
            <a:graphicFrameLocks noGrp="1"/>
          </p:cNvGraphicFramePr>
          <p:nvPr/>
        </p:nvGraphicFramePr>
        <p:xfrm>
          <a:off x="1597445" y="1743433"/>
          <a:ext cx="9057146" cy="4479003"/>
        </p:xfrm>
        <a:graphic>
          <a:graphicData uri="http://schemas.openxmlformats.org/drawingml/2006/table">
            <a:tbl>
              <a:tblPr/>
              <a:tblGrid>
                <a:gridCol w="2732496">
                  <a:extLst>
                    <a:ext uri="{9D8B030D-6E8A-4147-A177-3AD203B41FA5}">
                      <a16:colId xmlns:a16="http://schemas.microsoft.com/office/drawing/2014/main" val="4068440047"/>
                    </a:ext>
                  </a:extLst>
                </a:gridCol>
                <a:gridCol w="6324650">
                  <a:extLst>
                    <a:ext uri="{9D8B030D-6E8A-4147-A177-3AD203B41FA5}">
                      <a16:colId xmlns:a16="http://schemas.microsoft.com/office/drawing/2014/main" val="3956450263"/>
                    </a:ext>
                  </a:extLst>
                </a:gridCol>
              </a:tblGrid>
              <a:tr h="3638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Sego’s Approaches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321364"/>
                  </a:ext>
                </a:extLst>
              </a:tr>
              <a:tr h="42767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Internalized cyclic peptide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6DC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418511"/>
                  </a:ext>
                </a:extLst>
              </a:tr>
              <a:tr h="706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Modality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Cyclic Peptide Targeting MUC1-C domain 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685032"/>
                  </a:ext>
                </a:extLst>
              </a:tr>
              <a:tr h="706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Isotope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aseline="30000"/>
                        <a:t>225</a:t>
                      </a:r>
                      <a:r>
                        <a:rPr lang="en-US" sz="1400"/>
                        <a:t>Ac or </a:t>
                      </a:r>
                      <a:r>
                        <a:rPr lang="en-US" sz="1400" baseline="30000"/>
                        <a:t>161</a:t>
                      </a:r>
                      <a:r>
                        <a:rPr lang="en-US" sz="1400"/>
                        <a:t>Tb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914581"/>
                  </a:ext>
                </a:extLst>
              </a:tr>
              <a:tr h="102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Internalization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Select for internalizing peptides to utilize increased cytotoxicity with internalized alpha- and beta/auger- emitters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39733"/>
                  </a:ext>
                </a:extLst>
              </a:tr>
              <a:tr h="1252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Improved tumor retention &amp; ability to localize isotope intracellularly. Ability to leverage more cytotoxic isotopes with internalization. Diverse set of potential target tumors &amp; indications.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356369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EB68A6A1-31D5-1F45-94AE-117F9F8A8AAA}"/>
              </a:ext>
            </a:extLst>
          </p:cNvPr>
          <p:cNvSpPr/>
          <p:nvPr/>
        </p:nvSpPr>
        <p:spPr>
          <a:xfrm>
            <a:off x="254000" y="254000"/>
            <a:ext cx="882651" cy="3048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D221FFE9-5252-86BD-492D-F4839D9438F7}"/>
              </a:ext>
            </a:extLst>
          </p:cNvPr>
          <p:cNvSpPr/>
          <p:nvPr/>
        </p:nvSpPr>
        <p:spPr>
          <a:xfrm>
            <a:off x="2082801" y="330201"/>
            <a:ext cx="139700" cy="114300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755EF556-1FF3-8BD6-4A1D-7DBB7D68F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03" y="254000"/>
            <a:ext cx="156939" cy="191368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4B9DF1B-F0E1-01F6-2E58-1CA671EC9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28" y="459541"/>
            <a:ext cx="968" cy="4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0A72160D-81F1-353F-0E42-4E585A41C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56" y="459546"/>
            <a:ext cx="297" cy="4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02B210E9-E3D8-CA99-593D-F38B30669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61" y="473634"/>
            <a:ext cx="471" cy="4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DCAFF278-178B-8292-6968-F4C119A20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00" y="305277"/>
            <a:ext cx="137641" cy="202443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B0B9E8AD-8766-F4BF-79D9-5980BE835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72" y="360473"/>
            <a:ext cx="126579" cy="147243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6FD66749-8A51-B202-AE9C-17C54E218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928" y="360456"/>
            <a:ext cx="131737" cy="198345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0491D03B-3601-22DE-447F-8726171B75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42" y="360468"/>
            <a:ext cx="135508" cy="147243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51D8F9C0-AB9C-8C24-8AB0-22F04114B9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419" y="376364"/>
            <a:ext cx="174501" cy="157568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BB904ECF-48B0-5659-71F1-ED0E60AAD6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76361"/>
            <a:ext cx="174501" cy="157575"/>
          </a:xfrm>
          <a:prstGeom prst="rect">
            <a:avLst/>
          </a:prstGeom>
        </p:spPr>
      </p:pic>
      <p:sp>
        <p:nvSpPr>
          <p:cNvPr id="17" name="Text 28">
            <a:extLst>
              <a:ext uri="{FF2B5EF4-FFF2-40B4-BE49-F238E27FC236}">
                <a16:creationId xmlns:a16="http://schemas.microsoft.com/office/drawing/2014/main" id="{0F493750-1C67-0198-A1FD-F1D3A440280A}"/>
              </a:ext>
            </a:extLst>
          </p:cNvPr>
          <p:cNvSpPr/>
          <p:nvPr/>
        </p:nvSpPr>
        <p:spPr>
          <a:xfrm>
            <a:off x="254000" y="635564"/>
            <a:ext cx="9057147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-24" normalizeH="0" baseline="0" noProof="0">
                <a:ln>
                  <a:noFill/>
                </a:ln>
                <a:solidFill>
                  <a:srgbClr val="000000">
                    <a:alpha val="99000"/>
                  </a:srgbClr>
                </a:solidFill>
                <a:effectLst/>
                <a:uLnTx/>
                <a:uFillTx/>
                <a:latin typeface="Funnel Sans" pitchFamily="34" charset="0"/>
                <a:ea typeface="+mn-ea"/>
                <a:cs typeface="+mn-cs"/>
              </a:rPr>
              <a:t>Sego’s differentiated approach to MUC1-C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75D85-AEA8-5166-54D6-98CD3A8FDB19}"/>
              </a:ext>
            </a:extLst>
          </p:cNvPr>
          <p:cNvSpPr txBox="1"/>
          <p:nvPr/>
        </p:nvSpPr>
        <p:spPr>
          <a:xfrm>
            <a:off x="48239" y="6611779"/>
            <a:ext cx="60777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Sources: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46F4A0-FB62-1CAE-5134-0F2DA38EDB68}"/>
              </a:ext>
            </a:extLst>
          </p:cNvPr>
          <p:cNvSpPr/>
          <p:nvPr/>
        </p:nvSpPr>
        <p:spPr>
          <a:xfrm>
            <a:off x="10884311" y="88490"/>
            <a:ext cx="1278192" cy="304795"/>
          </a:xfrm>
          <a:prstGeom prst="roundRect">
            <a:avLst/>
          </a:prstGeom>
          <a:solidFill>
            <a:srgbClr val="C6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Opportunity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62CDE-4895-2951-E1D1-BD6D819A6103}"/>
              </a:ext>
            </a:extLst>
          </p:cNvPr>
          <p:cNvSpPr txBox="1"/>
          <p:nvPr/>
        </p:nvSpPr>
        <p:spPr>
          <a:xfrm>
            <a:off x="11055350" y="6614136"/>
            <a:ext cx="113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t>Confidential </a:t>
            </a:r>
            <a:fld id="{F55465F9-4A58-45DB-8234-396342B5FF6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nnel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nnel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460487"/>
      </p:ext>
    </p:extLst>
  </p:cSld>
  <p:clrMapOvr>
    <a:masterClrMapping/>
  </p:clrMapOvr>
</p:sld>
</file>

<file path=ppt/theme/theme1.xml><?xml version="1.0" encoding="utf-8"?>
<a:theme xmlns:a="http://schemas.openxmlformats.org/drawingml/2006/main" name="Becca's Sego Temp Theme">
  <a:themeElements>
    <a:clrScheme name="Becca's Sego Temp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A4141"/>
      </a:accent1>
      <a:accent2>
        <a:srgbClr val="456464"/>
      </a:accent2>
      <a:accent3>
        <a:srgbClr val="7A9F8F"/>
      </a:accent3>
      <a:accent4>
        <a:srgbClr val="71B787"/>
      </a:accent4>
      <a:accent5>
        <a:srgbClr val="D5ED99"/>
      </a:accent5>
      <a:accent6>
        <a:srgbClr val="F3F1EF"/>
      </a:accent6>
      <a:hlink>
        <a:srgbClr val="7A9F8F"/>
      </a:hlink>
      <a:folHlink>
        <a:srgbClr val="96607D"/>
      </a:folHlink>
    </a:clrScheme>
    <a:fontScheme name="Sego Font">
      <a:majorFont>
        <a:latin typeface="Funnel Sans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ecca's Sego Temp Theme" id="{4A842F55-7C6A-43E5-B4AB-63AC50CBC6DB}" vid="{965FBD5D-36C6-4D68-9EF4-1748213BBE67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ysClr val="window" lastClr="FFFFFF"/>
      </a:lt1>
      <a:dk2>
        <a:srgbClr val="656670"/>
      </a:dk2>
      <a:lt2>
        <a:srgbClr val="F6F3F2"/>
      </a:lt2>
      <a:accent1>
        <a:srgbClr val="002924"/>
      </a:accent1>
      <a:accent2>
        <a:srgbClr val="B1C8B0"/>
      </a:accent2>
      <a:accent3>
        <a:srgbClr val="61896E"/>
      </a:accent3>
      <a:accent4>
        <a:srgbClr val="D5ED99"/>
      </a:accent4>
      <a:accent5>
        <a:srgbClr val="DED6D3"/>
      </a:accent5>
      <a:accent6>
        <a:srgbClr val="8F1A43"/>
      </a:accent6>
      <a:hlink>
        <a:srgbClr val="002924"/>
      </a:hlink>
      <a:folHlink>
        <a:srgbClr val="B1C8B0"/>
      </a:folHlink>
    </a:clrScheme>
    <a:fontScheme name="Sego">
      <a:majorFont>
        <a:latin typeface="Funnel Sans Light"/>
        <a:ea typeface=""/>
        <a:cs typeface=""/>
      </a:majorFont>
      <a:minorFont>
        <a:latin typeface="Funnel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>
            <a:solidFill>
              <a:srgbClr val="FF000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147401-2E0B-4C56-9DD5-CF44262B4C8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bd4ef5d-a966-442e-aa46-347c0bf80e4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A77038FD8B0E4290AC2C78A81B96B0" ma:contentTypeVersion="10" ma:contentTypeDescription="Create a new document." ma:contentTypeScope="" ma:versionID="116237f45c3876c638621d484ff54e8e">
  <xsd:schema xmlns:xsd="http://www.w3.org/2001/XMLSchema" xmlns:xs="http://www.w3.org/2001/XMLSchema" xmlns:p="http://schemas.microsoft.com/office/2006/metadata/properties" xmlns:ns2="883290e6-3317-4731-a933-606cdb1c21ba" xmlns:ns3="9b41257d-d9f1-45d2-83fb-79c2dd89ff18" targetNamespace="http://schemas.microsoft.com/office/2006/metadata/properties" ma:root="true" ma:fieldsID="9cd05f4572e11dc9c3dcb5915d0bb547" ns2:_="" ns3:_="">
    <xsd:import namespace="883290e6-3317-4731-a933-606cdb1c21ba"/>
    <xsd:import namespace="9b41257d-d9f1-45d2-83fb-79c2dd89ff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290e6-3317-4731-a933-606cdb1c2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5e21b9-9a91-448a-b7da-1ab90cd0a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1257d-d9f1-45d2-83fb-79c2dd89ff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b56a1f0-8357-4b64-86fd-fd0a5fd73875}" ma:internalName="TaxCatchAll" ma:showField="CatchAllData" ma:web="9b41257d-d9f1-45d2-83fb-79c2dd89ff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41257d-d9f1-45d2-83fb-79c2dd89ff18" xsi:nil="true"/>
    <lcf76f155ced4ddcb4097134ff3c332f xmlns="883290e6-3317-4731-a933-606cdb1c21b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A6584B-E7D4-45F7-BE56-0999E56ED9F1}">
  <ds:schemaRefs>
    <ds:schemaRef ds:uri="883290e6-3317-4731-a933-606cdb1c21ba"/>
    <ds:schemaRef ds:uri="9b41257d-d9f1-45d2-83fb-79c2dd89ff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37F977D-B349-489B-BB11-4249AEC543A0}">
  <ds:schemaRefs>
    <ds:schemaRef ds:uri="883290e6-3317-4731-a933-606cdb1c21ba"/>
    <ds:schemaRef ds:uri="9b41257d-d9f1-45d2-83fb-79c2dd89ff1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81405A9-5CA8-4A97-A734-75D8CE7BCD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2311</Words>
  <Application>Microsoft Office PowerPoint</Application>
  <PresentationFormat>Widescreen</PresentationFormat>
  <Paragraphs>331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Funnel Sans</vt:lpstr>
      <vt:lpstr>Funnel Sans Light</vt:lpstr>
      <vt:lpstr>Funnel Sans Medium</vt:lpstr>
      <vt:lpstr>Becca's Sego Temp Theme</vt:lpstr>
      <vt:lpstr>1_Office Theme</vt:lpstr>
      <vt:lpstr>MUC1-C Target Evaluation</vt:lpstr>
      <vt:lpstr>Multi-Cancer: MUC1-C tumor-selective antigen exposure &amp; tumor-specific accessibility </vt:lpstr>
      <vt:lpstr>PowerPoint Presentation</vt:lpstr>
      <vt:lpstr>MUC1-C Detailed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Becca Levin</dc:creator>
  <cp:lastModifiedBy>Becca Levin</cp:lastModifiedBy>
  <cp:revision>1</cp:revision>
  <dcterms:created xsi:type="dcterms:W3CDTF">2026-04-07T17:45:46Z</dcterms:created>
  <dcterms:modified xsi:type="dcterms:W3CDTF">2026-04-08T19:08:16Z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0x0101006CA77038FD8B0E4290AC2C78A81B96B0</vt:lpwstr>
  </property>
  <property fmtid="{D5CDD505-2E9C-101B-9397-08002B2CF9AE}" pid="3" name="MediaServiceImageTags">
    <vt:lpwstr/>
  </property>
</Properties>
</file>